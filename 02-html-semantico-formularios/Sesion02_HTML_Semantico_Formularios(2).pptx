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4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703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 min). Retomar de manera explícita el punto en el que terminó la Sesión 01: el servidor ya entrega documentos HTML por rutas. Anunciar que hoy no se agregan tecnologías nuevas: se profundiza en el documento HTML y se habilita el envío de datos desde el navegador. Formular la pregunta conductora en voz alta antes de avanzar y dejarla sin responder: '¿cómo estructuramos correctamente ese documento y cómo permitimos que el usuario introduzca información?'. Verificar antes de empezar que los estudiantes tengan a mano index.html y server.js de la sesión anterior; sin esos archivos los dos laboratorios no se pueden realizar.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cuatro objetivos y anunciar el ritmo: dos bloques conceptuales, cada uno cerrado con un laboratorio, y una demostración final de integración. Aclarar que los dos laboratorios se realizan sobre los MISMOS archivos de la Sesión 01; no se crea un proyecto nuevo. Advertir el reparto del tiempo: aproximadamente 35 minutos para semántica, 20 para el laboratorio 1, 35 para formularios, 20 para el laboratorio 2 y 10 para la integración y el cierre. Aviso de alcance: hoy no se trabaja CSS, ni JavaScript de cliente, ni Express. Si alguien pregunta por la apariencia, anunciar que es el tema de la Sesión 03.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volver a explicar HTTP, rutas ni fs: solo recordarlos en 2 o 3 minutos señalando el código en pantalla. Pregunta de activación: '¿qué parte de este código decide QUÉ se responde y qué parte decide CÓMO se envía?'. Sirve para verificar que la Sesión 01 quedó consolidada. Señalar la asimetría del flujo dibujado: todas las flechas nacen del usuario pidiendo, ninguna lleva datos del usuario hacia el servidor. Esa carencia es la que motiva la sesión de hoy. Dejar la pregunta conductora en pantalla unos segundos antes de pasar a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conceptual frecuente número uno: creer que &lt;header&gt; o &lt;nav&gt; 'se ven distintos'. Desmentirlo de forma explícita; en el laboratorio 1 lo comprobarán en el navegador. Error conceptual frecuente número dos: pensar que la semántica es una regla de estilo del profesor. Enfatizar que es información que el documento entrega a quien lo procesa: navegador, lector de pantalla, buscador u otro desarrollador. Analogía útil: los planos de una edificación rotulados 'cocina', 'baño', 'sala' frente a planos con habitaciones sin nombre. La construcción es la misma; la información disponible no. Sobre accesibilidad: mencionarla como beneficio y detenerse ahí. No abrir el tema de ARIA ni de lectores de pantalla en esta sesión.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los dos bloques línea por línea señalando que la única diferencia es el nombre del elemento. Insistir en no satanizar &lt;div&gt;: se sigue usando de manera intensiva, sobre todo cuando se agrupa contenido por razones de maquetación. La regla práctica es preferir el elemento que describa el contenido cuando exista. Pregunta para los estudiantes: '¿qué información pierde el navegador en la versión de la izquierda?'. Respuesta esperada: el nombre de la sección solo tiene sentido para quien escribió el código. Si alguien pregunta por qué el id se llama 'cabecera', aprovechar para señalar que un identificador es una convención privada, mientras que &lt;header&gt; es un acuerdo del estándar.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esquema de arriba hacia abajo nombrando cada región y pidiendo ejemplos reales de sitios que los estudiantes usen. Aclarar la anidación: &lt;article&gt; está dentro de &lt;section&gt;, y ambos dentro de &lt;main&gt;. Este esquema es una disposición típica, no una obligación del estándar. Error frecuente: colocar &lt;nav&gt; dentro de &lt;main&gt;. Explicar que la navegación no es el contenido principal del documento. Advertir que el esquema NO representa posiciones en pantalla: &lt;aside&gt; aparece a la derecha en este dibujo por convención visual, no porque el elemento lo determine. Ese control llega con CSS en la Sesión 03.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la Sesión 01: los enlaces del &lt;nav&gt; son exactamente los que ya generan peticiones GET a /, /servicios y /contacto. La semántica no cambia ese comportamiento. Pregunta para el grupo: '¿el enlace deja de funcionar por estar dentro de &lt;nav&gt;?'. Respuesta: no; &lt;nav&gt; aporta significado, no comportamiento. Error frecuente: encerrar todos los enlaces del sitio dentro de &lt;nav&gt;, incluidos los que aparecen dentro de un párrafo. Aclarar el criterio de bloque de navegación. Momento adecuado para anunciar que en pocos minutos aplicarán esto sobre su propio index.html.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Distinción clave y la más difícil de la sesión: section frente a article. Ejemplo concreto: en un blog, la lista de entradas es una section y cada entrada publicada es un article. Error frecuente: usar &lt;section&gt; como si fuera un &lt;div&gt; con otro nombre. Criterio práctico: si el bloque no admite un encabezado propio, probablemente no es una section. Aclarar la regla de &lt;main&gt;: uno por documento, y no debe contener encabezados de sitio, navegación ni pie. En el laboratorio 1 solo se exige main y section. Mencionar article como elemento del estándar sin obligar a usarlo todavía.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aquí el bloque conceptual de semántica. Duración recomendada del bloque completo: 30 a 35 minutos. Error frecuente: confundir &lt;aside&gt; con 'barra lateral'. La posición en pantalla es una decisión de presentación; &lt;aside&gt; declara una relación de contenido secundario. Repetir el mensaje sobre &lt;div&gt; porque los estudiantes tienden a irse a un extremo: o lo eliminan por completo, o lo usan para todo. Antes de pasar al laboratorio, pedir que abran el editor y tengan index.html de la Sesión 01 a la vista.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referencia para el laboratorio 1: puede dejarse proyectada mientras los estudiantes escriben. Señalar que la indentación no es obligatoria para el navegador pero sí determinante para la lectura humana del documento. Pregunta de verificación antes del laboratorio: '¿qué elemento falta aquí respecto de un documento completo?'. Respuesta esperada: &lt;!DOCTYPE html&gt;, &lt;html&gt; y &lt;head&gt;, que ya se trabajaron en la Sesión 01. Recordar que &lt;head&gt; permanece igual: la evolución ocurre dentro de &lt;body&gt;.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Salir de la presentación y trabajar en vivo en el editor y el navegador. Duración estimada: 20 minutos. Escribir el documento junto con los estudiantes, elemento por elemento, no pegar el código completo. Las tres últimas líneas del cierre (&lt;/footer&gt;, &lt;/body&gt;, &lt;/html&gt;) se completan en vivo. Punto pedagógico central del laboratorio: al recargar en el navegador, el resultado se ve prácticamente igual que antes. Hacerlo explícito y preguntar por qué. Recordar que el servidor debe reiniciarse con node server.js si se detuvo, y que las rutas /servicios y /contacto siguen respondiendo igual que en la Sesión 01. Si algún estudiante no conserva index.html, entregarle el archivo de la sesión anterior antes de empezar para no perder tiempo.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Bisagra de la sesión: cierra el bloque de semántica y abre el de formularios. Máximo 3 minutos. Formular la pregunta en voz alta y esperar respuestas antes de mostrar el término 'formulario'. Es probable que los estudiantes lo nombren solos a partir de su experiencia como usuarios. Aclarar que el cambio no está en el protocolo: HTTP siempre permitió enviar datos. Lo que se agrega hoy es el mecanismo del lado del documento para recogerlos. No adelantar todavía la diferencia entre GET y POST; se trata más adelante.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separación de responsabilidades: el formulario recoge, el protocolo transporta, el servidor procesa. Es el error conceptual más común del tema. Pregunta útil: '¿dónde se guarda lo que escribo en un formulario antes de pulsar Enviar?'. Respuesta: en la memoria del navegador; nada ha llegado al servidor todavía. Aclarar que sin un servidor que atienda la ruta indicada, el envío igual se produce: lo que falla es la respuesta, no el formulario. Recordar el flujo dibujado en la Sesión 01 y señalar que este diagrama es el mismo circuito recorrido en sentido inverso.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tríada for, id y name de manera pausada: es el punto donde se concentran los errores de los estudiantes. for e id se emparejan dentro del documento y hacen que al pulsar la etiqueta se active el control. name no interviene en ese vínculo: es la clave con la que el dato llega al servidor. Error frecuente: escribir un input sin name. Consecuencia: el dato existe en pantalla pero no se envía. Demostrarlo si hay tiempo. Mencionar que &lt;textarea&gt; requiere etiqueta de apertura y de cierre, a diferencia de &lt;input&gt;, que es un elemento vacío. Aclarar por qué se escribe type="submit" en el botón: sin ese tipo el comportamiento predeterminado puede variar entre navegadores.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convertir la diapositiva en un catálogo: cinco tipos son suficientes para la sesión. Si preguntan por otros, remitir a la documentación del estándar. Precisión importante: la verificación que hace el navegador con type="email" o con required es una comodidad para el usuario, no una medida de seguridad. La validación real se hace en el servidor. Anticipar que ese tema corresponde a sesiones posteriores. Pregunta para el grupo: '¿qué ocurre si el usuario desactiva la validación del navegador?'. Sirve para instalar la idea de que nunca se confía en el cliente. Mostrar en el navegador, si hay tiempo, cómo cambia el teclado o el selector según el tipo declarado.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de forma directa con la Sesión 01: action produce el valor de req.url y method produce el valor de req.method. Los estudiantes ya imprimieron ambos en consola. Este es el punto de anclaje entre lo aprendido y lo nuevo. Vale la pena detenerse aquí más de lo que la diapositiva sugiere. Error frecuente: escribir action con la URL completa incluyendo dominio y puerto. Aclarar que basta la ruta relativa. Pregunta para el grupo: '¿qué código de estado esperan si el servidor no tiene definida la ruta indicada en action?'. Respuesta: 404, ya trabajado en la sesión anterior.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 de manera deliberada la simplificación 'GET lee y POST crea'. Es una regla de bolsillo que después estorba al estudiar APIs. Formulación preferible: GET expresa una consulta y sus parámetros quedan en la URL; POST expresa un envío de datos para procesamiento y los transporta en el cuerpo. Consecuencias prácticas que sí conviene señalar: una URL con parámetros queda en el historial, se puede compartir y se puede marcar como favorito. Eso hace a GET inadecuado para contraseñas. Aclarar que POST tampoco cifra nada por sí mismo: la protección proviene de HTTPS, tema de sesiones posteriores. No abrir PUT, PATCH ni DELETE más allá de nombrarlos.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Salir de la presentación y trabajar en vivo en el editor y el navegador. Duración estimada: 20 minutos. El formulario se agrega DENTRO del &lt;main&gt; construido en el laboratorio 1, como una nueva &lt;section&gt;. No se crea un archivo nuevo. Escribir primero un solo par label-input y comprobarlo en el navegador antes de completar los tres controles: es preferible a escribir el bloque completo y depurar al final. Al pulsar Enviar, el servidor de la Sesión 01 responderá lo que ya tenía definido para /contacto. Advertirlo antes para que nadie interprete el resultado como un error. Errores frecuentes a vigilar mientras recorren los puestos: for e id que no coinciden, input sin name, y textarea sin etiqueta de cierre.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corta de integración: entre 5 y 8 minutos. No es un tercer laboratorio; el docente conduce y los estudiantes observan. Reutilizar el server.js de la Sesión 01 sin modificarlo, salvo por las dos líneas de console.log que ya conocen. Enviar el formulario y mostrar la consola: el valor de req.method cambia de GET a POST. Ese cambio es toda la demostración. Pregunta de cierre del bloque: '¿dónde están el nombre, el correo y el mensaje que se escribieron?'. Respuesta: viajaron en el cuerpo de la petición, que todavía no se está leyendo. Dejar esa carencia planteada; es el enganche para la continuación del curso. No introducir Express ni el procesamiento del body, aunque algún estudiante lo pida.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Verificación rápida antes de terminar: pedir a tres estudiantes que expliquen con sus palabras qué aporta un elemento semántico, para qué sirve el atributo name y qué diferencia hay entre action y method. Repasar los conceptos en voz alta señalando las tarjetas; el listado sirve como guía de estudio. Dejar planteada de manera explícita la pregunta de transición hacia CSS: hoy se trabajó estructura y significado, la próxima sesión trabaja presentación. Recordar que los archivos index.html y server.js deben conservarse: la Sesión 03 parte de esta misma página.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7160" y="3882120"/>
            <a:ext cx="8730234" cy="634120"/>
          </a:xfrm>
        </p:spPr>
        <p:txBody>
          <a:bodyPr vert="horz" lIns="91440" tIns="45720" rIns="91440" bIns="45720" rtlCol="0" anchor="b">
            <a:normAutofit/>
          </a:bodyPr>
          <a:lstStyle>
            <a:lvl1pPr>
              <a:defRPr lang="en-US" sz="3300" dirty="0">
                <a:solidFill>
                  <a:schemeClr val="tx2"/>
                </a:solidFill>
              </a:defRPr>
            </a:lvl1pPr>
          </a:lstStyle>
          <a:p>
            <a:pPr lvl="0"/>
            <a:r>
              <a:rPr lang="es-ES"/>
              <a:t>Haga clic para modificar el estilo de título del patrón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7735" y="4485132"/>
            <a:ext cx="8709660" cy="397764"/>
          </a:xfrm>
        </p:spPr>
        <p:txBody>
          <a:bodyPr vert="horz" lIns="91440" tIns="45720" rIns="91440" bIns="45720" rtlCol="0">
            <a:normAutofit/>
          </a:bodyPr>
          <a:lstStyle>
            <a:lvl1pPr marL="0" indent="0">
              <a:buNone/>
              <a:defRPr lang="en-US" sz="1200" dirty="0">
                <a:solidFill>
                  <a:schemeClr val="tx2"/>
                </a:solidFill>
              </a:defRPr>
            </a:lvl1pPr>
          </a:lstStyle>
          <a:p>
            <a:pPr lvl="0"/>
            <a:r>
              <a:rPr lang="es-ES"/>
              <a:t>Haga clic para modificar el estilo de subtítulo del patrón</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05665" y="200025"/>
            <a:ext cx="8737092" cy="3640361"/>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37160" y="4793743"/>
            <a:ext cx="2104054" cy="247850"/>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03386" y="4793743"/>
            <a:ext cx="2620736" cy="247850"/>
          </a:xfrm>
        </p:spPr>
        <p:txBody>
          <a:bodyPr/>
          <a:lstStyle>
            <a:lvl1pPr algn="r">
              <a:defRPr>
                <a:solidFill>
                  <a:schemeClr val="tx2"/>
                </a:solidFill>
                <a:effectLst/>
              </a:defRPr>
            </a:lvl1pPr>
          </a:lstStyle>
          <a:p>
            <a:fld id="{9961397C-706D-4EB8-B1E1-D1B680D284C3}" type="datetime1">
              <a:rPr lang="en-US" smtClean="0"/>
              <a:t>8/31/2026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724122" y="4793743"/>
            <a:ext cx="321905" cy="247850"/>
          </a:xfrm>
        </p:spPr>
        <p:txBody>
          <a:bodyPr/>
          <a:lstStyle>
            <a:lvl1pPr>
              <a:defRPr>
                <a:solidFill>
                  <a:schemeClr val="tx2"/>
                </a:solidFill>
                <a:effectLst/>
              </a:defRPr>
            </a:lvl1pPr>
          </a:lstStyle>
          <a:p>
            <a:fld id="{C8116806-1FD2-4A57-B5EA-7014AB76383B}" type="slidenum">
              <a:rPr lang="en-US" smtClean="0"/>
              <a:t>‹Nº›</a:t>
            </a:fld>
            <a:endParaRPr lang="en-US"/>
          </a:p>
        </p:txBody>
      </p:sp>
    </p:spTree>
    <p:extLst>
      <p:ext uri="{BB962C8B-B14F-4D97-AF65-F5344CB8AC3E}">
        <p14:creationId xmlns:p14="http://schemas.microsoft.com/office/powerpoint/2010/main" val="239545404"/>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i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s-ES"/>
              <a:t>Haga clic para modificar el estilo de título del patrón</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8/31/2026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340405289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745197" y="156566"/>
            <a:ext cx="3049554" cy="2794453"/>
          </a:xfrm>
        </p:spPr>
        <p:txBody>
          <a:bodyPr vert="horz" lIns="91440" tIns="45720" rIns="91440" bIns="45720" rtlCol="0" anchor="t">
            <a:normAutofit/>
          </a:bodyPr>
          <a:lstStyle>
            <a:lvl1pPr>
              <a:defRPr lang="en-US" sz="3750" dirty="0">
                <a:solidFill>
                  <a:schemeClr val="tx2"/>
                </a:solidFill>
              </a:defRPr>
            </a:lvl1pPr>
          </a:lstStyle>
          <a:p>
            <a:pPr lvl="0"/>
            <a:r>
              <a:rPr lang="es-ES"/>
              <a:t>Haga clic para modificar el estilo de título del patrón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751547" y="3634740"/>
            <a:ext cx="3049554" cy="1035558"/>
          </a:xfrm>
        </p:spPr>
        <p:txBody>
          <a:bodyPr vert="horz" lIns="91440" tIns="45720" rIns="91440" bIns="45720" rtlCol="0" anchor="b">
            <a:normAutofit/>
          </a:bodyPr>
          <a:lstStyle>
            <a:lvl1pPr marL="0" indent="0">
              <a:buNone/>
              <a:defRPr lang="en-US" sz="1200">
                <a:solidFill>
                  <a:schemeClr val="tx2"/>
                </a:solidFill>
              </a:defRPr>
            </a:lvl1pPr>
          </a:lstStyle>
          <a:p>
            <a:pPr lvl="0"/>
            <a:r>
              <a:rPr lang="es-ES"/>
              <a:t>Haga clic para modificar el estilo de subtítulo del patrón</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05740" y="200025"/>
            <a:ext cx="5429249" cy="4742168"/>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749861" y="479374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858125" y="4793742"/>
            <a:ext cx="774063" cy="253746"/>
          </a:xfrm>
        </p:spPr>
        <p:txBody>
          <a:bodyPr/>
          <a:lstStyle>
            <a:lvl1pPr>
              <a:defRPr>
                <a:solidFill>
                  <a:schemeClr val="tx2"/>
                </a:solidFill>
                <a:effectLst/>
              </a:defRPr>
            </a:lvl1pPr>
          </a:lstStyle>
          <a:p>
            <a:fld id="{DB19E114-DE0F-4D79-972B-16F4D1534B50}" type="datetime1">
              <a:rPr lang="en-US" smtClean="0"/>
              <a:t>8/31/2026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632188" y="4791628"/>
            <a:ext cx="342900" cy="253746"/>
          </a:xfrm>
        </p:spPr>
        <p:txBody>
          <a:bodyPr/>
          <a:lstStyle>
            <a:lvl1pPr>
              <a:defRPr>
                <a:solidFill>
                  <a:schemeClr val="tx2"/>
                </a:solidFill>
              </a:defRPr>
            </a:lvl1pPr>
          </a:lstStyle>
          <a:p>
            <a:fld id="{C8116806-1FD2-4A57-B5EA-7014AB76383B}" type="slidenum">
              <a:rPr lang="en-US" smtClean="0"/>
              <a:t>‹Nº›</a:t>
            </a:fld>
            <a:endParaRPr lang="en-US"/>
          </a:p>
        </p:txBody>
      </p:sp>
    </p:spTree>
    <p:extLst>
      <p:ext uri="{BB962C8B-B14F-4D97-AF65-F5344CB8AC3E}">
        <p14:creationId xmlns:p14="http://schemas.microsoft.com/office/powerpoint/2010/main" val="4529287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13949" y="1147157"/>
            <a:ext cx="6116103" cy="1742912"/>
          </a:xfrm>
        </p:spPr>
        <p:txBody>
          <a:bodyPr anchor="b">
            <a:normAutofit/>
          </a:bodyPr>
          <a:lstStyle>
            <a:lvl1pPr algn="ctr">
              <a:defRPr sz="4050">
                <a:solidFill>
                  <a:schemeClr val="tx2"/>
                </a:solidFill>
              </a:defRPr>
            </a:lvl1pPr>
          </a:lstStyle>
          <a:p>
            <a:r>
              <a:rPr lang="es-ES"/>
              <a:t>Haga clic para modificar el estilo de título del patrón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33036" y="3040128"/>
            <a:ext cx="4477928" cy="804509"/>
          </a:xfrm>
        </p:spPr>
        <p:txBody>
          <a:bodyPr anchor="t">
            <a:normAutofit/>
          </a:bodyPr>
          <a:lstStyle>
            <a:lvl1pPr marL="0" indent="0" algn="ctr">
              <a:buNone/>
              <a:defRPr sz="12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8/31/2026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‹Nº›</a:t>
            </a:fld>
            <a:endParaRPr lang="en-US"/>
          </a:p>
        </p:txBody>
      </p:sp>
    </p:spTree>
    <p:extLst>
      <p:ext uri="{BB962C8B-B14F-4D97-AF65-F5344CB8AC3E}">
        <p14:creationId xmlns:p14="http://schemas.microsoft.com/office/powerpoint/2010/main" val="415848882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s-ES"/>
              <a:t>Haga clic para modificar el estilo de título del patrón</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CBB9144B-27A2-4831-A05B-9434A462331E}" type="datetime1">
              <a:rPr lang="en-US" smtClean="0"/>
              <a:t>8/31/2026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8116806-1FD2-4A57-B5EA-7014AB76383B}" type="slidenum">
              <a:rPr lang="en-US" smtClean="0"/>
              <a:t>‹Nº›</a:t>
            </a:fld>
            <a:endParaRPr lang="en-US"/>
          </a:p>
        </p:txBody>
      </p:sp>
    </p:spTree>
    <p:extLst>
      <p:ext uri="{BB962C8B-B14F-4D97-AF65-F5344CB8AC3E}">
        <p14:creationId xmlns:p14="http://schemas.microsoft.com/office/powerpoint/2010/main" val="36545567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62" y="142267"/>
            <a:ext cx="8506429" cy="1222114"/>
          </a:xfrm>
        </p:spPr>
        <p:txBody>
          <a:bodyPr anchor="t">
            <a:normAutofit/>
          </a:bodyPr>
          <a:lstStyle>
            <a:lvl1pPr>
              <a:defRPr sz="5700" baseline="0"/>
            </a:lvl1pPr>
          </a:lstStyle>
          <a:p>
            <a:r>
              <a:rPr lang="es-ES"/>
              <a:t>Haga clic para modificar el estilo de título del patrón</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0" y="1771650"/>
            <a:ext cx="4371975" cy="2857500"/>
          </a:xfrm>
        </p:spPr>
        <p:txBody>
          <a:bodyPr vert="horz" lIns="91440" tIns="45720" rIns="91440" bIns="45720" rtlCol="0" anchor="b">
            <a:normAutofit/>
          </a:bodyPr>
          <a:lstStyle>
            <a:lvl1pPr marL="342900" indent="-342900">
              <a:buFont typeface="+mj-lt"/>
              <a:buAutoNum type="arabicPeriod"/>
              <a:defRPr lang="en-US" sz="1200" dirty="0"/>
            </a:lvl1pPr>
            <a:lvl2pPr marL="428625" indent="-257175">
              <a:buFont typeface="+mj-lt"/>
              <a:buAutoNum type="arabicPeriod"/>
              <a:defRPr lang="en-US" sz="1200" dirty="0"/>
            </a:lvl2pPr>
            <a:lvl3pPr marL="600075" indent="-257175">
              <a:buFont typeface="+mj-lt"/>
              <a:buAutoNum type="arabicPeriod"/>
              <a:defRPr lang="en-US" sz="1200" dirty="0"/>
            </a:lvl3pPr>
            <a:lvl4pPr>
              <a:buFont typeface="+mj-lt"/>
              <a:buAutoNum type="arabicPeriod"/>
              <a:defRPr lang="en-US" sz="1200" dirty="0"/>
            </a:lvl4pPr>
            <a:lvl5pPr>
              <a:buFont typeface="+mj-lt"/>
              <a:buAutoNum type="arabicPeriod"/>
              <a:defRPr lang="en-US" sz="1200"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8/31/2026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121355134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7160" y="3046397"/>
            <a:ext cx="4434840" cy="1701269"/>
          </a:xfrm>
        </p:spPr>
        <p:txBody>
          <a:bodyPr anchor="t">
            <a:normAutofit/>
          </a:bodyPr>
          <a:lstStyle>
            <a:lvl1pPr>
              <a:defRPr sz="4350"/>
            </a:lvl1pPr>
          </a:lstStyle>
          <a:p>
            <a:r>
              <a:rPr lang="es-ES"/>
              <a:t>Haga clic para modificar el estilo de título del patrón</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05740" y="201381"/>
            <a:ext cx="8737092" cy="2706814"/>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6980" y="3029338"/>
            <a:ext cx="3314701" cy="1701270"/>
          </a:xfrm>
        </p:spPr>
        <p:txBody>
          <a:bodyPr vert="horz" lIns="91440" tIns="45720" rIns="91440" bIns="45720" rtlCol="0">
            <a:normAutofit/>
          </a:bodyPr>
          <a:lstStyle>
            <a:lvl1pPr marL="257175" indent="-257175">
              <a:buFont typeface="+mj-lt"/>
              <a:buAutoNum type="arabicPeriod"/>
              <a:defRPr lang="en-US" sz="1050" dirty="0"/>
            </a:lvl1pPr>
            <a:lvl2pPr marL="428625" indent="-257175">
              <a:buFont typeface="+mj-lt"/>
              <a:buAutoNum type="arabicPeriod"/>
              <a:defRPr lang="en-US" sz="1050" dirty="0"/>
            </a:lvl2pPr>
            <a:lvl3pPr marL="600075" indent="-257175">
              <a:buFont typeface="+mj-lt"/>
              <a:buAutoNum type="arabicPeriod"/>
              <a:defRPr lang="en-US" sz="1050" dirty="0"/>
            </a:lvl3pPr>
            <a:lvl4pPr>
              <a:buFont typeface="+mj-lt"/>
              <a:buAutoNum type="arabicPeriod"/>
              <a:defRPr lang="en-US" sz="1050" dirty="0"/>
            </a:lvl4pPr>
            <a:lvl5pPr>
              <a:buFont typeface="+mj-lt"/>
              <a:buAutoNum type="arabicPeriod"/>
              <a:defRPr lang="en-US" sz="1050" dirty="0"/>
            </a:lvl5pPr>
          </a:lstStyle>
          <a:p>
            <a:pPr marL="171450" lvl="0" indent="-171450"/>
            <a:r>
              <a:rPr lang="es-ES"/>
              <a:t>Haga clic para modificar los estilos de texto del patrón</a:t>
            </a:r>
          </a:p>
          <a:p>
            <a:pPr marL="171450" lvl="1" indent="-171450"/>
            <a:r>
              <a:rPr lang="es-ES"/>
              <a:t>Segundo nivel</a:t>
            </a:r>
          </a:p>
          <a:p>
            <a:pPr marL="171450" lvl="2" indent="-171450"/>
            <a:r>
              <a:rPr lang="es-ES"/>
              <a:t>Tercer nivel</a:t>
            </a:r>
          </a:p>
          <a:p>
            <a:pPr marL="171450" lvl="3" indent="-171450"/>
            <a:r>
              <a:rPr lang="es-ES"/>
              <a:t>Cuarto nivel</a:t>
            </a:r>
          </a:p>
          <a:p>
            <a:pPr marL="171450" lvl="4" indent="-171450"/>
            <a:r>
              <a:rPr lang="es-ES"/>
              <a:t>Quinto nivel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37160" y="4790803"/>
            <a:ext cx="2027833" cy="253746"/>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8/31/2026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149399885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8848" y="1228724"/>
            <a:ext cx="2486025" cy="2904951"/>
          </a:xfrm>
        </p:spPr>
        <p:txBody>
          <a:bodyPr anchor="t">
            <a:normAutofit/>
          </a:bodyPr>
          <a:lstStyle>
            <a:lvl1pPr>
              <a:defRPr sz="2250"/>
            </a:lvl1pPr>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675764" y="1228725"/>
            <a:ext cx="4560570" cy="29049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8/31/2026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146196506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 y="164593"/>
            <a:ext cx="2482796" cy="3043595"/>
          </a:xfrm>
        </p:spPr>
        <p:txBody>
          <a:bodyPr anchor="t">
            <a:normAutofit/>
          </a:bodyPr>
          <a:lstStyle>
            <a:lvl1pPr>
              <a:defRPr sz="2250"/>
            </a:lvl1pPr>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979506" y="200025"/>
            <a:ext cx="5766371" cy="45358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8/31/2026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41636887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689644" y="164592"/>
            <a:ext cx="4782410" cy="799505"/>
          </a:xfrm>
        </p:spPr>
        <p:txBody>
          <a:bodyPr anchor="t"/>
          <a:lstStyle/>
          <a:p>
            <a:r>
              <a:rPr lang="es-ES"/>
              <a:t>Haga clic para modificar el estilo de título del patrón</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05740" y="201430"/>
            <a:ext cx="3314700" cy="4744477"/>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689644" y="964097"/>
            <a:ext cx="4782410" cy="3739766"/>
          </a:xfrm>
        </p:spPr>
        <p:txBody>
          <a:bodyPr anchor="b"/>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689645" y="4790803"/>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15265518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1527" y="164592"/>
            <a:ext cx="5430973" cy="692658"/>
          </a:xfrm>
        </p:spPr>
        <p:txBody>
          <a:bodyPr anchor="t"/>
          <a:lstStyle>
            <a:lvl1pPr>
              <a:defRPr/>
            </a:lvl1pPr>
          </a:lstStyle>
          <a:p>
            <a:r>
              <a:rPr lang="es-ES"/>
              <a:t>Haga clic para modificar el estilo de título del patrón</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05740" y="201430"/>
            <a:ext cx="2756916" cy="4745736"/>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41526" y="857250"/>
            <a:ext cx="5430974" cy="3929634"/>
          </a:xfrm>
        </p:spPr>
        <p:txBody>
          <a:bodyPr anchor="b"/>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141527" y="478723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27938411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2"/>
            <a:ext cx="5430973" cy="692658"/>
          </a:xfrm>
        </p:spPr>
        <p:txBody>
          <a:bodyPr anchor="t"/>
          <a:lstStyle>
            <a:lvl1pPr>
              <a:defRPr/>
            </a:lvl1pPr>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37160" y="857250"/>
            <a:ext cx="5430974" cy="3929634"/>
          </a:xfrm>
        </p:spPr>
        <p:txBody>
          <a:bodyPr anchor="b"/>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60" y="478723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794070" y="4790346"/>
            <a:ext cx="774063" cy="253746"/>
          </a:xfrm>
        </p:spPr>
        <p:txBody>
          <a:bodyPr/>
          <a:lstStyle>
            <a:lvl1pPr>
              <a:defRPr>
                <a:solidFill>
                  <a:schemeClr val="tx1"/>
                </a:solidFill>
                <a:effectLst/>
              </a:defRPr>
            </a:lvl1pPr>
          </a:lstStyle>
          <a:p>
            <a:fld id="{A84DF367-E34D-4C28-A660-DCABBED01BCF}"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568133" y="4790346"/>
            <a:ext cx="342900" cy="253746"/>
          </a:xfrm>
        </p:spPr>
        <p:txBody>
          <a:bodyPr/>
          <a:lstStyle/>
          <a:p>
            <a:fld id="{C8116806-1FD2-4A57-B5EA-7014AB76383B}" type="slidenum">
              <a:rPr lang="en-US" smtClean="0"/>
              <a:t>‹Nº›</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6187059" y="201430"/>
            <a:ext cx="2756916" cy="4745736"/>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79874515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392" y="164592"/>
            <a:ext cx="3538072" cy="885666"/>
          </a:xfrm>
        </p:spPr>
        <p:txBody>
          <a:bodyPr anchor="t"/>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39392" y="1050258"/>
            <a:ext cx="3546784" cy="3653605"/>
          </a:xfrm>
        </p:spPr>
        <p:txBody>
          <a:bodyPr anchor="b"/>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91129" y="4793096"/>
            <a:ext cx="974088" cy="253746"/>
          </a:xfrm>
        </p:spPr>
        <p:txBody>
          <a:bodyPr/>
          <a:lstStyle/>
          <a:p>
            <a:fld id="{5489A3B8-AADB-439D-85B5-E9ACAFD37972}"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65217" y="4793096"/>
            <a:ext cx="342900" cy="253746"/>
          </a:xfrm>
        </p:spPr>
        <p:txBody>
          <a:bodyPr/>
          <a:lstStyle>
            <a:lvl1pPr>
              <a:defRPr>
                <a:solidFill>
                  <a:schemeClr val="tx1"/>
                </a:solidFill>
                <a:effectLst/>
              </a:defRPr>
            </a:lvl1pPr>
          </a:lstStyle>
          <a:p>
            <a:fld id="{C8116806-1FD2-4A57-B5EA-7014AB76383B}" type="slidenum">
              <a:rPr lang="en-US" smtClean="0"/>
              <a:t>‹Nº›</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200528" y="200025"/>
            <a:ext cx="4743352" cy="474345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07610599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1" y="165652"/>
            <a:ext cx="2406015" cy="2316476"/>
          </a:xfrm>
        </p:spPr>
        <p:txBody>
          <a:bodyPr anchor="t"/>
          <a:lstStyle/>
          <a:p>
            <a:r>
              <a:rPr lang="es-ES"/>
              <a:t>Haga clic para modificar el estilo de título del patrón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3514725" y="200025"/>
            <a:ext cx="2625404" cy="474345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5815" y="165652"/>
            <a:ext cx="2400300" cy="4541666"/>
          </a:xfrm>
        </p:spPr>
        <p:txBody>
          <a:bodyPr anchor="b"/>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‹Nº›</a:t>
            </a:fld>
            <a:endParaRPr lang="en-US"/>
          </a:p>
        </p:txBody>
      </p:sp>
    </p:spTree>
    <p:extLst>
      <p:ext uri="{BB962C8B-B14F-4D97-AF65-F5344CB8AC3E}">
        <p14:creationId xmlns:p14="http://schemas.microsoft.com/office/powerpoint/2010/main" val="210773220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35317" y="164593"/>
            <a:ext cx="2918576" cy="919004"/>
          </a:xfrm>
        </p:spPr>
        <p:txBody>
          <a:bodyPr anchor="t"/>
          <a:lstStyle/>
          <a:p>
            <a:r>
              <a:rPr lang="es-ES"/>
              <a:t>Haga clic para modificar el estilo de título del patrón</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02855" y="198882"/>
            <a:ext cx="5238477" cy="4745736"/>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635315" y="1076739"/>
            <a:ext cx="2918576" cy="3625397"/>
          </a:xfrm>
        </p:spPr>
        <p:txBody>
          <a:bodyPr anchor="b"/>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636310" y="479034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36854461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390" y="164592"/>
            <a:ext cx="2426237" cy="1182914"/>
          </a:xfrm>
        </p:spPr>
        <p:txBody>
          <a:bodyPr anchor="t"/>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39390" y="1347506"/>
            <a:ext cx="2426237" cy="335360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4029" y="4790346"/>
            <a:ext cx="1571828"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54812" y="4793096"/>
            <a:ext cx="774063" cy="253746"/>
          </a:xfrm>
        </p:spPr>
        <p:txBody>
          <a:bodyPr/>
          <a:lstStyle>
            <a:lvl1pPr>
              <a:defRPr>
                <a:solidFill>
                  <a:schemeClr val="tx1"/>
                </a:solidFill>
                <a:effectLst/>
              </a:defRPr>
            </a:lvl1pPr>
          </a:lstStyle>
          <a:p>
            <a:fld id="{BB0B5C10-8896-4A25-9ADC-0DE16BEA40F9}"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428875" y="4793096"/>
            <a:ext cx="342900" cy="253746"/>
          </a:xfrm>
        </p:spPr>
        <p:txBody>
          <a:bodyPr/>
          <a:lstStyle/>
          <a:p>
            <a:fld id="{C8116806-1FD2-4A57-B5EA-7014AB76383B}" type="slidenum">
              <a:rPr lang="en-US" smtClean="0"/>
              <a:t>‹Nº›</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2974338" y="198882"/>
            <a:ext cx="5969638" cy="4745736"/>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94091090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409" y="162339"/>
            <a:ext cx="2536190" cy="1660143"/>
          </a:xfrm>
        </p:spPr>
        <p:txBody>
          <a:bodyPr anchor="t">
            <a:normAutofit/>
          </a:bodyPr>
          <a:lstStyle>
            <a:lvl1pPr>
              <a:defRPr sz="2250"/>
            </a:lvl1pPr>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71800" y="133119"/>
            <a:ext cx="5972175" cy="1714500"/>
          </a:xfrm>
        </p:spPr>
        <p:txBody>
          <a:bodyPr>
            <a:normAutofit/>
          </a:bodyPr>
          <a:lstStyle>
            <a:lvl1pPr marL="214313" indent="-214313">
              <a:buFont typeface="Arial" panose="020B0604020202020204" pitchFamily="34" charset="0"/>
              <a:buChar char="•"/>
              <a:defRPr sz="1050"/>
            </a:lvl1pPr>
            <a:lvl2pPr marL="385763" indent="-214313">
              <a:buFont typeface="Arial" panose="020B0604020202020204" pitchFamily="34" charset="0"/>
              <a:buChar char="•"/>
              <a:defRPr sz="1050"/>
            </a:lvl2pPr>
            <a:lvl3pPr marL="557213" indent="-214313">
              <a:buFont typeface="Arial" panose="020B0604020202020204" pitchFamily="34" charset="0"/>
              <a:buChar char="•"/>
              <a:defRPr sz="1050"/>
            </a:lvl3pPr>
            <a:lvl4pPr marL="642938" indent="-128588">
              <a:buFont typeface="Arial" panose="020B0604020202020204" pitchFamily="34" charset="0"/>
              <a:buChar char="•"/>
              <a:defRPr sz="1050"/>
            </a:lvl4pPr>
            <a:lvl5pPr marL="814388" indent="-128588">
              <a:buFont typeface="Arial" panose="020B0604020202020204" pitchFamily="34" charset="0"/>
              <a:buChar char="•"/>
              <a:defRPr sz="105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9409" y="1885098"/>
            <a:ext cx="2104054"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72754" y="1887183"/>
            <a:ext cx="963008" cy="253746"/>
          </a:xfrm>
        </p:spPr>
        <p:txBody>
          <a:bodyPr/>
          <a:lstStyle/>
          <a:p>
            <a:fld id="{70D4BFA2-1BB9-40F7-B5CD-27AF3FC15B4F}"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32189" y="1885098"/>
            <a:ext cx="336980" cy="253746"/>
          </a:xfrm>
        </p:spPr>
        <p:txBody>
          <a:bodyPr/>
          <a:lstStyle/>
          <a:p>
            <a:fld id="{C8116806-1FD2-4A57-B5EA-7014AB76383B}" type="slidenum">
              <a:rPr lang="en-US" smtClean="0"/>
              <a:t>‹Nº›</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05665" y="2201460"/>
            <a:ext cx="8738310" cy="2742015"/>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61176402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3"/>
            <a:ext cx="2379481" cy="2358764"/>
          </a:xfrm>
        </p:spPr>
        <p:txBody>
          <a:bodyPr anchor="t">
            <a:normAutofit/>
          </a:bodyPr>
          <a:lstStyle>
            <a:lvl1pPr>
              <a:defRPr sz="2250"/>
            </a:lvl1pPr>
          </a:lstStyle>
          <a:p>
            <a:r>
              <a:rPr lang="es-ES"/>
              <a:t>Haga clic para modificar el estilo de título del patrón</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3000375" y="198999"/>
            <a:ext cx="5943600" cy="2321878"/>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35924" y="2657698"/>
            <a:ext cx="6008051" cy="2132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910939218"/>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923866" y="570114"/>
            <a:ext cx="7296269" cy="3175255"/>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84707" y="3941369"/>
            <a:ext cx="6974586" cy="768995"/>
          </a:xfrm>
        </p:spPr>
        <p:txBody>
          <a:bodyPr anchor="ctr">
            <a:normAutofit/>
          </a:bodyPr>
          <a:lstStyle>
            <a:lvl1pPr algn="ctr">
              <a:lnSpc>
                <a:spcPct val="90000"/>
              </a:lnSpc>
              <a:defRPr sz="1800" spc="-38" baseline="0">
                <a:solidFill>
                  <a:schemeClr val="tx1"/>
                </a:solidFill>
              </a:defRPr>
            </a:lvl1pPr>
          </a:lstStyle>
          <a:p>
            <a:r>
              <a:rPr lang="es-ES"/>
              <a:t>Haga clic para modificar el estilo de título del patrón</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084707" y="969819"/>
            <a:ext cx="6974586" cy="2957941"/>
          </a:xfrm>
        </p:spPr>
        <p:txBody>
          <a:bodyPr anchor="ctr">
            <a:normAutofit/>
          </a:bodyPr>
          <a:lstStyle>
            <a:lvl1pPr marL="0" indent="0" algn="ctr">
              <a:lnSpc>
                <a:spcPct val="80000"/>
              </a:lnSpc>
              <a:buNone/>
              <a:defRPr sz="19500" spc="-75"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8/31/2026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371344777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850392"/>
            <a:ext cx="7989570" cy="685800"/>
          </a:xfrm>
        </p:spPr>
        <p:txBody>
          <a:bodyPr/>
          <a:lstStyle/>
          <a:p>
            <a:r>
              <a:rPr lang="es-ES"/>
              <a:t>Haga clic para modificar el estilo de título del patrón</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7161" y="130303"/>
            <a:ext cx="7856624" cy="3637988"/>
          </a:xfrm>
        </p:spPr>
        <p:txBody>
          <a:bodyPr anchor="t">
            <a:noAutofit/>
          </a:bodyPr>
          <a:lstStyle>
            <a:lvl1pPr marL="0" indent="0">
              <a:lnSpc>
                <a:spcPct val="90000"/>
              </a:lnSpc>
              <a:buNone/>
              <a:defRPr sz="5700" b="0" cap="none" spc="-38" baseline="0"/>
            </a:lvl1pPr>
            <a:lvl2pPr marL="171450" indent="0">
              <a:lnSpc>
                <a:spcPct val="90000"/>
              </a:lnSpc>
              <a:buNone/>
              <a:defRPr sz="4950" b="0" cap="none" spc="-38" baseline="0"/>
            </a:lvl2pPr>
            <a:lvl3pPr marL="342900" indent="0">
              <a:lnSpc>
                <a:spcPct val="90000"/>
              </a:lnSpc>
              <a:buNone/>
              <a:defRPr sz="4500" b="0" cap="none" spc="-38" baseline="0"/>
            </a:lvl3pPr>
            <a:lvl4pPr marL="514350" indent="0">
              <a:lnSpc>
                <a:spcPct val="90000"/>
              </a:lnSpc>
              <a:buNone/>
              <a:defRPr sz="4050" b="0" cap="none" spc="-38" baseline="0"/>
            </a:lvl4pPr>
            <a:lvl5pPr marL="685800" indent="0">
              <a:lnSpc>
                <a:spcPct val="90000"/>
              </a:lnSpc>
              <a:buNone/>
              <a:defRPr sz="3600" b="0" cap="none" spc="-38"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8/31/2026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384269486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041588" y="3771900"/>
            <a:ext cx="6899148" cy="534924"/>
          </a:xfrm>
        </p:spPr>
        <p:txBody>
          <a:bodyPr anchor="t">
            <a:normAutofit/>
          </a:bodyPr>
          <a:lstStyle>
            <a:lvl1pPr>
              <a:lnSpc>
                <a:spcPct val="90000"/>
              </a:lnSpc>
              <a:defRPr sz="1500" b="1" spc="-38"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041588" y="836676"/>
            <a:ext cx="6899148" cy="2688336"/>
          </a:xfrm>
        </p:spPr>
        <p:txBody>
          <a:bodyPr anchor="ctr">
            <a:normAutofit/>
          </a:bodyPr>
          <a:lstStyle>
            <a:lvl1pPr marL="102870" indent="-102870">
              <a:lnSpc>
                <a:spcPct val="90000"/>
              </a:lnSpc>
              <a:spcBef>
                <a:spcPts val="0"/>
              </a:spcBef>
              <a:buFont typeface="Arial" panose="020B0604020202020204" pitchFamily="34" charset="0"/>
              <a:buNone/>
              <a:defRPr sz="3750" spc="-38"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8/31/2026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213884891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os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2"/>
            <a:ext cx="8495028" cy="781173"/>
          </a:xfrm>
        </p:spPr>
        <p:txBody>
          <a:bodyPr/>
          <a:lstStyle/>
          <a:p>
            <a:r>
              <a:rPr lang="es-ES"/>
              <a:t>Haga clic para modificar el estilo de título del patrón</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37160" y="1234440"/>
            <a:ext cx="4065307" cy="355619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4686300" y="1234440"/>
            <a:ext cx="3945888" cy="355619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8/31/2026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376219658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35890" y="164593"/>
            <a:ext cx="8455914" cy="592388"/>
          </a:xfrm>
        </p:spPr>
        <p:txBody>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35889" y="756980"/>
            <a:ext cx="3909060" cy="419876"/>
          </a:xfrm>
        </p:spPr>
        <p:txBody>
          <a:bodyPr anchor="b">
            <a:normAutofit/>
          </a:bodyPr>
          <a:lstStyle>
            <a:lvl1pPr marL="0" indent="0">
              <a:lnSpc>
                <a:spcPct val="90000"/>
              </a:lnSpc>
              <a:buNone/>
              <a:defRPr sz="12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36223" y="1237088"/>
            <a:ext cx="3909060" cy="32575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84014" y="756980"/>
            <a:ext cx="3909060" cy="419876"/>
          </a:xfrm>
        </p:spPr>
        <p:txBody>
          <a:bodyPr anchor="b">
            <a:normAutofit/>
          </a:bodyPr>
          <a:lstStyle>
            <a:lvl1pPr marL="0" indent="0">
              <a:lnSpc>
                <a:spcPct val="90000"/>
              </a:lnSpc>
              <a:buNone/>
              <a:defRPr sz="12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4684014" y="1237088"/>
            <a:ext cx="3909060" cy="32575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8/31/2026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283557152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s-ES"/>
              <a:t>Haga clic para modificar el estilo de título del patrón</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8/31/2026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252931814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1">
              <a:rPr lang="en-US" smtClean="0"/>
              <a:t>8/31/2026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dirty="0"/>
          </a:p>
        </p:txBody>
      </p:sp>
    </p:spTree>
    <p:extLst>
      <p:ext uri="{BB962C8B-B14F-4D97-AF65-F5344CB8AC3E}">
        <p14:creationId xmlns:p14="http://schemas.microsoft.com/office/powerpoint/2010/main" val="48065460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896" y="155421"/>
            <a:ext cx="8251457" cy="1343025"/>
          </a:xfrm>
        </p:spPr>
        <p:txBody>
          <a:bodyPr anchor="t">
            <a:noAutofit/>
          </a:bodyPr>
          <a:lstStyle>
            <a:lvl1pPr>
              <a:defRPr sz="5400"/>
            </a:lvl1pPr>
          </a:lstStyle>
          <a:p>
            <a:r>
              <a:rPr lang="es-ES"/>
              <a:t>Haga clic para modificar el estilo de título del patrón</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66646" y="2448306"/>
            <a:ext cx="7610708" cy="21259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8/31/2026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248843894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186685" y="816935"/>
            <a:ext cx="4770630" cy="1628787"/>
          </a:xfrm>
        </p:spPr>
        <p:txBody>
          <a:bodyPr anchor="b">
            <a:noAutofit/>
          </a:bodyPr>
          <a:lstStyle>
            <a:lvl1pPr algn="ctr">
              <a:defRPr sz="5400"/>
            </a:lvl1pPr>
          </a:lstStyle>
          <a:p>
            <a:r>
              <a:rPr lang="es-ES"/>
              <a:t>Haga clic para modificar el estilo de título del patrón</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492148" y="2624910"/>
            <a:ext cx="4157663" cy="1328738"/>
          </a:xfrm>
        </p:spPr>
        <p:txBody>
          <a:bodyPr vert="horz" lIns="91440" tIns="45720" rIns="91440" bIns="45720" rtlCol="0">
            <a:normAutofit/>
          </a:bodyPr>
          <a:lstStyle>
            <a:lvl1pPr marL="0" indent="0" algn="ctr">
              <a:buNone/>
              <a:defRPr lang="en-US" sz="1200" dirty="0"/>
            </a:lvl1pPr>
            <a:lvl2pPr marL="171450" indent="0" algn="ctr">
              <a:buNone/>
              <a:defRPr lang="en-US" sz="1200" dirty="0"/>
            </a:lvl2pPr>
            <a:lvl3pPr marL="342900" indent="0" algn="ctr">
              <a:buNone/>
              <a:defRPr lang="en-US" sz="1200" dirty="0"/>
            </a:lvl3pPr>
            <a:lvl4pPr marL="514350" indent="0" algn="ctr">
              <a:buNone/>
              <a:defRPr lang="en-US" sz="1200" dirty="0"/>
            </a:lvl4pPr>
            <a:lvl5pPr marL="685800" indent="0" algn="ctr">
              <a:buNone/>
              <a:defRPr lang="en-US" sz="1200"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8/31/2026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‹Nº›</a:t>
            </a:fld>
            <a:endParaRPr lang="en-US"/>
          </a:p>
        </p:txBody>
      </p:sp>
    </p:spTree>
    <p:extLst>
      <p:ext uri="{BB962C8B-B14F-4D97-AF65-F5344CB8AC3E}">
        <p14:creationId xmlns:p14="http://schemas.microsoft.com/office/powerpoint/2010/main" val="389898658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999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37160" y="164592"/>
            <a:ext cx="8126730" cy="726948"/>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37160" y="887404"/>
            <a:ext cx="8126730" cy="381650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34028" y="4790346"/>
            <a:ext cx="2027833" cy="253746"/>
          </a:xfrm>
          <a:prstGeom prst="rect">
            <a:avLst/>
          </a:prstGeom>
        </p:spPr>
        <p:txBody>
          <a:bodyPr vert="horz" lIns="91440" tIns="45720" rIns="91440" bIns="45720" rtlCol="0" anchor="ctr"/>
          <a:lstStyle>
            <a:lvl1pPr algn="l">
              <a:defRPr sz="563">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858125" y="4790346"/>
            <a:ext cx="774063" cy="253746"/>
          </a:xfrm>
          <a:prstGeom prst="rect">
            <a:avLst/>
          </a:prstGeom>
        </p:spPr>
        <p:txBody>
          <a:bodyPr vert="horz" lIns="91440" tIns="45720" rIns="91440" bIns="45720" rtlCol="0" anchor="ctr"/>
          <a:lstStyle>
            <a:lvl1pPr algn="r">
              <a:defRPr sz="563">
                <a:solidFill>
                  <a:schemeClr val="tx1"/>
                </a:solidFill>
              </a:defRPr>
            </a:lvl1pPr>
          </a:lstStyle>
          <a:p>
            <a:fld id="{0C9DF407-AAD9-4F9F-B512-267BEB339CF5}" type="datetime1">
              <a:rPr lang="en-US" smtClean="0"/>
              <a:t>8/31/2026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632188" y="4790346"/>
            <a:ext cx="342900" cy="253746"/>
          </a:xfrm>
          <a:prstGeom prst="rect">
            <a:avLst/>
          </a:prstGeom>
        </p:spPr>
        <p:txBody>
          <a:bodyPr vert="horz" lIns="91440" tIns="45720" rIns="91440" bIns="45720" rtlCol="0" anchor="ctr"/>
          <a:lstStyle>
            <a:lvl1pPr algn="r">
              <a:defRPr sz="563">
                <a:solidFill>
                  <a:schemeClr val="tx1"/>
                </a:solidFill>
              </a:defRPr>
            </a:lvl1pPr>
          </a:lstStyle>
          <a:p>
            <a:fld id="{C8116806-1FD2-4A57-B5EA-7014AB76383B}" type="slidenum">
              <a:rPr lang="en-US" smtClean="0"/>
              <a:t>‹Nº›</a:t>
            </a:fld>
            <a:endParaRPr lang="en-US"/>
          </a:p>
        </p:txBody>
      </p:sp>
    </p:spTree>
    <p:extLst>
      <p:ext uri="{BB962C8B-B14F-4D97-AF65-F5344CB8AC3E}">
        <p14:creationId xmlns:p14="http://schemas.microsoft.com/office/powerpoint/2010/main" val="37194174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lvl1pPr algn="l" defTabSz="685800" rtl="0" eaLnBrk="1" latinLnBrk="0" hangingPunct="1">
        <a:lnSpc>
          <a:spcPct val="85000"/>
        </a:lnSpc>
        <a:spcBef>
          <a:spcPct val="0"/>
        </a:spcBef>
        <a:buNone/>
        <a:defRPr sz="2250" b="0" kern="1200" spc="-75" baseline="0">
          <a:solidFill>
            <a:schemeClr val="tx1"/>
          </a:solidFill>
          <a:latin typeface="+mj-lt"/>
          <a:ea typeface="+mj-ea"/>
          <a:cs typeface="+mj-cs"/>
        </a:defRPr>
      </a:lvl1pPr>
    </p:titleStyle>
    <p:bodyStyle>
      <a:lvl1pPr marL="214313" indent="-214313" algn="l" defTabSz="685800" rtl="0" eaLnBrk="1" latinLnBrk="0" hangingPunct="1">
        <a:lnSpc>
          <a:spcPct val="120000"/>
        </a:lnSpc>
        <a:spcBef>
          <a:spcPts val="750"/>
        </a:spcBef>
        <a:buFont typeface="Arial" panose="020B0604020202020204" pitchFamily="34" charset="0"/>
        <a:buChar char="•"/>
        <a:defRPr sz="1050" kern="1200">
          <a:solidFill>
            <a:schemeClr val="tx1"/>
          </a:solidFill>
          <a:latin typeface="+mn-lt"/>
          <a:ea typeface="+mn-ea"/>
          <a:cs typeface="+mn-cs"/>
        </a:defRPr>
      </a:lvl1pPr>
      <a:lvl2pPr marL="38576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2pPr>
      <a:lvl3pPr marL="55721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3pPr>
      <a:lvl4pPr marL="72866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4pPr>
      <a:lvl5pPr marL="90011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6537960" y="1143000"/>
            <a:ext cx="1097280" cy="640080"/>
          </a:xfrm>
          <a:prstGeom prst="line">
            <a:avLst/>
          </a:prstGeom>
          <a:noFill/>
          <a:ln w="12700">
            <a:solidFill>
              <a:srgbClr val="1E3346"/>
            </a:solidFill>
            <a:prstDash val="solid"/>
          </a:ln>
        </p:spPr>
        <p:txBody>
          <a:bodyPr/>
          <a:lstStyle/>
          <a:p>
            <a:endParaRPr lang="es-CO"/>
          </a:p>
        </p:txBody>
      </p:sp>
      <p:sp>
        <p:nvSpPr>
          <p:cNvPr id="3" name="Shape 1"/>
          <p:cNvSpPr/>
          <p:nvPr/>
        </p:nvSpPr>
        <p:spPr>
          <a:xfrm>
            <a:off x="7635240" y="1783080"/>
            <a:ext cx="0" cy="1005840"/>
          </a:xfrm>
          <a:prstGeom prst="line">
            <a:avLst/>
          </a:prstGeom>
          <a:noFill/>
          <a:ln w="12700">
            <a:solidFill>
              <a:srgbClr val="1E3346"/>
            </a:solidFill>
            <a:prstDash val="solid"/>
          </a:ln>
        </p:spPr>
        <p:txBody>
          <a:bodyPr/>
          <a:lstStyle/>
          <a:p>
            <a:endParaRPr lang="es-CO"/>
          </a:p>
        </p:txBody>
      </p:sp>
      <p:sp>
        <p:nvSpPr>
          <p:cNvPr id="4" name="Shape 2"/>
          <p:cNvSpPr/>
          <p:nvPr/>
        </p:nvSpPr>
        <p:spPr>
          <a:xfrm>
            <a:off x="6903720" y="2788920"/>
            <a:ext cx="1188720" cy="640080"/>
          </a:xfrm>
          <a:prstGeom prst="line">
            <a:avLst/>
          </a:prstGeom>
          <a:noFill/>
          <a:ln w="12700">
            <a:solidFill>
              <a:srgbClr val="1E3346"/>
            </a:solidFill>
            <a:prstDash val="solid"/>
          </a:ln>
        </p:spPr>
        <p:txBody>
          <a:bodyPr/>
          <a:lstStyle/>
          <a:p>
            <a:endParaRPr lang="es-CO"/>
          </a:p>
        </p:txBody>
      </p:sp>
      <p:sp>
        <p:nvSpPr>
          <p:cNvPr id="5" name="Shape 3"/>
          <p:cNvSpPr/>
          <p:nvPr/>
        </p:nvSpPr>
        <p:spPr>
          <a:xfrm>
            <a:off x="8092440" y="3429000"/>
            <a:ext cx="0" cy="548640"/>
          </a:xfrm>
          <a:prstGeom prst="line">
            <a:avLst/>
          </a:prstGeom>
          <a:noFill/>
          <a:ln w="12700">
            <a:solidFill>
              <a:srgbClr val="1E3346"/>
            </a:solidFill>
            <a:prstDash val="solid"/>
          </a:ln>
        </p:spPr>
        <p:txBody>
          <a:bodyPr/>
          <a:lstStyle/>
          <a:p>
            <a:endParaRPr lang="es-CO"/>
          </a:p>
        </p:txBody>
      </p:sp>
      <p:sp>
        <p:nvSpPr>
          <p:cNvPr id="6" name="Shape 4"/>
          <p:cNvSpPr/>
          <p:nvPr/>
        </p:nvSpPr>
        <p:spPr>
          <a:xfrm>
            <a:off x="6355080" y="3977640"/>
            <a:ext cx="182880" cy="0"/>
          </a:xfrm>
          <a:prstGeom prst="line">
            <a:avLst/>
          </a:prstGeom>
          <a:noFill/>
          <a:ln w="12700">
            <a:solidFill>
              <a:srgbClr val="1E3346"/>
            </a:solidFill>
            <a:prstDash val="solid"/>
          </a:ln>
        </p:spPr>
        <p:txBody>
          <a:bodyPr/>
          <a:lstStyle/>
          <a:p>
            <a:endParaRPr lang="es-CO"/>
          </a:p>
        </p:txBody>
      </p:sp>
      <p:sp>
        <p:nvSpPr>
          <p:cNvPr id="7" name="Shape 5"/>
          <p:cNvSpPr/>
          <p:nvPr/>
        </p:nvSpPr>
        <p:spPr>
          <a:xfrm>
            <a:off x="6483096" y="1088136"/>
            <a:ext cx="109728" cy="109728"/>
          </a:xfrm>
          <a:prstGeom prst="ellipse">
            <a:avLst/>
          </a:prstGeom>
          <a:solidFill>
            <a:srgbClr val="3DDC97"/>
          </a:solidFill>
          <a:ln w="12700">
            <a:solidFill>
              <a:srgbClr val="3DDC97"/>
            </a:solidFill>
            <a:prstDash val="solid"/>
          </a:ln>
        </p:spPr>
        <p:txBody>
          <a:bodyPr/>
          <a:lstStyle/>
          <a:p>
            <a:endParaRPr lang="es-CO"/>
          </a:p>
        </p:txBody>
      </p:sp>
      <p:sp>
        <p:nvSpPr>
          <p:cNvPr id="8" name="Shape 6"/>
          <p:cNvSpPr/>
          <p:nvPr/>
        </p:nvSpPr>
        <p:spPr>
          <a:xfrm>
            <a:off x="7580376" y="1728216"/>
            <a:ext cx="109728" cy="109728"/>
          </a:xfrm>
          <a:prstGeom prst="ellipse">
            <a:avLst/>
          </a:prstGeom>
          <a:solidFill>
            <a:srgbClr val="3DDC97"/>
          </a:solidFill>
          <a:ln w="12700">
            <a:solidFill>
              <a:srgbClr val="3DDC97"/>
            </a:solidFill>
            <a:prstDash val="solid"/>
          </a:ln>
        </p:spPr>
        <p:txBody>
          <a:bodyPr/>
          <a:lstStyle/>
          <a:p>
            <a:endParaRPr lang="es-CO"/>
          </a:p>
        </p:txBody>
      </p:sp>
      <p:sp>
        <p:nvSpPr>
          <p:cNvPr id="9" name="Shape 7"/>
          <p:cNvSpPr/>
          <p:nvPr/>
        </p:nvSpPr>
        <p:spPr>
          <a:xfrm>
            <a:off x="6848856" y="2734056"/>
            <a:ext cx="109728" cy="109728"/>
          </a:xfrm>
          <a:prstGeom prst="ellipse">
            <a:avLst/>
          </a:prstGeom>
          <a:solidFill>
            <a:srgbClr val="3DDC97"/>
          </a:solidFill>
          <a:ln w="12700">
            <a:solidFill>
              <a:srgbClr val="3DDC97"/>
            </a:solidFill>
            <a:prstDash val="solid"/>
          </a:ln>
        </p:spPr>
        <p:txBody>
          <a:bodyPr/>
          <a:lstStyle/>
          <a:p>
            <a:endParaRPr lang="es-CO"/>
          </a:p>
        </p:txBody>
      </p:sp>
      <p:sp>
        <p:nvSpPr>
          <p:cNvPr id="10" name="Shape 8"/>
          <p:cNvSpPr/>
          <p:nvPr/>
        </p:nvSpPr>
        <p:spPr>
          <a:xfrm>
            <a:off x="8037576" y="3374136"/>
            <a:ext cx="109728" cy="109728"/>
          </a:xfrm>
          <a:prstGeom prst="ellipse">
            <a:avLst/>
          </a:prstGeom>
          <a:solidFill>
            <a:srgbClr val="3DDC97"/>
          </a:solidFill>
          <a:ln w="12700">
            <a:solidFill>
              <a:srgbClr val="3DDC97"/>
            </a:solidFill>
            <a:prstDash val="solid"/>
          </a:ln>
        </p:spPr>
        <p:txBody>
          <a:bodyPr/>
          <a:lstStyle/>
          <a:p>
            <a:endParaRPr lang="es-CO"/>
          </a:p>
        </p:txBody>
      </p:sp>
      <p:sp>
        <p:nvSpPr>
          <p:cNvPr id="11" name="Shape 9"/>
          <p:cNvSpPr/>
          <p:nvPr/>
        </p:nvSpPr>
        <p:spPr>
          <a:xfrm>
            <a:off x="6300216" y="3922776"/>
            <a:ext cx="109728" cy="109728"/>
          </a:xfrm>
          <a:prstGeom prst="ellipse">
            <a:avLst/>
          </a:prstGeom>
          <a:solidFill>
            <a:srgbClr val="3DDC97"/>
          </a:solidFill>
          <a:ln w="12700">
            <a:solidFill>
              <a:srgbClr val="3DDC97"/>
            </a:solidFill>
            <a:prstDash val="solid"/>
          </a:ln>
        </p:spPr>
        <p:txBody>
          <a:bodyPr/>
          <a:lstStyle/>
          <a:p>
            <a:endParaRPr lang="es-CO"/>
          </a:p>
        </p:txBody>
      </p:sp>
      <p:sp>
        <p:nvSpPr>
          <p:cNvPr id="12" name="Shape 10"/>
          <p:cNvSpPr/>
          <p:nvPr/>
        </p:nvSpPr>
        <p:spPr>
          <a:xfrm>
            <a:off x="502920" y="960120"/>
            <a:ext cx="1874520" cy="256032"/>
          </a:xfrm>
          <a:prstGeom prst="roundRect">
            <a:avLst>
              <a:gd name="adj" fmla="val 46429"/>
            </a:avLst>
          </a:prstGeom>
          <a:solidFill>
            <a:srgbClr val="132A24"/>
          </a:solidFill>
          <a:ln w="9525">
            <a:solidFill>
              <a:srgbClr val="3DDC97"/>
            </a:solidFill>
            <a:prstDash val="solid"/>
          </a:ln>
        </p:spPr>
        <p:txBody>
          <a:bodyPr/>
          <a:lstStyle/>
          <a:p>
            <a:endParaRPr lang="es-CO"/>
          </a:p>
        </p:txBody>
      </p:sp>
      <p:sp>
        <p:nvSpPr>
          <p:cNvPr id="13" name="Text 11"/>
          <p:cNvSpPr txBox="1"/>
          <p:nvPr/>
        </p:nvSpPr>
        <p:spPr>
          <a:xfrm>
            <a:off x="502920" y="960120"/>
            <a:ext cx="1874520" cy="256032"/>
          </a:xfrm>
          <a:prstGeom prst="rect">
            <a:avLst/>
          </a:prstGeom>
          <a:noFill/>
          <a:ln/>
        </p:spPr>
        <p:txBody>
          <a:bodyPr wrap="square" lIns="0" tIns="0" rIns="0" bIns="0" rtlCol="0" anchor="ctr"/>
          <a:lstStyle/>
          <a:p>
            <a:pPr marL="0" indent="0" algn="ctr">
              <a:buNone/>
            </a:pPr>
            <a:r>
              <a:rPr lang="en-US" sz="950" b="1" kern="0" spc="140" dirty="0">
                <a:solidFill>
                  <a:srgbClr val="3DDC97"/>
                </a:solidFill>
                <a:latin typeface="Arial" pitchFamily="34" charset="0"/>
                <a:ea typeface="Arial" pitchFamily="34" charset="-122"/>
                <a:cs typeface="Arial" pitchFamily="34" charset="-120"/>
              </a:rPr>
              <a:t>INGENIERÍA WEB</a:t>
            </a:r>
            <a:endParaRPr lang="en-US" sz="950" dirty="0"/>
          </a:p>
        </p:txBody>
      </p:sp>
      <p:sp>
        <p:nvSpPr>
          <p:cNvPr id="14" name="Text 12"/>
          <p:cNvSpPr txBox="1"/>
          <p:nvPr/>
        </p:nvSpPr>
        <p:spPr>
          <a:xfrm>
            <a:off x="475488" y="1417320"/>
            <a:ext cx="5669280" cy="658368"/>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Sesión 02</a:t>
            </a:r>
            <a:endParaRPr lang="en-US" sz="4600" dirty="0"/>
          </a:p>
        </p:txBody>
      </p:sp>
      <p:sp>
        <p:nvSpPr>
          <p:cNvPr id="15" name="Text 13"/>
          <p:cNvSpPr txBox="1"/>
          <p:nvPr/>
        </p:nvSpPr>
        <p:spPr>
          <a:xfrm>
            <a:off x="475488" y="2084832"/>
            <a:ext cx="5669280" cy="548640"/>
          </a:xfrm>
          <a:prstGeom prst="rect">
            <a:avLst/>
          </a:prstGeom>
          <a:noFill/>
          <a:ln/>
        </p:spPr>
        <p:txBody>
          <a:bodyPr wrap="square" lIns="0" tIns="0" rIns="0" bIns="0" rtlCol="0" anchor="ctr"/>
          <a:lstStyle/>
          <a:p>
            <a:pPr marL="0" indent="0">
              <a:buNone/>
            </a:pPr>
            <a:r>
              <a:rPr lang="en-US" sz="2600" dirty="0">
                <a:solidFill>
                  <a:srgbClr val="3DDC97"/>
                </a:solidFill>
                <a:latin typeface="Arial" pitchFamily="34" charset="0"/>
                <a:ea typeface="Arial" pitchFamily="34" charset="-122"/>
                <a:cs typeface="Arial" pitchFamily="34" charset="-120"/>
              </a:rPr>
              <a:t>HTML semántico y formularios Web</a:t>
            </a:r>
            <a:endParaRPr lang="en-US" sz="2600" dirty="0"/>
          </a:p>
        </p:txBody>
      </p:sp>
      <p:sp>
        <p:nvSpPr>
          <p:cNvPr id="16" name="Text 14"/>
          <p:cNvSpPr txBox="1"/>
          <p:nvPr/>
        </p:nvSpPr>
        <p:spPr>
          <a:xfrm>
            <a:off x="475488" y="2761488"/>
            <a:ext cx="5669280" cy="850392"/>
          </a:xfrm>
          <a:prstGeom prst="rect">
            <a:avLst/>
          </a:prstGeom>
          <a:noFill/>
          <a:ln/>
        </p:spPr>
        <p:txBody>
          <a:bodyPr wrap="square" lIns="0" tIns="0" rIns="0" bIns="0" rtlCol="0" anchor="ctr"/>
          <a:lstStyle/>
          <a:p>
            <a:pPr marL="0" indent="0">
              <a:buNone/>
            </a:pPr>
            <a:r>
              <a:rPr lang="en-US" sz="1250" b="1" dirty="0">
                <a:solidFill>
                  <a:srgbClr val="E8EEF6"/>
                </a:solidFill>
                <a:latin typeface="Calibri" pitchFamily="34" charset="0"/>
                <a:ea typeface="Calibri" pitchFamily="34" charset="-122"/>
                <a:cs typeface="Calibri" pitchFamily="34" charset="-120"/>
              </a:rPr>
              <a:t>Luis Miguel Gómez Meneses</a:t>
            </a:r>
            <a:endParaRPr lang="en-US" sz="1250" dirty="0"/>
          </a:p>
          <a:p>
            <a:pPr marL="0" indent="0">
              <a:buNone/>
            </a:pPr>
            <a:r>
              <a:rPr lang="en-US" sz="1250" b="1" dirty="0">
                <a:solidFill>
                  <a:srgbClr val="E8EEF6"/>
                </a:solidFill>
                <a:latin typeface="Calibri" pitchFamily="34" charset="0"/>
                <a:ea typeface="Calibri" pitchFamily="34" charset="-122"/>
                <a:cs typeface="Calibri" pitchFamily="34" charset="-120"/>
              </a:rPr>
              <a:t>Programa de Ingeniería de Software</a:t>
            </a:r>
            <a:endParaRPr lang="en-US" sz="1250" dirty="0"/>
          </a:p>
          <a:p>
            <a:pPr marL="0" indent="0">
              <a:buNone/>
            </a:pPr>
            <a:r>
              <a:rPr lang="en-US" sz="1050" dirty="0">
                <a:solidFill>
                  <a:srgbClr val="93A5BD"/>
                </a:solidFill>
                <a:latin typeface="Calibri" pitchFamily="34" charset="0"/>
                <a:ea typeface="Calibri" pitchFamily="34" charset="-122"/>
                <a:cs typeface="Calibri" pitchFamily="34" charset="-120"/>
              </a:rPr>
              <a:t>Clase presencial · 2 horas · Teoría y demostración en vivo</a:t>
            </a:r>
            <a:endParaRPr lang="en-US" sz="1250" dirty="0"/>
          </a:p>
        </p:txBody>
      </p:sp>
      <p:sp>
        <p:nvSpPr>
          <p:cNvPr id="17" name="Shape 15"/>
          <p:cNvSpPr/>
          <p:nvPr/>
        </p:nvSpPr>
        <p:spPr>
          <a:xfrm>
            <a:off x="502920" y="3794760"/>
            <a:ext cx="3977640" cy="658368"/>
          </a:xfrm>
          <a:prstGeom prst="roundRect">
            <a:avLst>
              <a:gd name="adj" fmla="val 11111"/>
            </a:avLst>
          </a:prstGeom>
          <a:solidFill>
            <a:srgbClr val="070C14"/>
          </a:solidFill>
          <a:ln w="12700">
            <a:solidFill>
              <a:srgbClr val="2B3B52"/>
            </a:solidFill>
            <a:prstDash val="solid"/>
          </a:ln>
        </p:spPr>
        <p:txBody>
          <a:bodyPr/>
          <a:lstStyle/>
          <a:p>
            <a:endParaRPr lang="es-CO"/>
          </a:p>
        </p:txBody>
      </p:sp>
      <p:sp>
        <p:nvSpPr>
          <p:cNvPr id="18" name="Text 16"/>
          <p:cNvSpPr txBox="1"/>
          <p:nvPr/>
        </p:nvSpPr>
        <p:spPr>
          <a:xfrm>
            <a:off x="649224" y="3849624"/>
            <a:ext cx="3685032" cy="530352"/>
          </a:xfrm>
          <a:prstGeom prst="rect">
            <a:avLst/>
          </a:prstGeom>
          <a:noFill/>
          <a:ln/>
        </p:spPr>
        <p:txBody>
          <a:bodyPr wrap="square" lIns="0" tIns="0" rIns="0" bIns="0" rtlCol="0" anchor="t"/>
          <a:lstStyle/>
          <a:p>
            <a:pPr marL="0" indent="0">
              <a:lnSpc>
                <a:spcPts val="1200"/>
              </a:lnSpc>
              <a:buNone/>
            </a:pPr>
            <a:r>
              <a:rPr lang="en-US" sz="900" dirty="0">
                <a:solidFill>
                  <a:srgbClr val="3DDC97"/>
                </a:solidFill>
                <a:latin typeface="Courier New" pitchFamily="34" charset="0"/>
                <a:ea typeface="Courier New" pitchFamily="34" charset="-122"/>
                <a:cs typeface="Courier New" pitchFamily="34" charset="-120"/>
              </a:rPr>
              <a:t>&lt;form</a:t>
            </a:r>
            <a:r>
              <a:rPr lang="en-US" sz="900" dirty="0">
                <a:solidFill>
                  <a:srgbClr val="FFB86C"/>
                </a:solidFill>
                <a:latin typeface="Courier New" pitchFamily="34" charset="0"/>
                <a:ea typeface="Courier New" pitchFamily="34" charset="-122"/>
                <a:cs typeface="Courier New" pitchFamily="34" charset="-120"/>
              </a:rPr>
              <a:t> action=</a:t>
            </a:r>
            <a:r>
              <a:rPr lang="en-US" sz="900" dirty="0">
                <a:solidFill>
                  <a:srgbClr val="FFD479"/>
                </a:solidFill>
                <a:latin typeface="Courier New" pitchFamily="34" charset="0"/>
                <a:ea typeface="Courier New" pitchFamily="34" charset="-122"/>
                <a:cs typeface="Courier New" pitchFamily="34" charset="-120"/>
              </a:rPr>
              <a:t>"/contacto"</a:t>
            </a:r>
            <a:r>
              <a:rPr lang="en-US" sz="900" dirty="0">
                <a:solidFill>
                  <a:srgbClr val="FFB86C"/>
                </a:solidFill>
                <a:latin typeface="Courier New" pitchFamily="34" charset="0"/>
                <a:ea typeface="Courier New" pitchFamily="34" charset="-122"/>
                <a:cs typeface="Courier New" pitchFamily="34" charset="-120"/>
              </a:rPr>
              <a:t> method=</a:t>
            </a:r>
            <a:r>
              <a:rPr lang="en-US" sz="900" dirty="0">
                <a:solidFill>
                  <a:srgbClr val="FFD479"/>
                </a:solidFill>
                <a:latin typeface="Courier New" pitchFamily="34" charset="0"/>
                <a:ea typeface="Courier New" pitchFamily="34" charset="-122"/>
                <a:cs typeface="Courier New" pitchFamily="34" charset="-120"/>
              </a:rPr>
              <a:t>"POST"</a:t>
            </a:r>
            <a:r>
              <a:rPr lang="en-US" sz="900" dirty="0">
                <a:solidFill>
                  <a:srgbClr val="3DDC97"/>
                </a:solidFill>
                <a:latin typeface="Courier New" pitchFamily="34" charset="0"/>
                <a:ea typeface="Courier New" pitchFamily="34" charset="-122"/>
                <a:cs typeface="Courier New" pitchFamily="34" charset="-120"/>
              </a:rPr>
              <a:t>&gt;</a:t>
            </a:r>
            <a:endParaRPr lang="en-US" sz="900" dirty="0"/>
          </a:p>
        </p:txBody>
      </p:sp>
      <p:sp>
        <p:nvSpPr>
          <p:cNvPr id="19" name="Text 17"/>
          <p:cNvSpPr txBox="1"/>
          <p:nvPr/>
        </p:nvSpPr>
        <p:spPr>
          <a:xfrm>
            <a:off x="649224" y="4160520"/>
            <a:ext cx="3685032" cy="201168"/>
          </a:xfrm>
          <a:prstGeom prst="rect">
            <a:avLst/>
          </a:prstGeom>
          <a:noFill/>
          <a:ln/>
        </p:spPr>
        <p:txBody>
          <a:bodyPr wrap="square" lIns="0" tIns="0" rIns="0" bIns="0" rtlCol="0" anchor="ctr"/>
          <a:lstStyle/>
          <a:p>
            <a:pPr marL="0" indent="0">
              <a:buNone/>
            </a:pPr>
            <a:r>
              <a:rPr lang="en-US" sz="900" dirty="0">
                <a:solidFill>
                  <a:srgbClr val="93A5BD"/>
                </a:solidFill>
                <a:latin typeface="Courier New" pitchFamily="34" charset="0"/>
                <a:ea typeface="Courier New" pitchFamily="34" charset="-122"/>
                <a:cs typeface="Courier New" pitchFamily="34" charset="-120"/>
              </a:rPr>
              <a:t>POST /contacto</a:t>
            </a:r>
            <a:endParaRPr lang="en-US" sz="900" dirty="0"/>
          </a:p>
        </p:txBody>
      </p:sp>
      <p:sp>
        <p:nvSpPr>
          <p:cNvPr id="21" name="Text 18"/>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01 / 20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058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0584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OBJETIVOS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Objetivos de aprendizaje</a:t>
            </a:r>
            <a:endParaRPr lang="en-US" sz="2600" dirty="0"/>
          </a:p>
        </p:txBody>
      </p:sp>
      <p:sp>
        <p:nvSpPr>
          <p:cNvPr id="5" name="Text 3"/>
          <p:cNvSpPr txBox="1"/>
          <p:nvPr/>
        </p:nvSpPr>
        <p:spPr>
          <a:xfrm>
            <a:off x="475488" y="1078992"/>
            <a:ext cx="8138160" cy="237744"/>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Al finalizar la sesión, el estudiante será capaz de:</a:t>
            </a:r>
            <a:endParaRPr lang="en-US" sz="1100" dirty="0"/>
          </a:p>
        </p:txBody>
      </p:sp>
      <p:sp>
        <p:nvSpPr>
          <p:cNvPr id="6" name="Shape 4"/>
          <p:cNvSpPr/>
          <p:nvPr/>
        </p:nvSpPr>
        <p:spPr>
          <a:xfrm>
            <a:off x="502920" y="1463040"/>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7" name="Shape 5"/>
          <p:cNvSpPr/>
          <p:nvPr/>
        </p:nvSpPr>
        <p:spPr>
          <a:xfrm>
            <a:off x="722376" y="1746504"/>
            <a:ext cx="402336" cy="402336"/>
          </a:xfrm>
          <a:prstGeom prst="ellipse">
            <a:avLst/>
          </a:prstGeom>
          <a:solidFill>
            <a:srgbClr val="132A24"/>
          </a:solidFill>
          <a:ln w="12700">
            <a:solidFill>
              <a:srgbClr val="3DDC97"/>
            </a:solidFill>
            <a:prstDash val="solid"/>
          </a:ln>
        </p:spPr>
        <p:txBody>
          <a:bodyPr/>
          <a:lstStyle/>
          <a:p>
            <a:endParaRPr lang="es-CO"/>
          </a:p>
        </p:txBody>
      </p:sp>
      <p:sp>
        <p:nvSpPr>
          <p:cNvPr id="8" name="Text 6"/>
          <p:cNvSpPr txBox="1"/>
          <p:nvPr/>
        </p:nvSpPr>
        <p:spPr>
          <a:xfrm>
            <a:off x="722376" y="1746504"/>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01</a:t>
            </a:r>
            <a:endParaRPr lang="en-US" sz="1100" dirty="0"/>
          </a:p>
        </p:txBody>
      </p:sp>
      <p:sp>
        <p:nvSpPr>
          <p:cNvPr id="9" name="Text 7"/>
          <p:cNvSpPr txBox="1"/>
          <p:nvPr/>
        </p:nvSpPr>
        <p:spPr>
          <a:xfrm>
            <a:off x="1271016" y="1463040"/>
            <a:ext cx="2944368" cy="969264"/>
          </a:xfrm>
          <a:prstGeom prst="rect">
            <a:avLst/>
          </a:prstGeom>
          <a:noFill/>
          <a:ln/>
        </p:spPr>
        <p:txBody>
          <a:bodyPr wrap="square" lIns="0" tIns="0" rIns="0" bIns="0" rtlCol="0" anchor="ctr"/>
          <a:lstStyle/>
          <a:p>
            <a:pPr marL="0" indent="0">
              <a:buNone/>
            </a:pPr>
            <a:r>
              <a:rPr lang="en-US" sz="1200" dirty="0">
                <a:solidFill>
                  <a:srgbClr val="E8EEF6"/>
                </a:solidFill>
                <a:latin typeface="Calibri" pitchFamily="34" charset="0"/>
                <a:ea typeface="Calibri" pitchFamily="34" charset="-122"/>
                <a:cs typeface="Calibri" pitchFamily="34" charset="-120"/>
              </a:rPr>
              <a:t>Explicar el propósito de la semántica en HTML.</a:t>
            </a:r>
            <a:endParaRPr lang="en-US" sz="1200" dirty="0"/>
          </a:p>
        </p:txBody>
      </p:sp>
      <p:sp>
        <p:nvSpPr>
          <p:cNvPr id="10" name="Shape 8"/>
          <p:cNvSpPr/>
          <p:nvPr/>
        </p:nvSpPr>
        <p:spPr>
          <a:xfrm>
            <a:off x="4709160" y="1463040"/>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11" name="Shape 9"/>
          <p:cNvSpPr/>
          <p:nvPr/>
        </p:nvSpPr>
        <p:spPr>
          <a:xfrm>
            <a:off x="4928616" y="1746504"/>
            <a:ext cx="402336" cy="402336"/>
          </a:xfrm>
          <a:prstGeom prst="ellipse">
            <a:avLst/>
          </a:prstGeom>
          <a:solidFill>
            <a:srgbClr val="132A24"/>
          </a:solidFill>
          <a:ln w="12700">
            <a:solidFill>
              <a:srgbClr val="3DDC97"/>
            </a:solidFill>
            <a:prstDash val="solid"/>
          </a:ln>
        </p:spPr>
        <p:txBody>
          <a:bodyPr/>
          <a:lstStyle/>
          <a:p>
            <a:endParaRPr lang="es-CO"/>
          </a:p>
        </p:txBody>
      </p:sp>
      <p:sp>
        <p:nvSpPr>
          <p:cNvPr id="12" name="Text 10"/>
          <p:cNvSpPr txBox="1"/>
          <p:nvPr/>
        </p:nvSpPr>
        <p:spPr>
          <a:xfrm>
            <a:off x="4928616" y="1746504"/>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02</a:t>
            </a:r>
            <a:endParaRPr lang="en-US" sz="1100" dirty="0"/>
          </a:p>
        </p:txBody>
      </p:sp>
      <p:sp>
        <p:nvSpPr>
          <p:cNvPr id="13" name="Text 11"/>
          <p:cNvSpPr txBox="1"/>
          <p:nvPr/>
        </p:nvSpPr>
        <p:spPr>
          <a:xfrm>
            <a:off x="5477256" y="1463040"/>
            <a:ext cx="2944368" cy="969264"/>
          </a:xfrm>
          <a:prstGeom prst="rect">
            <a:avLst/>
          </a:prstGeom>
          <a:noFill/>
          <a:ln/>
        </p:spPr>
        <p:txBody>
          <a:bodyPr wrap="square" lIns="0" tIns="0" rIns="0" bIns="0" rtlCol="0" anchor="ctr"/>
          <a:lstStyle/>
          <a:p>
            <a:pPr marL="0" indent="0">
              <a:buNone/>
            </a:pPr>
            <a:r>
              <a:rPr lang="en-US" sz="1200" dirty="0">
                <a:solidFill>
                  <a:srgbClr val="E8EEF6"/>
                </a:solidFill>
                <a:latin typeface="Calibri" pitchFamily="34" charset="0"/>
                <a:ea typeface="Calibri" pitchFamily="34" charset="-122"/>
                <a:cs typeface="Calibri" pitchFamily="34" charset="-120"/>
              </a:rPr>
              <a:t>Estructurar una página utilizando elementos semánticos de HTML5.</a:t>
            </a:r>
            <a:endParaRPr lang="en-US" sz="1200" dirty="0"/>
          </a:p>
        </p:txBody>
      </p:sp>
      <p:sp>
        <p:nvSpPr>
          <p:cNvPr id="14" name="Shape 12"/>
          <p:cNvSpPr/>
          <p:nvPr/>
        </p:nvSpPr>
        <p:spPr>
          <a:xfrm>
            <a:off x="502920" y="2670048"/>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15" name="Shape 13"/>
          <p:cNvSpPr/>
          <p:nvPr/>
        </p:nvSpPr>
        <p:spPr>
          <a:xfrm>
            <a:off x="722376" y="2953512"/>
            <a:ext cx="402336" cy="402336"/>
          </a:xfrm>
          <a:prstGeom prst="ellipse">
            <a:avLst/>
          </a:prstGeom>
          <a:solidFill>
            <a:srgbClr val="132A24"/>
          </a:solidFill>
          <a:ln w="12700">
            <a:solidFill>
              <a:srgbClr val="3DDC97"/>
            </a:solidFill>
            <a:prstDash val="solid"/>
          </a:ln>
        </p:spPr>
        <p:txBody>
          <a:bodyPr/>
          <a:lstStyle/>
          <a:p>
            <a:endParaRPr lang="es-CO"/>
          </a:p>
        </p:txBody>
      </p:sp>
      <p:sp>
        <p:nvSpPr>
          <p:cNvPr id="16" name="Text 14"/>
          <p:cNvSpPr txBox="1"/>
          <p:nvPr/>
        </p:nvSpPr>
        <p:spPr>
          <a:xfrm>
            <a:off x="722376" y="2953512"/>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03</a:t>
            </a:r>
            <a:endParaRPr lang="en-US" sz="1100" dirty="0"/>
          </a:p>
        </p:txBody>
      </p:sp>
      <p:sp>
        <p:nvSpPr>
          <p:cNvPr id="17" name="Text 15"/>
          <p:cNvSpPr txBox="1"/>
          <p:nvPr/>
        </p:nvSpPr>
        <p:spPr>
          <a:xfrm>
            <a:off x="1271016" y="2670048"/>
            <a:ext cx="2944368" cy="969264"/>
          </a:xfrm>
          <a:prstGeom prst="rect">
            <a:avLst/>
          </a:prstGeom>
          <a:noFill/>
          <a:ln/>
        </p:spPr>
        <p:txBody>
          <a:bodyPr wrap="square" lIns="0" tIns="0" rIns="0" bIns="0" rtlCol="0" anchor="ctr"/>
          <a:lstStyle/>
          <a:p>
            <a:pPr marL="0" indent="0">
              <a:buNone/>
            </a:pPr>
            <a:r>
              <a:rPr lang="en-US" sz="1200" dirty="0">
                <a:solidFill>
                  <a:srgbClr val="E8EEF6"/>
                </a:solidFill>
                <a:latin typeface="Calibri" pitchFamily="34" charset="0"/>
                <a:ea typeface="Calibri" pitchFamily="34" charset="-122"/>
                <a:cs typeface="Calibri" pitchFamily="34" charset="-120"/>
              </a:rPr>
              <a:t>Construir un formulario Web utilizando controles HTML básicos.</a:t>
            </a:r>
            <a:endParaRPr lang="en-US" sz="1200" dirty="0"/>
          </a:p>
        </p:txBody>
      </p:sp>
      <p:sp>
        <p:nvSpPr>
          <p:cNvPr id="18" name="Shape 16"/>
          <p:cNvSpPr/>
          <p:nvPr/>
        </p:nvSpPr>
        <p:spPr>
          <a:xfrm>
            <a:off x="4709160" y="2670048"/>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19" name="Shape 17"/>
          <p:cNvSpPr/>
          <p:nvPr/>
        </p:nvSpPr>
        <p:spPr>
          <a:xfrm>
            <a:off x="4928616" y="2953512"/>
            <a:ext cx="402336" cy="402336"/>
          </a:xfrm>
          <a:prstGeom prst="ellipse">
            <a:avLst/>
          </a:prstGeom>
          <a:solidFill>
            <a:srgbClr val="132A24"/>
          </a:solidFill>
          <a:ln w="12700">
            <a:solidFill>
              <a:srgbClr val="3DDC97"/>
            </a:solidFill>
            <a:prstDash val="solid"/>
          </a:ln>
        </p:spPr>
        <p:txBody>
          <a:bodyPr/>
          <a:lstStyle/>
          <a:p>
            <a:endParaRPr lang="es-CO"/>
          </a:p>
        </p:txBody>
      </p:sp>
      <p:sp>
        <p:nvSpPr>
          <p:cNvPr id="20" name="Text 18"/>
          <p:cNvSpPr txBox="1"/>
          <p:nvPr/>
        </p:nvSpPr>
        <p:spPr>
          <a:xfrm>
            <a:off x="4928616" y="2953512"/>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04</a:t>
            </a:r>
            <a:endParaRPr lang="en-US" sz="1100" dirty="0"/>
          </a:p>
        </p:txBody>
      </p:sp>
      <p:sp>
        <p:nvSpPr>
          <p:cNvPr id="21" name="Text 19"/>
          <p:cNvSpPr txBox="1"/>
          <p:nvPr/>
        </p:nvSpPr>
        <p:spPr>
          <a:xfrm>
            <a:off x="5477256" y="2670048"/>
            <a:ext cx="2944368" cy="969264"/>
          </a:xfrm>
          <a:prstGeom prst="rect">
            <a:avLst/>
          </a:prstGeom>
          <a:noFill/>
          <a:ln/>
        </p:spPr>
        <p:txBody>
          <a:bodyPr wrap="square" lIns="0" tIns="0" rIns="0" bIns="0" rtlCol="0" anchor="ctr"/>
          <a:lstStyle/>
          <a:p>
            <a:pPr marL="0" indent="0">
              <a:buNone/>
            </a:pPr>
            <a:r>
              <a:rPr lang="en-US" sz="1200" dirty="0">
                <a:solidFill>
                  <a:srgbClr val="E8EEF6"/>
                </a:solidFill>
                <a:latin typeface="Calibri" pitchFamily="34" charset="0"/>
                <a:ea typeface="Calibri" pitchFamily="34" charset="-122"/>
                <a:cs typeface="Calibri" pitchFamily="34" charset="-120"/>
              </a:rPr>
              <a:t>Relacionar el envío de un formulario con una petición HTTP.</a:t>
            </a:r>
            <a:endParaRPr lang="en-US" sz="1200" dirty="0"/>
          </a:p>
        </p:txBody>
      </p:sp>
      <p:sp>
        <p:nvSpPr>
          <p:cNvPr id="22" name="Text 20"/>
          <p:cNvSpPr txBox="1"/>
          <p:nvPr/>
        </p:nvSpPr>
        <p:spPr>
          <a:xfrm>
            <a:off x="502920" y="3822192"/>
            <a:ext cx="8138160" cy="201168"/>
          </a:xfrm>
          <a:prstGeom prst="rect">
            <a:avLst/>
          </a:prstGeom>
          <a:noFill/>
          <a:ln/>
        </p:spPr>
        <p:txBody>
          <a:bodyPr wrap="square" lIns="0" tIns="0" rIns="0" bIns="0" rtlCol="0" anchor="ctr"/>
          <a:lstStyle/>
          <a:p>
            <a:pPr marL="0" indent="0">
              <a:buNone/>
            </a:pPr>
            <a:r>
              <a:rPr lang="en-US" sz="900" b="1" kern="0" spc="80" dirty="0">
                <a:solidFill>
                  <a:srgbClr val="6C7E96"/>
                </a:solidFill>
                <a:latin typeface="Arial" pitchFamily="34" charset="0"/>
                <a:ea typeface="Arial" pitchFamily="34" charset="-122"/>
                <a:cs typeface="Arial" pitchFamily="34" charset="-120"/>
              </a:rPr>
              <a:t>Secuencia metodológica de la sesión</a:t>
            </a:r>
            <a:endParaRPr lang="en-US" sz="900" dirty="0"/>
          </a:p>
        </p:txBody>
      </p:sp>
      <p:sp>
        <p:nvSpPr>
          <p:cNvPr id="23" name="Shape 21"/>
          <p:cNvSpPr/>
          <p:nvPr/>
        </p:nvSpPr>
        <p:spPr>
          <a:xfrm>
            <a:off x="502920" y="4078224"/>
            <a:ext cx="1527048"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24" name="Text 22"/>
          <p:cNvSpPr txBox="1"/>
          <p:nvPr/>
        </p:nvSpPr>
        <p:spPr>
          <a:xfrm>
            <a:off x="502920" y="4078224"/>
            <a:ext cx="1527048" cy="32918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Concepto</a:t>
            </a:r>
            <a:endParaRPr lang="en-US" sz="950" dirty="0"/>
          </a:p>
        </p:txBody>
      </p:sp>
      <p:sp>
        <p:nvSpPr>
          <p:cNvPr id="25" name="Shape 23"/>
          <p:cNvSpPr/>
          <p:nvPr/>
        </p:nvSpPr>
        <p:spPr>
          <a:xfrm>
            <a:off x="2155698" y="4078224"/>
            <a:ext cx="1527048" cy="329184"/>
          </a:xfrm>
          <a:prstGeom prst="roundRect">
            <a:avLst>
              <a:gd name="adj" fmla="val 25000"/>
            </a:avLst>
          </a:prstGeom>
          <a:solidFill>
            <a:srgbClr val="35210F"/>
          </a:solidFill>
          <a:ln w="12700">
            <a:solidFill>
              <a:srgbClr val="FF8A3D"/>
            </a:solidFill>
            <a:prstDash val="solid"/>
          </a:ln>
        </p:spPr>
        <p:txBody>
          <a:bodyPr/>
          <a:lstStyle/>
          <a:p>
            <a:endParaRPr lang="es-CO"/>
          </a:p>
        </p:txBody>
      </p:sp>
      <p:sp>
        <p:nvSpPr>
          <p:cNvPr id="26" name="Text 24"/>
          <p:cNvSpPr txBox="1"/>
          <p:nvPr/>
        </p:nvSpPr>
        <p:spPr>
          <a:xfrm>
            <a:off x="2155698" y="4078224"/>
            <a:ext cx="1527048" cy="329184"/>
          </a:xfrm>
          <a:prstGeom prst="rect">
            <a:avLst/>
          </a:prstGeom>
          <a:noFill/>
          <a:ln/>
        </p:spPr>
        <p:txBody>
          <a:bodyPr wrap="square" lIns="0" tIns="0" rIns="0" bIns="0" rtlCol="0" anchor="ctr"/>
          <a:lstStyle/>
          <a:p>
            <a:pPr marL="0" indent="0" algn="ctr">
              <a:buNone/>
            </a:pPr>
            <a:r>
              <a:rPr lang="en-US" sz="950" b="1" dirty="0">
                <a:solidFill>
                  <a:srgbClr val="FF8A3D"/>
                </a:solidFill>
                <a:latin typeface="Arial" pitchFamily="34" charset="0"/>
                <a:ea typeface="Arial" pitchFamily="34" charset="-122"/>
                <a:cs typeface="Arial" pitchFamily="34" charset="-120"/>
              </a:rPr>
              <a:t>Demostración</a:t>
            </a:r>
            <a:endParaRPr lang="en-US" sz="950" dirty="0"/>
          </a:p>
        </p:txBody>
      </p:sp>
      <p:sp>
        <p:nvSpPr>
          <p:cNvPr id="27" name="Shape 25"/>
          <p:cNvSpPr/>
          <p:nvPr/>
        </p:nvSpPr>
        <p:spPr>
          <a:xfrm>
            <a:off x="3808476" y="4078224"/>
            <a:ext cx="1527048"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28" name="Text 26"/>
          <p:cNvSpPr txBox="1"/>
          <p:nvPr/>
        </p:nvSpPr>
        <p:spPr>
          <a:xfrm>
            <a:off x="3808476" y="4078224"/>
            <a:ext cx="1527048" cy="32918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Concepto</a:t>
            </a:r>
            <a:endParaRPr lang="en-US" sz="950" dirty="0"/>
          </a:p>
        </p:txBody>
      </p:sp>
      <p:sp>
        <p:nvSpPr>
          <p:cNvPr id="29" name="Shape 27"/>
          <p:cNvSpPr/>
          <p:nvPr/>
        </p:nvSpPr>
        <p:spPr>
          <a:xfrm>
            <a:off x="5461254" y="4078224"/>
            <a:ext cx="1527048" cy="329184"/>
          </a:xfrm>
          <a:prstGeom prst="roundRect">
            <a:avLst>
              <a:gd name="adj" fmla="val 25000"/>
            </a:avLst>
          </a:prstGeom>
          <a:solidFill>
            <a:srgbClr val="35210F"/>
          </a:solidFill>
          <a:ln w="12700">
            <a:solidFill>
              <a:srgbClr val="FF8A3D"/>
            </a:solidFill>
            <a:prstDash val="solid"/>
          </a:ln>
        </p:spPr>
        <p:txBody>
          <a:bodyPr/>
          <a:lstStyle/>
          <a:p>
            <a:endParaRPr lang="es-CO"/>
          </a:p>
        </p:txBody>
      </p:sp>
      <p:sp>
        <p:nvSpPr>
          <p:cNvPr id="30" name="Text 28"/>
          <p:cNvSpPr txBox="1"/>
          <p:nvPr/>
        </p:nvSpPr>
        <p:spPr>
          <a:xfrm>
            <a:off x="5461254" y="4078224"/>
            <a:ext cx="1527048" cy="329184"/>
          </a:xfrm>
          <a:prstGeom prst="rect">
            <a:avLst/>
          </a:prstGeom>
          <a:noFill/>
          <a:ln/>
        </p:spPr>
        <p:txBody>
          <a:bodyPr wrap="square" lIns="0" tIns="0" rIns="0" bIns="0" rtlCol="0" anchor="ctr"/>
          <a:lstStyle/>
          <a:p>
            <a:pPr marL="0" indent="0" algn="ctr">
              <a:buNone/>
            </a:pPr>
            <a:r>
              <a:rPr lang="en-US" sz="950" b="1" dirty="0">
                <a:solidFill>
                  <a:srgbClr val="FF8A3D"/>
                </a:solidFill>
                <a:latin typeface="Arial" pitchFamily="34" charset="0"/>
                <a:ea typeface="Arial" pitchFamily="34" charset="-122"/>
                <a:cs typeface="Arial" pitchFamily="34" charset="-120"/>
              </a:rPr>
              <a:t>Demostración</a:t>
            </a:r>
            <a:endParaRPr lang="en-US" sz="950" dirty="0"/>
          </a:p>
        </p:txBody>
      </p:sp>
      <p:sp>
        <p:nvSpPr>
          <p:cNvPr id="31" name="Shape 29"/>
          <p:cNvSpPr/>
          <p:nvPr/>
        </p:nvSpPr>
        <p:spPr>
          <a:xfrm>
            <a:off x="7114032" y="4078224"/>
            <a:ext cx="1527048"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32" name="Text 30"/>
          <p:cNvSpPr txBox="1"/>
          <p:nvPr/>
        </p:nvSpPr>
        <p:spPr>
          <a:xfrm>
            <a:off x="7114032" y="4078224"/>
            <a:ext cx="1527048" cy="32918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Integración</a:t>
            </a:r>
            <a:endParaRPr lang="en-US" sz="950" dirty="0"/>
          </a:p>
        </p:txBody>
      </p:sp>
      <p:sp>
        <p:nvSpPr>
          <p:cNvPr id="34" name="Text 31"/>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02 / 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60020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60020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PUNTO DE PARTIDA</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Lo que ya está construido</a:t>
            </a:r>
            <a:endParaRPr lang="en-US" sz="2600" dirty="0"/>
          </a:p>
        </p:txBody>
      </p:sp>
      <p:sp>
        <p:nvSpPr>
          <p:cNvPr id="5" name="Shape 3"/>
          <p:cNvSpPr/>
          <p:nvPr/>
        </p:nvSpPr>
        <p:spPr>
          <a:xfrm>
            <a:off x="502920" y="1316736"/>
            <a:ext cx="3977640" cy="1481328"/>
          </a:xfrm>
          <a:prstGeom prst="roundRect">
            <a:avLst>
              <a:gd name="adj" fmla="val 4938"/>
            </a:avLst>
          </a:prstGeom>
          <a:solidFill>
            <a:srgbClr val="070C14"/>
          </a:solidFill>
          <a:ln w="12700">
            <a:solidFill>
              <a:srgbClr val="2B3B52"/>
            </a:solidFill>
            <a:prstDash val="solid"/>
          </a:ln>
        </p:spPr>
        <p:txBody>
          <a:bodyPr/>
          <a:lstStyle/>
          <a:p>
            <a:endParaRPr lang="es-CO"/>
          </a:p>
        </p:txBody>
      </p:sp>
      <p:sp>
        <p:nvSpPr>
          <p:cNvPr id="6" name="Text 4"/>
          <p:cNvSpPr txBox="1"/>
          <p:nvPr/>
        </p:nvSpPr>
        <p:spPr>
          <a:xfrm>
            <a:off x="649224" y="1371600"/>
            <a:ext cx="3685032"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server.js</a:t>
            </a:r>
            <a:endParaRPr lang="en-US" sz="850" dirty="0"/>
          </a:p>
        </p:txBody>
      </p:sp>
      <p:sp>
        <p:nvSpPr>
          <p:cNvPr id="7" name="Text 5"/>
          <p:cNvSpPr txBox="1"/>
          <p:nvPr/>
        </p:nvSpPr>
        <p:spPr>
          <a:xfrm>
            <a:off x="534923" y="1591056"/>
            <a:ext cx="3877056" cy="1133856"/>
          </a:xfrm>
          <a:prstGeom prst="rect">
            <a:avLst/>
          </a:prstGeom>
          <a:noFill/>
          <a:ln/>
        </p:spPr>
        <p:txBody>
          <a:bodyPr wrap="square" lIns="0" tIns="0" rIns="0" bIns="0" rtlCol="0" anchor="t"/>
          <a:lstStyle/>
          <a:p>
            <a:pPr marL="0" indent="0">
              <a:lnSpc>
                <a:spcPts val="1300"/>
              </a:lnSpc>
              <a:buNone/>
            </a:pPr>
            <a:r>
              <a:rPr lang="en-US" sz="950" dirty="0">
                <a:solidFill>
                  <a:srgbClr val="FF7BA9"/>
                </a:solidFill>
                <a:latin typeface="Courier New" pitchFamily="34" charset="0"/>
                <a:ea typeface="Courier New" pitchFamily="34" charset="-122"/>
                <a:cs typeface="Courier New" pitchFamily="34" charset="-120"/>
              </a:rPr>
              <a:t>if</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url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3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7BA9"/>
                </a:solidFill>
                <a:latin typeface="Courier New" pitchFamily="34" charset="0"/>
                <a:ea typeface="Courier New" pitchFamily="34" charset="-122"/>
                <a:cs typeface="Courier New" pitchFamily="34" charset="-120"/>
              </a:rPr>
              <a:t>const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html</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fs</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readFileSync</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'index_rutas.html'</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3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res</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end</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56C7F2"/>
                </a:solidFill>
                <a:latin typeface="Courier New" pitchFamily="34" charset="0"/>
                <a:ea typeface="Courier New" pitchFamily="34" charset="-122"/>
                <a:cs typeface="Courier New" pitchFamily="34" charset="-120"/>
              </a:rPr>
              <a:t>html</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300"/>
              </a:lnSpc>
              <a:buNone/>
            </a:pP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8" name="Shape 6"/>
          <p:cNvSpPr/>
          <p:nvPr/>
        </p:nvSpPr>
        <p:spPr>
          <a:xfrm>
            <a:off x="4754880" y="1316736"/>
            <a:ext cx="3886200" cy="1481328"/>
          </a:xfrm>
          <a:prstGeom prst="roundRect">
            <a:avLst>
              <a:gd name="adj" fmla="val 4938"/>
            </a:avLst>
          </a:prstGeom>
          <a:solidFill>
            <a:srgbClr val="1A2434"/>
          </a:solidFill>
          <a:ln w="12700">
            <a:solidFill>
              <a:srgbClr val="2B3B52"/>
            </a:solidFill>
            <a:prstDash val="solid"/>
          </a:ln>
        </p:spPr>
        <p:txBody>
          <a:bodyPr/>
          <a:lstStyle/>
          <a:p>
            <a:endParaRPr lang="es-CO"/>
          </a:p>
        </p:txBody>
      </p:sp>
      <p:sp>
        <p:nvSpPr>
          <p:cNvPr id="9" name="Text 7"/>
          <p:cNvSpPr txBox="1"/>
          <p:nvPr/>
        </p:nvSpPr>
        <p:spPr>
          <a:xfrm>
            <a:off x="4983480" y="1481328"/>
            <a:ext cx="3474720" cy="219456"/>
          </a:xfrm>
          <a:prstGeom prst="rect">
            <a:avLst/>
          </a:prstGeom>
          <a:noFill/>
          <a:ln/>
        </p:spPr>
        <p:txBody>
          <a:bodyPr wrap="square" lIns="0" tIns="0" rIns="0" bIns="0" rtlCol="0" anchor="ctr"/>
          <a:lstStyle/>
          <a:p>
            <a:pPr marL="0" indent="0">
              <a:buNone/>
            </a:pPr>
            <a:r>
              <a:rPr lang="en-US" sz="1250" b="1" dirty="0">
                <a:solidFill>
                  <a:srgbClr val="3DDC97"/>
                </a:solidFill>
                <a:latin typeface="Arial" pitchFamily="34" charset="0"/>
                <a:ea typeface="Arial" pitchFamily="34" charset="-122"/>
                <a:cs typeface="Arial" pitchFamily="34" charset="-120"/>
              </a:rPr>
              <a:t>Estado actual del </a:t>
            </a:r>
            <a:r>
              <a:rPr lang="en-US" sz="1250" b="1" dirty="0" err="1">
                <a:solidFill>
                  <a:srgbClr val="3DDC97"/>
                </a:solidFill>
                <a:latin typeface="Arial" pitchFamily="34" charset="0"/>
                <a:ea typeface="Arial" pitchFamily="34" charset="-122"/>
                <a:cs typeface="Arial" pitchFamily="34" charset="-120"/>
              </a:rPr>
              <a:t>servidor</a:t>
            </a:r>
            <a:r>
              <a:rPr lang="en-US" sz="1250" b="1" dirty="0">
                <a:solidFill>
                  <a:srgbClr val="3DDC97"/>
                </a:solidFill>
                <a:latin typeface="Arial" pitchFamily="34" charset="0"/>
                <a:ea typeface="Arial" pitchFamily="34" charset="-122"/>
                <a:cs typeface="Arial" pitchFamily="34" charset="-120"/>
              </a:rPr>
              <a:t> Web</a:t>
            </a:r>
            <a:endParaRPr lang="en-US" sz="1250" dirty="0"/>
          </a:p>
        </p:txBody>
      </p:sp>
      <p:sp>
        <p:nvSpPr>
          <p:cNvPr id="10" name="Text 8"/>
          <p:cNvSpPr txBox="1"/>
          <p:nvPr/>
        </p:nvSpPr>
        <p:spPr>
          <a:xfrm>
            <a:off x="4983480" y="1773936"/>
            <a:ext cx="3429000" cy="932688"/>
          </a:xfrm>
          <a:prstGeom prst="rect">
            <a:avLst/>
          </a:prstGeom>
          <a:noFill/>
          <a:ln/>
        </p:spPr>
        <p:txBody>
          <a:bodyPr wrap="square" lIns="0" tIns="0" rIns="0" bIns="0" rtlCol="0" anchor="t"/>
          <a:lstStyle/>
          <a:p>
            <a:r>
              <a:rPr lang="es-ES" sz="900" dirty="0">
                <a:solidFill>
                  <a:schemeClr val="bg1"/>
                </a:solidFill>
                <a:latin typeface="Arial" panose="020B0604020202020204" pitchFamily="34" charset="0"/>
                <a:cs typeface="Arial" panose="020B0604020202020204" pitchFamily="34" charset="0"/>
              </a:rPr>
              <a:t>El navegador solicita una ruta mediante HTTP. Node.js recibe la petición y responde según la ruta solicitada. La ruta / entrega el archivo index_</a:t>
            </a:r>
            <a:r>
              <a:rPr lang="es-ES" sz="950" dirty="0">
                <a:solidFill>
                  <a:schemeClr val="bg1"/>
                </a:solidFill>
                <a:latin typeface="Arial" panose="020B0604020202020204" pitchFamily="34" charset="0"/>
                <a:cs typeface="Arial" panose="020B0604020202020204" pitchFamily="34" charset="0"/>
              </a:rPr>
              <a:t>rutas</a:t>
            </a:r>
            <a:r>
              <a:rPr lang="es-ES" sz="900" dirty="0">
                <a:solidFill>
                  <a:schemeClr val="bg1"/>
                </a:solidFill>
                <a:latin typeface="Arial" panose="020B0604020202020204" pitchFamily="34" charset="0"/>
                <a:cs typeface="Arial" panose="020B0604020202020204" pitchFamily="34" charset="0"/>
              </a:rPr>
              <a:t>.html y /acerca devuelve un texto como respuesta.</a:t>
            </a:r>
            <a:endParaRPr lang="en-US" sz="900" dirty="0">
              <a:solidFill>
                <a:schemeClr val="bg1"/>
              </a:solidFill>
              <a:latin typeface="Arial" panose="020B0604020202020204" pitchFamily="34" charset="0"/>
              <a:cs typeface="Arial" panose="020B0604020202020204" pitchFamily="34" charset="0"/>
            </a:endParaRPr>
          </a:p>
        </p:txBody>
      </p:sp>
      <p:sp>
        <p:nvSpPr>
          <p:cNvPr id="11" name="Shape 9"/>
          <p:cNvSpPr/>
          <p:nvPr/>
        </p:nvSpPr>
        <p:spPr>
          <a:xfrm>
            <a:off x="502920" y="3017520"/>
            <a:ext cx="1510589" cy="640080"/>
          </a:xfrm>
          <a:prstGeom prst="roundRect">
            <a:avLst>
              <a:gd name="adj" fmla="val 11429"/>
            </a:avLst>
          </a:prstGeom>
          <a:solidFill>
            <a:srgbClr val="1A2434"/>
          </a:solidFill>
          <a:ln w="12700">
            <a:solidFill>
              <a:srgbClr val="2B3B52"/>
            </a:solidFill>
            <a:prstDash val="solid"/>
          </a:ln>
        </p:spPr>
        <p:txBody>
          <a:bodyPr/>
          <a:lstStyle/>
          <a:p>
            <a:endParaRPr lang="es-CO">
              <a:latin typeface="Arial" panose="020B0604020202020204" pitchFamily="34" charset="0"/>
              <a:cs typeface="Arial" panose="020B0604020202020204" pitchFamily="34" charset="0"/>
            </a:endParaRPr>
          </a:p>
        </p:txBody>
      </p:sp>
      <p:sp>
        <p:nvSpPr>
          <p:cNvPr id="12" name="Text 10"/>
          <p:cNvSpPr txBox="1"/>
          <p:nvPr/>
        </p:nvSpPr>
        <p:spPr>
          <a:xfrm>
            <a:off x="539496" y="3017520"/>
            <a:ext cx="1437437"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anose="020B0604020202020204" pitchFamily="34" charset="0"/>
                <a:ea typeface="Arial" pitchFamily="34" charset="-122"/>
                <a:cs typeface="Arial" panose="020B0604020202020204" pitchFamily="34" charset="0"/>
              </a:rPr>
              <a:t>Usuario</a:t>
            </a:r>
            <a:endParaRPr lang="en-US" sz="950" dirty="0">
              <a:latin typeface="Arial" panose="020B0604020202020204" pitchFamily="34" charset="0"/>
              <a:cs typeface="Arial" panose="020B0604020202020204" pitchFamily="34" charset="0"/>
            </a:endParaRPr>
          </a:p>
        </p:txBody>
      </p:sp>
      <p:sp>
        <p:nvSpPr>
          <p:cNvPr id="13" name="Shape 11"/>
          <p:cNvSpPr/>
          <p:nvPr/>
        </p:nvSpPr>
        <p:spPr>
          <a:xfrm>
            <a:off x="2031797" y="3337560"/>
            <a:ext cx="109728" cy="0"/>
          </a:xfrm>
          <a:prstGeom prst="line">
            <a:avLst/>
          </a:prstGeom>
          <a:noFill/>
          <a:ln w="12700">
            <a:solidFill>
              <a:srgbClr val="3DDC97"/>
            </a:solidFill>
            <a:prstDash val="solid"/>
            <a:tailEnd type="triangle"/>
          </a:ln>
        </p:spPr>
        <p:txBody>
          <a:bodyPr/>
          <a:lstStyle/>
          <a:p>
            <a:endParaRPr lang="es-CO">
              <a:latin typeface="Arial" panose="020B0604020202020204" pitchFamily="34" charset="0"/>
              <a:cs typeface="Arial" panose="020B0604020202020204" pitchFamily="34" charset="0"/>
            </a:endParaRPr>
          </a:p>
        </p:txBody>
      </p:sp>
      <p:sp>
        <p:nvSpPr>
          <p:cNvPr id="14" name="Shape 12"/>
          <p:cNvSpPr/>
          <p:nvPr/>
        </p:nvSpPr>
        <p:spPr>
          <a:xfrm>
            <a:off x="2159813" y="3017520"/>
            <a:ext cx="1510589" cy="640080"/>
          </a:xfrm>
          <a:prstGeom prst="roundRect">
            <a:avLst>
              <a:gd name="adj" fmla="val 11429"/>
            </a:avLst>
          </a:prstGeom>
          <a:solidFill>
            <a:srgbClr val="1A2434"/>
          </a:solidFill>
          <a:ln w="12700">
            <a:solidFill>
              <a:srgbClr val="56C7F2"/>
            </a:solidFill>
            <a:prstDash val="solid"/>
          </a:ln>
        </p:spPr>
        <p:txBody>
          <a:bodyPr/>
          <a:lstStyle/>
          <a:p>
            <a:endParaRPr lang="es-CO">
              <a:latin typeface="Arial" panose="020B0604020202020204" pitchFamily="34" charset="0"/>
              <a:cs typeface="Arial" panose="020B0604020202020204" pitchFamily="34" charset="0"/>
            </a:endParaRPr>
          </a:p>
        </p:txBody>
      </p:sp>
      <p:sp>
        <p:nvSpPr>
          <p:cNvPr id="15" name="Text 13"/>
          <p:cNvSpPr txBox="1"/>
          <p:nvPr/>
        </p:nvSpPr>
        <p:spPr>
          <a:xfrm>
            <a:off x="2196389" y="3017520"/>
            <a:ext cx="1437437" cy="640080"/>
          </a:xfrm>
          <a:prstGeom prst="rect">
            <a:avLst/>
          </a:prstGeom>
          <a:noFill/>
          <a:ln/>
        </p:spPr>
        <p:txBody>
          <a:bodyPr wrap="square" lIns="0" tIns="0" rIns="0" bIns="0" rtlCol="0" anchor="ctr"/>
          <a:lstStyle/>
          <a:p>
            <a:pPr marL="0" indent="0" algn="ctr">
              <a:buNone/>
            </a:pPr>
            <a:r>
              <a:rPr lang="en-US" sz="950" b="1" dirty="0">
                <a:solidFill>
                  <a:srgbClr val="56C7F2"/>
                </a:solidFill>
                <a:latin typeface="Arial" panose="020B0604020202020204" pitchFamily="34" charset="0"/>
                <a:ea typeface="Arial" pitchFamily="34" charset="-122"/>
                <a:cs typeface="Arial" panose="020B0604020202020204" pitchFamily="34" charset="0"/>
              </a:rPr>
              <a:t>Navegador</a:t>
            </a:r>
            <a:endParaRPr lang="en-US" sz="950" dirty="0">
              <a:latin typeface="Arial" panose="020B0604020202020204" pitchFamily="34" charset="0"/>
              <a:cs typeface="Arial" panose="020B0604020202020204" pitchFamily="34" charset="0"/>
            </a:endParaRPr>
          </a:p>
        </p:txBody>
      </p:sp>
      <p:sp>
        <p:nvSpPr>
          <p:cNvPr id="16" name="Shape 14"/>
          <p:cNvSpPr/>
          <p:nvPr/>
        </p:nvSpPr>
        <p:spPr>
          <a:xfrm>
            <a:off x="3688690" y="3337560"/>
            <a:ext cx="109728" cy="0"/>
          </a:xfrm>
          <a:prstGeom prst="line">
            <a:avLst/>
          </a:prstGeom>
          <a:noFill/>
          <a:ln w="12700">
            <a:solidFill>
              <a:srgbClr val="3DDC97"/>
            </a:solidFill>
            <a:prstDash val="solid"/>
            <a:tailEnd type="triangle"/>
          </a:ln>
        </p:spPr>
        <p:txBody>
          <a:bodyPr/>
          <a:lstStyle/>
          <a:p>
            <a:endParaRPr lang="es-CO">
              <a:latin typeface="Arial" panose="020B0604020202020204" pitchFamily="34" charset="0"/>
              <a:cs typeface="Arial" panose="020B0604020202020204" pitchFamily="34" charset="0"/>
            </a:endParaRPr>
          </a:p>
        </p:txBody>
      </p:sp>
      <p:sp>
        <p:nvSpPr>
          <p:cNvPr id="17" name="Shape 15"/>
          <p:cNvSpPr/>
          <p:nvPr/>
        </p:nvSpPr>
        <p:spPr>
          <a:xfrm>
            <a:off x="3816706" y="3017520"/>
            <a:ext cx="1510589" cy="640080"/>
          </a:xfrm>
          <a:prstGeom prst="roundRect">
            <a:avLst>
              <a:gd name="adj" fmla="val 11429"/>
            </a:avLst>
          </a:prstGeom>
          <a:solidFill>
            <a:srgbClr val="1A2434"/>
          </a:solidFill>
          <a:ln w="12700">
            <a:solidFill>
              <a:srgbClr val="2B3B52"/>
            </a:solidFill>
            <a:prstDash val="solid"/>
          </a:ln>
        </p:spPr>
        <p:txBody>
          <a:bodyPr/>
          <a:lstStyle/>
          <a:p>
            <a:endParaRPr lang="es-CO">
              <a:latin typeface="Arial" panose="020B0604020202020204" pitchFamily="34" charset="0"/>
              <a:cs typeface="Arial" panose="020B0604020202020204" pitchFamily="34" charset="0"/>
            </a:endParaRPr>
          </a:p>
        </p:txBody>
      </p:sp>
      <p:sp>
        <p:nvSpPr>
          <p:cNvPr id="18" name="Text 16"/>
          <p:cNvSpPr txBox="1"/>
          <p:nvPr/>
        </p:nvSpPr>
        <p:spPr>
          <a:xfrm>
            <a:off x="3853282" y="3017520"/>
            <a:ext cx="1437437"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anose="020B0604020202020204" pitchFamily="34" charset="0"/>
                <a:ea typeface="Arial" pitchFamily="34" charset="-122"/>
                <a:cs typeface="Arial" panose="020B0604020202020204" pitchFamily="34" charset="0"/>
              </a:rPr>
              <a:t>GET/ </a:t>
            </a:r>
            <a:endParaRPr lang="en-US" sz="950" dirty="0">
              <a:latin typeface="Arial" panose="020B0604020202020204" pitchFamily="34" charset="0"/>
              <a:cs typeface="Arial" panose="020B0604020202020204" pitchFamily="34" charset="0"/>
            </a:endParaRPr>
          </a:p>
        </p:txBody>
      </p:sp>
      <p:sp>
        <p:nvSpPr>
          <p:cNvPr id="19" name="Shape 17"/>
          <p:cNvSpPr/>
          <p:nvPr/>
        </p:nvSpPr>
        <p:spPr>
          <a:xfrm>
            <a:off x="5345582" y="3337560"/>
            <a:ext cx="109728" cy="0"/>
          </a:xfrm>
          <a:prstGeom prst="line">
            <a:avLst/>
          </a:prstGeom>
          <a:noFill/>
          <a:ln w="12700">
            <a:solidFill>
              <a:srgbClr val="3DDC97"/>
            </a:solidFill>
            <a:prstDash val="solid"/>
            <a:tailEnd type="triangle"/>
          </a:ln>
        </p:spPr>
        <p:txBody>
          <a:bodyPr/>
          <a:lstStyle/>
          <a:p>
            <a:endParaRPr lang="es-CO">
              <a:latin typeface="Arial" panose="020B0604020202020204" pitchFamily="34" charset="0"/>
              <a:cs typeface="Arial" panose="020B0604020202020204" pitchFamily="34" charset="0"/>
            </a:endParaRPr>
          </a:p>
        </p:txBody>
      </p:sp>
      <p:sp>
        <p:nvSpPr>
          <p:cNvPr id="20" name="Shape 18"/>
          <p:cNvSpPr/>
          <p:nvPr/>
        </p:nvSpPr>
        <p:spPr>
          <a:xfrm>
            <a:off x="5473598" y="3017520"/>
            <a:ext cx="1510589" cy="640080"/>
          </a:xfrm>
          <a:prstGeom prst="roundRect">
            <a:avLst>
              <a:gd name="adj" fmla="val 11429"/>
            </a:avLst>
          </a:prstGeom>
          <a:solidFill>
            <a:srgbClr val="1A2434"/>
          </a:solidFill>
          <a:ln w="12700">
            <a:solidFill>
              <a:srgbClr val="3DDC97"/>
            </a:solidFill>
            <a:prstDash val="solid"/>
          </a:ln>
        </p:spPr>
        <p:txBody>
          <a:bodyPr/>
          <a:lstStyle/>
          <a:p>
            <a:endParaRPr lang="es-CO">
              <a:latin typeface="Arial" panose="020B0604020202020204" pitchFamily="34" charset="0"/>
              <a:cs typeface="Arial" panose="020B0604020202020204" pitchFamily="34" charset="0"/>
            </a:endParaRPr>
          </a:p>
        </p:txBody>
      </p:sp>
      <p:sp>
        <p:nvSpPr>
          <p:cNvPr id="21" name="Text 19"/>
          <p:cNvSpPr txBox="1"/>
          <p:nvPr/>
        </p:nvSpPr>
        <p:spPr>
          <a:xfrm>
            <a:off x="5510174" y="3017520"/>
            <a:ext cx="1437437" cy="640080"/>
          </a:xfrm>
          <a:prstGeom prst="rect">
            <a:avLst/>
          </a:prstGeom>
          <a:noFill/>
          <a:ln/>
        </p:spPr>
        <p:txBody>
          <a:bodyPr wrap="square" lIns="0" tIns="0" rIns="0" bIns="0" rtlCol="0" anchor="ctr"/>
          <a:lstStyle/>
          <a:p>
            <a:pPr marL="0" indent="0" algn="ctr">
              <a:buNone/>
            </a:pPr>
            <a:r>
              <a:rPr lang="en-US" sz="950" b="1" dirty="0">
                <a:solidFill>
                  <a:srgbClr val="3DDC97"/>
                </a:solidFill>
                <a:latin typeface="Arial" panose="020B0604020202020204" pitchFamily="34" charset="0"/>
                <a:ea typeface="Arial" pitchFamily="34" charset="-122"/>
                <a:cs typeface="Arial" panose="020B0604020202020204" pitchFamily="34" charset="0"/>
              </a:rPr>
              <a:t>Node.js</a:t>
            </a:r>
            <a:endParaRPr lang="en-US" sz="950" dirty="0">
              <a:latin typeface="Arial" panose="020B0604020202020204" pitchFamily="34" charset="0"/>
              <a:cs typeface="Arial" panose="020B0604020202020204" pitchFamily="34" charset="0"/>
            </a:endParaRPr>
          </a:p>
        </p:txBody>
      </p:sp>
      <p:sp>
        <p:nvSpPr>
          <p:cNvPr id="22" name="Shape 20"/>
          <p:cNvSpPr/>
          <p:nvPr/>
        </p:nvSpPr>
        <p:spPr>
          <a:xfrm>
            <a:off x="7002475" y="3337560"/>
            <a:ext cx="109728" cy="0"/>
          </a:xfrm>
          <a:prstGeom prst="line">
            <a:avLst/>
          </a:prstGeom>
          <a:noFill/>
          <a:ln w="12700">
            <a:solidFill>
              <a:srgbClr val="3DDC97"/>
            </a:solidFill>
            <a:prstDash val="solid"/>
            <a:tailEnd type="triangle"/>
          </a:ln>
        </p:spPr>
        <p:txBody>
          <a:bodyPr/>
          <a:lstStyle/>
          <a:p>
            <a:endParaRPr lang="es-CO">
              <a:latin typeface="Arial" panose="020B0604020202020204" pitchFamily="34" charset="0"/>
              <a:cs typeface="Arial" panose="020B0604020202020204" pitchFamily="34" charset="0"/>
            </a:endParaRPr>
          </a:p>
        </p:txBody>
      </p:sp>
      <p:sp>
        <p:nvSpPr>
          <p:cNvPr id="23" name="Shape 21"/>
          <p:cNvSpPr/>
          <p:nvPr/>
        </p:nvSpPr>
        <p:spPr>
          <a:xfrm>
            <a:off x="7130491" y="3017520"/>
            <a:ext cx="1510589" cy="640080"/>
          </a:xfrm>
          <a:prstGeom prst="roundRect">
            <a:avLst>
              <a:gd name="adj" fmla="val 11429"/>
            </a:avLst>
          </a:prstGeom>
          <a:solidFill>
            <a:srgbClr val="1A2434"/>
          </a:solidFill>
          <a:ln w="12700">
            <a:solidFill>
              <a:srgbClr val="2B3B52"/>
            </a:solidFill>
            <a:prstDash val="solid"/>
          </a:ln>
        </p:spPr>
        <p:txBody>
          <a:bodyPr/>
          <a:lstStyle/>
          <a:p>
            <a:endParaRPr lang="es-CO">
              <a:latin typeface="Arial" panose="020B0604020202020204" pitchFamily="34" charset="0"/>
              <a:cs typeface="Arial" panose="020B0604020202020204" pitchFamily="34" charset="0"/>
            </a:endParaRPr>
          </a:p>
        </p:txBody>
      </p:sp>
      <p:sp>
        <p:nvSpPr>
          <p:cNvPr id="24" name="Text 22"/>
          <p:cNvSpPr txBox="1"/>
          <p:nvPr/>
        </p:nvSpPr>
        <p:spPr>
          <a:xfrm>
            <a:off x="7167067" y="3017520"/>
            <a:ext cx="1437437" cy="640080"/>
          </a:xfrm>
          <a:prstGeom prst="rect">
            <a:avLst/>
          </a:prstGeom>
          <a:noFill/>
          <a:ln/>
        </p:spPr>
        <p:txBody>
          <a:bodyPr wrap="square" lIns="0" tIns="0" rIns="0" bIns="0" rtlCol="0" anchor="ctr"/>
          <a:lstStyle/>
          <a:p>
            <a:pPr algn="ctr"/>
            <a:r>
              <a:rPr lang="es-CO" sz="1000" b="1" dirty="0" err="1">
                <a:solidFill>
                  <a:schemeClr val="bg1"/>
                </a:solidFill>
                <a:latin typeface="Arial" panose="020B0604020202020204" pitchFamily="34" charset="0"/>
                <a:cs typeface="Arial" panose="020B0604020202020204" pitchFamily="34" charset="0"/>
              </a:rPr>
              <a:t>index_rutas</a:t>
            </a:r>
            <a:r>
              <a:rPr lang="en-US" sz="1000" b="1" dirty="0">
                <a:solidFill>
                  <a:schemeClr val="bg1"/>
                </a:solidFill>
                <a:latin typeface="Arial" panose="020B0604020202020204" pitchFamily="34" charset="0"/>
                <a:ea typeface="Arial" pitchFamily="34" charset="-122"/>
                <a:cs typeface="Arial" panose="020B0604020202020204" pitchFamily="34" charset="0"/>
              </a:rPr>
              <a:t>.html</a:t>
            </a:r>
            <a:endParaRPr lang="en-US" sz="1000" b="1" dirty="0">
              <a:solidFill>
                <a:schemeClr val="bg1"/>
              </a:solidFill>
              <a:latin typeface="Arial" panose="020B0604020202020204" pitchFamily="34" charset="0"/>
              <a:cs typeface="Arial" panose="020B0604020202020204" pitchFamily="34" charset="0"/>
            </a:endParaRPr>
          </a:p>
        </p:txBody>
      </p:sp>
      <p:sp>
        <p:nvSpPr>
          <p:cNvPr id="25" name="Shape 23"/>
          <p:cNvSpPr/>
          <p:nvPr/>
        </p:nvSpPr>
        <p:spPr>
          <a:xfrm>
            <a:off x="502920" y="3822192"/>
            <a:ext cx="8138160" cy="658368"/>
          </a:xfrm>
          <a:prstGeom prst="roundRect">
            <a:avLst>
              <a:gd name="adj" fmla="val 11111"/>
            </a:avLst>
          </a:prstGeom>
          <a:solidFill>
            <a:srgbClr val="132A24"/>
          </a:solidFill>
          <a:ln w="12700">
            <a:solidFill>
              <a:srgbClr val="3DDC97"/>
            </a:solidFill>
            <a:prstDash val="solid"/>
          </a:ln>
        </p:spPr>
        <p:txBody>
          <a:bodyPr/>
          <a:lstStyle/>
          <a:p>
            <a:endParaRPr lang="es-CO">
              <a:latin typeface="Arial" panose="020B0604020202020204" pitchFamily="34" charset="0"/>
              <a:cs typeface="Arial" panose="020B0604020202020204" pitchFamily="34" charset="0"/>
            </a:endParaRPr>
          </a:p>
        </p:txBody>
      </p:sp>
      <p:sp>
        <p:nvSpPr>
          <p:cNvPr id="26" name="Text 24"/>
          <p:cNvSpPr txBox="1"/>
          <p:nvPr/>
        </p:nvSpPr>
        <p:spPr>
          <a:xfrm>
            <a:off x="731520" y="3822192"/>
            <a:ext cx="7680960" cy="658368"/>
          </a:xfrm>
          <a:prstGeom prst="rect">
            <a:avLst/>
          </a:prstGeom>
          <a:noFill/>
          <a:ln/>
        </p:spPr>
        <p:txBody>
          <a:bodyPr wrap="square" lIns="0" tIns="0" rIns="0" bIns="0" rtlCol="0" anchor="ctr"/>
          <a:lstStyle/>
          <a:p>
            <a:pPr marL="0" indent="0" algn="l">
              <a:buNone/>
            </a:pPr>
            <a:r>
              <a:rPr lang="en-US" sz="1150" dirty="0">
                <a:solidFill>
                  <a:srgbClr val="E8EEF6"/>
                </a:solidFill>
                <a:latin typeface="Arial" panose="020B0604020202020204" pitchFamily="34" charset="0"/>
                <a:ea typeface="Calibri" pitchFamily="34" charset="-122"/>
                <a:cs typeface="Arial" panose="020B0604020202020204" pitchFamily="34" charset="0"/>
              </a:rPr>
              <a:t>Ya sabemos cómo el servidor entrega un documento HTML. ¿Cómo estructuramos correctamente ese documento y cómo permitimos que el usuario introduzca información?</a:t>
            </a:r>
            <a:endParaRPr lang="en-US" sz="1150" dirty="0">
              <a:latin typeface="Arial" panose="020B0604020202020204" pitchFamily="34" charset="0"/>
              <a:cs typeface="Arial" panose="020B0604020202020204" pitchFamily="34" charset="0"/>
            </a:endParaRPr>
          </a:p>
        </p:txBody>
      </p:sp>
      <p:sp>
        <p:nvSpPr>
          <p:cNvPr id="28" name="Text 25"/>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03 / 20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96012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96012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significa semántica en HTML?</a:t>
            </a:r>
            <a:endParaRPr lang="en-US" sz="2600" dirty="0"/>
          </a:p>
        </p:txBody>
      </p:sp>
      <p:sp>
        <p:nvSpPr>
          <p:cNvPr id="5" name="Shape 3"/>
          <p:cNvSpPr/>
          <p:nvPr/>
        </p:nvSpPr>
        <p:spPr>
          <a:xfrm>
            <a:off x="502920" y="1316736"/>
            <a:ext cx="8138160" cy="822960"/>
          </a:xfrm>
          <a:prstGeom prst="roundRect">
            <a:avLst>
              <a:gd name="adj" fmla="val 8889"/>
            </a:avLst>
          </a:prstGeom>
          <a:solidFill>
            <a:srgbClr val="1A2434"/>
          </a:solidFill>
          <a:ln w="12700">
            <a:solidFill>
              <a:srgbClr val="2B3B52"/>
            </a:solidFill>
            <a:prstDash val="solid"/>
          </a:ln>
        </p:spPr>
        <p:txBody>
          <a:bodyPr/>
          <a:lstStyle/>
          <a:p>
            <a:endParaRPr lang="es-CO"/>
          </a:p>
        </p:txBody>
      </p:sp>
      <p:sp>
        <p:nvSpPr>
          <p:cNvPr id="6" name="Text 4"/>
          <p:cNvSpPr txBox="1"/>
          <p:nvPr/>
        </p:nvSpPr>
        <p:spPr>
          <a:xfrm>
            <a:off x="777240" y="1316736"/>
            <a:ext cx="7589520" cy="822960"/>
          </a:xfrm>
          <a:prstGeom prst="rect">
            <a:avLst/>
          </a:prstGeom>
          <a:noFill/>
          <a:ln/>
        </p:spPr>
        <p:txBody>
          <a:bodyPr wrap="square" lIns="0" tIns="0" rIns="0" bIns="0" rtlCol="0" anchor="ctr"/>
          <a:lstStyle/>
          <a:p>
            <a:r>
              <a:rPr lang="es-CO" sz="1200" dirty="0">
                <a:solidFill>
                  <a:schemeClr val="bg1"/>
                </a:solidFill>
              </a:rPr>
              <a:t>HTML semántico consiste en utilizar elementos que </a:t>
            </a:r>
            <a:r>
              <a:rPr lang="es-CO" sz="1200" b="1" dirty="0">
                <a:solidFill>
                  <a:schemeClr val="bg1"/>
                </a:solidFill>
              </a:rPr>
              <a:t>describen el significado o la función del contenido</a:t>
            </a:r>
            <a:r>
              <a:rPr lang="es-CO" sz="1200" dirty="0">
                <a:solidFill>
                  <a:schemeClr val="bg1"/>
                </a:solidFill>
              </a:rPr>
              <a:t> dentro de una página Web.</a:t>
            </a:r>
          </a:p>
          <a:p>
            <a:r>
              <a:rPr lang="es-CO" sz="1200" dirty="0">
                <a:solidFill>
                  <a:schemeClr val="bg1"/>
                </a:solidFill>
              </a:rPr>
              <a:t>Sus beneficios son:</a:t>
            </a:r>
            <a:endParaRPr lang="en-US" sz="1200" dirty="0">
              <a:solidFill>
                <a:schemeClr val="bg1"/>
              </a:solidFill>
            </a:endParaRPr>
          </a:p>
        </p:txBody>
      </p:sp>
      <p:sp>
        <p:nvSpPr>
          <p:cNvPr id="7" name="Shape 5"/>
          <p:cNvSpPr/>
          <p:nvPr/>
        </p:nvSpPr>
        <p:spPr>
          <a:xfrm>
            <a:off x="502920" y="2286000"/>
            <a:ext cx="2615184" cy="1371600"/>
          </a:xfrm>
          <a:prstGeom prst="roundRect">
            <a:avLst>
              <a:gd name="adj" fmla="val 5333"/>
            </a:avLst>
          </a:prstGeom>
          <a:solidFill>
            <a:srgbClr val="1A2434"/>
          </a:solidFill>
          <a:ln w="12700">
            <a:solidFill>
              <a:srgbClr val="3DDC97"/>
            </a:solidFill>
            <a:prstDash val="solid"/>
          </a:ln>
        </p:spPr>
        <p:txBody>
          <a:bodyPr/>
          <a:lstStyle/>
          <a:p>
            <a:endParaRPr lang="es-CO"/>
          </a:p>
        </p:txBody>
      </p:sp>
      <p:sp>
        <p:nvSpPr>
          <p:cNvPr id="8" name="Text 6"/>
          <p:cNvSpPr txBox="1"/>
          <p:nvPr/>
        </p:nvSpPr>
        <p:spPr>
          <a:xfrm>
            <a:off x="704088" y="2450592"/>
            <a:ext cx="2194560" cy="219456"/>
          </a:xfrm>
          <a:prstGeom prst="rect">
            <a:avLst/>
          </a:prstGeom>
          <a:noFill/>
          <a:ln/>
        </p:spPr>
        <p:txBody>
          <a:bodyPr wrap="square" lIns="0" tIns="0" rIns="0" bIns="0" rtlCol="0" anchor="ctr"/>
          <a:lstStyle/>
          <a:p>
            <a:pPr marL="0" indent="0">
              <a:buNone/>
            </a:pPr>
            <a:r>
              <a:rPr lang="en-US" sz="1250" b="1" dirty="0">
                <a:solidFill>
                  <a:srgbClr val="3DDC97"/>
                </a:solidFill>
                <a:latin typeface="Arial" pitchFamily="34" charset="0"/>
                <a:ea typeface="Arial" pitchFamily="34" charset="-122"/>
                <a:cs typeface="Arial" pitchFamily="34" charset="-120"/>
              </a:rPr>
              <a:t>Estructura</a:t>
            </a:r>
            <a:endParaRPr lang="en-US" sz="1250" dirty="0"/>
          </a:p>
        </p:txBody>
      </p:sp>
      <p:sp>
        <p:nvSpPr>
          <p:cNvPr id="9" name="Text 7"/>
          <p:cNvSpPr txBox="1"/>
          <p:nvPr/>
        </p:nvSpPr>
        <p:spPr>
          <a:xfrm>
            <a:off x="704088" y="2743200"/>
            <a:ext cx="2212848" cy="841248"/>
          </a:xfrm>
          <a:prstGeom prst="rect">
            <a:avLst/>
          </a:prstGeom>
          <a:noFill/>
          <a:ln/>
        </p:spPr>
        <p:txBody>
          <a:bodyPr wrap="square" lIns="0" tIns="0" rIns="0" bIns="0" rtlCol="0" anchor="t"/>
          <a:lstStyle/>
          <a:p>
            <a:pPr marL="0" indent="0" algn="l">
              <a:buNone/>
            </a:pPr>
            <a:r>
              <a:rPr lang="en-US" sz="1000" dirty="0">
                <a:solidFill>
                  <a:srgbClr val="E8EEF6"/>
                </a:solidFill>
                <a:latin typeface="Calibri" pitchFamily="34" charset="0"/>
                <a:ea typeface="Calibri" pitchFamily="34" charset="-122"/>
                <a:cs typeface="Calibri" pitchFamily="34" charset="-120"/>
              </a:rPr>
              <a:t>El documento expresa su propia organización: encabezado, navegación, contenido principal y pie.</a:t>
            </a:r>
            <a:endParaRPr lang="en-US" sz="1000" dirty="0"/>
          </a:p>
        </p:txBody>
      </p:sp>
      <p:sp>
        <p:nvSpPr>
          <p:cNvPr id="10" name="Shape 8"/>
          <p:cNvSpPr/>
          <p:nvPr/>
        </p:nvSpPr>
        <p:spPr>
          <a:xfrm>
            <a:off x="3264408" y="2286000"/>
            <a:ext cx="2615184" cy="1371600"/>
          </a:xfrm>
          <a:prstGeom prst="roundRect">
            <a:avLst>
              <a:gd name="adj" fmla="val 5333"/>
            </a:avLst>
          </a:prstGeom>
          <a:solidFill>
            <a:srgbClr val="1A2434"/>
          </a:solidFill>
          <a:ln w="12700">
            <a:solidFill>
              <a:srgbClr val="56C7F2"/>
            </a:solidFill>
            <a:prstDash val="solid"/>
          </a:ln>
        </p:spPr>
        <p:txBody>
          <a:bodyPr/>
          <a:lstStyle/>
          <a:p>
            <a:endParaRPr lang="es-CO"/>
          </a:p>
        </p:txBody>
      </p:sp>
      <p:sp>
        <p:nvSpPr>
          <p:cNvPr id="11" name="Text 9"/>
          <p:cNvSpPr txBox="1"/>
          <p:nvPr/>
        </p:nvSpPr>
        <p:spPr>
          <a:xfrm>
            <a:off x="3465576" y="2450592"/>
            <a:ext cx="2194560" cy="219456"/>
          </a:xfrm>
          <a:prstGeom prst="rect">
            <a:avLst/>
          </a:prstGeom>
          <a:noFill/>
          <a:ln/>
        </p:spPr>
        <p:txBody>
          <a:bodyPr wrap="square" lIns="0" tIns="0" rIns="0" bIns="0" rtlCol="0" anchor="ctr"/>
          <a:lstStyle/>
          <a:p>
            <a:pPr marL="0" indent="0">
              <a:buNone/>
            </a:pPr>
            <a:r>
              <a:rPr lang="en-US" sz="1250" b="1" dirty="0">
                <a:solidFill>
                  <a:srgbClr val="56C7F2"/>
                </a:solidFill>
                <a:latin typeface="Arial" pitchFamily="34" charset="0"/>
                <a:ea typeface="Arial" pitchFamily="34" charset="-122"/>
                <a:cs typeface="Arial" pitchFamily="34" charset="-120"/>
              </a:rPr>
              <a:t>Mantenimiento</a:t>
            </a:r>
            <a:endParaRPr lang="en-US" sz="1250" dirty="0"/>
          </a:p>
        </p:txBody>
      </p:sp>
      <p:sp>
        <p:nvSpPr>
          <p:cNvPr id="12" name="Text 10"/>
          <p:cNvSpPr txBox="1"/>
          <p:nvPr/>
        </p:nvSpPr>
        <p:spPr>
          <a:xfrm>
            <a:off x="3465576" y="2743200"/>
            <a:ext cx="2212848" cy="841248"/>
          </a:xfrm>
          <a:prstGeom prst="rect">
            <a:avLst/>
          </a:prstGeom>
          <a:noFill/>
          <a:ln/>
        </p:spPr>
        <p:txBody>
          <a:bodyPr wrap="square" lIns="0" tIns="0" rIns="0" bIns="0" rtlCol="0" anchor="t"/>
          <a:lstStyle/>
          <a:p>
            <a:r>
              <a:rPr lang="es-CO" sz="1000" dirty="0">
                <a:solidFill>
                  <a:schemeClr val="bg1"/>
                </a:solidFill>
                <a:latin typeface="Calibri" panose="020F0502020204030204" pitchFamily="34" charset="0"/>
                <a:cs typeface="Calibri" panose="020F0502020204030204" pitchFamily="34" charset="0"/>
              </a:rPr>
              <a:t>Facilita que otros desarrolladores comprendan y modifiquen la estructura del documento</a:t>
            </a:r>
            <a:r>
              <a:rPr lang="en-US" sz="1000" dirty="0">
                <a:solidFill>
                  <a:schemeClr val="bg1"/>
                </a:solidFill>
                <a:latin typeface="Calibri" panose="020F0502020204030204" pitchFamily="34" charset="0"/>
                <a:ea typeface="Calibri" pitchFamily="34" charset="-122"/>
                <a:cs typeface="Calibri" panose="020F0502020204030204" pitchFamily="34" charset="0"/>
              </a:rPr>
              <a:t>.</a:t>
            </a:r>
            <a:endParaRPr lang="en-US" sz="1000" dirty="0">
              <a:solidFill>
                <a:schemeClr val="bg1"/>
              </a:solidFill>
              <a:latin typeface="Calibri" panose="020F0502020204030204" pitchFamily="34" charset="0"/>
              <a:cs typeface="Calibri" panose="020F0502020204030204" pitchFamily="34" charset="0"/>
            </a:endParaRPr>
          </a:p>
        </p:txBody>
      </p:sp>
      <p:sp>
        <p:nvSpPr>
          <p:cNvPr id="13" name="Shape 11"/>
          <p:cNvSpPr/>
          <p:nvPr/>
        </p:nvSpPr>
        <p:spPr>
          <a:xfrm>
            <a:off x="6025896" y="2286000"/>
            <a:ext cx="2615184" cy="1371600"/>
          </a:xfrm>
          <a:prstGeom prst="roundRect">
            <a:avLst>
              <a:gd name="adj" fmla="val 5333"/>
            </a:avLst>
          </a:prstGeom>
          <a:solidFill>
            <a:srgbClr val="1A2434"/>
          </a:solidFill>
          <a:ln w="12700">
            <a:solidFill>
              <a:srgbClr val="FFB86C"/>
            </a:solidFill>
            <a:prstDash val="solid"/>
          </a:ln>
        </p:spPr>
        <p:txBody>
          <a:bodyPr/>
          <a:lstStyle/>
          <a:p>
            <a:endParaRPr lang="es-CO"/>
          </a:p>
        </p:txBody>
      </p:sp>
      <p:sp>
        <p:nvSpPr>
          <p:cNvPr id="14" name="Text 12"/>
          <p:cNvSpPr txBox="1"/>
          <p:nvPr/>
        </p:nvSpPr>
        <p:spPr>
          <a:xfrm>
            <a:off x="6227064" y="2450592"/>
            <a:ext cx="2194560" cy="219456"/>
          </a:xfrm>
          <a:prstGeom prst="rect">
            <a:avLst/>
          </a:prstGeom>
          <a:noFill/>
          <a:ln/>
        </p:spPr>
        <p:txBody>
          <a:bodyPr wrap="square" lIns="0" tIns="0" rIns="0" bIns="0" rtlCol="0" anchor="ctr"/>
          <a:lstStyle/>
          <a:p>
            <a:pPr marL="0" indent="0">
              <a:buNone/>
            </a:pPr>
            <a:r>
              <a:rPr lang="en-US" sz="1250" b="1" dirty="0">
                <a:solidFill>
                  <a:srgbClr val="FFB86C"/>
                </a:solidFill>
                <a:latin typeface="Arial" pitchFamily="34" charset="0"/>
                <a:ea typeface="Arial" pitchFamily="34" charset="-122"/>
                <a:cs typeface="Arial" pitchFamily="34" charset="-120"/>
              </a:rPr>
              <a:t>Accesibilidad</a:t>
            </a:r>
            <a:endParaRPr lang="en-US" sz="1250" dirty="0"/>
          </a:p>
        </p:txBody>
      </p:sp>
      <p:sp>
        <p:nvSpPr>
          <p:cNvPr id="15" name="Text 13"/>
          <p:cNvSpPr txBox="1"/>
          <p:nvPr/>
        </p:nvSpPr>
        <p:spPr>
          <a:xfrm>
            <a:off x="6227064" y="2689098"/>
            <a:ext cx="2212848" cy="841248"/>
          </a:xfrm>
          <a:prstGeom prst="rect">
            <a:avLst/>
          </a:prstGeom>
          <a:noFill/>
          <a:ln/>
        </p:spPr>
        <p:txBody>
          <a:bodyPr wrap="square" lIns="0" tIns="0" rIns="0" bIns="0" rtlCol="0" anchor="t"/>
          <a:lstStyle/>
          <a:p>
            <a:r>
              <a:rPr lang="es-CO" sz="1000" dirty="0">
                <a:solidFill>
                  <a:schemeClr val="bg1"/>
                </a:solidFill>
                <a:latin typeface="Calibri" panose="020F0502020204030204" pitchFamily="34" charset="0"/>
                <a:cs typeface="Calibri" panose="020F0502020204030204" pitchFamily="34" charset="0"/>
              </a:rPr>
              <a:t>El HTML semántico ayuda a las tecnologías </a:t>
            </a:r>
            <a:r>
              <a:rPr lang="es-CO" sz="1000" dirty="0" err="1">
                <a:solidFill>
                  <a:schemeClr val="bg1"/>
                </a:solidFill>
                <a:latin typeface="Calibri" panose="020F0502020204030204" pitchFamily="34" charset="0"/>
                <a:cs typeface="Calibri" panose="020F0502020204030204" pitchFamily="34" charset="0"/>
              </a:rPr>
              <a:t>asistivas</a:t>
            </a:r>
            <a:r>
              <a:rPr lang="es-CO" sz="1000" dirty="0">
                <a:solidFill>
                  <a:schemeClr val="bg1"/>
                </a:solidFill>
                <a:latin typeface="Calibri" panose="020F0502020204030204" pitchFamily="34" charset="0"/>
                <a:cs typeface="Calibri" panose="020F0502020204030204" pitchFamily="34" charset="0"/>
              </a:rPr>
              <a:t>, como los lectores de pantalla utilizados por personas con discapacidad visual, a interpretar mejor la estructura y la función del contenido.</a:t>
            </a:r>
            <a:endParaRPr lang="en-US" sz="1000" dirty="0">
              <a:solidFill>
                <a:schemeClr val="bg1"/>
              </a:solidFill>
              <a:latin typeface="Calibri" panose="020F0502020204030204" pitchFamily="34" charset="0"/>
              <a:cs typeface="Calibri" panose="020F0502020204030204" pitchFamily="34" charset="0"/>
            </a:endParaRPr>
          </a:p>
        </p:txBody>
      </p:sp>
      <p:sp>
        <p:nvSpPr>
          <p:cNvPr id="16" name="Text 14"/>
          <p:cNvSpPr txBox="1"/>
          <p:nvPr/>
        </p:nvSpPr>
        <p:spPr>
          <a:xfrm>
            <a:off x="502920" y="3822192"/>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La semántica no modifica la apariencia de la página: su efecto está en el significado del documento, no en su presentación.</a:t>
            </a:r>
            <a:endParaRPr lang="en-US" sz="1100" dirty="0"/>
          </a:p>
        </p:txBody>
      </p:sp>
      <p:sp>
        <p:nvSpPr>
          <p:cNvPr id="18" name="Text 15"/>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04 / 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2344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23444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COMPARACIÓN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HTML genérico vs. HTML semántico</a:t>
            </a:r>
            <a:endParaRPr lang="en-US" sz="2600" dirty="0"/>
          </a:p>
        </p:txBody>
      </p:sp>
      <p:sp>
        <p:nvSpPr>
          <p:cNvPr id="5" name="Shape 3"/>
          <p:cNvSpPr/>
          <p:nvPr/>
        </p:nvSpPr>
        <p:spPr>
          <a:xfrm>
            <a:off x="502920" y="1316736"/>
            <a:ext cx="3977640" cy="2395728"/>
          </a:xfrm>
          <a:prstGeom prst="roundRect">
            <a:avLst>
              <a:gd name="adj" fmla="val 3053"/>
            </a:avLst>
          </a:prstGeom>
          <a:solidFill>
            <a:srgbClr val="070C14"/>
          </a:solidFill>
          <a:ln w="12700">
            <a:solidFill>
              <a:srgbClr val="2B3B52"/>
            </a:solidFill>
            <a:prstDash val="solid"/>
          </a:ln>
        </p:spPr>
        <p:txBody>
          <a:bodyPr/>
          <a:lstStyle/>
          <a:p>
            <a:endParaRPr lang="es-CO"/>
          </a:p>
        </p:txBody>
      </p:sp>
      <p:sp>
        <p:nvSpPr>
          <p:cNvPr id="6" name="Text 4"/>
          <p:cNvSpPr txBox="1"/>
          <p:nvPr/>
        </p:nvSpPr>
        <p:spPr>
          <a:xfrm>
            <a:off x="649224" y="1371600"/>
            <a:ext cx="3685032"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contenedores genéricos</a:t>
            </a:r>
            <a:endParaRPr lang="en-US" sz="850" dirty="0"/>
          </a:p>
        </p:txBody>
      </p:sp>
      <p:sp>
        <p:nvSpPr>
          <p:cNvPr id="7" name="Text 5"/>
          <p:cNvSpPr txBox="1"/>
          <p:nvPr/>
        </p:nvSpPr>
        <p:spPr>
          <a:xfrm>
            <a:off x="649224" y="1591056"/>
            <a:ext cx="3685032" cy="2048256"/>
          </a:xfrm>
          <a:prstGeom prst="rect">
            <a:avLst/>
          </a:prstGeom>
          <a:noFill/>
          <a:ln/>
        </p:spPr>
        <p:txBody>
          <a:bodyPr wrap="square" lIns="0" tIns="0" rIns="0" bIns="0" rtlCol="0" anchor="t"/>
          <a:lstStyle/>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&lt;div</a:t>
            </a:r>
            <a:r>
              <a:rPr lang="en-US" sz="950" dirty="0">
                <a:solidFill>
                  <a:srgbClr val="FFB86C"/>
                </a:solidFill>
                <a:latin typeface="Courier New" pitchFamily="34" charset="0"/>
                <a:ea typeface="Courier New" pitchFamily="34" charset="-122"/>
                <a:cs typeface="Courier New" pitchFamily="34" charset="-120"/>
              </a:rPr>
              <a:t> id=</a:t>
            </a:r>
            <a:r>
              <a:rPr lang="en-US" sz="950" dirty="0">
                <a:solidFill>
                  <a:srgbClr val="FFD479"/>
                </a:solidFill>
                <a:latin typeface="Courier New" pitchFamily="34" charset="0"/>
                <a:ea typeface="Courier New" pitchFamily="34" charset="-122"/>
                <a:cs typeface="Courier New" pitchFamily="34" charset="-120"/>
              </a:rPr>
              <a:t>"cabecera"</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&lt;h1&gt;</a:t>
            </a:r>
            <a:r>
              <a:rPr lang="en-US" sz="950" dirty="0">
                <a:solidFill>
                  <a:srgbClr val="D7E1EE"/>
                </a:solidFill>
                <a:latin typeface="Courier New" pitchFamily="34" charset="0"/>
                <a:ea typeface="Courier New" pitchFamily="34" charset="-122"/>
                <a:cs typeface="Courier New" pitchFamily="34" charset="-120"/>
              </a:rPr>
              <a:t>Ingeniería Web</a:t>
            </a:r>
            <a:r>
              <a:rPr lang="en-US" sz="950" dirty="0">
                <a:solidFill>
                  <a:srgbClr val="3DDC97"/>
                </a:solidFill>
                <a:latin typeface="Courier New" pitchFamily="34" charset="0"/>
                <a:ea typeface="Courier New" pitchFamily="34" charset="-122"/>
                <a:cs typeface="Courier New" pitchFamily="34" charset="-120"/>
              </a:rPr>
              <a:t>&lt;/h1&gt;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&lt;/div&gt;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&lt;div</a:t>
            </a:r>
            <a:r>
              <a:rPr lang="en-US" sz="950" dirty="0">
                <a:solidFill>
                  <a:srgbClr val="FFB86C"/>
                </a:solidFill>
                <a:latin typeface="Courier New" pitchFamily="34" charset="0"/>
                <a:ea typeface="Courier New" pitchFamily="34" charset="-122"/>
                <a:cs typeface="Courier New" pitchFamily="34" charset="-120"/>
              </a:rPr>
              <a:t> id=</a:t>
            </a:r>
            <a:r>
              <a:rPr lang="en-US" sz="950" dirty="0">
                <a:solidFill>
                  <a:srgbClr val="FFD479"/>
                </a:solidFill>
                <a:latin typeface="Courier New" pitchFamily="34" charset="0"/>
                <a:ea typeface="Courier New" pitchFamily="34" charset="-122"/>
                <a:cs typeface="Courier New" pitchFamily="34" charset="-120"/>
              </a:rPr>
              <a:t>"menu"</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&lt;a</a:t>
            </a:r>
            <a:r>
              <a:rPr lang="en-US" sz="950" dirty="0">
                <a:solidFill>
                  <a:srgbClr val="FFB86C"/>
                </a:solidFill>
                <a:latin typeface="Courier New" pitchFamily="34" charset="0"/>
                <a:ea typeface="Courier New" pitchFamily="34" charset="-122"/>
                <a:cs typeface="Courier New" pitchFamily="34" charset="-120"/>
              </a:rPr>
              <a:t> href=</a:t>
            </a:r>
            <a:r>
              <a:rPr lang="en-US" sz="950" dirty="0">
                <a:solidFill>
                  <a:srgbClr val="FFD479"/>
                </a:solidFill>
                <a:latin typeface="Courier New" pitchFamily="34" charset="0"/>
                <a:ea typeface="Courier New" pitchFamily="34" charset="-122"/>
                <a:cs typeface="Courier New" pitchFamily="34" charset="-120"/>
              </a:rPr>
              <a:t>"/"</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Inicio</a:t>
            </a:r>
            <a:r>
              <a:rPr lang="en-US" sz="950" dirty="0">
                <a:solidFill>
                  <a:srgbClr val="3DDC97"/>
                </a:solidFill>
                <a:latin typeface="Courier New" pitchFamily="34" charset="0"/>
                <a:ea typeface="Courier New" pitchFamily="34" charset="-122"/>
                <a:cs typeface="Courier New" pitchFamily="34" charset="-120"/>
              </a:rPr>
              <a:t>&lt;/a&gt;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&lt;/div&gt;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&lt;div</a:t>
            </a:r>
            <a:r>
              <a:rPr lang="en-US" sz="950" dirty="0">
                <a:solidFill>
                  <a:srgbClr val="FFB86C"/>
                </a:solidFill>
                <a:latin typeface="Courier New" pitchFamily="34" charset="0"/>
                <a:ea typeface="Courier New" pitchFamily="34" charset="-122"/>
                <a:cs typeface="Courier New" pitchFamily="34" charset="-120"/>
              </a:rPr>
              <a:t> id=</a:t>
            </a:r>
            <a:r>
              <a:rPr lang="en-US" sz="950" dirty="0">
                <a:solidFill>
                  <a:srgbClr val="FFD479"/>
                </a:solidFill>
                <a:latin typeface="Courier New" pitchFamily="34" charset="0"/>
                <a:ea typeface="Courier New" pitchFamily="34" charset="-122"/>
                <a:cs typeface="Courier New" pitchFamily="34" charset="-120"/>
              </a:rPr>
              <a:t>"pie"</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&lt;p&gt;</a:t>
            </a:r>
            <a:r>
              <a:rPr lang="en-US" sz="950" dirty="0">
                <a:solidFill>
                  <a:srgbClr val="D7E1EE"/>
                </a:solidFill>
                <a:latin typeface="Courier New" pitchFamily="34" charset="0"/>
                <a:ea typeface="Courier New" pitchFamily="34" charset="-122"/>
                <a:cs typeface="Courier New" pitchFamily="34" charset="-120"/>
              </a:rPr>
              <a:t>Universidad</a:t>
            </a:r>
            <a:r>
              <a:rPr lang="en-US" sz="950" dirty="0">
                <a:solidFill>
                  <a:srgbClr val="3DDC97"/>
                </a:solidFill>
                <a:latin typeface="Courier New" pitchFamily="34" charset="0"/>
                <a:ea typeface="Courier New" pitchFamily="34" charset="-122"/>
                <a:cs typeface="Courier New" pitchFamily="34" charset="-120"/>
              </a:rPr>
              <a:t>&lt;/p&gt;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&lt;/div&gt;</a:t>
            </a:r>
            <a:endParaRPr lang="en-US" sz="950" dirty="0"/>
          </a:p>
        </p:txBody>
      </p:sp>
      <p:sp>
        <p:nvSpPr>
          <p:cNvPr id="8" name="Shape 6"/>
          <p:cNvSpPr/>
          <p:nvPr/>
        </p:nvSpPr>
        <p:spPr>
          <a:xfrm>
            <a:off x="4663440" y="1316736"/>
            <a:ext cx="3977640" cy="2395728"/>
          </a:xfrm>
          <a:prstGeom prst="roundRect">
            <a:avLst>
              <a:gd name="adj" fmla="val 3053"/>
            </a:avLst>
          </a:prstGeom>
          <a:solidFill>
            <a:srgbClr val="070C14"/>
          </a:solidFill>
          <a:ln w="12700">
            <a:solidFill>
              <a:srgbClr val="3DDC97"/>
            </a:solidFill>
            <a:prstDash val="solid"/>
          </a:ln>
        </p:spPr>
        <p:txBody>
          <a:bodyPr/>
          <a:lstStyle/>
          <a:p>
            <a:endParaRPr lang="es-CO"/>
          </a:p>
        </p:txBody>
      </p:sp>
      <p:sp>
        <p:nvSpPr>
          <p:cNvPr id="9" name="Text 7"/>
          <p:cNvSpPr txBox="1"/>
          <p:nvPr/>
        </p:nvSpPr>
        <p:spPr>
          <a:xfrm>
            <a:off x="4809744" y="1371600"/>
            <a:ext cx="3685032" cy="182880"/>
          </a:xfrm>
          <a:prstGeom prst="rect">
            <a:avLst/>
          </a:prstGeom>
          <a:noFill/>
          <a:ln/>
        </p:spPr>
        <p:txBody>
          <a:bodyPr wrap="square" lIns="0" tIns="0" rIns="0" bIns="0" rtlCol="0" anchor="ctr"/>
          <a:lstStyle/>
          <a:p>
            <a:pPr marL="0" indent="0">
              <a:buNone/>
            </a:pPr>
            <a:r>
              <a:rPr lang="en-US" sz="850" b="1" kern="0" spc="60" dirty="0">
                <a:solidFill>
                  <a:srgbClr val="3DDC97"/>
                </a:solidFill>
                <a:latin typeface="Courier New" pitchFamily="34" charset="0"/>
                <a:ea typeface="Courier New" pitchFamily="34" charset="-122"/>
                <a:cs typeface="Courier New" pitchFamily="34" charset="-120"/>
              </a:rPr>
              <a:t>elementos semánticos</a:t>
            </a:r>
            <a:endParaRPr lang="en-US" sz="850" dirty="0"/>
          </a:p>
        </p:txBody>
      </p:sp>
      <p:sp>
        <p:nvSpPr>
          <p:cNvPr id="10" name="Text 8"/>
          <p:cNvSpPr txBox="1"/>
          <p:nvPr/>
        </p:nvSpPr>
        <p:spPr>
          <a:xfrm>
            <a:off x="4809744" y="1591056"/>
            <a:ext cx="3685032" cy="2048256"/>
          </a:xfrm>
          <a:prstGeom prst="rect">
            <a:avLst/>
          </a:prstGeom>
          <a:noFill/>
          <a:ln/>
        </p:spPr>
        <p:txBody>
          <a:bodyPr wrap="square" lIns="0" tIns="0" rIns="0" bIns="0" rtlCol="0" anchor="t"/>
          <a:lstStyle/>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&lt;header&gt;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&lt;h1&gt;</a:t>
            </a:r>
            <a:r>
              <a:rPr lang="en-US" sz="950" dirty="0">
                <a:solidFill>
                  <a:srgbClr val="D7E1EE"/>
                </a:solidFill>
                <a:latin typeface="Courier New" pitchFamily="34" charset="0"/>
                <a:ea typeface="Courier New" pitchFamily="34" charset="-122"/>
                <a:cs typeface="Courier New" pitchFamily="34" charset="-120"/>
              </a:rPr>
              <a:t>Ingeniería Web</a:t>
            </a:r>
            <a:r>
              <a:rPr lang="en-US" sz="950" dirty="0">
                <a:solidFill>
                  <a:srgbClr val="3DDC97"/>
                </a:solidFill>
                <a:latin typeface="Courier New" pitchFamily="34" charset="0"/>
                <a:ea typeface="Courier New" pitchFamily="34" charset="-122"/>
                <a:cs typeface="Courier New" pitchFamily="34" charset="-120"/>
              </a:rPr>
              <a:t>&lt;/h1&gt;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&lt;/header&gt;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&lt;nav&gt;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&lt;a</a:t>
            </a:r>
            <a:r>
              <a:rPr lang="en-US" sz="950" dirty="0">
                <a:solidFill>
                  <a:srgbClr val="FFB86C"/>
                </a:solidFill>
                <a:latin typeface="Courier New" pitchFamily="34" charset="0"/>
                <a:ea typeface="Courier New" pitchFamily="34" charset="-122"/>
                <a:cs typeface="Courier New" pitchFamily="34" charset="-120"/>
              </a:rPr>
              <a:t> href=</a:t>
            </a:r>
            <a:r>
              <a:rPr lang="en-US" sz="950" dirty="0">
                <a:solidFill>
                  <a:srgbClr val="FFD479"/>
                </a:solidFill>
                <a:latin typeface="Courier New" pitchFamily="34" charset="0"/>
                <a:ea typeface="Courier New" pitchFamily="34" charset="-122"/>
                <a:cs typeface="Courier New" pitchFamily="34" charset="-120"/>
              </a:rPr>
              <a:t>"/"</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Inicio</a:t>
            </a:r>
            <a:r>
              <a:rPr lang="en-US" sz="950" dirty="0">
                <a:solidFill>
                  <a:srgbClr val="3DDC97"/>
                </a:solidFill>
                <a:latin typeface="Courier New" pitchFamily="34" charset="0"/>
                <a:ea typeface="Courier New" pitchFamily="34" charset="-122"/>
                <a:cs typeface="Courier New" pitchFamily="34" charset="-120"/>
              </a:rPr>
              <a:t>&lt;/a&gt;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&lt;/nav&gt;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&lt;footer&gt;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&lt;p&gt;</a:t>
            </a:r>
            <a:r>
              <a:rPr lang="en-US" sz="950" dirty="0">
                <a:solidFill>
                  <a:srgbClr val="D7E1EE"/>
                </a:solidFill>
                <a:latin typeface="Courier New" pitchFamily="34" charset="0"/>
                <a:ea typeface="Courier New" pitchFamily="34" charset="-122"/>
                <a:cs typeface="Courier New" pitchFamily="34" charset="-120"/>
              </a:rPr>
              <a:t>Universidad</a:t>
            </a:r>
            <a:r>
              <a:rPr lang="en-US" sz="950" dirty="0">
                <a:solidFill>
                  <a:srgbClr val="3DDC97"/>
                </a:solidFill>
                <a:latin typeface="Courier New" pitchFamily="34" charset="0"/>
                <a:ea typeface="Courier New" pitchFamily="34" charset="-122"/>
                <a:cs typeface="Courier New" pitchFamily="34" charset="-120"/>
              </a:rPr>
              <a:t>&lt;/p&gt;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&lt;/footer&gt;</a:t>
            </a:r>
            <a:endParaRPr lang="en-US" sz="950" dirty="0"/>
          </a:p>
        </p:txBody>
      </p:sp>
      <p:sp>
        <p:nvSpPr>
          <p:cNvPr id="11" name="Shape 9"/>
          <p:cNvSpPr/>
          <p:nvPr/>
        </p:nvSpPr>
        <p:spPr>
          <a:xfrm>
            <a:off x="502920" y="3840480"/>
            <a:ext cx="8138160" cy="658368"/>
          </a:xfrm>
          <a:prstGeom prst="roundRect">
            <a:avLst>
              <a:gd name="adj" fmla="val 11111"/>
            </a:avLst>
          </a:prstGeom>
          <a:solidFill>
            <a:srgbClr val="1A2434"/>
          </a:solidFill>
          <a:ln w="12700">
            <a:solidFill>
              <a:srgbClr val="2B3B52"/>
            </a:solidFill>
            <a:prstDash val="solid"/>
          </a:ln>
        </p:spPr>
        <p:txBody>
          <a:bodyPr/>
          <a:lstStyle/>
          <a:p>
            <a:endParaRPr lang="es-CO"/>
          </a:p>
        </p:txBody>
      </p:sp>
      <p:sp>
        <p:nvSpPr>
          <p:cNvPr id="12" name="Text 10"/>
          <p:cNvSpPr txBox="1"/>
          <p:nvPr/>
        </p:nvSpPr>
        <p:spPr>
          <a:xfrm>
            <a:off x="731520" y="3840480"/>
            <a:ext cx="7680960" cy="658368"/>
          </a:xfrm>
          <a:prstGeom prst="rect">
            <a:avLst/>
          </a:prstGeom>
          <a:noFill/>
          <a:ln/>
        </p:spPr>
        <p:txBody>
          <a:bodyPr wrap="square" lIns="0" tIns="0" rIns="0" bIns="0" rtlCol="0" anchor="ctr"/>
          <a:lstStyle/>
          <a:p>
            <a:pPr marL="0" indent="0" algn="l">
              <a:buNone/>
            </a:pPr>
            <a:r>
              <a:rPr lang="en-US" sz="1100" dirty="0">
                <a:solidFill>
                  <a:srgbClr val="E8EEF6"/>
                </a:solidFill>
                <a:latin typeface="Calibri" pitchFamily="34" charset="0"/>
                <a:ea typeface="Calibri" pitchFamily="34" charset="-122"/>
                <a:cs typeface="Calibri" pitchFamily="34" charset="-120"/>
              </a:rPr>
              <a:t>Ambos fragmentos producen el mismo resultado en pantalla. &lt;div&gt; no es incorrecto: es un contenedor genérico y sigue siendo la opción adecuada cuando ningún elemento semántico describe mejor esa agrupación.</a:t>
            </a:r>
            <a:endParaRPr lang="en-US" sz="1100" dirty="0"/>
          </a:p>
        </p:txBody>
      </p:sp>
      <p:sp>
        <p:nvSpPr>
          <p:cNvPr id="14" name="Text 11"/>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05 / 20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9728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9728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ESTRUCTURA</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Estructura semántica de una página Web</a:t>
            </a:r>
            <a:endParaRPr lang="en-US" sz="2600" dirty="0"/>
          </a:p>
        </p:txBody>
      </p:sp>
      <p:sp>
        <p:nvSpPr>
          <p:cNvPr id="5" name="Shape 3"/>
          <p:cNvSpPr/>
          <p:nvPr/>
        </p:nvSpPr>
        <p:spPr>
          <a:xfrm>
            <a:off x="1005840" y="1371600"/>
            <a:ext cx="7132320" cy="384048"/>
          </a:xfrm>
          <a:prstGeom prst="roundRect">
            <a:avLst>
              <a:gd name="adj" fmla="val 14286"/>
            </a:avLst>
          </a:prstGeom>
          <a:solidFill>
            <a:srgbClr val="1A2434"/>
          </a:solidFill>
          <a:ln w="12700">
            <a:solidFill>
              <a:srgbClr val="3DDC97"/>
            </a:solidFill>
            <a:prstDash val="solid"/>
          </a:ln>
        </p:spPr>
        <p:txBody>
          <a:bodyPr/>
          <a:lstStyle/>
          <a:p>
            <a:endParaRPr lang="es-CO"/>
          </a:p>
        </p:txBody>
      </p:sp>
      <p:sp>
        <p:nvSpPr>
          <p:cNvPr id="6" name="Text 4"/>
          <p:cNvSpPr txBox="1"/>
          <p:nvPr/>
        </p:nvSpPr>
        <p:spPr>
          <a:xfrm>
            <a:off x="1115568" y="1371600"/>
            <a:ext cx="6912864" cy="384048"/>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&lt;header&gt;</a:t>
            </a:r>
            <a:endParaRPr lang="en-US" sz="1000" dirty="0"/>
          </a:p>
        </p:txBody>
      </p:sp>
      <p:sp>
        <p:nvSpPr>
          <p:cNvPr id="7" name="Shape 5"/>
          <p:cNvSpPr/>
          <p:nvPr/>
        </p:nvSpPr>
        <p:spPr>
          <a:xfrm>
            <a:off x="1005840" y="1810512"/>
            <a:ext cx="7132320" cy="365760"/>
          </a:xfrm>
          <a:prstGeom prst="roundRect">
            <a:avLst>
              <a:gd name="adj" fmla="val 15000"/>
            </a:avLst>
          </a:prstGeom>
          <a:solidFill>
            <a:srgbClr val="1A2434"/>
          </a:solidFill>
          <a:ln w="12700">
            <a:solidFill>
              <a:srgbClr val="56C7F2"/>
            </a:solidFill>
            <a:prstDash val="solid"/>
          </a:ln>
        </p:spPr>
        <p:txBody>
          <a:bodyPr/>
          <a:lstStyle/>
          <a:p>
            <a:endParaRPr lang="es-CO"/>
          </a:p>
        </p:txBody>
      </p:sp>
      <p:sp>
        <p:nvSpPr>
          <p:cNvPr id="8" name="Text 6"/>
          <p:cNvSpPr txBox="1"/>
          <p:nvPr/>
        </p:nvSpPr>
        <p:spPr>
          <a:xfrm>
            <a:off x="1115568" y="1810512"/>
            <a:ext cx="6912864" cy="365760"/>
          </a:xfrm>
          <a:prstGeom prst="rect">
            <a:avLst/>
          </a:prstGeom>
          <a:noFill/>
          <a:ln/>
        </p:spPr>
        <p:txBody>
          <a:bodyPr wrap="square" lIns="0" tIns="0" rIns="0" bIns="0" rtlCol="0" anchor="ctr"/>
          <a:lstStyle/>
          <a:p>
            <a:pPr marL="0" indent="0">
              <a:buNone/>
            </a:pPr>
            <a:r>
              <a:rPr lang="en-US" sz="1000" b="1" dirty="0">
                <a:solidFill>
                  <a:srgbClr val="56C7F2"/>
                </a:solidFill>
                <a:latin typeface="Courier New" pitchFamily="34" charset="0"/>
                <a:ea typeface="Courier New" pitchFamily="34" charset="-122"/>
                <a:cs typeface="Courier New" pitchFamily="34" charset="-120"/>
              </a:rPr>
              <a:t>&lt;nav&gt;</a:t>
            </a:r>
            <a:endParaRPr lang="en-US" sz="1000" dirty="0"/>
          </a:p>
        </p:txBody>
      </p:sp>
      <p:sp>
        <p:nvSpPr>
          <p:cNvPr id="9" name="Shape 7"/>
          <p:cNvSpPr/>
          <p:nvPr/>
        </p:nvSpPr>
        <p:spPr>
          <a:xfrm>
            <a:off x="1005840" y="2249424"/>
            <a:ext cx="5349240" cy="1316736"/>
          </a:xfrm>
          <a:prstGeom prst="roundRect">
            <a:avLst>
              <a:gd name="adj" fmla="val 4167"/>
            </a:avLst>
          </a:prstGeom>
          <a:solidFill>
            <a:srgbClr val="1A2434"/>
          </a:solidFill>
          <a:ln w="12700">
            <a:solidFill>
              <a:srgbClr val="3DDC97"/>
            </a:solidFill>
            <a:prstDash val="solid"/>
          </a:ln>
        </p:spPr>
        <p:txBody>
          <a:bodyPr/>
          <a:lstStyle/>
          <a:p>
            <a:endParaRPr lang="es-CO"/>
          </a:p>
        </p:txBody>
      </p:sp>
      <p:sp>
        <p:nvSpPr>
          <p:cNvPr id="10" name="Text 8"/>
          <p:cNvSpPr txBox="1"/>
          <p:nvPr/>
        </p:nvSpPr>
        <p:spPr>
          <a:xfrm>
            <a:off x="1115568" y="2304288"/>
            <a:ext cx="5129784" cy="237744"/>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&lt;main&gt;</a:t>
            </a:r>
            <a:endParaRPr lang="en-US" sz="1000" dirty="0"/>
          </a:p>
        </p:txBody>
      </p:sp>
      <p:sp>
        <p:nvSpPr>
          <p:cNvPr id="11" name="Shape 9"/>
          <p:cNvSpPr/>
          <p:nvPr/>
        </p:nvSpPr>
        <p:spPr>
          <a:xfrm>
            <a:off x="1188720" y="2578608"/>
            <a:ext cx="4983480" cy="914400"/>
          </a:xfrm>
          <a:prstGeom prst="roundRect">
            <a:avLst>
              <a:gd name="adj" fmla="val 6000"/>
            </a:avLst>
          </a:prstGeom>
          <a:solidFill>
            <a:srgbClr val="0E1522"/>
          </a:solidFill>
          <a:ln w="12700">
            <a:solidFill>
              <a:srgbClr val="56C7F2"/>
            </a:solidFill>
            <a:prstDash val="solid"/>
          </a:ln>
        </p:spPr>
        <p:txBody>
          <a:bodyPr/>
          <a:lstStyle/>
          <a:p>
            <a:endParaRPr lang="es-CO"/>
          </a:p>
        </p:txBody>
      </p:sp>
      <p:sp>
        <p:nvSpPr>
          <p:cNvPr id="12" name="Text 10"/>
          <p:cNvSpPr txBox="1"/>
          <p:nvPr/>
        </p:nvSpPr>
        <p:spPr>
          <a:xfrm>
            <a:off x="1298448" y="2633472"/>
            <a:ext cx="4764024" cy="237744"/>
          </a:xfrm>
          <a:prstGeom prst="rect">
            <a:avLst/>
          </a:prstGeom>
          <a:noFill/>
          <a:ln/>
        </p:spPr>
        <p:txBody>
          <a:bodyPr wrap="square" lIns="0" tIns="0" rIns="0" bIns="0" rtlCol="0" anchor="ctr"/>
          <a:lstStyle/>
          <a:p>
            <a:pPr marL="0" indent="0">
              <a:buNone/>
            </a:pPr>
            <a:r>
              <a:rPr lang="en-US" sz="1000" b="1" dirty="0">
                <a:solidFill>
                  <a:srgbClr val="56C7F2"/>
                </a:solidFill>
                <a:latin typeface="Courier New" pitchFamily="34" charset="0"/>
                <a:ea typeface="Courier New" pitchFamily="34" charset="-122"/>
                <a:cs typeface="Courier New" pitchFamily="34" charset="-120"/>
              </a:rPr>
              <a:t>&lt;section&gt;</a:t>
            </a:r>
            <a:endParaRPr lang="en-US" sz="1000" dirty="0"/>
          </a:p>
        </p:txBody>
      </p:sp>
      <p:sp>
        <p:nvSpPr>
          <p:cNvPr id="13" name="Shape 11"/>
          <p:cNvSpPr/>
          <p:nvPr/>
        </p:nvSpPr>
        <p:spPr>
          <a:xfrm>
            <a:off x="1371600" y="2926080"/>
            <a:ext cx="4617720" cy="457200"/>
          </a:xfrm>
          <a:prstGeom prst="roundRect">
            <a:avLst>
              <a:gd name="adj" fmla="val 12000"/>
            </a:avLst>
          </a:prstGeom>
          <a:solidFill>
            <a:srgbClr val="1A2434"/>
          </a:solidFill>
          <a:ln w="12700">
            <a:solidFill>
              <a:srgbClr val="FFB86C"/>
            </a:solidFill>
            <a:prstDash val="solid"/>
          </a:ln>
        </p:spPr>
        <p:txBody>
          <a:bodyPr/>
          <a:lstStyle/>
          <a:p>
            <a:endParaRPr lang="es-CO"/>
          </a:p>
        </p:txBody>
      </p:sp>
      <p:sp>
        <p:nvSpPr>
          <p:cNvPr id="14" name="Text 12"/>
          <p:cNvSpPr txBox="1"/>
          <p:nvPr/>
        </p:nvSpPr>
        <p:spPr>
          <a:xfrm>
            <a:off x="1481328" y="2926080"/>
            <a:ext cx="4398264" cy="457200"/>
          </a:xfrm>
          <a:prstGeom prst="rect">
            <a:avLst/>
          </a:prstGeom>
          <a:noFill/>
          <a:ln/>
        </p:spPr>
        <p:txBody>
          <a:bodyPr wrap="square" lIns="0" tIns="0" rIns="0" bIns="0" rtlCol="0" anchor="ctr"/>
          <a:lstStyle/>
          <a:p>
            <a:pPr marL="0" indent="0">
              <a:buNone/>
            </a:pPr>
            <a:r>
              <a:rPr lang="en-US" sz="1000" b="1" dirty="0">
                <a:solidFill>
                  <a:srgbClr val="FFB86C"/>
                </a:solidFill>
                <a:latin typeface="Courier New" pitchFamily="34" charset="0"/>
                <a:ea typeface="Courier New" pitchFamily="34" charset="-122"/>
                <a:cs typeface="Courier New" pitchFamily="34" charset="-120"/>
              </a:rPr>
              <a:t>&lt;article&gt;</a:t>
            </a:r>
            <a:endParaRPr lang="en-US" sz="1000" dirty="0"/>
          </a:p>
        </p:txBody>
      </p:sp>
      <p:sp>
        <p:nvSpPr>
          <p:cNvPr id="15" name="Shape 13"/>
          <p:cNvSpPr/>
          <p:nvPr/>
        </p:nvSpPr>
        <p:spPr>
          <a:xfrm>
            <a:off x="6492240" y="2249424"/>
            <a:ext cx="1645920" cy="1316736"/>
          </a:xfrm>
          <a:prstGeom prst="roundRect">
            <a:avLst>
              <a:gd name="adj" fmla="val 4167"/>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6601968" y="2304288"/>
            <a:ext cx="1426464" cy="237744"/>
          </a:xfrm>
          <a:prstGeom prst="rect">
            <a:avLst/>
          </a:prstGeom>
          <a:noFill/>
          <a:ln/>
        </p:spPr>
        <p:txBody>
          <a:bodyPr wrap="square" lIns="0" tIns="0" rIns="0" bIns="0" rtlCol="0" anchor="ctr"/>
          <a:lstStyle/>
          <a:p>
            <a:pPr marL="0" indent="0">
              <a:buNone/>
            </a:pPr>
            <a:r>
              <a:rPr lang="en-US" sz="1000" b="1" dirty="0">
                <a:solidFill>
                  <a:srgbClr val="FFB86C"/>
                </a:solidFill>
                <a:latin typeface="Courier New" pitchFamily="34" charset="0"/>
                <a:ea typeface="Courier New" pitchFamily="34" charset="-122"/>
                <a:cs typeface="Courier New" pitchFamily="34" charset="-120"/>
              </a:rPr>
              <a:t>&lt;aside&gt;</a:t>
            </a:r>
            <a:endParaRPr lang="en-US" sz="1000" dirty="0"/>
          </a:p>
        </p:txBody>
      </p:sp>
      <p:sp>
        <p:nvSpPr>
          <p:cNvPr id="17" name="Shape 15"/>
          <p:cNvSpPr/>
          <p:nvPr/>
        </p:nvSpPr>
        <p:spPr>
          <a:xfrm>
            <a:off x="1005840" y="3639312"/>
            <a:ext cx="7132320" cy="365760"/>
          </a:xfrm>
          <a:prstGeom prst="roundRect">
            <a:avLst>
              <a:gd name="adj" fmla="val 15000"/>
            </a:avLst>
          </a:prstGeom>
          <a:solidFill>
            <a:srgbClr val="1A2434"/>
          </a:solidFill>
          <a:ln w="12700">
            <a:solidFill>
              <a:srgbClr val="3DDC97"/>
            </a:solidFill>
            <a:prstDash val="solid"/>
          </a:ln>
        </p:spPr>
        <p:txBody>
          <a:bodyPr/>
          <a:lstStyle/>
          <a:p>
            <a:endParaRPr lang="es-CO"/>
          </a:p>
        </p:txBody>
      </p:sp>
      <p:sp>
        <p:nvSpPr>
          <p:cNvPr id="18" name="Text 16"/>
          <p:cNvSpPr txBox="1"/>
          <p:nvPr/>
        </p:nvSpPr>
        <p:spPr>
          <a:xfrm>
            <a:off x="1115568" y="3639312"/>
            <a:ext cx="6912864" cy="365760"/>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&lt;footer&gt;</a:t>
            </a:r>
            <a:endParaRPr lang="en-US" sz="1000" dirty="0"/>
          </a:p>
        </p:txBody>
      </p:sp>
      <p:sp>
        <p:nvSpPr>
          <p:cNvPr id="19" name="Text 17"/>
          <p:cNvSpPr txBox="1"/>
          <p:nvPr/>
        </p:nvSpPr>
        <p:spPr>
          <a:xfrm>
            <a:off x="502920" y="416052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Cada región declara su función dentro del documento. El resultado visual sigue dependiendo del navegador; lo que cambia es la información estructural declarada.</a:t>
            </a:r>
            <a:endParaRPr lang="en-US" sz="1100" dirty="0"/>
          </a:p>
        </p:txBody>
      </p:sp>
      <p:sp>
        <p:nvSpPr>
          <p:cNvPr id="21" name="Text 18"/>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06 / 20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5156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5156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ELEMENTOS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header y nav</a:t>
            </a:r>
            <a:endParaRPr lang="en-US" sz="2600" dirty="0"/>
          </a:p>
        </p:txBody>
      </p:sp>
      <p:sp>
        <p:nvSpPr>
          <p:cNvPr id="5" name="Shape 3"/>
          <p:cNvSpPr/>
          <p:nvPr/>
        </p:nvSpPr>
        <p:spPr>
          <a:xfrm>
            <a:off x="502920" y="1316736"/>
            <a:ext cx="3977640" cy="2377440"/>
          </a:xfrm>
          <a:prstGeom prst="roundRect">
            <a:avLst>
              <a:gd name="adj" fmla="val 3077"/>
            </a:avLst>
          </a:prstGeom>
          <a:solidFill>
            <a:srgbClr val="1A2434"/>
          </a:solidFill>
          <a:ln w="12700">
            <a:solidFill>
              <a:srgbClr val="3DDC97"/>
            </a:solidFill>
            <a:prstDash val="solid"/>
          </a:ln>
        </p:spPr>
        <p:txBody>
          <a:bodyPr/>
          <a:lstStyle/>
          <a:p>
            <a:endParaRPr lang="es-CO"/>
          </a:p>
        </p:txBody>
      </p:sp>
      <p:sp>
        <p:nvSpPr>
          <p:cNvPr id="6" name="Text 4"/>
          <p:cNvSpPr txBox="1"/>
          <p:nvPr/>
        </p:nvSpPr>
        <p:spPr>
          <a:xfrm>
            <a:off x="731520" y="1481328"/>
            <a:ext cx="3520440" cy="219456"/>
          </a:xfrm>
          <a:prstGeom prst="rect">
            <a:avLst/>
          </a:prstGeom>
          <a:noFill/>
          <a:ln/>
        </p:spPr>
        <p:txBody>
          <a:bodyPr wrap="square" lIns="0" tIns="0" rIns="0" bIns="0" rtlCol="0" anchor="ctr"/>
          <a:lstStyle/>
          <a:p>
            <a:pPr marL="0" indent="0">
              <a:buNone/>
            </a:pPr>
            <a:r>
              <a:rPr lang="en-US" sz="1300" b="1" dirty="0">
                <a:solidFill>
                  <a:srgbClr val="3DDC97"/>
                </a:solidFill>
                <a:latin typeface="Courier New" pitchFamily="34" charset="0"/>
                <a:ea typeface="Courier New" pitchFamily="34" charset="-122"/>
                <a:cs typeface="Courier New" pitchFamily="34" charset="-120"/>
              </a:rPr>
              <a:t>&lt;header&gt;</a:t>
            </a:r>
            <a:endParaRPr lang="en-US" sz="1300" dirty="0"/>
          </a:p>
        </p:txBody>
      </p:sp>
      <p:sp>
        <p:nvSpPr>
          <p:cNvPr id="7" name="Text 5"/>
          <p:cNvSpPr txBox="1"/>
          <p:nvPr/>
        </p:nvSpPr>
        <p:spPr>
          <a:xfrm>
            <a:off x="731520" y="1792224"/>
            <a:ext cx="3520440" cy="713232"/>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Contiene el encabezado del documento o de una sección: título, identificación institucional o elementos introductorios.</a:t>
            </a:r>
            <a:endParaRPr lang="en-US" sz="1050" dirty="0"/>
          </a:p>
        </p:txBody>
      </p:sp>
      <p:sp>
        <p:nvSpPr>
          <p:cNvPr id="8" name="Shape 6"/>
          <p:cNvSpPr/>
          <p:nvPr/>
        </p:nvSpPr>
        <p:spPr>
          <a:xfrm>
            <a:off x="731520" y="2578608"/>
            <a:ext cx="3520440" cy="932688"/>
          </a:xfrm>
          <a:prstGeom prst="roundRect">
            <a:avLst>
              <a:gd name="adj" fmla="val 7843"/>
            </a:avLst>
          </a:prstGeom>
          <a:solidFill>
            <a:srgbClr val="070C14"/>
          </a:solidFill>
          <a:ln w="12700">
            <a:solidFill>
              <a:srgbClr val="2B3B52"/>
            </a:solidFill>
            <a:prstDash val="solid"/>
          </a:ln>
        </p:spPr>
        <p:txBody>
          <a:bodyPr/>
          <a:lstStyle/>
          <a:p>
            <a:endParaRPr lang="es-CO"/>
          </a:p>
        </p:txBody>
      </p:sp>
      <p:sp>
        <p:nvSpPr>
          <p:cNvPr id="9" name="Text 7"/>
          <p:cNvSpPr txBox="1"/>
          <p:nvPr/>
        </p:nvSpPr>
        <p:spPr>
          <a:xfrm>
            <a:off x="877824" y="2633472"/>
            <a:ext cx="3227832" cy="804672"/>
          </a:xfrm>
          <a:prstGeom prst="rect">
            <a:avLst/>
          </a:prstGeom>
          <a:noFill/>
          <a:ln/>
        </p:spPr>
        <p:txBody>
          <a:bodyPr wrap="square" lIns="0" tIns="0" rIns="0" bIns="0" rtlCol="0" anchor="t"/>
          <a:lstStyle/>
          <a:p>
            <a:pPr marL="0" indent="0">
              <a:lnSpc>
                <a:spcPts val="1200"/>
              </a:lnSpc>
              <a:buNone/>
            </a:pPr>
            <a:r>
              <a:rPr lang="en-US" sz="900" dirty="0">
                <a:solidFill>
                  <a:srgbClr val="3DDC97"/>
                </a:solidFill>
                <a:latin typeface="Courier New" pitchFamily="34" charset="0"/>
                <a:ea typeface="Courier New" pitchFamily="34" charset="-122"/>
                <a:cs typeface="Courier New" pitchFamily="34" charset="-120"/>
              </a:rPr>
              <a:t>&lt;header&gt;</a:t>
            </a:r>
            <a:endParaRPr lang="en-US" sz="900" dirty="0"/>
          </a:p>
          <a:p>
            <a:pPr marL="0" indent="0">
              <a:lnSpc>
                <a:spcPts val="1200"/>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3DDC97"/>
                </a:solidFill>
                <a:latin typeface="Courier New" pitchFamily="34" charset="0"/>
                <a:ea typeface="Courier New" pitchFamily="34" charset="-122"/>
                <a:cs typeface="Courier New" pitchFamily="34" charset="-120"/>
              </a:rPr>
              <a:t>&lt;h1&gt;</a:t>
            </a:r>
            <a:r>
              <a:rPr lang="en-US" sz="900" dirty="0">
                <a:solidFill>
                  <a:srgbClr val="D7E1EE"/>
                </a:solidFill>
                <a:latin typeface="Courier New" pitchFamily="34" charset="0"/>
                <a:ea typeface="Courier New" pitchFamily="34" charset="-122"/>
                <a:cs typeface="Courier New" pitchFamily="34" charset="-120"/>
              </a:rPr>
              <a:t>Ingeniería Web</a:t>
            </a:r>
            <a:r>
              <a:rPr lang="en-US" sz="900" dirty="0">
                <a:solidFill>
                  <a:srgbClr val="3DDC97"/>
                </a:solidFill>
                <a:latin typeface="Courier New" pitchFamily="34" charset="0"/>
                <a:ea typeface="Courier New" pitchFamily="34" charset="-122"/>
                <a:cs typeface="Courier New" pitchFamily="34" charset="-120"/>
              </a:rPr>
              <a:t>&lt;/h1&gt;</a:t>
            </a:r>
            <a:endParaRPr lang="en-US" sz="900" dirty="0"/>
          </a:p>
          <a:p>
            <a:pPr marL="0" indent="0">
              <a:lnSpc>
                <a:spcPts val="1200"/>
              </a:lnSpc>
              <a:buNone/>
            </a:pPr>
            <a:r>
              <a:rPr lang="en-US" sz="900" dirty="0">
                <a:solidFill>
                  <a:srgbClr val="3DDC97"/>
                </a:solidFill>
                <a:latin typeface="Courier New" pitchFamily="34" charset="0"/>
                <a:ea typeface="Courier New" pitchFamily="34" charset="-122"/>
                <a:cs typeface="Courier New" pitchFamily="34" charset="-120"/>
              </a:rPr>
              <a:t>&lt;/header&gt;</a:t>
            </a:r>
            <a:endParaRPr lang="en-US" sz="900" dirty="0"/>
          </a:p>
        </p:txBody>
      </p:sp>
      <p:sp>
        <p:nvSpPr>
          <p:cNvPr id="10" name="Shape 8"/>
          <p:cNvSpPr/>
          <p:nvPr/>
        </p:nvSpPr>
        <p:spPr>
          <a:xfrm>
            <a:off x="4663440" y="1316736"/>
            <a:ext cx="3977640" cy="2377440"/>
          </a:xfrm>
          <a:prstGeom prst="roundRect">
            <a:avLst>
              <a:gd name="adj" fmla="val 3077"/>
            </a:avLst>
          </a:prstGeom>
          <a:solidFill>
            <a:srgbClr val="1A2434"/>
          </a:solidFill>
          <a:ln w="12700">
            <a:solidFill>
              <a:srgbClr val="56C7F2"/>
            </a:solidFill>
            <a:prstDash val="solid"/>
          </a:ln>
        </p:spPr>
        <p:txBody>
          <a:bodyPr/>
          <a:lstStyle/>
          <a:p>
            <a:endParaRPr lang="es-CO"/>
          </a:p>
        </p:txBody>
      </p:sp>
      <p:sp>
        <p:nvSpPr>
          <p:cNvPr id="11" name="Text 9"/>
          <p:cNvSpPr txBox="1"/>
          <p:nvPr/>
        </p:nvSpPr>
        <p:spPr>
          <a:xfrm>
            <a:off x="4892040" y="1481328"/>
            <a:ext cx="3520440" cy="219456"/>
          </a:xfrm>
          <a:prstGeom prst="rect">
            <a:avLst/>
          </a:prstGeom>
          <a:noFill/>
          <a:ln/>
        </p:spPr>
        <p:txBody>
          <a:bodyPr wrap="square" lIns="0" tIns="0" rIns="0" bIns="0" rtlCol="0" anchor="ctr"/>
          <a:lstStyle/>
          <a:p>
            <a:pPr marL="0" indent="0">
              <a:buNone/>
            </a:pPr>
            <a:r>
              <a:rPr lang="en-US" sz="1300" b="1" dirty="0">
                <a:solidFill>
                  <a:srgbClr val="56C7F2"/>
                </a:solidFill>
                <a:latin typeface="Courier New" pitchFamily="34" charset="0"/>
                <a:ea typeface="Courier New" pitchFamily="34" charset="-122"/>
                <a:cs typeface="Courier New" pitchFamily="34" charset="-120"/>
              </a:rPr>
              <a:t>&lt;nav&gt;</a:t>
            </a:r>
            <a:endParaRPr lang="en-US" sz="1300" dirty="0"/>
          </a:p>
        </p:txBody>
      </p:sp>
      <p:sp>
        <p:nvSpPr>
          <p:cNvPr id="12" name="Text 10"/>
          <p:cNvSpPr txBox="1"/>
          <p:nvPr/>
        </p:nvSpPr>
        <p:spPr>
          <a:xfrm>
            <a:off x="4892040" y="1792224"/>
            <a:ext cx="3520440" cy="713232"/>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Agrupa los enlaces de navegación principales. Declara que ese conjunto de enlaces cumple una función de navegación.</a:t>
            </a:r>
            <a:endParaRPr lang="en-US" sz="1050" dirty="0"/>
          </a:p>
        </p:txBody>
      </p:sp>
      <p:sp>
        <p:nvSpPr>
          <p:cNvPr id="13" name="Shape 11"/>
          <p:cNvSpPr/>
          <p:nvPr/>
        </p:nvSpPr>
        <p:spPr>
          <a:xfrm>
            <a:off x="4892040" y="2578608"/>
            <a:ext cx="3520440" cy="932688"/>
          </a:xfrm>
          <a:prstGeom prst="roundRect">
            <a:avLst>
              <a:gd name="adj" fmla="val 7843"/>
            </a:avLst>
          </a:prstGeom>
          <a:solidFill>
            <a:srgbClr val="070C14"/>
          </a:solidFill>
          <a:ln w="12700">
            <a:solidFill>
              <a:srgbClr val="2B3B52"/>
            </a:solidFill>
            <a:prstDash val="solid"/>
          </a:ln>
        </p:spPr>
        <p:txBody>
          <a:bodyPr/>
          <a:lstStyle/>
          <a:p>
            <a:endParaRPr lang="es-CO"/>
          </a:p>
        </p:txBody>
      </p:sp>
      <p:sp>
        <p:nvSpPr>
          <p:cNvPr id="14" name="Text 12"/>
          <p:cNvSpPr txBox="1"/>
          <p:nvPr/>
        </p:nvSpPr>
        <p:spPr>
          <a:xfrm>
            <a:off x="5038344" y="2633472"/>
            <a:ext cx="3227832" cy="804672"/>
          </a:xfrm>
          <a:prstGeom prst="rect">
            <a:avLst/>
          </a:prstGeom>
          <a:noFill/>
          <a:ln/>
        </p:spPr>
        <p:txBody>
          <a:bodyPr wrap="square" lIns="0" tIns="0" rIns="0" bIns="0" rtlCol="0" anchor="t"/>
          <a:lstStyle/>
          <a:p>
            <a:pPr marL="0" indent="0">
              <a:lnSpc>
                <a:spcPts val="1200"/>
              </a:lnSpc>
              <a:buNone/>
            </a:pPr>
            <a:r>
              <a:rPr lang="en-US" sz="900" dirty="0">
                <a:solidFill>
                  <a:srgbClr val="3DDC97"/>
                </a:solidFill>
                <a:latin typeface="Courier New" pitchFamily="34" charset="0"/>
                <a:ea typeface="Courier New" pitchFamily="34" charset="-122"/>
                <a:cs typeface="Courier New" pitchFamily="34" charset="-120"/>
              </a:rPr>
              <a:t>&lt;nav&gt;</a:t>
            </a:r>
            <a:endParaRPr lang="en-US" sz="900" dirty="0"/>
          </a:p>
          <a:p>
            <a:pPr marL="0" indent="0">
              <a:lnSpc>
                <a:spcPts val="1200"/>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3DDC97"/>
                </a:solidFill>
                <a:latin typeface="Courier New" pitchFamily="34" charset="0"/>
                <a:ea typeface="Courier New" pitchFamily="34" charset="-122"/>
                <a:cs typeface="Courier New" pitchFamily="34" charset="-120"/>
              </a:rPr>
              <a:t>&lt;a</a:t>
            </a:r>
            <a:r>
              <a:rPr lang="en-US" sz="900" dirty="0">
                <a:solidFill>
                  <a:srgbClr val="FFB86C"/>
                </a:solidFill>
                <a:latin typeface="Courier New" pitchFamily="34" charset="0"/>
                <a:ea typeface="Courier New" pitchFamily="34" charset="-122"/>
                <a:cs typeface="Courier New" pitchFamily="34" charset="-120"/>
              </a:rPr>
              <a:t> href=</a:t>
            </a:r>
            <a:r>
              <a:rPr lang="en-US" sz="900" dirty="0">
                <a:solidFill>
                  <a:srgbClr val="FFD479"/>
                </a:solidFill>
                <a:latin typeface="Courier New" pitchFamily="34" charset="0"/>
                <a:ea typeface="Courier New" pitchFamily="34" charset="-122"/>
                <a:cs typeface="Courier New" pitchFamily="34" charset="-120"/>
              </a:rPr>
              <a:t>"/"</a:t>
            </a:r>
            <a:r>
              <a:rPr lang="en-US" sz="900" dirty="0">
                <a:solidFill>
                  <a:srgbClr val="3DDC97"/>
                </a:solidFill>
                <a:latin typeface="Courier New" pitchFamily="34" charset="0"/>
                <a:ea typeface="Courier New" pitchFamily="34" charset="-122"/>
                <a:cs typeface="Courier New" pitchFamily="34" charset="-120"/>
              </a:rPr>
              <a:t>&gt;</a:t>
            </a:r>
            <a:r>
              <a:rPr lang="en-US" sz="900" dirty="0">
                <a:solidFill>
                  <a:srgbClr val="D7E1EE"/>
                </a:solidFill>
                <a:latin typeface="Courier New" pitchFamily="34" charset="0"/>
                <a:ea typeface="Courier New" pitchFamily="34" charset="-122"/>
                <a:cs typeface="Courier New" pitchFamily="34" charset="-120"/>
              </a:rPr>
              <a:t>Inicio</a:t>
            </a:r>
            <a:r>
              <a:rPr lang="en-US" sz="900" dirty="0">
                <a:solidFill>
                  <a:srgbClr val="3DDC97"/>
                </a:solidFill>
                <a:latin typeface="Courier New" pitchFamily="34" charset="0"/>
                <a:ea typeface="Courier New" pitchFamily="34" charset="-122"/>
                <a:cs typeface="Courier New" pitchFamily="34" charset="-120"/>
              </a:rPr>
              <a:t>&lt;/a&gt;</a:t>
            </a:r>
            <a:endParaRPr lang="en-US" sz="900" dirty="0"/>
          </a:p>
          <a:p>
            <a:pPr marL="0" indent="0">
              <a:lnSpc>
                <a:spcPts val="1200"/>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3DDC97"/>
                </a:solidFill>
                <a:latin typeface="Courier New" pitchFamily="34" charset="0"/>
                <a:ea typeface="Courier New" pitchFamily="34" charset="-122"/>
                <a:cs typeface="Courier New" pitchFamily="34" charset="-120"/>
              </a:rPr>
              <a:t>&lt;a</a:t>
            </a:r>
            <a:r>
              <a:rPr lang="en-US" sz="900" dirty="0">
                <a:solidFill>
                  <a:srgbClr val="FFB86C"/>
                </a:solidFill>
                <a:latin typeface="Courier New" pitchFamily="34" charset="0"/>
                <a:ea typeface="Courier New" pitchFamily="34" charset="-122"/>
                <a:cs typeface="Courier New" pitchFamily="34" charset="-120"/>
              </a:rPr>
              <a:t> href=</a:t>
            </a:r>
            <a:r>
              <a:rPr lang="en-US" sz="900" dirty="0">
                <a:solidFill>
                  <a:srgbClr val="FFD479"/>
                </a:solidFill>
                <a:latin typeface="Courier New" pitchFamily="34" charset="0"/>
                <a:ea typeface="Courier New" pitchFamily="34" charset="-122"/>
                <a:cs typeface="Courier New" pitchFamily="34" charset="-120"/>
              </a:rPr>
              <a:t>"/servicios"</a:t>
            </a:r>
            <a:r>
              <a:rPr lang="en-US" sz="900" dirty="0">
                <a:solidFill>
                  <a:srgbClr val="3DDC97"/>
                </a:solidFill>
                <a:latin typeface="Courier New" pitchFamily="34" charset="0"/>
                <a:ea typeface="Courier New" pitchFamily="34" charset="-122"/>
                <a:cs typeface="Courier New" pitchFamily="34" charset="-120"/>
              </a:rPr>
              <a:t>&gt;</a:t>
            </a:r>
            <a:r>
              <a:rPr lang="en-US" sz="900" dirty="0">
                <a:solidFill>
                  <a:srgbClr val="D7E1EE"/>
                </a:solidFill>
                <a:latin typeface="Courier New" pitchFamily="34" charset="0"/>
                <a:ea typeface="Courier New" pitchFamily="34" charset="-122"/>
                <a:cs typeface="Courier New" pitchFamily="34" charset="-120"/>
              </a:rPr>
              <a:t>Servicios</a:t>
            </a:r>
            <a:r>
              <a:rPr lang="en-US" sz="900" dirty="0">
                <a:solidFill>
                  <a:srgbClr val="3DDC97"/>
                </a:solidFill>
                <a:latin typeface="Courier New" pitchFamily="34" charset="0"/>
                <a:ea typeface="Courier New" pitchFamily="34" charset="-122"/>
                <a:cs typeface="Courier New" pitchFamily="34" charset="-120"/>
              </a:rPr>
              <a:t>&lt;/a&gt;</a:t>
            </a:r>
            <a:endParaRPr lang="en-US" sz="900" dirty="0"/>
          </a:p>
          <a:p>
            <a:pPr marL="0" indent="0">
              <a:lnSpc>
                <a:spcPts val="1200"/>
              </a:lnSpc>
              <a:buNone/>
            </a:pPr>
            <a:r>
              <a:rPr lang="en-US" sz="900" dirty="0">
                <a:solidFill>
                  <a:srgbClr val="3DDC97"/>
                </a:solidFill>
                <a:latin typeface="Courier New" pitchFamily="34" charset="0"/>
                <a:ea typeface="Courier New" pitchFamily="34" charset="-122"/>
                <a:cs typeface="Courier New" pitchFamily="34" charset="-120"/>
              </a:rPr>
              <a:t>&lt;/nav&gt;</a:t>
            </a:r>
            <a:endParaRPr lang="en-US" sz="900" dirty="0"/>
          </a:p>
        </p:txBody>
      </p:sp>
      <p:sp>
        <p:nvSpPr>
          <p:cNvPr id="15" name="Text 13"/>
          <p:cNvSpPr txBox="1"/>
          <p:nvPr/>
        </p:nvSpPr>
        <p:spPr>
          <a:xfrm>
            <a:off x="502920" y="388620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Un documento puede contener varios header; nav se reserva para los bloques de navegación relevantes, no para cualquier lista de enlaces.</a:t>
            </a:r>
            <a:endParaRPr lang="en-US" sz="1100" dirty="0"/>
          </a:p>
        </p:txBody>
      </p:sp>
      <p:sp>
        <p:nvSpPr>
          <p:cNvPr id="17" name="Text 14"/>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07 / 20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5156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5156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ELEMENTOS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main, section y article</a:t>
            </a:r>
            <a:endParaRPr lang="en-US" sz="2600" dirty="0"/>
          </a:p>
        </p:txBody>
      </p:sp>
      <p:sp>
        <p:nvSpPr>
          <p:cNvPr id="5" name="Shape 3"/>
          <p:cNvSpPr/>
          <p:nvPr/>
        </p:nvSpPr>
        <p:spPr>
          <a:xfrm>
            <a:off x="502920" y="1371600"/>
            <a:ext cx="2560320" cy="2194560"/>
          </a:xfrm>
          <a:prstGeom prst="roundRect">
            <a:avLst>
              <a:gd name="adj" fmla="val 3333"/>
            </a:avLst>
          </a:prstGeom>
          <a:solidFill>
            <a:srgbClr val="1A2434"/>
          </a:solidFill>
          <a:ln w="12700">
            <a:solidFill>
              <a:srgbClr val="3DDC97"/>
            </a:solidFill>
            <a:prstDash val="solid"/>
          </a:ln>
        </p:spPr>
        <p:txBody>
          <a:bodyPr/>
          <a:lstStyle/>
          <a:p>
            <a:endParaRPr lang="es-CO"/>
          </a:p>
        </p:txBody>
      </p:sp>
      <p:sp>
        <p:nvSpPr>
          <p:cNvPr id="6" name="Text 4"/>
          <p:cNvSpPr txBox="1"/>
          <p:nvPr/>
        </p:nvSpPr>
        <p:spPr>
          <a:xfrm>
            <a:off x="704088" y="1536192"/>
            <a:ext cx="2194560" cy="219456"/>
          </a:xfrm>
          <a:prstGeom prst="rect">
            <a:avLst/>
          </a:prstGeom>
          <a:noFill/>
          <a:ln/>
        </p:spPr>
        <p:txBody>
          <a:bodyPr wrap="square" lIns="0" tIns="0" rIns="0" bIns="0" rtlCol="0" anchor="ctr"/>
          <a:lstStyle/>
          <a:p>
            <a:pPr marL="0" indent="0">
              <a:buNone/>
            </a:pPr>
            <a:r>
              <a:rPr lang="en-US" sz="1250" b="1" dirty="0">
                <a:solidFill>
                  <a:srgbClr val="3DDC97"/>
                </a:solidFill>
                <a:latin typeface="Courier New" pitchFamily="34" charset="0"/>
                <a:ea typeface="Courier New" pitchFamily="34" charset="-122"/>
                <a:cs typeface="Courier New" pitchFamily="34" charset="-120"/>
              </a:rPr>
              <a:t>&lt;main&gt;</a:t>
            </a:r>
            <a:endParaRPr lang="en-US" sz="1250" dirty="0"/>
          </a:p>
        </p:txBody>
      </p:sp>
      <p:sp>
        <p:nvSpPr>
          <p:cNvPr id="7" name="Text 5"/>
          <p:cNvSpPr txBox="1"/>
          <p:nvPr/>
        </p:nvSpPr>
        <p:spPr>
          <a:xfrm>
            <a:off x="704088" y="1828800"/>
            <a:ext cx="2194560" cy="822960"/>
          </a:xfrm>
          <a:prstGeom prst="rect">
            <a:avLst/>
          </a:prstGeom>
          <a:noFill/>
          <a:ln/>
        </p:spPr>
        <p:txBody>
          <a:bodyPr wrap="square" lIns="0" tIns="0" rIns="0" bIns="0" rtlCol="0" anchor="t"/>
          <a:lstStyle/>
          <a:p>
            <a:pPr marL="0" indent="0" algn="l">
              <a:buNone/>
            </a:pPr>
            <a:r>
              <a:rPr lang="en-US" sz="1000" dirty="0">
                <a:solidFill>
                  <a:srgbClr val="E8EEF6"/>
                </a:solidFill>
                <a:latin typeface="Calibri" pitchFamily="34" charset="0"/>
                <a:ea typeface="Calibri" pitchFamily="34" charset="-122"/>
                <a:cs typeface="Calibri" pitchFamily="34" charset="-120"/>
              </a:rPr>
              <a:t>Contenido principal del documento. Se declara una sola vez por página.</a:t>
            </a:r>
            <a:endParaRPr lang="en-US" sz="1000" dirty="0"/>
          </a:p>
        </p:txBody>
      </p:sp>
      <p:sp>
        <p:nvSpPr>
          <p:cNvPr id="8" name="Shape 6"/>
          <p:cNvSpPr/>
          <p:nvPr/>
        </p:nvSpPr>
        <p:spPr>
          <a:xfrm>
            <a:off x="704088" y="2724912"/>
            <a:ext cx="2194560" cy="621792"/>
          </a:xfrm>
          <a:prstGeom prst="roundRect">
            <a:avLst>
              <a:gd name="adj" fmla="val 11765"/>
            </a:avLst>
          </a:prstGeom>
          <a:solidFill>
            <a:srgbClr val="070C14"/>
          </a:solidFill>
          <a:ln w="12700">
            <a:solidFill>
              <a:srgbClr val="2B3B52"/>
            </a:solidFill>
            <a:prstDash val="solid"/>
          </a:ln>
        </p:spPr>
        <p:txBody>
          <a:bodyPr/>
          <a:lstStyle/>
          <a:p>
            <a:endParaRPr lang="es-CO"/>
          </a:p>
        </p:txBody>
      </p:sp>
      <p:sp>
        <p:nvSpPr>
          <p:cNvPr id="9" name="Text 7"/>
          <p:cNvSpPr txBox="1"/>
          <p:nvPr/>
        </p:nvSpPr>
        <p:spPr>
          <a:xfrm>
            <a:off x="850392" y="2779776"/>
            <a:ext cx="1901952" cy="493776"/>
          </a:xfrm>
          <a:prstGeom prst="rect">
            <a:avLst/>
          </a:prstGeom>
          <a:noFill/>
          <a:ln/>
        </p:spPr>
        <p:txBody>
          <a:bodyPr wrap="square" lIns="0" tIns="0" rIns="0" bIns="0" rtlCol="0" anchor="t"/>
          <a:lstStyle/>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&lt;main&gt;</a:t>
            </a:r>
            <a:endParaRPr lang="en-US" sz="850" dirty="0"/>
          </a:p>
          <a:p>
            <a:pPr marL="0" indent="0">
              <a:lnSpc>
                <a:spcPts val="1100"/>
              </a:lnSpc>
              <a:buNone/>
            </a:pPr>
            <a:r>
              <a:rPr lang="en-US" sz="850" dirty="0">
                <a:solidFill>
                  <a:srgbClr val="D7E1EE"/>
                </a:solidFill>
                <a:latin typeface="Courier New" pitchFamily="34" charset="0"/>
                <a:ea typeface="Courier New" pitchFamily="34" charset="-122"/>
                <a:cs typeface="Courier New" pitchFamily="34" charset="-120"/>
              </a:rPr>
              <a:t>    ...</a:t>
            </a:r>
            <a:endParaRPr lang="en-US" sz="850" dirty="0"/>
          </a:p>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&lt;/main&gt;</a:t>
            </a:r>
            <a:endParaRPr lang="en-US" sz="850" dirty="0"/>
          </a:p>
        </p:txBody>
      </p:sp>
      <p:sp>
        <p:nvSpPr>
          <p:cNvPr id="10" name="Shape 8"/>
          <p:cNvSpPr/>
          <p:nvPr/>
        </p:nvSpPr>
        <p:spPr>
          <a:xfrm>
            <a:off x="3291840" y="1371600"/>
            <a:ext cx="2560320" cy="2194560"/>
          </a:xfrm>
          <a:prstGeom prst="roundRect">
            <a:avLst>
              <a:gd name="adj" fmla="val 3333"/>
            </a:avLst>
          </a:prstGeom>
          <a:solidFill>
            <a:srgbClr val="1A2434"/>
          </a:solidFill>
          <a:ln w="12700">
            <a:solidFill>
              <a:srgbClr val="56C7F2"/>
            </a:solidFill>
            <a:prstDash val="solid"/>
          </a:ln>
        </p:spPr>
        <p:txBody>
          <a:bodyPr/>
          <a:lstStyle/>
          <a:p>
            <a:endParaRPr lang="es-CO"/>
          </a:p>
        </p:txBody>
      </p:sp>
      <p:sp>
        <p:nvSpPr>
          <p:cNvPr id="11" name="Text 9"/>
          <p:cNvSpPr txBox="1"/>
          <p:nvPr/>
        </p:nvSpPr>
        <p:spPr>
          <a:xfrm>
            <a:off x="3493008" y="1536192"/>
            <a:ext cx="2194560" cy="219456"/>
          </a:xfrm>
          <a:prstGeom prst="rect">
            <a:avLst/>
          </a:prstGeom>
          <a:noFill/>
          <a:ln/>
        </p:spPr>
        <p:txBody>
          <a:bodyPr wrap="square" lIns="0" tIns="0" rIns="0" bIns="0" rtlCol="0" anchor="ctr"/>
          <a:lstStyle/>
          <a:p>
            <a:pPr marL="0" indent="0">
              <a:buNone/>
            </a:pPr>
            <a:r>
              <a:rPr lang="en-US" sz="1250" b="1" dirty="0">
                <a:solidFill>
                  <a:srgbClr val="56C7F2"/>
                </a:solidFill>
                <a:latin typeface="Courier New" pitchFamily="34" charset="0"/>
                <a:ea typeface="Courier New" pitchFamily="34" charset="-122"/>
                <a:cs typeface="Courier New" pitchFamily="34" charset="-120"/>
              </a:rPr>
              <a:t>&lt;section&gt;</a:t>
            </a:r>
            <a:endParaRPr lang="en-US" sz="1250" dirty="0"/>
          </a:p>
        </p:txBody>
      </p:sp>
      <p:sp>
        <p:nvSpPr>
          <p:cNvPr id="12" name="Text 10"/>
          <p:cNvSpPr txBox="1"/>
          <p:nvPr/>
        </p:nvSpPr>
        <p:spPr>
          <a:xfrm>
            <a:off x="3493008" y="1828800"/>
            <a:ext cx="2194560" cy="822960"/>
          </a:xfrm>
          <a:prstGeom prst="rect">
            <a:avLst/>
          </a:prstGeom>
          <a:noFill/>
          <a:ln/>
        </p:spPr>
        <p:txBody>
          <a:bodyPr wrap="square" lIns="0" tIns="0" rIns="0" bIns="0" rtlCol="0" anchor="t"/>
          <a:lstStyle/>
          <a:p>
            <a:pPr marL="0" indent="0" algn="l">
              <a:buNone/>
            </a:pPr>
            <a:r>
              <a:rPr lang="en-US" sz="1000" dirty="0">
                <a:solidFill>
                  <a:srgbClr val="E8EEF6"/>
                </a:solidFill>
                <a:latin typeface="Calibri" pitchFamily="34" charset="0"/>
                <a:ea typeface="Calibri" pitchFamily="34" charset="-122"/>
                <a:cs typeface="Calibri" pitchFamily="34" charset="-120"/>
              </a:rPr>
              <a:t>Bloque temático de contenido relacionado, normalmente con su propio encabezado.</a:t>
            </a:r>
            <a:endParaRPr lang="en-US" sz="1000" dirty="0"/>
          </a:p>
        </p:txBody>
      </p:sp>
      <p:sp>
        <p:nvSpPr>
          <p:cNvPr id="13" name="Shape 11"/>
          <p:cNvSpPr/>
          <p:nvPr/>
        </p:nvSpPr>
        <p:spPr>
          <a:xfrm>
            <a:off x="3493008" y="2724912"/>
            <a:ext cx="2194560" cy="621792"/>
          </a:xfrm>
          <a:prstGeom prst="roundRect">
            <a:avLst>
              <a:gd name="adj" fmla="val 11765"/>
            </a:avLst>
          </a:prstGeom>
          <a:solidFill>
            <a:srgbClr val="070C14"/>
          </a:solidFill>
          <a:ln w="12700">
            <a:solidFill>
              <a:srgbClr val="2B3B52"/>
            </a:solidFill>
            <a:prstDash val="solid"/>
          </a:ln>
        </p:spPr>
        <p:txBody>
          <a:bodyPr/>
          <a:lstStyle/>
          <a:p>
            <a:endParaRPr lang="es-CO"/>
          </a:p>
        </p:txBody>
      </p:sp>
      <p:sp>
        <p:nvSpPr>
          <p:cNvPr id="14" name="Text 12"/>
          <p:cNvSpPr txBox="1"/>
          <p:nvPr/>
        </p:nvSpPr>
        <p:spPr>
          <a:xfrm>
            <a:off x="3639312" y="2779776"/>
            <a:ext cx="1901952" cy="493776"/>
          </a:xfrm>
          <a:prstGeom prst="rect">
            <a:avLst/>
          </a:prstGeom>
          <a:noFill/>
          <a:ln/>
        </p:spPr>
        <p:txBody>
          <a:bodyPr wrap="square" lIns="0" tIns="0" rIns="0" bIns="0" rtlCol="0" anchor="t"/>
          <a:lstStyle/>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&lt;section&gt;</a:t>
            </a:r>
            <a:endParaRPr lang="en-US" sz="850" dirty="0"/>
          </a:p>
          <a:p>
            <a:pPr marL="0" indent="0">
              <a:lnSpc>
                <a:spcPts val="110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3DDC97"/>
                </a:solidFill>
                <a:latin typeface="Courier New" pitchFamily="34" charset="0"/>
                <a:ea typeface="Courier New" pitchFamily="34" charset="-122"/>
                <a:cs typeface="Courier New" pitchFamily="34" charset="-120"/>
              </a:rPr>
              <a:t>&lt;h2&gt;</a:t>
            </a:r>
            <a:r>
              <a:rPr lang="en-US" sz="850" dirty="0">
                <a:solidFill>
                  <a:srgbClr val="D7E1EE"/>
                </a:solidFill>
                <a:latin typeface="Courier New" pitchFamily="34" charset="0"/>
                <a:ea typeface="Courier New" pitchFamily="34" charset="-122"/>
                <a:cs typeface="Courier New" pitchFamily="34" charset="-120"/>
              </a:rPr>
              <a:t>Servicios</a:t>
            </a:r>
            <a:r>
              <a:rPr lang="en-US" sz="850" dirty="0">
                <a:solidFill>
                  <a:srgbClr val="3DDC97"/>
                </a:solidFill>
                <a:latin typeface="Courier New" pitchFamily="34" charset="0"/>
                <a:ea typeface="Courier New" pitchFamily="34" charset="-122"/>
                <a:cs typeface="Courier New" pitchFamily="34" charset="-120"/>
              </a:rPr>
              <a:t>&lt;/h2&gt;</a:t>
            </a:r>
            <a:endParaRPr lang="en-US" sz="850" dirty="0"/>
          </a:p>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&lt;/section&gt;</a:t>
            </a:r>
            <a:endParaRPr lang="en-US" sz="850" dirty="0"/>
          </a:p>
        </p:txBody>
      </p:sp>
      <p:sp>
        <p:nvSpPr>
          <p:cNvPr id="15" name="Shape 13"/>
          <p:cNvSpPr/>
          <p:nvPr/>
        </p:nvSpPr>
        <p:spPr>
          <a:xfrm>
            <a:off x="6080760" y="1371600"/>
            <a:ext cx="2560320" cy="2194560"/>
          </a:xfrm>
          <a:prstGeom prst="roundRect">
            <a:avLst>
              <a:gd name="adj" fmla="val 3333"/>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6281928" y="1536192"/>
            <a:ext cx="2194560" cy="219456"/>
          </a:xfrm>
          <a:prstGeom prst="rect">
            <a:avLst/>
          </a:prstGeom>
          <a:noFill/>
          <a:ln/>
        </p:spPr>
        <p:txBody>
          <a:bodyPr wrap="square" lIns="0" tIns="0" rIns="0" bIns="0" rtlCol="0" anchor="ctr"/>
          <a:lstStyle/>
          <a:p>
            <a:pPr marL="0" indent="0">
              <a:buNone/>
            </a:pPr>
            <a:r>
              <a:rPr lang="en-US" sz="1250" b="1" dirty="0">
                <a:solidFill>
                  <a:srgbClr val="FFB86C"/>
                </a:solidFill>
                <a:latin typeface="Courier New" pitchFamily="34" charset="0"/>
                <a:ea typeface="Courier New" pitchFamily="34" charset="-122"/>
                <a:cs typeface="Courier New" pitchFamily="34" charset="-120"/>
              </a:rPr>
              <a:t>&lt;article&gt;</a:t>
            </a:r>
            <a:endParaRPr lang="en-US" sz="1250" dirty="0"/>
          </a:p>
        </p:txBody>
      </p:sp>
      <p:sp>
        <p:nvSpPr>
          <p:cNvPr id="17" name="Text 15"/>
          <p:cNvSpPr txBox="1"/>
          <p:nvPr/>
        </p:nvSpPr>
        <p:spPr>
          <a:xfrm>
            <a:off x="6281928" y="1828800"/>
            <a:ext cx="2194560" cy="822960"/>
          </a:xfrm>
          <a:prstGeom prst="rect">
            <a:avLst/>
          </a:prstGeom>
          <a:noFill/>
          <a:ln/>
        </p:spPr>
        <p:txBody>
          <a:bodyPr wrap="square" lIns="0" tIns="0" rIns="0" bIns="0" rtlCol="0" anchor="t"/>
          <a:lstStyle/>
          <a:p>
            <a:pPr marL="0" indent="0" algn="l">
              <a:buNone/>
            </a:pPr>
            <a:r>
              <a:rPr lang="en-US" sz="1000" dirty="0">
                <a:solidFill>
                  <a:srgbClr val="E8EEF6"/>
                </a:solidFill>
                <a:latin typeface="Calibri" pitchFamily="34" charset="0"/>
                <a:ea typeface="Calibri" pitchFamily="34" charset="-122"/>
                <a:cs typeface="Calibri" pitchFamily="34" charset="-120"/>
              </a:rPr>
              <a:t>Unidad de contenido con sentido propio, comprensible fuera de su contexto.</a:t>
            </a:r>
            <a:endParaRPr lang="en-US" sz="1000" dirty="0"/>
          </a:p>
        </p:txBody>
      </p:sp>
      <p:sp>
        <p:nvSpPr>
          <p:cNvPr id="18" name="Shape 16"/>
          <p:cNvSpPr/>
          <p:nvPr/>
        </p:nvSpPr>
        <p:spPr>
          <a:xfrm>
            <a:off x="6281928" y="2724912"/>
            <a:ext cx="2194560" cy="621792"/>
          </a:xfrm>
          <a:prstGeom prst="roundRect">
            <a:avLst>
              <a:gd name="adj" fmla="val 11765"/>
            </a:avLst>
          </a:prstGeom>
          <a:solidFill>
            <a:srgbClr val="070C14"/>
          </a:solidFill>
          <a:ln w="12700">
            <a:solidFill>
              <a:srgbClr val="2B3B52"/>
            </a:solidFill>
            <a:prstDash val="solid"/>
          </a:ln>
        </p:spPr>
        <p:txBody>
          <a:bodyPr/>
          <a:lstStyle/>
          <a:p>
            <a:endParaRPr lang="es-CO"/>
          </a:p>
        </p:txBody>
      </p:sp>
      <p:sp>
        <p:nvSpPr>
          <p:cNvPr id="19" name="Text 17"/>
          <p:cNvSpPr txBox="1"/>
          <p:nvPr/>
        </p:nvSpPr>
        <p:spPr>
          <a:xfrm>
            <a:off x="6428232" y="2779776"/>
            <a:ext cx="1901952" cy="493776"/>
          </a:xfrm>
          <a:prstGeom prst="rect">
            <a:avLst/>
          </a:prstGeom>
          <a:noFill/>
          <a:ln/>
        </p:spPr>
        <p:txBody>
          <a:bodyPr wrap="square" lIns="0" tIns="0" rIns="0" bIns="0" rtlCol="0" anchor="t"/>
          <a:lstStyle/>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&lt;article&gt;</a:t>
            </a:r>
            <a:endParaRPr lang="en-US" sz="850" dirty="0"/>
          </a:p>
          <a:p>
            <a:pPr marL="0" indent="0">
              <a:lnSpc>
                <a:spcPts val="110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3DDC97"/>
                </a:solidFill>
                <a:latin typeface="Courier New" pitchFamily="34" charset="0"/>
                <a:ea typeface="Courier New" pitchFamily="34" charset="-122"/>
                <a:cs typeface="Courier New" pitchFamily="34" charset="-120"/>
              </a:rPr>
              <a:t>&lt;h3&gt;</a:t>
            </a:r>
            <a:r>
              <a:rPr lang="en-US" sz="850" dirty="0">
                <a:solidFill>
                  <a:srgbClr val="D7E1EE"/>
                </a:solidFill>
                <a:latin typeface="Courier New" pitchFamily="34" charset="0"/>
                <a:ea typeface="Courier New" pitchFamily="34" charset="-122"/>
                <a:cs typeface="Courier New" pitchFamily="34" charset="-120"/>
              </a:rPr>
              <a:t>Noticia</a:t>
            </a:r>
            <a:r>
              <a:rPr lang="en-US" sz="850" dirty="0">
                <a:solidFill>
                  <a:srgbClr val="3DDC97"/>
                </a:solidFill>
                <a:latin typeface="Courier New" pitchFamily="34" charset="0"/>
                <a:ea typeface="Courier New" pitchFamily="34" charset="-122"/>
                <a:cs typeface="Courier New" pitchFamily="34" charset="-120"/>
              </a:rPr>
              <a:t>&lt;/h3&gt;</a:t>
            </a:r>
            <a:endParaRPr lang="en-US" sz="850" dirty="0"/>
          </a:p>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&lt;/article&gt;</a:t>
            </a:r>
            <a:endParaRPr lang="en-US" sz="850" dirty="0"/>
          </a:p>
        </p:txBody>
      </p:sp>
      <p:sp>
        <p:nvSpPr>
          <p:cNvPr id="20" name="Text 18"/>
          <p:cNvSpPr txBox="1"/>
          <p:nvPr/>
        </p:nvSpPr>
        <p:spPr>
          <a:xfrm>
            <a:off x="502920" y="379476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section agrupa contenido relacionado dentro de la página; article identifica contenido que conserva sentido si se extrae de ella.</a:t>
            </a:r>
            <a:endParaRPr lang="en-US" sz="1100" dirty="0"/>
          </a:p>
        </p:txBody>
      </p:sp>
      <p:sp>
        <p:nvSpPr>
          <p:cNvPr id="22" name="Text 19"/>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08 / 20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5156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5156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ELEMENTOS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aside, footer y el papel de div</a:t>
            </a:r>
            <a:endParaRPr lang="en-US" sz="2600" dirty="0"/>
          </a:p>
        </p:txBody>
      </p:sp>
      <p:sp>
        <p:nvSpPr>
          <p:cNvPr id="5" name="Shape 3"/>
          <p:cNvSpPr/>
          <p:nvPr/>
        </p:nvSpPr>
        <p:spPr>
          <a:xfrm>
            <a:off x="502920" y="1316736"/>
            <a:ext cx="3977640" cy="1508760"/>
          </a:xfrm>
          <a:prstGeom prst="roundRect">
            <a:avLst>
              <a:gd name="adj" fmla="val 4848"/>
            </a:avLst>
          </a:prstGeom>
          <a:solidFill>
            <a:srgbClr val="1A2434"/>
          </a:solidFill>
          <a:ln w="12700">
            <a:solidFill>
              <a:srgbClr val="FFB86C"/>
            </a:solidFill>
            <a:prstDash val="solid"/>
          </a:ln>
        </p:spPr>
        <p:txBody>
          <a:bodyPr/>
          <a:lstStyle/>
          <a:p>
            <a:endParaRPr lang="es-CO"/>
          </a:p>
        </p:txBody>
      </p:sp>
      <p:sp>
        <p:nvSpPr>
          <p:cNvPr id="6" name="Text 4"/>
          <p:cNvSpPr txBox="1"/>
          <p:nvPr/>
        </p:nvSpPr>
        <p:spPr>
          <a:xfrm>
            <a:off x="731520" y="1463040"/>
            <a:ext cx="1828800" cy="219456"/>
          </a:xfrm>
          <a:prstGeom prst="rect">
            <a:avLst/>
          </a:prstGeom>
          <a:noFill/>
          <a:ln/>
        </p:spPr>
        <p:txBody>
          <a:bodyPr wrap="square" lIns="0" tIns="0" rIns="0" bIns="0" rtlCol="0" anchor="ctr"/>
          <a:lstStyle/>
          <a:p>
            <a:pPr marL="0" indent="0">
              <a:buNone/>
            </a:pPr>
            <a:r>
              <a:rPr lang="en-US" sz="1250" b="1" dirty="0">
                <a:solidFill>
                  <a:srgbClr val="FFB86C"/>
                </a:solidFill>
                <a:latin typeface="Courier New" pitchFamily="34" charset="0"/>
                <a:ea typeface="Courier New" pitchFamily="34" charset="-122"/>
                <a:cs typeface="Courier New" pitchFamily="34" charset="-120"/>
              </a:rPr>
              <a:t>&lt;aside&gt;</a:t>
            </a:r>
            <a:endParaRPr lang="en-US" sz="1250" dirty="0"/>
          </a:p>
        </p:txBody>
      </p:sp>
      <p:sp>
        <p:nvSpPr>
          <p:cNvPr id="7" name="Text 5"/>
          <p:cNvSpPr txBox="1"/>
          <p:nvPr/>
        </p:nvSpPr>
        <p:spPr>
          <a:xfrm>
            <a:off x="731520" y="1737360"/>
            <a:ext cx="3520440" cy="566928"/>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Contenido relacionado pero secundario respecto al contenido principal: notas laterales o enlaces complementarios.</a:t>
            </a:r>
            <a:endParaRPr lang="en-US" sz="1050" dirty="0"/>
          </a:p>
        </p:txBody>
      </p:sp>
      <p:sp>
        <p:nvSpPr>
          <p:cNvPr id="8" name="Shape 6"/>
          <p:cNvSpPr/>
          <p:nvPr/>
        </p:nvSpPr>
        <p:spPr>
          <a:xfrm>
            <a:off x="731520" y="2340864"/>
            <a:ext cx="3520440" cy="384048"/>
          </a:xfrm>
          <a:prstGeom prst="roundRect">
            <a:avLst>
              <a:gd name="adj" fmla="val 19048"/>
            </a:avLst>
          </a:prstGeom>
          <a:solidFill>
            <a:srgbClr val="070C14"/>
          </a:solidFill>
          <a:ln w="12700">
            <a:solidFill>
              <a:srgbClr val="2B3B52"/>
            </a:solidFill>
            <a:prstDash val="solid"/>
          </a:ln>
        </p:spPr>
        <p:txBody>
          <a:bodyPr/>
          <a:lstStyle/>
          <a:p>
            <a:endParaRPr lang="es-CO"/>
          </a:p>
        </p:txBody>
      </p:sp>
      <p:sp>
        <p:nvSpPr>
          <p:cNvPr id="9" name="Text 7"/>
          <p:cNvSpPr txBox="1"/>
          <p:nvPr/>
        </p:nvSpPr>
        <p:spPr>
          <a:xfrm>
            <a:off x="877824" y="2395728"/>
            <a:ext cx="3227832" cy="256032"/>
          </a:xfrm>
          <a:prstGeom prst="rect">
            <a:avLst/>
          </a:prstGeom>
          <a:noFill/>
          <a:ln/>
        </p:spPr>
        <p:txBody>
          <a:bodyPr wrap="square" lIns="0" tIns="0" rIns="0" bIns="0" rtlCol="0" anchor="t"/>
          <a:lstStyle/>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&lt;aside&gt;</a:t>
            </a:r>
            <a:r>
              <a:rPr lang="en-US" sz="850" dirty="0">
                <a:solidFill>
                  <a:srgbClr val="D7E1EE"/>
                </a:solidFill>
                <a:latin typeface="Courier New" pitchFamily="34" charset="0"/>
                <a:ea typeface="Courier New" pitchFamily="34" charset="-122"/>
                <a:cs typeface="Courier New" pitchFamily="34" charset="-120"/>
              </a:rPr>
              <a:t>Recursos del curso</a:t>
            </a:r>
            <a:r>
              <a:rPr lang="en-US" sz="850" dirty="0">
                <a:solidFill>
                  <a:srgbClr val="3DDC97"/>
                </a:solidFill>
                <a:latin typeface="Courier New" pitchFamily="34" charset="0"/>
                <a:ea typeface="Courier New" pitchFamily="34" charset="-122"/>
                <a:cs typeface="Courier New" pitchFamily="34" charset="-120"/>
              </a:rPr>
              <a:t>&lt;/aside&gt;</a:t>
            </a:r>
            <a:endParaRPr lang="en-US" sz="850" dirty="0"/>
          </a:p>
        </p:txBody>
      </p:sp>
      <p:sp>
        <p:nvSpPr>
          <p:cNvPr id="10" name="Shape 8"/>
          <p:cNvSpPr/>
          <p:nvPr/>
        </p:nvSpPr>
        <p:spPr>
          <a:xfrm>
            <a:off x="4663440" y="1316736"/>
            <a:ext cx="3977640" cy="1508760"/>
          </a:xfrm>
          <a:prstGeom prst="roundRect">
            <a:avLst>
              <a:gd name="adj" fmla="val 4848"/>
            </a:avLst>
          </a:prstGeom>
          <a:solidFill>
            <a:srgbClr val="1A2434"/>
          </a:solidFill>
          <a:ln w="12700">
            <a:solidFill>
              <a:srgbClr val="3DDC97"/>
            </a:solidFill>
            <a:prstDash val="solid"/>
          </a:ln>
        </p:spPr>
        <p:txBody>
          <a:bodyPr/>
          <a:lstStyle/>
          <a:p>
            <a:endParaRPr lang="es-CO"/>
          </a:p>
        </p:txBody>
      </p:sp>
      <p:sp>
        <p:nvSpPr>
          <p:cNvPr id="11" name="Text 9"/>
          <p:cNvSpPr txBox="1"/>
          <p:nvPr/>
        </p:nvSpPr>
        <p:spPr>
          <a:xfrm>
            <a:off x="4892040" y="1463040"/>
            <a:ext cx="1828800" cy="219456"/>
          </a:xfrm>
          <a:prstGeom prst="rect">
            <a:avLst/>
          </a:prstGeom>
          <a:noFill/>
          <a:ln/>
        </p:spPr>
        <p:txBody>
          <a:bodyPr wrap="square" lIns="0" tIns="0" rIns="0" bIns="0" rtlCol="0" anchor="ctr"/>
          <a:lstStyle/>
          <a:p>
            <a:pPr marL="0" indent="0">
              <a:buNone/>
            </a:pPr>
            <a:r>
              <a:rPr lang="en-US" sz="1250" b="1" dirty="0">
                <a:solidFill>
                  <a:srgbClr val="3DDC97"/>
                </a:solidFill>
                <a:latin typeface="Courier New" pitchFamily="34" charset="0"/>
                <a:ea typeface="Courier New" pitchFamily="34" charset="-122"/>
                <a:cs typeface="Courier New" pitchFamily="34" charset="-120"/>
              </a:rPr>
              <a:t>&lt;footer&gt;</a:t>
            </a:r>
            <a:endParaRPr lang="en-US" sz="1250" dirty="0"/>
          </a:p>
        </p:txBody>
      </p:sp>
      <p:sp>
        <p:nvSpPr>
          <p:cNvPr id="12" name="Text 10"/>
          <p:cNvSpPr txBox="1"/>
          <p:nvPr/>
        </p:nvSpPr>
        <p:spPr>
          <a:xfrm>
            <a:off x="4892040" y="1737360"/>
            <a:ext cx="3520440" cy="566928"/>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Cierre del documento o de una sección: autoría, institución o información de contacto.</a:t>
            </a:r>
            <a:endParaRPr lang="en-US" sz="1050" dirty="0"/>
          </a:p>
        </p:txBody>
      </p:sp>
      <p:sp>
        <p:nvSpPr>
          <p:cNvPr id="13" name="Shape 11"/>
          <p:cNvSpPr/>
          <p:nvPr/>
        </p:nvSpPr>
        <p:spPr>
          <a:xfrm>
            <a:off x="4892040" y="2340864"/>
            <a:ext cx="3520440" cy="384048"/>
          </a:xfrm>
          <a:prstGeom prst="roundRect">
            <a:avLst>
              <a:gd name="adj" fmla="val 19048"/>
            </a:avLst>
          </a:prstGeom>
          <a:solidFill>
            <a:srgbClr val="070C14"/>
          </a:solidFill>
          <a:ln w="12700">
            <a:solidFill>
              <a:srgbClr val="2B3B52"/>
            </a:solidFill>
            <a:prstDash val="solid"/>
          </a:ln>
        </p:spPr>
        <p:txBody>
          <a:bodyPr/>
          <a:lstStyle/>
          <a:p>
            <a:endParaRPr lang="es-CO"/>
          </a:p>
        </p:txBody>
      </p:sp>
      <p:sp>
        <p:nvSpPr>
          <p:cNvPr id="14" name="Text 12"/>
          <p:cNvSpPr txBox="1"/>
          <p:nvPr/>
        </p:nvSpPr>
        <p:spPr>
          <a:xfrm>
            <a:off x="5038344" y="2395728"/>
            <a:ext cx="3227832" cy="256032"/>
          </a:xfrm>
          <a:prstGeom prst="rect">
            <a:avLst/>
          </a:prstGeom>
          <a:noFill/>
          <a:ln/>
        </p:spPr>
        <p:txBody>
          <a:bodyPr wrap="square" lIns="0" tIns="0" rIns="0" bIns="0" rtlCol="0" anchor="t"/>
          <a:lstStyle/>
          <a:p>
            <a:pPr marL="0" indent="0">
              <a:lnSpc>
                <a:spcPts val="1100"/>
              </a:lnSpc>
              <a:buNone/>
            </a:pPr>
            <a:r>
              <a:rPr lang="en-US" sz="850" dirty="0">
                <a:solidFill>
                  <a:srgbClr val="3DDC97"/>
                </a:solidFill>
                <a:latin typeface="Courier New" pitchFamily="34" charset="0"/>
                <a:ea typeface="Courier New" pitchFamily="34" charset="-122"/>
                <a:cs typeface="Courier New" pitchFamily="34" charset="-120"/>
              </a:rPr>
              <a:t>&lt;footer&gt;&lt;p&gt;</a:t>
            </a:r>
            <a:r>
              <a:rPr lang="en-US" sz="850" dirty="0">
                <a:solidFill>
                  <a:srgbClr val="D7E1EE"/>
                </a:solidFill>
                <a:latin typeface="Courier New" pitchFamily="34" charset="0"/>
                <a:ea typeface="Courier New" pitchFamily="34" charset="-122"/>
                <a:cs typeface="Courier New" pitchFamily="34" charset="-120"/>
              </a:rPr>
              <a:t>Universidad</a:t>
            </a:r>
            <a:r>
              <a:rPr lang="en-US" sz="850" dirty="0">
                <a:solidFill>
                  <a:srgbClr val="3DDC97"/>
                </a:solidFill>
                <a:latin typeface="Courier New" pitchFamily="34" charset="0"/>
                <a:ea typeface="Courier New" pitchFamily="34" charset="-122"/>
                <a:cs typeface="Courier New" pitchFamily="34" charset="-120"/>
              </a:rPr>
              <a:t>&lt;/p&gt;&lt;/footer&gt;</a:t>
            </a:r>
            <a:endParaRPr lang="en-US" sz="850" dirty="0"/>
          </a:p>
        </p:txBody>
      </p:sp>
      <p:sp>
        <p:nvSpPr>
          <p:cNvPr id="15" name="Shape 13"/>
          <p:cNvSpPr/>
          <p:nvPr/>
        </p:nvSpPr>
        <p:spPr>
          <a:xfrm>
            <a:off x="502920" y="2944368"/>
            <a:ext cx="8138160" cy="1024128"/>
          </a:xfrm>
          <a:prstGeom prst="roundRect">
            <a:avLst>
              <a:gd name="adj" fmla="val 7143"/>
            </a:avLst>
          </a:prstGeom>
          <a:solidFill>
            <a:srgbClr val="1A2434"/>
          </a:solidFill>
          <a:ln w="12700">
            <a:solidFill>
              <a:srgbClr val="56C7F2"/>
            </a:solidFill>
            <a:prstDash val="solid"/>
          </a:ln>
        </p:spPr>
        <p:txBody>
          <a:bodyPr/>
          <a:lstStyle/>
          <a:p>
            <a:endParaRPr lang="es-CO"/>
          </a:p>
        </p:txBody>
      </p:sp>
      <p:sp>
        <p:nvSpPr>
          <p:cNvPr id="16" name="Text 14"/>
          <p:cNvSpPr txBox="1"/>
          <p:nvPr/>
        </p:nvSpPr>
        <p:spPr>
          <a:xfrm>
            <a:off x="731520" y="3108960"/>
            <a:ext cx="1463040" cy="219456"/>
          </a:xfrm>
          <a:prstGeom prst="rect">
            <a:avLst/>
          </a:prstGeom>
          <a:noFill/>
          <a:ln/>
        </p:spPr>
        <p:txBody>
          <a:bodyPr wrap="square" lIns="0" tIns="0" rIns="0" bIns="0" rtlCol="0" anchor="ctr"/>
          <a:lstStyle/>
          <a:p>
            <a:pPr marL="0" indent="0">
              <a:buNone/>
            </a:pPr>
            <a:r>
              <a:rPr lang="en-US" sz="1250" b="1" dirty="0">
                <a:solidFill>
                  <a:srgbClr val="56C7F2"/>
                </a:solidFill>
                <a:latin typeface="Courier New" pitchFamily="34" charset="0"/>
                <a:ea typeface="Courier New" pitchFamily="34" charset="-122"/>
                <a:cs typeface="Courier New" pitchFamily="34" charset="-120"/>
              </a:rPr>
              <a:t>&lt;div&gt;</a:t>
            </a:r>
            <a:endParaRPr lang="en-US" sz="1250" dirty="0"/>
          </a:p>
        </p:txBody>
      </p:sp>
      <p:sp>
        <p:nvSpPr>
          <p:cNvPr id="17" name="Text 15"/>
          <p:cNvSpPr txBox="1"/>
          <p:nvPr/>
        </p:nvSpPr>
        <p:spPr>
          <a:xfrm>
            <a:off x="731520" y="3383280"/>
            <a:ext cx="7680960" cy="512064"/>
          </a:xfrm>
          <a:prstGeom prst="rect">
            <a:avLst/>
          </a:prstGeom>
          <a:noFill/>
          <a:ln/>
        </p:spPr>
        <p:txBody>
          <a:bodyPr wrap="square" lIns="0" tIns="0" rIns="0" bIns="0" rtlCol="0" anchor="t"/>
          <a:lstStyle/>
          <a:p>
            <a:pPr marL="0" indent="0" algn="l">
              <a:buNone/>
            </a:pPr>
            <a:r>
              <a:rPr lang="en-US" sz="1100" dirty="0">
                <a:solidFill>
                  <a:srgbClr val="E8EEF6"/>
                </a:solidFill>
                <a:latin typeface="Calibri" pitchFamily="34" charset="0"/>
                <a:ea typeface="Calibri" pitchFamily="34" charset="-122"/>
                <a:cs typeface="Calibri" pitchFamily="34" charset="-120"/>
              </a:rPr>
              <a:t>Contenedor genérico, sin significado propio. Es válido y necesario cuando se requiere agrupar contenido y ningún elemento semántico describe adecuadamente esa agrupación. Convive con los elementos semánticos: no compite con ellos.</a:t>
            </a:r>
            <a:endParaRPr lang="en-US" sz="1100" dirty="0"/>
          </a:p>
        </p:txBody>
      </p:sp>
      <p:sp>
        <p:nvSpPr>
          <p:cNvPr id="18" name="Text 16"/>
          <p:cNvSpPr txBox="1"/>
          <p:nvPr/>
        </p:nvSpPr>
        <p:spPr>
          <a:xfrm>
            <a:off x="502920" y="406908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El criterio es simple: usar el elemento que describa el contenido cuando exista; recurrir a div cuando no exista.</a:t>
            </a:r>
            <a:endParaRPr lang="en-US" sz="1100" dirty="0"/>
          </a:p>
        </p:txBody>
      </p:sp>
      <p:sp>
        <p:nvSpPr>
          <p:cNvPr id="20" name="Text 17"/>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09 / 20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96012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96012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SÍNTESIS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Ejemplo integrado de estructura semántica</a:t>
            </a:r>
            <a:endParaRPr lang="en-US" sz="2600" dirty="0"/>
          </a:p>
        </p:txBody>
      </p:sp>
      <p:sp>
        <p:nvSpPr>
          <p:cNvPr id="5" name="Shape 3"/>
          <p:cNvSpPr/>
          <p:nvPr/>
        </p:nvSpPr>
        <p:spPr>
          <a:xfrm>
            <a:off x="502920" y="1316736"/>
            <a:ext cx="4754880" cy="3154680"/>
          </a:xfrm>
          <a:prstGeom prst="roundRect">
            <a:avLst>
              <a:gd name="adj" fmla="val 2319"/>
            </a:avLst>
          </a:prstGeom>
          <a:solidFill>
            <a:srgbClr val="070C14"/>
          </a:solidFill>
          <a:ln w="12700">
            <a:solidFill>
              <a:srgbClr val="2B3B52"/>
            </a:solidFill>
            <a:prstDash val="solid"/>
          </a:ln>
        </p:spPr>
        <p:txBody>
          <a:bodyPr/>
          <a:lstStyle/>
          <a:p>
            <a:endParaRPr lang="es-CO"/>
          </a:p>
        </p:txBody>
      </p:sp>
      <p:sp>
        <p:nvSpPr>
          <p:cNvPr id="6" name="Text 4"/>
          <p:cNvSpPr txBox="1"/>
          <p:nvPr/>
        </p:nvSpPr>
        <p:spPr>
          <a:xfrm>
            <a:off x="649224" y="1371600"/>
            <a:ext cx="4462272" cy="182880"/>
          </a:xfrm>
          <a:prstGeom prst="rect">
            <a:avLst/>
          </a:prstGeom>
          <a:noFill/>
          <a:ln/>
        </p:spPr>
        <p:txBody>
          <a:bodyPr wrap="square" lIns="0" tIns="0" rIns="0" bIns="0" rtlCol="0" anchor="ctr"/>
          <a:lstStyle/>
          <a:p>
            <a:r>
              <a:rPr lang="en-US" sz="850" b="1" kern="0" spc="60" dirty="0">
                <a:solidFill>
                  <a:srgbClr val="6C7E96"/>
                </a:solidFill>
                <a:latin typeface="Courier New" pitchFamily="34" charset="0"/>
                <a:ea typeface="Courier New" pitchFamily="34" charset="-122"/>
                <a:cs typeface="Courier New" pitchFamily="34" charset="-120"/>
              </a:rPr>
              <a:t>html_semantico2.html</a:t>
            </a:r>
            <a:endParaRPr lang="en-US" sz="850" dirty="0"/>
          </a:p>
        </p:txBody>
      </p:sp>
      <p:sp>
        <p:nvSpPr>
          <p:cNvPr id="7" name="Text 5"/>
          <p:cNvSpPr txBox="1"/>
          <p:nvPr/>
        </p:nvSpPr>
        <p:spPr>
          <a:xfrm>
            <a:off x="649224" y="1591056"/>
            <a:ext cx="4462272" cy="2807208"/>
          </a:xfrm>
          <a:prstGeom prst="rect">
            <a:avLst/>
          </a:prstGeom>
          <a:noFill/>
          <a:ln/>
        </p:spPr>
        <p:txBody>
          <a:bodyPr wrap="square" lIns="0" tIns="0" rIns="0" bIns="0" rtlCol="0" anchor="t"/>
          <a:lstStyle/>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&lt;body&gt;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&lt;header&gt;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&lt;h1&gt;</a:t>
            </a:r>
            <a:r>
              <a:rPr lang="en-US" sz="950" dirty="0">
                <a:solidFill>
                  <a:srgbClr val="D7E1EE"/>
                </a:solidFill>
                <a:latin typeface="Courier New" pitchFamily="34" charset="0"/>
                <a:ea typeface="Courier New" pitchFamily="34" charset="-122"/>
                <a:cs typeface="Courier New" pitchFamily="34" charset="-120"/>
              </a:rPr>
              <a:t>Ingeniería Web</a:t>
            </a:r>
            <a:r>
              <a:rPr lang="en-US" sz="950" dirty="0">
                <a:solidFill>
                  <a:srgbClr val="3DDC97"/>
                </a:solidFill>
                <a:latin typeface="Courier New" pitchFamily="34" charset="0"/>
                <a:ea typeface="Courier New" pitchFamily="34" charset="-122"/>
                <a:cs typeface="Courier New" pitchFamily="34" charset="-120"/>
              </a:rPr>
              <a:t>&lt;/h1&gt;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&lt;/header&gt;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&lt;nav&gt;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&lt;a</a:t>
            </a:r>
            <a:r>
              <a:rPr lang="en-US" sz="950" dirty="0">
                <a:solidFill>
                  <a:srgbClr val="FFB86C"/>
                </a:solidFill>
                <a:latin typeface="Courier New" pitchFamily="34" charset="0"/>
                <a:ea typeface="Courier New" pitchFamily="34" charset="-122"/>
                <a:cs typeface="Courier New" pitchFamily="34" charset="-120"/>
              </a:rPr>
              <a:t> href=</a:t>
            </a:r>
            <a:r>
              <a:rPr lang="en-US" sz="950" dirty="0">
                <a:solidFill>
                  <a:srgbClr val="FFD479"/>
                </a:solidFill>
                <a:latin typeface="Courier New" pitchFamily="34" charset="0"/>
                <a:ea typeface="Courier New" pitchFamily="34" charset="-122"/>
                <a:cs typeface="Courier New" pitchFamily="34" charset="-120"/>
              </a:rPr>
              <a:t>"/"</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Inicio</a:t>
            </a:r>
            <a:r>
              <a:rPr lang="en-US" sz="950" dirty="0">
                <a:solidFill>
                  <a:srgbClr val="3DDC97"/>
                </a:solidFill>
                <a:latin typeface="Courier New" pitchFamily="34" charset="0"/>
                <a:ea typeface="Courier New" pitchFamily="34" charset="-122"/>
                <a:cs typeface="Courier New" pitchFamily="34" charset="-120"/>
              </a:rPr>
              <a:t>&lt;/a&gt;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&lt;/nav&gt;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&lt;main&gt;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&lt;section&gt;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&lt;h2&gt;</a:t>
            </a:r>
            <a:r>
              <a:rPr lang="en-US" sz="950" dirty="0">
                <a:solidFill>
                  <a:srgbClr val="D7E1EE"/>
                </a:solidFill>
                <a:latin typeface="Courier New" pitchFamily="34" charset="0"/>
                <a:ea typeface="Courier New" pitchFamily="34" charset="-122"/>
                <a:cs typeface="Courier New" pitchFamily="34" charset="-120"/>
              </a:rPr>
              <a:t>Sobre la asignatura</a:t>
            </a:r>
            <a:r>
              <a:rPr lang="en-US" sz="950" dirty="0">
                <a:solidFill>
                  <a:srgbClr val="3DDC97"/>
                </a:solidFill>
                <a:latin typeface="Courier New" pitchFamily="34" charset="0"/>
                <a:ea typeface="Courier New" pitchFamily="34" charset="-122"/>
                <a:cs typeface="Courier New" pitchFamily="34" charset="-120"/>
              </a:rPr>
              <a:t>&lt;/h2&gt;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&lt;/section&gt;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&lt;/main&gt;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&lt;footer&gt;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&lt;p&gt;</a:t>
            </a:r>
            <a:r>
              <a:rPr lang="en-US" sz="950" dirty="0">
                <a:solidFill>
                  <a:srgbClr val="D7E1EE"/>
                </a:solidFill>
                <a:latin typeface="Courier New" pitchFamily="34" charset="0"/>
                <a:ea typeface="Courier New" pitchFamily="34" charset="-122"/>
                <a:cs typeface="Courier New" pitchFamily="34" charset="-120"/>
              </a:rPr>
              <a:t>Universidad</a:t>
            </a:r>
            <a:r>
              <a:rPr lang="en-US" sz="950" dirty="0">
                <a:solidFill>
                  <a:srgbClr val="3DDC97"/>
                </a:solidFill>
                <a:latin typeface="Courier New" pitchFamily="34" charset="0"/>
                <a:ea typeface="Courier New" pitchFamily="34" charset="-122"/>
                <a:cs typeface="Courier New" pitchFamily="34" charset="-120"/>
              </a:rPr>
              <a:t>&lt;/p&gt;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&lt;/footer&gt;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&lt;/body&gt;</a:t>
            </a:r>
            <a:endParaRPr lang="en-US" sz="950" dirty="0"/>
          </a:p>
        </p:txBody>
      </p:sp>
      <p:sp>
        <p:nvSpPr>
          <p:cNvPr id="8" name="Text 6"/>
          <p:cNvSpPr txBox="1"/>
          <p:nvPr/>
        </p:nvSpPr>
        <p:spPr>
          <a:xfrm>
            <a:off x="5486400" y="1371600"/>
            <a:ext cx="3154680" cy="219456"/>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&lt;header&gt;</a:t>
            </a:r>
            <a:endParaRPr lang="en-US" sz="1000" dirty="0"/>
          </a:p>
        </p:txBody>
      </p:sp>
      <p:sp>
        <p:nvSpPr>
          <p:cNvPr id="9" name="Text 7"/>
          <p:cNvSpPr txBox="1"/>
          <p:nvPr/>
        </p:nvSpPr>
        <p:spPr>
          <a:xfrm>
            <a:off x="5486400" y="1609344"/>
            <a:ext cx="3154680" cy="256032"/>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Encabezado del documento.</a:t>
            </a:r>
            <a:endParaRPr lang="en-US" sz="1050" dirty="0"/>
          </a:p>
        </p:txBody>
      </p:sp>
      <p:sp>
        <p:nvSpPr>
          <p:cNvPr id="10" name="Text 8"/>
          <p:cNvSpPr txBox="1"/>
          <p:nvPr/>
        </p:nvSpPr>
        <p:spPr>
          <a:xfrm>
            <a:off x="5486400" y="1975104"/>
            <a:ext cx="3154680" cy="219456"/>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&lt;nav&gt;</a:t>
            </a:r>
            <a:endParaRPr lang="en-US" sz="1000" dirty="0"/>
          </a:p>
        </p:txBody>
      </p:sp>
      <p:sp>
        <p:nvSpPr>
          <p:cNvPr id="11" name="Text 9"/>
          <p:cNvSpPr txBox="1"/>
          <p:nvPr/>
        </p:nvSpPr>
        <p:spPr>
          <a:xfrm>
            <a:off x="5486400" y="2212848"/>
            <a:ext cx="3154680" cy="256032"/>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Bloque de navegación del sitio.</a:t>
            </a:r>
            <a:endParaRPr lang="en-US" sz="1050" dirty="0"/>
          </a:p>
        </p:txBody>
      </p:sp>
      <p:sp>
        <p:nvSpPr>
          <p:cNvPr id="12" name="Text 10"/>
          <p:cNvSpPr txBox="1"/>
          <p:nvPr/>
        </p:nvSpPr>
        <p:spPr>
          <a:xfrm>
            <a:off x="5486400" y="2578608"/>
            <a:ext cx="3154680" cy="219456"/>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&lt;main&gt;</a:t>
            </a:r>
            <a:endParaRPr lang="en-US" sz="1000" dirty="0"/>
          </a:p>
        </p:txBody>
      </p:sp>
      <p:sp>
        <p:nvSpPr>
          <p:cNvPr id="13" name="Text 11"/>
          <p:cNvSpPr txBox="1"/>
          <p:nvPr/>
        </p:nvSpPr>
        <p:spPr>
          <a:xfrm>
            <a:off x="5486400" y="2816352"/>
            <a:ext cx="3154680" cy="256032"/>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Contenido principal, único por página.</a:t>
            </a:r>
            <a:endParaRPr lang="en-US" sz="1050" dirty="0"/>
          </a:p>
        </p:txBody>
      </p:sp>
      <p:sp>
        <p:nvSpPr>
          <p:cNvPr id="14" name="Text 12"/>
          <p:cNvSpPr txBox="1"/>
          <p:nvPr/>
        </p:nvSpPr>
        <p:spPr>
          <a:xfrm>
            <a:off x="5486400" y="3182112"/>
            <a:ext cx="3154680" cy="219456"/>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&lt;section&gt;</a:t>
            </a:r>
            <a:endParaRPr lang="en-US" sz="1000" dirty="0"/>
          </a:p>
        </p:txBody>
      </p:sp>
      <p:sp>
        <p:nvSpPr>
          <p:cNvPr id="15" name="Text 13"/>
          <p:cNvSpPr txBox="1"/>
          <p:nvPr/>
        </p:nvSpPr>
        <p:spPr>
          <a:xfrm>
            <a:off x="5486400" y="3419856"/>
            <a:ext cx="3154680" cy="256032"/>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Bloque temático con encabezado propio.</a:t>
            </a:r>
            <a:endParaRPr lang="en-US" sz="1050" dirty="0"/>
          </a:p>
        </p:txBody>
      </p:sp>
      <p:sp>
        <p:nvSpPr>
          <p:cNvPr id="16" name="Text 14"/>
          <p:cNvSpPr txBox="1"/>
          <p:nvPr/>
        </p:nvSpPr>
        <p:spPr>
          <a:xfrm>
            <a:off x="5486400" y="3785616"/>
            <a:ext cx="3154680" cy="219456"/>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&lt;footer&gt;</a:t>
            </a:r>
            <a:endParaRPr lang="en-US" sz="1000" dirty="0"/>
          </a:p>
        </p:txBody>
      </p:sp>
      <p:sp>
        <p:nvSpPr>
          <p:cNvPr id="17" name="Text 15"/>
          <p:cNvSpPr txBox="1"/>
          <p:nvPr/>
        </p:nvSpPr>
        <p:spPr>
          <a:xfrm>
            <a:off x="5486400" y="4023360"/>
            <a:ext cx="3154680" cy="256032"/>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Cierre e información institucional.</a:t>
            </a:r>
            <a:endParaRPr lang="en-US" sz="1050" dirty="0"/>
          </a:p>
        </p:txBody>
      </p:sp>
      <p:sp>
        <p:nvSpPr>
          <p:cNvPr id="19" name="Text 16"/>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10 / 20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00A"/>
        </a:solidFill>
        <a:effectLst/>
      </p:bgPr>
    </p:bg>
    <p:spTree>
      <p:nvGrpSpPr>
        <p:cNvPr id="1" name=""/>
        <p:cNvGrpSpPr/>
        <p:nvPr/>
      </p:nvGrpSpPr>
      <p:grpSpPr>
        <a:xfrm>
          <a:off x="0" y="0"/>
          <a:ext cx="0" cy="0"/>
          <a:chOff x="0" y="0"/>
          <a:chExt cx="0" cy="0"/>
        </a:xfrm>
      </p:grpSpPr>
      <p:sp>
        <p:nvSpPr>
          <p:cNvPr id="2" name="Shape 0"/>
          <p:cNvSpPr/>
          <p:nvPr/>
        </p:nvSpPr>
        <p:spPr>
          <a:xfrm>
            <a:off x="502920" y="365760"/>
            <a:ext cx="2093976" cy="228600"/>
          </a:xfrm>
          <a:prstGeom prst="roundRect">
            <a:avLst>
              <a:gd name="adj" fmla="val 48000"/>
            </a:avLst>
          </a:prstGeom>
          <a:solidFill>
            <a:srgbClr val="35210F"/>
          </a:solidFill>
          <a:ln w="9525">
            <a:solidFill>
              <a:srgbClr val="FF8A3D"/>
            </a:solidFill>
            <a:prstDash val="solid"/>
          </a:ln>
        </p:spPr>
        <p:txBody>
          <a:bodyPr/>
          <a:lstStyle/>
          <a:p>
            <a:endParaRPr lang="es-CO"/>
          </a:p>
        </p:txBody>
      </p:sp>
      <p:sp>
        <p:nvSpPr>
          <p:cNvPr id="3" name="Text 1"/>
          <p:cNvSpPr txBox="1"/>
          <p:nvPr/>
        </p:nvSpPr>
        <p:spPr>
          <a:xfrm>
            <a:off x="502920" y="365760"/>
            <a:ext cx="2093976" cy="228600"/>
          </a:xfrm>
          <a:prstGeom prst="rect">
            <a:avLst/>
          </a:prstGeom>
          <a:noFill/>
          <a:ln/>
        </p:spPr>
        <p:txBody>
          <a:bodyPr wrap="square" lIns="0" tIns="0" rIns="0" bIns="0" rtlCol="0" anchor="ctr"/>
          <a:lstStyle/>
          <a:p>
            <a:pPr marL="0" indent="0" algn="ctr">
              <a:buNone/>
            </a:pPr>
            <a:r>
              <a:rPr lang="en-US" sz="850" b="1" kern="0" spc="110" dirty="0">
                <a:solidFill>
                  <a:srgbClr val="FF8A3D"/>
                </a:solidFill>
                <a:latin typeface="Arial" pitchFamily="34" charset="0"/>
                <a:ea typeface="Arial" pitchFamily="34" charset="-122"/>
                <a:cs typeface="Arial" pitchFamily="34" charset="-120"/>
              </a:rPr>
              <a:t>Laboratorio 2</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Estructura semántica de nuestra página</a:t>
            </a:r>
            <a:endParaRPr lang="en-US" sz="2600" dirty="0"/>
          </a:p>
        </p:txBody>
      </p:sp>
      <p:sp>
        <p:nvSpPr>
          <p:cNvPr id="6" name="Shape 4"/>
          <p:cNvSpPr/>
          <p:nvPr/>
        </p:nvSpPr>
        <p:spPr>
          <a:xfrm>
            <a:off x="502920" y="1371600"/>
            <a:ext cx="8138160" cy="2724912"/>
          </a:xfrm>
          <a:prstGeom prst="roundRect">
            <a:avLst>
              <a:gd name="adj" fmla="val 2759"/>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426464"/>
            <a:ext cx="3657600" cy="182880"/>
          </a:xfrm>
          <a:prstGeom prst="rect">
            <a:avLst/>
          </a:prstGeom>
          <a:noFill/>
          <a:ln/>
        </p:spPr>
        <p:txBody>
          <a:bodyPr wrap="square" lIns="0" tIns="0" rIns="0" bIns="0" rtlCol="0" anchor="ctr"/>
          <a:lstStyle/>
          <a:p>
            <a:pPr marL="0" indent="0">
              <a:buNone/>
            </a:pPr>
            <a:r>
              <a:rPr lang="en-US" sz="850" b="1" kern="0" spc="60" dirty="0">
                <a:solidFill>
                  <a:srgbClr val="FF8A3D"/>
                </a:solidFill>
                <a:latin typeface="Courier New" pitchFamily="34" charset="0"/>
                <a:ea typeface="Courier New" pitchFamily="34" charset="-122"/>
                <a:cs typeface="Courier New" pitchFamily="34" charset="-120"/>
              </a:rPr>
              <a:t>index.html</a:t>
            </a:r>
            <a:endParaRPr lang="en-US" sz="850" dirty="0"/>
          </a:p>
        </p:txBody>
      </p:sp>
      <p:sp>
        <p:nvSpPr>
          <p:cNvPr id="8" name="Text 6"/>
          <p:cNvSpPr txBox="1"/>
          <p:nvPr/>
        </p:nvSpPr>
        <p:spPr>
          <a:xfrm>
            <a:off x="649224" y="1664208"/>
            <a:ext cx="3730752" cy="2249424"/>
          </a:xfrm>
          <a:prstGeom prst="rect">
            <a:avLst/>
          </a:prstGeom>
          <a:noFill/>
          <a:ln/>
        </p:spPr>
        <p:txBody>
          <a:bodyPr wrap="square" lIns="0" tIns="0" rIns="0" bIns="0" rtlCol="0" anchor="t"/>
          <a:lstStyle/>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&lt;!DOCTYPE</a:t>
            </a:r>
            <a:r>
              <a:rPr lang="en-US" sz="950" dirty="0">
                <a:solidFill>
                  <a:srgbClr val="FFB86C"/>
                </a:solidFill>
                <a:latin typeface="Courier New" pitchFamily="34" charset="0"/>
                <a:ea typeface="Courier New" pitchFamily="34" charset="-122"/>
                <a:cs typeface="Courier New" pitchFamily="34" charset="-120"/>
              </a:rPr>
              <a:t> html</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&lt;html</a:t>
            </a:r>
            <a:r>
              <a:rPr lang="en-US" sz="950" dirty="0">
                <a:solidFill>
                  <a:srgbClr val="FFB86C"/>
                </a:solidFill>
                <a:latin typeface="Courier New" pitchFamily="34" charset="0"/>
                <a:ea typeface="Courier New" pitchFamily="34" charset="-122"/>
                <a:cs typeface="Courier New" pitchFamily="34" charset="-120"/>
              </a:rPr>
              <a:t> lang=</a:t>
            </a:r>
            <a:r>
              <a:rPr lang="en-US" sz="950" dirty="0">
                <a:solidFill>
                  <a:srgbClr val="FFD479"/>
                </a:solidFill>
                <a:latin typeface="Courier New" pitchFamily="34" charset="0"/>
                <a:ea typeface="Courier New" pitchFamily="34" charset="-122"/>
                <a:cs typeface="Courier New" pitchFamily="34" charset="-120"/>
              </a:rPr>
              <a:t>"es"</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&lt;head&gt;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&lt;meta</a:t>
            </a:r>
            <a:r>
              <a:rPr lang="en-US" sz="950" dirty="0">
                <a:solidFill>
                  <a:srgbClr val="FFB86C"/>
                </a:solidFill>
                <a:latin typeface="Courier New" pitchFamily="34" charset="0"/>
                <a:ea typeface="Courier New" pitchFamily="34" charset="-122"/>
                <a:cs typeface="Courier New" pitchFamily="34" charset="-120"/>
              </a:rPr>
              <a:t> charset=</a:t>
            </a:r>
            <a:r>
              <a:rPr lang="en-US" sz="950" dirty="0">
                <a:solidFill>
                  <a:srgbClr val="FFD479"/>
                </a:solidFill>
                <a:latin typeface="Courier New" pitchFamily="34" charset="0"/>
                <a:ea typeface="Courier New" pitchFamily="34" charset="-122"/>
                <a:cs typeface="Courier New" pitchFamily="34" charset="-120"/>
              </a:rPr>
              <a:t>"UTF-8"</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&lt;title&gt;</a:t>
            </a:r>
            <a:r>
              <a:rPr lang="en-US" sz="950" dirty="0">
                <a:solidFill>
                  <a:srgbClr val="D7E1EE"/>
                </a:solidFill>
                <a:latin typeface="Courier New" pitchFamily="34" charset="0"/>
                <a:ea typeface="Courier New" pitchFamily="34" charset="-122"/>
                <a:cs typeface="Courier New" pitchFamily="34" charset="-120"/>
              </a:rPr>
              <a:t>Ingeniería Web</a:t>
            </a:r>
            <a:r>
              <a:rPr lang="en-US" sz="950" dirty="0">
                <a:solidFill>
                  <a:srgbClr val="3DDC97"/>
                </a:solidFill>
                <a:latin typeface="Courier New" pitchFamily="34" charset="0"/>
                <a:ea typeface="Courier New" pitchFamily="34" charset="-122"/>
                <a:cs typeface="Courier New" pitchFamily="34" charset="-120"/>
              </a:rPr>
              <a:t>&lt;/title&gt;</a:t>
            </a:r>
            <a:endParaRPr lang="en-US" sz="950" dirty="0"/>
          </a:p>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&lt;/head&gt;</a:t>
            </a:r>
            <a:endParaRPr lang="en-US" sz="950" dirty="0"/>
          </a:p>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&lt;body&gt;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&lt;header&gt;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&lt;h1&gt;</a:t>
            </a:r>
            <a:r>
              <a:rPr lang="en-US" sz="950" dirty="0">
                <a:solidFill>
                  <a:srgbClr val="D7E1EE"/>
                </a:solidFill>
                <a:latin typeface="Courier New" pitchFamily="34" charset="0"/>
                <a:ea typeface="Courier New" pitchFamily="34" charset="-122"/>
                <a:cs typeface="Courier New" pitchFamily="34" charset="-120"/>
              </a:rPr>
              <a:t>Ingeniería Web</a:t>
            </a:r>
            <a:r>
              <a:rPr lang="en-US" sz="950" dirty="0">
                <a:solidFill>
                  <a:srgbClr val="3DDC97"/>
                </a:solidFill>
                <a:latin typeface="Courier New" pitchFamily="34" charset="0"/>
                <a:ea typeface="Courier New" pitchFamily="34" charset="-122"/>
                <a:cs typeface="Courier New" pitchFamily="34" charset="-120"/>
              </a:rPr>
              <a:t>&lt;/h1&gt;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&lt;/header&gt;</a:t>
            </a:r>
            <a:endParaRPr lang="en-US" sz="950" dirty="0"/>
          </a:p>
        </p:txBody>
      </p:sp>
      <p:sp>
        <p:nvSpPr>
          <p:cNvPr id="9" name="Text 7"/>
          <p:cNvSpPr txBox="1"/>
          <p:nvPr/>
        </p:nvSpPr>
        <p:spPr>
          <a:xfrm>
            <a:off x="4709160" y="1664208"/>
            <a:ext cx="3730752" cy="2249424"/>
          </a:xfrm>
          <a:prstGeom prst="rect">
            <a:avLst/>
          </a:prstGeom>
          <a:noFill/>
          <a:ln/>
        </p:spPr>
        <p:txBody>
          <a:bodyPr wrap="square" lIns="0" tIns="0" rIns="0" bIns="0" rtlCol="0" anchor="t"/>
          <a:lstStyle/>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&lt;nav&gt;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&lt;a</a:t>
            </a:r>
            <a:r>
              <a:rPr lang="en-US" sz="950" dirty="0">
                <a:solidFill>
                  <a:srgbClr val="FFB86C"/>
                </a:solidFill>
                <a:latin typeface="Courier New" pitchFamily="34" charset="0"/>
                <a:ea typeface="Courier New" pitchFamily="34" charset="-122"/>
                <a:cs typeface="Courier New" pitchFamily="34" charset="-120"/>
              </a:rPr>
              <a:t> href=</a:t>
            </a:r>
            <a:r>
              <a:rPr lang="en-US" sz="950" dirty="0">
                <a:solidFill>
                  <a:srgbClr val="FFD479"/>
                </a:solidFill>
                <a:latin typeface="Courier New" pitchFamily="34" charset="0"/>
                <a:ea typeface="Courier New" pitchFamily="34" charset="-122"/>
                <a:cs typeface="Courier New" pitchFamily="34" charset="-120"/>
              </a:rPr>
              <a:t>"/"</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Inicio</a:t>
            </a:r>
            <a:r>
              <a:rPr lang="en-US" sz="950" dirty="0">
                <a:solidFill>
                  <a:srgbClr val="3DDC97"/>
                </a:solidFill>
                <a:latin typeface="Courier New" pitchFamily="34" charset="0"/>
                <a:ea typeface="Courier New" pitchFamily="34" charset="-122"/>
                <a:cs typeface="Courier New" pitchFamily="34" charset="-120"/>
              </a:rPr>
              <a:t>&lt;/a&gt;</a:t>
            </a:r>
          </a:p>
          <a:p>
            <a:r>
              <a:rPr lang="en-US" sz="950" dirty="0">
                <a:solidFill>
                  <a:srgbClr val="3DDC97"/>
                </a:solidFill>
                <a:latin typeface="Courier New" pitchFamily="34" charset="0"/>
                <a:ea typeface="Courier New" pitchFamily="34" charset="-122"/>
                <a:cs typeface="Courier New" pitchFamily="34" charset="-120"/>
              </a:rPr>
              <a:t>        &lt;a</a:t>
            </a:r>
            <a:r>
              <a:rPr lang="en-US" sz="950" dirty="0">
                <a:solidFill>
                  <a:srgbClr val="FFB86C"/>
                </a:solidFill>
                <a:latin typeface="Courier New" pitchFamily="34" charset="0"/>
                <a:ea typeface="Courier New" pitchFamily="34" charset="-122"/>
                <a:cs typeface="Courier New" pitchFamily="34" charset="-120"/>
              </a:rPr>
              <a:t> </a:t>
            </a:r>
            <a:r>
              <a:rPr lang="en-US" sz="950" dirty="0" err="1">
                <a:solidFill>
                  <a:srgbClr val="FFB86C"/>
                </a:solidFill>
                <a:latin typeface="Courier New" pitchFamily="34" charset="0"/>
                <a:ea typeface="Courier New" pitchFamily="34" charset="-122"/>
                <a:cs typeface="Courier New" pitchFamily="34" charset="-120"/>
              </a:rPr>
              <a:t>href</a:t>
            </a:r>
            <a:r>
              <a:rPr lang="en-US" sz="950" dirty="0">
                <a:solidFill>
                  <a:srgbClr val="FFB86C"/>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a:t>
            </a:r>
            <a:r>
              <a:rPr lang="es-CO" sz="950" dirty="0">
                <a:solidFill>
                  <a:srgbClr val="FFD479"/>
                </a:solidFill>
                <a:latin typeface="Courier New" panose="02070309020205020404" pitchFamily="49" charset="0"/>
                <a:cs typeface="Courier New" panose="02070309020205020404" pitchFamily="49" charset="0"/>
              </a:rPr>
              <a:t>acerca</a:t>
            </a:r>
            <a:r>
              <a:rPr lang="en-US" sz="950" dirty="0">
                <a:solidFill>
                  <a:srgbClr val="FFD479"/>
                </a:solidFill>
                <a:latin typeface="Courier New" pitchFamily="34" charset="0"/>
                <a:ea typeface="Courier New" pitchFamily="34" charset="-122"/>
                <a:cs typeface="Courier New" pitchFamily="34" charset="-120"/>
              </a:rPr>
              <a:t>“</a:t>
            </a:r>
            <a:r>
              <a:rPr lang="es-ES" sz="950" dirty="0">
                <a:solidFill>
                  <a:srgbClr val="3DDC97"/>
                </a:solidFill>
                <a:latin typeface="Courier New" pitchFamily="34" charset="0"/>
                <a:ea typeface="Courier New" pitchFamily="34" charset="-122"/>
                <a:cs typeface="Courier New" pitchFamily="34" charset="-120"/>
              </a:rPr>
              <a:t>&gt;</a:t>
            </a:r>
            <a:r>
              <a:rPr lang="es-ES" sz="950" dirty="0">
                <a:solidFill>
                  <a:schemeClr val="bg1"/>
                </a:solidFill>
                <a:latin typeface="Courier New" pitchFamily="34" charset="0"/>
                <a:ea typeface="Courier New" pitchFamily="34" charset="-122"/>
                <a:cs typeface="Courier New" pitchFamily="34" charset="-120"/>
              </a:rPr>
              <a:t>Acerca</a:t>
            </a:r>
            <a:r>
              <a:rPr lang="es-ES" sz="950" dirty="0">
                <a:solidFill>
                  <a:srgbClr val="3DDC97"/>
                </a:solidFill>
                <a:latin typeface="Courier New" pitchFamily="34" charset="0"/>
                <a:ea typeface="Courier New" pitchFamily="34" charset="-122"/>
                <a:cs typeface="Courier New" pitchFamily="34" charset="-120"/>
              </a:rPr>
              <a:t>&lt;/a&gt;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&lt;a</a:t>
            </a:r>
            <a:r>
              <a:rPr lang="en-US" sz="950" dirty="0">
                <a:solidFill>
                  <a:srgbClr val="FFB86C"/>
                </a:solidFill>
                <a:latin typeface="Courier New" pitchFamily="34" charset="0"/>
                <a:ea typeface="Courier New" pitchFamily="34" charset="-122"/>
                <a:cs typeface="Courier New" pitchFamily="34" charset="-120"/>
              </a:rPr>
              <a:t> href=</a:t>
            </a:r>
            <a:r>
              <a:rPr lang="en-US" sz="950" dirty="0">
                <a:solidFill>
                  <a:srgbClr val="FFD479"/>
                </a:solidFill>
                <a:latin typeface="Courier New" pitchFamily="34" charset="0"/>
                <a:ea typeface="Courier New" pitchFamily="34" charset="-122"/>
                <a:cs typeface="Courier New" pitchFamily="34" charset="-120"/>
              </a:rPr>
              <a:t>"/servicios"</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Servicios</a:t>
            </a:r>
            <a:r>
              <a:rPr lang="en-US" sz="950" dirty="0">
                <a:solidFill>
                  <a:srgbClr val="3DDC97"/>
                </a:solidFill>
                <a:latin typeface="Courier New" pitchFamily="34" charset="0"/>
                <a:ea typeface="Courier New" pitchFamily="34" charset="-122"/>
                <a:cs typeface="Courier New" pitchFamily="34" charset="-120"/>
              </a:rPr>
              <a:t>&lt;/a&gt;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&lt;a</a:t>
            </a:r>
            <a:r>
              <a:rPr lang="en-US" sz="950" dirty="0">
                <a:solidFill>
                  <a:srgbClr val="FFB86C"/>
                </a:solidFill>
                <a:latin typeface="Courier New" pitchFamily="34" charset="0"/>
                <a:ea typeface="Courier New" pitchFamily="34" charset="-122"/>
                <a:cs typeface="Courier New" pitchFamily="34" charset="-120"/>
              </a:rPr>
              <a:t> href=</a:t>
            </a:r>
            <a:r>
              <a:rPr lang="en-US" sz="950" dirty="0">
                <a:solidFill>
                  <a:srgbClr val="FFD479"/>
                </a:solidFill>
                <a:latin typeface="Courier New" pitchFamily="34" charset="0"/>
                <a:ea typeface="Courier New" pitchFamily="34" charset="-122"/>
                <a:cs typeface="Courier New" pitchFamily="34" charset="-120"/>
              </a:rPr>
              <a:t>"/contacto"</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Contacto</a:t>
            </a:r>
            <a:r>
              <a:rPr lang="en-US" sz="950" dirty="0">
                <a:solidFill>
                  <a:srgbClr val="3DDC97"/>
                </a:solidFill>
                <a:latin typeface="Courier New" pitchFamily="34" charset="0"/>
                <a:ea typeface="Courier New" pitchFamily="34" charset="-122"/>
                <a:cs typeface="Courier New" pitchFamily="34" charset="-120"/>
              </a:rPr>
              <a:t>&lt;/a&gt;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&lt;/nav&gt;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&lt;main&gt;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&lt;section&gt;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&lt;h2&gt;</a:t>
            </a:r>
            <a:r>
              <a:rPr lang="en-US" sz="950" dirty="0">
                <a:solidFill>
                  <a:srgbClr val="D7E1EE"/>
                </a:solidFill>
                <a:latin typeface="Courier New" pitchFamily="34" charset="0"/>
                <a:ea typeface="Courier New" pitchFamily="34" charset="-122"/>
                <a:cs typeface="Courier New" pitchFamily="34" charset="-120"/>
              </a:rPr>
              <a:t>Sobre la asignatura</a:t>
            </a:r>
            <a:r>
              <a:rPr lang="en-US" sz="950" dirty="0">
                <a:solidFill>
                  <a:srgbClr val="3DDC97"/>
                </a:solidFill>
                <a:latin typeface="Courier New" pitchFamily="34" charset="0"/>
                <a:ea typeface="Courier New" pitchFamily="34" charset="-122"/>
                <a:cs typeface="Courier New" pitchFamily="34" charset="-120"/>
              </a:rPr>
              <a:t>&lt;/h2&gt;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&lt;p&gt;</a:t>
            </a:r>
            <a:r>
              <a:rPr lang="en-US" sz="950" dirty="0">
                <a:solidFill>
                  <a:srgbClr val="D7E1EE"/>
                </a:solidFill>
                <a:latin typeface="Courier New" pitchFamily="34" charset="0"/>
                <a:ea typeface="Courier New" pitchFamily="34" charset="-122"/>
                <a:cs typeface="Courier New" pitchFamily="34" charset="-120"/>
              </a:rPr>
              <a:t>Introducción al desarrollo Web.</a:t>
            </a:r>
            <a:r>
              <a:rPr lang="en-US" sz="950" dirty="0">
                <a:solidFill>
                  <a:srgbClr val="3DDC97"/>
                </a:solidFill>
                <a:latin typeface="Courier New" pitchFamily="34" charset="0"/>
                <a:ea typeface="Courier New" pitchFamily="34" charset="-122"/>
                <a:cs typeface="Courier New" pitchFamily="34" charset="-120"/>
              </a:rPr>
              <a:t>&lt;/p&gt;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&lt;/section&gt;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&lt;/main&gt;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&lt;footer&gt;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&lt;p&gt;</a:t>
            </a:r>
            <a:r>
              <a:rPr lang="en-US" sz="950" dirty="0">
                <a:solidFill>
                  <a:srgbClr val="D7E1EE"/>
                </a:solidFill>
                <a:latin typeface="Courier New" pitchFamily="34" charset="0"/>
                <a:ea typeface="Courier New" pitchFamily="34" charset="-122"/>
                <a:cs typeface="Courier New" pitchFamily="34" charset="-120"/>
              </a:rPr>
              <a:t>Universidad Cooperativa de Colombia</a:t>
            </a:r>
            <a:r>
              <a:rPr lang="en-US" sz="950" dirty="0">
                <a:solidFill>
                  <a:srgbClr val="3DDC97"/>
                </a:solidFill>
                <a:latin typeface="Courier New" pitchFamily="34" charset="0"/>
                <a:ea typeface="Courier New" pitchFamily="34" charset="-122"/>
                <a:cs typeface="Courier New" pitchFamily="34" charset="-120"/>
              </a:rPr>
              <a:t>&lt;/p&gt;</a:t>
            </a:r>
            <a:endParaRPr lang="en-US" sz="950" dirty="0"/>
          </a:p>
          <a:p>
            <a:pPr marL="0" indent="0">
              <a:lnSpc>
                <a:spcPts val="110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&lt;/footer&gt;</a:t>
            </a:r>
            <a:endParaRPr lang="en-US" sz="950" dirty="0"/>
          </a:p>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&lt;/body&gt;</a:t>
            </a:r>
            <a:endParaRPr lang="en-US" sz="950" dirty="0"/>
          </a:p>
          <a:p>
            <a:pPr marL="0" indent="0">
              <a:lnSpc>
                <a:spcPts val="1100"/>
              </a:lnSpc>
              <a:buNone/>
            </a:pPr>
            <a:r>
              <a:rPr lang="en-US" sz="950" dirty="0">
                <a:solidFill>
                  <a:srgbClr val="3DDC97"/>
                </a:solidFill>
                <a:latin typeface="Courier New" pitchFamily="34" charset="0"/>
                <a:ea typeface="Courier New" pitchFamily="34" charset="-122"/>
                <a:cs typeface="Courier New" pitchFamily="34" charset="-120"/>
              </a:rPr>
              <a:t>&lt;/html&gt;</a:t>
            </a:r>
            <a:endParaRPr lang="en-US" sz="950" dirty="0"/>
          </a:p>
        </p:txBody>
      </p:sp>
      <p:sp>
        <p:nvSpPr>
          <p:cNvPr id="10" name="Text 8"/>
          <p:cNvSpPr txBox="1"/>
          <p:nvPr/>
        </p:nvSpPr>
        <p:spPr>
          <a:xfrm>
            <a:off x="502920" y="4096512"/>
            <a:ext cx="8138160" cy="182880"/>
          </a:xfrm>
          <a:prstGeom prst="rect">
            <a:avLst/>
          </a:prstGeom>
          <a:noFill/>
          <a:ln/>
        </p:spPr>
        <p:txBody>
          <a:bodyPr wrap="square" lIns="0" tIns="0" rIns="0" bIns="0" rtlCol="0" anchor="ctr"/>
          <a:lstStyle/>
          <a:p>
            <a:pPr marL="0" indent="0">
              <a:buNone/>
            </a:pPr>
            <a:r>
              <a:rPr lang="en-US" sz="900" b="1" kern="0" spc="80" dirty="0">
                <a:solidFill>
                  <a:srgbClr val="FF8A3D"/>
                </a:solidFill>
                <a:latin typeface="Arial" pitchFamily="34" charset="0"/>
                <a:ea typeface="Arial" pitchFamily="34" charset="-122"/>
                <a:cs typeface="Arial" pitchFamily="34" charset="-120"/>
              </a:rPr>
              <a:t>Secuencia en clase</a:t>
            </a:r>
            <a:endParaRPr lang="en-US" sz="900" dirty="0"/>
          </a:p>
        </p:txBody>
      </p:sp>
      <p:sp>
        <p:nvSpPr>
          <p:cNvPr id="11" name="Shape 9"/>
          <p:cNvSpPr/>
          <p:nvPr/>
        </p:nvSpPr>
        <p:spPr>
          <a:xfrm>
            <a:off x="502920" y="4315968"/>
            <a:ext cx="1527048"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2" name="Text 10"/>
          <p:cNvSpPr txBox="1"/>
          <p:nvPr/>
        </p:nvSpPr>
        <p:spPr>
          <a:xfrm>
            <a:off x="539496" y="4315968"/>
            <a:ext cx="1453896" cy="310896"/>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Abrir index.html</a:t>
            </a:r>
            <a:endParaRPr lang="en-US" sz="900" dirty="0"/>
          </a:p>
        </p:txBody>
      </p:sp>
      <p:sp>
        <p:nvSpPr>
          <p:cNvPr id="13" name="Shape 11"/>
          <p:cNvSpPr/>
          <p:nvPr/>
        </p:nvSpPr>
        <p:spPr>
          <a:xfrm>
            <a:off x="2155698" y="4315968"/>
            <a:ext cx="1527048"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4" name="Text 12"/>
          <p:cNvSpPr txBox="1"/>
          <p:nvPr/>
        </p:nvSpPr>
        <p:spPr>
          <a:xfrm>
            <a:off x="2192274" y="4315968"/>
            <a:ext cx="1453896" cy="310896"/>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Aplicar semántica</a:t>
            </a:r>
            <a:endParaRPr lang="en-US" sz="900" dirty="0"/>
          </a:p>
        </p:txBody>
      </p:sp>
      <p:sp>
        <p:nvSpPr>
          <p:cNvPr id="15" name="Shape 13"/>
          <p:cNvSpPr/>
          <p:nvPr/>
        </p:nvSpPr>
        <p:spPr>
          <a:xfrm>
            <a:off x="3808476" y="4315968"/>
            <a:ext cx="1527048"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6" name="Text 14"/>
          <p:cNvSpPr txBox="1"/>
          <p:nvPr/>
        </p:nvSpPr>
        <p:spPr>
          <a:xfrm>
            <a:off x="3845052" y="4315968"/>
            <a:ext cx="1453896" cy="310896"/>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Guardar el archivo</a:t>
            </a:r>
            <a:endParaRPr lang="en-US" sz="900" dirty="0"/>
          </a:p>
        </p:txBody>
      </p:sp>
      <p:sp>
        <p:nvSpPr>
          <p:cNvPr id="17" name="Shape 15"/>
          <p:cNvSpPr/>
          <p:nvPr/>
        </p:nvSpPr>
        <p:spPr>
          <a:xfrm>
            <a:off x="5461254" y="4315968"/>
            <a:ext cx="1527048"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8" name="Text 16"/>
          <p:cNvSpPr txBox="1"/>
          <p:nvPr/>
        </p:nvSpPr>
        <p:spPr>
          <a:xfrm>
            <a:off x="5497830" y="4315968"/>
            <a:ext cx="1453896" cy="310896"/>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node server.js</a:t>
            </a:r>
            <a:endParaRPr lang="en-US" sz="900" dirty="0"/>
          </a:p>
        </p:txBody>
      </p:sp>
      <p:sp>
        <p:nvSpPr>
          <p:cNvPr id="19" name="Shape 17"/>
          <p:cNvSpPr/>
          <p:nvPr/>
        </p:nvSpPr>
        <p:spPr>
          <a:xfrm>
            <a:off x="7114032" y="4315968"/>
            <a:ext cx="1527048"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20" name="Text 18"/>
          <p:cNvSpPr txBox="1"/>
          <p:nvPr/>
        </p:nvSpPr>
        <p:spPr>
          <a:xfrm>
            <a:off x="7150608" y="4315968"/>
            <a:ext cx="1453896" cy="310896"/>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Probar las tres rutas</a:t>
            </a:r>
            <a:endParaRPr lang="en-US" sz="900" dirty="0"/>
          </a:p>
        </p:txBody>
      </p:sp>
      <p:sp>
        <p:nvSpPr>
          <p:cNvPr id="22" name="Text 19"/>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11 / 20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14300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14300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TRANSICIÓN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De consultar información a introducir información</a:t>
            </a:r>
            <a:endParaRPr lang="en-US" sz="2600" dirty="0"/>
          </a:p>
        </p:txBody>
      </p:sp>
      <p:sp>
        <p:nvSpPr>
          <p:cNvPr id="5" name="Shape 3"/>
          <p:cNvSpPr/>
          <p:nvPr/>
        </p:nvSpPr>
        <p:spPr>
          <a:xfrm>
            <a:off x="502920" y="1316736"/>
            <a:ext cx="3977640" cy="2395728"/>
          </a:xfrm>
          <a:prstGeom prst="roundRect">
            <a:avLst>
              <a:gd name="adj" fmla="val 3053"/>
            </a:avLst>
          </a:prstGeom>
          <a:solidFill>
            <a:srgbClr val="1A2434"/>
          </a:solidFill>
          <a:ln w="12700">
            <a:solidFill>
              <a:srgbClr val="56C7F2"/>
            </a:solidFill>
            <a:prstDash val="solid"/>
          </a:ln>
        </p:spPr>
        <p:txBody>
          <a:bodyPr/>
          <a:lstStyle/>
          <a:p>
            <a:endParaRPr lang="es-CO"/>
          </a:p>
        </p:txBody>
      </p:sp>
      <p:sp>
        <p:nvSpPr>
          <p:cNvPr id="6" name="Text 4"/>
          <p:cNvSpPr txBox="1"/>
          <p:nvPr/>
        </p:nvSpPr>
        <p:spPr>
          <a:xfrm>
            <a:off x="731520" y="1481328"/>
            <a:ext cx="3520440" cy="219456"/>
          </a:xfrm>
          <a:prstGeom prst="rect">
            <a:avLst/>
          </a:prstGeom>
          <a:noFill/>
          <a:ln/>
        </p:spPr>
        <p:txBody>
          <a:bodyPr wrap="square" lIns="0" tIns="0" rIns="0" bIns="0" rtlCol="0" anchor="ctr"/>
          <a:lstStyle/>
          <a:p>
            <a:pPr marL="0" indent="0">
              <a:buNone/>
            </a:pPr>
            <a:r>
              <a:rPr lang="en-US" sz="1300" b="1" dirty="0">
                <a:solidFill>
                  <a:srgbClr val="56C7F2"/>
                </a:solidFill>
                <a:latin typeface="Arial" pitchFamily="34" charset="0"/>
                <a:ea typeface="Arial" pitchFamily="34" charset="-122"/>
                <a:cs typeface="Arial" pitchFamily="34" charset="-120"/>
              </a:rPr>
              <a:t>Hasta ahora</a:t>
            </a:r>
            <a:endParaRPr lang="en-US" sz="1300" dirty="0"/>
          </a:p>
        </p:txBody>
      </p:sp>
      <p:sp>
        <p:nvSpPr>
          <p:cNvPr id="7" name="Text 5"/>
          <p:cNvSpPr txBox="1"/>
          <p:nvPr/>
        </p:nvSpPr>
        <p:spPr>
          <a:xfrm>
            <a:off x="731520" y="1792224"/>
            <a:ext cx="3520440" cy="658368"/>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El usuario solicita recursos. El navegador genera peticiones y el servidor responde con documentos.</a:t>
            </a:r>
            <a:endParaRPr lang="en-US" sz="1050" dirty="0"/>
          </a:p>
        </p:txBody>
      </p:sp>
      <p:sp>
        <p:nvSpPr>
          <p:cNvPr id="8" name="Shape 6"/>
          <p:cNvSpPr/>
          <p:nvPr/>
        </p:nvSpPr>
        <p:spPr>
          <a:xfrm>
            <a:off x="731520" y="2487168"/>
            <a:ext cx="3520440" cy="658368"/>
          </a:xfrm>
          <a:prstGeom prst="roundRect">
            <a:avLst>
              <a:gd name="adj" fmla="val 11111"/>
            </a:avLst>
          </a:prstGeom>
          <a:solidFill>
            <a:srgbClr val="070C14"/>
          </a:solidFill>
          <a:ln w="12700">
            <a:solidFill>
              <a:srgbClr val="2B3B52"/>
            </a:solidFill>
            <a:prstDash val="solid"/>
          </a:ln>
        </p:spPr>
        <p:txBody>
          <a:bodyPr/>
          <a:lstStyle/>
          <a:p>
            <a:endParaRPr lang="es-CO"/>
          </a:p>
        </p:txBody>
      </p:sp>
      <p:sp>
        <p:nvSpPr>
          <p:cNvPr id="9" name="Text 7"/>
          <p:cNvSpPr txBox="1"/>
          <p:nvPr/>
        </p:nvSpPr>
        <p:spPr>
          <a:xfrm>
            <a:off x="877824" y="2542032"/>
            <a:ext cx="3227832" cy="530352"/>
          </a:xfrm>
          <a:prstGeom prst="rect">
            <a:avLst/>
          </a:prstGeom>
          <a:noFill/>
          <a:ln/>
        </p:spPr>
        <p:txBody>
          <a:bodyPr wrap="square" lIns="0" tIns="0" rIns="0" bIns="0" rtlCol="0" anchor="t"/>
          <a:lstStyle/>
          <a:p>
            <a:pPr marL="0" indent="0">
              <a:lnSpc>
                <a:spcPts val="1250"/>
              </a:lnSpc>
              <a:buNone/>
            </a:pPr>
            <a:r>
              <a:rPr lang="en-US" sz="1000" dirty="0">
                <a:solidFill>
                  <a:srgbClr val="D7E1EE"/>
                </a:solidFill>
                <a:latin typeface="Courier New" pitchFamily="34" charset="0"/>
                <a:ea typeface="Courier New" pitchFamily="34" charset="-122"/>
                <a:cs typeface="Courier New" pitchFamily="34" charset="-120"/>
              </a:rPr>
              <a:t>GET /contacto</a:t>
            </a:r>
            <a:endParaRPr lang="en-US" sz="1000" dirty="0"/>
          </a:p>
          <a:p>
            <a:pPr marL="0" indent="0">
              <a:lnSpc>
                <a:spcPts val="1250"/>
              </a:lnSpc>
              <a:buNone/>
            </a:pPr>
            <a:r>
              <a:rPr lang="en-US" sz="1000" dirty="0">
                <a:solidFill>
                  <a:srgbClr val="D7E1EE"/>
                </a:solidFill>
                <a:latin typeface="Courier New" pitchFamily="34" charset="0"/>
                <a:ea typeface="Courier New" pitchFamily="34" charset="-122"/>
                <a:cs typeface="Courier New" pitchFamily="34" charset="-120"/>
              </a:rPr>
              <a:t>200 OK  +  HTML</a:t>
            </a:r>
            <a:endParaRPr lang="en-US" sz="1000" dirty="0"/>
          </a:p>
        </p:txBody>
      </p:sp>
      <p:sp>
        <p:nvSpPr>
          <p:cNvPr id="10" name="Shape 8"/>
          <p:cNvSpPr/>
          <p:nvPr/>
        </p:nvSpPr>
        <p:spPr>
          <a:xfrm>
            <a:off x="731520" y="3236976"/>
            <a:ext cx="2286000" cy="310896"/>
          </a:xfrm>
          <a:prstGeom prst="roundRect">
            <a:avLst>
              <a:gd name="adj" fmla="val 26471"/>
            </a:avLst>
          </a:prstGeom>
          <a:solidFill>
            <a:srgbClr val="1A2434"/>
          </a:solidFill>
          <a:ln w="12700">
            <a:solidFill>
              <a:srgbClr val="56C7F2"/>
            </a:solidFill>
            <a:prstDash val="solid"/>
          </a:ln>
        </p:spPr>
        <p:txBody>
          <a:bodyPr/>
          <a:lstStyle/>
          <a:p>
            <a:endParaRPr lang="es-CO"/>
          </a:p>
        </p:txBody>
      </p:sp>
      <p:sp>
        <p:nvSpPr>
          <p:cNvPr id="11" name="Text 9"/>
          <p:cNvSpPr txBox="1"/>
          <p:nvPr/>
        </p:nvSpPr>
        <p:spPr>
          <a:xfrm>
            <a:off x="795020" y="3236976"/>
            <a:ext cx="2286000" cy="310896"/>
          </a:xfrm>
          <a:prstGeom prst="rect">
            <a:avLst/>
          </a:prstGeom>
          <a:noFill/>
          <a:ln/>
        </p:spPr>
        <p:txBody>
          <a:bodyPr wrap="square" lIns="0" tIns="0" rIns="0" bIns="0" rtlCol="0" anchor="ctr"/>
          <a:lstStyle/>
          <a:p>
            <a:pPr marL="0" indent="0" algn="just">
              <a:buNone/>
            </a:pPr>
            <a:r>
              <a:rPr lang="en-US" sz="900" b="1" dirty="0" err="1">
                <a:solidFill>
                  <a:srgbClr val="56C7F2"/>
                </a:solidFill>
                <a:latin typeface="Arial" pitchFamily="34" charset="0"/>
                <a:ea typeface="Arial" pitchFamily="34" charset="-122"/>
                <a:cs typeface="Arial" pitchFamily="34" charset="-120"/>
              </a:rPr>
              <a:t>Cliente</a:t>
            </a:r>
            <a:r>
              <a:rPr lang="en-US" sz="900" b="1" dirty="0">
                <a:solidFill>
                  <a:srgbClr val="56C7F2"/>
                </a:solidFill>
                <a:latin typeface="Arial" pitchFamily="34" charset="0"/>
                <a:ea typeface="Arial" pitchFamily="34" charset="-122"/>
                <a:cs typeface="Arial" pitchFamily="34" charset="-120"/>
              </a:rPr>
              <a:t> → GET /</a:t>
            </a:r>
            <a:r>
              <a:rPr lang="en-US" sz="900" b="1" dirty="0" err="1">
                <a:solidFill>
                  <a:srgbClr val="56C7F2"/>
                </a:solidFill>
                <a:latin typeface="Arial" pitchFamily="34" charset="0"/>
                <a:ea typeface="Arial" pitchFamily="34" charset="-122"/>
                <a:cs typeface="Arial" pitchFamily="34" charset="-120"/>
              </a:rPr>
              <a:t>contacto</a:t>
            </a:r>
            <a:r>
              <a:rPr lang="en-US" sz="900" b="1" dirty="0">
                <a:solidFill>
                  <a:srgbClr val="56C7F2"/>
                </a:solidFill>
                <a:latin typeface="Arial" pitchFamily="34" charset="0"/>
                <a:ea typeface="Arial" pitchFamily="34" charset="-122"/>
                <a:cs typeface="Arial" pitchFamily="34" charset="-120"/>
              </a:rPr>
              <a:t> → </a:t>
            </a:r>
            <a:r>
              <a:rPr lang="en-US" sz="900" b="1" dirty="0" err="1">
                <a:solidFill>
                  <a:srgbClr val="56C7F2"/>
                </a:solidFill>
                <a:latin typeface="Arial" pitchFamily="34" charset="0"/>
                <a:ea typeface="Arial" pitchFamily="34" charset="-122"/>
                <a:cs typeface="Arial" pitchFamily="34" charset="-120"/>
              </a:rPr>
              <a:t>Servidor</a:t>
            </a:r>
            <a:endParaRPr lang="en-US" sz="900" b="1" dirty="0">
              <a:solidFill>
                <a:srgbClr val="56C7F2"/>
              </a:solidFill>
              <a:latin typeface="Arial" pitchFamily="34" charset="0"/>
              <a:ea typeface="Arial" pitchFamily="34" charset="-122"/>
              <a:cs typeface="Arial" pitchFamily="34" charset="-120"/>
            </a:endParaRPr>
          </a:p>
          <a:p>
            <a:pPr marL="0" indent="0" algn="just">
              <a:buNone/>
            </a:pPr>
            <a:r>
              <a:rPr lang="en-US" sz="900" b="1" dirty="0" err="1">
                <a:solidFill>
                  <a:srgbClr val="56C7F2"/>
                </a:solidFill>
                <a:latin typeface="Arial" pitchFamily="34" charset="0"/>
                <a:ea typeface="Arial" pitchFamily="34" charset="-122"/>
                <a:cs typeface="Arial" pitchFamily="34" charset="-120"/>
              </a:rPr>
              <a:t>Cliente</a:t>
            </a:r>
            <a:r>
              <a:rPr lang="en-US" sz="900" b="1" dirty="0">
                <a:solidFill>
                  <a:srgbClr val="56C7F2"/>
                </a:solidFill>
                <a:latin typeface="Arial" pitchFamily="34" charset="0"/>
                <a:ea typeface="Arial" pitchFamily="34" charset="-122"/>
                <a:cs typeface="Arial" pitchFamily="34" charset="-120"/>
              </a:rPr>
              <a:t> ← 200 OK + HTML ← </a:t>
            </a:r>
            <a:r>
              <a:rPr lang="en-US" sz="900" b="1" dirty="0" err="1">
                <a:solidFill>
                  <a:srgbClr val="56C7F2"/>
                </a:solidFill>
                <a:latin typeface="Arial" pitchFamily="34" charset="0"/>
                <a:ea typeface="Arial" pitchFamily="34" charset="-122"/>
                <a:cs typeface="Arial" pitchFamily="34" charset="-120"/>
              </a:rPr>
              <a:t>Servidor</a:t>
            </a:r>
            <a:endParaRPr lang="en-US" sz="900" dirty="0"/>
          </a:p>
        </p:txBody>
      </p:sp>
      <p:sp>
        <p:nvSpPr>
          <p:cNvPr id="12" name="Shape 10"/>
          <p:cNvSpPr/>
          <p:nvPr/>
        </p:nvSpPr>
        <p:spPr>
          <a:xfrm>
            <a:off x="4663440" y="1316736"/>
            <a:ext cx="3977640" cy="2395728"/>
          </a:xfrm>
          <a:prstGeom prst="roundRect">
            <a:avLst>
              <a:gd name="adj" fmla="val 3053"/>
            </a:avLst>
          </a:prstGeom>
          <a:solidFill>
            <a:srgbClr val="1A2434"/>
          </a:solidFill>
          <a:ln w="12700">
            <a:solidFill>
              <a:srgbClr val="3DDC97"/>
            </a:solidFill>
            <a:prstDash val="solid"/>
          </a:ln>
        </p:spPr>
        <p:txBody>
          <a:bodyPr/>
          <a:lstStyle/>
          <a:p>
            <a:endParaRPr lang="es-CO"/>
          </a:p>
        </p:txBody>
      </p:sp>
      <p:sp>
        <p:nvSpPr>
          <p:cNvPr id="13" name="Text 11"/>
          <p:cNvSpPr txBox="1"/>
          <p:nvPr/>
        </p:nvSpPr>
        <p:spPr>
          <a:xfrm>
            <a:off x="4892040" y="1481328"/>
            <a:ext cx="3520440" cy="219456"/>
          </a:xfrm>
          <a:prstGeom prst="rect">
            <a:avLst/>
          </a:prstGeom>
          <a:noFill/>
          <a:ln/>
        </p:spPr>
        <p:txBody>
          <a:bodyPr wrap="square" lIns="0" tIns="0" rIns="0" bIns="0" rtlCol="0" anchor="ctr"/>
          <a:lstStyle/>
          <a:p>
            <a:pPr marL="0" indent="0">
              <a:buNone/>
            </a:pPr>
            <a:r>
              <a:rPr lang="en-US" sz="1300" b="1" dirty="0">
                <a:solidFill>
                  <a:srgbClr val="3DDC97"/>
                </a:solidFill>
                <a:latin typeface="Arial" pitchFamily="34" charset="0"/>
                <a:ea typeface="Arial" pitchFamily="34" charset="-122"/>
                <a:cs typeface="Arial" pitchFamily="34" charset="-120"/>
              </a:rPr>
              <a:t>A partir de ahora</a:t>
            </a:r>
            <a:endParaRPr lang="en-US" sz="1300" dirty="0"/>
          </a:p>
        </p:txBody>
      </p:sp>
      <p:sp>
        <p:nvSpPr>
          <p:cNvPr id="14" name="Text 12"/>
          <p:cNvSpPr txBox="1"/>
          <p:nvPr/>
        </p:nvSpPr>
        <p:spPr>
          <a:xfrm>
            <a:off x="4892040" y="1792224"/>
            <a:ext cx="3520440" cy="658368"/>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El usuario introduce datos y solicita su envío. La petición transporta esa información hacia el servidor.</a:t>
            </a:r>
            <a:endParaRPr lang="en-US" sz="1050" dirty="0"/>
          </a:p>
        </p:txBody>
      </p:sp>
      <p:sp>
        <p:nvSpPr>
          <p:cNvPr id="15" name="Shape 13"/>
          <p:cNvSpPr/>
          <p:nvPr/>
        </p:nvSpPr>
        <p:spPr>
          <a:xfrm>
            <a:off x="4892040" y="2487168"/>
            <a:ext cx="3520440" cy="658368"/>
          </a:xfrm>
          <a:prstGeom prst="roundRect">
            <a:avLst>
              <a:gd name="adj" fmla="val 11111"/>
            </a:avLst>
          </a:prstGeom>
          <a:solidFill>
            <a:srgbClr val="070C14"/>
          </a:solidFill>
          <a:ln w="12700">
            <a:solidFill>
              <a:srgbClr val="2B3B52"/>
            </a:solidFill>
            <a:prstDash val="solid"/>
          </a:ln>
        </p:spPr>
        <p:txBody>
          <a:bodyPr/>
          <a:lstStyle/>
          <a:p>
            <a:endParaRPr lang="es-CO"/>
          </a:p>
        </p:txBody>
      </p:sp>
      <p:sp>
        <p:nvSpPr>
          <p:cNvPr id="16" name="Text 14"/>
          <p:cNvSpPr txBox="1"/>
          <p:nvPr/>
        </p:nvSpPr>
        <p:spPr>
          <a:xfrm>
            <a:off x="5038344" y="2542032"/>
            <a:ext cx="3227832" cy="530352"/>
          </a:xfrm>
          <a:prstGeom prst="rect">
            <a:avLst/>
          </a:prstGeom>
          <a:noFill/>
          <a:ln/>
        </p:spPr>
        <p:txBody>
          <a:bodyPr wrap="square" lIns="0" tIns="0" rIns="0" bIns="0" rtlCol="0" anchor="t"/>
          <a:lstStyle/>
          <a:p>
            <a:pPr marL="0" indent="0">
              <a:lnSpc>
                <a:spcPts val="1250"/>
              </a:lnSpc>
              <a:buNone/>
            </a:pPr>
            <a:r>
              <a:rPr lang="en-US" sz="1000" dirty="0">
                <a:solidFill>
                  <a:srgbClr val="D7E1EE"/>
                </a:solidFill>
                <a:latin typeface="Courier New" pitchFamily="34" charset="0"/>
                <a:ea typeface="Courier New" pitchFamily="34" charset="-122"/>
                <a:cs typeface="Courier New" pitchFamily="34" charset="-120"/>
              </a:rPr>
              <a:t>POST /contacto</a:t>
            </a:r>
            <a:endParaRPr lang="en-US" sz="1000" dirty="0"/>
          </a:p>
          <a:p>
            <a:pPr marL="0" indent="0">
              <a:lnSpc>
                <a:spcPts val="1250"/>
              </a:lnSpc>
              <a:buNone/>
            </a:pPr>
            <a:r>
              <a:rPr lang="en-US" sz="1000" dirty="0">
                <a:solidFill>
                  <a:srgbClr val="D7E1EE"/>
                </a:solidFill>
                <a:latin typeface="Courier New" pitchFamily="34" charset="0"/>
                <a:ea typeface="Courier New" pitchFamily="34" charset="-122"/>
                <a:cs typeface="Courier New" pitchFamily="34" charset="-120"/>
              </a:rPr>
              <a:t>nombre, correo, mensaje</a:t>
            </a:r>
            <a:endParaRPr lang="en-US" sz="1000" dirty="0"/>
          </a:p>
        </p:txBody>
      </p:sp>
      <p:sp>
        <p:nvSpPr>
          <p:cNvPr id="17" name="Shape 15"/>
          <p:cNvSpPr/>
          <p:nvPr/>
        </p:nvSpPr>
        <p:spPr>
          <a:xfrm>
            <a:off x="4892040" y="3236976"/>
            <a:ext cx="3150524" cy="310896"/>
          </a:xfrm>
          <a:prstGeom prst="roundRect">
            <a:avLst>
              <a:gd name="adj" fmla="val 26471"/>
            </a:avLst>
          </a:prstGeom>
          <a:solidFill>
            <a:srgbClr val="1A2434"/>
          </a:solidFill>
          <a:ln w="12700">
            <a:solidFill>
              <a:srgbClr val="3DDC97"/>
            </a:solidFill>
            <a:prstDash val="solid"/>
          </a:ln>
        </p:spPr>
        <p:txBody>
          <a:bodyPr/>
          <a:lstStyle/>
          <a:p>
            <a:endParaRPr lang="es-CO"/>
          </a:p>
        </p:txBody>
      </p:sp>
      <p:sp>
        <p:nvSpPr>
          <p:cNvPr id="18" name="Text 16"/>
          <p:cNvSpPr txBox="1"/>
          <p:nvPr/>
        </p:nvSpPr>
        <p:spPr>
          <a:xfrm>
            <a:off x="4955540" y="3236976"/>
            <a:ext cx="2921924" cy="310896"/>
          </a:xfrm>
          <a:prstGeom prst="rect">
            <a:avLst/>
          </a:prstGeom>
          <a:noFill/>
          <a:ln/>
        </p:spPr>
        <p:txBody>
          <a:bodyPr wrap="square" lIns="0" tIns="0" rIns="0" bIns="0" rtlCol="0" anchor="ctr"/>
          <a:lstStyle/>
          <a:p>
            <a:pPr marL="0" indent="0" algn="just">
              <a:buNone/>
            </a:pPr>
            <a:r>
              <a:rPr lang="es-ES" sz="900" b="1" dirty="0">
                <a:solidFill>
                  <a:srgbClr val="3DDC97"/>
                </a:solidFill>
                <a:latin typeface="Arial" pitchFamily="34" charset="0"/>
                <a:ea typeface="Arial" pitchFamily="34" charset="-122"/>
                <a:cs typeface="Arial" pitchFamily="34" charset="-120"/>
              </a:rPr>
              <a:t>Cliente → POST /contacto + datos → Servidor</a:t>
            </a:r>
          </a:p>
          <a:p>
            <a:pPr marL="0" indent="0" algn="just">
              <a:buNone/>
            </a:pPr>
            <a:r>
              <a:rPr lang="es-ES" sz="900" b="1" dirty="0">
                <a:solidFill>
                  <a:srgbClr val="3DDC97"/>
                </a:solidFill>
                <a:latin typeface="Arial" pitchFamily="34" charset="0"/>
                <a:ea typeface="Arial" pitchFamily="34" charset="-122"/>
                <a:cs typeface="Arial" pitchFamily="34" charset="-120"/>
              </a:rPr>
              <a:t>Cliente ← 200 OK + respuesta ← Servidor</a:t>
            </a:r>
            <a:endParaRPr lang="en-US" sz="900" dirty="0"/>
          </a:p>
        </p:txBody>
      </p:sp>
      <p:sp>
        <p:nvSpPr>
          <p:cNvPr id="19" name="Shape 17"/>
          <p:cNvSpPr/>
          <p:nvPr/>
        </p:nvSpPr>
        <p:spPr>
          <a:xfrm>
            <a:off x="502920" y="3840480"/>
            <a:ext cx="8138160" cy="658368"/>
          </a:xfrm>
          <a:prstGeom prst="roundRect">
            <a:avLst>
              <a:gd name="adj" fmla="val 11111"/>
            </a:avLst>
          </a:prstGeom>
          <a:solidFill>
            <a:srgbClr val="132A24"/>
          </a:solidFill>
          <a:ln w="12700">
            <a:solidFill>
              <a:srgbClr val="3DDC97"/>
            </a:solidFill>
            <a:prstDash val="solid"/>
          </a:ln>
        </p:spPr>
        <p:txBody>
          <a:bodyPr/>
          <a:lstStyle/>
          <a:p>
            <a:endParaRPr lang="es-CO"/>
          </a:p>
        </p:txBody>
      </p:sp>
      <p:sp>
        <p:nvSpPr>
          <p:cNvPr id="20" name="Text 18"/>
          <p:cNvSpPr txBox="1"/>
          <p:nvPr/>
        </p:nvSpPr>
        <p:spPr>
          <a:xfrm>
            <a:off x="731520" y="3840480"/>
            <a:ext cx="7680960" cy="658368"/>
          </a:xfrm>
          <a:prstGeom prst="rect">
            <a:avLst/>
          </a:prstGeom>
          <a:noFill/>
          <a:ln/>
        </p:spPr>
        <p:txBody>
          <a:bodyPr wrap="square" lIns="0" tIns="0" rIns="0" bIns="0" rtlCol="0" anchor="ctr"/>
          <a:lstStyle/>
          <a:p>
            <a:pPr marL="0" indent="0" algn="l">
              <a:buNone/>
            </a:pPr>
            <a:r>
              <a:rPr lang="en-US" sz="1150" dirty="0">
                <a:solidFill>
                  <a:srgbClr val="E8EEF6"/>
                </a:solidFill>
                <a:latin typeface="Calibri" pitchFamily="34" charset="0"/>
                <a:ea typeface="Calibri" pitchFamily="34" charset="-122"/>
                <a:cs typeface="Calibri" pitchFamily="34" charset="-120"/>
              </a:rPr>
              <a:t>Hasta ahora el usuario ha solicitado información. ¿Cómo puede enviar información a nuestra aplicación?</a:t>
            </a:r>
            <a:endParaRPr lang="en-US" sz="1150" dirty="0"/>
          </a:p>
        </p:txBody>
      </p:sp>
      <p:sp>
        <p:nvSpPr>
          <p:cNvPr id="22" name="Text 19"/>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12 / 20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96012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96012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es un formulario Web?</a:t>
            </a:r>
            <a:endParaRPr lang="en-US" sz="2600" dirty="0"/>
          </a:p>
        </p:txBody>
      </p:sp>
      <p:sp>
        <p:nvSpPr>
          <p:cNvPr id="5" name="Shape 3"/>
          <p:cNvSpPr/>
          <p:nvPr/>
        </p:nvSpPr>
        <p:spPr>
          <a:xfrm>
            <a:off x="502920" y="1316736"/>
            <a:ext cx="8138160" cy="868680"/>
          </a:xfrm>
          <a:prstGeom prst="roundRect">
            <a:avLst>
              <a:gd name="adj" fmla="val 8421"/>
            </a:avLst>
          </a:prstGeom>
          <a:solidFill>
            <a:srgbClr val="1A2434"/>
          </a:solidFill>
          <a:ln w="12700">
            <a:solidFill>
              <a:srgbClr val="2B3B52"/>
            </a:solidFill>
            <a:prstDash val="solid"/>
          </a:ln>
        </p:spPr>
        <p:txBody>
          <a:bodyPr/>
          <a:lstStyle/>
          <a:p>
            <a:endParaRPr lang="es-CO"/>
          </a:p>
        </p:txBody>
      </p:sp>
      <p:sp>
        <p:nvSpPr>
          <p:cNvPr id="6" name="Text 4"/>
          <p:cNvSpPr txBox="1"/>
          <p:nvPr/>
        </p:nvSpPr>
        <p:spPr>
          <a:xfrm>
            <a:off x="777240" y="1316736"/>
            <a:ext cx="7589520" cy="868680"/>
          </a:xfrm>
          <a:prstGeom prst="rect">
            <a:avLst/>
          </a:prstGeom>
          <a:noFill/>
          <a:ln/>
        </p:spPr>
        <p:txBody>
          <a:bodyPr wrap="square" lIns="0" tIns="0" rIns="0" bIns="0" rtlCol="0" anchor="ctr"/>
          <a:lstStyle/>
          <a:p>
            <a:pPr marL="0" indent="0" algn="l">
              <a:buNone/>
            </a:pPr>
            <a:r>
              <a:rPr lang="en-US" sz="1200" dirty="0">
                <a:solidFill>
                  <a:srgbClr val="E8EEF6"/>
                </a:solidFill>
                <a:latin typeface="Calibri" pitchFamily="34" charset="0"/>
                <a:ea typeface="Calibri" pitchFamily="34" charset="-122"/>
                <a:cs typeface="Calibri" pitchFamily="34" charset="-120"/>
              </a:rPr>
              <a:t>Un formulario Web es el conjunto de controles HTML mediante los cuales el usuario introduce datos y solicita su envío. El formulario define qué datos se recogen, hacia dónde se envían y con qué método HTTP.</a:t>
            </a:r>
            <a:endParaRPr lang="en-US" sz="1200" dirty="0"/>
          </a:p>
        </p:txBody>
      </p:sp>
      <p:sp>
        <p:nvSpPr>
          <p:cNvPr id="7" name="Shape 5"/>
          <p:cNvSpPr/>
          <p:nvPr/>
        </p:nvSpPr>
        <p:spPr>
          <a:xfrm>
            <a:off x="502920" y="2468880"/>
            <a:ext cx="1510589" cy="777240"/>
          </a:xfrm>
          <a:prstGeom prst="roundRect">
            <a:avLst>
              <a:gd name="adj" fmla="val 9412"/>
            </a:avLst>
          </a:prstGeom>
          <a:solidFill>
            <a:srgbClr val="1A2434"/>
          </a:solidFill>
          <a:ln w="12700">
            <a:solidFill>
              <a:srgbClr val="2B3B52"/>
            </a:solidFill>
            <a:prstDash val="solid"/>
          </a:ln>
        </p:spPr>
        <p:txBody>
          <a:bodyPr/>
          <a:lstStyle/>
          <a:p>
            <a:endParaRPr lang="es-CO"/>
          </a:p>
        </p:txBody>
      </p:sp>
      <p:sp>
        <p:nvSpPr>
          <p:cNvPr id="8" name="Text 6"/>
          <p:cNvSpPr txBox="1"/>
          <p:nvPr/>
        </p:nvSpPr>
        <p:spPr>
          <a:xfrm>
            <a:off x="539496" y="2468880"/>
            <a:ext cx="1437437" cy="77724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Usuario</a:t>
            </a:r>
            <a:endParaRPr lang="en-US" sz="950" dirty="0"/>
          </a:p>
        </p:txBody>
      </p:sp>
      <p:sp>
        <p:nvSpPr>
          <p:cNvPr id="9" name="Shape 7"/>
          <p:cNvSpPr/>
          <p:nvPr/>
        </p:nvSpPr>
        <p:spPr>
          <a:xfrm>
            <a:off x="2031797" y="2857500"/>
            <a:ext cx="109728" cy="0"/>
          </a:xfrm>
          <a:prstGeom prst="line">
            <a:avLst/>
          </a:prstGeom>
          <a:noFill/>
          <a:ln w="12700">
            <a:solidFill>
              <a:srgbClr val="3DDC97"/>
            </a:solidFill>
            <a:prstDash val="solid"/>
            <a:tailEnd type="triangle"/>
          </a:ln>
        </p:spPr>
        <p:txBody>
          <a:bodyPr/>
          <a:lstStyle/>
          <a:p>
            <a:endParaRPr lang="es-CO"/>
          </a:p>
        </p:txBody>
      </p:sp>
      <p:sp>
        <p:nvSpPr>
          <p:cNvPr id="10" name="Shape 8"/>
          <p:cNvSpPr/>
          <p:nvPr/>
        </p:nvSpPr>
        <p:spPr>
          <a:xfrm>
            <a:off x="2159813" y="2468880"/>
            <a:ext cx="1510589" cy="777240"/>
          </a:xfrm>
          <a:prstGeom prst="roundRect">
            <a:avLst>
              <a:gd name="adj" fmla="val 9412"/>
            </a:avLst>
          </a:prstGeom>
          <a:solidFill>
            <a:srgbClr val="1A2434"/>
          </a:solidFill>
          <a:ln w="12700">
            <a:solidFill>
              <a:srgbClr val="3DDC97"/>
            </a:solidFill>
            <a:prstDash val="solid"/>
          </a:ln>
        </p:spPr>
        <p:txBody>
          <a:bodyPr/>
          <a:lstStyle/>
          <a:p>
            <a:endParaRPr lang="es-CO"/>
          </a:p>
        </p:txBody>
      </p:sp>
      <p:sp>
        <p:nvSpPr>
          <p:cNvPr id="11" name="Text 9"/>
          <p:cNvSpPr txBox="1"/>
          <p:nvPr/>
        </p:nvSpPr>
        <p:spPr>
          <a:xfrm>
            <a:off x="2196389" y="2468880"/>
            <a:ext cx="1437437" cy="777240"/>
          </a:xfrm>
          <a:prstGeom prst="rect">
            <a:avLst/>
          </a:prstGeom>
          <a:noFill/>
          <a:ln/>
        </p:spPr>
        <p:txBody>
          <a:bodyPr wrap="square" lIns="0" tIns="0" rIns="0" bIns="0" rtlCol="0" anchor="ctr"/>
          <a:lstStyle/>
          <a:p>
            <a:pPr marL="0" indent="0" algn="ctr">
              <a:buNone/>
            </a:pPr>
            <a:r>
              <a:rPr lang="en-US" sz="950" b="1" dirty="0">
                <a:solidFill>
                  <a:srgbClr val="3DDC97"/>
                </a:solidFill>
                <a:latin typeface="Arial" pitchFamily="34" charset="0"/>
                <a:ea typeface="Arial" pitchFamily="34" charset="-122"/>
                <a:cs typeface="Arial" pitchFamily="34" charset="-120"/>
              </a:rPr>
              <a:t>Campos del </a:t>
            </a:r>
            <a:r>
              <a:rPr lang="en-US" sz="950" b="1" dirty="0" err="1">
                <a:solidFill>
                  <a:srgbClr val="3DDC97"/>
                </a:solidFill>
                <a:latin typeface="Arial" pitchFamily="34" charset="0"/>
                <a:ea typeface="Arial" pitchFamily="34" charset="-122"/>
                <a:cs typeface="Arial" pitchFamily="34" charset="-120"/>
              </a:rPr>
              <a:t>formulario</a:t>
            </a:r>
            <a:r>
              <a:rPr lang="en-US" sz="950" b="1" dirty="0">
                <a:solidFill>
                  <a:srgbClr val="3DDC97"/>
                </a:solidFill>
                <a:latin typeface="Arial" pitchFamily="34" charset="0"/>
                <a:ea typeface="Arial" pitchFamily="34" charset="-122"/>
                <a:cs typeface="Arial" pitchFamily="34" charset="-120"/>
              </a:rPr>
              <a:t>.</a:t>
            </a:r>
            <a:endParaRPr lang="en-US" sz="950" dirty="0"/>
          </a:p>
        </p:txBody>
      </p:sp>
      <p:sp>
        <p:nvSpPr>
          <p:cNvPr id="12" name="Shape 10"/>
          <p:cNvSpPr/>
          <p:nvPr/>
        </p:nvSpPr>
        <p:spPr>
          <a:xfrm>
            <a:off x="3688690" y="2857500"/>
            <a:ext cx="109728" cy="0"/>
          </a:xfrm>
          <a:prstGeom prst="line">
            <a:avLst/>
          </a:prstGeom>
          <a:noFill/>
          <a:ln w="12700">
            <a:solidFill>
              <a:srgbClr val="3DDC97"/>
            </a:solidFill>
            <a:prstDash val="solid"/>
            <a:tailEnd type="triangle"/>
          </a:ln>
        </p:spPr>
        <p:txBody>
          <a:bodyPr/>
          <a:lstStyle/>
          <a:p>
            <a:endParaRPr lang="es-CO"/>
          </a:p>
        </p:txBody>
      </p:sp>
      <p:sp>
        <p:nvSpPr>
          <p:cNvPr id="13" name="Shape 11"/>
          <p:cNvSpPr/>
          <p:nvPr/>
        </p:nvSpPr>
        <p:spPr>
          <a:xfrm>
            <a:off x="3816706" y="2468880"/>
            <a:ext cx="1510589" cy="777240"/>
          </a:xfrm>
          <a:prstGeom prst="roundRect">
            <a:avLst>
              <a:gd name="adj" fmla="val 9412"/>
            </a:avLst>
          </a:prstGeom>
          <a:solidFill>
            <a:srgbClr val="1A2434"/>
          </a:solidFill>
          <a:ln w="12700">
            <a:solidFill>
              <a:srgbClr val="56C7F2"/>
            </a:solidFill>
            <a:prstDash val="solid"/>
          </a:ln>
        </p:spPr>
        <p:txBody>
          <a:bodyPr/>
          <a:lstStyle/>
          <a:p>
            <a:endParaRPr lang="es-CO"/>
          </a:p>
        </p:txBody>
      </p:sp>
      <p:sp>
        <p:nvSpPr>
          <p:cNvPr id="14" name="Text 12"/>
          <p:cNvSpPr txBox="1"/>
          <p:nvPr/>
        </p:nvSpPr>
        <p:spPr>
          <a:xfrm>
            <a:off x="3853282" y="2468880"/>
            <a:ext cx="1437437" cy="777240"/>
          </a:xfrm>
          <a:prstGeom prst="rect">
            <a:avLst/>
          </a:prstGeom>
          <a:noFill/>
          <a:ln/>
        </p:spPr>
        <p:txBody>
          <a:bodyPr wrap="square" lIns="0" tIns="0" rIns="0" bIns="0" rtlCol="0" anchor="ctr"/>
          <a:lstStyle/>
          <a:p>
            <a:pPr marL="0" indent="0" algn="ctr">
              <a:buNone/>
            </a:pPr>
            <a:r>
              <a:rPr lang="en-US" sz="950" b="1" dirty="0">
                <a:solidFill>
                  <a:srgbClr val="56C7F2"/>
                </a:solidFill>
                <a:latin typeface="Arial" pitchFamily="34" charset="0"/>
                <a:ea typeface="Arial" pitchFamily="34" charset="-122"/>
                <a:cs typeface="Arial" pitchFamily="34" charset="-120"/>
              </a:rPr>
              <a:t>Navegador</a:t>
            </a:r>
            <a:endParaRPr lang="en-US" sz="950" dirty="0"/>
          </a:p>
        </p:txBody>
      </p:sp>
      <p:sp>
        <p:nvSpPr>
          <p:cNvPr id="15" name="Shape 13"/>
          <p:cNvSpPr/>
          <p:nvPr/>
        </p:nvSpPr>
        <p:spPr>
          <a:xfrm>
            <a:off x="5345582" y="2857500"/>
            <a:ext cx="109728" cy="0"/>
          </a:xfrm>
          <a:prstGeom prst="line">
            <a:avLst/>
          </a:prstGeom>
          <a:noFill/>
          <a:ln w="12700">
            <a:solidFill>
              <a:srgbClr val="3DDC97"/>
            </a:solidFill>
            <a:prstDash val="solid"/>
            <a:tailEnd type="triangle"/>
          </a:ln>
        </p:spPr>
        <p:txBody>
          <a:bodyPr/>
          <a:lstStyle/>
          <a:p>
            <a:endParaRPr lang="es-CO"/>
          </a:p>
        </p:txBody>
      </p:sp>
      <p:sp>
        <p:nvSpPr>
          <p:cNvPr id="16" name="Shape 14"/>
          <p:cNvSpPr/>
          <p:nvPr/>
        </p:nvSpPr>
        <p:spPr>
          <a:xfrm>
            <a:off x="5473598" y="2468880"/>
            <a:ext cx="1510589" cy="777240"/>
          </a:xfrm>
          <a:prstGeom prst="roundRect">
            <a:avLst>
              <a:gd name="adj" fmla="val 9412"/>
            </a:avLst>
          </a:prstGeom>
          <a:solidFill>
            <a:srgbClr val="1A2434"/>
          </a:solidFill>
          <a:ln w="12700">
            <a:solidFill>
              <a:srgbClr val="3DDC97"/>
            </a:solidFill>
            <a:prstDash val="solid"/>
          </a:ln>
        </p:spPr>
        <p:txBody>
          <a:bodyPr/>
          <a:lstStyle/>
          <a:p>
            <a:endParaRPr lang="es-CO"/>
          </a:p>
        </p:txBody>
      </p:sp>
      <p:sp>
        <p:nvSpPr>
          <p:cNvPr id="17" name="Text 15"/>
          <p:cNvSpPr txBox="1"/>
          <p:nvPr/>
        </p:nvSpPr>
        <p:spPr>
          <a:xfrm>
            <a:off x="5510174" y="2468880"/>
            <a:ext cx="1437437" cy="777240"/>
          </a:xfrm>
          <a:prstGeom prst="rect">
            <a:avLst/>
          </a:prstGeom>
          <a:noFill/>
          <a:ln/>
        </p:spPr>
        <p:txBody>
          <a:bodyPr wrap="square" lIns="0" tIns="0" rIns="0" bIns="0" rtlCol="0" anchor="ctr"/>
          <a:lstStyle/>
          <a:p>
            <a:pPr marL="0" indent="0" algn="ctr">
              <a:buNone/>
            </a:pPr>
            <a:r>
              <a:rPr lang="en-US" sz="950" b="1" dirty="0">
                <a:solidFill>
                  <a:srgbClr val="3DDC97"/>
                </a:solidFill>
                <a:latin typeface="Arial" pitchFamily="34" charset="0"/>
                <a:ea typeface="Arial" pitchFamily="34" charset="-122"/>
                <a:cs typeface="Arial" pitchFamily="34" charset="-120"/>
              </a:rPr>
              <a:t>Petición HTTP</a:t>
            </a:r>
            <a:endParaRPr lang="en-US" sz="950" dirty="0"/>
          </a:p>
        </p:txBody>
      </p:sp>
      <p:sp>
        <p:nvSpPr>
          <p:cNvPr id="18" name="Shape 16"/>
          <p:cNvSpPr/>
          <p:nvPr/>
        </p:nvSpPr>
        <p:spPr>
          <a:xfrm>
            <a:off x="7002475" y="2857500"/>
            <a:ext cx="109728" cy="0"/>
          </a:xfrm>
          <a:prstGeom prst="line">
            <a:avLst/>
          </a:prstGeom>
          <a:noFill/>
          <a:ln w="12700">
            <a:solidFill>
              <a:srgbClr val="3DDC97"/>
            </a:solidFill>
            <a:prstDash val="solid"/>
            <a:tailEnd type="triangle"/>
          </a:ln>
        </p:spPr>
        <p:txBody>
          <a:bodyPr/>
          <a:lstStyle/>
          <a:p>
            <a:endParaRPr lang="es-CO"/>
          </a:p>
        </p:txBody>
      </p:sp>
      <p:sp>
        <p:nvSpPr>
          <p:cNvPr id="19" name="Shape 17"/>
          <p:cNvSpPr/>
          <p:nvPr/>
        </p:nvSpPr>
        <p:spPr>
          <a:xfrm>
            <a:off x="7130491" y="2468880"/>
            <a:ext cx="1510589" cy="777240"/>
          </a:xfrm>
          <a:prstGeom prst="roundRect">
            <a:avLst>
              <a:gd name="adj" fmla="val 9412"/>
            </a:avLst>
          </a:prstGeom>
          <a:solidFill>
            <a:srgbClr val="1A2434"/>
          </a:solidFill>
          <a:ln w="12700">
            <a:solidFill>
              <a:srgbClr val="2B3B52"/>
            </a:solidFill>
            <a:prstDash val="solid"/>
          </a:ln>
        </p:spPr>
        <p:txBody>
          <a:bodyPr/>
          <a:lstStyle/>
          <a:p>
            <a:endParaRPr lang="es-CO"/>
          </a:p>
        </p:txBody>
      </p:sp>
      <p:sp>
        <p:nvSpPr>
          <p:cNvPr id="20" name="Text 18"/>
          <p:cNvSpPr txBox="1"/>
          <p:nvPr/>
        </p:nvSpPr>
        <p:spPr>
          <a:xfrm>
            <a:off x="7167067" y="2468880"/>
            <a:ext cx="1437437" cy="77724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Servidor</a:t>
            </a:r>
            <a:endParaRPr lang="en-US" sz="950" dirty="0"/>
          </a:p>
        </p:txBody>
      </p:sp>
      <p:sp>
        <p:nvSpPr>
          <p:cNvPr id="21" name="Shape 19"/>
          <p:cNvSpPr/>
          <p:nvPr/>
        </p:nvSpPr>
        <p:spPr>
          <a:xfrm>
            <a:off x="502920" y="3474720"/>
            <a:ext cx="8138160" cy="731520"/>
          </a:xfrm>
          <a:prstGeom prst="roundRect">
            <a:avLst>
              <a:gd name="adj" fmla="val 10000"/>
            </a:avLst>
          </a:prstGeom>
          <a:solidFill>
            <a:srgbClr val="1A2434"/>
          </a:solidFill>
          <a:ln w="12700">
            <a:solidFill>
              <a:srgbClr val="2B3B52"/>
            </a:solidFill>
            <a:prstDash val="solid"/>
          </a:ln>
        </p:spPr>
        <p:txBody>
          <a:bodyPr/>
          <a:lstStyle/>
          <a:p>
            <a:endParaRPr lang="es-CO"/>
          </a:p>
        </p:txBody>
      </p:sp>
      <p:sp>
        <p:nvSpPr>
          <p:cNvPr id="22" name="Text 20"/>
          <p:cNvSpPr txBox="1"/>
          <p:nvPr/>
        </p:nvSpPr>
        <p:spPr>
          <a:xfrm>
            <a:off x="731520" y="3474720"/>
            <a:ext cx="7680960" cy="731520"/>
          </a:xfrm>
          <a:prstGeom prst="rect">
            <a:avLst/>
          </a:prstGeom>
          <a:noFill/>
          <a:ln/>
        </p:spPr>
        <p:txBody>
          <a:bodyPr wrap="square" lIns="0" tIns="0" rIns="0" bIns="0" rtlCol="0" anchor="ctr"/>
          <a:lstStyle/>
          <a:p>
            <a:pPr marL="0" indent="0" algn="l">
              <a:buNone/>
            </a:pPr>
            <a:r>
              <a:rPr lang="es-ES" sz="1100" dirty="0">
                <a:solidFill>
                  <a:srgbClr val="E8EEF6"/>
                </a:solidFill>
                <a:latin typeface="Calibri" pitchFamily="34" charset="0"/>
                <a:ea typeface="Calibri" pitchFamily="34" charset="-122"/>
                <a:cs typeface="Calibri" pitchFamily="34" charset="-120"/>
              </a:rPr>
              <a:t>El formulario HTML permite recopilar y enviar los datos. El servidor puede recibirlos y procesarlos posteriormente.</a:t>
            </a:r>
            <a:endParaRPr lang="en-US" sz="1100" dirty="0"/>
          </a:p>
        </p:txBody>
      </p:sp>
      <p:sp>
        <p:nvSpPr>
          <p:cNvPr id="24" name="Text 21"/>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13 / 20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5156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5156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ELEMENTOS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form, label, input, textarea y button</a:t>
            </a:r>
            <a:endParaRPr lang="en-US" sz="2600" dirty="0"/>
          </a:p>
        </p:txBody>
      </p:sp>
      <p:sp>
        <p:nvSpPr>
          <p:cNvPr id="5" name="Shape 3"/>
          <p:cNvSpPr/>
          <p:nvPr/>
        </p:nvSpPr>
        <p:spPr>
          <a:xfrm>
            <a:off x="502920" y="1316736"/>
            <a:ext cx="4617720" cy="2121408"/>
          </a:xfrm>
          <a:prstGeom prst="roundRect">
            <a:avLst>
              <a:gd name="adj" fmla="val 3448"/>
            </a:avLst>
          </a:prstGeom>
          <a:solidFill>
            <a:srgbClr val="070C14"/>
          </a:solidFill>
          <a:ln w="12700">
            <a:solidFill>
              <a:srgbClr val="2B3B52"/>
            </a:solidFill>
            <a:prstDash val="solid"/>
          </a:ln>
        </p:spPr>
        <p:txBody>
          <a:bodyPr/>
          <a:lstStyle/>
          <a:p>
            <a:endParaRPr lang="es-CO"/>
          </a:p>
        </p:txBody>
      </p:sp>
      <p:sp>
        <p:nvSpPr>
          <p:cNvPr id="6" name="Text 4"/>
          <p:cNvSpPr txBox="1"/>
          <p:nvPr/>
        </p:nvSpPr>
        <p:spPr>
          <a:xfrm>
            <a:off x="649224" y="1371600"/>
            <a:ext cx="4325112"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index.html</a:t>
            </a:r>
            <a:endParaRPr lang="en-US" sz="850" dirty="0"/>
          </a:p>
        </p:txBody>
      </p:sp>
      <p:sp>
        <p:nvSpPr>
          <p:cNvPr id="7" name="Text 5"/>
          <p:cNvSpPr txBox="1"/>
          <p:nvPr/>
        </p:nvSpPr>
        <p:spPr>
          <a:xfrm>
            <a:off x="649224" y="1591056"/>
            <a:ext cx="4325112" cy="1773936"/>
          </a:xfrm>
          <a:prstGeom prst="rect">
            <a:avLst/>
          </a:prstGeom>
          <a:noFill/>
          <a:ln/>
        </p:spPr>
        <p:txBody>
          <a:bodyPr wrap="square" lIns="0" tIns="0" rIns="0" bIns="0" rtlCol="0" anchor="t"/>
          <a:lstStyle/>
          <a:p>
            <a:pPr marL="0" indent="0">
              <a:lnSpc>
                <a:spcPts val="1550"/>
              </a:lnSpc>
              <a:buNone/>
            </a:pPr>
            <a:r>
              <a:rPr lang="en-US" sz="1000" dirty="0">
                <a:solidFill>
                  <a:srgbClr val="3DDC97"/>
                </a:solidFill>
                <a:latin typeface="Courier New" pitchFamily="34" charset="0"/>
                <a:ea typeface="Courier New" pitchFamily="34" charset="-122"/>
                <a:cs typeface="Courier New" pitchFamily="34" charset="-120"/>
              </a:rPr>
              <a:t>&lt;form</a:t>
            </a:r>
            <a:r>
              <a:rPr lang="en-US" sz="1000" dirty="0">
                <a:solidFill>
                  <a:srgbClr val="FFB86C"/>
                </a:solidFill>
                <a:latin typeface="Courier New" pitchFamily="34" charset="0"/>
                <a:ea typeface="Courier New" pitchFamily="34" charset="-122"/>
                <a:cs typeface="Courier New" pitchFamily="34" charset="-120"/>
              </a:rPr>
              <a:t> action=</a:t>
            </a:r>
            <a:r>
              <a:rPr lang="en-US" sz="1000" dirty="0">
                <a:solidFill>
                  <a:srgbClr val="FFD479"/>
                </a:solidFill>
                <a:latin typeface="Courier New" pitchFamily="34" charset="0"/>
                <a:ea typeface="Courier New" pitchFamily="34" charset="-122"/>
                <a:cs typeface="Courier New" pitchFamily="34" charset="-120"/>
              </a:rPr>
              <a:t>"/contacto"</a:t>
            </a:r>
            <a:r>
              <a:rPr lang="en-US" sz="1000" dirty="0">
                <a:solidFill>
                  <a:srgbClr val="FFB86C"/>
                </a:solidFill>
                <a:latin typeface="Courier New" pitchFamily="34" charset="0"/>
                <a:ea typeface="Courier New" pitchFamily="34" charset="-122"/>
                <a:cs typeface="Courier New" pitchFamily="34" charset="-120"/>
              </a:rPr>
              <a:t> method=</a:t>
            </a:r>
            <a:r>
              <a:rPr lang="en-US" sz="1000" dirty="0">
                <a:solidFill>
                  <a:srgbClr val="FFD479"/>
                </a:solidFill>
                <a:latin typeface="Courier New" pitchFamily="34" charset="0"/>
                <a:ea typeface="Courier New" pitchFamily="34" charset="-122"/>
                <a:cs typeface="Courier New" pitchFamily="34" charset="-120"/>
              </a:rPr>
              <a:t>"POST"</a:t>
            </a:r>
            <a:r>
              <a:rPr lang="en-US" sz="1000" dirty="0">
                <a:solidFill>
                  <a:srgbClr val="3DDC97"/>
                </a:solidFill>
                <a:latin typeface="Courier New" pitchFamily="34" charset="0"/>
                <a:ea typeface="Courier New" pitchFamily="34" charset="-122"/>
                <a:cs typeface="Courier New" pitchFamily="34" charset="-120"/>
              </a:rPr>
              <a:t>&gt;</a:t>
            </a:r>
            <a:endParaRPr lang="en-US" sz="1000" dirty="0"/>
          </a:p>
          <a:p>
            <a:pPr marL="0" indent="0">
              <a:lnSpc>
                <a:spcPts val="1550"/>
              </a:lnSpc>
              <a:buNone/>
            </a:pP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&lt;label</a:t>
            </a:r>
            <a:r>
              <a:rPr lang="en-US" sz="1000" dirty="0">
                <a:solidFill>
                  <a:srgbClr val="FFB86C"/>
                </a:solidFill>
                <a:latin typeface="Courier New" pitchFamily="34" charset="0"/>
                <a:ea typeface="Courier New" pitchFamily="34" charset="-122"/>
                <a:cs typeface="Courier New" pitchFamily="34" charset="-120"/>
              </a:rPr>
              <a:t> for=</a:t>
            </a:r>
            <a:r>
              <a:rPr lang="en-US" sz="1000" dirty="0">
                <a:solidFill>
                  <a:srgbClr val="FFD479"/>
                </a:solidFill>
                <a:latin typeface="Courier New" pitchFamily="34" charset="0"/>
                <a:ea typeface="Courier New" pitchFamily="34" charset="-122"/>
                <a:cs typeface="Courier New" pitchFamily="34" charset="-120"/>
              </a:rPr>
              <a:t>"nombre"</a:t>
            </a:r>
            <a:r>
              <a:rPr lang="en-US" sz="1000" dirty="0">
                <a:solidFill>
                  <a:srgbClr val="3DDC97"/>
                </a:solidFill>
                <a:latin typeface="Courier New" pitchFamily="34" charset="0"/>
                <a:ea typeface="Courier New" pitchFamily="34" charset="-122"/>
                <a:cs typeface="Courier New" pitchFamily="34" charset="-120"/>
              </a:rPr>
              <a:t>&gt;</a:t>
            </a:r>
            <a:r>
              <a:rPr lang="en-US" sz="1000" dirty="0">
                <a:solidFill>
                  <a:srgbClr val="D7E1EE"/>
                </a:solidFill>
                <a:latin typeface="Courier New" pitchFamily="34" charset="0"/>
                <a:ea typeface="Courier New" pitchFamily="34" charset="-122"/>
                <a:cs typeface="Courier New" pitchFamily="34" charset="-120"/>
              </a:rPr>
              <a:t>Nombre:</a:t>
            </a:r>
            <a:r>
              <a:rPr lang="en-US" sz="1000" dirty="0">
                <a:solidFill>
                  <a:srgbClr val="3DDC97"/>
                </a:solidFill>
                <a:latin typeface="Courier New" pitchFamily="34" charset="0"/>
                <a:ea typeface="Courier New" pitchFamily="34" charset="-122"/>
                <a:cs typeface="Courier New" pitchFamily="34" charset="-120"/>
              </a:rPr>
              <a:t>&lt;/label&gt;</a:t>
            </a:r>
            <a:endParaRPr lang="en-US" sz="1000" dirty="0"/>
          </a:p>
          <a:p>
            <a:pPr marL="0" indent="0">
              <a:lnSpc>
                <a:spcPts val="1550"/>
              </a:lnSpc>
              <a:buNone/>
            </a:pP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&lt;input</a:t>
            </a:r>
            <a:r>
              <a:rPr lang="en-US" sz="1000" dirty="0">
                <a:solidFill>
                  <a:srgbClr val="FFB86C"/>
                </a:solidFill>
                <a:latin typeface="Courier New" pitchFamily="34" charset="0"/>
                <a:ea typeface="Courier New" pitchFamily="34" charset="-122"/>
                <a:cs typeface="Courier New" pitchFamily="34" charset="-120"/>
              </a:rPr>
              <a:t> type=</a:t>
            </a:r>
            <a:r>
              <a:rPr lang="en-US" sz="1000" dirty="0">
                <a:solidFill>
                  <a:srgbClr val="FFD479"/>
                </a:solidFill>
                <a:latin typeface="Courier New" pitchFamily="34" charset="0"/>
                <a:ea typeface="Courier New" pitchFamily="34" charset="-122"/>
                <a:cs typeface="Courier New" pitchFamily="34" charset="-120"/>
              </a:rPr>
              <a:t>"text"</a:t>
            </a:r>
            <a:r>
              <a:rPr lang="en-US" sz="1000" dirty="0">
                <a:solidFill>
                  <a:srgbClr val="FFB86C"/>
                </a:solidFill>
                <a:latin typeface="Courier New" pitchFamily="34" charset="0"/>
                <a:ea typeface="Courier New" pitchFamily="34" charset="-122"/>
                <a:cs typeface="Courier New" pitchFamily="34" charset="-120"/>
              </a:rPr>
              <a:t> id=</a:t>
            </a:r>
            <a:r>
              <a:rPr lang="en-US" sz="1000" dirty="0">
                <a:solidFill>
                  <a:srgbClr val="FFD479"/>
                </a:solidFill>
                <a:latin typeface="Courier New" pitchFamily="34" charset="0"/>
                <a:ea typeface="Courier New" pitchFamily="34" charset="-122"/>
                <a:cs typeface="Courier New" pitchFamily="34" charset="-120"/>
              </a:rPr>
              <a:t>"nombre"</a:t>
            </a:r>
            <a:r>
              <a:rPr lang="en-US" sz="1000" dirty="0">
                <a:solidFill>
                  <a:srgbClr val="FFB86C"/>
                </a:solidFill>
                <a:latin typeface="Courier New" pitchFamily="34" charset="0"/>
                <a:ea typeface="Courier New" pitchFamily="34" charset="-122"/>
                <a:cs typeface="Courier New" pitchFamily="34" charset="-120"/>
              </a:rPr>
              <a:t> name=</a:t>
            </a:r>
            <a:r>
              <a:rPr lang="en-US" sz="1000" dirty="0">
                <a:solidFill>
                  <a:srgbClr val="FFD479"/>
                </a:solidFill>
                <a:latin typeface="Courier New" pitchFamily="34" charset="0"/>
                <a:ea typeface="Courier New" pitchFamily="34" charset="-122"/>
                <a:cs typeface="Courier New" pitchFamily="34" charset="-120"/>
              </a:rPr>
              <a:t>"nombre"</a:t>
            </a:r>
            <a:r>
              <a:rPr lang="en-US" sz="1000" dirty="0">
                <a:solidFill>
                  <a:srgbClr val="3DDC97"/>
                </a:solidFill>
                <a:latin typeface="Courier New" pitchFamily="34" charset="0"/>
                <a:ea typeface="Courier New" pitchFamily="34" charset="-122"/>
                <a:cs typeface="Courier New" pitchFamily="34" charset="-120"/>
              </a:rPr>
              <a:t>&gt;</a:t>
            </a:r>
            <a:endParaRPr lang="en-US" sz="1000" dirty="0"/>
          </a:p>
          <a:p>
            <a:pPr marL="0" indent="0">
              <a:lnSpc>
                <a:spcPts val="1550"/>
              </a:lnSpc>
              <a:buNone/>
            </a:pP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&lt;textarea</a:t>
            </a:r>
            <a:r>
              <a:rPr lang="en-US" sz="1000" dirty="0">
                <a:solidFill>
                  <a:srgbClr val="FFB86C"/>
                </a:solidFill>
                <a:latin typeface="Courier New" pitchFamily="34" charset="0"/>
                <a:ea typeface="Courier New" pitchFamily="34" charset="-122"/>
                <a:cs typeface="Courier New" pitchFamily="34" charset="-120"/>
              </a:rPr>
              <a:t> id=</a:t>
            </a:r>
            <a:r>
              <a:rPr lang="en-US" sz="1000" dirty="0">
                <a:solidFill>
                  <a:srgbClr val="FFD479"/>
                </a:solidFill>
                <a:latin typeface="Courier New" pitchFamily="34" charset="0"/>
                <a:ea typeface="Courier New" pitchFamily="34" charset="-122"/>
                <a:cs typeface="Courier New" pitchFamily="34" charset="-120"/>
              </a:rPr>
              <a:t>"mensaje"</a:t>
            </a:r>
            <a:r>
              <a:rPr lang="en-US" sz="1000" dirty="0">
                <a:solidFill>
                  <a:srgbClr val="FFB86C"/>
                </a:solidFill>
                <a:latin typeface="Courier New" pitchFamily="34" charset="0"/>
                <a:ea typeface="Courier New" pitchFamily="34" charset="-122"/>
                <a:cs typeface="Courier New" pitchFamily="34" charset="-120"/>
              </a:rPr>
              <a:t> name=</a:t>
            </a:r>
            <a:r>
              <a:rPr lang="en-US" sz="1000" dirty="0">
                <a:solidFill>
                  <a:srgbClr val="FFD479"/>
                </a:solidFill>
                <a:latin typeface="Courier New" pitchFamily="34" charset="0"/>
                <a:ea typeface="Courier New" pitchFamily="34" charset="-122"/>
                <a:cs typeface="Courier New" pitchFamily="34" charset="-120"/>
              </a:rPr>
              <a:t>"mensaje"</a:t>
            </a:r>
            <a:r>
              <a:rPr lang="en-US" sz="1000" dirty="0">
                <a:solidFill>
                  <a:srgbClr val="3DDC97"/>
                </a:solidFill>
                <a:latin typeface="Courier New" pitchFamily="34" charset="0"/>
                <a:ea typeface="Courier New" pitchFamily="34" charset="-122"/>
                <a:cs typeface="Courier New" pitchFamily="34" charset="-120"/>
              </a:rPr>
              <a:t>&gt;&lt;/textarea&gt;</a:t>
            </a:r>
            <a:endParaRPr lang="en-US" sz="1000" dirty="0"/>
          </a:p>
          <a:p>
            <a:pPr marL="0" indent="0">
              <a:lnSpc>
                <a:spcPts val="1550"/>
              </a:lnSpc>
              <a:buNone/>
            </a:pP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&lt;button</a:t>
            </a:r>
            <a:r>
              <a:rPr lang="en-US" sz="1000" dirty="0">
                <a:solidFill>
                  <a:srgbClr val="FFB86C"/>
                </a:solidFill>
                <a:latin typeface="Courier New" pitchFamily="34" charset="0"/>
                <a:ea typeface="Courier New" pitchFamily="34" charset="-122"/>
                <a:cs typeface="Courier New" pitchFamily="34" charset="-120"/>
              </a:rPr>
              <a:t> type=</a:t>
            </a:r>
            <a:r>
              <a:rPr lang="en-US" sz="1000" dirty="0">
                <a:solidFill>
                  <a:srgbClr val="FFD479"/>
                </a:solidFill>
                <a:latin typeface="Courier New" pitchFamily="34" charset="0"/>
                <a:ea typeface="Courier New" pitchFamily="34" charset="-122"/>
                <a:cs typeface="Courier New" pitchFamily="34" charset="-120"/>
              </a:rPr>
              <a:t>"submit"</a:t>
            </a:r>
            <a:r>
              <a:rPr lang="en-US" sz="1000" dirty="0">
                <a:solidFill>
                  <a:srgbClr val="3DDC97"/>
                </a:solidFill>
                <a:latin typeface="Courier New" pitchFamily="34" charset="0"/>
                <a:ea typeface="Courier New" pitchFamily="34" charset="-122"/>
                <a:cs typeface="Courier New" pitchFamily="34" charset="-120"/>
              </a:rPr>
              <a:t>&gt;</a:t>
            </a:r>
            <a:r>
              <a:rPr lang="en-US" sz="1000" dirty="0">
                <a:solidFill>
                  <a:srgbClr val="D7E1EE"/>
                </a:solidFill>
                <a:latin typeface="Courier New" pitchFamily="34" charset="0"/>
                <a:ea typeface="Courier New" pitchFamily="34" charset="-122"/>
                <a:cs typeface="Courier New" pitchFamily="34" charset="-120"/>
              </a:rPr>
              <a:t>Enviar</a:t>
            </a:r>
            <a:r>
              <a:rPr lang="en-US" sz="1000" dirty="0">
                <a:solidFill>
                  <a:srgbClr val="3DDC97"/>
                </a:solidFill>
                <a:latin typeface="Courier New" pitchFamily="34" charset="0"/>
                <a:ea typeface="Courier New" pitchFamily="34" charset="-122"/>
                <a:cs typeface="Courier New" pitchFamily="34" charset="-120"/>
              </a:rPr>
              <a:t>&lt;/button&gt;</a:t>
            </a:r>
            <a:endParaRPr lang="en-US" sz="1000" dirty="0"/>
          </a:p>
          <a:p>
            <a:pPr marL="0" indent="0">
              <a:lnSpc>
                <a:spcPts val="1550"/>
              </a:lnSpc>
              <a:buNone/>
            </a:pPr>
            <a:r>
              <a:rPr lang="en-US" sz="1000" dirty="0">
                <a:solidFill>
                  <a:srgbClr val="3DDC97"/>
                </a:solidFill>
                <a:latin typeface="Courier New" pitchFamily="34" charset="0"/>
                <a:ea typeface="Courier New" pitchFamily="34" charset="-122"/>
                <a:cs typeface="Courier New" pitchFamily="34" charset="-120"/>
              </a:rPr>
              <a:t>&lt;/form&gt;</a:t>
            </a:r>
            <a:endParaRPr lang="en-US" sz="1000" dirty="0"/>
          </a:p>
        </p:txBody>
      </p:sp>
      <p:sp>
        <p:nvSpPr>
          <p:cNvPr id="8" name="Text 6"/>
          <p:cNvSpPr txBox="1"/>
          <p:nvPr/>
        </p:nvSpPr>
        <p:spPr>
          <a:xfrm>
            <a:off x="5349240" y="1371600"/>
            <a:ext cx="3291840" cy="201168"/>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&lt;form&gt;</a:t>
            </a:r>
            <a:endParaRPr lang="en-US" sz="1000" dirty="0"/>
          </a:p>
        </p:txBody>
      </p:sp>
      <p:sp>
        <p:nvSpPr>
          <p:cNvPr id="9" name="Text 7"/>
          <p:cNvSpPr txBox="1"/>
          <p:nvPr/>
        </p:nvSpPr>
        <p:spPr>
          <a:xfrm>
            <a:off x="5349240" y="1581912"/>
            <a:ext cx="3291840" cy="219456"/>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Delimita el conjunto de datos que se envían.</a:t>
            </a:r>
            <a:endParaRPr lang="en-US" sz="1050" dirty="0"/>
          </a:p>
        </p:txBody>
      </p:sp>
      <p:sp>
        <p:nvSpPr>
          <p:cNvPr id="10" name="Text 8"/>
          <p:cNvSpPr txBox="1"/>
          <p:nvPr/>
        </p:nvSpPr>
        <p:spPr>
          <a:xfrm>
            <a:off x="5349240" y="1801368"/>
            <a:ext cx="3291840" cy="201168"/>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&lt;label&gt;</a:t>
            </a:r>
            <a:endParaRPr lang="en-US" sz="1000" dirty="0"/>
          </a:p>
        </p:txBody>
      </p:sp>
      <p:sp>
        <p:nvSpPr>
          <p:cNvPr id="11" name="Text 9"/>
          <p:cNvSpPr txBox="1"/>
          <p:nvPr/>
        </p:nvSpPr>
        <p:spPr>
          <a:xfrm>
            <a:off x="5349240" y="2011680"/>
            <a:ext cx="3291840" cy="219456"/>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Etiqueta descriptiva asociada a un control.</a:t>
            </a:r>
            <a:endParaRPr lang="en-US" sz="1050" dirty="0"/>
          </a:p>
        </p:txBody>
      </p:sp>
      <p:sp>
        <p:nvSpPr>
          <p:cNvPr id="12" name="Text 10"/>
          <p:cNvSpPr txBox="1"/>
          <p:nvPr/>
        </p:nvSpPr>
        <p:spPr>
          <a:xfrm>
            <a:off x="5349240" y="2231136"/>
            <a:ext cx="3291840" cy="201168"/>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&lt;input&gt;</a:t>
            </a:r>
            <a:endParaRPr lang="en-US" sz="1000" dirty="0"/>
          </a:p>
        </p:txBody>
      </p:sp>
      <p:sp>
        <p:nvSpPr>
          <p:cNvPr id="13" name="Text 11"/>
          <p:cNvSpPr txBox="1"/>
          <p:nvPr/>
        </p:nvSpPr>
        <p:spPr>
          <a:xfrm>
            <a:off x="5349240" y="2441448"/>
            <a:ext cx="3291840" cy="219456"/>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Control de entrada de una sola línea.</a:t>
            </a:r>
            <a:endParaRPr lang="en-US" sz="1050" dirty="0"/>
          </a:p>
        </p:txBody>
      </p:sp>
      <p:sp>
        <p:nvSpPr>
          <p:cNvPr id="14" name="Text 12"/>
          <p:cNvSpPr txBox="1"/>
          <p:nvPr/>
        </p:nvSpPr>
        <p:spPr>
          <a:xfrm>
            <a:off x="5349240" y="2660904"/>
            <a:ext cx="3291840" cy="201168"/>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&lt;textarea&gt;</a:t>
            </a:r>
            <a:endParaRPr lang="en-US" sz="1000" dirty="0"/>
          </a:p>
        </p:txBody>
      </p:sp>
      <p:sp>
        <p:nvSpPr>
          <p:cNvPr id="15" name="Text 13"/>
          <p:cNvSpPr txBox="1"/>
          <p:nvPr/>
        </p:nvSpPr>
        <p:spPr>
          <a:xfrm>
            <a:off x="5349240" y="2871216"/>
            <a:ext cx="3291840" cy="219456"/>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Control de entrada de texto extenso.</a:t>
            </a:r>
            <a:endParaRPr lang="en-US" sz="1050" dirty="0"/>
          </a:p>
        </p:txBody>
      </p:sp>
      <p:sp>
        <p:nvSpPr>
          <p:cNvPr id="16" name="Text 14"/>
          <p:cNvSpPr txBox="1"/>
          <p:nvPr/>
        </p:nvSpPr>
        <p:spPr>
          <a:xfrm>
            <a:off x="5349240" y="3090672"/>
            <a:ext cx="3291840" cy="201168"/>
          </a:xfrm>
          <a:prstGeom prst="rect">
            <a:avLst/>
          </a:prstGeom>
          <a:noFill/>
          <a:ln/>
        </p:spPr>
        <p:txBody>
          <a:bodyPr wrap="square" lIns="0" tIns="0" rIns="0" bIns="0" rtlCol="0" anchor="ctr"/>
          <a:lstStyle/>
          <a:p>
            <a:pPr marL="0" indent="0">
              <a:buNone/>
            </a:pPr>
            <a:r>
              <a:rPr lang="en-US" sz="1000" b="1" dirty="0">
                <a:solidFill>
                  <a:srgbClr val="3DDC97"/>
                </a:solidFill>
                <a:latin typeface="Courier New" pitchFamily="34" charset="0"/>
                <a:ea typeface="Courier New" pitchFamily="34" charset="-122"/>
                <a:cs typeface="Courier New" pitchFamily="34" charset="-120"/>
              </a:rPr>
              <a:t>&lt;button&gt;</a:t>
            </a:r>
            <a:endParaRPr lang="en-US" sz="1000" dirty="0"/>
          </a:p>
        </p:txBody>
      </p:sp>
      <p:sp>
        <p:nvSpPr>
          <p:cNvPr id="17" name="Text 15"/>
          <p:cNvSpPr txBox="1"/>
          <p:nvPr/>
        </p:nvSpPr>
        <p:spPr>
          <a:xfrm>
            <a:off x="5349240" y="3300984"/>
            <a:ext cx="3291840" cy="219456"/>
          </a:xfrm>
          <a:prstGeom prst="rect">
            <a:avLst/>
          </a:prstGeom>
          <a:noFill/>
          <a:ln/>
        </p:spPr>
        <p:txBody>
          <a:bodyPr wrap="square" lIns="0" tIns="0" rIns="0" bIns="0" rtlCol="0" anchor="ctr"/>
          <a:lstStyle/>
          <a:p>
            <a:pPr marL="0" indent="0">
              <a:buNone/>
            </a:pPr>
            <a:r>
              <a:rPr lang="en-US" sz="1050" dirty="0">
                <a:solidFill>
                  <a:srgbClr val="93A5BD"/>
                </a:solidFill>
                <a:latin typeface="Calibri" pitchFamily="34" charset="0"/>
                <a:ea typeface="Calibri" pitchFamily="34" charset="-122"/>
                <a:cs typeface="Calibri" pitchFamily="34" charset="-120"/>
              </a:rPr>
              <a:t>Solicita el envío del formulario.</a:t>
            </a:r>
            <a:endParaRPr lang="en-US" sz="1050" dirty="0"/>
          </a:p>
        </p:txBody>
      </p:sp>
      <p:sp>
        <p:nvSpPr>
          <p:cNvPr id="30" name="Text 27"/>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14 / 20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9728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9728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CONTROLES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Tipos básicos de input</a:t>
            </a:r>
            <a:endParaRPr lang="en-US" sz="2600" dirty="0"/>
          </a:p>
        </p:txBody>
      </p:sp>
      <p:sp>
        <p:nvSpPr>
          <p:cNvPr id="5" name="Shape 3"/>
          <p:cNvSpPr/>
          <p:nvPr/>
        </p:nvSpPr>
        <p:spPr>
          <a:xfrm>
            <a:off x="502920" y="1371600"/>
            <a:ext cx="1554480" cy="1325880"/>
          </a:xfrm>
          <a:prstGeom prst="roundRect">
            <a:avLst>
              <a:gd name="adj" fmla="val 5517"/>
            </a:avLst>
          </a:prstGeom>
          <a:solidFill>
            <a:srgbClr val="1A2434"/>
          </a:solidFill>
          <a:ln w="12700">
            <a:solidFill>
              <a:srgbClr val="3DDC97"/>
            </a:solidFill>
            <a:prstDash val="solid"/>
          </a:ln>
        </p:spPr>
        <p:txBody>
          <a:bodyPr/>
          <a:lstStyle/>
          <a:p>
            <a:endParaRPr lang="es-CO"/>
          </a:p>
        </p:txBody>
      </p:sp>
      <p:sp>
        <p:nvSpPr>
          <p:cNvPr id="6" name="Text 4"/>
          <p:cNvSpPr txBox="1"/>
          <p:nvPr/>
        </p:nvSpPr>
        <p:spPr>
          <a:xfrm>
            <a:off x="630936" y="1517904"/>
            <a:ext cx="1298448" cy="219456"/>
          </a:xfrm>
          <a:prstGeom prst="rect">
            <a:avLst/>
          </a:prstGeom>
          <a:noFill/>
          <a:ln/>
        </p:spPr>
        <p:txBody>
          <a:bodyPr wrap="square" lIns="0" tIns="0" rIns="0" bIns="0" rtlCol="0" anchor="ctr"/>
          <a:lstStyle/>
          <a:p>
            <a:pPr marL="0" indent="0">
              <a:buNone/>
            </a:pPr>
            <a:r>
              <a:rPr lang="en-US" sz="1100" b="1" dirty="0">
                <a:solidFill>
                  <a:srgbClr val="3DDC97"/>
                </a:solidFill>
                <a:latin typeface="Courier New" pitchFamily="34" charset="0"/>
                <a:ea typeface="Courier New" pitchFamily="34" charset="-122"/>
                <a:cs typeface="Courier New" pitchFamily="34" charset="-120"/>
              </a:rPr>
              <a:t>text</a:t>
            </a:r>
            <a:endParaRPr lang="en-US" sz="1100" dirty="0"/>
          </a:p>
        </p:txBody>
      </p:sp>
      <p:sp>
        <p:nvSpPr>
          <p:cNvPr id="7" name="Text 5"/>
          <p:cNvSpPr txBox="1"/>
          <p:nvPr/>
        </p:nvSpPr>
        <p:spPr>
          <a:xfrm>
            <a:off x="630936" y="1810512"/>
            <a:ext cx="1298448" cy="786384"/>
          </a:xfrm>
          <a:prstGeom prst="rect">
            <a:avLst/>
          </a:prstGeom>
          <a:noFill/>
          <a:ln/>
        </p:spPr>
        <p:txBody>
          <a:bodyPr wrap="square" lIns="0" tIns="0" rIns="0" bIns="0" rtlCol="0" anchor="t"/>
          <a:lstStyle/>
          <a:p>
            <a:pPr marL="0" indent="0" algn="l">
              <a:buNone/>
            </a:pPr>
            <a:r>
              <a:rPr lang="en-US" sz="950" dirty="0">
                <a:solidFill>
                  <a:srgbClr val="E8EEF6"/>
                </a:solidFill>
                <a:latin typeface="Calibri" pitchFamily="34" charset="0"/>
                <a:ea typeface="Calibri" pitchFamily="34" charset="-122"/>
                <a:cs typeface="Calibri" pitchFamily="34" charset="-120"/>
              </a:rPr>
              <a:t>Texto libre de una sola línea.</a:t>
            </a:r>
            <a:endParaRPr lang="en-US" sz="950" dirty="0"/>
          </a:p>
        </p:txBody>
      </p:sp>
      <p:sp>
        <p:nvSpPr>
          <p:cNvPr id="8" name="Shape 6"/>
          <p:cNvSpPr/>
          <p:nvPr/>
        </p:nvSpPr>
        <p:spPr>
          <a:xfrm>
            <a:off x="2139696" y="1371600"/>
            <a:ext cx="1554480" cy="1325880"/>
          </a:xfrm>
          <a:prstGeom prst="roundRect">
            <a:avLst>
              <a:gd name="adj" fmla="val 5517"/>
            </a:avLst>
          </a:prstGeom>
          <a:solidFill>
            <a:srgbClr val="1A2434"/>
          </a:solidFill>
          <a:ln w="12700">
            <a:solidFill>
              <a:srgbClr val="56C7F2"/>
            </a:solidFill>
            <a:prstDash val="solid"/>
          </a:ln>
        </p:spPr>
        <p:txBody>
          <a:bodyPr/>
          <a:lstStyle/>
          <a:p>
            <a:endParaRPr lang="es-CO"/>
          </a:p>
        </p:txBody>
      </p:sp>
      <p:sp>
        <p:nvSpPr>
          <p:cNvPr id="9" name="Text 7"/>
          <p:cNvSpPr txBox="1"/>
          <p:nvPr/>
        </p:nvSpPr>
        <p:spPr>
          <a:xfrm>
            <a:off x="2267712" y="1517904"/>
            <a:ext cx="1298448" cy="219456"/>
          </a:xfrm>
          <a:prstGeom prst="rect">
            <a:avLst/>
          </a:prstGeom>
          <a:noFill/>
          <a:ln/>
        </p:spPr>
        <p:txBody>
          <a:bodyPr wrap="square" lIns="0" tIns="0" rIns="0" bIns="0" rtlCol="0" anchor="ctr"/>
          <a:lstStyle/>
          <a:p>
            <a:pPr marL="0" indent="0">
              <a:buNone/>
            </a:pPr>
            <a:r>
              <a:rPr lang="en-US" sz="1100" b="1" dirty="0">
                <a:solidFill>
                  <a:srgbClr val="56C7F2"/>
                </a:solidFill>
                <a:latin typeface="Courier New" pitchFamily="34" charset="0"/>
                <a:ea typeface="Courier New" pitchFamily="34" charset="-122"/>
                <a:cs typeface="Courier New" pitchFamily="34" charset="-120"/>
              </a:rPr>
              <a:t>email</a:t>
            </a:r>
            <a:endParaRPr lang="en-US" sz="1100" dirty="0"/>
          </a:p>
        </p:txBody>
      </p:sp>
      <p:sp>
        <p:nvSpPr>
          <p:cNvPr id="10" name="Text 8"/>
          <p:cNvSpPr txBox="1"/>
          <p:nvPr/>
        </p:nvSpPr>
        <p:spPr>
          <a:xfrm>
            <a:off x="2267712" y="1810512"/>
            <a:ext cx="1298448" cy="786384"/>
          </a:xfrm>
          <a:prstGeom prst="rect">
            <a:avLst/>
          </a:prstGeom>
          <a:noFill/>
          <a:ln/>
        </p:spPr>
        <p:txBody>
          <a:bodyPr wrap="square" lIns="0" tIns="0" rIns="0" bIns="0" rtlCol="0" anchor="t"/>
          <a:lstStyle/>
          <a:p>
            <a:pPr marL="0" indent="0" algn="l">
              <a:buNone/>
            </a:pPr>
            <a:r>
              <a:rPr lang="en-US" sz="950" dirty="0">
                <a:solidFill>
                  <a:srgbClr val="E8EEF6"/>
                </a:solidFill>
                <a:latin typeface="Calibri" pitchFamily="34" charset="0"/>
                <a:ea typeface="Calibri" pitchFamily="34" charset="-122"/>
                <a:cs typeface="Calibri" pitchFamily="34" charset="-120"/>
              </a:rPr>
              <a:t>Texto con formato de correo; el navegador verifica el formato.</a:t>
            </a:r>
            <a:endParaRPr lang="en-US" sz="950" dirty="0"/>
          </a:p>
        </p:txBody>
      </p:sp>
      <p:sp>
        <p:nvSpPr>
          <p:cNvPr id="11" name="Shape 9"/>
          <p:cNvSpPr/>
          <p:nvPr/>
        </p:nvSpPr>
        <p:spPr>
          <a:xfrm>
            <a:off x="3776472" y="1371600"/>
            <a:ext cx="1554480" cy="1325880"/>
          </a:xfrm>
          <a:prstGeom prst="roundRect">
            <a:avLst>
              <a:gd name="adj" fmla="val 5517"/>
            </a:avLst>
          </a:prstGeom>
          <a:solidFill>
            <a:srgbClr val="1A2434"/>
          </a:solidFill>
          <a:ln w="12700">
            <a:solidFill>
              <a:srgbClr val="FFB86C"/>
            </a:solidFill>
            <a:prstDash val="solid"/>
          </a:ln>
        </p:spPr>
        <p:txBody>
          <a:bodyPr/>
          <a:lstStyle/>
          <a:p>
            <a:endParaRPr lang="es-CO"/>
          </a:p>
        </p:txBody>
      </p:sp>
      <p:sp>
        <p:nvSpPr>
          <p:cNvPr id="12" name="Text 10"/>
          <p:cNvSpPr txBox="1"/>
          <p:nvPr/>
        </p:nvSpPr>
        <p:spPr>
          <a:xfrm>
            <a:off x="3904488" y="1517904"/>
            <a:ext cx="1298448" cy="219456"/>
          </a:xfrm>
          <a:prstGeom prst="rect">
            <a:avLst/>
          </a:prstGeom>
          <a:noFill/>
          <a:ln/>
        </p:spPr>
        <p:txBody>
          <a:bodyPr wrap="square" lIns="0" tIns="0" rIns="0" bIns="0" rtlCol="0" anchor="ctr"/>
          <a:lstStyle/>
          <a:p>
            <a:pPr marL="0" indent="0">
              <a:buNone/>
            </a:pPr>
            <a:r>
              <a:rPr lang="en-US" sz="1100" b="1" dirty="0">
                <a:solidFill>
                  <a:srgbClr val="FFB86C"/>
                </a:solidFill>
                <a:latin typeface="Courier New" pitchFamily="34" charset="0"/>
                <a:ea typeface="Courier New" pitchFamily="34" charset="-122"/>
                <a:cs typeface="Courier New" pitchFamily="34" charset="-120"/>
              </a:rPr>
              <a:t>password</a:t>
            </a:r>
            <a:endParaRPr lang="en-US" sz="1100" dirty="0"/>
          </a:p>
        </p:txBody>
      </p:sp>
      <p:sp>
        <p:nvSpPr>
          <p:cNvPr id="13" name="Text 11"/>
          <p:cNvSpPr txBox="1"/>
          <p:nvPr/>
        </p:nvSpPr>
        <p:spPr>
          <a:xfrm>
            <a:off x="3904488" y="1810512"/>
            <a:ext cx="1298448" cy="786384"/>
          </a:xfrm>
          <a:prstGeom prst="rect">
            <a:avLst/>
          </a:prstGeom>
          <a:noFill/>
          <a:ln/>
        </p:spPr>
        <p:txBody>
          <a:bodyPr wrap="square" lIns="0" tIns="0" rIns="0" bIns="0" rtlCol="0" anchor="t"/>
          <a:lstStyle/>
          <a:p>
            <a:pPr marL="0" indent="0" algn="l">
              <a:buNone/>
            </a:pPr>
            <a:r>
              <a:rPr lang="en-US" sz="950" dirty="0">
                <a:solidFill>
                  <a:srgbClr val="E8EEF6"/>
                </a:solidFill>
                <a:latin typeface="Calibri" pitchFamily="34" charset="0"/>
                <a:ea typeface="Calibri" pitchFamily="34" charset="-122"/>
                <a:cs typeface="Calibri" pitchFamily="34" charset="-120"/>
              </a:rPr>
              <a:t>Texto oculto en pantalla al escribirlo.</a:t>
            </a:r>
            <a:endParaRPr lang="en-US" sz="950" dirty="0"/>
          </a:p>
        </p:txBody>
      </p:sp>
      <p:sp>
        <p:nvSpPr>
          <p:cNvPr id="14" name="Shape 12"/>
          <p:cNvSpPr/>
          <p:nvPr/>
        </p:nvSpPr>
        <p:spPr>
          <a:xfrm>
            <a:off x="5413248" y="1371600"/>
            <a:ext cx="1554480" cy="1325880"/>
          </a:xfrm>
          <a:prstGeom prst="roundRect">
            <a:avLst>
              <a:gd name="adj" fmla="val 5517"/>
            </a:avLst>
          </a:prstGeom>
          <a:solidFill>
            <a:srgbClr val="1A2434"/>
          </a:solidFill>
          <a:ln w="12700">
            <a:solidFill>
              <a:srgbClr val="3DDC97"/>
            </a:solidFill>
            <a:prstDash val="solid"/>
          </a:ln>
        </p:spPr>
        <p:txBody>
          <a:bodyPr/>
          <a:lstStyle/>
          <a:p>
            <a:endParaRPr lang="es-CO"/>
          </a:p>
        </p:txBody>
      </p:sp>
      <p:sp>
        <p:nvSpPr>
          <p:cNvPr id="15" name="Text 13"/>
          <p:cNvSpPr txBox="1"/>
          <p:nvPr/>
        </p:nvSpPr>
        <p:spPr>
          <a:xfrm>
            <a:off x="5541264" y="1517904"/>
            <a:ext cx="1298448" cy="219456"/>
          </a:xfrm>
          <a:prstGeom prst="rect">
            <a:avLst/>
          </a:prstGeom>
          <a:noFill/>
          <a:ln/>
        </p:spPr>
        <p:txBody>
          <a:bodyPr wrap="square" lIns="0" tIns="0" rIns="0" bIns="0" rtlCol="0" anchor="ctr"/>
          <a:lstStyle/>
          <a:p>
            <a:pPr marL="0" indent="0">
              <a:buNone/>
            </a:pPr>
            <a:r>
              <a:rPr lang="en-US" sz="1100" b="1" dirty="0">
                <a:solidFill>
                  <a:srgbClr val="3DDC97"/>
                </a:solidFill>
                <a:latin typeface="Courier New" pitchFamily="34" charset="0"/>
                <a:ea typeface="Courier New" pitchFamily="34" charset="-122"/>
                <a:cs typeface="Courier New" pitchFamily="34" charset="-120"/>
              </a:rPr>
              <a:t>number</a:t>
            </a:r>
            <a:endParaRPr lang="en-US" sz="1100" dirty="0"/>
          </a:p>
        </p:txBody>
      </p:sp>
      <p:sp>
        <p:nvSpPr>
          <p:cNvPr id="16" name="Text 14"/>
          <p:cNvSpPr txBox="1"/>
          <p:nvPr/>
        </p:nvSpPr>
        <p:spPr>
          <a:xfrm>
            <a:off x="5541264" y="1810512"/>
            <a:ext cx="1298448" cy="786384"/>
          </a:xfrm>
          <a:prstGeom prst="rect">
            <a:avLst/>
          </a:prstGeom>
          <a:noFill/>
          <a:ln/>
        </p:spPr>
        <p:txBody>
          <a:bodyPr wrap="square" lIns="0" tIns="0" rIns="0" bIns="0" rtlCol="0" anchor="t"/>
          <a:lstStyle/>
          <a:p>
            <a:pPr marL="0" indent="0" algn="l">
              <a:buNone/>
            </a:pPr>
            <a:r>
              <a:rPr lang="en-US" sz="950" dirty="0">
                <a:solidFill>
                  <a:srgbClr val="E8EEF6"/>
                </a:solidFill>
                <a:latin typeface="Calibri" pitchFamily="34" charset="0"/>
                <a:ea typeface="Calibri" pitchFamily="34" charset="-122"/>
                <a:cs typeface="Calibri" pitchFamily="34" charset="-120"/>
              </a:rPr>
              <a:t>Valor numérico.</a:t>
            </a:r>
            <a:endParaRPr lang="en-US" sz="950" dirty="0"/>
          </a:p>
        </p:txBody>
      </p:sp>
      <p:sp>
        <p:nvSpPr>
          <p:cNvPr id="17" name="Shape 15"/>
          <p:cNvSpPr/>
          <p:nvPr/>
        </p:nvSpPr>
        <p:spPr>
          <a:xfrm>
            <a:off x="7050024" y="1371600"/>
            <a:ext cx="1554480" cy="1325880"/>
          </a:xfrm>
          <a:prstGeom prst="roundRect">
            <a:avLst>
              <a:gd name="adj" fmla="val 5517"/>
            </a:avLst>
          </a:prstGeom>
          <a:solidFill>
            <a:srgbClr val="1A2434"/>
          </a:solidFill>
          <a:ln w="12700">
            <a:solidFill>
              <a:srgbClr val="56C7F2"/>
            </a:solidFill>
            <a:prstDash val="solid"/>
          </a:ln>
        </p:spPr>
        <p:txBody>
          <a:bodyPr/>
          <a:lstStyle/>
          <a:p>
            <a:endParaRPr lang="es-CO"/>
          </a:p>
        </p:txBody>
      </p:sp>
      <p:sp>
        <p:nvSpPr>
          <p:cNvPr id="18" name="Text 16"/>
          <p:cNvSpPr txBox="1"/>
          <p:nvPr/>
        </p:nvSpPr>
        <p:spPr>
          <a:xfrm>
            <a:off x="7178040" y="1517904"/>
            <a:ext cx="1298448" cy="219456"/>
          </a:xfrm>
          <a:prstGeom prst="rect">
            <a:avLst/>
          </a:prstGeom>
          <a:noFill/>
          <a:ln/>
        </p:spPr>
        <p:txBody>
          <a:bodyPr wrap="square" lIns="0" tIns="0" rIns="0" bIns="0" rtlCol="0" anchor="ctr"/>
          <a:lstStyle/>
          <a:p>
            <a:pPr marL="0" indent="0">
              <a:buNone/>
            </a:pPr>
            <a:r>
              <a:rPr lang="en-US" sz="1100" b="1" dirty="0">
                <a:solidFill>
                  <a:srgbClr val="56C7F2"/>
                </a:solidFill>
                <a:latin typeface="Courier New" pitchFamily="34" charset="0"/>
                <a:ea typeface="Courier New" pitchFamily="34" charset="-122"/>
                <a:cs typeface="Courier New" pitchFamily="34" charset="-120"/>
              </a:rPr>
              <a:t>date</a:t>
            </a:r>
            <a:endParaRPr lang="en-US" sz="1100" dirty="0"/>
          </a:p>
        </p:txBody>
      </p:sp>
      <p:sp>
        <p:nvSpPr>
          <p:cNvPr id="19" name="Text 17"/>
          <p:cNvSpPr txBox="1"/>
          <p:nvPr/>
        </p:nvSpPr>
        <p:spPr>
          <a:xfrm>
            <a:off x="7178040" y="1810512"/>
            <a:ext cx="1298448" cy="786384"/>
          </a:xfrm>
          <a:prstGeom prst="rect">
            <a:avLst/>
          </a:prstGeom>
          <a:noFill/>
          <a:ln/>
        </p:spPr>
        <p:txBody>
          <a:bodyPr wrap="square" lIns="0" tIns="0" rIns="0" bIns="0" rtlCol="0" anchor="t"/>
          <a:lstStyle/>
          <a:p>
            <a:pPr marL="0" indent="0" algn="l">
              <a:buNone/>
            </a:pPr>
            <a:r>
              <a:rPr lang="en-US" sz="950" dirty="0">
                <a:solidFill>
                  <a:srgbClr val="E8EEF6"/>
                </a:solidFill>
                <a:latin typeface="Calibri" pitchFamily="34" charset="0"/>
                <a:ea typeface="Calibri" pitchFamily="34" charset="-122"/>
                <a:cs typeface="Calibri" pitchFamily="34" charset="-120"/>
              </a:rPr>
              <a:t>Fecha, con selector del navegador.</a:t>
            </a:r>
            <a:endParaRPr lang="en-US" sz="950" dirty="0"/>
          </a:p>
        </p:txBody>
      </p:sp>
      <p:sp>
        <p:nvSpPr>
          <p:cNvPr id="20" name="Shape 18"/>
          <p:cNvSpPr/>
          <p:nvPr/>
        </p:nvSpPr>
        <p:spPr>
          <a:xfrm>
            <a:off x="502920" y="2926080"/>
            <a:ext cx="8138160" cy="777240"/>
          </a:xfrm>
          <a:prstGeom prst="roundRect">
            <a:avLst>
              <a:gd name="adj" fmla="val 9412"/>
            </a:avLst>
          </a:prstGeom>
          <a:solidFill>
            <a:srgbClr val="070C14"/>
          </a:solidFill>
          <a:ln w="12700">
            <a:solidFill>
              <a:srgbClr val="2B3B52"/>
            </a:solidFill>
            <a:prstDash val="solid"/>
          </a:ln>
        </p:spPr>
        <p:txBody>
          <a:bodyPr/>
          <a:lstStyle/>
          <a:p>
            <a:endParaRPr lang="es-CO"/>
          </a:p>
        </p:txBody>
      </p:sp>
      <p:sp>
        <p:nvSpPr>
          <p:cNvPr id="21" name="Text 19"/>
          <p:cNvSpPr txBox="1"/>
          <p:nvPr/>
        </p:nvSpPr>
        <p:spPr>
          <a:xfrm>
            <a:off x="649224" y="2980944"/>
            <a:ext cx="7845552"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ejemplo</a:t>
            </a:r>
            <a:endParaRPr lang="en-US" sz="850" dirty="0"/>
          </a:p>
        </p:txBody>
      </p:sp>
      <p:sp>
        <p:nvSpPr>
          <p:cNvPr id="22" name="Text 20"/>
          <p:cNvSpPr txBox="1"/>
          <p:nvPr/>
        </p:nvSpPr>
        <p:spPr>
          <a:xfrm>
            <a:off x="649224" y="3200400"/>
            <a:ext cx="7845552" cy="429768"/>
          </a:xfrm>
          <a:prstGeom prst="rect">
            <a:avLst/>
          </a:prstGeom>
          <a:noFill/>
          <a:ln/>
        </p:spPr>
        <p:txBody>
          <a:bodyPr wrap="square" lIns="0" tIns="0" rIns="0" bIns="0" rtlCol="0" anchor="t"/>
          <a:lstStyle/>
          <a:p>
            <a:pPr marL="0" indent="0">
              <a:lnSpc>
                <a:spcPts val="1400"/>
              </a:lnSpc>
              <a:buNone/>
            </a:pPr>
            <a:r>
              <a:rPr lang="en-US" sz="1100" dirty="0">
                <a:solidFill>
                  <a:srgbClr val="3DDC97"/>
                </a:solidFill>
                <a:latin typeface="Courier New" pitchFamily="34" charset="0"/>
                <a:ea typeface="Courier New" pitchFamily="34" charset="-122"/>
                <a:cs typeface="Courier New" pitchFamily="34" charset="-120"/>
              </a:rPr>
              <a:t>&lt;input</a:t>
            </a:r>
            <a:r>
              <a:rPr lang="en-US" sz="1100" dirty="0">
                <a:solidFill>
                  <a:srgbClr val="FFB86C"/>
                </a:solidFill>
                <a:latin typeface="Courier New" pitchFamily="34" charset="0"/>
                <a:ea typeface="Courier New" pitchFamily="34" charset="-122"/>
                <a:cs typeface="Courier New" pitchFamily="34" charset="-120"/>
              </a:rPr>
              <a:t> type=</a:t>
            </a:r>
            <a:r>
              <a:rPr lang="en-US" sz="1100" dirty="0">
                <a:solidFill>
                  <a:srgbClr val="FFD479"/>
                </a:solidFill>
                <a:latin typeface="Courier New" pitchFamily="34" charset="0"/>
                <a:ea typeface="Courier New" pitchFamily="34" charset="-122"/>
                <a:cs typeface="Courier New" pitchFamily="34" charset="-120"/>
              </a:rPr>
              <a:t>"email"</a:t>
            </a:r>
            <a:r>
              <a:rPr lang="en-US" sz="1100" dirty="0">
                <a:solidFill>
                  <a:srgbClr val="FFB86C"/>
                </a:solidFill>
                <a:latin typeface="Courier New" pitchFamily="34" charset="0"/>
                <a:ea typeface="Courier New" pitchFamily="34" charset="-122"/>
                <a:cs typeface="Courier New" pitchFamily="34" charset="-120"/>
              </a:rPr>
              <a:t> id=</a:t>
            </a:r>
            <a:r>
              <a:rPr lang="en-US" sz="1100" dirty="0">
                <a:solidFill>
                  <a:srgbClr val="FFD479"/>
                </a:solidFill>
                <a:latin typeface="Courier New" pitchFamily="34" charset="0"/>
                <a:ea typeface="Courier New" pitchFamily="34" charset="-122"/>
                <a:cs typeface="Courier New" pitchFamily="34" charset="-120"/>
              </a:rPr>
              <a:t>"correo"</a:t>
            </a:r>
            <a:r>
              <a:rPr lang="en-US" sz="1100" dirty="0">
                <a:solidFill>
                  <a:srgbClr val="FFB86C"/>
                </a:solidFill>
                <a:latin typeface="Courier New" pitchFamily="34" charset="0"/>
                <a:ea typeface="Courier New" pitchFamily="34" charset="-122"/>
                <a:cs typeface="Courier New" pitchFamily="34" charset="-120"/>
              </a:rPr>
              <a:t> name=</a:t>
            </a:r>
            <a:r>
              <a:rPr lang="en-US" sz="1100" dirty="0">
                <a:solidFill>
                  <a:srgbClr val="FFD479"/>
                </a:solidFill>
                <a:latin typeface="Courier New" pitchFamily="34" charset="0"/>
                <a:ea typeface="Courier New" pitchFamily="34" charset="-122"/>
                <a:cs typeface="Courier New" pitchFamily="34" charset="-120"/>
              </a:rPr>
              <a:t>"correo"</a:t>
            </a:r>
            <a:r>
              <a:rPr lang="en-US" sz="1100" dirty="0">
                <a:solidFill>
                  <a:srgbClr val="FFB86C"/>
                </a:solidFill>
                <a:latin typeface="Courier New" pitchFamily="34" charset="0"/>
                <a:ea typeface="Courier New" pitchFamily="34" charset="-122"/>
                <a:cs typeface="Courier New" pitchFamily="34" charset="-120"/>
              </a:rPr>
              <a:t> required</a:t>
            </a:r>
            <a:r>
              <a:rPr lang="en-US" sz="1100" dirty="0">
                <a:solidFill>
                  <a:srgbClr val="3DDC97"/>
                </a:solidFill>
                <a:latin typeface="Courier New" pitchFamily="34" charset="0"/>
                <a:ea typeface="Courier New" pitchFamily="34" charset="-122"/>
                <a:cs typeface="Courier New" pitchFamily="34" charset="-120"/>
              </a:rPr>
              <a:t>&gt;</a:t>
            </a:r>
            <a:endParaRPr lang="en-US" sz="1100" dirty="0"/>
          </a:p>
        </p:txBody>
      </p:sp>
      <p:sp>
        <p:nvSpPr>
          <p:cNvPr id="23" name="Text 21"/>
          <p:cNvSpPr txBox="1"/>
          <p:nvPr/>
        </p:nvSpPr>
        <p:spPr>
          <a:xfrm>
            <a:off x="502920" y="384048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HTML define muchos más tipos; en esta sesión se trabajan los básicos. El atributo required indica que el control no puede enviarse vacío.</a:t>
            </a:r>
            <a:endParaRPr lang="en-US" sz="1100" dirty="0"/>
          </a:p>
        </p:txBody>
      </p:sp>
      <p:sp>
        <p:nvSpPr>
          <p:cNvPr id="25" name="Text 22"/>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15 / 20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09728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9728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ATRIBUTOS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action y method</a:t>
            </a:r>
            <a:endParaRPr lang="en-US" sz="2600" dirty="0"/>
          </a:p>
        </p:txBody>
      </p:sp>
      <p:sp>
        <p:nvSpPr>
          <p:cNvPr id="5" name="Shape 3"/>
          <p:cNvSpPr/>
          <p:nvPr/>
        </p:nvSpPr>
        <p:spPr>
          <a:xfrm>
            <a:off x="502920" y="1316736"/>
            <a:ext cx="8138160" cy="868680"/>
          </a:xfrm>
          <a:prstGeom prst="roundRect">
            <a:avLst>
              <a:gd name="adj" fmla="val 8421"/>
            </a:avLst>
          </a:prstGeom>
          <a:solidFill>
            <a:srgbClr val="070C14"/>
          </a:solidFill>
          <a:ln w="12700">
            <a:solidFill>
              <a:srgbClr val="2B3B52"/>
            </a:solidFill>
            <a:prstDash val="solid"/>
          </a:ln>
        </p:spPr>
        <p:txBody>
          <a:bodyPr/>
          <a:lstStyle/>
          <a:p>
            <a:endParaRPr lang="es-CO"/>
          </a:p>
        </p:txBody>
      </p:sp>
      <p:sp>
        <p:nvSpPr>
          <p:cNvPr id="6" name="Text 4"/>
          <p:cNvSpPr txBox="1"/>
          <p:nvPr/>
        </p:nvSpPr>
        <p:spPr>
          <a:xfrm>
            <a:off x="649224" y="1371600"/>
            <a:ext cx="3657600"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index.html</a:t>
            </a:r>
            <a:endParaRPr lang="en-US" sz="850" dirty="0"/>
          </a:p>
        </p:txBody>
      </p:sp>
      <p:sp>
        <p:nvSpPr>
          <p:cNvPr id="7" name="Text 5"/>
          <p:cNvSpPr txBox="1"/>
          <p:nvPr/>
        </p:nvSpPr>
        <p:spPr>
          <a:xfrm>
            <a:off x="649224" y="1627632"/>
            <a:ext cx="7845552" cy="457200"/>
          </a:xfrm>
          <a:prstGeom prst="rect">
            <a:avLst/>
          </a:prstGeom>
          <a:noFill/>
          <a:ln/>
        </p:spPr>
        <p:txBody>
          <a:bodyPr wrap="square" lIns="0" tIns="0" rIns="0" bIns="0" rtlCol="0" anchor="ctr"/>
          <a:lstStyle/>
          <a:p>
            <a:pPr marL="0" indent="0">
              <a:buNone/>
            </a:pPr>
            <a:r>
              <a:rPr lang="en-US" sz="1500" b="1" dirty="0">
                <a:solidFill>
                  <a:srgbClr val="6C7E96"/>
                </a:solidFill>
                <a:latin typeface="Courier New" pitchFamily="34" charset="0"/>
                <a:ea typeface="Courier New" pitchFamily="34" charset="-122"/>
                <a:cs typeface="Courier New" pitchFamily="34" charset="-120"/>
              </a:rPr>
              <a:t>&lt;form </a:t>
            </a:r>
            <a:r>
              <a:rPr lang="en-US" sz="1500" b="1" dirty="0">
                <a:solidFill>
                  <a:srgbClr val="56C7F2"/>
                </a:solidFill>
                <a:latin typeface="Courier New" pitchFamily="34" charset="0"/>
                <a:ea typeface="Courier New" pitchFamily="34" charset="-122"/>
                <a:cs typeface="Courier New" pitchFamily="34" charset="-120"/>
              </a:rPr>
              <a:t>action="/contacto"</a:t>
            </a:r>
            <a:r>
              <a:rPr lang="en-US" sz="1500" b="1" dirty="0">
                <a:solidFill>
                  <a:srgbClr val="6C7E96"/>
                </a:solidFill>
                <a:latin typeface="Courier New" pitchFamily="34" charset="0"/>
                <a:ea typeface="Courier New" pitchFamily="34" charset="-122"/>
                <a:cs typeface="Courier New" pitchFamily="34" charset="-120"/>
              </a:rPr>
              <a:t> </a:t>
            </a:r>
            <a:r>
              <a:rPr lang="en-US" sz="1500" b="1" dirty="0">
                <a:solidFill>
                  <a:srgbClr val="3DDC97"/>
                </a:solidFill>
                <a:latin typeface="Courier New" pitchFamily="34" charset="0"/>
                <a:ea typeface="Courier New" pitchFamily="34" charset="-122"/>
                <a:cs typeface="Courier New" pitchFamily="34" charset="-120"/>
              </a:rPr>
              <a:t>method="POST"</a:t>
            </a:r>
            <a:r>
              <a:rPr lang="en-US" sz="1500" b="1" dirty="0">
                <a:solidFill>
                  <a:srgbClr val="6C7E96"/>
                </a:solidFill>
                <a:latin typeface="Courier New" pitchFamily="34" charset="0"/>
                <a:ea typeface="Courier New" pitchFamily="34" charset="-122"/>
                <a:cs typeface="Courier New" pitchFamily="34" charset="-120"/>
              </a:rPr>
              <a:t>&gt;</a:t>
            </a:r>
            <a:endParaRPr lang="en-US" sz="1500" dirty="0"/>
          </a:p>
        </p:txBody>
      </p:sp>
      <p:sp>
        <p:nvSpPr>
          <p:cNvPr id="8" name="Shape 6"/>
          <p:cNvSpPr/>
          <p:nvPr/>
        </p:nvSpPr>
        <p:spPr>
          <a:xfrm>
            <a:off x="502920" y="2395728"/>
            <a:ext cx="3977640" cy="1207008"/>
          </a:xfrm>
          <a:prstGeom prst="roundRect">
            <a:avLst>
              <a:gd name="adj" fmla="val 6061"/>
            </a:avLst>
          </a:prstGeom>
          <a:solidFill>
            <a:srgbClr val="1A2434"/>
          </a:solidFill>
          <a:ln w="12700">
            <a:solidFill>
              <a:srgbClr val="56C7F2"/>
            </a:solidFill>
            <a:prstDash val="solid"/>
          </a:ln>
        </p:spPr>
        <p:txBody>
          <a:bodyPr/>
          <a:lstStyle/>
          <a:p>
            <a:endParaRPr lang="es-CO"/>
          </a:p>
        </p:txBody>
      </p:sp>
      <p:sp>
        <p:nvSpPr>
          <p:cNvPr id="9" name="Text 7"/>
          <p:cNvSpPr txBox="1"/>
          <p:nvPr/>
        </p:nvSpPr>
        <p:spPr>
          <a:xfrm>
            <a:off x="731520" y="2560320"/>
            <a:ext cx="3520440" cy="219456"/>
          </a:xfrm>
          <a:prstGeom prst="rect">
            <a:avLst/>
          </a:prstGeom>
          <a:noFill/>
          <a:ln/>
        </p:spPr>
        <p:txBody>
          <a:bodyPr wrap="square" lIns="0" tIns="0" rIns="0" bIns="0" rtlCol="0" anchor="ctr"/>
          <a:lstStyle/>
          <a:p>
            <a:pPr marL="0" indent="0">
              <a:buNone/>
            </a:pPr>
            <a:r>
              <a:rPr lang="en-US" sz="1300" b="1" dirty="0">
                <a:solidFill>
                  <a:srgbClr val="56C7F2"/>
                </a:solidFill>
                <a:latin typeface="Courier New" pitchFamily="34" charset="0"/>
                <a:ea typeface="Courier New" pitchFamily="34" charset="-122"/>
                <a:cs typeface="Courier New" pitchFamily="34" charset="-120"/>
              </a:rPr>
              <a:t>action</a:t>
            </a:r>
            <a:endParaRPr lang="en-US" sz="1300" dirty="0"/>
          </a:p>
        </p:txBody>
      </p:sp>
      <p:sp>
        <p:nvSpPr>
          <p:cNvPr id="10" name="Text 8"/>
          <p:cNvSpPr txBox="1"/>
          <p:nvPr/>
        </p:nvSpPr>
        <p:spPr>
          <a:xfrm>
            <a:off x="731520" y="2852928"/>
            <a:ext cx="3520440" cy="640080"/>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Indica la URL o ruta a la que el navegador enviará los datos del formulario. Es la misma clase de ruta que ya interpreta req.url en el servidor.</a:t>
            </a:r>
            <a:endParaRPr lang="en-US" sz="1050" dirty="0"/>
          </a:p>
        </p:txBody>
      </p:sp>
      <p:sp>
        <p:nvSpPr>
          <p:cNvPr id="11" name="Shape 9"/>
          <p:cNvSpPr/>
          <p:nvPr/>
        </p:nvSpPr>
        <p:spPr>
          <a:xfrm>
            <a:off x="4663440" y="2395728"/>
            <a:ext cx="3977640" cy="1207008"/>
          </a:xfrm>
          <a:prstGeom prst="roundRect">
            <a:avLst>
              <a:gd name="adj" fmla="val 6061"/>
            </a:avLst>
          </a:prstGeom>
          <a:solidFill>
            <a:srgbClr val="1A2434"/>
          </a:solidFill>
          <a:ln w="12700">
            <a:solidFill>
              <a:srgbClr val="3DDC97"/>
            </a:solidFill>
            <a:prstDash val="solid"/>
          </a:ln>
        </p:spPr>
        <p:txBody>
          <a:bodyPr/>
          <a:lstStyle/>
          <a:p>
            <a:endParaRPr lang="es-CO"/>
          </a:p>
        </p:txBody>
      </p:sp>
      <p:sp>
        <p:nvSpPr>
          <p:cNvPr id="12" name="Text 10"/>
          <p:cNvSpPr txBox="1"/>
          <p:nvPr/>
        </p:nvSpPr>
        <p:spPr>
          <a:xfrm>
            <a:off x="4892040" y="2560320"/>
            <a:ext cx="3520440" cy="219456"/>
          </a:xfrm>
          <a:prstGeom prst="rect">
            <a:avLst/>
          </a:prstGeom>
          <a:noFill/>
          <a:ln/>
        </p:spPr>
        <p:txBody>
          <a:bodyPr wrap="square" lIns="0" tIns="0" rIns="0" bIns="0" rtlCol="0" anchor="ctr"/>
          <a:lstStyle/>
          <a:p>
            <a:pPr marL="0" indent="0">
              <a:buNone/>
            </a:pPr>
            <a:r>
              <a:rPr lang="en-US" sz="1300" b="1" dirty="0">
                <a:solidFill>
                  <a:srgbClr val="3DDC97"/>
                </a:solidFill>
                <a:latin typeface="Courier New" pitchFamily="34" charset="0"/>
                <a:ea typeface="Courier New" pitchFamily="34" charset="-122"/>
                <a:cs typeface="Courier New" pitchFamily="34" charset="-120"/>
              </a:rPr>
              <a:t>method</a:t>
            </a:r>
            <a:endParaRPr lang="en-US" sz="1300" dirty="0"/>
          </a:p>
        </p:txBody>
      </p:sp>
      <p:sp>
        <p:nvSpPr>
          <p:cNvPr id="13" name="Text 11"/>
          <p:cNvSpPr txBox="1"/>
          <p:nvPr/>
        </p:nvSpPr>
        <p:spPr>
          <a:xfrm>
            <a:off x="4892040" y="2852928"/>
            <a:ext cx="3520440" cy="640080"/>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Indica el método HTTP con el que el navegador realizará el envío. Es el valor que el servidor lee en req.method.</a:t>
            </a:r>
            <a:endParaRPr lang="en-US" sz="1050" dirty="0"/>
          </a:p>
        </p:txBody>
      </p:sp>
      <p:sp>
        <p:nvSpPr>
          <p:cNvPr id="14" name="Text 12"/>
          <p:cNvSpPr txBox="1"/>
          <p:nvPr/>
        </p:nvSpPr>
        <p:spPr>
          <a:xfrm>
            <a:off x="502920" y="374904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Si no se declara method, el navegador utiliza GET de manera predeterminada. Si no se declara action, envía a la misma URL del documento actual.</a:t>
            </a:r>
            <a:endParaRPr lang="en-US" sz="1100" dirty="0"/>
          </a:p>
        </p:txBody>
      </p:sp>
      <p:sp>
        <p:nvSpPr>
          <p:cNvPr id="16" name="Text 1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16 / 20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2344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23444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COMPARACIÓN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GET y POST en el envío de formularios</a:t>
            </a:r>
            <a:endParaRPr lang="en-US" sz="2600" dirty="0"/>
          </a:p>
        </p:txBody>
      </p:sp>
      <p:sp>
        <p:nvSpPr>
          <p:cNvPr id="5" name="Shape 3"/>
          <p:cNvSpPr/>
          <p:nvPr/>
        </p:nvSpPr>
        <p:spPr>
          <a:xfrm>
            <a:off x="502920" y="1316736"/>
            <a:ext cx="3977640" cy="2395728"/>
          </a:xfrm>
          <a:prstGeom prst="roundRect">
            <a:avLst>
              <a:gd name="adj" fmla="val 3053"/>
            </a:avLst>
          </a:prstGeom>
          <a:solidFill>
            <a:srgbClr val="1A2434"/>
          </a:solidFill>
          <a:ln w="12700">
            <a:solidFill>
              <a:srgbClr val="56C7F2"/>
            </a:solidFill>
            <a:prstDash val="solid"/>
          </a:ln>
        </p:spPr>
        <p:txBody>
          <a:bodyPr/>
          <a:lstStyle/>
          <a:p>
            <a:endParaRPr lang="es-CO"/>
          </a:p>
        </p:txBody>
      </p:sp>
      <p:sp>
        <p:nvSpPr>
          <p:cNvPr id="6" name="Text 4"/>
          <p:cNvSpPr txBox="1"/>
          <p:nvPr/>
        </p:nvSpPr>
        <p:spPr>
          <a:xfrm>
            <a:off x="731520" y="1481328"/>
            <a:ext cx="3520440" cy="237744"/>
          </a:xfrm>
          <a:prstGeom prst="rect">
            <a:avLst/>
          </a:prstGeom>
          <a:noFill/>
          <a:ln/>
        </p:spPr>
        <p:txBody>
          <a:bodyPr wrap="square" lIns="0" tIns="0" rIns="0" bIns="0" rtlCol="0" anchor="ctr"/>
          <a:lstStyle/>
          <a:p>
            <a:pPr marL="0" indent="0">
              <a:buNone/>
            </a:pPr>
            <a:r>
              <a:rPr lang="en-US" sz="1400" b="1" dirty="0">
                <a:solidFill>
                  <a:srgbClr val="56C7F2"/>
                </a:solidFill>
                <a:latin typeface="Courier New" pitchFamily="34" charset="0"/>
                <a:ea typeface="Courier New" pitchFamily="34" charset="-122"/>
                <a:cs typeface="Courier New" pitchFamily="34" charset="-120"/>
              </a:rPr>
              <a:t>GET</a:t>
            </a:r>
            <a:endParaRPr lang="en-US" sz="1400" dirty="0"/>
          </a:p>
        </p:txBody>
      </p:sp>
      <p:sp>
        <p:nvSpPr>
          <p:cNvPr id="7" name="Text 5"/>
          <p:cNvSpPr txBox="1"/>
          <p:nvPr/>
        </p:nvSpPr>
        <p:spPr>
          <a:xfrm>
            <a:off x="731520" y="1810512"/>
            <a:ext cx="3520440" cy="822960"/>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Se utiliza principalmente para solicitar o consultar recursos. Cuando se emplea en un formulario, los datos se codifican normalmente en la URL como parámetros de consulta.</a:t>
            </a:r>
            <a:endParaRPr lang="en-US" sz="1050" dirty="0"/>
          </a:p>
        </p:txBody>
      </p:sp>
      <p:sp>
        <p:nvSpPr>
          <p:cNvPr id="8" name="Shape 6"/>
          <p:cNvSpPr/>
          <p:nvPr/>
        </p:nvSpPr>
        <p:spPr>
          <a:xfrm>
            <a:off x="731520" y="2651760"/>
            <a:ext cx="3520440" cy="566928"/>
          </a:xfrm>
          <a:prstGeom prst="roundRect">
            <a:avLst>
              <a:gd name="adj" fmla="val 12903"/>
            </a:avLst>
          </a:prstGeom>
          <a:solidFill>
            <a:srgbClr val="070C14"/>
          </a:solidFill>
          <a:ln w="12700">
            <a:solidFill>
              <a:srgbClr val="2B3B52"/>
            </a:solidFill>
            <a:prstDash val="solid"/>
          </a:ln>
        </p:spPr>
        <p:txBody>
          <a:bodyPr/>
          <a:lstStyle/>
          <a:p>
            <a:endParaRPr lang="es-CO"/>
          </a:p>
        </p:txBody>
      </p:sp>
      <p:sp>
        <p:nvSpPr>
          <p:cNvPr id="9" name="Text 7"/>
          <p:cNvSpPr txBox="1"/>
          <p:nvPr/>
        </p:nvSpPr>
        <p:spPr>
          <a:xfrm>
            <a:off x="877824" y="2706624"/>
            <a:ext cx="3227832" cy="438912"/>
          </a:xfrm>
          <a:prstGeom prst="rect">
            <a:avLst/>
          </a:prstGeom>
          <a:noFill/>
          <a:ln/>
        </p:spPr>
        <p:txBody>
          <a:bodyPr wrap="square" lIns="0" tIns="0" rIns="0" bIns="0" rtlCol="0" anchor="t"/>
          <a:lstStyle/>
          <a:p>
            <a:pPr marL="0" indent="0">
              <a:lnSpc>
                <a:spcPts val="1150"/>
              </a:lnSpc>
              <a:buNone/>
            </a:pPr>
            <a:r>
              <a:rPr lang="en-US" sz="900" dirty="0">
                <a:solidFill>
                  <a:srgbClr val="D7E1EE"/>
                </a:solidFill>
                <a:latin typeface="Courier New" pitchFamily="34" charset="0"/>
                <a:ea typeface="Courier New" pitchFamily="34" charset="-122"/>
                <a:cs typeface="Courier New" pitchFamily="34" charset="-120"/>
              </a:rPr>
              <a:t>GET /contacto?nombre=Ana&amp;correo=a@b.co</a:t>
            </a:r>
            <a:endParaRPr lang="en-US" sz="900" dirty="0"/>
          </a:p>
        </p:txBody>
      </p:sp>
      <p:sp>
        <p:nvSpPr>
          <p:cNvPr id="10" name="Shape 8"/>
          <p:cNvSpPr/>
          <p:nvPr/>
        </p:nvSpPr>
        <p:spPr>
          <a:xfrm>
            <a:off x="731520" y="3291840"/>
            <a:ext cx="2377440" cy="310896"/>
          </a:xfrm>
          <a:prstGeom prst="roundRect">
            <a:avLst>
              <a:gd name="adj" fmla="val 26471"/>
            </a:avLst>
          </a:prstGeom>
          <a:solidFill>
            <a:srgbClr val="1A2434"/>
          </a:solidFill>
          <a:ln w="12700">
            <a:solidFill>
              <a:srgbClr val="56C7F2"/>
            </a:solidFill>
            <a:prstDash val="solid"/>
          </a:ln>
        </p:spPr>
        <p:txBody>
          <a:bodyPr/>
          <a:lstStyle/>
          <a:p>
            <a:endParaRPr lang="es-CO"/>
          </a:p>
        </p:txBody>
      </p:sp>
      <p:sp>
        <p:nvSpPr>
          <p:cNvPr id="11" name="Text 9"/>
          <p:cNvSpPr txBox="1"/>
          <p:nvPr/>
        </p:nvSpPr>
        <p:spPr>
          <a:xfrm>
            <a:off x="731520" y="3291840"/>
            <a:ext cx="2377440" cy="310896"/>
          </a:xfrm>
          <a:prstGeom prst="rect">
            <a:avLst/>
          </a:prstGeom>
          <a:noFill/>
          <a:ln/>
        </p:spPr>
        <p:txBody>
          <a:bodyPr wrap="square" lIns="0" tIns="0" rIns="0" bIns="0" rtlCol="0" anchor="ctr"/>
          <a:lstStyle/>
          <a:p>
            <a:pPr marL="0" indent="0" algn="ctr">
              <a:buNone/>
            </a:pPr>
            <a:r>
              <a:rPr lang="en-US" sz="900" b="1" dirty="0">
                <a:solidFill>
                  <a:srgbClr val="56C7F2"/>
                </a:solidFill>
                <a:latin typeface="Arial" pitchFamily="34" charset="0"/>
                <a:ea typeface="Arial" pitchFamily="34" charset="-122"/>
                <a:cs typeface="Arial" pitchFamily="34" charset="-120"/>
              </a:rPr>
              <a:t>Datos visibles en la URL</a:t>
            </a:r>
            <a:endParaRPr lang="en-US" sz="900" dirty="0"/>
          </a:p>
        </p:txBody>
      </p:sp>
      <p:sp>
        <p:nvSpPr>
          <p:cNvPr id="12" name="Shape 10"/>
          <p:cNvSpPr/>
          <p:nvPr/>
        </p:nvSpPr>
        <p:spPr>
          <a:xfrm>
            <a:off x="4663440" y="1316736"/>
            <a:ext cx="3977640" cy="2395728"/>
          </a:xfrm>
          <a:prstGeom prst="roundRect">
            <a:avLst>
              <a:gd name="adj" fmla="val 3053"/>
            </a:avLst>
          </a:prstGeom>
          <a:solidFill>
            <a:srgbClr val="1A2434"/>
          </a:solidFill>
          <a:ln w="12700">
            <a:solidFill>
              <a:srgbClr val="3DDC97"/>
            </a:solidFill>
            <a:prstDash val="solid"/>
          </a:ln>
        </p:spPr>
        <p:txBody>
          <a:bodyPr/>
          <a:lstStyle/>
          <a:p>
            <a:endParaRPr lang="es-CO"/>
          </a:p>
        </p:txBody>
      </p:sp>
      <p:sp>
        <p:nvSpPr>
          <p:cNvPr id="13" name="Text 11"/>
          <p:cNvSpPr txBox="1"/>
          <p:nvPr/>
        </p:nvSpPr>
        <p:spPr>
          <a:xfrm>
            <a:off x="4892040" y="1481328"/>
            <a:ext cx="3520440" cy="237744"/>
          </a:xfrm>
          <a:prstGeom prst="rect">
            <a:avLst/>
          </a:prstGeom>
          <a:noFill/>
          <a:ln/>
        </p:spPr>
        <p:txBody>
          <a:bodyPr wrap="square" lIns="0" tIns="0" rIns="0" bIns="0" rtlCol="0" anchor="ctr"/>
          <a:lstStyle/>
          <a:p>
            <a:pPr marL="0" indent="0">
              <a:buNone/>
            </a:pPr>
            <a:r>
              <a:rPr lang="en-US" sz="1400" b="1" dirty="0">
                <a:solidFill>
                  <a:srgbClr val="3DDC97"/>
                </a:solidFill>
                <a:latin typeface="Courier New" pitchFamily="34" charset="0"/>
                <a:ea typeface="Courier New" pitchFamily="34" charset="-122"/>
                <a:cs typeface="Courier New" pitchFamily="34" charset="-120"/>
              </a:rPr>
              <a:t>POST</a:t>
            </a:r>
            <a:endParaRPr lang="en-US" sz="1400" dirty="0"/>
          </a:p>
        </p:txBody>
      </p:sp>
      <p:sp>
        <p:nvSpPr>
          <p:cNvPr id="14" name="Text 12"/>
          <p:cNvSpPr txBox="1"/>
          <p:nvPr/>
        </p:nvSpPr>
        <p:spPr>
          <a:xfrm>
            <a:off x="4892040" y="1810512"/>
            <a:ext cx="3520440" cy="822960"/>
          </a:xfrm>
          <a:prstGeom prst="rect">
            <a:avLst/>
          </a:prstGeom>
          <a:noFill/>
          <a:ln/>
        </p:spPr>
        <p:txBody>
          <a:bodyPr wrap="square" lIns="0" tIns="0" rIns="0" bIns="0" rtlCol="0" anchor="t"/>
          <a:lstStyle/>
          <a:p>
            <a:pPr marL="0" indent="0" algn="l">
              <a:buNone/>
            </a:pPr>
            <a:r>
              <a:rPr lang="en-US" sz="1050" dirty="0">
                <a:solidFill>
                  <a:srgbClr val="E8EEF6"/>
                </a:solidFill>
                <a:latin typeface="Calibri" pitchFamily="34" charset="0"/>
                <a:ea typeface="Calibri" pitchFamily="34" charset="-122"/>
                <a:cs typeface="Calibri" pitchFamily="34" charset="-120"/>
              </a:rPr>
              <a:t>Se utiliza para enviar datos al servidor para su procesamiento. Los datos se transportan normalmente en el cuerpo de la petición, no en la URL.</a:t>
            </a:r>
            <a:endParaRPr lang="en-US" sz="1050" dirty="0"/>
          </a:p>
        </p:txBody>
      </p:sp>
      <p:sp>
        <p:nvSpPr>
          <p:cNvPr id="15" name="Shape 13"/>
          <p:cNvSpPr/>
          <p:nvPr/>
        </p:nvSpPr>
        <p:spPr>
          <a:xfrm>
            <a:off x="4892040" y="2651760"/>
            <a:ext cx="3520440" cy="566928"/>
          </a:xfrm>
          <a:prstGeom prst="roundRect">
            <a:avLst>
              <a:gd name="adj" fmla="val 12903"/>
            </a:avLst>
          </a:prstGeom>
          <a:solidFill>
            <a:srgbClr val="070C14"/>
          </a:solidFill>
          <a:ln w="12700">
            <a:solidFill>
              <a:srgbClr val="2B3B52"/>
            </a:solidFill>
            <a:prstDash val="solid"/>
          </a:ln>
        </p:spPr>
        <p:txBody>
          <a:bodyPr/>
          <a:lstStyle/>
          <a:p>
            <a:endParaRPr lang="es-CO"/>
          </a:p>
        </p:txBody>
      </p:sp>
      <p:sp>
        <p:nvSpPr>
          <p:cNvPr id="16" name="Text 14"/>
          <p:cNvSpPr txBox="1"/>
          <p:nvPr/>
        </p:nvSpPr>
        <p:spPr>
          <a:xfrm>
            <a:off x="5038344" y="2706624"/>
            <a:ext cx="3227832" cy="438912"/>
          </a:xfrm>
          <a:prstGeom prst="rect">
            <a:avLst/>
          </a:prstGeom>
          <a:noFill/>
          <a:ln/>
        </p:spPr>
        <p:txBody>
          <a:bodyPr wrap="square" lIns="0" tIns="0" rIns="0" bIns="0" rtlCol="0" anchor="t"/>
          <a:lstStyle/>
          <a:p>
            <a:pPr marL="0" indent="0">
              <a:lnSpc>
                <a:spcPts val="1150"/>
              </a:lnSpc>
              <a:buNone/>
            </a:pPr>
            <a:r>
              <a:rPr lang="en-US" sz="900" dirty="0">
                <a:solidFill>
                  <a:srgbClr val="D7E1EE"/>
                </a:solidFill>
                <a:latin typeface="Courier New" pitchFamily="34" charset="0"/>
                <a:ea typeface="Courier New" pitchFamily="34" charset="-122"/>
                <a:cs typeface="Courier New" pitchFamily="34" charset="-120"/>
              </a:rPr>
              <a:t>POST /contacto</a:t>
            </a:r>
            <a:endParaRPr lang="en-US" sz="900" dirty="0"/>
          </a:p>
          <a:p>
            <a:pPr marL="0" indent="0">
              <a:lnSpc>
                <a:spcPts val="1150"/>
              </a:lnSpc>
              <a:buNone/>
            </a:pPr>
            <a:r>
              <a:rPr lang="en-US" sz="900" dirty="0">
                <a:solidFill>
                  <a:srgbClr val="D7E1EE"/>
                </a:solidFill>
                <a:latin typeface="Courier New" pitchFamily="34" charset="0"/>
                <a:ea typeface="Courier New" pitchFamily="34" charset="-122"/>
                <a:cs typeface="Courier New" pitchFamily="34" charset="-120"/>
              </a:rPr>
              <a:t>nombre=Ana&amp;correo=a@b.co</a:t>
            </a:r>
            <a:endParaRPr lang="en-US" sz="900" dirty="0"/>
          </a:p>
        </p:txBody>
      </p:sp>
      <p:sp>
        <p:nvSpPr>
          <p:cNvPr id="17" name="Shape 15"/>
          <p:cNvSpPr/>
          <p:nvPr/>
        </p:nvSpPr>
        <p:spPr>
          <a:xfrm>
            <a:off x="4892040" y="3291840"/>
            <a:ext cx="2377440" cy="310896"/>
          </a:xfrm>
          <a:prstGeom prst="roundRect">
            <a:avLst>
              <a:gd name="adj" fmla="val 26471"/>
            </a:avLst>
          </a:prstGeom>
          <a:solidFill>
            <a:srgbClr val="1A2434"/>
          </a:solidFill>
          <a:ln w="12700">
            <a:solidFill>
              <a:srgbClr val="3DDC97"/>
            </a:solidFill>
            <a:prstDash val="solid"/>
          </a:ln>
        </p:spPr>
        <p:txBody>
          <a:bodyPr/>
          <a:lstStyle/>
          <a:p>
            <a:endParaRPr lang="es-CO"/>
          </a:p>
        </p:txBody>
      </p:sp>
      <p:sp>
        <p:nvSpPr>
          <p:cNvPr id="18" name="Text 16"/>
          <p:cNvSpPr txBox="1"/>
          <p:nvPr/>
        </p:nvSpPr>
        <p:spPr>
          <a:xfrm>
            <a:off x="4892040" y="3291840"/>
            <a:ext cx="2377440" cy="310896"/>
          </a:xfrm>
          <a:prstGeom prst="rect">
            <a:avLst/>
          </a:prstGeom>
          <a:noFill/>
          <a:ln/>
        </p:spPr>
        <p:txBody>
          <a:bodyPr wrap="square" lIns="0" tIns="0" rIns="0" bIns="0" rtlCol="0" anchor="ctr"/>
          <a:lstStyle/>
          <a:p>
            <a:pPr marL="0" indent="0" algn="ctr">
              <a:buNone/>
            </a:pPr>
            <a:r>
              <a:rPr lang="en-US" sz="900" b="1" dirty="0">
                <a:solidFill>
                  <a:srgbClr val="3DDC97"/>
                </a:solidFill>
                <a:latin typeface="Arial" pitchFamily="34" charset="0"/>
                <a:ea typeface="Arial" pitchFamily="34" charset="-122"/>
                <a:cs typeface="Arial" pitchFamily="34" charset="-120"/>
              </a:rPr>
              <a:t>Datos en el cuerpo</a:t>
            </a:r>
            <a:endParaRPr lang="en-US" sz="900" dirty="0"/>
          </a:p>
        </p:txBody>
      </p:sp>
      <p:sp>
        <p:nvSpPr>
          <p:cNvPr id="19" name="Text 17"/>
          <p:cNvSpPr txBox="1"/>
          <p:nvPr/>
        </p:nvSpPr>
        <p:spPr>
          <a:xfrm>
            <a:off x="502920" y="384048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La elección depende del efecto de la operación sobre el servidor y de la naturaleza de los datos. PUT, PATCH y DELETE existen en el protocolo y se estudiarán más adelante.</a:t>
            </a:r>
            <a:endParaRPr lang="en-US" sz="1100" dirty="0"/>
          </a:p>
        </p:txBody>
      </p:sp>
      <p:sp>
        <p:nvSpPr>
          <p:cNvPr id="21" name="Text 18"/>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17 / 20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00A"/>
        </a:solidFill>
        <a:effectLst/>
      </p:bgPr>
    </p:bg>
    <p:spTree>
      <p:nvGrpSpPr>
        <p:cNvPr id="1" name=""/>
        <p:cNvGrpSpPr/>
        <p:nvPr/>
      </p:nvGrpSpPr>
      <p:grpSpPr>
        <a:xfrm>
          <a:off x="0" y="0"/>
          <a:ext cx="0" cy="0"/>
          <a:chOff x="0" y="0"/>
          <a:chExt cx="0" cy="0"/>
        </a:xfrm>
      </p:grpSpPr>
      <p:sp>
        <p:nvSpPr>
          <p:cNvPr id="2" name="Shape 0"/>
          <p:cNvSpPr/>
          <p:nvPr/>
        </p:nvSpPr>
        <p:spPr>
          <a:xfrm>
            <a:off x="502920" y="365760"/>
            <a:ext cx="2093976" cy="228600"/>
          </a:xfrm>
          <a:prstGeom prst="roundRect">
            <a:avLst>
              <a:gd name="adj" fmla="val 48000"/>
            </a:avLst>
          </a:prstGeom>
          <a:solidFill>
            <a:srgbClr val="35210F"/>
          </a:solidFill>
          <a:ln w="9525">
            <a:solidFill>
              <a:srgbClr val="FF8A3D"/>
            </a:solidFill>
            <a:prstDash val="solid"/>
          </a:ln>
        </p:spPr>
        <p:txBody>
          <a:bodyPr/>
          <a:lstStyle/>
          <a:p>
            <a:endParaRPr lang="es-CO"/>
          </a:p>
        </p:txBody>
      </p:sp>
      <p:sp>
        <p:nvSpPr>
          <p:cNvPr id="3" name="Text 1"/>
          <p:cNvSpPr txBox="1"/>
          <p:nvPr/>
        </p:nvSpPr>
        <p:spPr>
          <a:xfrm>
            <a:off x="502920" y="365760"/>
            <a:ext cx="2093976" cy="228600"/>
          </a:xfrm>
          <a:prstGeom prst="rect">
            <a:avLst/>
          </a:prstGeom>
          <a:noFill/>
          <a:ln/>
        </p:spPr>
        <p:txBody>
          <a:bodyPr wrap="square" lIns="0" tIns="0" rIns="0" bIns="0" rtlCol="0" anchor="ctr"/>
          <a:lstStyle/>
          <a:p>
            <a:pPr marL="0" indent="0" algn="ctr">
              <a:buNone/>
            </a:pPr>
            <a:r>
              <a:rPr lang="en-US" sz="850" b="1" kern="0" spc="110" dirty="0">
                <a:solidFill>
                  <a:srgbClr val="FF8A3D"/>
                </a:solidFill>
                <a:latin typeface="Arial" pitchFamily="34" charset="0"/>
                <a:ea typeface="Arial" pitchFamily="34" charset="-122"/>
                <a:cs typeface="Arial" pitchFamily="34" charset="-120"/>
              </a:rPr>
              <a:t>Laboratorio 3</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Formulario de contacto</a:t>
            </a:r>
            <a:endParaRPr lang="en-US" sz="2600" dirty="0"/>
          </a:p>
        </p:txBody>
      </p:sp>
      <p:sp>
        <p:nvSpPr>
          <p:cNvPr id="6" name="Shape 4"/>
          <p:cNvSpPr/>
          <p:nvPr/>
        </p:nvSpPr>
        <p:spPr>
          <a:xfrm>
            <a:off x="502920" y="1389888"/>
            <a:ext cx="2788920" cy="3017520"/>
          </a:xfrm>
          <a:prstGeom prst="roundRect">
            <a:avLst>
              <a:gd name="adj" fmla="val 2623"/>
            </a:avLst>
          </a:prstGeom>
          <a:solidFill>
            <a:srgbClr val="20160E"/>
          </a:solidFill>
          <a:ln w="15875">
            <a:solidFill>
              <a:srgbClr val="FF8A3D"/>
            </a:solidFill>
            <a:prstDash val="solid"/>
          </a:ln>
        </p:spPr>
        <p:txBody>
          <a:bodyPr/>
          <a:lstStyle/>
          <a:p>
            <a:endParaRPr lang="es-CO"/>
          </a:p>
        </p:txBody>
      </p:sp>
      <p:sp>
        <p:nvSpPr>
          <p:cNvPr id="7" name="Text 5"/>
          <p:cNvSpPr txBox="1"/>
          <p:nvPr/>
        </p:nvSpPr>
        <p:spPr>
          <a:xfrm>
            <a:off x="731520" y="1572768"/>
            <a:ext cx="2377440" cy="219456"/>
          </a:xfrm>
          <a:prstGeom prst="rect">
            <a:avLst/>
          </a:prstGeom>
          <a:noFill/>
          <a:ln/>
        </p:spPr>
        <p:txBody>
          <a:bodyPr wrap="square" lIns="0" tIns="0" rIns="0" bIns="0" rtlCol="0" anchor="ctr"/>
          <a:lstStyle/>
          <a:p>
            <a:pPr marL="0" indent="0">
              <a:buNone/>
            </a:pPr>
            <a:r>
              <a:rPr lang="en-US" sz="1250" b="1" dirty="0">
                <a:solidFill>
                  <a:srgbClr val="FF8A3D"/>
                </a:solidFill>
                <a:latin typeface="Arial" pitchFamily="34" charset="0"/>
                <a:ea typeface="Arial" pitchFamily="34" charset="-122"/>
                <a:cs typeface="Arial" pitchFamily="34" charset="-120"/>
              </a:rPr>
              <a:t>Secuencia en clase</a:t>
            </a:r>
            <a:endParaRPr lang="en-US" sz="1250" dirty="0"/>
          </a:p>
        </p:txBody>
      </p:sp>
      <p:sp>
        <p:nvSpPr>
          <p:cNvPr id="8" name="Shape 6"/>
          <p:cNvSpPr/>
          <p:nvPr/>
        </p:nvSpPr>
        <p:spPr>
          <a:xfrm>
            <a:off x="731520" y="1892808"/>
            <a:ext cx="146304" cy="146304"/>
          </a:xfrm>
          <a:prstGeom prst="ellipse">
            <a:avLst/>
          </a:prstGeom>
          <a:solidFill>
            <a:srgbClr val="FF8A3D"/>
          </a:solidFill>
          <a:ln w="12700">
            <a:solidFill>
              <a:srgbClr val="FF8A3D"/>
            </a:solidFill>
            <a:prstDash val="solid"/>
          </a:ln>
        </p:spPr>
        <p:txBody>
          <a:bodyPr/>
          <a:lstStyle/>
          <a:p>
            <a:endParaRPr lang="es-CO"/>
          </a:p>
        </p:txBody>
      </p:sp>
      <p:sp>
        <p:nvSpPr>
          <p:cNvPr id="9" name="Text 7"/>
          <p:cNvSpPr txBox="1"/>
          <p:nvPr/>
        </p:nvSpPr>
        <p:spPr>
          <a:xfrm>
            <a:off x="1005840" y="1819656"/>
            <a:ext cx="2103120" cy="310896"/>
          </a:xfrm>
          <a:prstGeom prst="rect">
            <a:avLst/>
          </a:prstGeom>
          <a:noFill/>
          <a:ln/>
        </p:spPr>
        <p:txBody>
          <a:bodyPr wrap="square" lIns="0" tIns="0" rIns="0" bIns="0" rtlCol="0" anchor="ctr"/>
          <a:lstStyle/>
          <a:p>
            <a:r>
              <a:rPr lang="en-US" sz="1050" dirty="0" err="1">
                <a:solidFill>
                  <a:schemeClr val="bg1"/>
                </a:solidFill>
                <a:latin typeface="Calibri" panose="020F0502020204030204" pitchFamily="34" charset="0"/>
                <a:ea typeface="Calibri" pitchFamily="34" charset="-122"/>
                <a:cs typeface="Calibri" panose="020F0502020204030204" pitchFamily="34" charset="0"/>
              </a:rPr>
              <a:t>Abrir</a:t>
            </a:r>
            <a:r>
              <a:rPr lang="en-US" sz="1050" dirty="0">
                <a:solidFill>
                  <a:schemeClr val="bg1"/>
                </a:solidFill>
                <a:latin typeface="Calibri" panose="020F0502020204030204" pitchFamily="34" charset="0"/>
                <a:ea typeface="Calibri" pitchFamily="34" charset="-122"/>
                <a:cs typeface="Calibri" panose="020F0502020204030204" pitchFamily="34" charset="0"/>
              </a:rPr>
              <a:t> </a:t>
            </a:r>
            <a:r>
              <a:rPr lang="es-CO" sz="1050" dirty="0">
                <a:solidFill>
                  <a:schemeClr val="bg1"/>
                </a:solidFill>
                <a:latin typeface="Calibri" panose="020F0502020204030204" pitchFamily="34" charset="0"/>
                <a:cs typeface="Calibri" panose="020F0502020204030204" pitchFamily="34" charset="0"/>
              </a:rPr>
              <a:t>contacto</a:t>
            </a:r>
            <a:r>
              <a:rPr lang="en-US" sz="1050" dirty="0">
                <a:solidFill>
                  <a:schemeClr val="bg1"/>
                </a:solidFill>
                <a:latin typeface="Calibri" panose="020F0502020204030204" pitchFamily="34" charset="0"/>
                <a:ea typeface="Calibri" pitchFamily="34" charset="-122"/>
                <a:cs typeface="Calibri" panose="020F0502020204030204" pitchFamily="34" charset="0"/>
              </a:rPr>
              <a:t>.html.</a:t>
            </a:r>
            <a:endParaRPr lang="en-US" sz="1050" dirty="0">
              <a:solidFill>
                <a:schemeClr val="bg1"/>
              </a:solidFill>
              <a:latin typeface="Calibri" panose="020F0502020204030204" pitchFamily="34" charset="0"/>
              <a:cs typeface="Calibri" panose="020F0502020204030204" pitchFamily="34" charset="0"/>
            </a:endParaRPr>
          </a:p>
        </p:txBody>
      </p:sp>
      <p:sp>
        <p:nvSpPr>
          <p:cNvPr id="10" name="Shape 8"/>
          <p:cNvSpPr/>
          <p:nvPr/>
        </p:nvSpPr>
        <p:spPr>
          <a:xfrm>
            <a:off x="731520" y="2350008"/>
            <a:ext cx="146304" cy="146304"/>
          </a:xfrm>
          <a:prstGeom prst="ellipse">
            <a:avLst/>
          </a:prstGeom>
          <a:solidFill>
            <a:srgbClr val="FF8A3D"/>
          </a:solidFill>
          <a:ln w="12700">
            <a:solidFill>
              <a:srgbClr val="FF8A3D"/>
            </a:solidFill>
            <a:prstDash val="solid"/>
          </a:ln>
        </p:spPr>
        <p:txBody>
          <a:bodyPr/>
          <a:lstStyle/>
          <a:p>
            <a:endParaRPr lang="es-CO"/>
          </a:p>
        </p:txBody>
      </p:sp>
      <p:sp>
        <p:nvSpPr>
          <p:cNvPr id="11" name="Text 9"/>
          <p:cNvSpPr txBox="1"/>
          <p:nvPr/>
        </p:nvSpPr>
        <p:spPr>
          <a:xfrm>
            <a:off x="1005840" y="2276856"/>
            <a:ext cx="2103120" cy="310896"/>
          </a:xfrm>
          <a:prstGeom prst="rect">
            <a:avLst/>
          </a:prstGeom>
          <a:noFill/>
          <a:ln/>
        </p:spPr>
        <p:txBody>
          <a:bodyPr wrap="square" lIns="0" tIns="0" rIns="0" bIns="0" rtlCol="0" anchor="ctr"/>
          <a:lstStyle/>
          <a:p>
            <a:pPr marL="0" indent="0">
              <a:buNone/>
            </a:pPr>
            <a:r>
              <a:rPr lang="en-US" sz="1050" dirty="0">
                <a:solidFill>
                  <a:srgbClr val="E8EEF6"/>
                </a:solidFill>
                <a:latin typeface="Calibri" pitchFamily="34" charset="0"/>
                <a:ea typeface="Calibri" pitchFamily="34" charset="-122"/>
                <a:cs typeface="Calibri" pitchFamily="34" charset="-120"/>
              </a:rPr>
              <a:t>Agregar la sección de contacto.</a:t>
            </a:r>
            <a:endParaRPr lang="en-US" sz="1050" dirty="0"/>
          </a:p>
        </p:txBody>
      </p:sp>
      <p:sp>
        <p:nvSpPr>
          <p:cNvPr id="12" name="Shape 10"/>
          <p:cNvSpPr/>
          <p:nvPr/>
        </p:nvSpPr>
        <p:spPr>
          <a:xfrm>
            <a:off x="731520" y="2807208"/>
            <a:ext cx="146304" cy="146304"/>
          </a:xfrm>
          <a:prstGeom prst="ellipse">
            <a:avLst/>
          </a:prstGeom>
          <a:solidFill>
            <a:srgbClr val="FF8A3D"/>
          </a:solidFill>
          <a:ln w="12700">
            <a:solidFill>
              <a:srgbClr val="FF8A3D"/>
            </a:solidFill>
            <a:prstDash val="solid"/>
          </a:ln>
        </p:spPr>
        <p:txBody>
          <a:bodyPr/>
          <a:lstStyle/>
          <a:p>
            <a:endParaRPr lang="es-CO"/>
          </a:p>
        </p:txBody>
      </p:sp>
      <p:sp>
        <p:nvSpPr>
          <p:cNvPr id="13" name="Text 11"/>
          <p:cNvSpPr txBox="1"/>
          <p:nvPr/>
        </p:nvSpPr>
        <p:spPr>
          <a:xfrm>
            <a:off x="1005840" y="2734056"/>
            <a:ext cx="2103120" cy="310896"/>
          </a:xfrm>
          <a:prstGeom prst="rect">
            <a:avLst/>
          </a:prstGeom>
          <a:noFill/>
          <a:ln/>
        </p:spPr>
        <p:txBody>
          <a:bodyPr wrap="square" lIns="0" tIns="0" rIns="0" bIns="0" rtlCol="0" anchor="ctr"/>
          <a:lstStyle/>
          <a:p>
            <a:pPr marL="0" indent="0">
              <a:buNone/>
            </a:pPr>
            <a:r>
              <a:rPr lang="en-US" sz="1050" dirty="0" err="1">
                <a:solidFill>
                  <a:srgbClr val="E8EEF6"/>
                </a:solidFill>
                <a:latin typeface="Calibri" pitchFamily="34" charset="0"/>
                <a:ea typeface="Calibri" pitchFamily="34" charset="-122"/>
                <a:cs typeface="Calibri" pitchFamily="34" charset="-120"/>
              </a:rPr>
              <a:t>Configurar</a:t>
            </a:r>
            <a:r>
              <a:rPr lang="en-US" sz="1050" dirty="0">
                <a:solidFill>
                  <a:srgbClr val="E8EEF6"/>
                </a:solidFill>
                <a:latin typeface="Calibri" pitchFamily="34" charset="0"/>
                <a:ea typeface="Calibri" pitchFamily="34" charset="-122"/>
                <a:cs typeface="Calibri" pitchFamily="34" charset="-120"/>
              </a:rPr>
              <a:t> action="/</a:t>
            </a:r>
            <a:r>
              <a:rPr lang="en-US" sz="1050" dirty="0" err="1">
                <a:solidFill>
                  <a:srgbClr val="E8EEF6"/>
                </a:solidFill>
                <a:latin typeface="Calibri" pitchFamily="34" charset="0"/>
                <a:ea typeface="Calibri" pitchFamily="34" charset="-122"/>
                <a:cs typeface="Calibri" pitchFamily="34" charset="-120"/>
              </a:rPr>
              <a:t>contacto</a:t>
            </a:r>
            <a:r>
              <a:rPr lang="en-US" sz="1050" dirty="0">
                <a:solidFill>
                  <a:srgbClr val="E8EEF6"/>
                </a:solidFill>
                <a:latin typeface="Calibri" pitchFamily="34" charset="0"/>
                <a:ea typeface="Calibri" pitchFamily="34" charset="-122"/>
                <a:cs typeface="Calibri" pitchFamily="34" charset="-120"/>
              </a:rPr>
              <a:t>" y method="POST".</a:t>
            </a:r>
            <a:endParaRPr lang="en-US" sz="1050" dirty="0"/>
          </a:p>
        </p:txBody>
      </p:sp>
      <p:sp>
        <p:nvSpPr>
          <p:cNvPr id="14" name="Shape 12"/>
          <p:cNvSpPr/>
          <p:nvPr/>
        </p:nvSpPr>
        <p:spPr>
          <a:xfrm>
            <a:off x="731520" y="3264408"/>
            <a:ext cx="146304" cy="146304"/>
          </a:xfrm>
          <a:prstGeom prst="ellipse">
            <a:avLst/>
          </a:prstGeom>
          <a:solidFill>
            <a:srgbClr val="FF8A3D"/>
          </a:solidFill>
          <a:ln w="12700">
            <a:solidFill>
              <a:srgbClr val="FF8A3D"/>
            </a:solidFill>
            <a:prstDash val="solid"/>
          </a:ln>
        </p:spPr>
        <p:txBody>
          <a:bodyPr/>
          <a:lstStyle/>
          <a:p>
            <a:endParaRPr lang="es-CO"/>
          </a:p>
        </p:txBody>
      </p:sp>
      <p:sp>
        <p:nvSpPr>
          <p:cNvPr id="15" name="Text 13"/>
          <p:cNvSpPr txBox="1"/>
          <p:nvPr/>
        </p:nvSpPr>
        <p:spPr>
          <a:xfrm>
            <a:off x="1005840" y="3191256"/>
            <a:ext cx="2103120" cy="310896"/>
          </a:xfrm>
          <a:prstGeom prst="rect">
            <a:avLst/>
          </a:prstGeom>
          <a:noFill/>
          <a:ln/>
        </p:spPr>
        <p:txBody>
          <a:bodyPr wrap="square" lIns="0" tIns="0" rIns="0" bIns="0" rtlCol="0" anchor="ctr"/>
          <a:lstStyle/>
          <a:p>
            <a:pPr marL="0" indent="0">
              <a:buNone/>
            </a:pPr>
            <a:r>
              <a:rPr lang="en-US" sz="1050" dirty="0" err="1">
                <a:solidFill>
                  <a:srgbClr val="E8EEF6"/>
                </a:solidFill>
                <a:latin typeface="Calibri" pitchFamily="34" charset="0"/>
                <a:ea typeface="Calibri" pitchFamily="34" charset="-122"/>
                <a:cs typeface="Calibri" pitchFamily="34" charset="-120"/>
              </a:rPr>
              <a:t>Modificar</a:t>
            </a:r>
            <a:r>
              <a:rPr lang="en-US" sz="1050" dirty="0">
                <a:solidFill>
                  <a:srgbClr val="E8EEF6"/>
                </a:solidFill>
                <a:latin typeface="Calibri" pitchFamily="34" charset="0"/>
                <a:ea typeface="Calibri" pitchFamily="34" charset="-122"/>
                <a:cs typeface="Calibri" pitchFamily="34" charset="-120"/>
              </a:rPr>
              <a:t> server_rutas.js para </a:t>
            </a:r>
            <a:r>
              <a:rPr lang="en-US" sz="1050" dirty="0" err="1">
                <a:solidFill>
                  <a:srgbClr val="E8EEF6"/>
                </a:solidFill>
                <a:latin typeface="Calibri" pitchFamily="34" charset="0"/>
                <a:ea typeface="Calibri" pitchFamily="34" charset="-122"/>
                <a:cs typeface="Calibri" pitchFamily="34" charset="-120"/>
              </a:rPr>
              <a:t>recibir</a:t>
            </a:r>
            <a:r>
              <a:rPr lang="en-US" sz="1050" dirty="0">
                <a:solidFill>
                  <a:srgbClr val="E8EEF6"/>
                </a:solidFill>
                <a:latin typeface="Calibri" pitchFamily="34" charset="0"/>
                <a:ea typeface="Calibri" pitchFamily="34" charset="-122"/>
                <a:cs typeface="Calibri" pitchFamily="34" charset="-120"/>
              </a:rPr>
              <a:t> POST.</a:t>
            </a:r>
            <a:endParaRPr lang="en-US" sz="1050" dirty="0"/>
          </a:p>
        </p:txBody>
      </p:sp>
      <p:sp>
        <p:nvSpPr>
          <p:cNvPr id="16" name="Shape 14"/>
          <p:cNvSpPr/>
          <p:nvPr/>
        </p:nvSpPr>
        <p:spPr>
          <a:xfrm>
            <a:off x="731520" y="3721608"/>
            <a:ext cx="146304" cy="146304"/>
          </a:xfrm>
          <a:prstGeom prst="ellipse">
            <a:avLst/>
          </a:prstGeom>
          <a:solidFill>
            <a:srgbClr val="FF8A3D"/>
          </a:solidFill>
          <a:ln w="12700">
            <a:solidFill>
              <a:srgbClr val="FF8A3D"/>
            </a:solidFill>
            <a:prstDash val="solid"/>
          </a:ln>
        </p:spPr>
        <p:txBody>
          <a:bodyPr/>
          <a:lstStyle/>
          <a:p>
            <a:endParaRPr lang="es-CO"/>
          </a:p>
        </p:txBody>
      </p:sp>
      <p:sp>
        <p:nvSpPr>
          <p:cNvPr id="17" name="Text 15"/>
          <p:cNvSpPr txBox="1"/>
          <p:nvPr/>
        </p:nvSpPr>
        <p:spPr>
          <a:xfrm>
            <a:off x="1005840" y="3648456"/>
            <a:ext cx="2103120" cy="310896"/>
          </a:xfrm>
          <a:prstGeom prst="rect">
            <a:avLst/>
          </a:prstGeom>
          <a:noFill/>
          <a:ln/>
        </p:spPr>
        <p:txBody>
          <a:bodyPr wrap="square" lIns="0" tIns="0" rIns="0" bIns="0" rtlCol="0" anchor="ctr"/>
          <a:lstStyle/>
          <a:p>
            <a:pPr marL="0" indent="0">
              <a:buNone/>
            </a:pPr>
            <a:r>
              <a:rPr lang="es-ES" sz="1050" dirty="0">
                <a:solidFill>
                  <a:srgbClr val="E8EEF6"/>
                </a:solidFill>
                <a:latin typeface="Calibri" pitchFamily="34" charset="0"/>
                <a:ea typeface="Calibri" pitchFamily="34" charset="-122"/>
                <a:cs typeface="Calibri" pitchFamily="34" charset="-120"/>
              </a:rPr>
              <a:t>Ejecutar el servidor y enviar el formulario</a:t>
            </a:r>
            <a:r>
              <a:rPr lang="en-US" sz="1050" dirty="0">
                <a:solidFill>
                  <a:srgbClr val="E8EEF6"/>
                </a:solidFill>
                <a:latin typeface="Calibri" pitchFamily="34" charset="0"/>
                <a:ea typeface="Calibri" pitchFamily="34" charset="-122"/>
                <a:cs typeface="Calibri" pitchFamily="34" charset="-120"/>
              </a:rPr>
              <a:t>.</a:t>
            </a:r>
            <a:endParaRPr lang="en-US" sz="1050" dirty="0"/>
          </a:p>
        </p:txBody>
      </p:sp>
      <p:sp>
        <p:nvSpPr>
          <p:cNvPr id="18" name="Shape 16"/>
          <p:cNvSpPr/>
          <p:nvPr/>
        </p:nvSpPr>
        <p:spPr>
          <a:xfrm>
            <a:off x="3474720" y="1389888"/>
            <a:ext cx="5166360" cy="3017520"/>
          </a:xfrm>
          <a:prstGeom prst="roundRect">
            <a:avLst>
              <a:gd name="adj" fmla="val 2424"/>
            </a:avLst>
          </a:prstGeom>
          <a:solidFill>
            <a:srgbClr val="070C14"/>
          </a:solidFill>
          <a:ln w="12700">
            <a:solidFill>
              <a:srgbClr val="2B3B52"/>
            </a:solidFill>
            <a:prstDash val="solid"/>
          </a:ln>
        </p:spPr>
        <p:txBody>
          <a:bodyPr/>
          <a:lstStyle/>
          <a:p>
            <a:endParaRPr lang="es-CO"/>
          </a:p>
        </p:txBody>
      </p:sp>
      <p:sp>
        <p:nvSpPr>
          <p:cNvPr id="19" name="Text 17"/>
          <p:cNvSpPr txBox="1"/>
          <p:nvPr/>
        </p:nvSpPr>
        <p:spPr>
          <a:xfrm>
            <a:off x="3621024" y="1444752"/>
            <a:ext cx="4873752" cy="182880"/>
          </a:xfrm>
          <a:prstGeom prst="rect">
            <a:avLst/>
          </a:prstGeom>
          <a:noFill/>
          <a:ln/>
        </p:spPr>
        <p:txBody>
          <a:bodyPr wrap="square" lIns="0" tIns="0" rIns="0" bIns="0" rtlCol="0" anchor="ctr"/>
          <a:lstStyle/>
          <a:p>
            <a:pPr marL="0" indent="0">
              <a:buNone/>
            </a:pPr>
            <a:r>
              <a:rPr lang="en-US" sz="850" b="1" kern="0" spc="60" dirty="0">
                <a:solidFill>
                  <a:srgbClr val="FF8A3D"/>
                </a:solidFill>
                <a:latin typeface="Courier New" pitchFamily="34" charset="0"/>
                <a:ea typeface="Courier New" pitchFamily="34" charset="-122"/>
                <a:cs typeface="Courier New" pitchFamily="34" charset="-120"/>
              </a:rPr>
              <a:t>contacto.html</a:t>
            </a:r>
            <a:endParaRPr lang="en-US" sz="850" dirty="0"/>
          </a:p>
        </p:txBody>
      </p:sp>
      <p:sp>
        <p:nvSpPr>
          <p:cNvPr id="20" name="Text 18"/>
          <p:cNvSpPr txBox="1"/>
          <p:nvPr/>
        </p:nvSpPr>
        <p:spPr>
          <a:xfrm>
            <a:off x="3621024" y="1664208"/>
            <a:ext cx="4873752" cy="2670048"/>
          </a:xfrm>
          <a:prstGeom prst="rect">
            <a:avLst/>
          </a:prstGeom>
          <a:noFill/>
          <a:ln/>
        </p:spPr>
        <p:txBody>
          <a:bodyPr wrap="square" lIns="0" tIns="0" rIns="0" bIns="0" rtlCol="0" anchor="t"/>
          <a:lstStyle/>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&lt;section&gt;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&lt;h2&gt;</a:t>
            </a:r>
            <a:r>
              <a:rPr lang="en-US" sz="950" dirty="0">
                <a:solidFill>
                  <a:srgbClr val="D7E1EE"/>
                </a:solidFill>
                <a:latin typeface="Courier New" pitchFamily="34" charset="0"/>
                <a:ea typeface="Courier New" pitchFamily="34" charset="-122"/>
                <a:cs typeface="Courier New" pitchFamily="34" charset="-120"/>
              </a:rPr>
              <a:t>Contacto</a:t>
            </a:r>
            <a:r>
              <a:rPr lang="en-US" sz="950" dirty="0">
                <a:solidFill>
                  <a:srgbClr val="3DDC97"/>
                </a:solidFill>
                <a:latin typeface="Courier New" pitchFamily="34" charset="0"/>
                <a:ea typeface="Courier New" pitchFamily="34" charset="-122"/>
                <a:cs typeface="Courier New" pitchFamily="34" charset="-120"/>
              </a:rPr>
              <a:t>&lt;/h2&gt;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&lt;form</a:t>
            </a:r>
            <a:r>
              <a:rPr lang="en-US" sz="950" dirty="0">
                <a:solidFill>
                  <a:srgbClr val="FFB86C"/>
                </a:solidFill>
                <a:latin typeface="Courier New" pitchFamily="34" charset="0"/>
                <a:ea typeface="Courier New" pitchFamily="34" charset="-122"/>
                <a:cs typeface="Courier New" pitchFamily="34" charset="-120"/>
              </a:rPr>
              <a:t> action=</a:t>
            </a:r>
            <a:r>
              <a:rPr lang="en-US" sz="950" dirty="0">
                <a:solidFill>
                  <a:srgbClr val="FFD479"/>
                </a:solidFill>
                <a:latin typeface="Courier New" pitchFamily="34" charset="0"/>
                <a:ea typeface="Courier New" pitchFamily="34" charset="-122"/>
                <a:cs typeface="Courier New" pitchFamily="34" charset="-120"/>
              </a:rPr>
              <a:t>"/contacto"</a:t>
            </a:r>
            <a:r>
              <a:rPr lang="en-US" sz="950" dirty="0">
                <a:solidFill>
                  <a:srgbClr val="FFB86C"/>
                </a:solidFill>
                <a:latin typeface="Courier New" pitchFamily="34" charset="0"/>
                <a:ea typeface="Courier New" pitchFamily="34" charset="-122"/>
                <a:cs typeface="Courier New" pitchFamily="34" charset="-120"/>
              </a:rPr>
              <a:t> method=</a:t>
            </a:r>
            <a:r>
              <a:rPr lang="en-US" sz="950" dirty="0">
                <a:solidFill>
                  <a:srgbClr val="FFD479"/>
                </a:solidFill>
                <a:latin typeface="Courier New" pitchFamily="34" charset="0"/>
                <a:ea typeface="Courier New" pitchFamily="34" charset="-122"/>
                <a:cs typeface="Courier New" pitchFamily="34" charset="-120"/>
              </a:rPr>
              <a:t>"POST"</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&lt;label</a:t>
            </a:r>
            <a:r>
              <a:rPr lang="en-US" sz="950" dirty="0">
                <a:solidFill>
                  <a:srgbClr val="FFB86C"/>
                </a:solidFill>
                <a:latin typeface="Courier New" pitchFamily="34" charset="0"/>
                <a:ea typeface="Courier New" pitchFamily="34" charset="-122"/>
                <a:cs typeface="Courier New" pitchFamily="34" charset="-120"/>
              </a:rPr>
              <a:t> for=</a:t>
            </a:r>
            <a:r>
              <a:rPr lang="en-US" sz="950" dirty="0">
                <a:solidFill>
                  <a:srgbClr val="FFD479"/>
                </a:solidFill>
                <a:latin typeface="Courier New" pitchFamily="34" charset="0"/>
                <a:ea typeface="Courier New" pitchFamily="34" charset="-122"/>
                <a:cs typeface="Courier New" pitchFamily="34" charset="-120"/>
              </a:rPr>
              <a:t>"nombre"</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Nombre:</a:t>
            </a:r>
            <a:r>
              <a:rPr lang="en-US" sz="950" dirty="0">
                <a:solidFill>
                  <a:srgbClr val="3DDC97"/>
                </a:solidFill>
                <a:latin typeface="Courier New" pitchFamily="34" charset="0"/>
                <a:ea typeface="Courier New" pitchFamily="34" charset="-122"/>
                <a:cs typeface="Courier New" pitchFamily="34" charset="-120"/>
              </a:rPr>
              <a:t>&lt;/label&gt;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&lt;input</a:t>
            </a:r>
            <a:r>
              <a:rPr lang="en-US" sz="950" dirty="0">
                <a:solidFill>
                  <a:srgbClr val="FFB86C"/>
                </a:solidFill>
                <a:latin typeface="Courier New" pitchFamily="34" charset="0"/>
                <a:ea typeface="Courier New" pitchFamily="34" charset="-122"/>
                <a:cs typeface="Courier New" pitchFamily="34" charset="-120"/>
              </a:rPr>
              <a:t> type=</a:t>
            </a:r>
            <a:r>
              <a:rPr lang="en-US" sz="950" dirty="0">
                <a:solidFill>
                  <a:srgbClr val="FFD479"/>
                </a:solidFill>
                <a:latin typeface="Courier New" pitchFamily="34" charset="0"/>
                <a:ea typeface="Courier New" pitchFamily="34" charset="-122"/>
                <a:cs typeface="Courier New" pitchFamily="34" charset="-120"/>
              </a:rPr>
              <a:t>"text"</a:t>
            </a:r>
            <a:r>
              <a:rPr lang="en-US" sz="950" dirty="0">
                <a:solidFill>
                  <a:srgbClr val="FFB86C"/>
                </a:solidFill>
                <a:latin typeface="Courier New" pitchFamily="34" charset="0"/>
                <a:ea typeface="Courier New" pitchFamily="34" charset="-122"/>
                <a:cs typeface="Courier New" pitchFamily="34" charset="-120"/>
              </a:rPr>
              <a:t> id=</a:t>
            </a:r>
            <a:r>
              <a:rPr lang="en-US" sz="950" dirty="0">
                <a:solidFill>
                  <a:srgbClr val="FFD479"/>
                </a:solidFill>
                <a:latin typeface="Courier New" pitchFamily="34" charset="0"/>
                <a:ea typeface="Courier New" pitchFamily="34" charset="-122"/>
                <a:cs typeface="Courier New" pitchFamily="34" charset="-120"/>
              </a:rPr>
              <a:t>"nombre"</a:t>
            </a:r>
            <a:r>
              <a:rPr lang="en-US" sz="950" dirty="0">
                <a:solidFill>
                  <a:srgbClr val="FFB86C"/>
                </a:solidFill>
                <a:latin typeface="Courier New" pitchFamily="34" charset="0"/>
                <a:ea typeface="Courier New" pitchFamily="34" charset="-122"/>
                <a:cs typeface="Courier New" pitchFamily="34" charset="-120"/>
              </a:rPr>
              <a:t> name=</a:t>
            </a:r>
            <a:r>
              <a:rPr lang="en-US" sz="950" dirty="0">
                <a:solidFill>
                  <a:srgbClr val="FFD479"/>
                </a:solidFill>
                <a:latin typeface="Courier New" pitchFamily="34" charset="0"/>
                <a:ea typeface="Courier New" pitchFamily="34" charset="-122"/>
                <a:cs typeface="Courier New" pitchFamily="34" charset="-120"/>
              </a:rPr>
              <a:t>"nombre"</a:t>
            </a:r>
            <a:r>
              <a:rPr lang="en-US" sz="950" dirty="0">
                <a:solidFill>
                  <a:srgbClr val="FFB86C"/>
                </a:solidFill>
                <a:latin typeface="Courier New" pitchFamily="34" charset="0"/>
                <a:ea typeface="Courier New" pitchFamily="34" charset="-122"/>
                <a:cs typeface="Courier New" pitchFamily="34" charset="-120"/>
              </a:rPr>
              <a:t> required</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&lt;label</a:t>
            </a:r>
            <a:r>
              <a:rPr lang="en-US" sz="950" dirty="0">
                <a:solidFill>
                  <a:srgbClr val="FFB86C"/>
                </a:solidFill>
                <a:latin typeface="Courier New" pitchFamily="34" charset="0"/>
                <a:ea typeface="Courier New" pitchFamily="34" charset="-122"/>
                <a:cs typeface="Courier New" pitchFamily="34" charset="-120"/>
              </a:rPr>
              <a:t> for=</a:t>
            </a:r>
            <a:r>
              <a:rPr lang="en-US" sz="950" dirty="0">
                <a:solidFill>
                  <a:srgbClr val="FFD479"/>
                </a:solidFill>
                <a:latin typeface="Courier New" pitchFamily="34" charset="0"/>
                <a:ea typeface="Courier New" pitchFamily="34" charset="-122"/>
                <a:cs typeface="Courier New" pitchFamily="34" charset="-120"/>
              </a:rPr>
              <a:t>"correo"</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Correo:</a:t>
            </a:r>
            <a:r>
              <a:rPr lang="en-US" sz="950" dirty="0">
                <a:solidFill>
                  <a:srgbClr val="3DDC97"/>
                </a:solidFill>
                <a:latin typeface="Courier New" pitchFamily="34" charset="0"/>
                <a:ea typeface="Courier New" pitchFamily="34" charset="-122"/>
                <a:cs typeface="Courier New" pitchFamily="34" charset="-120"/>
              </a:rPr>
              <a:t>&lt;/label&gt;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&lt;input</a:t>
            </a:r>
            <a:r>
              <a:rPr lang="en-US" sz="950" dirty="0">
                <a:solidFill>
                  <a:srgbClr val="FFB86C"/>
                </a:solidFill>
                <a:latin typeface="Courier New" pitchFamily="34" charset="0"/>
                <a:ea typeface="Courier New" pitchFamily="34" charset="-122"/>
                <a:cs typeface="Courier New" pitchFamily="34" charset="-120"/>
              </a:rPr>
              <a:t> type=</a:t>
            </a:r>
            <a:r>
              <a:rPr lang="en-US" sz="950" dirty="0">
                <a:solidFill>
                  <a:srgbClr val="FFD479"/>
                </a:solidFill>
                <a:latin typeface="Courier New" pitchFamily="34" charset="0"/>
                <a:ea typeface="Courier New" pitchFamily="34" charset="-122"/>
                <a:cs typeface="Courier New" pitchFamily="34" charset="-120"/>
              </a:rPr>
              <a:t>"email"</a:t>
            </a:r>
            <a:r>
              <a:rPr lang="en-US" sz="950" dirty="0">
                <a:solidFill>
                  <a:srgbClr val="FFB86C"/>
                </a:solidFill>
                <a:latin typeface="Courier New" pitchFamily="34" charset="0"/>
                <a:ea typeface="Courier New" pitchFamily="34" charset="-122"/>
                <a:cs typeface="Courier New" pitchFamily="34" charset="-120"/>
              </a:rPr>
              <a:t> id=</a:t>
            </a:r>
            <a:r>
              <a:rPr lang="en-US" sz="950" dirty="0">
                <a:solidFill>
                  <a:srgbClr val="FFD479"/>
                </a:solidFill>
                <a:latin typeface="Courier New" pitchFamily="34" charset="0"/>
                <a:ea typeface="Courier New" pitchFamily="34" charset="-122"/>
                <a:cs typeface="Courier New" pitchFamily="34" charset="-120"/>
              </a:rPr>
              <a:t>"correo"</a:t>
            </a:r>
            <a:r>
              <a:rPr lang="en-US" sz="950" dirty="0">
                <a:solidFill>
                  <a:srgbClr val="FFB86C"/>
                </a:solidFill>
                <a:latin typeface="Courier New" pitchFamily="34" charset="0"/>
                <a:ea typeface="Courier New" pitchFamily="34" charset="-122"/>
                <a:cs typeface="Courier New" pitchFamily="34" charset="-120"/>
              </a:rPr>
              <a:t> name=</a:t>
            </a:r>
            <a:r>
              <a:rPr lang="en-US" sz="950" dirty="0">
                <a:solidFill>
                  <a:srgbClr val="FFD479"/>
                </a:solidFill>
                <a:latin typeface="Courier New" pitchFamily="34" charset="0"/>
                <a:ea typeface="Courier New" pitchFamily="34" charset="-122"/>
                <a:cs typeface="Courier New" pitchFamily="34" charset="-120"/>
              </a:rPr>
              <a:t>"correo"</a:t>
            </a:r>
            <a:r>
              <a:rPr lang="en-US" sz="950" dirty="0">
                <a:solidFill>
                  <a:srgbClr val="FFB86C"/>
                </a:solidFill>
                <a:latin typeface="Courier New" pitchFamily="34" charset="0"/>
                <a:ea typeface="Courier New" pitchFamily="34" charset="-122"/>
                <a:cs typeface="Courier New" pitchFamily="34" charset="-120"/>
              </a:rPr>
              <a:t> required</a:t>
            </a:r>
            <a:r>
              <a:rPr lang="en-US" sz="950" dirty="0">
                <a:solidFill>
                  <a:srgbClr val="3DDC97"/>
                </a:solidFill>
                <a:latin typeface="Courier New" pitchFamily="34" charset="0"/>
                <a:ea typeface="Courier New" pitchFamily="34" charset="-122"/>
                <a:cs typeface="Courier New" pitchFamily="34" charset="-120"/>
              </a:rPr>
              <a:t>&gt;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&lt;label</a:t>
            </a:r>
            <a:r>
              <a:rPr lang="en-US" sz="950" dirty="0">
                <a:solidFill>
                  <a:srgbClr val="FFB86C"/>
                </a:solidFill>
                <a:latin typeface="Courier New" pitchFamily="34" charset="0"/>
                <a:ea typeface="Courier New" pitchFamily="34" charset="-122"/>
                <a:cs typeface="Courier New" pitchFamily="34" charset="-120"/>
              </a:rPr>
              <a:t> for=</a:t>
            </a:r>
            <a:r>
              <a:rPr lang="en-US" sz="950" dirty="0">
                <a:solidFill>
                  <a:srgbClr val="FFD479"/>
                </a:solidFill>
                <a:latin typeface="Courier New" pitchFamily="34" charset="0"/>
                <a:ea typeface="Courier New" pitchFamily="34" charset="-122"/>
                <a:cs typeface="Courier New" pitchFamily="34" charset="-120"/>
              </a:rPr>
              <a:t>"mensaje"</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Mensaje:</a:t>
            </a:r>
            <a:r>
              <a:rPr lang="en-US" sz="950" dirty="0">
                <a:solidFill>
                  <a:srgbClr val="3DDC97"/>
                </a:solidFill>
                <a:latin typeface="Courier New" pitchFamily="34" charset="0"/>
                <a:ea typeface="Courier New" pitchFamily="34" charset="-122"/>
                <a:cs typeface="Courier New" pitchFamily="34" charset="-120"/>
              </a:rPr>
              <a:t>&lt;/label&gt;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&lt;textarea</a:t>
            </a:r>
            <a:r>
              <a:rPr lang="en-US" sz="950" dirty="0">
                <a:solidFill>
                  <a:srgbClr val="FFB86C"/>
                </a:solidFill>
                <a:latin typeface="Courier New" pitchFamily="34" charset="0"/>
                <a:ea typeface="Courier New" pitchFamily="34" charset="-122"/>
                <a:cs typeface="Courier New" pitchFamily="34" charset="-120"/>
              </a:rPr>
              <a:t> id=</a:t>
            </a:r>
            <a:r>
              <a:rPr lang="en-US" sz="950" dirty="0">
                <a:solidFill>
                  <a:srgbClr val="FFD479"/>
                </a:solidFill>
                <a:latin typeface="Courier New" pitchFamily="34" charset="0"/>
                <a:ea typeface="Courier New" pitchFamily="34" charset="-122"/>
                <a:cs typeface="Courier New" pitchFamily="34" charset="-120"/>
              </a:rPr>
              <a:t>"mensaje"</a:t>
            </a:r>
            <a:r>
              <a:rPr lang="en-US" sz="950" dirty="0">
                <a:solidFill>
                  <a:srgbClr val="FFB86C"/>
                </a:solidFill>
                <a:latin typeface="Courier New" pitchFamily="34" charset="0"/>
                <a:ea typeface="Courier New" pitchFamily="34" charset="-122"/>
                <a:cs typeface="Courier New" pitchFamily="34" charset="-120"/>
              </a:rPr>
              <a:t> name=</a:t>
            </a:r>
            <a:r>
              <a:rPr lang="en-US" sz="950" dirty="0">
                <a:solidFill>
                  <a:srgbClr val="FFD479"/>
                </a:solidFill>
                <a:latin typeface="Courier New" pitchFamily="34" charset="0"/>
                <a:ea typeface="Courier New" pitchFamily="34" charset="-122"/>
                <a:cs typeface="Courier New" pitchFamily="34" charset="-120"/>
              </a:rPr>
              <a:t>"mensaje"</a:t>
            </a:r>
            <a:r>
              <a:rPr lang="en-US" sz="950" dirty="0">
                <a:solidFill>
                  <a:srgbClr val="3DDC97"/>
                </a:solidFill>
                <a:latin typeface="Courier New" pitchFamily="34" charset="0"/>
                <a:ea typeface="Courier New" pitchFamily="34" charset="-122"/>
                <a:cs typeface="Courier New" pitchFamily="34" charset="-120"/>
              </a:rPr>
              <a:t>&gt;&lt;/textarea&gt;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&lt;button</a:t>
            </a:r>
            <a:r>
              <a:rPr lang="en-US" sz="950" dirty="0">
                <a:solidFill>
                  <a:srgbClr val="FFB86C"/>
                </a:solidFill>
                <a:latin typeface="Courier New" pitchFamily="34" charset="0"/>
                <a:ea typeface="Courier New" pitchFamily="34" charset="-122"/>
                <a:cs typeface="Courier New" pitchFamily="34" charset="-120"/>
              </a:rPr>
              <a:t> type=</a:t>
            </a:r>
            <a:r>
              <a:rPr lang="en-US" sz="950" dirty="0">
                <a:solidFill>
                  <a:srgbClr val="FFD479"/>
                </a:solidFill>
                <a:latin typeface="Courier New" pitchFamily="34" charset="0"/>
                <a:ea typeface="Courier New" pitchFamily="34" charset="-122"/>
                <a:cs typeface="Courier New" pitchFamily="34" charset="-120"/>
              </a:rPr>
              <a:t>"submit"</a:t>
            </a:r>
            <a:r>
              <a:rPr lang="en-US" sz="950" dirty="0">
                <a:solidFill>
                  <a:srgbClr val="3DDC97"/>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Enviar</a:t>
            </a:r>
            <a:r>
              <a:rPr lang="en-US" sz="950" dirty="0">
                <a:solidFill>
                  <a:srgbClr val="3DDC97"/>
                </a:solidFill>
                <a:latin typeface="Courier New" pitchFamily="34" charset="0"/>
                <a:ea typeface="Courier New" pitchFamily="34" charset="-122"/>
                <a:cs typeface="Courier New" pitchFamily="34" charset="-120"/>
              </a:rPr>
              <a:t>&lt;/button&gt;</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0"/>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3DDC97"/>
                </a:solidFill>
                <a:latin typeface="Courier New" pitchFamily="34" charset="0"/>
                <a:ea typeface="Courier New" pitchFamily="34" charset="-122"/>
                <a:cs typeface="Courier New" pitchFamily="34" charset="-120"/>
              </a:rPr>
              <a:t>&lt;/form&gt;</a:t>
            </a:r>
            <a:endParaRPr lang="en-US" sz="950" dirty="0"/>
          </a:p>
          <a:p>
            <a:pPr marL="0" indent="0">
              <a:lnSpc>
                <a:spcPts val="1250"/>
              </a:lnSpc>
              <a:buNone/>
            </a:pPr>
            <a:r>
              <a:rPr lang="en-US" sz="950" dirty="0">
                <a:solidFill>
                  <a:srgbClr val="3DDC97"/>
                </a:solidFill>
                <a:latin typeface="Courier New" pitchFamily="34" charset="0"/>
                <a:ea typeface="Courier New" pitchFamily="34" charset="-122"/>
                <a:cs typeface="Courier New" pitchFamily="34" charset="-120"/>
              </a:rPr>
              <a:t>&lt;/section&gt;</a:t>
            </a:r>
            <a:endParaRPr lang="en-US" sz="950" dirty="0"/>
          </a:p>
        </p:txBody>
      </p:sp>
      <p:sp>
        <p:nvSpPr>
          <p:cNvPr id="22" name="Text 19"/>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18 / 20</a:t>
            </a:r>
            <a:endParaRPr lang="en-US" sz="800" dirty="0"/>
          </a:p>
        </p:txBody>
      </p:sp>
      <p:sp>
        <p:nvSpPr>
          <p:cNvPr id="23" name="Shape 14">
            <a:extLst>
              <a:ext uri="{FF2B5EF4-FFF2-40B4-BE49-F238E27FC236}">
                <a16:creationId xmlns:a16="http://schemas.microsoft.com/office/drawing/2014/main" id="{D37469C0-BEAD-C659-D4C5-97D0C2DFDE4D}"/>
              </a:ext>
            </a:extLst>
          </p:cNvPr>
          <p:cNvSpPr/>
          <p:nvPr/>
        </p:nvSpPr>
        <p:spPr>
          <a:xfrm>
            <a:off x="737616" y="4147566"/>
            <a:ext cx="146304" cy="146304"/>
          </a:xfrm>
          <a:prstGeom prst="ellipse">
            <a:avLst/>
          </a:prstGeom>
          <a:solidFill>
            <a:srgbClr val="FF8A3D"/>
          </a:solidFill>
          <a:ln w="12700">
            <a:solidFill>
              <a:srgbClr val="FF8A3D"/>
            </a:solidFill>
            <a:prstDash val="solid"/>
          </a:ln>
        </p:spPr>
        <p:txBody>
          <a:bodyPr/>
          <a:lstStyle/>
          <a:p>
            <a:endParaRPr lang="es-CO"/>
          </a:p>
        </p:txBody>
      </p:sp>
      <p:sp>
        <p:nvSpPr>
          <p:cNvPr id="25" name="Text 15">
            <a:extLst>
              <a:ext uri="{FF2B5EF4-FFF2-40B4-BE49-F238E27FC236}">
                <a16:creationId xmlns:a16="http://schemas.microsoft.com/office/drawing/2014/main" id="{61306C7E-60CF-1A69-CF09-7DDA1E866206}"/>
              </a:ext>
            </a:extLst>
          </p:cNvPr>
          <p:cNvSpPr txBox="1"/>
          <p:nvPr/>
        </p:nvSpPr>
        <p:spPr>
          <a:xfrm>
            <a:off x="1005840" y="4065270"/>
            <a:ext cx="2103120" cy="310896"/>
          </a:xfrm>
          <a:prstGeom prst="rect">
            <a:avLst/>
          </a:prstGeom>
          <a:noFill/>
          <a:ln/>
        </p:spPr>
        <p:txBody>
          <a:bodyPr wrap="square" lIns="0" tIns="0" rIns="0" bIns="0" rtlCol="0" anchor="ctr"/>
          <a:lstStyle/>
          <a:p>
            <a:pPr marL="0" indent="0">
              <a:buNone/>
            </a:pPr>
            <a:r>
              <a:rPr lang="en-US" sz="1050" dirty="0" err="1">
                <a:solidFill>
                  <a:srgbClr val="E8EEF6"/>
                </a:solidFill>
                <a:latin typeface="Calibri" pitchFamily="34" charset="0"/>
                <a:ea typeface="Calibri" pitchFamily="34" charset="-122"/>
                <a:cs typeface="Calibri" pitchFamily="34" charset="-120"/>
              </a:rPr>
              <a:t>Observar</a:t>
            </a:r>
            <a:r>
              <a:rPr lang="en-US" sz="1050" dirty="0">
                <a:solidFill>
                  <a:srgbClr val="E8EEF6"/>
                </a:solidFill>
                <a:latin typeface="Calibri" pitchFamily="34" charset="0"/>
                <a:ea typeface="Calibri" pitchFamily="34" charset="-122"/>
                <a:cs typeface="Calibri" pitchFamily="34" charset="-120"/>
              </a:rPr>
              <a:t> GET y POST </a:t>
            </a:r>
            <a:r>
              <a:rPr lang="en-US" sz="1050" dirty="0" err="1">
                <a:solidFill>
                  <a:srgbClr val="E8EEF6"/>
                </a:solidFill>
                <a:latin typeface="Calibri" pitchFamily="34" charset="0"/>
                <a:ea typeface="Calibri" pitchFamily="34" charset="-122"/>
                <a:cs typeface="Calibri" pitchFamily="34" charset="-120"/>
              </a:rPr>
              <a:t>en</a:t>
            </a:r>
            <a:r>
              <a:rPr lang="en-US" sz="1050" dirty="0">
                <a:solidFill>
                  <a:srgbClr val="E8EEF6"/>
                </a:solidFill>
                <a:latin typeface="Calibri" pitchFamily="34" charset="0"/>
                <a:ea typeface="Calibri" pitchFamily="34" charset="-122"/>
                <a:cs typeface="Calibri" pitchFamily="34" charset="-120"/>
              </a:rPr>
              <a:t> la terminal.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12344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23444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INTEGRACIÓN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Del formulario a la petición HTTP en Node.js</a:t>
            </a:r>
            <a:endParaRPr lang="en-US" sz="2600" dirty="0"/>
          </a:p>
        </p:txBody>
      </p:sp>
      <p:sp>
        <p:nvSpPr>
          <p:cNvPr id="5" name="Shape 3"/>
          <p:cNvSpPr/>
          <p:nvPr/>
        </p:nvSpPr>
        <p:spPr>
          <a:xfrm>
            <a:off x="502920" y="1316736"/>
            <a:ext cx="3977640" cy="1207008"/>
          </a:xfrm>
          <a:prstGeom prst="roundRect">
            <a:avLst>
              <a:gd name="adj" fmla="val 6061"/>
            </a:avLst>
          </a:prstGeom>
          <a:solidFill>
            <a:srgbClr val="070C14"/>
          </a:solidFill>
          <a:ln w="12700">
            <a:solidFill>
              <a:srgbClr val="2B3B52"/>
            </a:solidFill>
            <a:prstDash val="solid"/>
          </a:ln>
        </p:spPr>
        <p:txBody>
          <a:bodyPr/>
          <a:lstStyle/>
          <a:p>
            <a:endParaRPr lang="es-CO"/>
          </a:p>
        </p:txBody>
      </p:sp>
      <p:sp>
        <p:nvSpPr>
          <p:cNvPr id="6" name="Text 4"/>
          <p:cNvSpPr txBox="1"/>
          <p:nvPr/>
        </p:nvSpPr>
        <p:spPr>
          <a:xfrm>
            <a:off x="649224" y="1371600"/>
            <a:ext cx="3685032"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server.js</a:t>
            </a:r>
            <a:endParaRPr lang="en-US" sz="850" dirty="0"/>
          </a:p>
        </p:txBody>
      </p:sp>
      <p:sp>
        <p:nvSpPr>
          <p:cNvPr id="7" name="Text 5"/>
          <p:cNvSpPr txBox="1"/>
          <p:nvPr/>
        </p:nvSpPr>
        <p:spPr>
          <a:xfrm>
            <a:off x="649224" y="1591056"/>
            <a:ext cx="3685032" cy="859536"/>
          </a:xfrm>
          <a:prstGeom prst="rect">
            <a:avLst/>
          </a:prstGeom>
          <a:noFill/>
          <a:ln/>
        </p:spPr>
        <p:txBody>
          <a:bodyPr wrap="square" lIns="0" tIns="0" rIns="0" bIns="0" rtlCol="0" anchor="t"/>
          <a:lstStyle/>
          <a:p>
            <a:pPr marL="0" indent="0">
              <a:lnSpc>
                <a:spcPts val="1300"/>
              </a:lnSpc>
              <a:buNone/>
            </a:pPr>
            <a:r>
              <a:rPr lang="en-US" sz="950" dirty="0">
                <a:solidFill>
                  <a:srgbClr val="56C7F2"/>
                </a:solidFill>
                <a:latin typeface="Courier New" pitchFamily="34" charset="0"/>
                <a:ea typeface="Courier New" pitchFamily="34" charset="-122"/>
                <a:cs typeface="Courier New" pitchFamily="34" charset="-120"/>
              </a:rPr>
              <a:t>console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log</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'Método:'</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method</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300"/>
              </a:lnSpc>
              <a:buNone/>
            </a:pPr>
            <a:r>
              <a:rPr lang="en-US" sz="950" dirty="0">
                <a:solidFill>
                  <a:srgbClr val="56C7F2"/>
                </a:solidFill>
                <a:latin typeface="Courier New" pitchFamily="34" charset="0"/>
                <a:ea typeface="Courier New" pitchFamily="34" charset="-122"/>
                <a:cs typeface="Courier New" pitchFamily="34" charset="-120"/>
              </a:rPr>
              <a:t>console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log</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'URL:'</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url</a:t>
            </a: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8" name="Shape 6"/>
          <p:cNvSpPr/>
          <p:nvPr/>
        </p:nvSpPr>
        <p:spPr>
          <a:xfrm>
            <a:off x="4754880" y="1316736"/>
            <a:ext cx="3886200" cy="1207008"/>
          </a:xfrm>
          <a:prstGeom prst="roundRect">
            <a:avLst>
              <a:gd name="adj" fmla="val 6061"/>
            </a:avLst>
          </a:prstGeom>
          <a:solidFill>
            <a:srgbClr val="070C14"/>
          </a:solidFill>
          <a:ln w="12700">
            <a:solidFill>
              <a:srgbClr val="2B3B52"/>
            </a:solidFill>
            <a:prstDash val="solid"/>
          </a:ln>
        </p:spPr>
        <p:txBody>
          <a:bodyPr/>
          <a:lstStyle/>
          <a:p>
            <a:endParaRPr lang="es-CO"/>
          </a:p>
        </p:txBody>
      </p:sp>
      <p:sp>
        <p:nvSpPr>
          <p:cNvPr id="9" name="Text 7"/>
          <p:cNvSpPr txBox="1"/>
          <p:nvPr/>
        </p:nvSpPr>
        <p:spPr>
          <a:xfrm>
            <a:off x="4901184" y="1371600"/>
            <a:ext cx="3593592" cy="182880"/>
          </a:xfrm>
          <a:prstGeom prst="rect">
            <a:avLst/>
          </a:prstGeom>
          <a:noFill/>
          <a:ln/>
        </p:spPr>
        <p:txBody>
          <a:bodyPr wrap="square" lIns="0" tIns="0" rIns="0" bIns="0" rtlCol="0" anchor="ctr"/>
          <a:lstStyle/>
          <a:p>
            <a:pPr marL="0" indent="0">
              <a:buNone/>
            </a:pPr>
            <a:r>
              <a:rPr lang="en-US" sz="850" b="1" kern="0" spc="60" dirty="0">
                <a:solidFill>
                  <a:srgbClr val="6C7E96"/>
                </a:solidFill>
                <a:latin typeface="Courier New" pitchFamily="34" charset="0"/>
                <a:ea typeface="Courier New" pitchFamily="34" charset="-122"/>
                <a:cs typeface="Courier New" pitchFamily="34" charset="-120"/>
              </a:rPr>
              <a:t>consola</a:t>
            </a:r>
            <a:endParaRPr lang="en-US" sz="850" dirty="0"/>
          </a:p>
        </p:txBody>
      </p:sp>
      <p:sp>
        <p:nvSpPr>
          <p:cNvPr id="10" name="Text 8"/>
          <p:cNvSpPr txBox="1"/>
          <p:nvPr/>
        </p:nvSpPr>
        <p:spPr>
          <a:xfrm>
            <a:off x="4901184" y="1591056"/>
            <a:ext cx="3593592" cy="859536"/>
          </a:xfrm>
          <a:prstGeom prst="rect">
            <a:avLst/>
          </a:prstGeom>
          <a:noFill/>
          <a:ln/>
        </p:spPr>
        <p:txBody>
          <a:bodyPr wrap="square" lIns="0" tIns="0" rIns="0" bIns="0" rtlCol="0" anchor="t"/>
          <a:lstStyle/>
          <a:p>
            <a:pPr marL="0" indent="0">
              <a:lnSpc>
                <a:spcPts val="1400"/>
              </a:lnSpc>
              <a:buNone/>
            </a:pPr>
            <a:r>
              <a:rPr lang="en-US" sz="1050" dirty="0">
                <a:solidFill>
                  <a:srgbClr val="3DDC97"/>
                </a:solidFill>
                <a:latin typeface="Courier New" pitchFamily="34" charset="0"/>
                <a:ea typeface="Courier New" pitchFamily="34" charset="-122"/>
                <a:cs typeface="Courier New" pitchFamily="34" charset="-120"/>
              </a:rPr>
              <a:t>Método: POST</a:t>
            </a:r>
            <a:endParaRPr lang="en-US" sz="1050" dirty="0"/>
          </a:p>
          <a:p>
            <a:pPr marL="0" indent="0">
              <a:lnSpc>
                <a:spcPts val="1400"/>
              </a:lnSpc>
              <a:buNone/>
            </a:pPr>
            <a:r>
              <a:rPr lang="en-US" sz="1050" dirty="0">
                <a:solidFill>
                  <a:srgbClr val="3DDC97"/>
                </a:solidFill>
                <a:latin typeface="Courier New" pitchFamily="34" charset="0"/>
                <a:ea typeface="Courier New" pitchFamily="34" charset="-122"/>
                <a:cs typeface="Courier New" pitchFamily="34" charset="-120"/>
              </a:rPr>
              <a:t>URL: /contacto</a:t>
            </a:r>
            <a:endParaRPr lang="en-US" sz="1050" dirty="0"/>
          </a:p>
        </p:txBody>
      </p:sp>
      <p:sp>
        <p:nvSpPr>
          <p:cNvPr id="11" name="Shape 9"/>
          <p:cNvSpPr/>
          <p:nvPr/>
        </p:nvSpPr>
        <p:spPr>
          <a:xfrm>
            <a:off x="502920" y="2697480"/>
            <a:ext cx="1234440" cy="731520"/>
          </a:xfrm>
          <a:prstGeom prst="roundRect">
            <a:avLst>
              <a:gd name="adj" fmla="val 10000"/>
            </a:avLst>
          </a:prstGeom>
          <a:solidFill>
            <a:srgbClr val="1A2434"/>
          </a:solidFill>
          <a:ln w="12700">
            <a:solidFill>
              <a:srgbClr val="2B3B52"/>
            </a:solidFill>
            <a:prstDash val="solid"/>
          </a:ln>
        </p:spPr>
        <p:txBody>
          <a:bodyPr/>
          <a:lstStyle/>
          <a:p>
            <a:endParaRPr lang="es-CO"/>
          </a:p>
        </p:txBody>
      </p:sp>
      <p:sp>
        <p:nvSpPr>
          <p:cNvPr id="12" name="Text 10"/>
          <p:cNvSpPr txBox="1"/>
          <p:nvPr/>
        </p:nvSpPr>
        <p:spPr>
          <a:xfrm>
            <a:off x="539496" y="2697480"/>
            <a:ext cx="1161288" cy="7315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Usuario</a:t>
            </a:r>
            <a:endParaRPr lang="en-US" sz="900" dirty="0"/>
          </a:p>
        </p:txBody>
      </p:sp>
      <p:sp>
        <p:nvSpPr>
          <p:cNvPr id="13" name="Shape 11"/>
          <p:cNvSpPr/>
          <p:nvPr/>
        </p:nvSpPr>
        <p:spPr>
          <a:xfrm>
            <a:off x="1755648" y="3063240"/>
            <a:ext cx="109728" cy="0"/>
          </a:xfrm>
          <a:prstGeom prst="line">
            <a:avLst/>
          </a:prstGeom>
          <a:noFill/>
          <a:ln w="12700">
            <a:solidFill>
              <a:srgbClr val="3DDC97"/>
            </a:solidFill>
            <a:prstDash val="solid"/>
            <a:tailEnd type="triangle"/>
          </a:ln>
        </p:spPr>
        <p:txBody>
          <a:bodyPr/>
          <a:lstStyle/>
          <a:p>
            <a:endParaRPr lang="es-CO"/>
          </a:p>
        </p:txBody>
      </p:sp>
      <p:sp>
        <p:nvSpPr>
          <p:cNvPr id="14" name="Shape 12"/>
          <p:cNvSpPr/>
          <p:nvPr/>
        </p:nvSpPr>
        <p:spPr>
          <a:xfrm>
            <a:off x="1883664" y="2697480"/>
            <a:ext cx="1234440" cy="731520"/>
          </a:xfrm>
          <a:prstGeom prst="roundRect">
            <a:avLst>
              <a:gd name="adj" fmla="val 10000"/>
            </a:avLst>
          </a:prstGeom>
          <a:solidFill>
            <a:srgbClr val="1A2434"/>
          </a:solidFill>
          <a:ln w="12700">
            <a:solidFill>
              <a:srgbClr val="3DDC97"/>
            </a:solidFill>
            <a:prstDash val="solid"/>
          </a:ln>
        </p:spPr>
        <p:txBody>
          <a:bodyPr/>
          <a:lstStyle/>
          <a:p>
            <a:endParaRPr lang="es-CO"/>
          </a:p>
        </p:txBody>
      </p:sp>
      <p:sp>
        <p:nvSpPr>
          <p:cNvPr id="15" name="Text 13"/>
          <p:cNvSpPr txBox="1"/>
          <p:nvPr/>
        </p:nvSpPr>
        <p:spPr>
          <a:xfrm>
            <a:off x="1920240" y="2697480"/>
            <a:ext cx="1161288" cy="731520"/>
          </a:xfrm>
          <a:prstGeom prst="rect">
            <a:avLst/>
          </a:prstGeom>
          <a:noFill/>
          <a:ln/>
        </p:spPr>
        <p:txBody>
          <a:bodyPr wrap="square" lIns="0" tIns="0" rIns="0" bIns="0" rtlCol="0" anchor="ctr"/>
          <a:lstStyle/>
          <a:p>
            <a:pPr marL="0" indent="0" algn="ctr">
              <a:buNone/>
            </a:pPr>
            <a:r>
              <a:rPr lang="en-US" sz="900" b="1" dirty="0">
                <a:solidFill>
                  <a:srgbClr val="3DDC97"/>
                </a:solidFill>
                <a:latin typeface="Arial" pitchFamily="34" charset="0"/>
                <a:ea typeface="Arial" pitchFamily="34" charset="-122"/>
                <a:cs typeface="Arial" pitchFamily="34" charset="-120"/>
              </a:rPr>
              <a:t>Formulario HTML</a:t>
            </a:r>
            <a:endParaRPr lang="en-US" sz="900" dirty="0"/>
          </a:p>
        </p:txBody>
      </p:sp>
      <p:sp>
        <p:nvSpPr>
          <p:cNvPr id="16" name="Shape 14"/>
          <p:cNvSpPr/>
          <p:nvPr/>
        </p:nvSpPr>
        <p:spPr>
          <a:xfrm>
            <a:off x="3136392" y="3063240"/>
            <a:ext cx="109728" cy="0"/>
          </a:xfrm>
          <a:prstGeom prst="line">
            <a:avLst/>
          </a:prstGeom>
          <a:noFill/>
          <a:ln w="12700">
            <a:solidFill>
              <a:srgbClr val="3DDC97"/>
            </a:solidFill>
            <a:prstDash val="solid"/>
            <a:tailEnd type="triangle"/>
          </a:ln>
        </p:spPr>
        <p:txBody>
          <a:bodyPr/>
          <a:lstStyle/>
          <a:p>
            <a:endParaRPr lang="es-CO"/>
          </a:p>
        </p:txBody>
      </p:sp>
      <p:sp>
        <p:nvSpPr>
          <p:cNvPr id="17" name="Shape 15"/>
          <p:cNvSpPr/>
          <p:nvPr/>
        </p:nvSpPr>
        <p:spPr>
          <a:xfrm>
            <a:off x="3264408" y="2697480"/>
            <a:ext cx="1234440" cy="731520"/>
          </a:xfrm>
          <a:prstGeom prst="roundRect">
            <a:avLst>
              <a:gd name="adj" fmla="val 10000"/>
            </a:avLst>
          </a:prstGeom>
          <a:solidFill>
            <a:srgbClr val="1A2434"/>
          </a:solidFill>
          <a:ln w="12700">
            <a:solidFill>
              <a:srgbClr val="56C7F2"/>
            </a:solidFill>
            <a:prstDash val="solid"/>
          </a:ln>
        </p:spPr>
        <p:txBody>
          <a:bodyPr/>
          <a:lstStyle/>
          <a:p>
            <a:endParaRPr lang="es-CO"/>
          </a:p>
        </p:txBody>
      </p:sp>
      <p:sp>
        <p:nvSpPr>
          <p:cNvPr id="18" name="Text 16"/>
          <p:cNvSpPr txBox="1"/>
          <p:nvPr/>
        </p:nvSpPr>
        <p:spPr>
          <a:xfrm>
            <a:off x="3300984" y="2697480"/>
            <a:ext cx="1161288" cy="731520"/>
          </a:xfrm>
          <a:prstGeom prst="rect">
            <a:avLst/>
          </a:prstGeom>
          <a:noFill/>
          <a:ln/>
        </p:spPr>
        <p:txBody>
          <a:bodyPr wrap="square" lIns="0" tIns="0" rIns="0" bIns="0" rtlCol="0" anchor="ctr"/>
          <a:lstStyle/>
          <a:p>
            <a:pPr marL="0" indent="0" algn="ctr">
              <a:buNone/>
            </a:pPr>
            <a:r>
              <a:rPr lang="en-US" sz="900" b="1" dirty="0">
                <a:solidFill>
                  <a:srgbClr val="56C7F2"/>
                </a:solidFill>
                <a:latin typeface="Arial" pitchFamily="34" charset="0"/>
                <a:ea typeface="Arial" pitchFamily="34" charset="-122"/>
                <a:cs typeface="Arial" pitchFamily="34" charset="-120"/>
              </a:rPr>
              <a:t>Navegador</a:t>
            </a:r>
            <a:endParaRPr lang="en-US" sz="900" dirty="0"/>
          </a:p>
        </p:txBody>
      </p:sp>
      <p:sp>
        <p:nvSpPr>
          <p:cNvPr id="19" name="Shape 17"/>
          <p:cNvSpPr/>
          <p:nvPr/>
        </p:nvSpPr>
        <p:spPr>
          <a:xfrm>
            <a:off x="4517136" y="3063240"/>
            <a:ext cx="109728" cy="0"/>
          </a:xfrm>
          <a:prstGeom prst="line">
            <a:avLst/>
          </a:prstGeom>
          <a:noFill/>
          <a:ln w="12700">
            <a:solidFill>
              <a:srgbClr val="3DDC97"/>
            </a:solidFill>
            <a:prstDash val="solid"/>
            <a:tailEnd type="triangle"/>
          </a:ln>
        </p:spPr>
        <p:txBody>
          <a:bodyPr/>
          <a:lstStyle/>
          <a:p>
            <a:endParaRPr lang="es-CO"/>
          </a:p>
        </p:txBody>
      </p:sp>
      <p:sp>
        <p:nvSpPr>
          <p:cNvPr id="20" name="Shape 18"/>
          <p:cNvSpPr/>
          <p:nvPr/>
        </p:nvSpPr>
        <p:spPr>
          <a:xfrm>
            <a:off x="4645152" y="2697480"/>
            <a:ext cx="1234440" cy="731520"/>
          </a:xfrm>
          <a:prstGeom prst="roundRect">
            <a:avLst>
              <a:gd name="adj" fmla="val 10000"/>
            </a:avLst>
          </a:prstGeom>
          <a:solidFill>
            <a:srgbClr val="1A2434"/>
          </a:solidFill>
          <a:ln w="12700">
            <a:solidFill>
              <a:srgbClr val="2B3B52"/>
            </a:solidFill>
            <a:prstDash val="solid"/>
          </a:ln>
        </p:spPr>
        <p:txBody>
          <a:bodyPr/>
          <a:lstStyle/>
          <a:p>
            <a:endParaRPr lang="es-CO"/>
          </a:p>
        </p:txBody>
      </p:sp>
      <p:sp>
        <p:nvSpPr>
          <p:cNvPr id="21" name="Text 19"/>
          <p:cNvSpPr txBox="1"/>
          <p:nvPr/>
        </p:nvSpPr>
        <p:spPr>
          <a:xfrm>
            <a:off x="4681728" y="2697480"/>
            <a:ext cx="1161288" cy="7315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POST /contacto</a:t>
            </a:r>
            <a:endParaRPr lang="en-US" sz="900" dirty="0"/>
          </a:p>
        </p:txBody>
      </p:sp>
      <p:sp>
        <p:nvSpPr>
          <p:cNvPr id="22" name="Shape 20"/>
          <p:cNvSpPr/>
          <p:nvPr/>
        </p:nvSpPr>
        <p:spPr>
          <a:xfrm>
            <a:off x="5897880" y="3063240"/>
            <a:ext cx="109728" cy="0"/>
          </a:xfrm>
          <a:prstGeom prst="line">
            <a:avLst/>
          </a:prstGeom>
          <a:noFill/>
          <a:ln w="12700">
            <a:solidFill>
              <a:srgbClr val="3DDC97"/>
            </a:solidFill>
            <a:prstDash val="solid"/>
            <a:tailEnd type="triangle"/>
          </a:ln>
        </p:spPr>
        <p:txBody>
          <a:bodyPr/>
          <a:lstStyle/>
          <a:p>
            <a:endParaRPr lang="es-CO"/>
          </a:p>
        </p:txBody>
      </p:sp>
      <p:sp>
        <p:nvSpPr>
          <p:cNvPr id="23" name="Shape 21"/>
          <p:cNvSpPr/>
          <p:nvPr/>
        </p:nvSpPr>
        <p:spPr>
          <a:xfrm>
            <a:off x="6025896" y="2697480"/>
            <a:ext cx="1234440" cy="731520"/>
          </a:xfrm>
          <a:prstGeom prst="roundRect">
            <a:avLst>
              <a:gd name="adj" fmla="val 10000"/>
            </a:avLst>
          </a:prstGeom>
          <a:solidFill>
            <a:srgbClr val="1A2434"/>
          </a:solidFill>
          <a:ln w="12700">
            <a:solidFill>
              <a:srgbClr val="2B3B52"/>
            </a:solidFill>
            <a:prstDash val="solid"/>
          </a:ln>
        </p:spPr>
        <p:txBody>
          <a:bodyPr/>
          <a:lstStyle/>
          <a:p>
            <a:endParaRPr lang="es-CO"/>
          </a:p>
        </p:txBody>
      </p:sp>
      <p:sp>
        <p:nvSpPr>
          <p:cNvPr id="24" name="Text 22"/>
          <p:cNvSpPr txBox="1"/>
          <p:nvPr/>
        </p:nvSpPr>
        <p:spPr>
          <a:xfrm>
            <a:off x="6062472" y="2697480"/>
            <a:ext cx="1161288" cy="7315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HTTP Request</a:t>
            </a:r>
            <a:endParaRPr lang="en-US" sz="900" dirty="0"/>
          </a:p>
        </p:txBody>
      </p:sp>
      <p:sp>
        <p:nvSpPr>
          <p:cNvPr id="25" name="Shape 23"/>
          <p:cNvSpPr/>
          <p:nvPr/>
        </p:nvSpPr>
        <p:spPr>
          <a:xfrm>
            <a:off x="7278624" y="3063240"/>
            <a:ext cx="109728" cy="0"/>
          </a:xfrm>
          <a:prstGeom prst="line">
            <a:avLst/>
          </a:prstGeom>
          <a:noFill/>
          <a:ln w="12700">
            <a:solidFill>
              <a:srgbClr val="3DDC97"/>
            </a:solidFill>
            <a:prstDash val="solid"/>
            <a:tailEnd type="triangle"/>
          </a:ln>
        </p:spPr>
        <p:txBody>
          <a:bodyPr/>
          <a:lstStyle/>
          <a:p>
            <a:endParaRPr lang="es-CO"/>
          </a:p>
        </p:txBody>
      </p:sp>
      <p:sp>
        <p:nvSpPr>
          <p:cNvPr id="26" name="Shape 24"/>
          <p:cNvSpPr/>
          <p:nvPr/>
        </p:nvSpPr>
        <p:spPr>
          <a:xfrm>
            <a:off x="7406640" y="2697480"/>
            <a:ext cx="1234440" cy="731520"/>
          </a:xfrm>
          <a:prstGeom prst="roundRect">
            <a:avLst>
              <a:gd name="adj" fmla="val 10000"/>
            </a:avLst>
          </a:prstGeom>
          <a:solidFill>
            <a:srgbClr val="1A2434"/>
          </a:solidFill>
          <a:ln w="12700">
            <a:solidFill>
              <a:srgbClr val="3DDC97"/>
            </a:solidFill>
            <a:prstDash val="solid"/>
          </a:ln>
        </p:spPr>
        <p:txBody>
          <a:bodyPr/>
          <a:lstStyle/>
          <a:p>
            <a:endParaRPr lang="es-CO"/>
          </a:p>
        </p:txBody>
      </p:sp>
      <p:sp>
        <p:nvSpPr>
          <p:cNvPr id="27" name="Text 25"/>
          <p:cNvSpPr txBox="1"/>
          <p:nvPr/>
        </p:nvSpPr>
        <p:spPr>
          <a:xfrm>
            <a:off x="7443216" y="2697480"/>
            <a:ext cx="1161288" cy="731520"/>
          </a:xfrm>
          <a:prstGeom prst="rect">
            <a:avLst/>
          </a:prstGeom>
          <a:noFill/>
          <a:ln/>
        </p:spPr>
        <p:txBody>
          <a:bodyPr wrap="square" lIns="0" tIns="0" rIns="0" bIns="0" rtlCol="0" anchor="ctr"/>
          <a:lstStyle/>
          <a:p>
            <a:pPr marL="0" indent="0" algn="ctr">
              <a:buNone/>
            </a:pPr>
            <a:r>
              <a:rPr lang="en-US" sz="900" b="1" dirty="0">
                <a:solidFill>
                  <a:srgbClr val="3DDC97"/>
                </a:solidFill>
                <a:latin typeface="Arial" pitchFamily="34" charset="0"/>
                <a:ea typeface="Arial" pitchFamily="34" charset="-122"/>
                <a:cs typeface="Arial" pitchFamily="34" charset="-120"/>
              </a:rPr>
              <a:t>Node.js</a:t>
            </a:r>
            <a:endParaRPr lang="en-US" sz="900" dirty="0"/>
          </a:p>
        </p:txBody>
      </p:sp>
      <p:sp>
        <p:nvSpPr>
          <p:cNvPr id="28" name="Shape 26"/>
          <p:cNvSpPr/>
          <p:nvPr/>
        </p:nvSpPr>
        <p:spPr>
          <a:xfrm>
            <a:off x="502920" y="3657600"/>
            <a:ext cx="8138160" cy="731520"/>
          </a:xfrm>
          <a:prstGeom prst="roundRect">
            <a:avLst>
              <a:gd name="adj" fmla="val 10000"/>
            </a:avLst>
          </a:prstGeom>
          <a:solidFill>
            <a:srgbClr val="1A2434"/>
          </a:solidFill>
          <a:ln w="12700">
            <a:solidFill>
              <a:srgbClr val="2B3B52"/>
            </a:solidFill>
            <a:prstDash val="solid"/>
          </a:ln>
        </p:spPr>
        <p:txBody>
          <a:bodyPr/>
          <a:lstStyle/>
          <a:p>
            <a:endParaRPr lang="es-CO"/>
          </a:p>
        </p:txBody>
      </p:sp>
      <p:sp>
        <p:nvSpPr>
          <p:cNvPr id="29" name="Text 27"/>
          <p:cNvSpPr txBox="1"/>
          <p:nvPr/>
        </p:nvSpPr>
        <p:spPr>
          <a:xfrm>
            <a:off x="731520" y="3657600"/>
            <a:ext cx="7680960" cy="731520"/>
          </a:xfrm>
          <a:prstGeom prst="rect">
            <a:avLst/>
          </a:prstGeom>
          <a:noFill/>
          <a:ln/>
        </p:spPr>
        <p:txBody>
          <a:bodyPr wrap="square" lIns="0" tIns="0" rIns="0" bIns="0" rtlCol="0" anchor="ctr"/>
          <a:lstStyle/>
          <a:p>
            <a:pPr marL="0" indent="0" algn="l">
              <a:buNone/>
            </a:pPr>
            <a:r>
              <a:rPr lang="en-US" sz="1100" dirty="0">
                <a:solidFill>
                  <a:srgbClr val="E8EEF6"/>
                </a:solidFill>
                <a:latin typeface="Calibri" pitchFamily="34" charset="0"/>
                <a:ea typeface="Calibri" pitchFamily="34" charset="-122"/>
                <a:cs typeface="Calibri" pitchFamily="34" charset="-120"/>
              </a:rPr>
              <a:t>El servidor ya reconoce el método y la ruta generados por el formulario. La lectura del contenido enviado en el cuerpo de la petición se aborda en sesiones posteriores.</a:t>
            </a:r>
            <a:endParaRPr lang="en-US" sz="1100" dirty="0"/>
          </a:p>
        </p:txBody>
      </p:sp>
      <p:sp>
        <p:nvSpPr>
          <p:cNvPr id="31" name="Text 28"/>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19 / 20</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522"/>
        </a:solidFill>
        <a:effectLst/>
      </p:bgPr>
    </p:bg>
    <p:spTree>
      <p:nvGrpSpPr>
        <p:cNvPr id="1" name=""/>
        <p:cNvGrpSpPr/>
        <p:nvPr/>
      </p:nvGrpSpPr>
      <p:grpSpPr>
        <a:xfrm>
          <a:off x="0" y="0"/>
          <a:ext cx="0" cy="0"/>
          <a:chOff x="0" y="0"/>
          <a:chExt cx="0" cy="0"/>
        </a:xfrm>
      </p:grpSpPr>
      <p:sp>
        <p:nvSpPr>
          <p:cNvPr id="2" name="Shape 0"/>
          <p:cNvSpPr/>
          <p:nvPr/>
        </p:nvSpPr>
        <p:spPr>
          <a:xfrm>
            <a:off x="502920" y="365760"/>
            <a:ext cx="86868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68680" cy="228600"/>
          </a:xfrm>
          <a:prstGeom prst="rect">
            <a:avLst/>
          </a:prstGeom>
          <a:noFill/>
          <a:ln/>
        </p:spPr>
        <p:txBody>
          <a:bodyPr wrap="square" lIns="0" tIns="0" rIns="0" bIns="0" rtlCol="0" anchor="ctr"/>
          <a:lstStyle/>
          <a:p>
            <a:pPr marL="0" indent="0" algn="ctr">
              <a:buNone/>
            </a:pPr>
            <a:r>
              <a:rPr lang="en-US" sz="850" b="1" kern="0" spc="110" dirty="0">
                <a:solidFill>
                  <a:srgbClr val="3DDC97"/>
                </a:solidFill>
                <a:latin typeface="Arial" pitchFamily="34" charset="0"/>
                <a:ea typeface="Arial" pitchFamily="34" charset="-122"/>
                <a:cs typeface="Arial" pitchFamily="34" charset="-120"/>
              </a:rPr>
              <a:t>CIERRE</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Conceptos trabajados en la sesión</a:t>
            </a:r>
            <a:endParaRPr lang="en-US" sz="2600" dirty="0"/>
          </a:p>
        </p:txBody>
      </p:sp>
      <p:sp>
        <p:nvSpPr>
          <p:cNvPr id="5" name="Shape 3"/>
          <p:cNvSpPr/>
          <p:nvPr/>
        </p:nvSpPr>
        <p:spPr>
          <a:xfrm>
            <a:off x="502920" y="1316736"/>
            <a:ext cx="1298448" cy="475488"/>
          </a:xfrm>
          <a:prstGeom prst="roundRect">
            <a:avLst>
              <a:gd name="adj" fmla="val 15385"/>
            </a:avLst>
          </a:prstGeom>
          <a:solidFill>
            <a:srgbClr val="1A2434"/>
          </a:solidFill>
          <a:ln w="12700">
            <a:solidFill>
              <a:srgbClr val="3DDC97"/>
            </a:solidFill>
            <a:prstDash val="solid"/>
          </a:ln>
        </p:spPr>
        <p:txBody>
          <a:bodyPr/>
          <a:lstStyle/>
          <a:p>
            <a:endParaRPr lang="es-CO"/>
          </a:p>
        </p:txBody>
      </p:sp>
      <p:sp>
        <p:nvSpPr>
          <p:cNvPr id="6" name="Text 4"/>
          <p:cNvSpPr txBox="1"/>
          <p:nvPr/>
        </p:nvSpPr>
        <p:spPr>
          <a:xfrm>
            <a:off x="530352" y="1316736"/>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HTML semántico</a:t>
            </a:r>
            <a:endParaRPr lang="en-US" sz="900" dirty="0"/>
          </a:p>
        </p:txBody>
      </p:sp>
      <p:sp>
        <p:nvSpPr>
          <p:cNvPr id="7" name="Shape 5"/>
          <p:cNvSpPr/>
          <p:nvPr/>
        </p:nvSpPr>
        <p:spPr>
          <a:xfrm>
            <a:off x="1869948" y="1316736"/>
            <a:ext cx="1298448" cy="475488"/>
          </a:xfrm>
          <a:prstGeom prst="roundRect">
            <a:avLst>
              <a:gd name="adj" fmla="val 15385"/>
            </a:avLst>
          </a:prstGeom>
          <a:solidFill>
            <a:srgbClr val="1A2434"/>
          </a:solidFill>
          <a:ln w="12700">
            <a:solidFill>
              <a:srgbClr val="56C7F2"/>
            </a:solidFill>
            <a:prstDash val="solid"/>
          </a:ln>
        </p:spPr>
        <p:txBody>
          <a:bodyPr/>
          <a:lstStyle/>
          <a:p>
            <a:endParaRPr lang="es-CO"/>
          </a:p>
        </p:txBody>
      </p:sp>
      <p:sp>
        <p:nvSpPr>
          <p:cNvPr id="8" name="Text 6"/>
          <p:cNvSpPr txBox="1"/>
          <p:nvPr/>
        </p:nvSpPr>
        <p:spPr>
          <a:xfrm>
            <a:off x="1897380" y="1316736"/>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header</a:t>
            </a:r>
            <a:endParaRPr lang="en-US" sz="900" dirty="0"/>
          </a:p>
        </p:txBody>
      </p:sp>
      <p:sp>
        <p:nvSpPr>
          <p:cNvPr id="9" name="Shape 7"/>
          <p:cNvSpPr/>
          <p:nvPr/>
        </p:nvSpPr>
        <p:spPr>
          <a:xfrm>
            <a:off x="3236976" y="1316736"/>
            <a:ext cx="1298448" cy="475488"/>
          </a:xfrm>
          <a:prstGeom prst="roundRect">
            <a:avLst>
              <a:gd name="adj" fmla="val 15385"/>
            </a:avLst>
          </a:prstGeom>
          <a:solidFill>
            <a:srgbClr val="1A2434"/>
          </a:solidFill>
          <a:ln w="12700">
            <a:solidFill>
              <a:srgbClr val="FFB86C"/>
            </a:solidFill>
            <a:prstDash val="solid"/>
          </a:ln>
        </p:spPr>
        <p:txBody>
          <a:bodyPr/>
          <a:lstStyle/>
          <a:p>
            <a:endParaRPr lang="es-CO"/>
          </a:p>
        </p:txBody>
      </p:sp>
      <p:sp>
        <p:nvSpPr>
          <p:cNvPr id="10" name="Text 8"/>
          <p:cNvSpPr txBox="1"/>
          <p:nvPr/>
        </p:nvSpPr>
        <p:spPr>
          <a:xfrm>
            <a:off x="3264408" y="1316736"/>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nav</a:t>
            </a:r>
            <a:endParaRPr lang="en-US" sz="900" dirty="0"/>
          </a:p>
        </p:txBody>
      </p:sp>
      <p:sp>
        <p:nvSpPr>
          <p:cNvPr id="11" name="Shape 9"/>
          <p:cNvSpPr/>
          <p:nvPr/>
        </p:nvSpPr>
        <p:spPr>
          <a:xfrm>
            <a:off x="4604004" y="1316736"/>
            <a:ext cx="1298448" cy="475488"/>
          </a:xfrm>
          <a:prstGeom prst="roundRect">
            <a:avLst>
              <a:gd name="adj" fmla="val 15385"/>
            </a:avLst>
          </a:prstGeom>
          <a:solidFill>
            <a:srgbClr val="1A2434"/>
          </a:solidFill>
          <a:ln w="12700">
            <a:solidFill>
              <a:srgbClr val="3DDC97"/>
            </a:solidFill>
            <a:prstDash val="solid"/>
          </a:ln>
        </p:spPr>
        <p:txBody>
          <a:bodyPr/>
          <a:lstStyle/>
          <a:p>
            <a:endParaRPr lang="es-CO"/>
          </a:p>
        </p:txBody>
      </p:sp>
      <p:sp>
        <p:nvSpPr>
          <p:cNvPr id="12" name="Text 10"/>
          <p:cNvSpPr txBox="1"/>
          <p:nvPr/>
        </p:nvSpPr>
        <p:spPr>
          <a:xfrm>
            <a:off x="4631436" y="1316736"/>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main</a:t>
            </a:r>
            <a:endParaRPr lang="en-US" sz="900" dirty="0"/>
          </a:p>
        </p:txBody>
      </p:sp>
      <p:sp>
        <p:nvSpPr>
          <p:cNvPr id="13" name="Shape 11"/>
          <p:cNvSpPr/>
          <p:nvPr/>
        </p:nvSpPr>
        <p:spPr>
          <a:xfrm>
            <a:off x="5971032" y="1316736"/>
            <a:ext cx="1298448" cy="475488"/>
          </a:xfrm>
          <a:prstGeom prst="roundRect">
            <a:avLst>
              <a:gd name="adj" fmla="val 15385"/>
            </a:avLst>
          </a:prstGeom>
          <a:solidFill>
            <a:srgbClr val="1A2434"/>
          </a:solidFill>
          <a:ln w="12700">
            <a:solidFill>
              <a:srgbClr val="56C7F2"/>
            </a:solidFill>
            <a:prstDash val="solid"/>
          </a:ln>
        </p:spPr>
        <p:txBody>
          <a:bodyPr/>
          <a:lstStyle/>
          <a:p>
            <a:endParaRPr lang="es-CO"/>
          </a:p>
        </p:txBody>
      </p:sp>
      <p:sp>
        <p:nvSpPr>
          <p:cNvPr id="14" name="Text 12"/>
          <p:cNvSpPr txBox="1"/>
          <p:nvPr/>
        </p:nvSpPr>
        <p:spPr>
          <a:xfrm>
            <a:off x="5998464" y="1316736"/>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section</a:t>
            </a:r>
            <a:endParaRPr lang="en-US" sz="900" dirty="0"/>
          </a:p>
        </p:txBody>
      </p:sp>
      <p:sp>
        <p:nvSpPr>
          <p:cNvPr id="15" name="Shape 13"/>
          <p:cNvSpPr/>
          <p:nvPr/>
        </p:nvSpPr>
        <p:spPr>
          <a:xfrm>
            <a:off x="7338060" y="1316736"/>
            <a:ext cx="1298448" cy="475488"/>
          </a:xfrm>
          <a:prstGeom prst="roundRect">
            <a:avLst>
              <a:gd name="adj" fmla="val 15385"/>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7365492" y="1316736"/>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article</a:t>
            </a:r>
            <a:endParaRPr lang="en-US" sz="900" dirty="0"/>
          </a:p>
        </p:txBody>
      </p:sp>
      <p:sp>
        <p:nvSpPr>
          <p:cNvPr id="17" name="Shape 15"/>
          <p:cNvSpPr/>
          <p:nvPr/>
        </p:nvSpPr>
        <p:spPr>
          <a:xfrm>
            <a:off x="502920" y="1883664"/>
            <a:ext cx="1298448" cy="475488"/>
          </a:xfrm>
          <a:prstGeom prst="roundRect">
            <a:avLst>
              <a:gd name="adj" fmla="val 15385"/>
            </a:avLst>
          </a:prstGeom>
          <a:solidFill>
            <a:srgbClr val="1A2434"/>
          </a:solidFill>
          <a:ln w="12700">
            <a:solidFill>
              <a:srgbClr val="3DDC97"/>
            </a:solidFill>
            <a:prstDash val="solid"/>
          </a:ln>
        </p:spPr>
        <p:txBody>
          <a:bodyPr/>
          <a:lstStyle/>
          <a:p>
            <a:endParaRPr lang="es-CO"/>
          </a:p>
        </p:txBody>
      </p:sp>
      <p:sp>
        <p:nvSpPr>
          <p:cNvPr id="18" name="Text 16"/>
          <p:cNvSpPr txBox="1"/>
          <p:nvPr/>
        </p:nvSpPr>
        <p:spPr>
          <a:xfrm>
            <a:off x="530352" y="1883664"/>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aside</a:t>
            </a:r>
            <a:endParaRPr lang="en-US" sz="900" dirty="0"/>
          </a:p>
        </p:txBody>
      </p:sp>
      <p:sp>
        <p:nvSpPr>
          <p:cNvPr id="19" name="Shape 17"/>
          <p:cNvSpPr/>
          <p:nvPr/>
        </p:nvSpPr>
        <p:spPr>
          <a:xfrm>
            <a:off x="1869948" y="1883664"/>
            <a:ext cx="1298448" cy="475488"/>
          </a:xfrm>
          <a:prstGeom prst="roundRect">
            <a:avLst>
              <a:gd name="adj" fmla="val 15385"/>
            </a:avLst>
          </a:prstGeom>
          <a:solidFill>
            <a:srgbClr val="1A2434"/>
          </a:solidFill>
          <a:ln w="12700">
            <a:solidFill>
              <a:srgbClr val="56C7F2"/>
            </a:solidFill>
            <a:prstDash val="solid"/>
          </a:ln>
        </p:spPr>
        <p:txBody>
          <a:bodyPr/>
          <a:lstStyle/>
          <a:p>
            <a:endParaRPr lang="es-CO"/>
          </a:p>
        </p:txBody>
      </p:sp>
      <p:sp>
        <p:nvSpPr>
          <p:cNvPr id="20" name="Text 18"/>
          <p:cNvSpPr txBox="1"/>
          <p:nvPr/>
        </p:nvSpPr>
        <p:spPr>
          <a:xfrm>
            <a:off x="1897380" y="1883664"/>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footer</a:t>
            </a:r>
            <a:endParaRPr lang="en-US" sz="900" dirty="0"/>
          </a:p>
        </p:txBody>
      </p:sp>
      <p:sp>
        <p:nvSpPr>
          <p:cNvPr id="21" name="Shape 19"/>
          <p:cNvSpPr/>
          <p:nvPr/>
        </p:nvSpPr>
        <p:spPr>
          <a:xfrm>
            <a:off x="3236976" y="1883664"/>
            <a:ext cx="1298448" cy="475488"/>
          </a:xfrm>
          <a:prstGeom prst="roundRect">
            <a:avLst>
              <a:gd name="adj" fmla="val 15385"/>
            </a:avLst>
          </a:prstGeom>
          <a:solidFill>
            <a:srgbClr val="1A2434"/>
          </a:solidFill>
          <a:ln w="12700">
            <a:solidFill>
              <a:srgbClr val="FFB86C"/>
            </a:solidFill>
            <a:prstDash val="solid"/>
          </a:ln>
        </p:spPr>
        <p:txBody>
          <a:bodyPr/>
          <a:lstStyle/>
          <a:p>
            <a:endParaRPr lang="es-CO"/>
          </a:p>
        </p:txBody>
      </p:sp>
      <p:sp>
        <p:nvSpPr>
          <p:cNvPr id="22" name="Text 20"/>
          <p:cNvSpPr txBox="1"/>
          <p:nvPr/>
        </p:nvSpPr>
        <p:spPr>
          <a:xfrm>
            <a:off x="3264408" y="1883664"/>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form</a:t>
            </a:r>
            <a:endParaRPr lang="en-US" sz="900" dirty="0"/>
          </a:p>
        </p:txBody>
      </p:sp>
      <p:sp>
        <p:nvSpPr>
          <p:cNvPr id="23" name="Shape 21"/>
          <p:cNvSpPr/>
          <p:nvPr/>
        </p:nvSpPr>
        <p:spPr>
          <a:xfrm>
            <a:off x="4604004" y="1883664"/>
            <a:ext cx="1298448" cy="475488"/>
          </a:xfrm>
          <a:prstGeom prst="roundRect">
            <a:avLst>
              <a:gd name="adj" fmla="val 15385"/>
            </a:avLst>
          </a:prstGeom>
          <a:solidFill>
            <a:srgbClr val="1A2434"/>
          </a:solidFill>
          <a:ln w="12700">
            <a:solidFill>
              <a:srgbClr val="3DDC97"/>
            </a:solidFill>
            <a:prstDash val="solid"/>
          </a:ln>
        </p:spPr>
        <p:txBody>
          <a:bodyPr/>
          <a:lstStyle/>
          <a:p>
            <a:endParaRPr lang="es-CO"/>
          </a:p>
        </p:txBody>
      </p:sp>
      <p:sp>
        <p:nvSpPr>
          <p:cNvPr id="24" name="Text 22"/>
          <p:cNvSpPr txBox="1"/>
          <p:nvPr/>
        </p:nvSpPr>
        <p:spPr>
          <a:xfrm>
            <a:off x="4631436" y="1883664"/>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label</a:t>
            </a:r>
            <a:endParaRPr lang="en-US" sz="900" dirty="0"/>
          </a:p>
        </p:txBody>
      </p:sp>
      <p:sp>
        <p:nvSpPr>
          <p:cNvPr id="25" name="Shape 23"/>
          <p:cNvSpPr/>
          <p:nvPr/>
        </p:nvSpPr>
        <p:spPr>
          <a:xfrm>
            <a:off x="5971032" y="1883664"/>
            <a:ext cx="1298448" cy="475488"/>
          </a:xfrm>
          <a:prstGeom prst="roundRect">
            <a:avLst>
              <a:gd name="adj" fmla="val 15385"/>
            </a:avLst>
          </a:prstGeom>
          <a:solidFill>
            <a:srgbClr val="1A2434"/>
          </a:solidFill>
          <a:ln w="12700">
            <a:solidFill>
              <a:srgbClr val="56C7F2"/>
            </a:solidFill>
            <a:prstDash val="solid"/>
          </a:ln>
        </p:spPr>
        <p:txBody>
          <a:bodyPr/>
          <a:lstStyle/>
          <a:p>
            <a:endParaRPr lang="es-CO"/>
          </a:p>
        </p:txBody>
      </p:sp>
      <p:sp>
        <p:nvSpPr>
          <p:cNvPr id="26" name="Text 24"/>
          <p:cNvSpPr txBox="1"/>
          <p:nvPr/>
        </p:nvSpPr>
        <p:spPr>
          <a:xfrm>
            <a:off x="5998464" y="1883664"/>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input</a:t>
            </a:r>
            <a:endParaRPr lang="en-US" sz="900" dirty="0"/>
          </a:p>
        </p:txBody>
      </p:sp>
      <p:sp>
        <p:nvSpPr>
          <p:cNvPr id="27" name="Shape 25"/>
          <p:cNvSpPr/>
          <p:nvPr/>
        </p:nvSpPr>
        <p:spPr>
          <a:xfrm>
            <a:off x="7338060" y="1883664"/>
            <a:ext cx="1298448" cy="475488"/>
          </a:xfrm>
          <a:prstGeom prst="roundRect">
            <a:avLst>
              <a:gd name="adj" fmla="val 15385"/>
            </a:avLst>
          </a:prstGeom>
          <a:solidFill>
            <a:srgbClr val="1A2434"/>
          </a:solidFill>
          <a:ln w="12700">
            <a:solidFill>
              <a:srgbClr val="FFB86C"/>
            </a:solidFill>
            <a:prstDash val="solid"/>
          </a:ln>
        </p:spPr>
        <p:txBody>
          <a:bodyPr/>
          <a:lstStyle/>
          <a:p>
            <a:endParaRPr lang="es-CO"/>
          </a:p>
        </p:txBody>
      </p:sp>
      <p:sp>
        <p:nvSpPr>
          <p:cNvPr id="28" name="Text 26"/>
          <p:cNvSpPr txBox="1"/>
          <p:nvPr/>
        </p:nvSpPr>
        <p:spPr>
          <a:xfrm>
            <a:off x="7365492" y="1883664"/>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textarea</a:t>
            </a:r>
            <a:endParaRPr lang="en-US" sz="900" dirty="0"/>
          </a:p>
        </p:txBody>
      </p:sp>
      <p:sp>
        <p:nvSpPr>
          <p:cNvPr id="29" name="Shape 27"/>
          <p:cNvSpPr/>
          <p:nvPr/>
        </p:nvSpPr>
        <p:spPr>
          <a:xfrm>
            <a:off x="502920" y="2450592"/>
            <a:ext cx="1298448" cy="475488"/>
          </a:xfrm>
          <a:prstGeom prst="roundRect">
            <a:avLst>
              <a:gd name="adj" fmla="val 15385"/>
            </a:avLst>
          </a:prstGeom>
          <a:solidFill>
            <a:srgbClr val="1A2434"/>
          </a:solidFill>
          <a:ln w="12700">
            <a:solidFill>
              <a:srgbClr val="3DDC97"/>
            </a:solidFill>
            <a:prstDash val="solid"/>
          </a:ln>
        </p:spPr>
        <p:txBody>
          <a:bodyPr/>
          <a:lstStyle/>
          <a:p>
            <a:endParaRPr lang="es-CO"/>
          </a:p>
        </p:txBody>
      </p:sp>
      <p:sp>
        <p:nvSpPr>
          <p:cNvPr id="30" name="Text 28"/>
          <p:cNvSpPr txBox="1"/>
          <p:nvPr/>
        </p:nvSpPr>
        <p:spPr>
          <a:xfrm>
            <a:off x="530352" y="2450592"/>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button</a:t>
            </a:r>
            <a:endParaRPr lang="en-US" sz="900" dirty="0"/>
          </a:p>
        </p:txBody>
      </p:sp>
      <p:sp>
        <p:nvSpPr>
          <p:cNvPr id="31" name="Shape 29"/>
          <p:cNvSpPr/>
          <p:nvPr/>
        </p:nvSpPr>
        <p:spPr>
          <a:xfrm>
            <a:off x="1869948" y="2450592"/>
            <a:ext cx="1298448" cy="475488"/>
          </a:xfrm>
          <a:prstGeom prst="roundRect">
            <a:avLst>
              <a:gd name="adj" fmla="val 15385"/>
            </a:avLst>
          </a:prstGeom>
          <a:solidFill>
            <a:srgbClr val="1A2434"/>
          </a:solidFill>
          <a:ln w="12700">
            <a:solidFill>
              <a:srgbClr val="56C7F2"/>
            </a:solidFill>
            <a:prstDash val="solid"/>
          </a:ln>
        </p:spPr>
        <p:txBody>
          <a:bodyPr/>
          <a:lstStyle/>
          <a:p>
            <a:endParaRPr lang="es-CO"/>
          </a:p>
        </p:txBody>
      </p:sp>
      <p:sp>
        <p:nvSpPr>
          <p:cNvPr id="32" name="Text 30"/>
          <p:cNvSpPr txBox="1"/>
          <p:nvPr/>
        </p:nvSpPr>
        <p:spPr>
          <a:xfrm>
            <a:off x="1897380" y="2450592"/>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action</a:t>
            </a:r>
            <a:endParaRPr lang="en-US" sz="900" dirty="0"/>
          </a:p>
        </p:txBody>
      </p:sp>
      <p:sp>
        <p:nvSpPr>
          <p:cNvPr id="33" name="Shape 31"/>
          <p:cNvSpPr/>
          <p:nvPr/>
        </p:nvSpPr>
        <p:spPr>
          <a:xfrm>
            <a:off x="3236976" y="2450592"/>
            <a:ext cx="1298448" cy="475488"/>
          </a:xfrm>
          <a:prstGeom prst="roundRect">
            <a:avLst>
              <a:gd name="adj" fmla="val 15385"/>
            </a:avLst>
          </a:prstGeom>
          <a:solidFill>
            <a:srgbClr val="1A2434"/>
          </a:solidFill>
          <a:ln w="12700">
            <a:solidFill>
              <a:srgbClr val="FFB86C"/>
            </a:solidFill>
            <a:prstDash val="solid"/>
          </a:ln>
        </p:spPr>
        <p:txBody>
          <a:bodyPr/>
          <a:lstStyle/>
          <a:p>
            <a:endParaRPr lang="es-CO"/>
          </a:p>
        </p:txBody>
      </p:sp>
      <p:sp>
        <p:nvSpPr>
          <p:cNvPr id="34" name="Text 32"/>
          <p:cNvSpPr txBox="1"/>
          <p:nvPr/>
        </p:nvSpPr>
        <p:spPr>
          <a:xfrm>
            <a:off x="3264408" y="2450592"/>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method</a:t>
            </a:r>
            <a:endParaRPr lang="en-US" sz="900" dirty="0"/>
          </a:p>
        </p:txBody>
      </p:sp>
      <p:sp>
        <p:nvSpPr>
          <p:cNvPr id="35" name="Shape 33"/>
          <p:cNvSpPr/>
          <p:nvPr/>
        </p:nvSpPr>
        <p:spPr>
          <a:xfrm>
            <a:off x="4604004" y="2450592"/>
            <a:ext cx="1298448" cy="475488"/>
          </a:xfrm>
          <a:prstGeom prst="roundRect">
            <a:avLst>
              <a:gd name="adj" fmla="val 15385"/>
            </a:avLst>
          </a:prstGeom>
          <a:solidFill>
            <a:srgbClr val="1A2434"/>
          </a:solidFill>
          <a:ln w="12700">
            <a:solidFill>
              <a:srgbClr val="3DDC97"/>
            </a:solidFill>
            <a:prstDash val="solid"/>
          </a:ln>
        </p:spPr>
        <p:txBody>
          <a:bodyPr/>
          <a:lstStyle/>
          <a:p>
            <a:endParaRPr lang="es-CO"/>
          </a:p>
        </p:txBody>
      </p:sp>
      <p:sp>
        <p:nvSpPr>
          <p:cNvPr id="36" name="Text 34"/>
          <p:cNvSpPr txBox="1"/>
          <p:nvPr/>
        </p:nvSpPr>
        <p:spPr>
          <a:xfrm>
            <a:off x="4631436" y="2450592"/>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GET</a:t>
            </a:r>
            <a:endParaRPr lang="en-US" sz="900" dirty="0"/>
          </a:p>
        </p:txBody>
      </p:sp>
      <p:sp>
        <p:nvSpPr>
          <p:cNvPr id="37" name="Shape 35"/>
          <p:cNvSpPr/>
          <p:nvPr/>
        </p:nvSpPr>
        <p:spPr>
          <a:xfrm>
            <a:off x="5971032" y="2450592"/>
            <a:ext cx="1298448" cy="475488"/>
          </a:xfrm>
          <a:prstGeom prst="roundRect">
            <a:avLst>
              <a:gd name="adj" fmla="val 15385"/>
            </a:avLst>
          </a:prstGeom>
          <a:solidFill>
            <a:srgbClr val="1A2434"/>
          </a:solidFill>
          <a:ln w="12700">
            <a:solidFill>
              <a:srgbClr val="56C7F2"/>
            </a:solidFill>
            <a:prstDash val="solid"/>
          </a:ln>
        </p:spPr>
        <p:txBody>
          <a:bodyPr/>
          <a:lstStyle/>
          <a:p>
            <a:endParaRPr lang="es-CO"/>
          </a:p>
        </p:txBody>
      </p:sp>
      <p:sp>
        <p:nvSpPr>
          <p:cNvPr id="38" name="Text 36"/>
          <p:cNvSpPr txBox="1"/>
          <p:nvPr/>
        </p:nvSpPr>
        <p:spPr>
          <a:xfrm>
            <a:off x="5998464" y="2450592"/>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POST</a:t>
            </a:r>
            <a:endParaRPr lang="en-US" sz="900" dirty="0"/>
          </a:p>
        </p:txBody>
      </p:sp>
      <p:sp>
        <p:nvSpPr>
          <p:cNvPr id="39" name="Shape 37"/>
          <p:cNvSpPr/>
          <p:nvPr/>
        </p:nvSpPr>
        <p:spPr>
          <a:xfrm>
            <a:off x="7338060" y="2450592"/>
            <a:ext cx="1298448" cy="475488"/>
          </a:xfrm>
          <a:prstGeom prst="roundRect">
            <a:avLst>
              <a:gd name="adj" fmla="val 15385"/>
            </a:avLst>
          </a:prstGeom>
          <a:solidFill>
            <a:srgbClr val="1A2434"/>
          </a:solidFill>
          <a:ln w="12700">
            <a:solidFill>
              <a:srgbClr val="FFB86C"/>
            </a:solidFill>
            <a:prstDash val="solid"/>
          </a:ln>
        </p:spPr>
        <p:txBody>
          <a:bodyPr/>
          <a:lstStyle/>
          <a:p>
            <a:endParaRPr lang="es-CO"/>
          </a:p>
        </p:txBody>
      </p:sp>
      <p:sp>
        <p:nvSpPr>
          <p:cNvPr id="40" name="Text 38"/>
          <p:cNvSpPr txBox="1"/>
          <p:nvPr/>
        </p:nvSpPr>
        <p:spPr>
          <a:xfrm>
            <a:off x="7365492" y="2450592"/>
            <a:ext cx="1243584" cy="475488"/>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for · id · name</a:t>
            </a:r>
            <a:endParaRPr lang="en-US" sz="900" dirty="0"/>
          </a:p>
        </p:txBody>
      </p:sp>
      <p:sp>
        <p:nvSpPr>
          <p:cNvPr id="41" name="Shape 39"/>
          <p:cNvSpPr/>
          <p:nvPr/>
        </p:nvSpPr>
        <p:spPr>
          <a:xfrm>
            <a:off x="502920" y="3108960"/>
            <a:ext cx="8138160" cy="804672"/>
          </a:xfrm>
          <a:prstGeom prst="roundRect">
            <a:avLst>
              <a:gd name="adj" fmla="val 9091"/>
            </a:avLst>
          </a:prstGeom>
          <a:solidFill>
            <a:srgbClr val="1A2434"/>
          </a:solidFill>
          <a:ln w="12700">
            <a:solidFill>
              <a:srgbClr val="3DDC97"/>
            </a:solidFill>
            <a:prstDash val="solid"/>
          </a:ln>
        </p:spPr>
        <p:txBody>
          <a:bodyPr/>
          <a:lstStyle/>
          <a:p>
            <a:endParaRPr lang="es-CO"/>
          </a:p>
        </p:txBody>
      </p:sp>
      <p:sp>
        <p:nvSpPr>
          <p:cNvPr id="42" name="Text 40"/>
          <p:cNvSpPr txBox="1"/>
          <p:nvPr/>
        </p:nvSpPr>
        <p:spPr>
          <a:xfrm>
            <a:off x="731520" y="3246120"/>
            <a:ext cx="3657600" cy="219456"/>
          </a:xfrm>
          <a:prstGeom prst="rect">
            <a:avLst/>
          </a:prstGeom>
          <a:noFill/>
          <a:ln/>
        </p:spPr>
        <p:txBody>
          <a:bodyPr wrap="square" lIns="0" tIns="0" rIns="0" bIns="0" rtlCol="0" anchor="ctr"/>
          <a:lstStyle/>
          <a:p>
            <a:pPr marL="0" indent="0">
              <a:buNone/>
            </a:pPr>
            <a:r>
              <a:rPr lang="en-US" sz="1200" b="1" dirty="0">
                <a:solidFill>
                  <a:srgbClr val="3DDC97"/>
                </a:solidFill>
                <a:latin typeface="Arial" pitchFamily="34" charset="0"/>
                <a:ea typeface="Arial" pitchFamily="34" charset="-122"/>
                <a:cs typeface="Arial" pitchFamily="34" charset="-120"/>
              </a:rPr>
              <a:t>Idea central de la sesión</a:t>
            </a:r>
            <a:endParaRPr lang="en-US" sz="1200" dirty="0"/>
          </a:p>
        </p:txBody>
      </p:sp>
      <p:sp>
        <p:nvSpPr>
          <p:cNvPr id="43" name="Text 41"/>
          <p:cNvSpPr txBox="1"/>
          <p:nvPr/>
        </p:nvSpPr>
        <p:spPr>
          <a:xfrm>
            <a:off x="731520" y="3502152"/>
            <a:ext cx="7680960" cy="365760"/>
          </a:xfrm>
          <a:prstGeom prst="rect">
            <a:avLst/>
          </a:prstGeom>
          <a:noFill/>
          <a:ln/>
        </p:spPr>
        <p:txBody>
          <a:bodyPr wrap="square" lIns="0" tIns="0" rIns="0" bIns="0" rtlCol="0" anchor="t"/>
          <a:lstStyle/>
          <a:p>
            <a:pPr marL="0" indent="0" algn="l">
              <a:buNone/>
            </a:pPr>
            <a:r>
              <a:rPr lang="en-US" sz="1100" dirty="0">
                <a:solidFill>
                  <a:srgbClr val="E8EEF6"/>
                </a:solidFill>
                <a:latin typeface="Calibri" pitchFamily="34" charset="0"/>
                <a:ea typeface="Calibri" pitchFamily="34" charset="-122"/>
                <a:cs typeface="Calibri" pitchFamily="34" charset="-120"/>
              </a:rPr>
              <a:t>HTML no solo organiza el contenido de una página Web: también permite describir su significado y construir mecanismos para que el usuario introduzca y envíe información.</a:t>
            </a:r>
            <a:endParaRPr lang="en-US" sz="1100" dirty="0"/>
          </a:p>
        </p:txBody>
      </p:sp>
      <p:sp>
        <p:nvSpPr>
          <p:cNvPr id="44" name="Shape 42"/>
          <p:cNvSpPr/>
          <p:nvPr/>
        </p:nvSpPr>
        <p:spPr>
          <a:xfrm>
            <a:off x="502920" y="4041648"/>
            <a:ext cx="8138160" cy="566928"/>
          </a:xfrm>
          <a:prstGeom prst="roundRect">
            <a:avLst>
              <a:gd name="adj" fmla="val 12903"/>
            </a:avLst>
          </a:prstGeom>
          <a:solidFill>
            <a:srgbClr val="112A38"/>
          </a:solidFill>
          <a:ln w="12700">
            <a:solidFill>
              <a:srgbClr val="56C7F2"/>
            </a:solidFill>
            <a:prstDash val="solid"/>
          </a:ln>
        </p:spPr>
        <p:txBody>
          <a:bodyPr/>
          <a:lstStyle/>
          <a:p>
            <a:endParaRPr lang="es-CO"/>
          </a:p>
        </p:txBody>
      </p:sp>
      <p:sp>
        <p:nvSpPr>
          <p:cNvPr id="45" name="Text 43"/>
          <p:cNvSpPr txBox="1"/>
          <p:nvPr/>
        </p:nvSpPr>
        <p:spPr>
          <a:xfrm>
            <a:off x="731520" y="4041648"/>
            <a:ext cx="7680960" cy="566928"/>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Sesión 03 → CSS   </a:t>
            </a:r>
            <a:r>
              <a:rPr lang="en-US" sz="1100" i="1" dirty="0">
                <a:solidFill>
                  <a:srgbClr val="E8EEF6"/>
                </a:solidFill>
                <a:latin typeface="Calibri" pitchFamily="34" charset="0"/>
                <a:ea typeface="Calibri" pitchFamily="34" charset="-122"/>
                <a:cs typeface="Calibri" pitchFamily="34" charset="-120"/>
              </a:rPr>
              <a:t>La página ya tiene estructura y permite introducir información. ¿Cómo controlamos ahora su presentación?</a:t>
            </a:r>
            <a:endParaRPr lang="en-US" sz="1050" dirty="0"/>
          </a:p>
        </p:txBody>
      </p:sp>
      <p:sp>
        <p:nvSpPr>
          <p:cNvPr id="47" name="Text 44"/>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02  ·  20 / 20</a:t>
            </a:r>
            <a:endParaRPr lang="en-US" sz="800" dirty="0"/>
          </a:p>
        </p:txBody>
      </p:sp>
    </p:spTree>
  </p:cSld>
  <p:clrMapOvr>
    <a:masterClrMapping/>
  </p:clrMapOvr>
</p:sld>
</file>

<file path=ppt/theme/theme1.xml><?xml version="1.0" encoding="utf-8"?>
<a:theme xmlns:a="http://schemas.openxmlformats.org/drawingml/2006/main" name="Duna">
  <a:themeElements>
    <a:clrScheme name="Duna">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2303</TotalTime>
  <Words>4764</Words>
  <Application>Microsoft Office PowerPoint</Application>
  <PresentationFormat>Presentación en pantalla (16:9)</PresentationFormat>
  <Paragraphs>400</Paragraphs>
  <Slides>20</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Calibri</vt:lpstr>
      <vt:lpstr>Courier New</vt:lpstr>
      <vt:lpstr>Neue Haas Grotesk Text Pro</vt:lpstr>
      <vt:lpstr>Duna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02 — HTML semántico y formularios Web</dc:title>
  <dc:subject>PptxGenJS Presentation</dc:subject>
  <dc:creator>Luis Miguel Gómez Meneses</dc:creator>
  <cp:lastModifiedBy>LUIS MIGUEL GOMEZ MENESES</cp:lastModifiedBy>
  <cp:revision>9</cp:revision>
  <dcterms:created xsi:type="dcterms:W3CDTF">2026-08-28T21:45:52Z</dcterms:created>
  <dcterms:modified xsi:type="dcterms:W3CDTF">2026-09-01T12:04:34Z</dcterms:modified>
</cp:coreProperties>
</file>