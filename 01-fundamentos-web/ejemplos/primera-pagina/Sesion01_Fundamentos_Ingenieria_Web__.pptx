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294"/>
    <a:srgbClr val="3DDC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21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cuatro objetivos y anunciar la dinámica: concepto, demostración, concepto, demostración, integración. Tres demostraciones en vivo durante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palabra sistemático. La Ingeniería Web trata el sistema Web como producto de ingeniería con ciclo de vida, no como un conjunto de archivos.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con obra civil: escribir código equivale a levantar muros. La ingeniería abarca estudio, planos, cálculo, supervisión y mantenimiento.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 los estudiantes por sistemas que usan a diario y clasificarlos. El límite no siempre es nítido: existe un continuo entre contenido e interacción.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flujo de izquierda a derecha y de vuelta. Aclarar que en esta sesión solo se trabajará hasta el backend con Node.js; la capa de datos se abordará más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HTML no es un lenguaje de programación sino de marcado. El frontend se ejecuta en la máquina del usuario; el backend en 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petición-respuesta. Enfatizar que el servidor es reactivo y que HTTP no mantiene estado, lo cual justificará más adelante sesiones y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introductoria del flujo. No profundizar aún en DNS, TCP ni TLS; se mencionan como capas que se estudiarán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Repetir la tríada estructura, presentación y comportamiento. Es el marco que ordena todo el frontend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jerarquía de etiquetas y la sangría. Aclarar que head contiene información sobre la página y body el contenido que el usuario 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la pregunta abierta y no responderla todavía: se resuelve en la diapositiva 13 y en la demostración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 la pregunta de la demostración 1: sin servidor no hay lógica, ni rutas, ni datos. Es la transición hacia Node.js.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frecuente en estudiantes de primeros semestres. Insistir: JavaScript es el lenguaje, Node.js es el entorno que lo ejecuta fuera del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el doble sentido de la palabra servidor: máquina física y programa en ejecución. En clase se usa el sentido de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Anticipar el error EADDRINUSE. Si el puerto 3000 está ocupado, cambiar a 3001 y explicar por qué ocurre.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 y res son solo nombres de parámetros por convención. Lo importante es su rol: uno representa la petición, el otro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Escribir el código en vivo, sin copiar y pegar. Detenerse en createServer, en la función de dos parámetros y en listen con el puerto.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útil para mostrar la pestaña Red de las herramientas del navegador y contar las peticiones generadas.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que readFileSync es síncrono y sirve para el ejemplo introductorio; el manejo asíncrono se abordará en sesiones posteriores.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diapositiva 17: la ruta viaja dentro del request y el servidor la lee para decidir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404 no significa que el servidor esté caído: si estuviera caído no habría respuesta. Mencionar 2xx éxito, 4xx cliente, 5xx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que el servidor debe reiniciarse tras cada cambio. Pedir a los estudiantes que predigan la respuesta antes de probar cada ruta.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cierra el circuito frontend-backend: el HTML entregado por el servidor genera la siguiente petición al mismo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diagrama completo señalando en qué momento de la clase se construyó cada bloque. Es la diapositiva de síntesis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Verificación rápida: pedir a tres estudiantes que expliquen con sus palabras request, ruta y 404 antes de pasar a la actividad.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restricción: solo módulos nativos de Node.js. Nada de frameworks todavía. En la sesión 02 se retoma este servidor para introducir el siguiente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1143000"/>
            <a:ext cx="1097280" cy="640080"/>
          </a:xfrm>
          <a:prstGeom prst="line">
            <a:avLst/>
          </a:prstGeom>
          <a:noFill/>
          <a:ln w="12700">
            <a:solidFill>
              <a:srgbClr val="1E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635240" y="1783080"/>
            <a:ext cx="0" cy="1005840"/>
          </a:xfrm>
          <a:prstGeom prst="line">
            <a:avLst/>
          </a:prstGeom>
          <a:noFill/>
          <a:ln w="12700">
            <a:solidFill>
              <a:srgbClr val="1E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03720" y="2788920"/>
            <a:ext cx="1188720" cy="640080"/>
          </a:xfrm>
          <a:prstGeom prst="line">
            <a:avLst/>
          </a:prstGeom>
          <a:noFill/>
          <a:ln w="12700">
            <a:solidFill>
              <a:srgbClr val="1E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092440" y="3429000"/>
            <a:ext cx="0" cy="548640"/>
          </a:xfrm>
          <a:prstGeom prst="line">
            <a:avLst/>
          </a:prstGeom>
          <a:noFill/>
          <a:ln w="12700">
            <a:solidFill>
              <a:srgbClr val="1E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355080" y="3977640"/>
            <a:ext cx="182880" cy="0"/>
          </a:xfrm>
          <a:prstGeom prst="line">
            <a:avLst/>
          </a:prstGeom>
          <a:noFill/>
          <a:ln w="12700">
            <a:solidFill>
              <a:srgbClr val="1E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483096" y="1088136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7580376" y="1728216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848856" y="2734056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037576" y="3374136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300216" y="3922776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02920" y="960120"/>
            <a:ext cx="1874520" cy="256032"/>
          </a:xfrm>
          <a:prstGeom prst="roundRect">
            <a:avLst>
              <a:gd name="adj" fmla="val 50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WEB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141732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475488" y="208483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Ingeniería Web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" y="2761488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Miguel Gómez Meneses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250" b="1" dirty="0" err="1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125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Ingeniería de Software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presencial · 2 horas · Teoría y demostración en vivo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9224" y="3922776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server.js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010412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10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75488" y="10789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estudiante será capaz de: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02 / 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722376" y="1746504"/>
            <a:ext cx="402336" cy="402336"/>
          </a:xfrm>
          <a:prstGeom prst="ellipse">
            <a:avLst/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22376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71016" y="1463040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el flujo cliente-servidor mediante el protocolo HTTP.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928616" y="1746504"/>
            <a:ext cx="402336" cy="402336"/>
          </a:xfrm>
          <a:prstGeom prst="ellipse">
            <a:avLst/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928616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77256" y="1463040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s-CO" sz="1200" dirty="0">
                <a:solidFill>
                  <a:schemeClr val="bg1"/>
                </a:solidFill>
              </a:rPr>
              <a:t>Construir una interfaz Web básica utilizando HTML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2670048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722376" y="2953512"/>
            <a:ext cx="402336" cy="402336"/>
          </a:xfrm>
          <a:prstGeom prst="ellipse">
            <a:avLst/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22376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71016" y="2670048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un servidor HTTP básico utilizando Node.js.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670048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928616" y="2953512"/>
            <a:ext cx="402336" cy="402336"/>
          </a:xfrm>
          <a:prstGeom prst="ellipse">
            <a:avLst/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28616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77256" y="2670048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request, response, rutas, puertos y códigos HTTP.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221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metodológica de la sesión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078224"/>
            <a:ext cx="1525219" cy="329184"/>
          </a:xfrm>
          <a:prstGeom prst="roundRect">
            <a:avLst>
              <a:gd name="adj" fmla="val 25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02920" y="4078224"/>
            <a:ext cx="1525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56155" y="4078224"/>
            <a:ext cx="1525219" cy="329184"/>
          </a:xfrm>
          <a:prstGeom prst="roundRect">
            <a:avLst>
              <a:gd name="adj" fmla="val 25000"/>
            </a:avLst>
          </a:prstGeom>
          <a:solidFill>
            <a:srgbClr val="35210F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2156155" y="4078224"/>
            <a:ext cx="1525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09390" y="4078224"/>
            <a:ext cx="1525219" cy="329184"/>
          </a:xfrm>
          <a:prstGeom prst="roundRect">
            <a:avLst>
              <a:gd name="adj" fmla="val 25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809390" y="4078224"/>
            <a:ext cx="1525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62626" y="4078224"/>
            <a:ext cx="1525219" cy="329184"/>
          </a:xfrm>
          <a:prstGeom prst="roundRect">
            <a:avLst>
              <a:gd name="adj" fmla="val 25000"/>
            </a:avLst>
          </a:prstGeom>
          <a:solidFill>
            <a:srgbClr val="35210F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462626" y="4078224"/>
            <a:ext cx="1525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15861" y="4078224"/>
            <a:ext cx="1525219" cy="329184"/>
          </a:xfrm>
          <a:prstGeom prst="roundRect">
            <a:avLst>
              <a:gd name="adj" fmla="val 25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115861" y="4078224"/>
            <a:ext cx="1525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93268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Ingeniería Web?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03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8138160" cy="896112"/>
          </a:xfrm>
          <a:prstGeom prst="roundRect">
            <a:avLst>
              <a:gd name="adj" fmla="val 816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" y="1426464"/>
            <a:ext cx="7662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principios sistemáticos, disciplinados y cuantificables de la ingeniería al análisis, diseño, construcción, despliegue y mantenimiento de sistemas y aplicaciones Web.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4128" y="2578608"/>
            <a:ext cx="438912" cy="438912"/>
          </a:xfrm>
          <a:prstGeom prst="ellipse">
            <a:avLst/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24128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81328" y="2798064"/>
            <a:ext cx="118872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688336" y="2578608"/>
            <a:ext cx="438912" cy="438912"/>
          </a:xfrm>
          <a:prstGeom prst="ellipse">
            <a:avLst/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688336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67128" y="31272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45536" y="2798064"/>
            <a:ext cx="118872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352544" y="2578608"/>
            <a:ext cx="438912" cy="438912"/>
          </a:xfrm>
          <a:prstGeom prst="ellipse">
            <a:avLst/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352544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1336" y="31272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9744" y="2798064"/>
            <a:ext cx="118872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016752" y="2578608"/>
            <a:ext cx="438912" cy="438912"/>
          </a:xfrm>
          <a:prstGeom prst="ellipse">
            <a:avLst/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016752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95544" y="31272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73952" y="2798064"/>
            <a:ext cx="118872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7680960" y="2578608"/>
            <a:ext cx="438912" cy="438912"/>
          </a:xfrm>
          <a:prstGeom prst="ellipse">
            <a:avLst/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680960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59752" y="31272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584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s-ES" sz="11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de una aplicación Web no se limita al código: involucra requisitos, arquitectura, calidad, seguridad, despliegue y evolución.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16586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Web vs. Desarrollo Web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04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722376" y="1554480"/>
            <a:ext cx="3493008" cy="310896"/>
          </a:xfrm>
          <a:prstGeom prst="roundRect">
            <a:avLst>
              <a:gd name="adj" fmla="val 29412"/>
            </a:avLst>
          </a:prstGeom>
          <a:solidFill>
            <a:srgbClr val="112A38"/>
          </a:solidFill>
          <a:ln w="9525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22376" y="15544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Web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2048256"/>
            <a:ext cx="3364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Implementación de soluciones y aplicaciones Web.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Desarrollo de interfaces y funcionalidades.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Programación del lado cliente y servidor.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Integración con datos y servicios.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Pruebas e implementación técnica.</a:t>
            </a:r>
          </a:p>
        </p:txBody>
      </p:sp>
      <p:sp>
        <p:nvSpPr>
          <p:cNvPr id="10" name="Text 8"/>
          <p:cNvSpPr/>
          <p:nvPr/>
        </p:nvSpPr>
        <p:spPr>
          <a:xfrm>
            <a:off x="795528" y="37673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Enfoque: construcción e implementación</a:t>
            </a:r>
            <a:endParaRPr lang="en-US" sz="1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353312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1A2434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928616" y="1554480"/>
            <a:ext cx="3493008" cy="310896"/>
          </a:xfrm>
          <a:prstGeom prst="roundRect">
            <a:avLst>
              <a:gd name="adj" fmla="val 29412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928616" y="15544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Web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01768" y="2048256"/>
            <a:ext cx="3364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Análisis y especificación de requisitos.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Diseño y arquitectura de la solución.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Desarrollo y verificación.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Calidad, seguridad y usabilidad.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Despliegue, mantenimiento y evolución.</a:t>
            </a:r>
          </a:p>
        </p:txBody>
      </p:sp>
      <p:sp>
        <p:nvSpPr>
          <p:cNvPr id="15" name="Text 13"/>
          <p:cNvSpPr/>
          <p:nvPr/>
        </p:nvSpPr>
        <p:spPr>
          <a:xfrm>
            <a:off x="5001768" y="37673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Enfoque: proceso integral de ingeniería</a:t>
            </a:r>
            <a:endParaRPr lang="en-US" sz="1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4315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Codificar es una actividad dentro del proceso; no equivale al proceso completo.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088136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Web vs. aplicación Web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05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3931920" cy="3054096"/>
          </a:xfrm>
          <a:prstGeom prst="roundRect">
            <a:avLst>
              <a:gd name="adj" fmla="val 239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58952" y="15179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Web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828800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principalmente informativo. El usuario consulta y lee.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" y="2432304"/>
            <a:ext cx="3419856" cy="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58952" y="252374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3816" y="2761488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informativo de un programa académico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personal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un evento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" y="3950208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112A38"/>
          </a:solidFill>
          <a:ln w="9525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58952" y="39502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Interacción: baja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335024"/>
            <a:ext cx="3931920" cy="3054096"/>
          </a:xfrm>
          <a:prstGeom prst="roundRect">
            <a:avLst>
              <a:gd name="adj" fmla="val 239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65192" y="15179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5192" y="1828800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interactivo. El usuario ejecuta operaciones y modifica datos.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65192" y="2432304"/>
            <a:ext cx="3419856" cy="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65192" y="252374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0056" y="2761488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notas académicas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 en el navegador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en línea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65192" y="3950208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65192" y="39502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Interacción: alta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243584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generales de una aplicación Web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06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517904" cy="841248"/>
          </a:xfrm>
          <a:prstGeom prst="chevron">
            <a:avLst/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04088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88236" y="1481328"/>
            <a:ext cx="1517904" cy="841248"/>
          </a:xfrm>
          <a:prstGeom prst="chevron">
            <a:avLst/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089404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79676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481328"/>
            <a:ext cx="1517904" cy="841248"/>
          </a:xfrm>
          <a:prstGeom prst="chevron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474720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4992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CSS JS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58868" y="1481328"/>
            <a:ext cx="1517904" cy="841248"/>
          </a:xfrm>
          <a:prstGeom prst="chevron">
            <a:avLst/>
          </a:prstGeom>
          <a:solidFill>
            <a:srgbClr val="132A24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60036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0308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44184" y="1481328"/>
            <a:ext cx="1517904" cy="841248"/>
          </a:xfrm>
          <a:prstGeom prst="chevron">
            <a:avLst/>
          </a:prstGeom>
          <a:solidFill>
            <a:schemeClr val="accent4">
              <a:lumMod val="50000"/>
            </a:schemeClr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245352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35624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29500" y="1481328"/>
            <a:ext cx="1517904" cy="841248"/>
          </a:xfrm>
          <a:prstGeom prst="chevron">
            <a:avLst/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630668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20940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1208" y="2971800"/>
            <a:ext cx="146304" cy="146304"/>
          </a:xfrm>
          <a:prstGeom prst="ellipse">
            <a:avLst/>
          </a:prstGeom>
          <a:solidFill>
            <a:srgbClr val="56C7F2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95528" y="288950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C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el navegador del usuario. Presenta la interfaz y captura las acciones.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" y="3447288"/>
            <a:ext cx="146304" cy="14630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95528" y="33649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 </a:t>
            </a: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comunicación entre cliente y </a:t>
            </a:r>
            <a:r>
              <a:rPr lang="en-US" sz="1100" dirty="0" err="1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" y="3922776"/>
            <a:ext cx="146304" cy="146304"/>
          </a:xfrm>
          <a:prstGeom prst="ellipse">
            <a:avLst/>
          </a:prstGeom>
          <a:solidFill>
            <a:srgbClr val="FFD479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95528" y="38404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el servidor. Procesa la petición, aplica la lógica y accede a los datos.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699516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y Backend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07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3931920" cy="2395728"/>
          </a:xfrm>
          <a:prstGeom prst="roundRect">
            <a:avLst>
              <a:gd name="adj" fmla="val 3053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828800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el navegador del usuario.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" y="2176272"/>
            <a:ext cx="3419856" cy="384048"/>
          </a:xfrm>
          <a:prstGeom prst="roundRect">
            <a:avLst>
              <a:gd name="adj" fmla="val 19048"/>
            </a:avLst>
          </a:prstGeom>
          <a:solidFill>
            <a:srgbClr val="223047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05256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1762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8952" y="2651760"/>
            <a:ext cx="3419856" cy="384048"/>
          </a:xfrm>
          <a:prstGeom prst="roundRect">
            <a:avLst>
              <a:gd name="adj" fmla="val 19048"/>
            </a:avLst>
          </a:prstGeom>
          <a:solidFill>
            <a:srgbClr val="223047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05256" y="2651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" y="3127248"/>
            <a:ext cx="3419856" cy="384048"/>
          </a:xfrm>
          <a:prstGeom prst="roundRect">
            <a:avLst>
              <a:gd name="adj" fmla="val 19048"/>
            </a:avLst>
          </a:prstGeom>
          <a:solidFill>
            <a:srgbClr val="223047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05256" y="31272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3127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353312"/>
            <a:ext cx="3931920" cy="2395728"/>
          </a:xfrm>
          <a:prstGeom prst="roundRect">
            <a:avLst>
              <a:gd name="adj" fmla="val 3053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65192" y="15361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5192" y="1828800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ejecutada en el servidor.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0056" y="2194560"/>
            <a:ext cx="3328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 interpreta las peticiones.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reglas de negocio.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y envia la respuesta.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243584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cliente-servidor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08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39496" y="1737360"/>
            <a:ext cx="2532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5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Web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071616" y="1737360"/>
            <a:ext cx="2532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5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2029968"/>
            <a:ext cx="2606040" cy="0"/>
          </a:xfrm>
          <a:prstGeom prst="line">
            <a:avLst/>
          </a:prstGeom>
          <a:noFill/>
          <a:ln w="25400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154680" y="173736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743200"/>
            <a:ext cx="0" cy="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154680" y="279806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Response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C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solicita, el servidor responde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401568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04088" y="3493008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es-CO" sz="1050" b="1" dirty="0">
                <a:solidFill>
                  <a:schemeClr val="bg1"/>
                </a:solidFill>
              </a:rPr>
              <a:t>El cliente inicia la petición</a:t>
            </a:r>
            <a:br>
              <a:rPr lang="es-CO" sz="1050" dirty="0">
                <a:solidFill>
                  <a:schemeClr val="bg1"/>
                </a:solidFill>
              </a:rPr>
            </a:br>
            <a:r>
              <a:rPr lang="es-CO" sz="1050" i="1" dirty="0">
                <a:solidFill>
                  <a:schemeClr val="bg1"/>
                </a:solidFill>
              </a:rPr>
              <a:t>El cliente envía una solicitud y el servidor responde</a:t>
            </a:r>
            <a:r>
              <a:rPr lang="es-CO" sz="1050" i="1" dirty="0"/>
              <a:t>.</a:t>
            </a:r>
            <a:endParaRPr lang="en-US" sz="1050" i="1" dirty="0"/>
          </a:p>
        </p:txBody>
      </p:sp>
      <p:sp>
        <p:nvSpPr>
          <p:cNvPr id="17" name="Shape 15"/>
          <p:cNvSpPr/>
          <p:nvPr/>
        </p:nvSpPr>
        <p:spPr>
          <a:xfrm>
            <a:off x="4709160" y="3401568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10328" y="3493008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es independiente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no conserva estado entre una petición y la siguiente</a:t>
            </a: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69894631-6D2A-9AF9-1D6E-0EF4012E62C3}"/>
              </a:ext>
            </a:extLst>
          </p:cNvPr>
          <p:cNvSpPr/>
          <p:nvPr/>
        </p:nvSpPr>
        <p:spPr>
          <a:xfrm flipH="1">
            <a:off x="3246120" y="2778023"/>
            <a:ext cx="2606041" cy="17252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E29D34AB-9B77-77B7-44CC-866122CE6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033" y="2523363"/>
            <a:ext cx="276225" cy="238125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37D7A251-D627-B58E-A28F-9C5ABA7A0DB9}"/>
              </a:ext>
            </a:extLst>
          </p:cNvPr>
          <p:cNvSpPr txBox="1"/>
          <p:nvPr/>
        </p:nvSpPr>
        <p:spPr>
          <a:xfrm>
            <a:off x="548641" y="44495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i="1" dirty="0" err="1">
                <a:solidFill>
                  <a:srgbClr val="CE0294"/>
                </a:solidFill>
              </a:rPr>
              <a:t>const</a:t>
            </a:r>
            <a:r>
              <a:rPr lang="es-CO" i="1" dirty="0">
                <a:solidFill>
                  <a:srgbClr val="CE0294"/>
                </a:solidFill>
              </a:rPr>
              <a:t> </a:t>
            </a:r>
            <a:r>
              <a:rPr lang="es-CO" i="1" dirty="0">
                <a:solidFill>
                  <a:srgbClr val="7030A0"/>
                </a:solidFill>
              </a:rPr>
              <a:t>server = </a:t>
            </a:r>
            <a:r>
              <a:rPr lang="es-CO" i="1" dirty="0" err="1">
                <a:solidFill>
                  <a:srgbClr val="7030A0"/>
                </a:solidFill>
              </a:rPr>
              <a:t>http.</a:t>
            </a:r>
            <a:r>
              <a:rPr lang="es-CO" i="1" dirty="0" err="1">
                <a:solidFill>
                  <a:schemeClr val="bg1"/>
                </a:solidFill>
              </a:rPr>
              <a:t>createServer</a:t>
            </a:r>
            <a:r>
              <a:rPr lang="es-CO" i="1" dirty="0">
                <a:solidFill>
                  <a:srgbClr val="7030A0"/>
                </a:solidFill>
              </a:rPr>
              <a:t>((</a:t>
            </a:r>
            <a:r>
              <a:rPr lang="es-CO" i="1" dirty="0" err="1">
                <a:solidFill>
                  <a:srgbClr val="7030A0"/>
                </a:solidFill>
              </a:rPr>
              <a:t>req</a:t>
            </a:r>
            <a:r>
              <a:rPr lang="es-CO" i="1" dirty="0">
                <a:solidFill>
                  <a:srgbClr val="7030A0"/>
                </a:solidFill>
              </a:rPr>
              <a:t>, res) =&gt; {</a:t>
            </a:r>
            <a:endParaRPr lang="es-CO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699516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ocurre cuando escribimos una URL?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09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444752"/>
            <a:ext cx="7845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http://localhost:3000/acerca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" y="1920240"/>
            <a:ext cx="0" cy="9144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30936" y="2011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42644" y="1920240"/>
            <a:ext cx="0" cy="9144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324356" y="2011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33244" y="1920240"/>
            <a:ext cx="0" cy="9144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314956" y="2011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29484" y="1920240"/>
            <a:ext cx="0" cy="9144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711196" y="2011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43230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0292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" y="23957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interpreta la URL   </a:t>
            </a: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protocolo, host, puerto y ruta solicitada.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8986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1832" y="28620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100" b="1" dirty="0">
                <a:solidFill>
                  <a:schemeClr val="bg1"/>
                </a:solidFill>
              </a:rPr>
              <a:t>Se establece la comunicación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contacta al servidor en el host y puerto indicados.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6499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02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1832" y="33284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envía la petición HTTP   </a:t>
            </a: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GET sobre la ruta /acerca.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83133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0292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1832" y="37947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procesa y responde   </a:t>
            </a: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código de estado y el contenido asociado.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2976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0292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" y="42611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presenta el resultado   </a:t>
            </a: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el HTML recibido y lo dibuja en pantalla.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93268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HTML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10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" y="1408176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s-CO" sz="1400" b="1" dirty="0">
                <a:solidFill>
                  <a:schemeClr val="bg1"/>
                </a:solidFill>
              </a:rPr>
              <a:t>HTML (HyperText </a:t>
            </a:r>
            <a:r>
              <a:rPr lang="es-CO" sz="1400" b="1" dirty="0" err="1">
                <a:solidFill>
                  <a:schemeClr val="bg1"/>
                </a:solidFill>
              </a:rPr>
              <a:t>Markup</a:t>
            </a:r>
            <a:r>
              <a:rPr lang="es-CO" sz="1400" b="1" dirty="0">
                <a:solidFill>
                  <a:schemeClr val="bg1"/>
                </a:solidFill>
              </a:rPr>
              <a:t> </a:t>
            </a:r>
            <a:r>
              <a:rPr lang="es-CO" sz="1400" b="1" dirty="0" err="1">
                <a:solidFill>
                  <a:schemeClr val="bg1"/>
                </a:solidFill>
              </a:rPr>
              <a:t>Language</a:t>
            </a:r>
            <a:r>
              <a:rPr lang="es-CO" sz="1400" b="1" dirty="0">
                <a:solidFill>
                  <a:schemeClr val="bg1"/>
                </a:solidFill>
              </a:rPr>
              <a:t>)</a:t>
            </a:r>
            <a:r>
              <a:rPr lang="es-CO" sz="1400" dirty="0">
                <a:solidFill>
                  <a:schemeClr val="bg1"/>
                </a:solidFill>
              </a:rPr>
              <a:t> es el lenguaje de marcado utilizado para definir la </a:t>
            </a:r>
            <a:r>
              <a:rPr lang="es-CO" sz="1400" b="1" dirty="0">
                <a:solidFill>
                  <a:schemeClr val="bg1"/>
                </a:solidFill>
              </a:rPr>
              <a:t>estructura y el significado del contenido</a:t>
            </a:r>
            <a:r>
              <a:rPr lang="es-CO" sz="1400" dirty="0">
                <a:solidFill>
                  <a:schemeClr val="bg1"/>
                </a:solidFill>
              </a:rPr>
              <a:t> que interpreta el navegador.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595C3151-7A0E-6B20-E1DB-35EC8332C4EC}"/>
              </a:ext>
            </a:extLst>
          </p:cNvPr>
          <p:cNvSpPr/>
          <p:nvPr/>
        </p:nvSpPr>
        <p:spPr>
          <a:xfrm>
            <a:off x="502920" y="2364106"/>
            <a:ext cx="8138160" cy="588644"/>
          </a:xfrm>
          <a:prstGeom prst="roundRect">
            <a:avLst>
              <a:gd name="adj" fmla="val 10000"/>
            </a:avLst>
          </a:prstGeom>
          <a:solidFill>
            <a:srgbClr val="1A2434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s-CO" sz="1400" b="1" dirty="0">
                <a:solidFill>
                  <a:schemeClr val="bg1"/>
                </a:solidFill>
              </a:rPr>
              <a:t>HTML no es un lenguaje de programación.</a:t>
            </a:r>
            <a:br>
              <a:rPr lang="es-CO" sz="1400" dirty="0">
                <a:solidFill>
                  <a:schemeClr val="bg1"/>
                </a:solidFill>
              </a:rPr>
            </a:br>
            <a:r>
              <a:rPr lang="es-CO" sz="1400" dirty="0">
                <a:solidFill>
                  <a:schemeClr val="bg1"/>
                </a:solidFill>
              </a:rPr>
              <a:t>Es un </a:t>
            </a:r>
            <a:r>
              <a:rPr lang="es-CO" sz="1400" b="1" dirty="0">
                <a:solidFill>
                  <a:schemeClr val="bg1"/>
                </a:solidFill>
              </a:rPr>
              <a:t>lenguaje de marcado</a:t>
            </a:r>
            <a:r>
              <a:rPr lang="es-CO" sz="1400" dirty="0">
                <a:solidFill>
                  <a:schemeClr val="bg1"/>
                </a:solidFill>
              </a:rPr>
              <a:t>: utiliza etiquetas para describir y estructurar el contenido de un documento Web.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7724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básica de un documento HTML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11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4617720" cy="3054096"/>
          </a:xfrm>
          <a:prstGeom prst="roundRect">
            <a:avLst>
              <a:gd name="adj" fmla="val 1796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4325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6C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9224" y="1591056"/>
            <a:ext cx="43251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</a:t>
            </a:r>
            <a:r>
              <a:rPr lang="en-US" sz="105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lang=</a:t>
            </a:r>
            <a:r>
              <a:rPr lang="en-US" sz="10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"es"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</a:t>
            </a:r>
            <a:r>
              <a:rPr lang="en-US" sz="105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charset=</a:t>
            </a:r>
            <a:r>
              <a:rPr lang="en-US" sz="10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 primera página Web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Web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 es mi primera página Web.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49240" y="13167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4924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el documento como HTML5.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1828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lang="es"&gt;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49240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del documento e idioma del contenido.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23408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4924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Metadatos: no se muestran en la página.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28529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charset="UTF-8"&gt;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49240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Codificación; permite acentos y eñe.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33649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492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la pestaña del navegador.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38770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49240" y="4078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visible de la página.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098548" cy="228600"/>
          </a:xfrm>
          <a:prstGeom prst="roundRect">
            <a:avLst>
              <a:gd name="adj" fmla="val 48000"/>
            </a:avLst>
          </a:prstGeom>
          <a:solidFill>
            <a:srgbClr val="35210F"/>
          </a:solidFill>
          <a:ln w="952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2098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primera página Web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12 / 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3703320" cy="2798064"/>
          </a:xfrm>
          <a:prstGeom prst="roundRect">
            <a:avLst>
              <a:gd name="adj" fmla="val 2614"/>
            </a:avLst>
          </a:prstGeom>
          <a:solidFill>
            <a:srgbClr val="20160E"/>
          </a:solidFill>
          <a:ln w="1587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58952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en clase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029968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Cursor / Visual Studio Code.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414016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51560" y="23408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archivo index.html.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798064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 estructura HTML completa.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182112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archivo.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51560" y="34930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archivo directamente en el navegador.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950208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051560" y="387705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que se ejecuta como archivo local.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1426464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81144" y="148132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6C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 de direcciones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81144" y="1700784"/>
            <a:ext cx="3913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file:///C:/web/index.html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hay servidor involucrado.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2761488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672584" y="29260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guía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72584" y="3218688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navegador puede abrir el archivo sin servidor, ¿para qué necesitamos un servidor Web?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16586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local vs. contenido servido mediante HTTP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13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8138160" cy="1207008"/>
          </a:xfrm>
          <a:prstGeom prst="roundRect">
            <a:avLst>
              <a:gd name="adj" fmla="val 6061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" y="1463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local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13816" y="1828800"/>
            <a:ext cx="1618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093976"/>
            <a:ext cx="731520" cy="0"/>
          </a:xfrm>
          <a:prstGeom prst="line">
            <a:avLst/>
          </a:prstGeom>
          <a:noFill/>
          <a:ln w="19050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520440" y="1828800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557016" y="1828800"/>
            <a:ext cx="1618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40680" y="182880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lee el archivo desde el disco. No existe petición HTTP.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688336"/>
            <a:ext cx="8138160" cy="1517904"/>
          </a:xfrm>
          <a:prstGeom prst="roundRect">
            <a:avLst>
              <a:gd name="adj" fmla="val 4819"/>
            </a:avLst>
          </a:prstGeom>
          <a:solidFill>
            <a:srgbClr val="1A2434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40664" y="28163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mediante servidor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13816" y="320040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77440" y="3465576"/>
            <a:ext cx="292608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15768" y="320040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752344" y="320040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5968" y="3465576"/>
            <a:ext cx="292608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654296" y="320040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90872" y="320040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54496" y="3465576"/>
            <a:ext cx="292608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592824" y="320040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629400" y="320040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77640" y="279806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flecha representa una petición o una respuesta HTTP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" y="385876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se solicita y se entrega mediante HTTP. Esto habilita rutas, lógica del lado servidor y acceso a datos.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65376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CONCEPTUAL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y Node.js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14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3931920" cy="1700784"/>
          </a:xfrm>
          <a:prstGeom prst="roundRect">
            <a:avLst>
              <a:gd name="adj" fmla="val 4301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58952" y="14996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181051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 de alto nivel.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" y="2121408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sintaxis y las reglas del lenguaje. Por sí solo no determina dónde se ejecuta el código.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35024"/>
            <a:ext cx="3931920" cy="1700784"/>
          </a:xfrm>
          <a:prstGeom prst="roundRect">
            <a:avLst>
              <a:gd name="adj" fmla="val 4301"/>
            </a:avLst>
          </a:prstGeom>
          <a:solidFill>
            <a:srgbClr val="1A2434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965192" y="14996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65192" y="181051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ejecución (runtime).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5192" y="2121408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ejecutar código JavaScript fuera del navegador, por ejemplo en el servidor.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55264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31A1C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30936" y="32552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25526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no es Java.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31A1C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0936" y="3657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6576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no es un lenguaje de programación.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059936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31A1C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30936" y="40599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05993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no se ejecuta solo en el navegador.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93268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servidor Web?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15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" y="1389888"/>
            <a:ext cx="7662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que permanece a la espera de peticiones de clientes y genera una respuesta para cada una de ellas.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249424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39496" y="224942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95144" y="2487168"/>
            <a:ext cx="1691640" cy="603504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39496" y="2852928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95144" y="3090672"/>
            <a:ext cx="169164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02920" y="3456432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39496" y="345643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95144" y="3694176"/>
            <a:ext cx="169164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069080" y="2615184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105656" y="2615184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3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en escucha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3118104"/>
            <a:ext cx="640080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812280" y="2615184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812280" y="261518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+ contenido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696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clase, Node.js ejecutándose en el computador del docente cumple el rol de servidor.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32130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3213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LOCAL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 y puertos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16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4937760" cy="621792"/>
          </a:xfrm>
          <a:prstGeom prst="roundRect">
            <a:avLst>
              <a:gd name="adj" fmla="val 8824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44475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57984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04088" y="2304288"/>
            <a:ext cx="1325880" cy="292608"/>
          </a:xfrm>
          <a:prstGeom prst="roundRect">
            <a:avLst>
              <a:gd name="adj" fmla="val 28125"/>
            </a:avLst>
          </a:prstGeom>
          <a:solidFill>
            <a:srgbClr val="223047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04088" y="23042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157984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que resuelve a nuestra propia máquina. Equivale a la dirección 127.0.0.1.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704088" y="2999232"/>
            <a:ext cx="1325880" cy="292608"/>
          </a:xfrm>
          <a:prstGeom prst="roundRect">
            <a:avLst>
              <a:gd name="adj" fmla="val 28125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04088" y="29992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Puerto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2852928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lógico mediante el cual una aplicación recibe conexiones en la máquina.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47872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04088" y="3694176"/>
            <a:ext cx="1325880" cy="292608"/>
          </a:xfrm>
          <a:prstGeom prst="roundRect">
            <a:avLst>
              <a:gd name="adj" fmla="val 28125"/>
            </a:avLst>
          </a:prstGeom>
          <a:solidFill>
            <a:srgbClr val="223047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04088" y="36941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3547872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frecuente en desarrollo. No está reservado para Node.js.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316736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852160" y="131673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aplicaciones no pueden escuchar en el mismo puerto de forma simultánea.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7724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y 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17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444752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r>
              <a:rPr lang="en-US" sz="12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58952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" y="2596896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· petición recibida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" y="2907792"/>
            <a:ext cx="3328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solicitado: req.method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solicitada: req.url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Encabezados enviados por el cliente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" y="3803904"/>
            <a:ext cx="1691640" cy="256032"/>
          </a:xfrm>
          <a:prstGeom prst="roundRect">
            <a:avLst>
              <a:gd name="adj" fmla="val 42857"/>
            </a:avLst>
          </a:prstGeom>
          <a:solidFill>
            <a:srgbClr val="112A38"/>
          </a:solidFill>
          <a:ln w="9525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58952" y="38039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al servidor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2084832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65192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65192" y="2596896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· respuesta enviada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0056" y="2907792"/>
            <a:ext cx="3328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estado: res.statusCode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enviado: res.end(...)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Encabezados de la respuesta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65192" y="3803904"/>
            <a:ext cx="1691640" cy="256032"/>
          </a:xfrm>
          <a:prstGeom prst="roundRect">
            <a:avLst>
              <a:gd name="adj" fmla="val 42857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65192" y="38039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del servidor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098548" cy="228600"/>
          </a:xfrm>
          <a:prstGeom prst="roundRect">
            <a:avLst>
              <a:gd name="adj" fmla="val 48000"/>
            </a:avLst>
          </a:prstGeom>
          <a:solidFill>
            <a:srgbClr val="35210F"/>
          </a:solidFill>
          <a:ln w="952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2098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kern="0" spc="11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primer servidor HTTP con Node.js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18 / 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5488" y="10789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 la presentación · Trabajo en vivo en el editor y el navegador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3703320" cy="2798064"/>
          </a:xfrm>
          <a:prstGeom prst="roundRect">
            <a:avLst>
              <a:gd name="adj" fmla="val 2614"/>
            </a:avLst>
          </a:prstGeom>
          <a:solidFill>
            <a:srgbClr val="20160E"/>
          </a:solidFill>
          <a:ln w="1587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58952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en clase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029968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archivo server.js.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414016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51560" y="23408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código de referencia.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798064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Ejecutar: node server.js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182112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http://localhost:3000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51560" y="34930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consola del editor.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1426464"/>
            <a:ext cx="4206240" cy="2798064"/>
          </a:xfrm>
          <a:prstGeom prst="roundRect">
            <a:avLst>
              <a:gd name="adj" fmla="val 1961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0" name="Text 18"/>
          <p:cNvSpPr/>
          <p:nvPr/>
        </p:nvSpPr>
        <p:spPr>
          <a:xfrm>
            <a:off x="4581144" y="148132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81144" y="1700784"/>
            <a:ext cx="39136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'Método:'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'URL:'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'Hola desde mi servidor Node.js'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'http://localhost:3000'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93268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observamos?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19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3977640" cy="1463040"/>
          </a:xfrm>
          <a:prstGeom prst="roundRect">
            <a:avLst>
              <a:gd name="adj" fmla="val 3750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6C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9224" y="1591056"/>
            <a:ext cx="36850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Método: GET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/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Método: GET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/favicon.ico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31673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15179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HTTP que solicita obtener un recurso.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2029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raíz de la aplicación.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3408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/favicon.ico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542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automática del navegador para el icono de la pestaña.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054096"/>
            <a:ext cx="8138160" cy="1152144"/>
          </a:xfrm>
          <a:prstGeom prst="roundRect">
            <a:avLst>
              <a:gd name="adj" fmla="val 6349"/>
            </a:avLst>
          </a:prstGeom>
          <a:solidFill>
            <a:srgbClr val="1A2434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40664" y="32186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 importante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0664" y="3493008"/>
            <a:ext cx="7662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puede generar peticiones que el usuario no solicitó de forma explícita. Cada recurso que la página necesita produce su propia petición HTTP independiente.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010412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10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fs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Servir un archivo HTML desde Node.js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20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3977640" cy="1517904"/>
          </a:xfrm>
          <a:prstGeom prst="roundRect">
            <a:avLst>
              <a:gd name="adj" fmla="val 3614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6C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9224" y="1591056"/>
            <a:ext cx="36850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'fs'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readFileSync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'index.html'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16736"/>
            <a:ext cx="3886200" cy="1517904"/>
          </a:xfrm>
          <a:prstGeom prst="roundRect">
            <a:avLst>
              <a:gd name="adj" fmla="val 4819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83480" y="14813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File System (fs)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1755648"/>
            <a:ext cx="3429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incorporado en Node.js que permite leer y escribir archivos del sistema. Aquí se utiliza para leer el archivo index.html y enviar su contenido como respuesta.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39496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55648" y="3547872"/>
            <a:ext cx="109728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883664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920240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36392" y="3547872"/>
            <a:ext cx="109728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264408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300984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17136" y="3547872"/>
            <a:ext cx="109728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645152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681728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lee index.html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97880" y="3547872"/>
            <a:ext cx="109728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025896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062472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HTTP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78624" y="3547872"/>
            <a:ext cx="109728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7406640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443216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041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el contenido HTML se entrega a través del protocolo, no abriendo el archivo directamente.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854964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54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al concepto de rutas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21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" y="1389888"/>
            <a:ext cx="7662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puede responder de manera diferente según la ruta solicitada en la petición.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13969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85800" y="226771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85800" y="22677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13432" y="21396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principal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21396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bienvenida del sitio.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9806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85800" y="29260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/acerca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13432" y="27980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del curso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27980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asignatura.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564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85800" y="3584448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85800" y="3584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/usuarios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13432" y="34564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63440" y="34564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usuarios registrados.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206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llega al servidor en req.url. El servidor decide qué respuesta construir a partir de ese valor.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243584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CÓDIGOS HTTP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y código HTTP 404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22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22376" y="1335024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627632"/>
            <a:ext cx="502920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154680" y="133502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1481328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37960" y="14813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029968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22376" y="202996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/acerca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2322576"/>
            <a:ext cx="502920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154680" y="202996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del curso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2176272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37960" y="2176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587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22376" y="272491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/pepito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3017520"/>
            <a:ext cx="502920" cy="0"/>
          </a:xfrm>
          <a:prstGeom prst="line">
            <a:avLst/>
          </a:prstGeom>
          <a:noFill/>
          <a:ln w="15875">
            <a:solidFill>
              <a:srgbClr val="FF6B6B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154680" y="272491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no encontrada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871216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331A1C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537960" y="28712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Not Found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493008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1A2434"/>
          </a:solidFill>
          <a:ln w="1587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40664" y="3602736"/>
            <a:ext cx="7662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404   </a:t>
            </a: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recibió la petición, la entendió, pero no existe un recurso asociado a la ruta solicitada. Es un código de la familia 4xx: el error corresponde al cliente.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098548" cy="228600"/>
          </a:xfrm>
          <a:prstGeom prst="roundRect">
            <a:avLst>
              <a:gd name="adj" fmla="val 48000"/>
            </a:avLst>
          </a:prstGeom>
          <a:solidFill>
            <a:srgbClr val="35210F"/>
          </a:solidFill>
          <a:ln w="952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2098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kern="0" spc="11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y respuesta 404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23 / 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5488" y="10789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 la presentación · Trabajo en vivo en el editor y el navegador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3703320" cy="2798064"/>
          </a:xfrm>
          <a:prstGeom prst="roundRect">
            <a:avLst>
              <a:gd name="adj" fmla="val 2614"/>
            </a:avLst>
          </a:prstGeom>
          <a:solidFill>
            <a:srgbClr val="20160E"/>
          </a:solidFill>
          <a:ln w="1587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58952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en clase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029968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server.js con la estructura condicional.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414016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51560" y="23408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el servidor: node server.js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798064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 ruta 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182112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 ruta /acerca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51560" y="34930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 ruta /pepito y observar el 404.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1426464"/>
            <a:ext cx="4206240" cy="2798064"/>
          </a:xfrm>
          <a:prstGeom prst="roundRect">
            <a:avLst>
              <a:gd name="adj" fmla="val 1961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581144" y="148132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81144" y="1700784"/>
            <a:ext cx="39136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readFileSync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'index.html'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'/acerca'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'Acerca del curso de Ingeniería Web'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'404 - Pagina no encontrada'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70992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+ BACKEND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desde HTML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24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3977640" cy="731520"/>
          </a:xfrm>
          <a:prstGeom prst="roundRect">
            <a:avLst>
              <a:gd name="adj" fmla="val 7500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6C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9224" y="1591056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10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</a:t>
            </a:r>
            <a:r>
              <a:rPr lang="en-US" sz="11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"/acerca"</a:t>
            </a: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Acerca del curso</a:t>
            </a: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16736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83480" y="1316736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atributo href indica la ruta que el navegador solicitará al servidor.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510589" cy="1371600"/>
          </a:xfrm>
          <a:prstGeom prst="roundRect">
            <a:avLst>
              <a:gd name="adj" fmla="val 5333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" y="2889504"/>
            <a:ext cx="12545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hace clic en el enlace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22653" y="29260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59813" y="2377440"/>
            <a:ext cx="1510589" cy="1371600"/>
          </a:xfrm>
          <a:prstGeom prst="roundRect">
            <a:avLst>
              <a:gd name="adj" fmla="val 5333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159813" y="2505456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7829" y="2889504"/>
            <a:ext cx="12545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genera GET /acerca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79546" y="29260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16706" y="2377440"/>
            <a:ext cx="1510589" cy="1371600"/>
          </a:xfrm>
          <a:prstGeom prst="roundRect">
            <a:avLst>
              <a:gd name="adj" fmla="val 5333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816706" y="2505456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44722" y="2889504"/>
            <a:ext cx="12545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recibe la petición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36438" y="29260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73598" y="2377440"/>
            <a:ext cx="1510589" cy="1371600"/>
          </a:xfrm>
          <a:prstGeom prst="roundRect">
            <a:avLst>
              <a:gd name="adj" fmla="val 5333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473598" y="2505456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01614" y="2889504"/>
            <a:ext cx="12545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construye la respuesta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3331" y="29260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0491" y="2377440"/>
            <a:ext cx="1510589" cy="1371600"/>
          </a:xfrm>
          <a:prstGeom prst="roundRect">
            <a:avLst>
              <a:gd name="adj" fmla="val 5333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130491" y="2505456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58507" y="2889504"/>
            <a:ext cx="12545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presenta el resultado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9502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enlace HTML no es decorativo: es el mecanismo por el cual el cliente inicia una nueva petición HTTP.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16586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construida durante la sesión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25 / 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1338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11338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389888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30936" y="1389888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25980" y="1901952"/>
            <a:ext cx="0" cy="118872"/>
          </a:xfrm>
          <a:prstGeom prst="line">
            <a:avLst/>
          </a:prstGeom>
          <a:noFill/>
          <a:ln w="19050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594360" y="2048256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30936" y="2048256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/ Cliente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25980" y="2560320"/>
            <a:ext cx="0" cy="118872"/>
          </a:xfrm>
          <a:prstGeom prst="line">
            <a:avLst/>
          </a:prstGeom>
          <a:noFill/>
          <a:ln w="19050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94360" y="2706624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30936" y="2706624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  |  GET /acerca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Petición generada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25980" y="3218688"/>
            <a:ext cx="0" cy="118872"/>
          </a:xfrm>
          <a:prstGeom prst="line">
            <a:avLst/>
          </a:prstGeom>
          <a:noFill/>
          <a:ln w="19050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94360" y="3364992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0936" y="3364992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1389888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522976" y="1389888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server.js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en escucha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18020" y="1901952"/>
            <a:ext cx="0" cy="118872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5486400" y="2048256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522976" y="2048256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req.url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18020" y="2560320"/>
            <a:ext cx="0" cy="118872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486400" y="2706624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522976" y="2706624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→ index.html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del recurso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18020" y="3218688"/>
            <a:ext cx="0" cy="118872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5486400" y="3364992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522976" y="3364992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Response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+ contenido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12464" y="3611880"/>
            <a:ext cx="1719072" cy="0"/>
          </a:xfrm>
          <a:prstGeom prst="line">
            <a:avLst/>
          </a:prstGeom>
          <a:noFill/>
          <a:ln w="2222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749040" y="34198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petición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18020" y="3877056"/>
            <a:ext cx="0" cy="219456"/>
          </a:xfrm>
          <a:prstGeom prst="line">
            <a:avLst/>
          </a:prstGeom>
          <a:noFill/>
          <a:ln w="22225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7018020" y="4096512"/>
            <a:ext cx="0" cy="0"/>
          </a:xfrm>
          <a:prstGeom prst="line">
            <a:avLst/>
          </a:prstGeom>
          <a:noFill/>
          <a:ln w="22225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2125980" y="4096512"/>
            <a:ext cx="0" cy="0"/>
          </a:xfrm>
          <a:prstGeom prst="line">
            <a:avLst/>
          </a:prstGeom>
          <a:noFill/>
          <a:ln w="22225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2308860" y="38770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HTTP hacia el cliente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43342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recorrido se construyó en clase con HTML, Node.js, el módulo fs y una estructura condicional de rutas.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7724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trabajados en la sesión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26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57784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Web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83664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938528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Web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19272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00016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25896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080760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461504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57784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83664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938528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64408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319272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45152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700016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25896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080760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461504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57784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83664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1938528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64408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319272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45152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700016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25896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080760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06640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7461504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404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3310128"/>
            <a:ext cx="8138160" cy="932688"/>
          </a:xfrm>
          <a:prstGeom prst="roundRect">
            <a:avLst>
              <a:gd name="adj" fmla="val 7843"/>
            </a:avLst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740664" y="34564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 de la sesión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40664" y="371246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es un sistema en el que un cliente solicita recursos mediante HTTP y un servidor decide, según la ruta, qué respuesta construir y devolver.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16586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75488" y="10789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servidor construido en clase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27 / 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9224" y="14630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14630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la ruta /contacto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46120" y="14630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con los datos de contacto del docente.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197510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9224" y="197510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9848" y="197510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la ruta /servicios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19751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con una descripción breve.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48716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49224" y="248716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9848" y="24871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una ruta inexistente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487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la respuesta 404 y su código de estado.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999232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49224" y="299923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69848" y="29992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las rutas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46120" y="29992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ruta, descripción y código esperado.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14630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300216" y="1627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55080" y="19202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index.html y server.js.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breve con las rutas.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cada ruta probada.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1330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individual · No se requieren librerías </a:t>
            </a:r>
            <a:r>
              <a:rPr lang="en-US" sz="1100" i="1" dirty="0" err="1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externas</a:t>
            </a: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+mj-lt"/>
                <a:cs typeface="Calibri" pitchFamily="34" charset="-120"/>
              </a:rPr>
              <a:t>Enviar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+mj-lt"/>
                <a:cs typeface="Calibri" pitchFamily="34" charset="-120"/>
              </a:rPr>
              <a:t> a: </a:t>
            </a:r>
            <a:r>
              <a:rPr lang="es-CO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luismiguelgomez0821@gmail.com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3035</Words>
  <Application>Microsoft Office PowerPoint</Application>
  <PresentationFormat>Presentación en pantalla (16:9)</PresentationFormat>
  <Paragraphs>512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01 - Fundamentos de Ingeniería Web</dc:title>
  <dc:subject>PptxGenJS Presentation</dc:subject>
  <dc:creator>Ingeniería Web</dc:creator>
  <cp:lastModifiedBy>LUIS MIGUEL GOMEZ MENESES</cp:lastModifiedBy>
  <cp:revision>11</cp:revision>
  <dcterms:created xsi:type="dcterms:W3CDTF">2026-08-09T22:31:37Z</dcterms:created>
  <dcterms:modified xsi:type="dcterms:W3CDTF">2026-08-24T18:41:24Z</dcterms:modified>
</cp:coreProperties>
</file>