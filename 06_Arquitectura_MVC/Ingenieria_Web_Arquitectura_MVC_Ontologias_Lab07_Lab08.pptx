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DDC97"/>
    <a:srgbClr val="FFB86C"/>
    <a:srgbClr val="56C7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176" autoAdjust="0"/>
    <p:restoredTop sz="94610"/>
  </p:normalViewPr>
  <p:slideViewPr>
    <p:cSldViewPr snapToGrid="0" snapToObjects="1">
      <p:cViewPr>
        <p:scale>
          <a:sx n="100" d="100"/>
          <a:sy n="100" d="100"/>
        </p:scale>
        <p:origin x="696" y="-3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9919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Notes Placeholder 2"/>
          <p:cNvSpPr>
            <a:spLocks noGrp="1"/>
          </p:cNvSpPr>
          <p:nvPr>
            <p:ph type="body" idx="1"/>
          </p:nvPr>
        </p:nvSpPr>
        <p:spPr/>
        <p:txBody>
          <a:bodyPr/>
          <a:lstStyle/>
          <a:p>
            <a:r>
              <a:rPr lang="es-CO"/>
              <a:t>APERTURA · 1 minuto (acumulado: 1 de 120). Bloque: conexión con lo anterior (10 minutos, diapositivas 1 a 4).</a:t>
            </a:r>
          </a:p>
          <a:p>
            <a:endParaRPr lang="es-CO"/>
          </a:p>
          <a:p>
            <a:r>
              <a:rPr lang="es-CO"/>
              <a:t>Qué decir: «En el Laboratorio 06 la aplicación Soporte Web aprendió a guardar y consultar contactos y a entregarlos como JSON. Hoy no agregamos una tecnología de comunicación nueva: revisamos cómo está organizado el código y empezamos a describir qué significan los datos».</a:t>
            </a:r>
          </a:p>
          <a:p>
            <a:endParaRPr lang="es-CO"/>
          </a:p>
          <a:p>
            <a:r>
              <a:rPr lang="es-CO"/>
              <a:t>Las dos líneas del recuadro inferior anticipan los dos bloques de la sesión:</a:t>
            </a:r>
          </a:p>
          <a:p>
            <a:r>
              <a:rPr lang="es-CO"/>
              <a:t>- rutas → controlador → modelo → repositorio: organización del código en capas y MVC (Laboratorio 07).</a:t>
            </a:r>
          </a:p>
          <a:p>
            <a:r>
              <a:rPr lang="es-CO"/>
              <a:t>- sw:paginaTienda a sw:DesarrolloWeb .: una afirmación en Turtle, la sintaxis que se usará en el Laboratorio 08.</a:t>
            </a:r>
          </a:p>
          <a:p>
            <a:endParaRPr lang="es-CO"/>
          </a:p>
          <a:p>
            <a:r>
              <a:rPr lang="es-CO"/>
              <a:t>Verificación previa del docente:</a:t>
            </a:r>
          </a:p>
          <a:p>
            <a:r>
              <a:rPr lang="es-CO"/>
              <a:t>- node -v debe mostrar v24.11.0.</a:t>
            </a:r>
          </a:p>
          <a:p>
            <a:r>
              <a:rPr lang="es-CO"/>
              <a:t>- El proyecto preparado del Laboratorio 07 debe abrir con node server_rutas.js en el puerto 3000.</a:t>
            </a:r>
          </a:p>
          <a:p>
            <a:r>
              <a:rPr lang="es-CO"/>
              <a:t>- data/contactos.db debe tener al menos dos contactos ficticios (Ana y Beatriz, con correos @example.com).</a:t>
            </a:r>
          </a:p>
          <a:p>
            <a:r>
              <a:rPr lang="es-CO"/>
              <a:t>- Un editor de texto para archivos .ttl.</a:t>
            </a:r>
          </a:p>
          <a:p>
            <a:endParaRPr lang="es-CO"/>
          </a:p>
          <a:p>
            <a:r>
              <a:rPr lang="es-CO"/>
              <a:t>Nota sobre el material: los fragmentos de código de esta presentación son EJEMPLOS ILUSTRATIVOS que siguen la estructura descrita para los laboratorios 07 y 08. Si el paquete del laboratorio usa nombres distintos, conviene ajustar las diapositivas antes de la clase.</a:t>
            </a:r>
          </a:p>
          <a:p>
            <a:endParaRPr lang="es-CO"/>
          </a:p>
          <a:p>
            <a:r>
              <a:rPr lang="es-CO"/>
              <a:t>Transición: «Primero, el mapa de la sesión».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Notes Placeholder 2"/>
          <p:cNvSpPr>
            <a:spLocks noGrp="1"/>
          </p:cNvSpPr>
          <p:nvPr>
            <p:ph type="body" idx="1"/>
          </p:nvPr>
        </p:nvSpPr>
        <p:spPr/>
        <p:txBody>
          <a:bodyPr/>
          <a:lstStyle/>
          <a:p>
            <a:r>
              <a:rPr lang="es-CO"/>
              <a:t>OBJETIVOS Y AGENDA · 3 minutos (acumulado: 4 de 120).</a:t>
            </a:r>
          </a:p>
          <a:p>
            <a:endParaRPr lang="es-CO"/>
          </a:p>
          <a:p>
            <a:r>
              <a:rPr lang="es-CO"/>
              <a:t>Leer los cuatro objetivos. Los dos primeros (verde) corresponden al bloque de arquitectura y al Laboratorio 07. Los dos últimos (azul) corresponden al bloque de ontologías y al Laboratorio 08.</a:t>
            </a:r>
          </a:p>
          <a:p>
            <a:endParaRPr lang="es-CO"/>
          </a:p>
          <a:p>
            <a:r>
              <a:rPr lang="es-CO"/>
              <a:t>Distribución del tiempo:</a:t>
            </a:r>
          </a:p>
          <a:p>
            <a:r>
              <a:rPr lang="es-CO"/>
              <a:t>- 10 min · Conexión con lo anterior (diapositivas 1 a 4).</a:t>
            </a:r>
          </a:p>
          <a:p>
            <a:r>
              <a:rPr lang="es-CO"/>
              <a:t>- 25 min · Arquitectura en capas y MVC (diapositivas 5 a 11).</a:t>
            </a:r>
          </a:p>
          <a:p>
            <a:r>
              <a:rPr lang="es-CO"/>
              <a:t>- 20 min · Laboratorio 07: organización del proyecto con capas y MVC (diapositivas 12 a 14).</a:t>
            </a:r>
          </a:p>
          <a:p>
            <a:r>
              <a:rPr lang="es-CO"/>
              <a:t>- 25 min · Introducción a las ontologías (diapositivas 15 a 20).</a:t>
            </a:r>
          </a:p>
          <a:p>
            <a:r>
              <a:rPr lang="es-CO"/>
              <a:t>- 30 min · Laboratorio 08: primera ontología y exportación de SQLite a Turtle (diapositivas 21 y 22).</a:t>
            </a:r>
          </a:p>
          <a:p>
            <a:r>
              <a:rPr lang="es-CO"/>
              <a:t>- 10 min · Comparación, preguntas, conclusiones y referencias (diapositivas 23 y 24).</a:t>
            </a:r>
          </a:p>
          <a:p>
            <a:endParaRPr lang="es-CO"/>
          </a:p>
          <a:p>
            <a:r>
              <a:rPr lang="es-CO"/>
              <a:t>Idea que une los dos bloques: la arquitectura organiza el código; la ontología hace explícito el significado de la información. Son preguntas diferentes sobre el mismo proyecto.</a:t>
            </a:r>
          </a:p>
          <a:p>
            <a:endParaRPr lang="es-CO"/>
          </a:p>
          <a:p>
            <a:r>
              <a:rPr lang="es-CO"/>
              <a:t>Ubicación en el programa del curso (UCC): después de Web Services, la unidad Ontologías inicia con «Introducción a la Ingeniería Ontológica». La metodología NeOn, la especificación de requisitos, la reutilización, la evaluación, el emparejamiento y las herramientas se trabajan en sesiones posteriores.</a:t>
            </a:r>
          </a:p>
          <a:p>
            <a:endParaRPr lang="es-CO"/>
          </a:p>
          <a:p>
            <a:r>
              <a:rPr lang="es-CO"/>
              <a:t>Pregunta de entrada: «Si mañana un compañero debe cambiar la regla que valida el mensaje del formulario, ¿sabría en qué parte del proyecto buscar?». La respuesta suele ser «en server_rutas.js, en algún lugar». Esa incertidumbre motiva el primer bloque.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Notes Placeholder 2"/>
          <p:cNvSpPr>
            <a:spLocks noGrp="1"/>
          </p:cNvSpPr>
          <p:nvPr>
            <p:ph type="body" idx="1"/>
          </p:nvPr>
        </p:nvSpPr>
        <p:spPr/>
        <p:txBody>
          <a:bodyPr/>
          <a:lstStyle/>
          <a:p>
            <a:r>
              <a:rPr lang="es-CO"/>
              <a:t>PUNTO DE PARTIDA · 3 minutos (acumulado: 7 de 120).</a:t>
            </a:r>
          </a:p>
          <a:p>
            <a:endParaRPr lang="es-CO"/>
          </a:p>
          <a:p>
            <a:r>
              <a:rPr lang="es-CO"/>
              <a:t>Recordar el estado del proyecto al terminar el Laboratorio 06:</a:t>
            </a:r>
          </a:p>
          <a:p>
            <a:r>
              <a:rPr lang="es-CO"/>
              <a:t>- POST /contacto recibe el formulario (data y end, URLSearchParams), valida los campos y guarda con insertarContacto.run(). Responde 201 o 400.</a:t>
            </a:r>
          </a:p>
          <a:p>
            <a:r>
              <a:rPr lang="es-CO"/>
              <a:t>- GET /api/contactos ejecuta consultarContactos.all() y responde 200 con Content-Type: application/json.</a:t>
            </a:r>
          </a:p>
          <a:p>
            <a:r>
              <a:rPr lang="es-CO"/>
              <a:t>- GET /contactos entrega contactos.html, que usa fetch('/api/contactos') y construye las filas de la tabla con textContent.</a:t>
            </a:r>
          </a:p>
          <a:p>
            <a:r>
              <a:rPr lang="es-CO"/>
              <a:t>- La base es contactos.db con la tabla contactos(id, nombre, correo, mensaje).</a:t>
            </a:r>
          </a:p>
          <a:p>
            <a:r>
              <a:rPr lang="es-CO"/>
              <a:t>- Entorno: Node.js 24.11.0, CommonJS (require), módulos nativos node:http y node:sqlite, puerto 3000.</a:t>
            </a:r>
          </a:p>
          <a:p>
            <a:endParaRPr lang="es-CO"/>
          </a:p>
          <a:p>
            <a:r>
              <a:rPr lang="es-CO"/>
              <a:t>No se vuelve a explicar REST, JSON ni fetch(): se dan por conocidos. Si surge una duda puntual, remitir a las diapositivas del Laboratorio 06.</a:t>
            </a:r>
          </a:p>
          <a:p>
            <a:endParaRPr lang="es-CO"/>
          </a:p>
          <a:p>
            <a:r>
              <a:rPr lang="es-CO"/>
              <a:t>Pregunta breve: «¿Qué ruta está pensada para una persona y cuál para un programa?». Respuesta esperada: /contactos entrega HTML para una persona; /api/contactos entrega datos JSON para un programa (el JavaScript de la página).</a:t>
            </a:r>
          </a:p>
          <a:p>
            <a:endParaRPr lang="es-CO"/>
          </a:p>
          <a:p>
            <a:r>
              <a:rPr lang="es-CO"/>
              <a:t>Transición: «Todo esto funciona, pero ¿dónde está cada cosa? Miremos qué hace server_rutas.js».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Notes Placeholder 2"/>
          <p:cNvSpPr>
            <a:spLocks noGrp="1"/>
          </p:cNvSpPr>
          <p:nvPr>
            <p:ph type="body" idx="1"/>
          </p:nvPr>
        </p:nvSpPr>
        <p:spPr/>
        <p:txBody>
          <a:bodyPr/>
          <a:lstStyle/>
          <a:p>
            <a:r>
              <a:rPr lang="es-CO"/>
              <a:t>RESPONSABILIDADES DEL SERVIDOR ACTUAL · 3 minutos (acumulado: 10 de 120). Cierre del bloque de conexión.</a:t>
            </a:r>
          </a:p>
          <a:p>
            <a:endParaRPr lang="es-CO"/>
          </a:p>
          <a:p>
            <a:r>
              <a:rPr lang="es-CO"/>
              <a:t>Recorrer las siete filas con el código del Laboratorio 06 a la vista si es necesario. Los colores anticipan la capa a la que irá cada responsabilidad:</a:t>
            </a:r>
          </a:p>
          <a:p>
            <a:r>
              <a:rPr lang="es-CO"/>
              <a:t>- Azul: presentación (seleccionar rutas, leer la solicitud HTTP, construir respuestas, entregar archivos).</a:t>
            </a:r>
          </a:p>
          <a:p>
            <a:r>
              <a:rPr lang="es-CO"/>
              <a:t>- Verde: lógica de negocio (reglas del contacto).</a:t>
            </a:r>
          </a:p>
          <a:p>
            <a:r>
              <a:rPr lang="es-CO"/>
              <a:t>- Naranja: acceso a datos (sentencias SQL preparadas).</a:t>
            </a:r>
          </a:p>
          <a:p>
            <a:r>
              <a:rPr lang="es-CO"/>
              <a:t>- Gris: arranque del servidor.</a:t>
            </a:r>
          </a:p>
          <a:p>
            <a:endParaRPr lang="es-CO"/>
          </a:p>
          <a:p>
            <a:r>
              <a:rPr lang="es-CO"/>
              <a:t>Término: responsabilidad = una razón para que una parte del código cambie. Cuando un archivo tiene muchas razones para cambiar, cualquier modificación obliga a leerlo completo y aumenta el riesgo de dañar algo que no se quería tocar.</a:t>
            </a:r>
          </a:p>
          <a:p>
            <a:endParaRPr lang="es-CO"/>
          </a:p>
          <a:p>
            <a:r>
              <a:rPr lang="es-CO"/>
              <a:t>Respuestas orientadoras a la pregunta de la tarjeta azul:</a:t>
            </a:r>
          </a:p>
          <a:p>
            <a:r>
              <a:rPr lang="es-CO"/>
              <a:t>- Regla de 10 caracteres: hoy hay que buscar dentro del manejador de POST /contacto, entre la lectura del cuerpo y el INSERT.</a:t>
            </a:r>
          </a:p>
          <a:p>
            <a:r>
              <a:rPr lang="es-CO"/>
              <a:t>- Reemplazar SQLite: hoy hay que modificar las sentencias preparadas y cada lugar donde se usan run() o all(), todo en el mismo archivo.</a:t>
            </a:r>
          </a:p>
          <a:p>
            <a:endParaRPr lang="es-CO"/>
          </a:p>
          <a:p>
            <a:r>
              <a:rPr lang="es-CO"/>
              <a:t>Precisión: un solo archivo no es un error para un ejemplo pequeño. Fue la forma adecuada de aprender HTTP y SQLite. El problema aparece cuando el proyecto crece o lo mantienen varias personas.</a:t>
            </a:r>
          </a:p>
          <a:p>
            <a:endParaRPr lang="es-CO"/>
          </a:p>
          <a:p>
            <a:r>
              <a:rPr lang="es-CO"/>
              <a:t>Transición: «La arquitectura en capas propone agrupar estas responsabilidades».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Notes Placeholder 2"/>
          <p:cNvSpPr>
            <a:spLocks noGrp="1"/>
          </p:cNvSpPr>
          <p:nvPr>
            <p:ph type="body" idx="1"/>
          </p:nvPr>
        </p:nvSpPr>
        <p:spPr/>
        <p:txBody>
          <a:bodyPr/>
          <a:lstStyle/>
          <a:p>
            <a:r>
              <a:rPr lang="es-CO"/>
              <a:t>ARQUITECTURA EN CAPAS · 4 minutos (acumulado: 14 de 120). Inicio del bloque de arquitectura y MVC (25 minutos).</a:t>
            </a:r>
          </a:p>
          <a:p>
            <a:endParaRPr lang="es-CO"/>
          </a:p>
          <a:p>
            <a:r>
              <a:rPr lang="es-CO"/>
              <a:t>Explicación sugerida: «La arquitectura en capas organiza una aplicación según responsabilidades. La forma más común tiene tres capas: presentación (interfaz con el usuario o con otros programas), lógica de negocio (reglas del dominio) y acceso a datos (comunicación con el almacenamiento)».</a:t>
            </a:r>
          </a:p>
          <a:p>
            <a:endParaRPr lang="es-CO"/>
          </a:p>
          <a:p>
            <a:r>
              <a:rPr lang="es-CO"/>
              <a:t>Términos:</a:t>
            </a:r>
          </a:p>
          <a:p>
            <a:r>
              <a:rPr lang="es-CO"/>
              <a:t>- Capa de presentación: recibe la solicitud y produce la respuesta. En una aplicación web incluye el manejo de HTTP, las páginas, los estilos y la serialización a JSON.</a:t>
            </a:r>
          </a:p>
          <a:p>
            <a:r>
              <a:rPr lang="es-CO"/>
              <a:t>- Lógica de negocio: reglas que valen sin importar cómo se muestre o se guarde la información. Ejemplo: un contacto necesita nombre, correo y mensaje.</a:t>
            </a:r>
          </a:p>
          <a:p>
            <a:r>
              <a:rPr lang="es-CO"/>
              <a:t>- Acceso a datos: código que conoce las tablas, el SQL y la biblioteca de la base de datos.</a:t>
            </a:r>
          </a:p>
          <a:p>
            <a:r>
              <a:rPr lang="es-CO"/>
              <a:t>- Dependencia: una capa «usa» a otra cuando llama sus funciones. La dirección importa: presentación → negocio → datos.</a:t>
            </a:r>
          </a:p>
          <a:p>
            <a:endParaRPr lang="es-CO"/>
          </a:p>
          <a:p>
            <a:r>
              <a:rPr lang="es-CO"/>
              <a:t>Pregunta de comprensión: «¿En qué capa debe estar la instrucción SELECT?». Respuesta: acceso a datos. «¿Y la decisión de responder 400?». Respuesta: el código HTTP lo elige la presentación (controlador), pero la razón del rechazo la decide la lógica de negocio.</a:t>
            </a:r>
          </a:p>
          <a:p>
            <a:endParaRPr lang="es-CO"/>
          </a:p>
          <a:p>
            <a:r>
              <a:rPr lang="es-CO"/>
              <a:t>Confusión frecuente: pensar que cada capa debe ejecutarse en un servidor distinto. Se aclara en la diapositiva 8.</a:t>
            </a:r>
          </a:p>
          <a:p>
            <a:endParaRPr lang="es-CO"/>
          </a:p>
          <a:p>
            <a:r>
              <a:rPr lang="es-CO"/>
              <a:t>Referencias:</a:t>
            </a:r>
          </a:p>
          <a:p>
            <a:r>
              <a:rPr lang="es-CO"/>
              <a:t>- Microsoft Learn, «Common web application architectures»: https://learn.microsoft.com/dotnet/architecture/modern-web-apps-azure/common-web-application-architectures</a:t>
            </a:r>
          </a:p>
          <a:p>
            <a:r>
              <a:rPr lang="es-CO"/>
              <a:t>- Microsoft Learn, «N-tier architecture style»: https://learn.microsoft.com/azure/architecture/guide/architecture-styles/n-tier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Notes Placeholder 2"/>
          <p:cNvSpPr>
            <a:spLocks noGrp="1"/>
          </p:cNvSpPr>
          <p:nvPr>
            <p:ph type="body" idx="1"/>
          </p:nvPr>
        </p:nvSpPr>
        <p:spPr/>
        <p:txBody>
          <a:bodyPr/>
          <a:lstStyle/>
          <a:p>
            <a:r>
              <a:rPr lang="es-CO"/>
              <a:t>PERSISTENCIA Y BASE DE DATOS · 3 minutos (acumulado: 17 de 120).</a:t>
            </a:r>
          </a:p>
          <a:p>
            <a:endParaRPr lang="es-CO"/>
          </a:p>
          <a:p>
            <a:r>
              <a:rPr lang="es-CO"/>
              <a:t>EJEMPLO ILUSTRATIVO. En el archivo real, las primeras líneas cargan los módulos y abren la base:</a:t>
            </a:r>
          </a:p>
          <a:p>
            <a:r>
              <a:rPr lang="es-CO"/>
              <a:t>    const path = require('path');</a:t>
            </a:r>
          </a:p>
          <a:p>
            <a:r>
              <a:rPr lang="es-CO"/>
              <a:t>    const { DatabaseSync } = require('node:sqlite');</a:t>
            </a:r>
          </a:p>
          <a:p>
            <a:r>
              <a:rPr lang="es-CO"/>
              <a:t>    const db = new DatabaseSync(path.join(__dirname, 'contactos.db'));</a:t>
            </a:r>
          </a:p>
          <a:p>
            <a:r>
              <a:rPr lang="es-CO"/>
              <a:t>path.join(__dirname, …) construye la ruta a partir de la carpeta del archivo, de modo que funciona aunque el servidor se ejecute desde otra carpeta.</a:t>
            </a:r>
          </a:p>
          <a:p>
            <a:endParaRPr lang="es-CO"/>
          </a:p>
          <a:p>
            <a:r>
              <a:rPr lang="es-CO"/>
              <a:t>Explicación sugerida: «Persistir significa conservar los datos después de que el programa termina. Hay dos cosas distintas: el código que sabe cómo guardar y consultar (el repositorio) y el lugar donde quedan los datos (contactos.db)».</a:t>
            </a:r>
          </a:p>
          <a:p>
            <a:endParaRPr lang="es-CO"/>
          </a:p>
          <a:p>
            <a:r>
              <a:rPr lang="es-CO"/>
              <a:t>Términos:</a:t>
            </a:r>
          </a:p>
          <a:p>
            <a:r>
              <a:rPr lang="es-CO"/>
              <a:t>- Persistencia: capacidad de conservar datos más allá de la ejecución del programa.</a:t>
            </a:r>
          </a:p>
          <a:p>
            <a:r>
              <a:rPr lang="es-CO"/>
              <a:t>- Repositorio: módulo que reúne las operaciones de acceso a datos de una entidad (listar, insertar). El resto de la aplicación no ve SQL.</a:t>
            </a:r>
          </a:p>
          <a:p>
            <a:r>
              <a:rPr lang="es-CO"/>
              <a:t>- Archivo de base de datos: contactos.db guarda tablas, filas e índices. Puede declarar restricciones (NOT NULL, PRIMARY KEY), pero no conoce las rutas, los formularios ni las reglas de la aplicación.</a:t>
            </a:r>
          </a:p>
          <a:p>
            <a:endParaRPr lang="es-CO"/>
          </a:p>
          <a:p>
            <a:r>
              <a:rPr lang="es-CO"/>
              <a:t>Pregunta de comprensión: «Si mañana se usa PostgreSQL en lugar de SQLite, ¿qué archivo cambia?». Respuesta: contactoRepository.js (y la configuración de conexión). El modelo y el controlador siguen llamando listar() e insertar().</a:t>
            </a:r>
          </a:p>
          <a:p>
            <a:endParaRPr lang="es-CO"/>
          </a:p>
          <a:p>
            <a:r>
              <a:rPr lang="es-CO"/>
              <a:t>Confusión frecuente: llamar «modelo» al archivo .db. El archivo es almacenamiento; el modelo es código con datos y reglas (diapositiva siguiente).</a:t>
            </a:r>
          </a:p>
          <a:p>
            <a:endParaRPr lang="es-CO"/>
          </a:p>
          <a:p>
            <a:r>
              <a:rPr lang="es-CO"/>
              <a:t>Referencia: Node.js v24, «SQLite»: https://nodejs.org/docs/latest-v24.x/api/sqlite.html</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Notes Placeholder 2"/>
          <p:cNvSpPr>
            <a:spLocks noGrp="1"/>
          </p:cNvSpPr>
          <p:nvPr>
            <p:ph type="body" idx="1"/>
          </p:nvPr>
        </p:nvSpPr>
        <p:spPr/>
        <p:txBody>
          <a:bodyPr/>
          <a:lstStyle/>
          <a:p>
            <a:r>
              <a:rPr lang="es-CO"/>
              <a:t>MODELO–VISTA–CONTROLADOR · 4 minutos (acumulado: 21 de 120).</a:t>
            </a:r>
          </a:p>
          <a:p>
            <a:endParaRPr lang="es-CO"/>
          </a:p>
          <a:p>
            <a:r>
              <a:rPr lang="es-CO"/>
              <a:t>Explicación sugerida: «MVC es un patrón de diseño que divide la parte interactiva de una aplicación en tres papeles. El controlador recibe la solicitud y coordina; el modelo contiene los datos y las reglas; la vista presenta el resultado».</a:t>
            </a:r>
          </a:p>
          <a:p>
            <a:endParaRPr lang="es-CO"/>
          </a:p>
          <a:p>
            <a:r>
              <a:rPr lang="es-CO"/>
              <a:t>Recorrer el diagrama con un registro:</a:t>
            </a:r>
          </a:p>
          <a:p>
            <a:r>
              <a:rPr lang="es-CO"/>
              <a:t>1. El navegador envía POST /contacto.</a:t>
            </a:r>
          </a:p>
          <a:p>
            <a:r>
              <a:rPr lang="es-CO"/>
              <a:t>2. El controlador extrae nombre, correo y mensaje y llama al modelo.</a:t>
            </a:r>
          </a:p>
          <a:p>
            <a:r>
              <a:rPr lang="es-CO"/>
              <a:t>3. El modelo aplica las reglas y devuelve un resultado (válido con id, o inválido con errores).</a:t>
            </a:r>
          </a:p>
          <a:p>
            <a:r>
              <a:rPr lang="es-CO"/>
              <a:t>4. El controlador entrega los datos a la vista adecuada (confirmación o error).</a:t>
            </a:r>
          </a:p>
          <a:p>
            <a:r>
              <a:rPr lang="es-CO"/>
              <a:t>5. La respuesta HTML vuelve al navegador.</a:t>
            </a:r>
          </a:p>
          <a:p>
            <a:endParaRPr lang="es-CO"/>
          </a:p>
          <a:p>
            <a:r>
              <a:rPr lang="es-CO"/>
              <a:t>Precisiones obligatorias:</a:t>
            </a:r>
          </a:p>
          <a:p>
            <a:r>
              <a:rPr lang="es-CO"/>
              <a:t>- El modelo no es la base de datos. Incluye reglas («el mensaje debe tener al menos 10 caracteres») y datos. Para guardar, el modelo usa el repositorio.</a:t>
            </a:r>
          </a:p>
          <a:p>
            <a:r>
              <a:rPr lang="es-CO"/>
              <a:t>- El controlador no decide las reglas; las aplica el modelo. El controlador traduce entre HTTP y el modelo.</a:t>
            </a:r>
          </a:p>
          <a:p>
            <a:r>
              <a:rPr lang="es-CO"/>
              <a:t>- En una API, la «vista» puede ser la representación JSON. En el proyecto, la página contactos.html recibe ese JSON y construye la tabla en el navegador.</a:t>
            </a:r>
          </a:p>
          <a:p>
            <a:endParaRPr lang="es-CO"/>
          </a:p>
          <a:p>
            <a:r>
              <a:rPr lang="es-CO"/>
              <a:t>Pregunta de comprensión: «¿Qué papel cumple la función que lee el cuerpo con data y end?». Respuesta: controlador, porque trabaja con detalles de HTTP.</a:t>
            </a:r>
          </a:p>
          <a:p>
            <a:endParaRPr lang="es-CO"/>
          </a:p>
          <a:p>
            <a:r>
              <a:rPr lang="es-CO"/>
              <a:t>Referencias:</a:t>
            </a:r>
          </a:p>
          <a:p>
            <a:r>
              <a:rPr lang="es-CO"/>
              <a:t>- MDN Web Docs, glosario «MVC»: https://developer.mozilla.org/en-US/docs/Glossary/MVC</a:t>
            </a:r>
          </a:p>
          <a:p>
            <a:r>
              <a:rPr lang="es-CO"/>
              <a:t>- Microsoft Learn, «Overview of ASP.NET Core MVC»: https://learn.microsoft.com/aspnet/core/mvc/overview</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Notes Placeholder 2"/>
          <p:cNvSpPr>
            <a:spLocks noGrp="1"/>
          </p:cNvSpPr>
          <p:nvPr>
            <p:ph type="body" idx="1"/>
          </p:nvPr>
        </p:nvSpPr>
        <p:spPr/>
        <p:txBody>
          <a:bodyPr/>
          <a:lstStyle/>
          <a:p>
            <a:r>
              <a:rPr lang="es-CO"/>
              <a:t>RELACIÓN Y DIFERENCIAS ENTRE CAPAS Y MVC · 4 minutos (acumulado: 25 de 120).</a:t>
            </a:r>
          </a:p>
          <a:p>
            <a:endParaRPr lang="es-CO"/>
          </a:p>
          <a:p>
            <a:r>
              <a:rPr lang="es-CO"/>
              <a:t>Explicación sugerida: «Capas y MVC responden preguntas diferentes. Las capas dicen qué grupos de código existen y quién depende de quién. MVC dice cómo se reparten los papeles cuando llega una solicitud del usuario. Por eso se pueden usar juntos, pero no hay una equivalencia exacta componente por componente».</a:t>
            </a:r>
          </a:p>
          <a:p>
            <a:endParaRPr lang="es-CO"/>
          </a:p>
          <a:p>
            <a:r>
              <a:rPr lang="es-CO"/>
              <a:t>Lectura de la tabla:</a:t>
            </a:r>
          </a:p>
          <a:p>
            <a:r>
              <a:rPr lang="es-CO"/>
              <a:t>- La capa de presentación contiene al controlador y a la vista.</a:t>
            </a:r>
          </a:p>
          <a:p>
            <a:r>
              <a:rPr lang="es-CO"/>
              <a:t>- El modelo de MVC corresponde sobre todo a la lógica de negocio.</a:t>
            </a:r>
          </a:p>
          <a:p>
            <a:r>
              <a:rPr lang="es-CO"/>
              <a:t>- MVC no define una pieza para el acceso a datos. Algunas implementaciones lo incluyen dentro del «modelo» en sentido amplio; en el proyecto se separa en un repositorio.</a:t>
            </a:r>
          </a:p>
          <a:p>
            <a:endParaRPr lang="es-CO"/>
          </a:p>
          <a:p>
            <a:r>
              <a:rPr lang="es-CO"/>
              <a:t>Precisión sobre capas y niveles físicos: Microsoft distingue capas (layers), que separan responsabilidades lógicas, de niveles (tiers), que son separaciones físicas en máquinas o procesos distintos. Tener tres capas lógicas no exige tres servidores. El proyecto del curso usa un solo servidor y un solo proceso.</a:t>
            </a:r>
          </a:p>
          <a:p>
            <a:endParaRPr lang="es-CO"/>
          </a:p>
          <a:p>
            <a:r>
              <a:rPr lang="es-CO"/>
              <a:t>Pregunta de reflexión: «¿Podría existir MVC en una aplicación sin base de datos?». Respuesta: sí. El modelo puede mantener datos en memoria o consultar otro servicio; MVC no depende de SQLite.</a:t>
            </a:r>
          </a:p>
          <a:p>
            <a:endParaRPr lang="es-CO"/>
          </a:p>
          <a:p>
            <a:r>
              <a:rPr lang="es-CO"/>
              <a:t>Referencias:</a:t>
            </a:r>
          </a:p>
          <a:p>
            <a:r>
              <a:rPr lang="es-CO"/>
              <a:t>- Microsoft Learn, «N-tier architecture style»: https://learn.microsoft.com/azure/architecture/guide/architecture-styles/n-tier</a:t>
            </a:r>
          </a:p>
          <a:p>
            <a:r>
              <a:rPr lang="es-CO"/>
              <a:t>- Microsoft Learn, «Common web application architectures»: https://learn.microsoft.com/dotnet/architecture/modern-web-apps-azure/common-web-application-architectures</a:t>
            </a:r>
          </a:p>
          <a:p>
            <a:r>
              <a:rPr lang="es-CO"/>
              <a:t>- MDN Web Docs, glosario «MVC»: https://developer.mozilla.org/en-US/docs/Glossary/MVC</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Notes Placeholder 2"/>
          <p:cNvSpPr>
            <a:spLocks noGrp="1"/>
          </p:cNvSpPr>
          <p:nvPr>
            <p:ph type="body" idx="1"/>
          </p:nvPr>
        </p:nvSpPr>
        <p:spPr/>
        <p:txBody>
          <a:bodyPr/>
          <a:lstStyle/>
          <a:p>
            <a:r>
              <a:rPr lang="es-CO"/>
              <a:t>ORGANIZACIÓN DE ARCHIVOS · 3 minutos (acumulado: 28 de 120).</a:t>
            </a:r>
          </a:p>
          <a:p>
            <a:endParaRPr lang="es-CO"/>
          </a:p>
          <a:p>
            <a:r>
              <a:rPr lang="es-CO"/>
              <a:t>EJEMPLO ILUSTRATIVO de la estructura que trae el proyecto preparado del Laboratorio 07. Si el paquete usa otros nombres, señalar la equivalencia en voz alta.</a:t>
            </a:r>
          </a:p>
          <a:p>
            <a:endParaRPr lang="es-CO"/>
          </a:p>
          <a:p>
            <a:r>
              <a:rPr lang="es-CO"/>
              <a:t>Recorrer el árbol de arriba hacia abajo y preguntar por cada archivo: «¿Por qué razón cambiaría?».</a:t>
            </a:r>
          </a:p>
          <a:p>
            <a:r>
              <a:rPr lang="es-CO"/>
              <a:t>- server_rutas.js: solo crea el servidor, delega cada solicitud a routes/rutas.js y escucha en el puerto 3000.</a:t>
            </a:r>
          </a:p>
          <a:p>
            <a:r>
              <a:rPr lang="es-CO"/>
              <a:t>- routes/rutas.js: compara método y URL y llama a la función del controlador correspondiente.</a:t>
            </a:r>
          </a:p>
          <a:p>
            <a:r>
              <a:rPr lang="es-CO"/>
              <a:t>- controllers/contactoController.js: lee el cuerpo, llama al modelo, elige código de estado y vista.</a:t>
            </a:r>
          </a:p>
          <a:p>
            <a:r>
              <a:rPr lang="es-CO"/>
              <a:t>- models/contactoModel.js: reglas del contacto (validar, registrar, listar).</a:t>
            </a:r>
          </a:p>
          <a:p>
            <a:r>
              <a:rPr lang="es-CO"/>
              <a:t>- data/contactoRepository.js: sentencias SQL preparadas.</a:t>
            </a:r>
          </a:p>
          <a:p>
            <a:r>
              <a:rPr lang="es-CO"/>
              <a:t>- data/contactos.db: el archivo SQLite.</a:t>
            </a:r>
          </a:p>
          <a:p>
            <a:r>
              <a:rPr lang="es-CO"/>
              <a:t>- views/: las páginas del sitio Soporte Web (inicio, acerca de, servicios, contacto, consulta de contactos) y contactoVista.js, que genera las respuestas HTML de confirmación y error.</a:t>
            </a:r>
          </a:p>
          <a:p>
            <a:r>
              <a:rPr lang="es-CO"/>
              <a:t>- public/styles.css: estilos.</a:t>
            </a:r>
          </a:p>
          <a:p>
            <a:endParaRPr lang="es-CO"/>
          </a:p>
          <a:p>
            <a:r>
              <a:rPr lang="es-CO"/>
              <a:t>Precisión: la carpeta data/ agrupa el repositorio y el archivo .db por conveniencia. Son responsabilidades diferentes (diapositiva 6).</a:t>
            </a:r>
          </a:p>
          <a:p>
            <a:endParaRPr lang="es-CO"/>
          </a:p>
          <a:p>
            <a:r>
              <a:rPr lang="es-CO"/>
              <a:t>Detalle práctico: con styles.css en public/, la ruta GET /styles.css debe leer public/styles.css. El proyecto preparado ya incluye ese cambio.</a:t>
            </a:r>
          </a:p>
          <a:p>
            <a:endParaRPr lang="es-CO"/>
          </a:p>
          <a:p>
            <a:r>
              <a:rPr lang="es-CO"/>
              <a:t>Transición: «Sigamos una solicitud real por estos archivos».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Notes Placeholder 2"/>
          <p:cNvSpPr>
            <a:spLocks noGrp="1"/>
          </p:cNvSpPr>
          <p:nvPr>
            <p:ph type="body" idx="1"/>
          </p:nvPr>
        </p:nvSpPr>
        <p:spPr/>
        <p:txBody>
          <a:bodyPr/>
          <a:lstStyle/>
          <a:p>
            <a:r>
              <a:rPr lang="es-CO"/>
              <a:t>RECORRIDO DE UNA CONSULTA GET · 4 minutos (acumulado: 32 de 120).</a:t>
            </a:r>
          </a:p>
          <a:p>
            <a:endParaRPr lang="es-CO"/>
          </a:p>
          <a:p>
            <a:r>
              <a:rPr lang="es-CO"/>
              <a:t>EJEMPLO ILUSTRATIVO del controlador. El manejo de errores con try/catch del Laboratorio 06 (respuesta 500) se conserva en el proyecto preparado y se omite aquí para leer el flujo.</a:t>
            </a:r>
          </a:p>
          <a:p>
            <a:endParaRPr lang="es-CO"/>
          </a:p>
          <a:p>
            <a:r>
              <a:rPr lang="es-CO"/>
              <a:t>Recorrido paso a paso:</a:t>
            </a:r>
          </a:p>
          <a:p>
            <a:r>
              <a:rPr lang="es-CO"/>
              <a:t>1. En /contactos, el usuario pulsa «Consultar contactos» y la página ejecuta fetch('/api/contactos').</a:t>
            </a:r>
          </a:p>
          <a:p>
            <a:r>
              <a:rPr lang="es-CO"/>
              <a:t>2. server_rutas.js recibe la solicitud y la entrega a routes/rutas.js, que reconoce GET /api/contactos.</a:t>
            </a:r>
          </a:p>
          <a:p>
            <a:r>
              <a:rPr lang="es-CO"/>
              <a:t>3. rutas.js llama a contactoController.listarApi(req, res).</a:t>
            </a:r>
          </a:p>
          <a:p>
            <a:r>
              <a:rPr lang="es-CO"/>
              <a:t>4. El controlador pide los datos al modelo con modelo.listar().</a:t>
            </a:r>
          </a:p>
          <a:p>
            <a:r>
              <a:rPr lang="es-CO"/>
              <a:t>5. El modelo los solicita al repositorio, que ejecuta listarSql.all() sobre contactos.db.</a:t>
            </a:r>
          </a:p>
          <a:p>
            <a:r>
              <a:rPr lang="es-CO"/>
              <a:t>Vuelta: el repositorio devuelve un arreglo de objetos de JavaScript; el modelo lo entrega al controlador; el controlador lo convierte en texto con JSON.stringify() y responde 200 con application/json; la página recibe el JSON y crea las filas con textContent.</a:t>
            </a:r>
          </a:p>
          <a:p>
            <a:endParaRPr lang="es-CO"/>
          </a:p>
          <a:p>
            <a:r>
              <a:rPr lang="es-CO"/>
              <a:t>Pregunta de comprensión: «Si se agrega la columna telefono a la consulta, ¿qué archivos cambian?». Respuesta: el repositorio (SELECT) y la página que muestra la tabla. El controlador no cambia.</a:t>
            </a:r>
          </a:p>
          <a:p>
            <a:endParaRPr lang="es-CO"/>
          </a:p>
          <a:p>
            <a:r>
              <a:rPr lang="es-CO"/>
              <a:t>Confusión frecuente: creer que el modelo de esta consulta «no hace nada». Hoy solo delega, pero es el lugar donde se agregarían reglas (por ejemplo, ocultar el correo a usuarios sin permiso).</a:t>
            </a:r>
          </a:p>
          <a:p>
            <a:endParaRPr lang="es-CO"/>
          </a:p>
          <a:p>
            <a:r>
              <a:rPr lang="es-CO"/>
              <a:t>Transición: «Ahora el camino de un registro, donde el modelo sí decide».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Notes Placeholder 2"/>
          <p:cNvSpPr>
            <a:spLocks noGrp="1"/>
          </p:cNvSpPr>
          <p:nvPr>
            <p:ph type="body" idx="1"/>
          </p:nvPr>
        </p:nvSpPr>
        <p:spPr/>
        <p:txBody>
          <a:bodyPr/>
          <a:lstStyle/>
          <a:p>
            <a:r>
              <a:rPr lang="es-CO"/>
              <a:t>RECORRIDO DE UN REGISTRO POST · 3 minutos (acumulado: 35 de 120). Fin del bloque de arquitectura y MVC.</a:t>
            </a:r>
          </a:p>
          <a:p>
            <a:endParaRPr lang="es-CO"/>
          </a:p>
          <a:p>
            <a:r>
              <a:rPr lang="es-CO"/>
              <a:t>EJEMPLO ILUSTRATIVO del controlador. Conserva la lectura del cuerpo del Laboratorio 05: eventos data y end, y URLSearchParams.</a:t>
            </a:r>
          </a:p>
          <a:p>
            <a:endParaRPr lang="es-CO"/>
          </a:p>
          <a:p>
            <a:r>
              <a:rPr lang="es-CO"/>
              <a:t>Recorrido:</a:t>
            </a:r>
          </a:p>
          <a:p>
            <a:r>
              <a:rPr lang="es-CO"/>
              <a:t>1. El formulario de contacto.html envía POST /contacto con nombre, correo y mensaje codificados como formulario.</a:t>
            </a:r>
          </a:p>
          <a:p>
            <a:r>
              <a:rPr lang="es-CO"/>
              <a:t>2. rutas.js reconoce la ruta y llama a contactoController.registrar(req, res).</a:t>
            </a:r>
          </a:p>
          <a:p>
            <a:r>
              <a:rPr lang="es-CO"/>
              <a:t>3. El controlador reconstruye el cuerpo y lo convierte en un objeto con Object.fromEntries(new URLSearchParams(cuerpo)).</a:t>
            </a:r>
          </a:p>
          <a:p>
            <a:r>
              <a:rPr lang="es-CO"/>
              <a:t>4. El modelo valida. Si hay errores, devuelve { ok: false, errores } y el repositorio no se usa.</a:t>
            </a:r>
          </a:p>
          <a:p>
            <a:r>
              <a:rPr lang="es-CO"/>
              <a:t>5. Si es válido, el modelo llama a repositorio.insertar() y devuelve { ok: true, id }.</a:t>
            </a:r>
          </a:p>
          <a:p>
            <a:r>
              <a:rPr lang="es-CO"/>
              <a:t>6. El controlador elige el código (201 o 400) y la vista (confirmación o error).</a:t>
            </a:r>
          </a:p>
          <a:p>
            <a:endParaRPr lang="es-CO"/>
          </a:p>
          <a:p>
            <a:r>
              <a:rPr lang="es-CO"/>
              <a:t>Términos:</a:t>
            </a:r>
          </a:p>
          <a:p>
            <a:r>
              <a:rPr lang="es-CO"/>
              <a:t>- Object.fromEntries(): construye un objeto a partir de pares clave-valor; aquí, a partir de los campos del formulario.</a:t>
            </a:r>
          </a:p>
          <a:p>
            <a:r>
              <a:rPr lang="es-CO"/>
              <a:t>- Operador condicional (condición ? a : b): elige un valor según la condición.</a:t>
            </a:r>
          </a:p>
          <a:p>
            <a:endParaRPr lang="es-CO"/>
          </a:p>
          <a:p>
            <a:r>
              <a:rPr lang="es-CO"/>
              <a:t>Seguridad básica que conviene mencionar: contactoVista.js debe escapar los caracteres especiales del nombre antes de insertarlo en HTML, para que un texto como &lt;script&gt; se muestre y no se ejecute.</a:t>
            </a:r>
          </a:p>
          <a:p>
            <a:endParaRPr lang="es-CO"/>
          </a:p>
          <a:p>
            <a:r>
              <a:rPr lang="es-CO"/>
              <a:t>Pregunta de comprensión: «Si el mensaje es inválido, ¿se ejecuta alguna instrucción SQL?». Respuesta: no; el modelo responde antes de llamar al repositorio.</a:t>
            </a:r>
          </a:p>
          <a:p>
            <a:endParaRPr lang="es-CO"/>
          </a:p>
          <a:p>
            <a:r>
              <a:rPr lang="es-CO"/>
              <a:t>Transición: «Con este mapa, pasamos al Laboratorio 07».</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Notes Placeholder 2"/>
          <p:cNvSpPr>
            <a:spLocks noGrp="1"/>
          </p:cNvSpPr>
          <p:nvPr>
            <p:ph type="body" idx="1"/>
          </p:nvPr>
        </p:nvSpPr>
        <p:spPr/>
        <p:txBody>
          <a:bodyPr/>
          <a:lstStyle/>
          <a:p>
            <a:r>
              <a:rPr lang="es-CO"/>
              <a:t>LABORATORIO 07 · PRESENTACIÓN · 5 minutos (acumulado: 40 de 120). Inicio del bloque de laboratorio (20 minutos, diapositivas 12 a 14).</a:t>
            </a:r>
          </a:p>
          <a:p>
            <a:endParaRPr lang="es-CO"/>
          </a:p>
          <a:p>
            <a:r>
              <a:rPr lang="es-CO"/>
              <a:t>Dinámica: los estudiantes trabajan con una versión PREPARADA del proyecto, que ya distribuye las responsabilidades en carpetas. No escriben la refactorización desde cero: la recorren, la entienden y hacen un cambio pequeño y verificable.</a:t>
            </a:r>
          </a:p>
          <a:p>
            <a:endParaRPr lang="es-CO"/>
          </a:p>
          <a:p>
            <a:r>
              <a:rPr lang="es-CO"/>
              <a:t>Antes de iniciar (docente):</a:t>
            </a:r>
          </a:p>
          <a:p>
            <a:r>
              <a:rPr lang="es-CO"/>
              <a:t>1. Compartir la carpeta del proyecto preparado.</a:t>
            </a:r>
          </a:p>
          <a:p>
            <a:r>
              <a:rPr lang="es-CO"/>
              <a:t>2. Verificar que data/contactos.db tenga los contactos ficticios Ana y Beatriz.</a:t>
            </a:r>
          </a:p>
          <a:p>
            <a:r>
              <a:rPr lang="es-CO"/>
              <a:t>3. Pedir que ejecuten node server_rutas.js desde la carpeta raíz del proyecto y abran http://localhost:3000.</a:t>
            </a:r>
          </a:p>
          <a:p>
            <a:r>
              <a:rPr lang="es-CO"/>
              <a:t>4. Aviso previsible: Node.js puede mostrar ExperimentalWarning al cargar node:sqlite. Es informativo y no impide la ejecución.</a:t>
            </a:r>
          </a:p>
          <a:p>
            <a:endParaRPr lang="es-CO"/>
          </a:p>
          <a:p>
            <a:r>
              <a:rPr lang="es-CO"/>
              <a:t>Indicaciones para los pasos 2 y 3: abrir los archivos en el orden del recorrido y anotar, para cada uno, una frase con su responsabilidad. Sirve como evidencia de trabajo en clase.</a:t>
            </a:r>
          </a:p>
          <a:p>
            <a:endParaRPr lang="es-CO"/>
          </a:p>
          <a:p>
            <a:r>
              <a:rPr lang="es-CO"/>
              <a:t>Resultado esperado al final:</a:t>
            </a:r>
          </a:p>
          <a:p>
            <a:r>
              <a:rPr lang="es-CO"/>
              <a:t>- POST /contacto con un mensaje de menos de 10 caracteres responde 400 y no se guarda.</a:t>
            </a:r>
          </a:p>
          <a:p>
            <a:r>
              <a:rPr lang="es-CO"/>
              <a:t>- Un registro válido responde 201 y aparece en GET /api/contactos y en la tabla de /contactos.</a:t>
            </a:r>
          </a:p>
          <a:p>
            <a:endParaRPr lang="es-CO"/>
          </a:p>
          <a:p>
            <a:r>
              <a:rPr lang="es-CO"/>
              <a:t>Pregunta de control: «¿En qué archivo debe ir la regla nueva y por qué?». Respuesta: en models/contactoModel.js, porque es una regla del dominio; no depende de HTTP ni de SQLite.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Notes Placeholder 2"/>
          <p:cNvSpPr>
            <a:spLocks noGrp="1"/>
          </p:cNvSpPr>
          <p:nvPr>
            <p:ph type="body" idx="1"/>
          </p:nvPr>
        </p:nvSpPr>
        <p:spPr/>
        <p:txBody>
          <a:bodyPr/>
          <a:lstStyle/>
          <a:p>
            <a:r>
              <a:rPr lang="es-CO"/>
              <a:t>REGLA DE VALIDACIÓN EN EL MODELO · 8 minutos (acumulado: 48 de 120).</a:t>
            </a:r>
          </a:p>
          <a:p>
            <a:endParaRPr lang="es-CO"/>
          </a:p>
          <a:p>
            <a:r>
              <a:rPr lang="es-CO"/>
              <a:t>EJEMPLO ILUSTRATIVO. Los estudiantes agregan solo las tres líneas marcadas con «NUEVA REGLA». Si el paquete del laboratorio usa otro nombre de función o otro formato de errores, conservar la idea: la regla se agrega en el modelo y el controlador no se modifica.</a:t>
            </a:r>
          </a:p>
          <a:p>
            <a:endParaRPr lang="es-CO"/>
          </a:p>
          <a:p>
            <a:r>
              <a:rPr lang="es-CO"/>
              <a:t>Lectura del código:</a:t>
            </a:r>
          </a:p>
          <a:p>
            <a:r>
              <a:rPr lang="es-CO"/>
              <a:t>- validar() recibe el objeto con nombre, correo y mensaje (desestructuración) y devuelve un arreglo de errores.</a:t>
            </a:r>
          </a:p>
          <a:p>
            <a:r>
              <a:rPr lang="es-CO"/>
              <a:t>- La condición mensaje &amp;&amp; … evita llamar trim() cuando el mensaje no existe; ese caso ya lo informa la regla de campos obligatorios.</a:t>
            </a:r>
          </a:p>
          <a:p>
            <a:r>
              <a:rPr lang="es-CO"/>
              <a:t>- trim() elimina espacios en blanco al inicio y al final. Sin trim(), «          » (diez espacios) pasaría la regla.</a:t>
            </a:r>
          </a:p>
          <a:p>
            <a:r>
              <a:rPr lang="es-CO"/>
              <a:t>- registrar() solo llama al repositorio cuando no hay errores.</a:t>
            </a:r>
          </a:p>
          <a:p>
            <a:endParaRPr lang="es-CO"/>
          </a:p>
          <a:p>
            <a:r>
              <a:rPr lang="es-CO"/>
              <a:t>Pregunta de comprensión: «¿Por qué no basta con agregar minlength="10" al textarea del formulario?». Respuesta: la validación del navegador mejora la experiencia, pero se puede omitir: otro programa (curl, Postman, un script) envía POST sin pasar por el formulario. La regla que protege los datos se aplica en el servidor. Ambas validaciones pueden coexistir.</a:t>
            </a:r>
          </a:p>
          <a:p>
            <a:endParaRPr lang="es-CO"/>
          </a:p>
          <a:p>
            <a:r>
              <a:rPr lang="es-CO"/>
              <a:t>Error probable: escribir la regla en el controlador. Funciona, pero mezcla HTTP con reglas del dominio y obliga a repetirla si mañana otra ruta (por ejemplo, POST /api/contactos) también registra contactos.</a:t>
            </a:r>
          </a:p>
          <a:p>
            <a:endParaRPr lang="es-CO"/>
          </a:p>
          <a:p>
            <a:r>
              <a:rPr lang="es-CO"/>
              <a:t>Referencia: MDN Web Docs, «Client-side form validation»: https://developer.mozilla.org/en-US/docs/Learn_web_development/Extensions/Forms/Form_validation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Notes Placeholder 2"/>
          <p:cNvSpPr>
            <a:spLocks noGrp="1"/>
          </p:cNvSpPr>
          <p:nvPr>
            <p:ph type="body" idx="1"/>
          </p:nvPr>
        </p:nvSpPr>
        <p:spPr/>
        <p:txBody>
          <a:bodyPr/>
          <a:lstStyle/>
          <a:p>
            <a:r>
              <a:rPr lang="es-CO"/>
              <a:t>COMPROBACIÓN DEL LABORATORIO 07 · 7 minutos (acumulado: 55 de 120). Fin del bloque de laboratorio.</a:t>
            </a:r>
          </a:p>
          <a:p>
            <a:endParaRPr lang="es-CO"/>
          </a:p>
          <a:p>
            <a:r>
              <a:rPr lang="es-CO"/>
              <a:t>Procedimiento:</a:t>
            </a:r>
          </a:p>
          <a:p>
            <a:r>
              <a:rPr lang="es-CO"/>
              <a:t>1. Reiniciar el servidor (Ctrl+C y node server_rutas.js) después de editar el modelo.</a:t>
            </a:r>
          </a:p>
          <a:p>
            <a:r>
              <a:rPr lang="es-CO"/>
              <a:t>2. Abrir http://localhost:3000/contacto y enviar los tres casos de la tabla.</a:t>
            </a:r>
          </a:p>
          <a:p>
            <a:r>
              <a:rPr lang="es-CO"/>
              <a:t>3. Con F12 › Red, seleccionar la solicitud POST «contacto» y leer el código de estado.</a:t>
            </a:r>
          </a:p>
          <a:p>
            <a:r>
              <a:rPr lang="es-CO"/>
              <a:t>4. Abrir http://localhost:3000/contactos y pulsar «Consultar contactos»: solo debe aparecer el registro válido.</a:t>
            </a:r>
          </a:p>
          <a:p>
            <a:r>
              <a:rPr lang="es-CO"/>
              <a:t>Si el formulario tiene minlength, el navegador bloqueará el envío del mensaje corto antes de llegar al servidor. En ese caso, usar curl para comprobar la regla del servidor. El comando curl va en una sola línea; en la diapositiva se divide por espacio. curl está incluido en Windows 10 y 11, macOS y Linux. En PowerShell se debe escribir curl.exe.</a:t>
            </a:r>
          </a:p>
          <a:p>
            <a:endParaRPr lang="es-CO"/>
          </a:p>
          <a:p>
            <a:r>
              <a:rPr lang="es-CO"/>
              <a:t>Respuestas orientadoras:</a:t>
            </a:r>
          </a:p>
          <a:p>
            <a:r>
              <a:rPr lang="es-CO"/>
              <a:t>1. Solo models/contactoModel.js. Esa es la evidencia de que la separación funciona.</a:t>
            </a:r>
          </a:p>
          <a:p>
            <a:r>
              <a:rPr lang="es-CO"/>
              <a:t>2. El repositorio se encarga de cómo guardar, no de qué es válido. Si validara, la regla quedaría atada a SQLite y se perdería al cambiar de gestor.</a:t>
            </a:r>
          </a:p>
          <a:p>
            <a:r>
              <a:rPr lang="es-CO"/>
              <a:t>3. Funcionaría para esa ruta, pero la regla quedaría mezclada con la selección de rutas y habría que repetirla en cada ruta que registre contactos.</a:t>
            </a:r>
          </a:p>
          <a:p>
            <a:endParaRPr lang="es-CO"/>
          </a:p>
          <a:p>
            <a:r>
              <a:rPr lang="es-CO"/>
              <a:t>Cierre del laboratorio: «Organizamos el código según responsabilidades. Ahora haremos otra pregunta sobre el mismo proyecto: no dónde está el código, sino qué significan los datos».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Notes Placeholder 2"/>
          <p:cNvSpPr>
            <a:spLocks noGrp="1"/>
          </p:cNvSpPr>
          <p:nvPr>
            <p:ph type="body" idx="1"/>
          </p:nvPr>
        </p:nvSpPr>
        <p:spPr/>
        <p:txBody>
          <a:bodyPr/>
          <a:lstStyle/>
          <a:p>
            <a:r>
              <a:rPr lang="es-CO"/>
              <a:t>INTRODUCCIÓN A LAS ONTOLOGÍAS · 4 minutos (acumulado: 59 de 120). Inicio del bloque de ontologías (25 minutos, diapositivas 15 a 20).</a:t>
            </a:r>
          </a:p>
          <a:p>
            <a:endParaRPr lang="es-CO"/>
          </a:p>
          <a:p>
            <a:r>
              <a:rPr lang="es-CO"/>
              <a:t>Explicación sugerida: «En informática, una ontología es una descripción formal de un dominio: qué tipos de cosas existen, cómo se relacionan y qué significan. "Formal" quiere decir que un programa puede procesarla sin ambigüedad; "compartida" quiere decir que expresa un acuerdo, no la visión de un solo programa».</a:t>
            </a:r>
          </a:p>
          <a:p>
            <a:endParaRPr lang="es-CO"/>
          </a:p>
          <a:p>
            <a:r>
              <a:rPr lang="es-CO"/>
              <a:t>Origen de la definición: Gruber (1993) definió ontología como «una especificación explícita de una conceptualización». Studer, Benjamins y Fensel (1998) agregaron los rasgos «formal» y «compartida».</a:t>
            </a:r>
          </a:p>
          <a:p>
            <a:endParaRPr lang="es-CO"/>
          </a:p>
          <a:p>
            <a:r>
              <a:rPr lang="es-CO"/>
              <a:t>Usos, con el proyecto:</a:t>
            </a:r>
          </a:p>
          <a:p>
            <a:r>
              <a:rPr lang="es-CO"/>
              <a:t>- Vocabulario común: Contacto, Solicitud y Servicio significan lo mismo para el equipo de desarrollo, para el área comercial y para otro sistema que reciba los datos.</a:t>
            </a:r>
          </a:p>
          <a:p>
            <a:r>
              <a:rPr lang="es-CO"/>
              <a:t>- Significado explícito: hoy, que «DesarrolloWeb es un tipo de Servicio» solo existe en la cabeza del programador. En una ontología queda escrito.</a:t>
            </a:r>
          </a:p>
          <a:p>
            <a:r>
              <a:rPr lang="es-CO"/>
              <a:t>- Inferencia: si paginaTienda es DesarrolloWeb y DesarrolloWeb es subclase de Servicio, se deduce que paginaTienda es un Servicio (diapositiva 19).</a:t>
            </a:r>
          </a:p>
          <a:p>
            <a:r>
              <a:rPr lang="es-CO"/>
              <a:t>- Integración: dos sistemas con tablas distintas pueden describir sus datos con el mismo vocabulario.</a:t>
            </a:r>
          </a:p>
          <a:p>
            <a:endParaRPr lang="es-CO"/>
          </a:p>
          <a:p>
            <a:r>
              <a:rPr lang="es-CO"/>
              <a:t>Precisiones obligatorias (recuadro derecho):</a:t>
            </a:r>
          </a:p>
          <a:p>
            <a:r>
              <a:rPr lang="es-CO"/>
              <a:t>- No es una base de datos: no reemplaza a SQLite ni está hecha para guardar y consultar registros de forma transaccional.</a:t>
            </a:r>
          </a:p>
          <a:p>
            <a:r>
              <a:rPr lang="es-CO"/>
              <a:t>- No es un diagrama de clases: un diagrama UML describe la estructura de un programa; una ontología se escribe en un lenguaje con semántica formal que permite deducir conclusiones.</a:t>
            </a:r>
          </a:p>
          <a:p>
            <a:r>
              <a:rPr lang="es-CO"/>
              <a:t>- No es cualquier JSON: un JSON con la clave "servicio" no dice qué es un servicio. Existen formatos JSON para RDF (JSON-LD), pero no son el tema de hoy.</a:t>
            </a:r>
          </a:p>
          <a:p>
            <a:endParaRPr lang="es-CO"/>
          </a:p>
          <a:p>
            <a:r>
              <a:rPr lang="es-CO"/>
              <a:t>Pregunta de reflexión: «¿La tabla contactos ya es una ontología?». Respuesta: no. Define columnas para almacenar; no declara qué es un Contacto ni cómo se relaciona con otros conceptos.</a:t>
            </a:r>
          </a:p>
          <a:p>
            <a:endParaRPr lang="es-CO"/>
          </a:p>
          <a:p>
            <a:r>
              <a:rPr lang="es-CO"/>
              <a:t>Referencias:</a:t>
            </a:r>
          </a:p>
          <a:p>
            <a:r>
              <a:rPr lang="es-CO"/>
              <a:t>- Gruber, T. R. (1993). A translation approach to portable ontology specifications. Knowledge Acquisition, 5(2), 199–220.</a:t>
            </a:r>
          </a:p>
          <a:p>
            <a:r>
              <a:rPr lang="es-CO"/>
              <a:t>- Studer, R., Benjamins, V. R. y Fensel, D. (1998). Knowledge engineering: principles and methods. Data &amp; Knowledge Engineering, 25(1–2), 161–197.</a:t>
            </a:r>
          </a:p>
          <a:p>
            <a:r>
              <a:rPr lang="es-CO"/>
              <a:t>- W3C, OWL 2 Web Ontology Language Primer (Second Edition, 2012): https://www.w3.org/TR/owl2-primer/</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Notes Placeholder 2"/>
          <p:cNvSpPr>
            <a:spLocks noGrp="1"/>
          </p:cNvSpPr>
          <p:nvPr>
            <p:ph type="body" idx="1"/>
          </p:nvPr>
        </p:nvSpPr>
        <p:spPr/>
        <p:txBody>
          <a:bodyPr/>
          <a:lstStyle/>
          <a:p>
            <a:r>
              <a:rPr lang="es-CO"/>
              <a:t>CLASES E INDIVIDUOS · 4 minutos (acumulado: 63 de 120).</a:t>
            </a:r>
          </a:p>
          <a:p>
            <a:endParaRPr lang="es-CO"/>
          </a:p>
          <a:p>
            <a:r>
              <a:rPr lang="es-CO"/>
              <a:t>Explicación sugerida: «Una clase agrupa individuos que comparten características; un individuo es un elemento concreto. Contacto es una clase; ana es un individuo de esa clase».</a:t>
            </a:r>
          </a:p>
          <a:p>
            <a:endParaRPr lang="es-CO"/>
          </a:p>
          <a:p>
            <a:r>
              <a:rPr lang="es-CO"/>
              <a:t>Lectura del diagrama:</a:t>
            </a:r>
          </a:p>
          <a:p>
            <a:r>
              <a:rPr lang="es-CO"/>
              <a:t>- Cada recuadro verde es una clase; cada óvalo azul es un individuo.</a:t>
            </a:r>
          </a:p>
          <a:p>
            <a:r>
              <a:rPr lang="es-CO"/>
              <a:t>- Un óvalo dentro de un recuadro significa «pertenece a»: ana pertenece a Contacto.</a:t>
            </a:r>
          </a:p>
          <a:p>
            <a:r>
              <a:rPr lang="es-CO"/>
              <a:t>- El recuadro punteado DesarrolloWeb está dentro de Servicio: anticipa la noción de subclase (diapositiva 19). paginaTienda pertenece a DesarrolloWeb y, por estar dentro, también a Servicio.</a:t>
            </a:r>
          </a:p>
          <a:p>
            <a:endParaRPr lang="es-CO"/>
          </a:p>
          <a:p>
            <a:r>
              <a:rPr lang="es-CO"/>
              <a:t>Términos:</a:t>
            </a:r>
          </a:p>
          <a:p>
            <a:r>
              <a:rPr lang="es-CO"/>
              <a:t>- Clase (en OWL, owl:Class): conjunto de individuos.</a:t>
            </a:r>
          </a:p>
          <a:p>
            <a:r>
              <a:rPr lang="es-CO"/>
              <a:t>- Individuo: recurso concreto. En OWL un individuo puede pertenecer a varias clases a la vez.</a:t>
            </a:r>
          </a:p>
          <a:p>
            <a:r>
              <a:rPr lang="es-CO"/>
              <a:t>- Pertenencia: en Turtle se escribe con «a», abreviatura de rdf:type.</a:t>
            </a:r>
          </a:p>
          <a:p>
            <a:endParaRPr lang="es-CO"/>
          </a:p>
          <a:p>
            <a:r>
              <a:rPr lang="es-CO"/>
              <a:t>Precisión: una clase de una ontología no es una clase de JavaScript ni de Java. No tiene métodos ni se instancia con new. Describe un conjunto de cosas del dominio.</a:t>
            </a:r>
          </a:p>
          <a:p>
            <a:endParaRPr lang="es-CO"/>
          </a:p>
          <a:p>
            <a:r>
              <a:rPr lang="es-CO"/>
              <a:t>Pregunta de comprensión: «¿Servicio es un individuo o una clase?». Respuesta: una clase. «¿paginaTienda?». Respuesta: un individuo: un servicio concreto que un cliente solicita.</a:t>
            </a:r>
          </a:p>
          <a:p>
            <a:endParaRPr lang="es-CO"/>
          </a:p>
          <a:p>
            <a:r>
              <a:rPr lang="es-CO"/>
              <a:t>Advertencia de modelado: los nombres de clase suelen escribirse en singular y con mayúscula inicial (Contacto); los individuos, con minúscula inicial (ana). Es una convención, no una regla del lenguaje.</a:t>
            </a:r>
          </a:p>
          <a:p>
            <a:endParaRPr lang="es-CO"/>
          </a:p>
          <a:p>
            <a:r>
              <a:rPr lang="es-CO"/>
              <a:t>Referencia: W3C, OWL 2 Web Ontology Language Primer (Second Edition, 2012): https://www.w3.org/TR/owl2-primer/ (secciones 4.1 a 4.3: clases, individuos y jerarquías de clases).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Notes Placeholder 2"/>
          <p:cNvSpPr>
            <a:spLocks noGrp="1"/>
          </p:cNvSpPr>
          <p:nvPr>
            <p:ph type="body" idx="1"/>
          </p:nvPr>
        </p:nvSpPr>
        <p:spPr/>
        <p:txBody>
          <a:bodyPr/>
          <a:lstStyle/>
          <a:p>
            <a:r>
              <a:rPr lang="es-CO"/>
              <a:t>PROPIEDADES DE OBJETO Y DE DATOS · 4 minutos (acumulado: 67 de 120).</a:t>
            </a:r>
          </a:p>
          <a:p>
            <a:endParaRPr lang="es-CO"/>
          </a:p>
          <a:p>
            <a:r>
              <a:rPr lang="es-CO"/>
              <a:t>Explicación sugerida: «Las propiedades describen relaciones. Una propiedad de objeto une dos individuos: ana realiza solicitud001. Una propiedad de datos une un individuo con un valor literal: el nombre de ana es "Ana"».</a:t>
            </a:r>
          </a:p>
          <a:p>
            <a:endParaRPr lang="es-CO"/>
          </a:p>
          <a:p>
            <a:r>
              <a:rPr lang="es-CO"/>
              <a:t>Términos:</a:t>
            </a:r>
          </a:p>
          <a:p>
            <a:r>
              <a:rPr lang="es-CO"/>
              <a:t>- Propiedad de objeto (owl:ObjectProperty): relación entre individuos.</a:t>
            </a:r>
          </a:p>
          <a:p>
            <a:r>
              <a:rPr lang="es-CO"/>
              <a:t>- Propiedad de datos (owl:DatatypeProperty): relación entre un individuo y un literal (texto, número, fecha).</a:t>
            </a:r>
          </a:p>
          <a:p>
            <a:r>
              <a:rPr lang="es-CO"/>
              <a:t>- Literal: valor como "Ana" o "2026-10-05". En el diagrama, rectángulos amarillos.</a:t>
            </a:r>
          </a:p>
          <a:p>
            <a:r>
              <a:rPr lang="es-CO"/>
              <a:t>- Dominio (rdfs:domain): clase a la que pertenece el sujeto de la propiedad.</a:t>
            </a:r>
          </a:p>
          <a:p>
            <a:r>
              <a:rPr lang="es-CO"/>
              <a:t>- Rango (rdfs:range): clase o tipo de dato al que pertenece el valor.</a:t>
            </a:r>
          </a:p>
          <a:p>
            <a:r>
              <a:rPr lang="es-CO"/>
              <a:t>La propiedad fecha de la solicitud es un ejemplo adicional; no se usa en el laboratorio.</a:t>
            </a:r>
          </a:p>
          <a:p>
            <a:endParaRPr lang="es-CO"/>
          </a:p>
          <a:p>
            <a:r>
              <a:rPr lang="es-CO"/>
              <a:t>Precisión obligatoria (tarjeta amarilla): en RDFS y OWL, dominio y rango sirven para INFERIR, no para VALIDAR. Si alguien escribe sw:paginaTienda sw:realiza sw:solicitud001, un razonador no rechaza la afirmación: concluye que paginaTienda también es un Contacto. Ese resultado extraño revela un error de modelado, pero no hay un mensaje de error como el 400 del Laboratorio 07. La validación de datos RDF se hace con otras tecnologías (por ejemplo, SHACL), que no son parte de esta sesión.</a:t>
            </a:r>
          </a:p>
          <a:p>
            <a:endParaRPr lang="es-CO"/>
          </a:p>
          <a:p>
            <a:r>
              <a:rPr lang="es-CO"/>
              <a:t>Pregunta de comprensión: «¿correo es una propiedad de objeto o de datos?». Respuesta: de datos, porque su valor es un texto. Pregunta adicional: «¿Y si en lugar de texto el correo apuntara a un individuo que representa la cuenta de correo?». Respuesta: entonces sería de objeto. La elección depende del modelado.</a:t>
            </a:r>
          </a:p>
          <a:p>
            <a:endParaRPr lang="es-CO"/>
          </a:p>
          <a:p>
            <a:r>
              <a:rPr lang="es-CO"/>
              <a:t>Referencias:</a:t>
            </a:r>
          </a:p>
          <a:p>
            <a:r>
              <a:rPr lang="es-CO"/>
              <a:t>- W3C, RDF Schema 1.1 (2014): https://www.w3.org/TR/rdf-schema/ (secciones rdfs:domain y rdfs:range).</a:t>
            </a:r>
          </a:p>
          <a:p>
            <a:r>
              <a:rPr lang="es-CO"/>
              <a:t>- W3C, OWL 2 Web Ontology Language Primer (Second Edition, 2012): https://www.w3.org/TR/owl2-primer/ (sección 4.4: propiedades de objeto y de datos).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Notes Placeholder 2"/>
          <p:cNvSpPr>
            <a:spLocks noGrp="1"/>
          </p:cNvSpPr>
          <p:nvPr>
            <p:ph type="body" idx="1"/>
          </p:nvPr>
        </p:nvSpPr>
        <p:spPr/>
        <p:txBody>
          <a:bodyPr/>
          <a:lstStyle/>
          <a:p>
            <a:r>
              <a:rPr lang="es-CO"/>
              <a:t>AFIRMACIONES RDF Y LECTURA DE TURTLE · 5 minutos (acumulado: 72 de 120).</a:t>
            </a:r>
          </a:p>
          <a:p>
            <a:endParaRPr lang="es-CO"/>
          </a:p>
          <a:p>
            <a:r>
              <a:rPr lang="es-CO"/>
              <a:t>Explicación sugerida: «RDF representa la información como afirmaciones de tres partes: sujeto, predicado y objeto. Cada afirmación se llama tripleta. Un conjunto de tripletas forma un grafo: los sujetos y objetos son nodos y los predicados son arcos».</a:t>
            </a:r>
          </a:p>
          <a:p>
            <a:endParaRPr lang="es-CO"/>
          </a:p>
          <a:p>
            <a:r>
              <a:rPr lang="es-CO"/>
              <a:t>Solo lo necesario de cada estándar del W3C:</a:t>
            </a:r>
          </a:p>
          <a:p>
            <a:r>
              <a:rPr lang="es-CO"/>
              <a:t>- RDF: modelo de datos. Identifica recursos con IRI (identificadores globales como http://example.org/soporte-web#ana).</a:t>
            </a:r>
          </a:p>
          <a:p>
            <a:r>
              <a:rPr lang="es-CO"/>
              <a:t>- RDFS (RDF Schema): agrega rdfs:Class, rdfs:subClassOf, rdfs:domain y rdfs:range.</a:t>
            </a:r>
          </a:p>
          <a:p>
            <a:r>
              <a:rPr lang="es-CO"/>
              <a:t>- OWL: agrega, entre otras cosas, owl:Class, owl:ObjectProperty y owl:DatatypeProperty.</a:t>
            </a:r>
          </a:p>
          <a:p>
            <a:r>
              <a:rPr lang="es-CO"/>
              <a:t>- Turtle: una de varias sintaxis para escribir RDF. Es texto plano y legible.</a:t>
            </a:r>
          </a:p>
          <a:p>
            <a:endParaRPr lang="es-CO"/>
          </a:p>
          <a:p>
            <a:r>
              <a:rPr lang="es-CO"/>
              <a:t>Lectura del archivo ana.ttl (recuadro derecho):</a:t>
            </a:r>
          </a:p>
          <a:p>
            <a:r>
              <a:rPr lang="es-CO"/>
              <a:t>- @prefix sw: &lt;…&gt; . define que «sw:ana» significa «http://example.org/soporte-web#ana». El dominio example.org está reservado para ejemplos.</a:t>
            </a:r>
          </a:p>
          <a:p>
            <a:r>
              <a:rPr lang="es-CO"/>
              <a:t>- «a» es la abreviatura de rdf:type: «ana es un Contacto».</a:t>
            </a:r>
          </a:p>
          <a:p>
            <a:r>
              <a:rPr lang="es-CO"/>
              <a:t>- El punto y coma «;» indica que la siguiente afirmación tiene el mismo sujeto.</a:t>
            </a:r>
          </a:p>
          <a:p>
            <a:r>
              <a:rPr lang="es-CO"/>
              <a:t>- El punto final «.» cierra la descripción del sujeto.</a:t>
            </a:r>
          </a:p>
          <a:p>
            <a:r>
              <a:rPr lang="es-CO"/>
              <a:t>- Los textos entre comillas son literales.</a:t>
            </a:r>
          </a:p>
          <a:p>
            <a:r>
              <a:rPr lang="es-CO"/>
              <a:t>Las cuatro líneas de Turtle equivalen a las cuatro tripletas de la tabla.</a:t>
            </a:r>
          </a:p>
          <a:p>
            <a:endParaRPr lang="es-CO"/>
          </a:p>
          <a:p>
            <a:r>
              <a:rPr lang="es-CO"/>
              <a:t>Pregunta de comprensión: «¿Cuántas afirmaciones hay en el bloque de ana?». Respuesta: cuatro. «¿Cuál de ellas usa una propiedad de objeto?». Respuesta: sw:realiza sw:solicitud001.</a:t>
            </a:r>
          </a:p>
          <a:p>
            <a:endParaRPr lang="es-CO"/>
          </a:p>
          <a:p>
            <a:r>
              <a:rPr lang="es-CO"/>
              <a:t>Error frecuente al escribir Turtle: olvidar el punto final o poner punto donde va punto y coma. El archivo deja de ser válido.</a:t>
            </a:r>
          </a:p>
          <a:p>
            <a:endParaRPr lang="es-CO"/>
          </a:p>
          <a:p>
            <a:r>
              <a:rPr lang="es-CO"/>
              <a:t>Referencias:</a:t>
            </a:r>
          </a:p>
          <a:p>
            <a:r>
              <a:rPr lang="es-CO"/>
              <a:t>- W3C, RDF 1.1 Concepts and Abstract Syntax (2014): https://www.w3.org/TR/rdf11-concepts/</a:t>
            </a:r>
          </a:p>
          <a:p>
            <a:r>
              <a:rPr lang="es-CO"/>
              <a:t>- W3C, RDF 1.1 Turtle (2014): https://www.w3.org/TR/turtle/</a:t>
            </a:r>
          </a:p>
          <a:p>
            <a:r>
              <a:rPr lang="es-CO"/>
              <a:t>- W3C, RDF Schema 1.1 (2014): https://www.w3.org/TR/rdf-schema/</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Notes Placeholder 2"/>
          <p:cNvSpPr>
            <a:spLocks noGrp="1"/>
          </p:cNvSpPr>
          <p:nvPr>
            <p:ph type="body" idx="1"/>
          </p:nvPr>
        </p:nvSpPr>
        <p:spPr/>
        <p:txBody>
          <a:bodyPr/>
          <a:lstStyle/>
          <a:p>
            <a:r>
              <a:rPr lang="es-CO"/>
              <a:t>SUBCLASES E INFERENCIA · 4 minutos (acumulado: 76 de 120).</a:t>
            </a:r>
          </a:p>
          <a:p>
            <a:endParaRPr lang="es-CO"/>
          </a:p>
          <a:p>
            <a:r>
              <a:rPr lang="es-CO"/>
              <a:t>Explicación sugerida: «Una subclase es una clase más específica. Decir que DesarrolloWeb es subclase de Servicio significa que todo desarrollo web es un servicio. No significa que todo servicio sea un desarrollo web».</a:t>
            </a:r>
          </a:p>
          <a:p>
            <a:endParaRPr lang="es-CO"/>
          </a:p>
          <a:p>
            <a:r>
              <a:rPr lang="es-CO"/>
              <a:t>Inferencia paso a paso:</a:t>
            </a:r>
          </a:p>
          <a:p>
            <a:r>
              <a:rPr lang="es-CO"/>
              <a:t>1. Afirmado: sw:DesarrolloWeb rdfs:subClassOf sw:Servicio .</a:t>
            </a:r>
          </a:p>
          <a:p>
            <a:r>
              <a:rPr lang="es-CO"/>
              <a:t>2. Afirmado: sw:paginaTienda a sw:DesarrolloWeb .</a:t>
            </a:r>
          </a:p>
          <a:p>
            <a:r>
              <a:rPr lang="es-CO"/>
              <a:t>3. Inferido: sw:paginaTienda a sw:Servicio .</a:t>
            </a:r>
          </a:p>
          <a:p>
            <a:r>
              <a:rPr lang="es-CO"/>
              <a:t>La conclusión se sigue del significado de rdfs:subClassOf definido por el W3C. En la semántica de RDF 1.1 corresponde a la regla de implicación rdfs9: si una clase es subclase de otra y un recurso pertenece a la primera, también pertenece a la segunda.</a:t>
            </a:r>
          </a:p>
          <a:p>
            <a:endParaRPr lang="es-CO"/>
          </a:p>
          <a:p>
            <a:r>
              <a:rPr lang="es-CO"/>
              <a:t>Precisiones:</a:t>
            </a:r>
          </a:p>
          <a:p>
            <a:r>
              <a:rPr lang="es-CO"/>
              <a:t>- La afirmación inferida no se escribió en el archivo. Un razonador o una herramienta compatible con RDFS la obtiene. En esta sesión se hace a mano; las herramientas se trabajan en sesiones posteriores.</a:t>
            </a:r>
          </a:p>
          <a:p>
            <a:r>
              <a:rPr lang="es-CO"/>
              <a:t>- La inferencia no modifica contactos.db ni el código de la aplicación.</a:t>
            </a:r>
          </a:p>
          <a:p>
            <a:r>
              <a:rPr lang="es-CO"/>
              <a:t>- La subclase es transitiva: si en el futuro DesarrolloWeb tuviera una subclase TiendaVirtual, sus individuos también serían Servicio.</a:t>
            </a:r>
          </a:p>
          <a:p>
            <a:endParaRPr lang="es-CO"/>
          </a:p>
          <a:p>
            <a:r>
              <a:rPr lang="es-CO"/>
              <a:t>Pregunta de comprensión: «Si se consulta qué individuos son Servicio, ¿aparece paginaTienda?». Respuesta: sí, cuando la consulta tiene en cuenta la inferencia, aunque nadie escribió «paginaTienda a Servicio».</a:t>
            </a:r>
          </a:p>
          <a:p>
            <a:endParaRPr lang="es-CO"/>
          </a:p>
          <a:p>
            <a:r>
              <a:rPr lang="es-CO"/>
              <a:t>Pregunta de reflexión: «¿Cómo se lograría lo mismo con SQLite?». Respuesta: habría que programarlo: una columna tipo con valores y una consulta que sepa que «desarrollo» y «mantenimiento» cuentan como servicio. El conocimiento quedaría en el código o en la consulta, no declarado.</a:t>
            </a:r>
          </a:p>
          <a:p>
            <a:endParaRPr lang="es-CO"/>
          </a:p>
          <a:p>
            <a:r>
              <a:rPr lang="es-CO"/>
              <a:t>Referencias:</a:t>
            </a:r>
          </a:p>
          <a:p>
            <a:r>
              <a:rPr lang="es-CO"/>
              <a:t>- W3C, RDF Schema 1.1 (2014): https://www.w3.org/TR/rdf-schema/ (rdfs:subClassOf).</a:t>
            </a:r>
          </a:p>
          <a:p>
            <a:r>
              <a:rPr lang="es-CO"/>
              <a:t>- W3C, RDF 1.1 Semantics (2014), regla rdfs9: https://www.w3.org/TR/rdf11-mt/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Notes Placeholder 2"/>
          <p:cNvSpPr>
            <a:spLocks noGrp="1"/>
          </p:cNvSpPr>
          <p:nvPr>
            <p:ph type="body" idx="1"/>
          </p:nvPr>
        </p:nvSpPr>
        <p:spPr/>
        <p:txBody>
          <a:bodyPr/>
          <a:lstStyle/>
          <a:p>
            <a:r>
              <a:rPr lang="es-CO"/>
              <a:t>EJEMPLO DE ONTOLOGÍA DEL PROYECTO · 4 minutos (acumulado: 80 de 120). Fin del bloque de ontologías.</a:t>
            </a:r>
          </a:p>
          <a:p>
            <a:endParaRPr lang="es-CO"/>
          </a:p>
          <a:p>
            <a:r>
              <a:rPr lang="es-CO"/>
              <a:t>EJEMPLO ILUSTRATIVO del archivo ontologia_soporte.ttl que se entrega al inicio del Laboratorio 08. Ambos recuadros pertenecen al mismo archivo; se muestran separados por espacio.</a:t>
            </a:r>
          </a:p>
          <a:p>
            <a:endParaRPr lang="es-CO"/>
          </a:p>
          <a:p>
            <a:r>
              <a:rPr lang="es-CO"/>
              <a:t>Recorrido del vocabulario (izquierda):</a:t>
            </a:r>
          </a:p>
          <a:p>
            <a:r>
              <a:rPr lang="es-CO"/>
              <a:t>- Cuatro prefijos: sw (el vocabulario del proyecto), owl, rdfs y xsd (tipos de datos de XML Schema, como xsd:string).</a:t>
            </a:r>
          </a:p>
          <a:p>
            <a:r>
              <a:rPr lang="es-CO"/>
              <a:t>- Cuatro clases. DesarrolloWeb se declara como clase y como subclase de Servicio en la misma descripción (separadas por punto y coma).</a:t>
            </a:r>
          </a:p>
          <a:p>
            <a:r>
              <a:rPr lang="es-CO"/>
              <a:t>- Dos propiedades de objeto (realiza, solicita) y dos de datos (nombre, correo), con su dominio y su rango.</a:t>
            </a:r>
          </a:p>
          <a:p>
            <a:endParaRPr lang="es-CO"/>
          </a:p>
          <a:p>
            <a:r>
              <a:rPr lang="es-CO"/>
              <a:t>Recorrido de los individuos (derecha), que corresponde al ejemplo del enunciado:</a:t>
            </a:r>
          </a:p>
          <a:p>
            <a:r>
              <a:rPr lang="es-CO"/>
              <a:t>- Ana realiza solicitud001.</a:t>
            </a:r>
          </a:p>
          <a:p>
            <a:r>
              <a:rPr lang="es-CO"/>
              <a:t>- solicitud001 solicita paginaTienda.</a:t>
            </a:r>
          </a:p>
          <a:p>
            <a:r>
              <a:rPr lang="es-CO"/>
              <a:t>- paginaTienda pertenece a DesarrolloWeb.</a:t>
            </a:r>
          </a:p>
          <a:p>
            <a:endParaRPr lang="es-CO"/>
          </a:p>
          <a:p>
            <a:r>
              <a:rPr lang="es-CO"/>
              <a:t>Aclaración importante: las clases Solicitud y Servicio son una AMPLIACIÓN CONCEPTUAL del ejercicio. En el Laboratorio 06 solo existe la tabla contactos; no existen tablas de solicitudes ni de servicios. La ontología describe el dominio del sitio Soporte Web (que ofrece servicios en su página «Servicios»), más allá de lo que hoy guarda la base de datos.</a:t>
            </a:r>
          </a:p>
          <a:p>
            <a:endParaRPr lang="es-CO"/>
          </a:p>
          <a:p>
            <a:r>
              <a:rPr lang="es-CO"/>
              <a:t>Pregunta de comprensión: «¿Qué afirmación permitiría concluir que paginaTienda es un Servicio?». Respuesta: sw:DesarrolloWeb rdfs:subClassOf sw:Servicio, junto con sw:paginaTienda a sw:DesarrolloWeb.</a:t>
            </a:r>
          </a:p>
          <a:p>
            <a:endParaRPr lang="es-CO"/>
          </a:p>
          <a:p>
            <a:r>
              <a:rPr lang="es-CO"/>
              <a:t>Transición: «En el Laboratorio 08 ampliarán esta ontología».</a:t>
            </a:r>
          </a:p>
          <a:p>
            <a:endParaRPr lang="es-CO"/>
          </a:p>
          <a:p>
            <a:r>
              <a:rPr lang="es-CO"/>
              <a:t>Referencias:</a:t>
            </a:r>
          </a:p>
          <a:p>
            <a:r>
              <a:rPr lang="es-CO"/>
              <a:t>- W3C, RDF 1.1 Turtle (2014): https://www.w3.org/TR/turtle/</a:t>
            </a:r>
          </a:p>
          <a:p>
            <a:r>
              <a:rPr lang="es-CO"/>
              <a:t>- W3C, OWL 2 Web Ontology Language Primer (Second Edition, 2012): https://www.w3.org/TR/owl2-primer/</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Notes Placeholder 2"/>
          <p:cNvSpPr>
            <a:spLocks noGrp="1"/>
          </p:cNvSpPr>
          <p:nvPr>
            <p:ph type="body" idx="1"/>
          </p:nvPr>
        </p:nvSpPr>
        <p:spPr/>
        <p:txBody>
          <a:bodyPr/>
          <a:lstStyle/>
          <a:p>
            <a:r>
              <a:rPr lang="es-CO"/>
              <a:t>LABORATORIO 08 · ACTIVIDAD · 23 minutos (acumulado: 103 de 120). Pasos 1 a 6. El paso 7 se explica en la diapositiva 22.</a:t>
            </a:r>
          </a:p>
          <a:p>
            <a:endParaRPr lang="es-CO"/>
          </a:p>
          <a:p>
            <a:r>
              <a:rPr lang="es-CO"/>
              <a:t>Dinámica: trabajo individual o en parejas sobre el archivo ontologia_soporte.ttl de la diapositiva 20. Se edita con cualquier editor de texto. No se instala software adicional; las herramientas de ingeniería ontológica se presentan en sesiones posteriores.</a:t>
            </a:r>
          </a:p>
          <a:p>
            <a:endParaRPr lang="es-CO"/>
          </a:p>
          <a:p>
            <a:r>
              <a:rPr lang="es-CO"/>
              <a:t>Solución de referencia (pasos 2 a 6):</a:t>
            </a:r>
          </a:p>
          <a:p>
            <a:endParaRPr lang="es-CO"/>
          </a:p>
          <a:p>
            <a:r>
              <a:rPr lang="es-CO"/>
              <a:t>    sw:MantenimientoWeb a owl:Class ;</a:t>
            </a:r>
          </a:p>
          <a:p>
            <a:r>
              <a:rPr lang="es-CO"/>
              <a:t>        rdfs:subClassOf sw:Servicio .</a:t>
            </a:r>
          </a:p>
          <a:p>
            <a:endParaRPr lang="es-CO"/>
          </a:p>
          <a:p>
            <a:r>
              <a:rPr lang="es-CO"/>
              <a:t>    sw:beatriz a sw:Contacto ;</a:t>
            </a:r>
          </a:p>
          <a:p>
            <a:r>
              <a:rPr lang="es-CO"/>
              <a:t>        sw:nombre "Beatriz" ;</a:t>
            </a:r>
          </a:p>
          <a:p>
            <a:r>
              <a:rPr lang="es-CO"/>
              <a:t>        sw:correo "beatriz@example.com" ;</a:t>
            </a:r>
          </a:p>
          <a:p>
            <a:r>
              <a:rPr lang="es-CO"/>
              <a:t>        sw:realiza sw:solicitud002 .</a:t>
            </a:r>
          </a:p>
          <a:p>
            <a:endParaRPr lang="es-CO"/>
          </a:p>
          <a:p>
            <a:r>
              <a:rPr lang="es-CO"/>
              <a:t>    sw:solicitud002 a sw:Solicitud ;</a:t>
            </a:r>
          </a:p>
          <a:p>
            <a:r>
              <a:rPr lang="es-CO"/>
              <a:t>        sw:solicita sw:actualizacionSitio .</a:t>
            </a:r>
          </a:p>
          <a:p>
            <a:endParaRPr lang="es-CO"/>
          </a:p>
          <a:p>
            <a:r>
              <a:rPr lang="es-CO"/>
              <a:t>    sw:actualizacionSitio a sw:MantenimientoWeb .</a:t>
            </a:r>
          </a:p>
          <a:p>
            <a:endParaRPr lang="es-CO"/>
          </a:p>
          <a:p>
            <a:r>
              <a:rPr lang="es-CO"/>
              <a:t>Inferencia esperada (paso 6): sw:actualizacionSitio a sw:Servicio . Se obtiene de sw:MantenimientoWeb rdfs:subClassOf sw:Servicio y sw:actualizacionSitio a sw:MantenimientoWeb.</a:t>
            </a:r>
          </a:p>
          <a:p>
            <a:endParaRPr lang="es-CO"/>
          </a:p>
          <a:p>
            <a:r>
              <a:rPr lang="es-CO"/>
              <a:t>Criterios de revisión:</a:t>
            </a:r>
          </a:p>
          <a:p>
            <a:r>
              <a:rPr lang="es-CO"/>
              <a:t>- Todos los nombres usan el prefijo sw: declarado.</a:t>
            </a:r>
          </a:p>
          <a:p>
            <a:r>
              <a:rPr lang="es-CO"/>
              <a:t>- Cada descripción termina en punto; las afirmaciones del mismo sujeto se separan con punto y coma.</a:t>
            </a:r>
          </a:p>
          <a:p>
            <a:r>
              <a:rPr lang="es-CO"/>
              <a:t>- MantenimientoWeb es subclase de Servicio, no un individuo.</a:t>
            </a:r>
          </a:p>
          <a:p>
            <a:r>
              <a:rPr lang="es-CO"/>
              <a:t>- realiza une un Contacto con una Solicitud; solicita une una Solicitud con un Servicio, según el dominio y el rango declarados.</a:t>
            </a:r>
          </a:p>
          <a:p>
            <a:endParaRPr lang="es-CO"/>
          </a:p>
          <a:p>
            <a:r>
              <a:rPr lang="es-CO"/>
              <a:t>Errores frecuentes:</a:t>
            </a:r>
          </a:p>
          <a:p>
            <a:r>
              <a:rPr lang="es-CO"/>
              <a:t>- Escribir sw:MantenimientoWeb a sw:Servicio . Eso convierte a MantenimientoWeb en un individuo de Servicio, no en una subclase.</a:t>
            </a:r>
          </a:p>
          <a:p>
            <a:r>
              <a:rPr lang="es-CO"/>
              <a:t>- Olvidar el punto final de la última descripción.</a:t>
            </a:r>
          </a:p>
          <a:p>
            <a:r>
              <a:rPr lang="es-CO"/>
              <a:t>- Usar comillas en un recurso (sw:realiza "solicitud002"): eso crea un literal, no un vínculo con el individuo.</a:t>
            </a:r>
          </a:p>
          <a:p>
            <a:endParaRPr lang="es-CO"/>
          </a:p>
          <a:p>
            <a:r>
              <a:rPr lang="es-CO"/>
              <a:t>Pregunta de control: «¿Por qué beatriz es un individuo y MantenimientoWeb una clase?». Respuesta: beatriz es una persona concreta; MantenimientoWeb agrupa todos los servicios de mantenimiento.</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Notes Placeholder 2"/>
          <p:cNvSpPr>
            <a:spLocks noGrp="1"/>
          </p:cNvSpPr>
          <p:nvPr>
            <p:ph type="body" idx="1"/>
          </p:nvPr>
        </p:nvSpPr>
        <p:spPr/>
        <p:txBody>
          <a:bodyPr/>
          <a:lstStyle/>
          <a:p>
            <a:r>
              <a:rPr lang="es-CO"/>
              <a:t>EXPORTACIÓN DE SQLITE A TURTLE · 7 minutos (acumulado: 110 de 120). Paso 7 del Laboratorio 08. Fin del bloque de laboratorio (30 minutos).</a:t>
            </a:r>
          </a:p>
          <a:p>
            <a:endParaRPr lang="es-CO"/>
          </a:p>
          <a:p>
            <a:r>
              <a:rPr lang="es-CO"/>
              <a:t>EJEMPLO ILUSTRATIVO. Si el paquete del laboratorio incluye su propio exportador, usar sus nombres reales.</a:t>
            </a:r>
          </a:p>
          <a:p>
            <a:endParaRPr lang="es-CO"/>
          </a:p>
          <a:p>
            <a:r>
              <a:rPr lang="es-CO"/>
              <a:t>Ejecución (desde la carpeta raíz del proyecto, porque las rutas son relativas a ella):</a:t>
            </a:r>
          </a:p>
          <a:p>
            <a:r>
              <a:rPr lang="es-CO"/>
              <a:t>    node scripts/exportar_turtle.js</a:t>
            </a:r>
          </a:p>
          <a:p>
            <a:r>
              <a:rPr lang="es-CO"/>
              <a:t>Después, abrir data/contactos.ttl en el editor.</a:t>
            </a:r>
          </a:p>
          <a:p>
            <a:endParaRPr lang="es-CO"/>
          </a:p>
          <a:p>
            <a:r>
              <a:rPr lang="es-CO"/>
              <a:t>Lectura del código:</a:t>
            </a:r>
          </a:p>
          <a:p>
            <a:r>
              <a:rPr lang="es-CO"/>
              <a:t>- Usa el mismo módulo node:sqlite de los laboratorios 06 y 07.</a:t>
            </a:r>
          </a:p>
          <a:p>
            <a:r>
              <a:rPr lang="es-CO"/>
              <a:t>- El SELECT lee id, nombre y correo. El mensaje no se exporta porque la ontología del ejemplo no define una propiedad para él.</a:t>
            </a:r>
          </a:p>
          <a:p>
            <a:r>
              <a:rPr lang="es-CO"/>
              <a:t>- lit(v) convierte un valor en literal de Turtle. JSON.stringify() agrega comillas dobles y escapa comillas internas, barras invertidas y saltos de línea; esas secuencias de escape también son válidas en Turtle.</a:t>
            </a:r>
          </a:p>
          <a:p>
            <a:r>
              <a:rPr lang="es-CO"/>
              <a:t>- El IRI de cada contacto se construye con el id: sw:contacto1, sw:contacto2…</a:t>
            </a:r>
          </a:p>
          <a:p>
            <a:r>
              <a:rPr lang="es-CO"/>
              <a:t>- writeFileSync escribe el archivo; db.close() cierra la conexión.</a:t>
            </a:r>
          </a:p>
          <a:p>
            <a:endParaRPr lang="es-CO"/>
          </a:p>
          <a:p>
            <a:r>
              <a:rPr lang="es-CO"/>
              <a:t>Precisiones obligatorias:</a:t>
            </a:r>
          </a:p>
          <a:p>
            <a:r>
              <a:rPr lang="es-CO"/>
              <a:t>- El exportador LEE los datos. No modifica contactos.db ni la reemplaza: la aplicación sigue usando SQLite.</a:t>
            </a:r>
          </a:p>
          <a:p>
            <a:r>
              <a:rPr lang="es-CO"/>
              <a:t>- El exportador no ejecuta un razonador OWL. Solo produce texto. Las inferencias se discuten aparte.</a:t>
            </a:r>
          </a:p>
          <a:p>
            <a:r>
              <a:rPr lang="es-CO"/>
              <a:t>- La tabla del Laboratorio 06 solo tiene contactos. Las solicitudes y los servicios se escriben a mano en la ontología; no salen de la base de datos.</a:t>
            </a:r>
          </a:p>
          <a:p>
            <a:endParaRPr lang="es-CO"/>
          </a:p>
          <a:p>
            <a:r>
              <a:rPr lang="es-CO"/>
              <a:t>Pregunta de reflexión (anticipa sesiones posteriores): «sw:contacto1 y sw:ana, ¿son el mismo individuo?». Respuesta: para una persona, sí; para RDF son dos IRI distintos y no hay ninguna afirmación que los relacione. Decidir cuándo dos recursos representan lo mismo forma parte del emparejamiento ontológico, que se estudia más adelante.</a:t>
            </a:r>
          </a:p>
          <a:p>
            <a:endParaRPr lang="es-CO"/>
          </a:p>
          <a:p>
            <a:r>
              <a:rPr lang="es-CO"/>
              <a:t>Referencia: Node.js v24, «SQLite»: https://nodejs.org/docs/latest-v24.x/api/sqlite.html; W3C, RDF 1.1 Turtle (2014): https://www.w3.org/TR/turtle/ (sección de literales y secuencias de escape).</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Notes Placeholder 2"/>
          <p:cNvSpPr>
            <a:spLocks noGrp="1"/>
          </p:cNvSpPr>
          <p:nvPr>
            <p:ph type="body" idx="1"/>
          </p:nvPr>
        </p:nvSpPr>
        <p:spPr/>
        <p:txBody>
          <a:bodyPr/>
          <a:lstStyle/>
          <a:p>
            <a:r>
              <a:rPr lang="es-CO"/>
              <a:t>COMPARACIÓN Y PREGUNTAS DE CIERRE · 6 minutos (acumulado: 116 de 120). Bloque de cierre (10 minutos).</a:t>
            </a:r>
          </a:p>
          <a:p>
            <a:endParaRPr lang="es-CO"/>
          </a:p>
          <a:p>
            <a:r>
              <a:rPr lang="es-CO"/>
              <a:t>Lectura de la tabla: los tres enfoques describen los mismos contactos con propósitos diferentes. Ninguno reemplaza a los otros:</a:t>
            </a:r>
          </a:p>
          <a:p>
            <a:r>
              <a:rPr lang="es-CO"/>
              <a:t>- SQLite almacena y consulta de forma eficiente.</a:t>
            </a:r>
          </a:p>
          <a:p>
            <a:r>
              <a:rPr lang="es-CO"/>
              <a:t>- JSON transporta los datos entre el servidor y la página.</a:t>
            </a:r>
          </a:p>
          <a:p>
            <a:r>
              <a:rPr lang="es-CO"/>
              <a:t>- La ontología declara qué significa cada concepto y permite deducir hechos.</a:t>
            </a:r>
          </a:p>
          <a:p>
            <a:endParaRPr lang="es-CO"/>
          </a:p>
          <a:p>
            <a:r>
              <a:rPr lang="es-CO"/>
              <a:t>Respuestas orientadoras:</a:t>
            </a:r>
          </a:p>
          <a:p>
            <a:r>
              <a:rPr lang="es-CO"/>
              <a:t>1. La regla de 10 caracteres controla qué datos acepta la aplicación; es una validación del sistema. La ontología describe el dominio y, como se vio, dominio y rango no rechazan datos. Además, la regla depende de una decisión de la aplicación, no del significado de «Contacto».</a:t>
            </a:r>
          </a:p>
          <a:p>
            <a:r>
              <a:rPr lang="es-CO"/>
              <a:t>2. No. Son dos IRI diferentes y no hay una afirmación que los relacione. Una persona sabe que se refieren a Ana; un programa no. Este problema se retoma con la reutilización y el emparejamiento de ontologías.</a:t>
            </a:r>
          </a:p>
          <a:p>
            <a:r>
              <a:rPr lang="es-CO"/>
              <a:t>3. No. MVC organiza el código de la aplicación; la ontología describe el dominio. Agregar una clase a la ontología no cambia las rutas, el controlador ni la base de datos. Si en el futuro la aplicación leyera la ontología para mostrar los tipos de servicio, entonces sí habría código que adaptar.</a:t>
            </a:r>
          </a:p>
          <a:p>
            <a:endParaRPr lang="es-CO"/>
          </a:p>
          <a:p>
            <a:r>
              <a:rPr lang="es-CO"/>
              <a:t>Idea de cierre: «El primer bloque respondió dónde va cada parte del código. El segundo respondió qué significa cada dato. Un proyecto web profesional necesita ambas respuestas».</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Notes Placeholder 2"/>
          <p:cNvSpPr>
            <a:spLocks noGrp="1"/>
          </p:cNvSpPr>
          <p:nvPr>
            <p:ph type="body" idx="1"/>
          </p:nvPr>
        </p:nvSpPr>
        <p:spPr/>
        <p:txBody>
          <a:bodyPr/>
          <a:lstStyle/>
          <a:p>
            <a:r>
              <a:rPr lang="es-CO"/>
              <a:t>CONCLUSIONES, SIGUIENTE TEMA Y REFERENCIAS · 4 minutos (acumulado: 120 de 120).</a:t>
            </a:r>
          </a:p>
          <a:p>
            <a:endParaRPr lang="es-CO"/>
          </a:p>
          <a:p>
            <a:r>
              <a:rPr lang="es-CO"/>
              <a:t>Conclusiones en voz alta:</a:t>
            </a:r>
          </a:p>
          <a:p>
            <a:r>
              <a:rPr lang="es-CO"/>
              <a:t>1. La arquitectura en capas separa presentación, lógica de negocio y acceso a datos. Tener varias capas lógicas no exige varios servidores.</a:t>
            </a:r>
          </a:p>
          <a:p>
            <a:r>
              <a:rPr lang="es-CO"/>
              <a:t>2. MVC reparte los papeles al atender una solicitud: el controlador coordina, el modelo aplica reglas y maneja datos, la vista presenta. Se combina con las capas sin una correspondencia exacta.</a:t>
            </a:r>
          </a:p>
          <a:p>
            <a:r>
              <a:rPr lang="es-CO"/>
              <a:t>3. Una ontología hace explícito el significado de la información con clases, individuos, propiedades de objeto y de datos, y subclases.</a:t>
            </a:r>
          </a:p>
          <a:p>
            <a:r>
              <a:rPr lang="es-CO"/>
              <a:t>4. RDF expresa afirmaciones; RDFS y OWL aportan el vocabulario; Turtle es la sintaxis que usamos. La subclase permite una inferencia sencilla.</a:t>
            </a:r>
          </a:p>
          <a:p>
            <a:endParaRPr lang="es-CO"/>
          </a:p>
          <a:p>
            <a:r>
              <a:rPr lang="es-CO"/>
              <a:t>Siguiente sesión (según el programa del curso de la UCC): fundamentos de ingeniería ontológica y metodología NeOn, comenzando por la especificación de requisitos de la ontología. Después: reutilización de recursos de conocimiento, evaluación, emparejamiento ontológico y herramientas.</a:t>
            </a:r>
          </a:p>
          <a:p>
            <a:endParaRPr lang="es-CO"/>
          </a:p>
          <a:p>
            <a:r>
              <a:rPr lang="es-CO"/>
              <a:t>Trabajo independiente sugerido: terminar el Laboratorio 08 si quedó incompleto y escribir tres preguntas que la ontología de Soporte Web debería poder responder (por ejemplo, «¿qué servicios de mantenimiento se han solicitado?»). Esas preguntas sirven como insumo para la especificación de requisitos de la próxima sesión.</a:t>
            </a:r>
          </a:p>
          <a:p>
            <a:endParaRPr lang="es-CO"/>
          </a:p>
          <a:p>
            <a:r>
              <a:rPr lang="es-CO"/>
              <a:t>Referencias con enlace:</a:t>
            </a:r>
          </a:p>
          <a:p>
            <a:r>
              <a:rPr lang="es-CO"/>
              <a:t>- Microsoft Learn, «Common web application architectures»: https://learn.microsoft.com/dotnet/architecture/modern-web-apps-azure/common-web-application-architectures</a:t>
            </a:r>
          </a:p>
          <a:p>
            <a:r>
              <a:rPr lang="es-CO"/>
              <a:t>- Microsoft Learn, «N-tier architecture style»: https://learn.microsoft.com/azure/architecture/guide/architecture-styles/n-tier</a:t>
            </a:r>
          </a:p>
          <a:p>
            <a:r>
              <a:rPr lang="es-CO"/>
              <a:t>- Microsoft Learn, «Overview of ASP.NET Core MVC»: https://learn.microsoft.com/aspnet/core/mvc/overview</a:t>
            </a:r>
          </a:p>
          <a:p>
            <a:r>
              <a:rPr lang="es-CO"/>
              <a:t>- MDN Web Docs, glosario «MVC»: https://developer.mozilla.org/en-US/docs/Glossary/MVC</a:t>
            </a:r>
          </a:p>
          <a:p>
            <a:r>
              <a:rPr lang="es-CO"/>
              <a:t>- MDN Web Docs, «Client-side form validation»: https://developer.mozilla.org/en-US/docs/Learn_web_development/Extensions/Forms/Form_validation</a:t>
            </a:r>
          </a:p>
          <a:p>
            <a:r>
              <a:rPr lang="es-CO"/>
              <a:t>- Node.js v24, «SQLite»: https://nodejs.org/docs/latest-v24.x/api/sqlite.html</a:t>
            </a:r>
          </a:p>
          <a:p>
            <a:r>
              <a:rPr lang="es-CO"/>
              <a:t>- W3C, RDF 1.1 Concepts and Abstract Syntax (2014): https://www.w3.org/TR/rdf11-concepts/</a:t>
            </a:r>
          </a:p>
          <a:p>
            <a:r>
              <a:rPr lang="es-CO"/>
              <a:t>- W3C, RDF Schema 1.1 (2014): https://www.w3.org/TR/rdf-schema/</a:t>
            </a:r>
          </a:p>
          <a:p>
            <a:r>
              <a:rPr lang="es-CO"/>
              <a:t>- W3C, RDF 1.1 Semantics (2014), regla rdfs9: https://www.w3.org/TR/rdf11-mt/</a:t>
            </a:r>
          </a:p>
          <a:p>
            <a:r>
              <a:rPr lang="es-CO"/>
              <a:t>- W3C, RDF 1.1 Turtle (2014): https://www.w3.org/TR/turtle/</a:t>
            </a:r>
          </a:p>
          <a:p>
            <a:r>
              <a:rPr lang="es-CO"/>
              <a:t>- W3C, OWL 2 Web Ontology Language Primer (Second Edition, 2012): https://www.w3.org/TR/owl2-primer/</a:t>
            </a:r>
          </a:p>
          <a:p>
            <a:r>
              <a:rPr lang="es-CO"/>
              <a:t>- Gruber, T. R. (1993). A translation approach to portable ontology specifications. Knowledge Acquisition, 5(2), 199–220. https://doi.org/10.1006/knac.1993.1008</a:t>
            </a:r>
          </a:p>
          <a:p>
            <a:r>
              <a:rPr lang="es-CO"/>
              <a:t>- Studer, R., Benjamins, V. R. y Fensel, D. (1998). Knowledge engineering: principles and methods. Data &amp; Knowledge Engineering, 25(1–2), 161–197. https://doi.org/10.1016/S0169-023X(97)00056-6</a:t>
            </a:r>
          </a:p>
          <a:p>
            <a:r>
              <a:rPr lang="es-CO"/>
              <a:t>- Bibliografía del programa del curso: García, F. J. Web semántica y ontologías. Guzmán Luna, J. A., López Bonilla, M. y Torres, I. D. Metodologías y métodos para la construcción de ontologías.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101B"/>
        </a:solidFill>
        <a:effectLst/>
      </p:bgPr>
    </p:bg>
    <p:spTree>
      <p:nvGrpSpPr>
        <p:cNvPr id="1" name=""/>
        <p:cNvGrpSpPr/>
        <p:nvPr/>
      </p:nvGrpSpPr>
      <p:grpSpPr>
        <a:xfrm>
          <a:off x="0" y="0"/>
          <a:ext cx="0" cy="0"/>
          <a:chOff x="0" y="0"/>
          <a:chExt cx="0" cy="0"/>
        </a:xfrm>
      </p:grpSpPr>
      <p:sp>
        <p:nvSpPr>
          <p:cNvPr id="2" name="TextBox 1"/>
          <p:cNvSpPr txBox="1"/>
          <p:nvPr/>
        </p:nvSpPr>
        <p:spPr>
          <a:xfrm>
            <a:off x="6309360" y="4718304"/>
            <a:ext cx="2331720" cy="201168"/>
          </a:xfrm>
          <a:prstGeom prst="rect">
            <a:avLst/>
          </a:prstGeom>
          <a:noFill/>
        </p:spPr>
        <p:txBody>
          <a:bodyPr wrap="square" lIns="0" tIns="0" rIns="0" bIns="0" anchor="ctr">
            <a:spAutoFit/>
          </a:bodyPr>
          <a:lstStyle/>
          <a:p>
            <a:pPr algn="r"/>
            <a:r>
              <a:rPr lang="es-CO" sz="800" b="0" i="0">
                <a:solidFill>
                  <a:srgbClr val="6C7E96"/>
                </a:solidFill>
                <a:latin typeface="Arial"/>
              </a:rPr>
              <a:t>Ingeniería Web  ·  01 / 24</a:t>
            </a:r>
          </a:p>
        </p:txBody>
      </p:sp>
      <p:cxnSp>
        <p:nvCxnSpPr>
          <p:cNvPr id="3" name="Connector 2"/>
          <p:cNvCxnSpPr/>
          <p:nvPr/>
        </p:nvCxnSpPr>
        <p:spPr>
          <a:xfrm>
            <a:off x="6537960" y="1143000"/>
            <a:ext cx="1097280" cy="640080"/>
          </a:xfrm>
          <a:prstGeom prst="line">
            <a:avLst/>
          </a:prstGeom>
          <a:ln w="12700">
            <a:solidFill>
              <a:srgbClr val="1E334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7635240" y="1783080"/>
            <a:ext cx="0" cy="1005840"/>
          </a:xfrm>
          <a:prstGeom prst="line">
            <a:avLst/>
          </a:prstGeom>
          <a:ln w="12700">
            <a:solidFill>
              <a:srgbClr val="1E334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6903720" y="2788920"/>
            <a:ext cx="731520" cy="640080"/>
          </a:xfrm>
          <a:prstGeom prst="line">
            <a:avLst/>
          </a:prstGeom>
          <a:ln w="12700">
            <a:solidFill>
              <a:srgbClr val="1E334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903720" y="3429000"/>
            <a:ext cx="1188720" cy="0"/>
          </a:xfrm>
          <a:prstGeom prst="line">
            <a:avLst/>
          </a:prstGeom>
          <a:ln w="12700">
            <a:solidFill>
              <a:srgbClr val="1E334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8092440" y="3429000"/>
            <a:ext cx="0" cy="548640"/>
          </a:xfrm>
          <a:prstGeom prst="line">
            <a:avLst/>
          </a:prstGeom>
          <a:ln w="12700">
            <a:solidFill>
              <a:srgbClr val="1E3346"/>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6483096" y="1088136"/>
            <a:ext cx="109728" cy="109728"/>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7580376" y="1728216"/>
            <a:ext cx="109728" cy="109728"/>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7580376" y="2734056"/>
            <a:ext cx="109728" cy="109728"/>
          </a:xfrm>
          <a:prstGeom prst="ellipse">
            <a:avLst/>
          </a:prstGeom>
          <a:solidFill>
            <a:srgbClr val="56C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6848856" y="3374136"/>
            <a:ext cx="109728" cy="109728"/>
          </a:xfrm>
          <a:prstGeom prst="ellipse">
            <a:avLst/>
          </a:prstGeom>
          <a:solidFill>
            <a:srgbClr val="56C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8037576" y="3374136"/>
            <a:ext cx="109728" cy="109728"/>
          </a:xfrm>
          <a:prstGeom prst="ellipse">
            <a:avLst/>
          </a:prstGeom>
          <a:solidFill>
            <a:srgbClr val="56C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8037576" y="3922776"/>
            <a:ext cx="109728" cy="109728"/>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ounded Rectangle 13"/>
          <p:cNvSpPr/>
          <p:nvPr/>
        </p:nvSpPr>
        <p:spPr>
          <a:xfrm>
            <a:off x="502920" y="868680"/>
            <a:ext cx="1728216" cy="228600"/>
          </a:xfrm>
          <a:prstGeom prst="roundRect">
            <a:avLst>
              <a:gd name="adj" fmla="val 50000"/>
            </a:avLst>
          </a:prstGeom>
          <a:solidFill>
            <a:srgbClr val="132A24"/>
          </a:solidFill>
          <a:ln w="952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02920" y="868680"/>
            <a:ext cx="1728216" cy="228600"/>
          </a:xfrm>
          <a:prstGeom prst="rect">
            <a:avLst/>
          </a:prstGeom>
          <a:noFill/>
        </p:spPr>
        <p:txBody>
          <a:bodyPr wrap="square" lIns="0" tIns="0" rIns="0" bIns="0" anchor="ctr">
            <a:spAutoFit/>
          </a:bodyPr>
          <a:lstStyle/>
          <a:p>
            <a:pPr algn="ctr"/>
            <a:r>
              <a:rPr lang="es-CO" sz="850" b="1" i="0">
                <a:solidFill>
                  <a:srgbClr val="3DDC97"/>
                </a:solidFill>
                <a:latin typeface="Arial"/>
              </a:rPr>
              <a:t>INGENIERÍA WEB</a:t>
            </a:r>
          </a:p>
        </p:txBody>
      </p:sp>
      <p:sp>
        <p:nvSpPr>
          <p:cNvPr id="16" name="TextBox 15"/>
          <p:cNvSpPr txBox="1"/>
          <p:nvPr/>
        </p:nvSpPr>
        <p:spPr>
          <a:xfrm>
            <a:off x="475488" y="1188720"/>
            <a:ext cx="5760720" cy="960120"/>
          </a:xfrm>
          <a:prstGeom prst="rect">
            <a:avLst/>
          </a:prstGeom>
          <a:noFill/>
        </p:spPr>
        <p:txBody>
          <a:bodyPr wrap="square" lIns="0" tIns="0" rIns="0" bIns="0" anchor="t">
            <a:spAutoFit/>
          </a:bodyPr>
          <a:lstStyle/>
          <a:p>
            <a:pPr algn="l"/>
            <a:r>
              <a:rPr lang="es-CO" sz="3200" b="1" i="0">
                <a:solidFill>
                  <a:srgbClr val="FFFFFF"/>
                </a:solidFill>
                <a:latin typeface="Arial"/>
              </a:rPr>
              <a:t>Arquitectura web e introducción a las ontologías</a:t>
            </a:r>
          </a:p>
        </p:txBody>
      </p:sp>
      <p:sp>
        <p:nvSpPr>
          <p:cNvPr id="17" name="TextBox 16"/>
          <p:cNvSpPr txBox="1"/>
          <p:nvPr/>
        </p:nvSpPr>
        <p:spPr>
          <a:xfrm>
            <a:off x="475488" y="2194560"/>
            <a:ext cx="5669280" cy="502920"/>
          </a:xfrm>
          <a:prstGeom prst="rect">
            <a:avLst/>
          </a:prstGeom>
          <a:noFill/>
        </p:spPr>
        <p:txBody>
          <a:bodyPr wrap="square" lIns="0" tIns="0" rIns="0" bIns="0" anchor="t">
            <a:spAutoFit/>
          </a:bodyPr>
          <a:lstStyle/>
          <a:p>
            <a:pPr algn="l"/>
            <a:r>
              <a:rPr lang="es-CO" sz="1500" b="1" i="0">
                <a:solidFill>
                  <a:srgbClr val="3DDC97"/>
                </a:solidFill>
                <a:latin typeface="Arial"/>
              </a:rPr>
              <a:t>Organización en capas, Modelo–Vista–Controlador y representación del conocimiento</a:t>
            </a:r>
          </a:p>
        </p:txBody>
      </p:sp>
      <p:sp>
        <p:nvSpPr>
          <p:cNvPr id="18" name="TextBox 17"/>
          <p:cNvSpPr txBox="1"/>
          <p:nvPr/>
        </p:nvSpPr>
        <p:spPr>
          <a:xfrm>
            <a:off x="475488" y="2761488"/>
            <a:ext cx="5760720" cy="237744"/>
          </a:xfrm>
          <a:prstGeom prst="rect">
            <a:avLst/>
          </a:prstGeom>
          <a:noFill/>
        </p:spPr>
        <p:txBody>
          <a:bodyPr wrap="square" lIns="0" tIns="0" rIns="0" bIns="0" anchor="t">
            <a:spAutoFit/>
          </a:bodyPr>
          <a:lstStyle/>
          <a:p>
            <a:pPr algn="l"/>
            <a:r>
              <a:rPr lang="es-CO" sz="1250" b="0" i="0">
                <a:solidFill>
                  <a:srgbClr val="E8EEF6"/>
                </a:solidFill>
                <a:latin typeface="Calibri"/>
              </a:rPr>
              <a:t>Continuación del proyecto «Soporte Web» · Laboratorios 07 y 08</a:t>
            </a:r>
          </a:p>
        </p:txBody>
      </p:sp>
      <p:sp>
        <p:nvSpPr>
          <p:cNvPr id="19" name="TextBox 18"/>
          <p:cNvSpPr txBox="1"/>
          <p:nvPr/>
        </p:nvSpPr>
        <p:spPr>
          <a:xfrm>
            <a:off x="475488" y="3054096"/>
            <a:ext cx="5760720" cy="658368"/>
          </a:xfrm>
          <a:prstGeom prst="rect">
            <a:avLst/>
          </a:prstGeom>
          <a:noFill/>
        </p:spPr>
        <p:txBody>
          <a:bodyPr wrap="square" lIns="0" tIns="0" rIns="0" bIns="0" anchor="t">
            <a:spAutoFit/>
          </a:bodyPr>
          <a:lstStyle/>
          <a:p>
            <a:pPr algn="l"/>
            <a:r>
              <a:rPr lang="es-CO" sz="1200" b="1" i="0">
                <a:solidFill>
                  <a:srgbClr val="E8EEF6"/>
                </a:solidFill>
                <a:latin typeface="Calibri"/>
              </a:rPr>
              <a:t>Luis Miguel Gómez Meneses</a:t>
            </a:r>
          </a:p>
          <a:p>
            <a:pPr algn="l"/>
            <a:r>
              <a:rPr lang="es-CO" sz="1200" b="1" i="0">
                <a:solidFill>
                  <a:srgbClr val="E8EEF6"/>
                </a:solidFill>
                <a:latin typeface="Calibri"/>
              </a:rPr>
              <a:t>Programa de Ingeniería de Software · Semestre VIII</a:t>
            </a:r>
          </a:p>
          <a:p>
            <a:pPr algn="l"/>
            <a:r>
              <a:rPr lang="es-CO" sz="1200" b="1" i="0">
                <a:solidFill>
                  <a:srgbClr val="E8EEF6"/>
                </a:solidFill>
                <a:latin typeface="Calibri"/>
              </a:rPr>
              <a:t>Universidad Cooperativa de Colombia</a:t>
            </a:r>
          </a:p>
        </p:txBody>
      </p:sp>
      <p:sp>
        <p:nvSpPr>
          <p:cNvPr id="20" name="Rounded Rectangle 19"/>
          <p:cNvSpPr/>
          <p:nvPr/>
        </p:nvSpPr>
        <p:spPr>
          <a:xfrm>
            <a:off x="502920" y="3822192"/>
            <a:ext cx="4160520" cy="658368"/>
          </a:xfrm>
          <a:prstGeom prst="roundRect">
            <a:avLst>
              <a:gd name="adj" fmla="val 8000"/>
            </a:avLst>
          </a:prstGeom>
          <a:solidFill>
            <a:srgbClr val="070C1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49224" y="3877056"/>
            <a:ext cx="3886200" cy="548640"/>
          </a:xfrm>
          <a:prstGeom prst="rect">
            <a:avLst/>
          </a:prstGeom>
          <a:noFill/>
        </p:spPr>
        <p:txBody>
          <a:bodyPr wrap="square" lIns="0" tIns="0" rIns="0" bIns="0" anchor="ctr">
            <a:spAutoFit/>
          </a:bodyPr>
          <a:lstStyle/>
          <a:p>
            <a:pPr algn="l">
              <a:spcAft>
                <a:spcPts val="300"/>
              </a:spcAft>
            </a:pPr>
            <a:r>
              <a:rPr lang="es-CO" sz="1000" b="0" i="0">
                <a:solidFill>
                  <a:srgbClr val="56C7F2"/>
                </a:solidFill>
                <a:latin typeface="Courier New"/>
              </a:rPr>
              <a:t>rutas → controlador → modelo → repositorio</a:t>
            </a:r>
          </a:p>
          <a:p>
            <a:pPr algn="l">
              <a:spcAft>
                <a:spcPts val="300"/>
              </a:spcAft>
            </a:pPr>
            <a:r>
              <a:rPr lang="es-CO" sz="1000" b="0" i="0">
                <a:solidFill>
                  <a:srgbClr val="3DDC97"/>
                </a:solidFill>
                <a:latin typeface="Courier New"/>
              </a:rPr>
              <a:t>sw:paginaTienda a sw:DesarrolloWeb .</a:t>
            </a:r>
          </a:p>
        </p:txBody>
      </p:sp>
      <p:sp>
        <p:nvSpPr>
          <p:cNvPr id="22" name="TextBox 21"/>
          <p:cNvSpPr txBox="1"/>
          <p:nvPr/>
        </p:nvSpPr>
        <p:spPr>
          <a:xfrm>
            <a:off x="4800600" y="3822192"/>
            <a:ext cx="3840480" cy="658368"/>
          </a:xfrm>
          <a:prstGeom prst="rect">
            <a:avLst/>
          </a:prstGeom>
          <a:noFill/>
        </p:spPr>
        <p:txBody>
          <a:bodyPr wrap="square" lIns="0" tIns="0" rIns="0" bIns="0" anchor="ctr">
            <a:spAutoFit/>
          </a:bodyPr>
          <a:lstStyle/>
          <a:p>
            <a:pPr algn="l">
              <a:spcAft>
                <a:spcPts val="300"/>
              </a:spcAft>
            </a:pPr>
            <a:r>
              <a:rPr lang="es-CO" sz="850" b="0" i="0">
                <a:solidFill>
                  <a:srgbClr val="93A5BD"/>
                </a:solidFill>
                <a:latin typeface="Courier New"/>
              </a:rPr>
              <a:t>capas: cómo se organiza el código</a:t>
            </a:r>
          </a:p>
          <a:p>
            <a:pPr algn="l">
              <a:spcAft>
                <a:spcPts val="300"/>
              </a:spcAft>
            </a:pPr>
            <a:r>
              <a:rPr lang="es-CO" sz="850" b="0" i="0">
                <a:solidFill>
                  <a:srgbClr val="93A5BD"/>
                </a:solidFill>
                <a:latin typeface="Courier New"/>
              </a:rPr>
              <a:t>ontología: qué significan los datos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101B"/>
        </a:solidFill>
        <a:effectLst/>
      </p:bgPr>
    </p:bg>
    <p:spTree>
      <p:nvGrpSpPr>
        <p:cNvPr id="1" name=""/>
        <p:cNvGrpSpPr/>
        <p:nvPr/>
      </p:nvGrpSpPr>
      <p:grpSpPr>
        <a:xfrm>
          <a:off x="0" y="0"/>
          <a:ext cx="0" cy="0"/>
          <a:chOff x="0" y="0"/>
          <a:chExt cx="0" cy="0"/>
        </a:xfrm>
      </p:grpSpPr>
      <p:sp>
        <p:nvSpPr>
          <p:cNvPr id="2" name="TextBox 1"/>
          <p:cNvSpPr txBox="1"/>
          <p:nvPr/>
        </p:nvSpPr>
        <p:spPr>
          <a:xfrm>
            <a:off x="6309360" y="4741944"/>
            <a:ext cx="2331720" cy="153888"/>
          </a:xfrm>
          <a:prstGeom prst="rect">
            <a:avLst/>
          </a:prstGeom>
          <a:noFill/>
        </p:spPr>
        <p:txBody>
          <a:bodyPr wrap="square" lIns="0" tIns="0" rIns="0" bIns="0" anchor="ctr">
            <a:spAutoFit/>
          </a:bodyPr>
          <a:lstStyle/>
          <a:p>
            <a:pPr algn="r"/>
            <a:r>
              <a:rPr lang="es-CO" sz="1000" b="0" i="0">
                <a:solidFill>
                  <a:srgbClr val="6C7E96"/>
                </a:solidFill>
                <a:latin typeface="Arial"/>
              </a:rPr>
              <a:t>Ingeniería Web  ·  02 / 24</a:t>
            </a:r>
          </a:p>
        </p:txBody>
      </p:sp>
      <p:sp>
        <p:nvSpPr>
          <p:cNvPr id="3" name="Rounded Rectangle 2"/>
          <p:cNvSpPr/>
          <p:nvPr/>
        </p:nvSpPr>
        <p:spPr>
          <a:xfrm>
            <a:off x="502920" y="365760"/>
            <a:ext cx="1243584" cy="228600"/>
          </a:xfrm>
          <a:prstGeom prst="roundRect">
            <a:avLst>
              <a:gd name="adj" fmla="val 50000"/>
            </a:avLst>
          </a:prstGeom>
          <a:solidFill>
            <a:srgbClr val="132A24"/>
          </a:solidFill>
          <a:ln w="952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502920" y="365760"/>
            <a:ext cx="1243584" cy="228600"/>
          </a:xfrm>
          <a:prstGeom prst="rect">
            <a:avLst/>
          </a:prstGeom>
          <a:noFill/>
        </p:spPr>
        <p:txBody>
          <a:bodyPr wrap="square" lIns="0" tIns="0" rIns="0" bIns="0" anchor="ctr">
            <a:spAutoFit/>
          </a:bodyPr>
          <a:lstStyle/>
          <a:p>
            <a:pPr algn="ctr"/>
            <a:r>
              <a:rPr lang="es-CO" sz="850" b="1" i="0">
                <a:solidFill>
                  <a:srgbClr val="3DDC97"/>
                </a:solidFill>
                <a:latin typeface="Arial"/>
              </a:rPr>
              <a:t>OBJETIVOS</a:t>
            </a:r>
          </a:p>
        </p:txBody>
      </p:sp>
      <p:sp>
        <p:nvSpPr>
          <p:cNvPr id="5" name="Título"/>
          <p:cNvSpPr txBox="1"/>
          <p:nvPr/>
        </p:nvSpPr>
        <p:spPr>
          <a:xfrm>
            <a:off x="475488" y="658368"/>
            <a:ext cx="8138160" cy="438912"/>
          </a:xfrm>
          <a:prstGeom prst="rect">
            <a:avLst/>
          </a:prstGeom>
          <a:noFill/>
        </p:spPr>
        <p:txBody>
          <a:bodyPr wrap="square" lIns="0" tIns="0" rIns="0" bIns="0" anchor="ctr">
            <a:spAutoFit/>
          </a:bodyPr>
          <a:lstStyle/>
          <a:p>
            <a:pPr algn="l"/>
            <a:r>
              <a:rPr lang="es-CO" sz="2600" b="1" i="0">
                <a:solidFill>
                  <a:srgbClr val="FFFFFF"/>
                </a:solidFill>
                <a:latin typeface="Arial"/>
              </a:rPr>
              <a:t>Objetivos y agenda de la sesión</a:t>
            </a:r>
          </a:p>
        </p:txBody>
      </p:sp>
      <p:sp>
        <p:nvSpPr>
          <p:cNvPr id="6" name="TextBox 5"/>
          <p:cNvSpPr txBox="1"/>
          <p:nvPr/>
        </p:nvSpPr>
        <p:spPr>
          <a:xfrm>
            <a:off x="475488" y="1131513"/>
            <a:ext cx="8138160" cy="169277"/>
          </a:xfrm>
          <a:prstGeom prst="rect">
            <a:avLst/>
          </a:prstGeom>
          <a:noFill/>
        </p:spPr>
        <p:txBody>
          <a:bodyPr wrap="square" lIns="0" tIns="0" rIns="0" bIns="0" anchor="ctr">
            <a:spAutoFit/>
          </a:bodyPr>
          <a:lstStyle/>
          <a:p>
            <a:pPr algn="l"/>
            <a:r>
              <a:rPr lang="es-CO" sz="1100" b="0" i="0">
                <a:solidFill>
                  <a:srgbClr val="93A5BD"/>
                </a:solidFill>
                <a:latin typeface="Calibri"/>
              </a:rPr>
              <a:t>Al finalizar la sesión, el estudiante podrá:</a:t>
            </a:r>
          </a:p>
        </p:txBody>
      </p:sp>
      <p:sp>
        <p:nvSpPr>
          <p:cNvPr id="7" name="Rounded Rectangle 6"/>
          <p:cNvSpPr/>
          <p:nvPr/>
        </p:nvSpPr>
        <p:spPr>
          <a:xfrm>
            <a:off x="502920" y="1417320"/>
            <a:ext cx="3931920" cy="914400"/>
          </a:xfrm>
          <a:prstGeom prst="roundRect">
            <a:avLst>
              <a:gd name="adj" fmla="val 8000"/>
            </a:avLst>
          </a:prstGeom>
          <a:solidFill>
            <a:srgbClr val="1A243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8" name="Rounded Rectangle 7"/>
          <p:cNvSpPr/>
          <p:nvPr/>
        </p:nvSpPr>
        <p:spPr>
          <a:xfrm>
            <a:off x="704088" y="1673352"/>
            <a:ext cx="402336" cy="402336"/>
          </a:xfrm>
          <a:prstGeom prst="roundRect">
            <a:avLst>
              <a:gd name="adj" fmla="val 13333"/>
            </a:avLst>
          </a:prstGeom>
          <a:solidFill>
            <a:srgbClr val="132A2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9" name="TextBox 8"/>
          <p:cNvSpPr txBox="1"/>
          <p:nvPr/>
        </p:nvSpPr>
        <p:spPr>
          <a:xfrm>
            <a:off x="704088" y="1789881"/>
            <a:ext cx="402336" cy="169277"/>
          </a:xfrm>
          <a:prstGeom prst="rect">
            <a:avLst/>
          </a:prstGeom>
          <a:noFill/>
        </p:spPr>
        <p:txBody>
          <a:bodyPr wrap="square" lIns="0" tIns="0" rIns="0" bIns="0" anchor="ctr">
            <a:spAutoFit/>
          </a:bodyPr>
          <a:lstStyle/>
          <a:p>
            <a:pPr algn="ctr"/>
            <a:r>
              <a:rPr lang="es-CO" sz="1100" b="1" i="0">
                <a:solidFill>
                  <a:srgbClr val="3DDC97"/>
                </a:solidFill>
                <a:latin typeface="Arial"/>
              </a:rPr>
              <a:t>01</a:t>
            </a:r>
          </a:p>
        </p:txBody>
      </p:sp>
      <p:sp>
        <p:nvSpPr>
          <p:cNvPr id="10" name="TextBox 9"/>
          <p:cNvSpPr txBox="1"/>
          <p:nvPr/>
        </p:nvSpPr>
        <p:spPr>
          <a:xfrm>
            <a:off x="1271016" y="1705243"/>
            <a:ext cx="3017520" cy="338554"/>
          </a:xfrm>
          <a:prstGeom prst="rect">
            <a:avLst/>
          </a:prstGeom>
          <a:noFill/>
        </p:spPr>
        <p:txBody>
          <a:bodyPr wrap="square" lIns="0" tIns="0" rIns="0" bIns="0" anchor="ctr">
            <a:spAutoFit/>
          </a:bodyPr>
          <a:lstStyle/>
          <a:p>
            <a:pPr algn="l"/>
            <a:r>
              <a:rPr lang="es-CO" sz="1100" b="0" i="0">
                <a:solidFill>
                  <a:srgbClr val="E8EEF6"/>
                </a:solidFill>
                <a:latin typeface="Calibri"/>
              </a:rPr>
              <a:t>Distinguir presentación, lógica de negocio y acceso a datos en el proyecto de contactos.</a:t>
            </a:r>
          </a:p>
        </p:txBody>
      </p:sp>
      <p:sp>
        <p:nvSpPr>
          <p:cNvPr id="11" name="Rounded Rectangle 10"/>
          <p:cNvSpPr/>
          <p:nvPr/>
        </p:nvSpPr>
        <p:spPr>
          <a:xfrm>
            <a:off x="4709160" y="1417320"/>
            <a:ext cx="3931920" cy="914400"/>
          </a:xfrm>
          <a:prstGeom prst="roundRect">
            <a:avLst>
              <a:gd name="adj" fmla="val 8000"/>
            </a:avLst>
          </a:prstGeom>
          <a:solidFill>
            <a:srgbClr val="1A243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12" name="Rounded Rectangle 11"/>
          <p:cNvSpPr/>
          <p:nvPr/>
        </p:nvSpPr>
        <p:spPr>
          <a:xfrm>
            <a:off x="4910328" y="1673352"/>
            <a:ext cx="402336" cy="402336"/>
          </a:xfrm>
          <a:prstGeom prst="roundRect">
            <a:avLst>
              <a:gd name="adj" fmla="val 13333"/>
            </a:avLst>
          </a:prstGeom>
          <a:solidFill>
            <a:srgbClr val="132A2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13" name="TextBox 12"/>
          <p:cNvSpPr txBox="1"/>
          <p:nvPr/>
        </p:nvSpPr>
        <p:spPr>
          <a:xfrm>
            <a:off x="4910328" y="1789881"/>
            <a:ext cx="402336" cy="169277"/>
          </a:xfrm>
          <a:prstGeom prst="rect">
            <a:avLst/>
          </a:prstGeom>
          <a:noFill/>
        </p:spPr>
        <p:txBody>
          <a:bodyPr wrap="square" lIns="0" tIns="0" rIns="0" bIns="0" anchor="ctr">
            <a:spAutoFit/>
          </a:bodyPr>
          <a:lstStyle/>
          <a:p>
            <a:pPr algn="ctr"/>
            <a:r>
              <a:rPr lang="es-CO" sz="1100" b="1" i="0">
                <a:solidFill>
                  <a:srgbClr val="3DDC97"/>
                </a:solidFill>
                <a:latin typeface="Arial"/>
              </a:rPr>
              <a:t>02</a:t>
            </a:r>
          </a:p>
        </p:txBody>
      </p:sp>
      <p:sp>
        <p:nvSpPr>
          <p:cNvPr id="14" name="TextBox 13"/>
          <p:cNvSpPr txBox="1"/>
          <p:nvPr/>
        </p:nvSpPr>
        <p:spPr>
          <a:xfrm>
            <a:off x="5477256" y="1705243"/>
            <a:ext cx="3017520" cy="338554"/>
          </a:xfrm>
          <a:prstGeom prst="rect">
            <a:avLst/>
          </a:prstGeom>
          <a:noFill/>
        </p:spPr>
        <p:txBody>
          <a:bodyPr wrap="square" lIns="0" tIns="0" rIns="0" bIns="0" anchor="ctr">
            <a:spAutoFit/>
          </a:bodyPr>
          <a:lstStyle/>
          <a:p>
            <a:pPr algn="l"/>
            <a:r>
              <a:rPr lang="es-CO" sz="1100" b="0" i="0">
                <a:solidFill>
                  <a:srgbClr val="E8EEF6"/>
                </a:solidFill>
                <a:latin typeface="Calibri"/>
              </a:rPr>
              <a:t>Explicar Modelo, Vista y Controlador y su relación con la arquitectura en capas.</a:t>
            </a:r>
          </a:p>
        </p:txBody>
      </p:sp>
      <p:sp>
        <p:nvSpPr>
          <p:cNvPr id="15" name="Rounded Rectangle 14"/>
          <p:cNvSpPr/>
          <p:nvPr/>
        </p:nvSpPr>
        <p:spPr>
          <a:xfrm>
            <a:off x="502920" y="2487168"/>
            <a:ext cx="3931920" cy="914400"/>
          </a:xfrm>
          <a:prstGeom prst="roundRect">
            <a:avLst>
              <a:gd name="adj" fmla="val 8000"/>
            </a:avLst>
          </a:prstGeom>
          <a:solidFill>
            <a:srgbClr val="1A243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16" name="Rounded Rectangle 15"/>
          <p:cNvSpPr/>
          <p:nvPr/>
        </p:nvSpPr>
        <p:spPr>
          <a:xfrm>
            <a:off x="704088" y="2743200"/>
            <a:ext cx="402336" cy="402336"/>
          </a:xfrm>
          <a:prstGeom prst="roundRect">
            <a:avLst>
              <a:gd name="adj" fmla="val 13333"/>
            </a:avLst>
          </a:prstGeom>
          <a:solidFill>
            <a:srgbClr val="0F2533"/>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17" name="TextBox 16"/>
          <p:cNvSpPr txBox="1"/>
          <p:nvPr/>
        </p:nvSpPr>
        <p:spPr>
          <a:xfrm>
            <a:off x="704088" y="2859729"/>
            <a:ext cx="402336" cy="169277"/>
          </a:xfrm>
          <a:prstGeom prst="rect">
            <a:avLst/>
          </a:prstGeom>
          <a:noFill/>
        </p:spPr>
        <p:txBody>
          <a:bodyPr wrap="square" lIns="0" tIns="0" rIns="0" bIns="0" anchor="ctr">
            <a:spAutoFit/>
          </a:bodyPr>
          <a:lstStyle/>
          <a:p>
            <a:pPr algn="ctr"/>
            <a:r>
              <a:rPr lang="es-CO" sz="1100" b="1" i="0">
                <a:solidFill>
                  <a:srgbClr val="56C7F2"/>
                </a:solidFill>
                <a:latin typeface="Arial"/>
              </a:rPr>
              <a:t>03</a:t>
            </a:r>
          </a:p>
        </p:txBody>
      </p:sp>
      <p:sp>
        <p:nvSpPr>
          <p:cNvPr id="18" name="TextBox 17"/>
          <p:cNvSpPr txBox="1"/>
          <p:nvPr/>
        </p:nvSpPr>
        <p:spPr>
          <a:xfrm>
            <a:off x="1271016" y="2775091"/>
            <a:ext cx="3017520" cy="338554"/>
          </a:xfrm>
          <a:prstGeom prst="rect">
            <a:avLst/>
          </a:prstGeom>
          <a:noFill/>
        </p:spPr>
        <p:txBody>
          <a:bodyPr wrap="square" lIns="0" tIns="0" rIns="0" bIns="0" anchor="ctr">
            <a:spAutoFit/>
          </a:bodyPr>
          <a:lstStyle/>
          <a:p>
            <a:pPr algn="l"/>
            <a:r>
              <a:rPr lang="es-CO" sz="1100" b="0" i="0">
                <a:solidFill>
                  <a:srgbClr val="E8EEF6"/>
                </a:solidFill>
                <a:latin typeface="Calibri"/>
              </a:rPr>
              <a:t>Explicar qué es una ontología e identificar clases, individuos, propiedades y subclases.</a:t>
            </a:r>
          </a:p>
        </p:txBody>
      </p:sp>
      <p:sp>
        <p:nvSpPr>
          <p:cNvPr id="19" name="Rounded Rectangle 18"/>
          <p:cNvSpPr/>
          <p:nvPr/>
        </p:nvSpPr>
        <p:spPr>
          <a:xfrm>
            <a:off x="4709160" y="2487168"/>
            <a:ext cx="3931920" cy="914400"/>
          </a:xfrm>
          <a:prstGeom prst="roundRect">
            <a:avLst>
              <a:gd name="adj" fmla="val 8000"/>
            </a:avLst>
          </a:prstGeom>
          <a:solidFill>
            <a:srgbClr val="1A243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20" name="Rounded Rectangle 19"/>
          <p:cNvSpPr/>
          <p:nvPr/>
        </p:nvSpPr>
        <p:spPr>
          <a:xfrm>
            <a:off x="4910328" y="2743200"/>
            <a:ext cx="402336" cy="402336"/>
          </a:xfrm>
          <a:prstGeom prst="roundRect">
            <a:avLst>
              <a:gd name="adj" fmla="val 13333"/>
            </a:avLst>
          </a:prstGeom>
          <a:solidFill>
            <a:srgbClr val="0F2533"/>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21" name="TextBox 20"/>
          <p:cNvSpPr txBox="1"/>
          <p:nvPr/>
        </p:nvSpPr>
        <p:spPr>
          <a:xfrm>
            <a:off x="4910328" y="2859729"/>
            <a:ext cx="402336" cy="169277"/>
          </a:xfrm>
          <a:prstGeom prst="rect">
            <a:avLst/>
          </a:prstGeom>
          <a:noFill/>
        </p:spPr>
        <p:txBody>
          <a:bodyPr wrap="square" lIns="0" tIns="0" rIns="0" bIns="0" anchor="ctr">
            <a:spAutoFit/>
          </a:bodyPr>
          <a:lstStyle/>
          <a:p>
            <a:pPr algn="ctr"/>
            <a:r>
              <a:rPr lang="es-CO" sz="1100" b="1" i="0">
                <a:solidFill>
                  <a:srgbClr val="56C7F2"/>
                </a:solidFill>
                <a:latin typeface="Arial"/>
              </a:rPr>
              <a:t>04</a:t>
            </a:r>
          </a:p>
        </p:txBody>
      </p:sp>
      <p:sp>
        <p:nvSpPr>
          <p:cNvPr id="22" name="TextBox 21"/>
          <p:cNvSpPr txBox="1"/>
          <p:nvPr/>
        </p:nvSpPr>
        <p:spPr>
          <a:xfrm>
            <a:off x="5477256" y="2775091"/>
            <a:ext cx="3017520" cy="338554"/>
          </a:xfrm>
          <a:prstGeom prst="rect">
            <a:avLst/>
          </a:prstGeom>
          <a:noFill/>
        </p:spPr>
        <p:txBody>
          <a:bodyPr wrap="square" lIns="0" tIns="0" rIns="0" bIns="0" anchor="ctr">
            <a:spAutoFit/>
          </a:bodyPr>
          <a:lstStyle/>
          <a:p>
            <a:pPr algn="l"/>
            <a:r>
              <a:rPr lang="es-CO" sz="1100" b="0" i="0">
                <a:solidFill>
                  <a:srgbClr val="E8EEF6"/>
                </a:solidFill>
                <a:latin typeface="Calibri"/>
              </a:rPr>
              <a:t>Leer y escribir afirmaciones RDF sencillas en Turtle sobre contactos, solicitudes y servicios.</a:t>
            </a:r>
          </a:p>
        </p:txBody>
      </p:sp>
      <p:sp>
        <p:nvSpPr>
          <p:cNvPr id="23" name="TextBox 22"/>
          <p:cNvSpPr txBox="1"/>
          <p:nvPr/>
        </p:nvSpPr>
        <p:spPr>
          <a:xfrm>
            <a:off x="502920" y="3609537"/>
            <a:ext cx="8138160" cy="169277"/>
          </a:xfrm>
          <a:prstGeom prst="rect">
            <a:avLst/>
          </a:prstGeom>
          <a:noFill/>
        </p:spPr>
        <p:txBody>
          <a:bodyPr wrap="square" lIns="0" tIns="0" rIns="0" bIns="0" anchor="ctr">
            <a:spAutoFit/>
          </a:bodyPr>
          <a:lstStyle/>
          <a:p>
            <a:pPr algn="l"/>
            <a:r>
              <a:rPr lang="es-CO" sz="1100" b="1" i="0">
                <a:solidFill>
                  <a:srgbClr val="6C7E96"/>
                </a:solidFill>
                <a:latin typeface="Arial"/>
              </a:rPr>
              <a:t>Agenda · 120 minutos</a:t>
            </a:r>
          </a:p>
        </p:txBody>
      </p:sp>
      <p:sp>
        <p:nvSpPr>
          <p:cNvPr id="24" name="Rounded Rectangle 23"/>
          <p:cNvSpPr/>
          <p:nvPr/>
        </p:nvSpPr>
        <p:spPr>
          <a:xfrm>
            <a:off x="502920" y="3840480"/>
            <a:ext cx="1264920" cy="548640"/>
          </a:xfrm>
          <a:prstGeom prst="roundRect">
            <a:avLst>
              <a:gd name="adj" fmla="val 8000"/>
            </a:avLst>
          </a:prstGeom>
          <a:solidFill>
            <a:srgbClr val="1A2434"/>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000"/>
          </a:p>
        </p:txBody>
      </p:sp>
      <p:sp>
        <p:nvSpPr>
          <p:cNvPr id="25" name="TextBox 24"/>
          <p:cNvSpPr txBox="1"/>
          <p:nvPr/>
        </p:nvSpPr>
        <p:spPr>
          <a:xfrm>
            <a:off x="502920" y="3928128"/>
            <a:ext cx="1264920" cy="153888"/>
          </a:xfrm>
          <a:prstGeom prst="rect">
            <a:avLst/>
          </a:prstGeom>
          <a:noFill/>
        </p:spPr>
        <p:txBody>
          <a:bodyPr wrap="square" lIns="0" tIns="0" rIns="0" bIns="0" anchor="ctr">
            <a:spAutoFit/>
          </a:bodyPr>
          <a:lstStyle/>
          <a:p>
            <a:pPr algn="ctr"/>
            <a:r>
              <a:rPr lang="es-CO" sz="1000" b="1" i="0">
                <a:solidFill>
                  <a:srgbClr val="56C7F2"/>
                </a:solidFill>
                <a:latin typeface="Arial"/>
              </a:rPr>
              <a:t>Conexión</a:t>
            </a:r>
          </a:p>
        </p:txBody>
      </p:sp>
      <p:sp>
        <p:nvSpPr>
          <p:cNvPr id="26" name="TextBox 25"/>
          <p:cNvSpPr txBox="1"/>
          <p:nvPr/>
        </p:nvSpPr>
        <p:spPr>
          <a:xfrm>
            <a:off x="502920" y="4147584"/>
            <a:ext cx="1264920" cy="153888"/>
          </a:xfrm>
          <a:prstGeom prst="rect">
            <a:avLst/>
          </a:prstGeom>
          <a:noFill/>
        </p:spPr>
        <p:txBody>
          <a:bodyPr wrap="square" lIns="0" tIns="0" rIns="0" bIns="0" anchor="ctr">
            <a:spAutoFit/>
          </a:bodyPr>
          <a:lstStyle/>
          <a:p>
            <a:pPr algn="ctr"/>
            <a:r>
              <a:rPr lang="es-CO" sz="1000" b="0" i="0">
                <a:solidFill>
                  <a:srgbClr val="E8EEF6"/>
                </a:solidFill>
                <a:latin typeface="Calibri"/>
              </a:rPr>
              <a:t>10 min</a:t>
            </a:r>
          </a:p>
        </p:txBody>
      </p:sp>
      <p:sp>
        <p:nvSpPr>
          <p:cNvPr id="27" name="Rounded Rectangle 26"/>
          <p:cNvSpPr/>
          <p:nvPr/>
        </p:nvSpPr>
        <p:spPr>
          <a:xfrm>
            <a:off x="1877568" y="3840480"/>
            <a:ext cx="1264920" cy="548640"/>
          </a:xfrm>
          <a:prstGeom prst="roundRect">
            <a:avLst>
              <a:gd name="adj" fmla="val 8000"/>
            </a:avLst>
          </a:prstGeom>
          <a:solidFill>
            <a:srgbClr val="1A243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000"/>
          </a:p>
        </p:txBody>
      </p:sp>
      <p:sp>
        <p:nvSpPr>
          <p:cNvPr id="28" name="TextBox 27"/>
          <p:cNvSpPr txBox="1"/>
          <p:nvPr/>
        </p:nvSpPr>
        <p:spPr>
          <a:xfrm>
            <a:off x="1877568" y="3928128"/>
            <a:ext cx="1264920" cy="153888"/>
          </a:xfrm>
          <a:prstGeom prst="rect">
            <a:avLst/>
          </a:prstGeom>
          <a:noFill/>
        </p:spPr>
        <p:txBody>
          <a:bodyPr wrap="square" lIns="0" tIns="0" rIns="0" bIns="0" anchor="ctr">
            <a:spAutoFit/>
          </a:bodyPr>
          <a:lstStyle/>
          <a:p>
            <a:pPr algn="ctr"/>
            <a:r>
              <a:rPr lang="es-CO" sz="1000" b="1" i="0">
                <a:solidFill>
                  <a:srgbClr val="3DDC97"/>
                </a:solidFill>
                <a:latin typeface="Arial"/>
              </a:rPr>
              <a:t>Capas y MVC</a:t>
            </a:r>
          </a:p>
        </p:txBody>
      </p:sp>
      <p:sp>
        <p:nvSpPr>
          <p:cNvPr id="29" name="TextBox 28"/>
          <p:cNvSpPr txBox="1"/>
          <p:nvPr/>
        </p:nvSpPr>
        <p:spPr>
          <a:xfrm>
            <a:off x="1877568" y="4147584"/>
            <a:ext cx="1264920" cy="153888"/>
          </a:xfrm>
          <a:prstGeom prst="rect">
            <a:avLst/>
          </a:prstGeom>
          <a:noFill/>
        </p:spPr>
        <p:txBody>
          <a:bodyPr wrap="square" lIns="0" tIns="0" rIns="0" bIns="0" anchor="ctr">
            <a:spAutoFit/>
          </a:bodyPr>
          <a:lstStyle/>
          <a:p>
            <a:pPr algn="ctr"/>
            <a:r>
              <a:rPr lang="es-CO" sz="1000" b="0" i="0">
                <a:solidFill>
                  <a:srgbClr val="E8EEF6"/>
                </a:solidFill>
                <a:latin typeface="Calibri"/>
              </a:rPr>
              <a:t>25 min</a:t>
            </a:r>
          </a:p>
        </p:txBody>
      </p:sp>
      <p:sp>
        <p:nvSpPr>
          <p:cNvPr id="30" name="Rounded Rectangle 29"/>
          <p:cNvSpPr/>
          <p:nvPr/>
        </p:nvSpPr>
        <p:spPr>
          <a:xfrm>
            <a:off x="3252216" y="3840480"/>
            <a:ext cx="1264920" cy="548640"/>
          </a:xfrm>
          <a:prstGeom prst="roundRect">
            <a:avLst>
              <a:gd name="adj" fmla="val 8000"/>
            </a:avLst>
          </a:prstGeom>
          <a:solidFill>
            <a:srgbClr val="1A2434"/>
          </a:solidFill>
          <a:ln w="12700">
            <a:solidFill>
              <a:srgbClr val="FF8A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000"/>
          </a:p>
        </p:txBody>
      </p:sp>
      <p:sp>
        <p:nvSpPr>
          <p:cNvPr id="31" name="TextBox 30"/>
          <p:cNvSpPr txBox="1"/>
          <p:nvPr/>
        </p:nvSpPr>
        <p:spPr>
          <a:xfrm>
            <a:off x="3252216" y="3928128"/>
            <a:ext cx="1264920" cy="153888"/>
          </a:xfrm>
          <a:prstGeom prst="rect">
            <a:avLst/>
          </a:prstGeom>
          <a:noFill/>
        </p:spPr>
        <p:txBody>
          <a:bodyPr wrap="square" lIns="0" tIns="0" rIns="0" bIns="0" anchor="ctr">
            <a:spAutoFit/>
          </a:bodyPr>
          <a:lstStyle/>
          <a:p>
            <a:pPr algn="ctr"/>
            <a:r>
              <a:rPr lang="es-CO" sz="1000" b="1" i="0">
                <a:solidFill>
                  <a:srgbClr val="FF8A3D"/>
                </a:solidFill>
                <a:latin typeface="Arial"/>
              </a:rPr>
              <a:t>Laboratorio 07</a:t>
            </a:r>
          </a:p>
        </p:txBody>
      </p:sp>
      <p:sp>
        <p:nvSpPr>
          <p:cNvPr id="32" name="TextBox 31"/>
          <p:cNvSpPr txBox="1"/>
          <p:nvPr/>
        </p:nvSpPr>
        <p:spPr>
          <a:xfrm>
            <a:off x="3252216" y="4147584"/>
            <a:ext cx="1264920" cy="153888"/>
          </a:xfrm>
          <a:prstGeom prst="rect">
            <a:avLst/>
          </a:prstGeom>
          <a:noFill/>
        </p:spPr>
        <p:txBody>
          <a:bodyPr wrap="square" lIns="0" tIns="0" rIns="0" bIns="0" anchor="ctr">
            <a:spAutoFit/>
          </a:bodyPr>
          <a:lstStyle/>
          <a:p>
            <a:pPr algn="ctr"/>
            <a:r>
              <a:rPr lang="es-CO" sz="1000" b="0" i="0">
                <a:solidFill>
                  <a:srgbClr val="E8EEF6"/>
                </a:solidFill>
                <a:latin typeface="Calibri"/>
              </a:rPr>
              <a:t>20 min</a:t>
            </a:r>
          </a:p>
        </p:txBody>
      </p:sp>
      <p:sp>
        <p:nvSpPr>
          <p:cNvPr id="33" name="Rounded Rectangle 32"/>
          <p:cNvSpPr/>
          <p:nvPr/>
        </p:nvSpPr>
        <p:spPr>
          <a:xfrm>
            <a:off x="4626864" y="3840480"/>
            <a:ext cx="1264920" cy="548640"/>
          </a:xfrm>
          <a:prstGeom prst="roundRect">
            <a:avLst>
              <a:gd name="adj" fmla="val 8000"/>
            </a:avLst>
          </a:prstGeom>
          <a:solidFill>
            <a:srgbClr val="1A243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000"/>
          </a:p>
        </p:txBody>
      </p:sp>
      <p:sp>
        <p:nvSpPr>
          <p:cNvPr id="34" name="TextBox 33"/>
          <p:cNvSpPr txBox="1"/>
          <p:nvPr/>
        </p:nvSpPr>
        <p:spPr>
          <a:xfrm>
            <a:off x="4626864" y="3928128"/>
            <a:ext cx="1264920" cy="153888"/>
          </a:xfrm>
          <a:prstGeom prst="rect">
            <a:avLst/>
          </a:prstGeom>
          <a:noFill/>
        </p:spPr>
        <p:txBody>
          <a:bodyPr wrap="square" lIns="0" tIns="0" rIns="0" bIns="0" anchor="ctr">
            <a:spAutoFit/>
          </a:bodyPr>
          <a:lstStyle/>
          <a:p>
            <a:pPr algn="ctr"/>
            <a:r>
              <a:rPr lang="es-CO" sz="1000" b="1" i="0">
                <a:solidFill>
                  <a:srgbClr val="3DDC97"/>
                </a:solidFill>
                <a:latin typeface="Arial"/>
              </a:rPr>
              <a:t>Ontologías</a:t>
            </a:r>
          </a:p>
        </p:txBody>
      </p:sp>
      <p:sp>
        <p:nvSpPr>
          <p:cNvPr id="35" name="TextBox 34"/>
          <p:cNvSpPr txBox="1"/>
          <p:nvPr/>
        </p:nvSpPr>
        <p:spPr>
          <a:xfrm>
            <a:off x="4626864" y="4147584"/>
            <a:ext cx="1264920" cy="153888"/>
          </a:xfrm>
          <a:prstGeom prst="rect">
            <a:avLst/>
          </a:prstGeom>
          <a:noFill/>
        </p:spPr>
        <p:txBody>
          <a:bodyPr wrap="square" lIns="0" tIns="0" rIns="0" bIns="0" anchor="ctr">
            <a:spAutoFit/>
          </a:bodyPr>
          <a:lstStyle/>
          <a:p>
            <a:pPr algn="ctr"/>
            <a:r>
              <a:rPr lang="es-CO" sz="1000" b="0" i="0">
                <a:solidFill>
                  <a:srgbClr val="E8EEF6"/>
                </a:solidFill>
                <a:latin typeface="Calibri"/>
              </a:rPr>
              <a:t>25 min</a:t>
            </a:r>
          </a:p>
        </p:txBody>
      </p:sp>
      <p:sp>
        <p:nvSpPr>
          <p:cNvPr id="36" name="Rounded Rectangle 35"/>
          <p:cNvSpPr/>
          <p:nvPr/>
        </p:nvSpPr>
        <p:spPr>
          <a:xfrm>
            <a:off x="6001512" y="3840480"/>
            <a:ext cx="1264920" cy="548640"/>
          </a:xfrm>
          <a:prstGeom prst="roundRect">
            <a:avLst>
              <a:gd name="adj" fmla="val 8000"/>
            </a:avLst>
          </a:prstGeom>
          <a:solidFill>
            <a:srgbClr val="1A2434"/>
          </a:solidFill>
          <a:ln w="12700">
            <a:solidFill>
              <a:srgbClr val="FF8A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000"/>
          </a:p>
        </p:txBody>
      </p:sp>
      <p:sp>
        <p:nvSpPr>
          <p:cNvPr id="37" name="TextBox 36"/>
          <p:cNvSpPr txBox="1"/>
          <p:nvPr/>
        </p:nvSpPr>
        <p:spPr>
          <a:xfrm>
            <a:off x="6001512" y="3928128"/>
            <a:ext cx="1264920" cy="153888"/>
          </a:xfrm>
          <a:prstGeom prst="rect">
            <a:avLst/>
          </a:prstGeom>
          <a:noFill/>
        </p:spPr>
        <p:txBody>
          <a:bodyPr wrap="square" lIns="0" tIns="0" rIns="0" bIns="0" anchor="ctr">
            <a:spAutoFit/>
          </a:bodyPr>
          <a:lstStyle/>
          <a:p>
            <a:pPr algn="ctr"/>
            <a:r>
              <a:rPr lang="es-CO" sz="1000" b="1" i="0">
                <a:solidFill>
                  <a:srgbClr val="FF8A3D"/>
                </a:solidFill>
                <a:latin typeface="Arial"/>
              </a:rPr>
              <a:t>Laboratorio 08</a:t>
            </a:r>
          </a:p>
        </p:txBody>
      </p:sp>
      <p:sp>
        <p:nvSpPr>
          <p:cNvPr id="38" name="TextBox 37"/>
          <p:cNvSpPr txBox="1"/>
          <p:nvPr/>
        </p:nvSpPr>
        <p:spPr>
          <a:xfrm>
            <a:off x="6001512" y="4147584"/>
            <a:ext cx="1264920" cy="153888"/>
          </a:xfrm>
          <a:prstGeom prst="rect">
            <a:avLst/>
          </a:prstGeom>
          <a:noFill/>
        </p:spPr>
        <p:txBody>
          <a:bodyPr wrap="square" lIns="0" tIns="0" rIns="0" bIns="0" anchor="ctr">
            <a:spAutoFit/>
          </a:bodyPr>
          <a:lstStyle/>
          <a:p>
            <a:pPr algn="ctr"/>
            <a:r>
              <a:rPr lang="es-CO" sz="1000" b="0" i="0">
                <a:solidFill>
                  <a:srgbClr val="E8EEF6"/>
                </a:solidFill>
                <a:latin typeface="Calibri"/>
              </a:rPr>
              <a:t>30 min</a:t>
            </a:r>
          </a:p>
        </p:txBody>
      </p:sp>
      <p:sp>
        <p:nvSpPr>
          <p:cNvPr id="39" name="Rounded Rectangle 38"/>
          <p:cNvSpPr/>
          <p:nvPr/>
        </p:nvSpPr>
        <p:spPr>
          <a:xfrm>
            <a:off x="7376160" y="3840480"/>
            <a:ext cx="1264920" cy="548640"/>
          </a:xfrm>
          <a:prstGeom prst="roundRect">
            <a:avLst>
              <a:gd name="adj" fmla="val 8000"/>
            </a:avLst>
          </a:prstGeom>
          <a:solidFill>
            <a:srgbClr val="1A2434"/>
          </a:solidFill>
          <a:ln w="12700">
            <a:solidFill>
              <a:srgbClr val="FFD47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000"/>
          </a:p>
        </p:txBody>
      </p:sp>
      <p:sp>
        <p:nvSpPr>
          <p:cNvPr id="40" name="TextBox 39"/>
          <p:cNvSpPr txBox="1"/>
          <p:nvPr/>
        </p:nvSpPr>
        <p:spPr>
          <a:xfrm>
            <a:off x="7376160" y="3928128"/>
            <a:ext cx="1264920" cy="153888"/>
          </a:xfrm>
          <a:prstGeom prst="rect">
            <a:avLst/>
          </a:prstGeom>
          <a:noFill/>
        </p:spPr>
        <p:txBody>
          <a:bodyPr wrap="square" lIns="0" tIns="0" rIns="0" bIns="0" anchor="ctr">
            <a:spAutoFit/>
          </a:bodyPr>
          <a:lstStyle/>
          <a:p>
            <a:pPr algn="ctr"/>
            <a:r>
              <a:rPr lang="es-CO" sz="1000" b="1" i="0">
                <a:solidFill>
                  <a:srgbClr val="FFD479"/>
                </a:solidFill>
                <a:latin typeface="Arial"/>
              </a:rPr>
              <a:t>Cierre</a:t>
            </a:r>
          </a:p>
        </p:txBody>
      </p:sp>
      <p:sp>
        <p:nvSpPr>
          <p:cNvPr id="41" name="TextBox 40"/>
          <p:cNvSpPr txBox="1"/>
          <p:nvPr/>
        </p:nvSpPr>
        <p:spPr>
          <a:xfrm>
            <a:off x="7376160" y="4147584"/>
            <a:ext cx="1264920" cy="153888"/>
          </a:xfrm>
          <a:prstGeom prst="rect">
            <a:avLst/>
          </a:prstGeom>
          <a:noFill/>
        </p:spPr>
        <p:txBody>
          <a:bodyPr wrap="square" lIns="0" tIns="0" rIns="0" bIns="0" anchor="ctr">
            <a:spAutoFit/>
          </a:bodyPr>
          <a:lstStyle/>
          <a:p>
            <a:pPr algn="ctr"/>
            <a:r>
              <a:rPr lang="es-CO" sz="1000" b="0" i="0">
                <a:solidFill>
                  <a:srgbClr val="E8EEF6"/>
                </a:solidFill>
                <a:latin typeface="Calibri"/>
              </a:rPr>
              <a:t>10 min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101B"/>
        </a:solidFill>
        <a:effectLst/>
      </p:bgPr>
    </p:bg>
    <p:spTree>
      <p:nvGrpSpPr>
        <p:cNvPr id="1" name=""/>
        <p:cNvGrpSpPr/>
        <p:nvPr/>
      </p:nvGrpSpPr>
      <p:grpSpPr>
        <a:xfrm>
          <a:off x="0" y="0"/>
          <a:ext cx="0" cy="0"/>
          <a:chOff x="0" y="0"/>
          <a:chExt cx="0" cy="0"/>
        </a:xfrm>
      </p:grpSpPr>
      <p:sp>
        <p:nvSpPr>
          <p:cNvPr id="2" name="TextBox 1"/>
          <p:cNvSpPr txBox="1"/>
          <p:nvPr/>
        </p:nvSpPr>
        <p:spPr>
          <a:xfrm>
            <a:off x="6309360" y="4734249"/>
            <a:ext cx="2331720" cy="169277"/>
          </a:xfrm>
          <a:prstGeom prst="rect">
            <a:avLst/>
          </a:prstGeom>
          <a:noFill/>
        </p:spPr>
        <p:txBody>
          <a:bodyPr wrap="square" lIns="0" tIns="0" rIns="0" bIns="0" anchor="ctr">
            <a:spAutoFit/>
          </a:bodyPr>
          <a:lstStyle/>
          <a:p>
            <a:pPr algn="r"/>
            <a:r>
              <a:rPr lang="es-CO" sz="1100" b="0" i="0">
                <a:solidFill>
                  <a:srgbClr val="6C7E96"/>
                </a:solidFill>
                <a:latin typeface="Arial"/>
              </a:rPr>
              <a:t>Ingeniería Web  ·  03 / 24</a:t>
            </a:r>
          </a:p>
        </p:txBody>
      </p:sp>
      <p:sp>
        <p:nvSpPr>
          <p:cNvPr id="3" name="Rounded Rectangle 2"/>
          <p:cNvSpPr/>
          <p:nvPr/>
        </p:nvSpPr>
        <p:spPr>
          <a:xfrm>
            <a:off x="502920" y="365760"/>
            <a:ext cx="1554480" cy="228600"/>
          </a:xfrm>
          <a:prstGeom prst="roundRect">
            <a:avLst>
              <a:gd name="adj" fmla="val 50000"/>
            </a:avLst>
          </a:prstGeom>
          <a:solidFill>
            <a:srgbClr val="132A24"/>
          </a:solidFill>
          <a:ln w="952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4" name="TextBox 3"/>
          <p:cNvSpPr txBox="1"/>
          <p:nvPr/>
        </p:nvSpPr>
        <p:spPr>
          <a:xfrm>
            <a:off x="502920" y="395421"/>
            <a:ext cx="1554480" cy="169277"/>
          </a:xfrm>
          <a:prstGeom prst="rect">
            <a:avLst/>
          </a:prstGeom>
          <a:noFill/>
        </p:spPr>
        <p:txBody>
          <a:bodyPr wrap="square" lIns="0" tIns="0" rIns="0" bIns="0" anchor="ctr">
            <a:spAutoFit/>
          </a:bodyPr>
          <a:lstStyle/>
          <a:p>
            <a:pPr algn="ctr"/>
            <a:r>
              <a:rPr lang="es-CO" sz="1100" b="1" i="0">
                <a:solidFill>
                  <a:srgbClr val="3DDC97"/>
                </a:solidFill>
                <a:latin typeface="Arial"/>
              </a:rPr>
              <a:t>PUNTO DE PARTIDA</a:t>
            </a:r>
          </a:p>
        </p:txBody>
      </p:sp>
      <p:sp>
        <p:nvSpPr>
          <p:cNvPr id="5" name="Título"/>
          <p:cNvSpPr txBox="1"/>
          <p:nvPr/>
        </p:nvSpPr>
        <p:spPr>
          <a:xfrm>
            <a:off x="475488" y="658368"/>
            <a:ext cx="8138160" cy="438912"/>
          </a:xfrm>
          <a:prstGeom prst="rect">
            <a:avLst/>
          </a:prstGeom>
          <a:noFill/>
        </p:spPr>
        <p:txBody>
          <a:bodyPr wrap="square" lIns="0" tIns="0" rIns="0" bIns="0" anchor="ctr">
            <a:spAutoFit/>
          </a:bodyPr>
          <a:lstStyle/>
          <a:p>
            <a:pPr algn="l"/>
            <a:r>
              <a:rPr lang="es-CO" sz="2600" b="1" i="0">
                <a:solidFill>
                  <a:srgbClr val="FFFFFF"/>
                </a:solidFill>
                <a:latin typeface="Arial"/>
              </a:rPr>
              <a:t>Punto de partida: el proyecto del Laboratorio 06</a:t>
            </a:r>
          </a:p>
        </p:txBody>
      </p:sp>
      <p:sp>
        <p:nvSpPr>
          <p:cNvPr id="6" name="TextBox 5"/>
          <p:cNvSpPr txBox="1"/>
          <p:nvPr/>
        </p:nvSpPr>
        <p:spPr>
          <a:xfrm>
            <a:off x="475488" y="1131513"/>
            <a:ext cx="8138160" cy="169277"/>
          </a:xfrm>
          <a:prstGeom prst="rect">
            <a:avLst/>
          </a:prstGeom>
          <a:noFill/>
        </p:spPr>
        <p:txBody>
          <a:bodyPr wrap="square" lIns="0" tIns="0" rIns="0" bIns="0" anchor="ctr">
            <a:spAutoFit/>
          </a:bodyPr>
          <a:lstStyle/>
          <a:p>
            <a:pPr algn="l"/>
            <a:r>
              <a:rPr lang="es-CO" sz="1100" b="0" i="0">
                <a:solidFill>
                  <a:srgbClr val="93A5BD"/>
                </a:solidFill>
                <a:latin typeface="Calibri"/>
              </a:rPr>
              <a:t>Sitio «Soporte Web» con Node.js 24.11.0, CommonJS y el puerto 3000: un formulario guarda y una API consulta.</a:t>
            </a:r>
          </a:p>
        </p:txBody>
      </p:sp>
      <p:graphicFrame>
        <p:nvGraphicFramePr>
          <p:cNvPr id="7" name="Table 6"/>
          <p:cNvGraphicFramePr>
            <a:graphicFrameLocks noGrp="1"/>
          </p:cNvGraphicFramePr>
          <p:nvPr/>
        </p:nvGraphicFramePr>
        <p:xfrm>
          <a:off x="502920" y="1444752"/>
          <a:ext cx="5074920" cy="1463040"/>
        </p:xfrm>
        <a:graphic>
          <a:graphicData uri="http://schemas.openxmlformats.org/drawingml/2006/table">
            <a:tbl>
              <a:tblPr>
                <a:tableStyleId>{2D5ABB26-0587-4C30-8999-92F81FD0307C}</a:tableStyleId>
              </a:tblPr>
              <a:tblGrid>
                <a:gridCol w="777240">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gridCol w="2788920">
                  <a:extLst>
                    <a:ext uri="{9D8B030D-6E8A-4147-A177-3AD203B41FA5}">
                      <a16:colId xmlns:a16="http://schemas.microsoft.com/office/drawing/2014/main" val="20002"/>
                    </a:ext>
                  </a:extLst>
                </a:gridCol>
              </a:tblGrid>
              <a:tr h="310896">
                <a:tc>
                  <a:txBody>
                    <a:bodyPr/>
                    <a:lstStyle/>
                    <a:p>
                      <a:r>
                        <a:rPr lang="es-CO" sz="950" b="1" i="0">
                          <a:solidFill>
                            <a:srgbClr val="3DDC97"/>
                          </a:solidFill>
                          <a:latin typeface="Arial"/>
                        </a:rPr>
                        <a:t>Método</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3233A"/>
                    </a:solidFill>
                  </a:tcPr>
                </a:tc>
                <a:tc>
                  <a:txBody>
                    <a:bodyPr/>
                    <a:lstStyle/>
                    <a:p>
                      <a:r>
                        <a:rPr lang="es-CO" sz="950" b="1" i="0">
                          <a:solidFill>
                            <a:srgbClr val="3DDC97"/>
                          </a:solidFill>
                          <a:latin typeface="Arial"/>
                        </a:rPr>
                        <a:t>Ruta</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3233A"/>
                    </a:solidFill>
                  </a:tcPr>
                </a:tc>
                <a:tc>
                  <a:txBody>
                    <a:bodyPr/>
                    <a:lstStyle/>
                    <a:p>
                      <a:r>
                        <a:rPr lang="es-CO" sz="950" b="1" i="0">
                          <a:solidFill>
                            <a:srgbClr val="3DDC97"/>
                          </a:solidFill>
                          <a:latin typeface="Arial"/>
                        </a:rPr>
                        <a:t>Qué hace</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3233A"/>
                    </a:solidFill>
                  </a:tcPr>
                </a:tc>
                <a:extLst>
                  <a:ext uri="{0D108BD9-81ED-4DB2-BD59-A6C34878D82A}">
                    <a16:rowId xmlns:a16="http://schemas.microsoft.com/office/drawing/2014/main" val="10000"/>
                  </a:ext>
                </a:extLst>
              </a:tr>
              <a:tr h="384048">
                <a:tc>
                  <a:txBody>
                    <a:bodyPr/>
                    <a:lstStyle/>
                    <a:p>
                      <a:r>
                        <a:rPr lang="es-CO" sz="1000" b="0" i="0">
                          <a:solidFill>
                            <a:srgbClr val="3DDC97"/>
                          </a:solidFill>
                          <a:latin typeface="Courier New"/>
                        </a:rPr>
                        <a:t>POST</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A2434"/>
                    </a:solidFill>
                  </a:tcPr>
                </a:tc>
                <a:tc>
                  <a:txBody>
                    <a:bodyPr/>
                    <a:lstStyle/>
                    <a:p>
                      <a:r>
                        <a:rPr lang="es-CO" sz="1000" b="0" i="0">
                          <a:solidFill>
                            <a:srgbClr val="E8EEF6"/>
                          </a:solidFill>
                          <a:latin typeface="Courier New"/>
                        </a:rPr>
                        <a:t>/contacto</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A2434"/>
                    </a:solidFill>
                  </a:tcPr>
                </a:tc>
                <a:tc>
                  <a:txBody>
                    <a:bodyPr/>
                    <a:lstStyle/>
                    <a:p>
                      <a:r>
                        <a:rPr lang="es-CO" sz="1000" b="0" i="0">
                          <a:solidFill>
                            <a:srgbClr val="E8EEF6"/>
                          </a:solidFill>
                          <a:latin typeface="Calibri"/>
                        </a:rPr>
                        <a:t>Recibe el formulario y guarda un contacto</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A2434"/>
                    </a:solidFill>
                  </a:tcPr>
                </a:tc>
                <a:extLst>
                  <a:ext uri="{0D108BD9-81ED-4DB2-BD59-A6C34878D82A}">
                    <a16:rowId xmlns:a16="http://schemas.microsoft.com/office/drawing/2014/main" val="10001"/>
                  </a:ext>
                </a:extLst>
              </a:tr>
              <a:tr h="384048">
                <a:tc>
                  <a:txBody>
                    <a:bodyPr/>
                    <a:lstStyle/>
                    <a:p>
                      <a:r>
                        <a:rPr lang="es-CO" sz="1000" b="0" i="0">
                          <a:solidFill>
                            <a:srgbClr val="56C7F2"/>
                          </a:solidFill>
                          <a:latin typeface="Courier New"/>
                        </a:rPr>
                        <a:t>GET</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41E2D"/>
                    </a:solidFill>
                  </a:tcPr>
                </a:tc>
                <a:tc>
                  <a:txBody>
                    <a:bodyPr/>
                    <a:lstStyle/>
                    <a:p>
                      <a:r>
                        <a:rPr lang="es-CO" sz="1000" b="0" i="0">
                          <a:solidFill>
                            <a:srgbClr val="E8EEF6"/>
                          </a:solidFill>
                          <a:latin typeface="Courier New"/>
                        </a:rPr>
                        <a:t>/api/contactos</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41E2D"/>
                    </a:solidFill>
                  </a:tcPr>
                </a:tc>
                <a:tc>
                  <a:txBody>
                    <a:bodyPr/>
                    <a:lstStyle/>
                    <a:p>
                      <a:r>
                        <a:rPr lang="es-CO" sz="1000" b="0" i="0">
                          <a:solidFill>
                            <a:srgbClr val="E8EEF6"/>
                          </a:solidFill>
                          <a:latin typeface="Calibri"/>
                        </a:rPr>
                        <a:t>Consulta SQLite y devuelve JSON</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41E2D"/>
                    </a:solidFill>
                  </a:tcPr>
                </a:tc>
                <a:extLst>
                  <a:ext uri="{0D108BD9-81ED-4DB2-BD59-A6C34878D82A}">
                    <a16:rowId xmlns:a16="http://schemas.microsoft.com/office/drawing/2014/main" val="10002"/>
                  </a:ext>
                </a:extLst>
              </a:tr>
              <a:tr h="384048">
                <a:tc>
                  <a:txBody>
                    <a:bodyPr/>
                    <a:lstStyle/>
                    <a:p>
                      <a:r>
                        <a:rPr lang="es-CO" sz="1000" b="0" i="0">
                          <a:solidFill>
                            <a:srgbClr val="56C7F2"/>
                          </a:solidFill>
                          <a:latin typeface="Courier New"/>
                        </a:rPr>
                        <a:t>GET</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A2434"/>
                    </a:solidFill>
                  </a:tcPr>
                </a:tc>
                <a:tc>
                  <a:txBody>
                    <a:bodyPr/>
                    <a:lstStyle/>
                    <a:p>
                      <a:r>
                        <a:rPr lang="es-CO" sz="1000" b="0" i="0">
                          <a:solidFill>
                            <a:srgbClr val="E8EEF6"/>
                          </a:solidFill>
                          <a:latin typeface="Courier New"/>
                        </a:rPr>
                        <a:t>/contactos</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A2434"/>
                    </a:solidFill>
                  </a:tcPr>
                </a:tc>
                <a:tc>
                  <a:txBody>
                    <a:bodyPr/>
                    <a:lstStyle/>
                    <a:p>
                      <a:r>
                        <a:rPr lang="es-CO" sz="1000" b="0" i="0">
                          <a:solidFill>
                            <a:srgbClr val="E8EEF6"/>
                          </a:solidFill>
                          <a:latin typeface="Calibri"/>
                        </a:rPr>
                        <a:t>Entrega la página que usa fetch()</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A2434"/>
                    </a:solidFill>
                  </a:tcPr>
                </a:tc>
                <a:extLst>
                  <a:ext uri="{0D108BD9-81ED-4DB2-BD59-A6C34878D82A}">
                    <a16:rowId xmlns:a16="http://schemas.microsoft.com/office/drawing/2014/main" val="10003"/>
                  </a:ext>
                </a:extLst>
              </a:tr>
            </a:tbl>
          </a:graphicData>
        </a:graphic>
      </p:graphicFrame>
      <p:sp>
        <p:nvSpPr>
          <p:cNvPr id="8" name="Rounded Rectangle 7"/>
          <p:cNvSpPr/>
          <p:nvPr/>
        </p:nvSpPr>
        <p:spPr>
          <a:xfrm>
            <a:off x="5760720" y="1444752"/>
            <a:ext cx="2880360" cy="841248"/>
          </a:xfrm>
          <a:prstGeom prst="roundRect">
            <a:avLst>
              <a:gd name="adj" fmla="val 8000"/>
            </a:avLst>
          </a:prstGeom>
          <a:solidFill>
            <a:srgbClr val="1A2434"/>
          </a:solidFill>
          <a:ln w="12700">
            <a:solidFill>
              <a:srgbClr val="FFB86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9" name="TextBox 8"/>
          <p:cNvSpPr txBox="1"/>
          <p:nvPr/>
        </p:nvSpPr>
        <p:spPr>
          <a:xfrm>
            <a:off x="5888736" y="1561281"/>
            <a:ext cx="2651760" cy="169277"/>
          </a:xfrm>
          <a:prstGeom prst="rect">
            <a:avLst/>
          </a:prstGeom>
          <a:noFill/>
        </p:spPr>
        <p:txBody>
          <a:bodyPr wrap="square" lIns="0" tIns="0" rIns="0" bIns="0" anchor="ctr">
            <a:spAutoFit/>
          </a:bodyPr>
          <a:lstStyle/>
          <a:p>
            <a:pPr algn="l"/>
            <a:r>
              <a:rPr lang="es-CO" sz="1100" b="1" i="0">
                <a:solidFill>
                  <a:srgbClr val="FFB86C"/>
                </a:solidFill>
                <a:latin typeface="Arial"/>
              </a:rPr>
              <a:t>Base de datos</a:t>
            </a:r>
          </a:p>
        </p:txBody>
      </p:sp>
      <p:sp>
        <p:nvSpPr>
          <p:cNvPr id="10" name="TextBox 9"/>
          <p:cNvSpPr txBox="1"/>
          <p:nvPr/>
        </p:nvSpPr>
        <p:spPr>
          <a:xfrm>
            <a:off x="5888736" y="1783080"/>
            <a:ext cx="2651760" cy="507831"/>
          </a:xfrm>
          <a:prstGeom prst="rect">
            <a:avLst/>
          </a:prstGeom>
          <a:noFill/>
        </p:spPr>
        <p:txBody>
          <a:bodyPr wrap="square" lIns="0" tIns="0" rIns="0" bIns="0" anchor="t">
            <a:spAutoFit/>
          </a:bodyPr>
          <a:lstStyle/>
          <a:p>
            <a:pPr algn="l"/>
            <a:r>
              <a:rPr lang="es-CO" sz="1100" b="1" i="0">
                <a:solidFill>
                  <a:srgbClr val="FFB86C"/>
                </a:solidFill>
                <a:latin typeface="Courier New"/>
              </a:rPr>
              <a:t>contactos.db</a:t>
            </a:r>
          </a:p>
          <a:p>
            <a:pPr algn="l"/>
            <a:r>
              <a:rPr lang="es-CO" sz="1100" b="0" i="0">
                <a:solidFill>
                  <a:srgbClr val="E8EEF6"/>
                </a:solidFill>
                <a:latin typeface="Courier New"/>
              </a:rPr>
              <a:t>contactos(id, nombre,</a:t>
            </a:r>
          </a:p>
          <a:p>
            <a:pPr algn="l"/>
            <a:r>
              <a:rPr lang="es-CO" sz="1100" b="0" i="0">
                <a:solidFill>
                  <a:srgbClr val="E8EEF6"/>
                </a:solidFill>
                <a:latin typeface="Courier New"/>
              </a:rPr>
              <a:t>          correo, mensaje)</a:t>
            </a:r>
          </a:p>
        </p:txBody>
      </p:sp>
      <p:sp>
        <p:nvSpPr>
          <p:cNvPr id="11" name="Rounded Rectangle 10"/>
          <p:cNvSpPr/>
          <p:nvPr/>
        </p:nvSpPr>
        <p:spPr>
          <a:xfrm>
            <a:off x="5760720" y="2395727"/>
            <a:ext cx="2880360" cy="749807"/>
          </a:xfrm>
          <a:prstGeom prst="roundRect">
            <a:avLst>
              <a:gd name="adj" fmla="val 8000"/>
            </a:avLst>
          </a:prstGeom>
          <a:solidFill>
            <a:srgbClr val="1A2434"/>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12" name="TextBox 11"/>
          <p:cNvSpPr txBox="1"/>
          <p:nvPr/>
        </p:nvSpPr>
        <p:spPr>
          <a:xfrm>
            <a:off x="5888736" y="2512257"/>
            <a:ext cx="2624328" cy="169277"/>
          </a:xfrm>
          <a:prstGeom prst="rect">
            <a:avLst/>
          </a:prstGeom>
          <a:noFill/>
        </p:spPr>
        <p:txBody>
          <a:bodyPr wrap="square" lIns="0" tIns="0" rIns="0" bIns="0" anchor="ctr">
            <a:spAutoFit/>
          </a:bodyPr>
          <a:lstStyle/>
          <a:p>
            <a:pPr algn="l"/>
            <a:r>
              <a:rPr lang="es-CO" sz="1100" b="1" i="0">
                <a:solidFill>
                  <a:srgbClr val="56C7F2"/>
                </a:solidFill>
                <a:latin typeface="Arial"/>
              </a:rPr>
              <a:t>Servidor</a:t>
            </a:r>
          </a:p>
        </p:txBody>
      </p:sp>
      <p:sp>
        <p:nvSpPr>
          <p:cNvPr id="13" name="TextBox 12"/>
          <p:cNvSpPr txBox="1"/>
          <p:nvPr/>
        </p:nvSpPr>
        <p:spPr>
          <a:xfrm>
            <a:off x="5888736" y="2706624"/>
            <a:ext cx="2651760" cy="338554"/>
          </a:xfrm>
          <a:prstGeom prst="rect">
            <a:avLst/>
          </a:prstGeom>
          <a:noFill/>
        </p:spPr>
        <p:txBody>
          <a:bodyPr wrap="square" lIns="0" tIns="0" rIns="0" bIns="0" anchor="t">
            <a:spAutoFit/>
          </a:bodyPr>
          <a:lstStyle/>
          <a:p>
            <a:pPr algn="l"/>
            <a:r>
              <a:rPr lang="es-CO" sz="1100" b="1" i="0" dirty="0">
                <a:solidFill>
                  <a:srgbClr val="56C7F2"/>
                </a:solidFill>
                <a:latin typeface="Courier New"/>
              </a:rPr>
              <a:t>server_rutas.js</a:t>
            </a:r>
            <a:r>
              <a:rPr lang="es-CO" sz="1100" b="0" i="0" dirty="0">
                <a:solidFill>
                  <a:srgbClr val="E8EEF6"/>
                </a:solidFill>
                <a:latin typeface="Calibri"/>
              </a:rPr>
              <a:t> · </a:t>
            </a:r>
            <a:r>
              <a:rPr lang="es-CO" sz="1100" b="0" i="0" dirty="0" err="1">
                <a:solidFill>
                  <a:srgbClr val="E8EEF6"/>
                </a:solidFill>
                <a:latin typeface="Calibri"/>
              </a:rPr>
              <a:t>node:http</a:t>
            </a:r>
            <a:r>
              <a:rPr lang="es-CO" sz="1100" b="0" i="0" dirty="0">
                <a:solidFill>
                  <a:srgbClr val="E8EEF6"/>
                </a:solidFill>
                <a:latin typeface="Calibri"/>
              </a:rPr>
              <a:t> y </a:t>
            </a:r>
            <a:r>
              <a:rPr lang="es-CO" sz="1100" b="0" i="0" dirty="0" err="1">
                <a:solidFill>
                  <a:srgbClr val="E8EEF6"/>
                </a:solidFill>
                <a:latin typeface="Calibri"/>
              </a:rPr>
              <a:t>node:sqlite</a:t>
            </a:r>
            <a:endParaRPr lang="es-CO" sz="1100" b="0" i="0" dirty="0">
              <a:solidFill>
                <a:srgbClr val="E8EEF6"/>
              </a:solidFill>
              <a:latin typeface="Calibri"/>
            </a:endParaRPr>
          </a:p>
        </p:txBody>
      </p:sp>
      <p:sp>
        <p:nvSpPr>
          <p:cNvPr id="14" name="TextBox 13"/>
          <p:cNvSpPr txBox="1"/>
          <p:nvPr/>
        </p:nvSpPr>
        <p:spPr>
          <a:xfrm>
            <a:off x="502920" y="3207201"/>
            <a:ext cx="8138160" cy="169277"/>
          </a:xfrm>
          <a:prstGeom prst="rect">
            <a:avLst/>
          </a:prstGeom>
          <a:noFill/>
        </p:spPr>
        <p:txBody>
          <a:bodyPr wrap="square" lIns="0" tIns="0" rIns="0" bIns="0" anchor="ctr">
            <a:spAutoFit/>
          </a:bodyPr>
          <a:lstStyle/>
          <a:p>
            <a:pPr algn="l"/>
            <a:r>
              <a:rPr lang="es-CO" sz="1100" b="1" i="0">
                <a:solidFill>
                  <a:srgbClr val="6C7E96"/>
                </a:solidFill>
                <a:latin typeface="Arial"/>
              </a:rPr>
              <a:t>Páginas del sitio</a:t>
            </a:r>
          </a:p>
        </p:txBody>
      </p:sp>
      <p:sp>
        <p:nvSpPr>
          <p:cNvPr id="15" name="Rounded Rectangle 14"/>
          <p:cNvSpPr/>
          <p:nvPr/>
        </p:nvSpPr>
        <p:spPr>
          <a:xfrm>
            <a:off x="502920" y="3438144"/>
            <a:ext cx="914400" cy="292608"/>
          </a:xfrm>
          <a:prstGeom prst="roundRect">
            <a:avLst>
              <a:gd name="adj" fmla="val 13333"/>
            </a:avLst>
          </a:prstGeom>
          <a:solidFill>
            <a:srgbClr val="1A243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16" name="TextBox 15"/>
          <p:cNvSpPr txBox="1"/>
          <p:nvPr/>
        </p:nvSpPr>
        <p:spPr>
          <a:xfrm>
            <a:off x="539496" y="3499809"/>
            <a:ext cx="841248" cy="169277"/>
          </a:xfrm>
          <a:prstGeom prst="rect">
            <a:avLst/>
          </a:prstGeom>
          <a:noFill/>
        </p:spPr>
        <p:txBody>
          <a:bodyPr wrap="square" lIns="0" tIns="0" rIns="0" bIns="0" anchor="ctr">
            <a:spAutoFit/>
          </a:bodyPr>
          <a:lstStyle/>
          <a:p>
            <a:pPr algn="ctr"/>
            <a:r>
              <a:rPr lang="es-CO" sz="1100" b="1" i="0">
                <a:solidFill>
                  <a:srgbClr val="3DDC97"/>
                </a:solidFill>
                <a:latin typeface="Arial"/>
              </a:rPr>
              <a:t>Inicio</a:t>
            </a:r>
          </a:p>
        </p:txBody>
      </p:sp>
      <p:sp>
        <p:nvSpPr>
          <p:cNvPr id="17" name="Rounded Rectangle 16"/>
          <p:cNvSpPr/>
          <p:nvPr/>
        </p:nvSpPr>
        <p:spPr>
          <a:xfrm>
            <a:off x="1527048" y="3438144"/>
            <a:ext cx="1051560" cy="292608"/>
          </a:xfrm>
          <a:prstGeom prst="roundRect">
            <a:avLst>
              <a:gd name="adj" fmla="val 13333"/>
            </a:avLst>
          </a:prstGeom>
          <a:solidFill>
            <a:srgbClr val="1A243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18" name="TextBox 17"/>
          <p:cNvSpPr txBox="1"/>
          <p:nvPr/>
        </p:nvSpPr>
        <p:spPr>
          <a:xfrm>
            <a:off x="1563624" y="3499809"/>
            <a:ext cx="978408" cy="169277"/>
          </a:xfrm>
          <a:prstGeom prst="rect">
            <a:avLst/>
          </a:prstGeom>
          <a:noFill/>
        </p:spPr>
        <p:txBody>
          <a:bodyPr wrap="square" lIns="0" tIns="0" rIns="0" bIns="0" anchor="ctr">
            <a:spAutoFit/>
          </a:bodyPr>
          <a:lstStyle/>
          <a:p>
            <a:pPr algn="ctr"/>
            <a:r>
              <a:rPr lang="es-CO" sz="1100" b="1" i="0">
                <a:solidFill>
                  <a:srgbClr val="3DDC97"/>
                </a:solidFill>
                <a:latin typeface="Arial"/>
              </a:rPr>
              <a:t>Acerca de</a:t>
            </a:r>
          </a:p>
        </p:txBody>
      </p:sp>
      <p:sp>
        <p:nvSpPr>
          <p:cNvPr id="19" name="Rounded Rectangle 18"/>
          <p:cNvSpPr/>
          <p:nvPr/>
        </p:nvSpPr>
        <p:spPr>
          <a:xfrm>
            <a:off x="2688336" y="3438144"/>
            <a:ext cx="1051560" cy="292608"/>
          </a:xfrm>
          <a:prstGeom prst="roundRect">
            <a:avLst>
              <a:gd name="adj" fmla="val 13333"/>
            </a:avLst>
          </a:prstGeom>
          <a:solidFill>
            <a:srgbClr val="1A243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20" name="TextBox 19"/>
          <p:cNvSpPr txBox="1"/>
          <p:nvPr/>
        </p:nvSpPr>
        <p:spPr>
          <a:xfrm>
            <a:off x="2724912" y="3499809"/>
            <a:ext cx="978408" cy="169277"/>
          </a:xfrm>
          <a:prstGeom prst="rect">
            <a:avLst/>
          </a:prstGeom>
          <a:noFill/>
        </p:spPr>
        <p:txBody>
          <a:bodyPr wrap="square" lIns="0" tIns="0" rIns="0" bIns="0" anchor="ctr">
            <a:spAutoFit/>
          </a:bodyPr>
          <a:lstStyle/>
          <a:p>
            <a:pPr algn="ctr"/>
            <a:r>
              <a:rPr lang="es-CO" sz="1100" b="1" i="0">
                <a:solidFill>
                  <a:srgbClr val="3DDC97"/>
                </a:solidFill>
                <a:latin typeface="Arial"/>
              </a:rPr>
              <a:t>Servicios</a:t>
            </a:r>
          </a:p>
        </p:txBody>
      </p:sp>
      <p:sp>
        <p:nvSpPr>
          <p:cNvPr id="21" name="Rounded Rectangle 20"/>
          <p:cNvSpPr/>
          <p:nvPr/>
        </p:nvSpPr>
        <p:spPr>
          <a:xfrm>
            <a:off x="3849624" y="3438144"/>
            <a:ext cx="1051560" cy="292608"/>
          </a:xfrm>
          <a:prstGeom prst="roundRect">
            <a:avLst>
              <a:gd name="adj" fmla="val 13333"/>
            </a:avLst>
          </a:prstGeom>
          <a:solidFill>
            <a:srgbClr val="1A243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22" name="TextBox 21"/>
          <p:cNvSpPr txBox="1"/>
          <p:nvPr/>
        </p:nvSpPr>
        <p:spPr>
          <a:xfrm>
            <a:off x="3886200" y="3499809"/>
            <a:ext cx="978408" cy="169277"/>
          </a:xfrm>
          <a:prstGeom prst="rect">
            <a:avLst/>
          </a:prstGeom>
          <a:noFill/>
        </p:spPr>
        <p:txBody>
          <a:bodyPr wrap="square" lIns="0" tIns="0" rIns="0" bIns="0" anchor="ctr">
            <a:spAutoFit/>
          </a:bodyPr>
          <a:lstStyle/>
          <a:p>
            <a:pPr algn="ctr"/>
            <a:r>
              <a:rPr lang="es-CO" sz="1100" b="1" i="0">
                <a:solidFill>
                  <a:srgbClr val="3DDC97"/>
                </a:solidFill>
                <a:latin typeface="Arial"/>
              </a:rPr>
              <a:t>Contacto</a:t>
            </a:r>
          </a:p>
        </p:txBody>
      </p:sp>
      <p:sp>
        <p:nvSpPr>
          <p:cNvPr id="23" name="Rounded Rectangle 22"/>
          <p:cNvSpPr/>
          <p:nvPr/>
        </p:nvSpPr>
        <p:spPr>
          <a:xfrm>
            <a:off x="5010912" y="3438144"/>
            <a:ext cx="1874520" cy="292608"/>
          </a:xfrm>
          <a:prstGeom prst="roundRect">
            <a:avLst>
              <a:gd name="adj" fmla="val 13333"/>
            </a:avLst>
          </a:prstGeom>
          <a:solidFill>
            <a:srgbClr val="1A2434"/>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24" name="TextBox 23"/>
          <p:cNvSpPr txBox="1"/>
          <p:nvPr/>
        </p:nvSpPr>
        <p:spPr>
          <a:xfrm>
            <a:off x="5047488" y="3499809"/>
            <a:ext cx="1801368" cy="169277"/>
          </a:xfrm>
          <a:prstGeom prst="rect">
            <a:avLst/>
          </a:prstGeom>
          <a:noFill/>
        </p:spPr>
        <p:txBody>
          <a:bodyPr wrap="square" lIns="0" tIns="0" rIns="0" bIns="0" anchor="ctr">
            <a:spAutoFit/>
          </a:bodyPr>
          <a:lstStyle/>
          <a:p>
            <a:pPr algn="ctr"/>
            <a:r>
              <a:rPr lang="es-CO" sz="1100" b="1" i="0">
                <a:solidFill>
                  <a:srgbClr val="56C7F2"/>
                </a:solidFill>
                <a:latin typeface="Arial"/>
              </a:rPr>
              <a:t>Consulta de contactos</a:t>
            </a:r>
          </a:p>
        </p:txBody>
      </p:sp>
      <p:sp>
        <p:nvSpPr>
          <p:cNvPr id="25" name="Rounded Rectangle 24"/>
          <p:cNvSpPr/>
          <p:nvPr/>
        </p:nvSpPr>
        <p:spPr>
          <a:xfrm>
            <a:off x="502920" y="3931920"/>
            <a:ext cx="8138160" cy="566928"/>
          </a:xfrm>
          <a:prstGeom prst="roundRect">
            <a:avLst>
              <a:gd name="adj" fmla="val 8000"/>
            </a:avLst>
          </a:prstGeom>
          <a:solidFill>
            <a:srgbClr val="1A243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26" name="TextBox 25"/>
          <p:cNvSpPr txBox="1"/>
          <p:nvPr/>
        </p:nvSpPr>
        <p:spPr>
          <a:xfrm>
            <a:off x="685800" y="4130745"/>
            <a:ext cx="7772400" cy="169277"/>
          </a:xfrm>
          <a:prstGeom prst="rect">
            <a:avLst/>
          </a:prstGeom>
          <a:noFill/>
        </p:spPr>
        <p:txBody>
          <a:bodyPr wrap="square" lIns="0" tIns="0" rIns="0" bIns="0" anchor="ctr">
            <a:spAutoFit/>
          </a:bodyPr>
          <a:lstStyle/>
          <a:p>
            <a:pPr algn="l"/>
            <a:r>
              <a:rPr lang="es-CO" sz="1100" b="1" i="0" dirty="0">
                <a:solidFill>
                  <a:srgbClr val="3DDC97"/>
                </a:solidFill>
                <a:latin typeface="Calibri"/>
              </a:rPr>
              <a:t>La aplicación funciona.  </a:t>
            </a:r>
            <a:r>
              <a:rPr lang="es-CO" sz="1100" b="0" i="0" dirty="0">
                <a:solidFill>
                  <a:srgbClr val="E8EEF6"/>
                </a:solidFill>
                <a:latin typeface="Calibri"/>
              </a:rPr>
              <a:t>La pregunta de hoy es otra: ¿cómo se organiza su código y qué significan sus datos?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101B"/>
        </a:solidFill>
        <a:effectLst/>
      </p:bgPr>
    </p:bg>
    <p:spTree>
      <p:nvGrpSpPr>
        <p:cNvPr id="1" name=""/>
        <p:cNvGrpSpPr/>
        <p:nvPr/>
      </p:nvGrpSpPr>
      <p:grpSpPr>
        <a:xfrm>
          <a:off x="0" y="0"/>
          <a:ext cx="0" cy="0"/>
          <a:chOff x="0" y="0"/>
          <a:chExt cx="0" cy="0"/>
        </a:xfrm>
      </p:grpSpPr>
      <p:sp>
        <p:nvSpPr>
          <p:cNvPr id="2" name="TextBox 1"/>
          <p:cNvSpPr txBox="1"/>
          <p:nvPr/>
        </p:nvSpPr>
        <p:spPr>
          <a:xfrm>
            <a:off x="6309360" y="4718304"/>
            <a:ext cx="2331720" cy="201168"/>
          </a:xfrm>
          <a:prstGeom prst="rect">
            <a:avLst/>
          </a:prstGeom>
          <a:noFill/>
        </p:spPr>
        <p:txBody>
          <a:bodyPr wrap="square" lIns="0" tIns="0" rIns="0" bIns="0" anchor="ctr">
            <a:spAutoFit/>
          </a:bodyPr>
          <a:lstStyle/>
          <a:p>
            <a:pPr algn="r"/>
            <a:r>
              <a:rPr lang="es-CO" sz="800" b="0" i="0">
                <a:solidFill>
                  <a:srgbClr val="6C7E96"/>
                </a:solidFill>
                <a:latin typeface="Arial"/>
              </a:rPr>
              <a:t>Ingeniería Web  ·  04 / 24</a:t>
            </a:r>
          </a:p>
        </p:txBody>
      </p:sp>
      <p:sp>
        <p:nvSpPr>
          <p:cNvPr id="3" name="Rounded Rectangle 2"/>
          <p:cNvSpPr/>
          <p:nvPr/>
        </p:nvSpPr>
        <p:spPr>
          <a:xfrm>
            <a:off x="502920" y="365760"/>
            <a:ext cx="1554480" cy="228600"/>
          </a:xfrm>
          <a:prstGeom prst="roundRect">
            <a:avLst>
              <a:gd name="adj" fmla="val 50000"/>
            </a:avLst>
          </a:prstGeom>
          <a:solidFill>
            <a:srgbClr val="132A24"/>
          </a:solidFill>
          <a:ln w="952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502920" y="365760"/>
            <a:ext cx="1554480" cy="228600"/>
          </a:xfrm>
          <a:prstGeom prst="rect">
            <a:avLst/>
          </a:prstGeom>
          <a:noFill/>
        </p:spPr>
        <p:txBody>
          <a:bodyPr wrap="square" lIns="0" tIns="0" rIns="0" bIns="0" anchor="ctr">
            <a:spAutoFit/>
          </a:bodyPr>
          <a:lstStyle/>
          <a:p>
            <a:pPr algn="ctr"/>
            <a:r>
              <a:rPr lang="es-CO" sz="850" b="1" i="0">
                <a:solidFill>
                  <a:srgbClr val="3DDC97"/>
                </a:solidFill>
                <a:latin typeface="Arial"/>
              </a:rPr>
              <a:t>PUNTO DE PARTIDA</a:t>
            </a:r>
          </a:p>
        </p:txBody>
      </p:sp>
      <p:sp>
        <p:nvSpPr>
          <p:cNvPr id="5" name="Título"/>
          <p:cNvSpPr txBox="1"/>
          <p:nvPr/>
        </p:nvSpPr>
        <p:spPr>
          <a:xfrm>
            <a:off x="475488" y="658368"/>
            <a:ext cx="8138160" cy="438912"/>
          </a:xfrm>
          <a:prstGeom prst="rect">
            <a:avLst/>
          </a:prstGeom>
          <a:noFill/>
        </p:spPr>
        <p:txBody>
          <a:bodyPr wrap="square" lIns="0" tIns="0" rIns="0" bIns="0" anchor="ctr">
            <a:spAutoFit/>
          </a:bodyPr>
          <a:lstStyle/>
          <a:p>
            <a:pPr algn="l"/>
            <a:r>
              <a:rPr lang="es-CO" sz="2600" b="1" i="0">
                <a:solidFill>
                  <a:srgbClr val="FFFFFF"/>
                </a:solidFill>
                <a:latin typeface="Arial"/>
              </a:rPr>
              <a:t>Todo lo que hoy resuelve server_rutas.js</a:t>
            </a:r>
          </a:p>
        </p:txBody>
      </p:sp>
      <p:sp>
        <p:nvSpPr>
          <p:cNvPr id="6" name="TextBox 5"/>
          <p:cNvSpPr txBox="1"/>
          <p:nvPr/>
        </p:nvSpPr>
        <p:spPr>
          <a:xfrm>
            <a:off x="475488" y="1097280"/>
            <a:ext cx="8138160" cy="237744"/>
          </a:xfrm>
          <a:prstGeom prst="rect">
            <a:avLst/>
          </a:prstGeom>
          <a:noFill/>
        </p:spPr>
        <p:txBody>
          <a:bodyPr wrap="square" lIns="0" tIns="0" rIns="0" bIns="0" anchor="ctr">
            <a:spAutoFit/>
          </a:bodyPr>
          <a:lstStyle/>
          <a:p>
            <a:pPr algn="l"/>
            <a:r>
              <a:rPr lang="es-CO" sz="1100" b="0" i="0">
                <a:solidFill>
                  <a:srgbClr val="93A5BD"/>
                </a:solidFill>
                <a:latin typeface="Calibri"/>
              </a:rPr>
              <a:t>Un único archivo reúne siete responsabilidades distintas.</a:t>
            </a:r>
          </a:p>
        </p:txBody>
      </p:sp>
      <p:sp>
        <p:nvSpPr>
          <p:cNvPr id="7" name="Rounded Rectangle 6"/>
          <p:cNvSpPr/>
          <p:nvPr/>
        </p:nvSpPr>
        <p:spPr>
          <a:xfrm>
            <a:off x="502920" y="1417320"/>
            <a:ext cx="4937760" cy="3108960"/>
          </a:xfrm>
          <a:prstGeom prst="roundRect">
            <a:avLst>
              <a:gd name="adj" fmla="val 8000"/>
            </a:avLst>
          </a:prstGeom>
          <a:solidFill>
            <a:srgbClr val="070C1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8" name="TextBox 7"/>
          <p:cNvSpPr txBox="1"/>
          <p:nvPr/>
        </p:nvSpPr>
        <p:spPr>
          <a:xfrm>
            <a:off x="649224" y="1497273"/>
            <a:ext cx="4663440" cy="169277"/>
          </a:xfrm>
          <a:prstGeom prst="rect">
            <a:avLst/>
          </a:prstGeom>
          <a:noFill/>
        </p:spPr>
        <p:txBody>
          <a:bodyPr wrap="square" lIns="0" tIns="0" rIns="0" bIns="0" anchor="ctr">
            <a:spAutoFit/>
          </a:bodyPr>
          <a:lstStyle/>
          <a:p>
            <a:pPr algn="l"/>
            <a:r>
              <a:rPr lang="es-CO" sz="1100" b="1" i="0">
                <a:solidFill>
                  <a:srgbClr val="3DDC97"/>
                </a:solidFill>
                <a:latin typeface="Courier New"/>
              </a:rPr>
              <a:t>server_rutas.js · Laboratorio 06</a:t>
            </a:r>
          </a:p>
        </p:txBody>
      </p:sp>
      <p:sp>
        <p:nvSpPr>
          <p:cNvPr id="9" name="Rectangle 8"/>
          <p:cNvSpPr/>
          <p:nvPr/>
        </p:nvSpPr>
        <p:spPr>
          <a:xfrm>
            <a:off x="649224" y="1773936"/>
            <a:ext cx="73152" cy="274320"/>
          </a:xfrm>
          <a:prstGeom prst="rect">
            <a:avLst/>
          </a:prstGeom>
          <a:solidFill>
            <a:srgbClr val="6C7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10" name="TextBox 9"/>
          <p:cNvSpPr txBox="1"/>
          <p:nvPr/>
        </p:nvSpPr>
        <p:spPr>
          <a:xfrm>
            <a:off x="822960" y="1826457"/>
            <a:ext cx="1691640" cy="169277"/>
          </a:xfrm>
          <a:prstGeom prst="rect">
            <a:avLst/>
          </a:prstGeom>
          <a:noFill/>
        </p:spPr>
        <p:txBody>
          <a:bodyPr wrap="square" lIns="0" tIns="0" rIns="0" bIns="0" anchor="ctr">
            <a:spAutoFit/>
          </a:bodyPr>
          <a:lstStyle/>
          <a:p>
            <a:pPr algn="l"/>
            <a:r>
              <a:rPr lang="es-CO" sz="1100" b="1" i="0">
                <a:solidFill>
                  <a:srgbClr val="E8EEF6"/>
                </a:solidFill>
                <a:latin typeface="Arial"/>
              </a:rPr>
              <a:t>Iniciar el servidor</a:t>
            </a:r>
          </a:p>
        </p:txBody>
      </p:sp>
      <p:sp>
        <p:nvSpPr>
          <p:cNvPr id="11" name="TextBox 10"/>
          <p:cNvSpPr txBox="1"/>
          <p:nvPr/>
        </p:nvSpPr>
        <p:spPr>
          <a:xfrm>
            <a:off x="2542032" y="1826457"/>
            <a:ext cx="2788920" cy="169277"/>
          </a:xfrm>
          <a:prstGeom prst="rect">
            <a:avLst/>
          </a:prstGeom>
          <a:noFill/>
        </p:spPr>
        <p:txBody>
          <a:bodyPr wrap="square" lIns="0" tIns="0" rIns="0" bIns="0" anchor="ctr">
            <a:spAutoFit/>
          </a:bodyPr>
          <a:lstStyle/>
          <a:p>
            <a:pPr algn="l"/>
            <a:r>
              <a:rPr lang="es-CO" sz="1100" b="0" i="0">
                <a:solidFill>
                  <a:srgbClr val="93A5BD"/>
                </a:solidFill>
                <a:latin typeface="Courier New"/>
              </a:rPr>
              <a:t>createServer() y listen(3000)</a:t>
            </a:r>
          </a:p>
        </p:txBody>
      </p:sp>
      <p:sp>
        <p:nvSpPr>
          <p:cNvPr id="12" name="Rectangle 11"/>
          <p:cNvSpPr/>
          <p:nvPr/>
        </p:nvSpPr>
        <p:spPr>
          <a:xfrm>
            <a:off x="649224" y="2157984"/>
            <a:ext cx="73152" cy="274320"/>
          </a:xfrm>
          <a:prstGeom prst="rect">
            <a:avLst/>
          </a:prstGeom>
          <a:solidFill>
            <a:srgbClr val="56C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13" name="TextBox 12"/>
          <p:cNvSpPr txBox="1"/>
          <p:nvPr/>
        </p:nvSpPr>
        <p:spPr>
          <a:xfrm>
            <a:off x="822960" y="2210505"/>
            <a:ext cx="1691640" cy="169277"/>
          </a:xfrm>
          <a:prstGeom prst="rect">
            <a:avLst/>
          </a:prstGeom>
          <a:noFill/>
        </p:spPr>
        <p:txBody>
          <a:bodyPr wrap="square" lIns="0" tIns="0" rIns="0" bIns="0" anchor="ctr">
            <a:spAutoFit/>
          </a:bodyPr>
          <a:lstStyle/>
          <a:p>
            <a:pPr algn="l"/>
            <a:r>
              <a:rPr lang="es-CO" sz="1100" b="1" i="0">
                <a:solidFill>
                  <a:srgbClr val="56C7F2"/>
                </a:solidFill>
                <a:latin typeface="Arial"/>
              </a:rPr>
              <a:t>Seleccionar la ruta</a:t>
            </a:r>
          </a:p>
        </p:txBody>
      </p:sp>
      <p:sp>
        <p:nvSpPr>
          <p:cNvPr id="14" name="TextBox 13"/>
          <p:cNvSpPr txBox="1"/>
          <p:nvPr/>
        </p:nvSpPr>
        <p:spPr>
          <a:xfrm>
            <a:off x="2542032" y="2210505"/>
            <a:ext cx="2788920" cy="169277"/>
          </a:xfrm>
          <a:prstGeom prst="rect">
            <a:avLst/>
          </a:prstGeom>
          <a:noFill/>
        </p:spPr>
        <p:txBody>
          <a:bodyPr wrap="square" lIns="0" tIns="0" rIns="0" bIns="0" anchor="ctr">
            <a:spAutoFit/>
          </a:bodyPr>
          <a:lstStyle/>
          <a:p>
            <a:pPr algn="l"/>
            <a:r>
              <a:rPr lang="es-CO" sz="1100" b="0" i="0">
                <a:solidFill>
                  <a:srgbClr val="93A5BD"/>
                </a:solidFill>
                <a:latin typeface="Courier New"/>
              </a:rPr>
              <a:t>if (req.method … &amp;&amp; req.url …)</a:t>
            </a:r>
          </a:p>
        </p:txBody>
      </p:sp>
      <p:sp>
        <p:nvSpPr>
          <p:cNvPr id="15" name="Rectangle 14"/>
          <p:cNvSpPr/>
          <p:nvPr/>
        </p:nvSpPr>
        <p:spPr>
          <a:xfrm>
            <a:off x="649224" y="2542032"/>
            <a:ext cx="73152" cy="274320"/>
          </a:xfrm>
          <a:prstGeom prst="rect">
            <a:avLst/>
          </a:prstGeom>
          <a:solidFill>
            <a:srgbClr val="56C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16" name="TextBox 15"/>
          <p:cNvSpPr txBox="1"/>
          <p:nvPr/>
        </p:nvSpPr>
        <p:spPr>
          <a:xfrm>
            <a:off x="822960" y="2594553"/>
            <a:ext cx="1691640" cy="169277"/>
          </a:xfrm>
          <a:prstGeom prst="rect">
            <a:avLst/>
          </a:prstGeom>
          <a:noFill/>
        </p:spPr>
        <p:txBody>
          <a:bodyPr wrap="square" lIns="0" tIns="0" rIns="0" bIns="0" anchor="ctr">
            <a:spAutoFit/>
          </a:bodyPr>
          <a:lstStyle/>
          <a:p>
            <a:pPr algn="l"/>
            <a:r>
              <a:rPr lang="es-CO" sz="1100" b="1" i="0">
                <a:solidFill>
                  <a:srgbClr val="56C7F2"/>
                </a:solidFill>
                <a:latin typeface="Arial"/>
              </a:rPr>
              <a:t>Leer la solicitud</a:t>
            </a:r>
          </a:p>
        </p:txBody>
      </p:sp>
      <p:sp>
        <p:nvSpPr>
          <p:cNvPr id="17" name="TextBox 16"/>
          <p:cNvSpPr txBox="1"/>
          <p:nvPr/>
        </p:nvSpPr>
        <p:spPr>
          <a:xfrm>
            <a:off x="2542032" y="2594553"/>
            <a:ext cx="2788920" cy="169277"/>
          </a:xfrm>
          <a:prstGeom prst="rect">
            <a:avLst/>
          </a:prstGeom>
          <a:noFill/>
        </p:spPr>
        <p:txBody>
          <a:bodyPr wrap="square" lIns="0" tIns="0" rIns="0" bIns="0" anchor="ctr">
            <a:spAutoFit/>
          </a:bodyPr>
          <a:lstStyle/>
          <a:p>
            <a:pPr algn="l"/>
            <a:r>
              <a:rPr lang="es-CO" sz="1100" b="0" i="0">
                <a:solidFill>
                  <a:srgbClr val="93A5BD"/>
                </a:solidFill>
                <a:latin typeface="Courier New"/>
              </a:rPr>
              <a:t>data, end y URLSearchParams</a:t>
            </a:r>
          </a:p>
        </p:txBody>
      </p:sp>
      <p:sp>
        <p:nvSpPr>
          <p:cNvPr id="18" name="Rectangle 17"/>
          <p:cNvSpPr/>
          <p:nvPr/>
        </p:nvSpPr>
        <p:spPr>
          <a:xfrm>
            <a:off x="649224" y="2926080"/>
            <a:ext cx="73152" cy="27432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19" name="TextBox 18"/>
          <p:cNvSpPr txBox="1"/>
          <p:nvPr/>
        </p:nvSpPr>
        <p:spPr>
          <a:xfrm>
            <a:off x="822960" y="2978601"/>
            <a:ext cx="1691640" cy="169277"/>
          </a:xfrm>
          <a:prstGeom prst="rect">
            <a:avLst/>
          </a:prstGeom>
          <a:noFill/>
        </p:spPr>
        <p:txBody>
          <a:bodyPr wrap="square" lIns="0" tIns="0" rIns="0" bIns="0" anchor="ctr">
            <a:spAutoFit/>
          </a:bodyPr>
          <a:lstStyle/>
          <a:p>
            <a:pPr algn="l"/>
            <a:r>
              <a:rPr lang="es-CO" sz="1100" b="1" i="0">
                <a:solidFill>
                  <a:srgbClr val="3DDC97"/>
                </a:solidFill>
                <a:latin typeface="Arial"/>
              </a:rPr>
              <a:t>Aplicar reglas</a:t>
            </a:r>
          </a:p>
        </p:txBody>
      </p:sp>
      <p:sp>
        <p:nvSpPr>
          <p:cNvPr id="20" name="TextBox 19"/>
          <p:cNvSpPr txBox="1"/>
          <p:nvPr/>
        </p:nvSpPr>
        <p:spPr>
          <a:xfrm>
            <a:off x="2542032" y="2978601"/>
            <a:ext cx="2788920" cy="169277"/>
          </a:xfrm>
          <a:prstGeom prst="rect">
            <a:avLst/>
          </a:prstGeom>
          <a:noFill/>
        </p:spPr>
        <p:txBody>
          <a:bodyPr wrap="square" lIns="0" tIns="0" rIns="0" bIns="0" anchor="ctr">
            <a:spAutoFit/>
          </a:bodyPr>
          <a:lstStyle/>
          <a:p>
            <a:pPr algn="l"/>
            <a:r>
              <a:rPr lang="es-CO" sz="1100" b="0" i="0" dirty="0">
                <a:solidFill>
                  <a:srgbClr val="93A5BD"/>
                </a:solidFill>
                <a:latin typeface="Courier New"/>
              </a:rPr>
              <a:t>campos obligatorios del contacto</a:t>
            </a:r>
          </a:p>
        </p:txBody>
      </p:sp>
      <p:sp>
        <p:nvSpPr>
          <p:cNvPr id="21" name="Rectangle 20"/>
          <p:cNvSpPr/>
          <p:nvPr/>
        </p:nvSpPr>
        <p:spPr>
          <a:xfrm>
            <a:off x="649224" y="3310128"/>
            <a:ext cx="73152" cy="274320"/>
          </a:xfrm>
          <a:prstGeom prst="rect">
            <a:avLst/>
          </a:prstGeom>
          <a:solidFill>
            <a:srgbClr val="FFB8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22" name="TextBox 21"/>
          <p:cNvSpPr txBox="1"/>
          <p:nvPr/>
        </p:nvSpPr>
        <p:spPr>
          <a:xfrm>
            <a:off x="822960" y="3362649"/>
            <a:ext cx="1691640" cy="169277"/>
          </a:xfrm>
          <a:prstGeom prst="rect">
            <a:avLst/>
          </a:prstGeom>
          <a:noFill/>
        </p:spPr>
        <p:txBody>
          <a:bodyPr wrap="square" lIns="0" tIns="0" rIns="0" bIns="0" anchor="ctr">
            <a:spAutoFit/>
          </a:bodyPr>
          <a:lstStyle/>
          <a:p>
            <a:pPr algn="l"/>
            <a:r>
              <a:rPr lang="es-CO" sz="1100" b="1" i="0">
                <a:solidFill>
                  <a:srgbClr val="FFB86C"/>
                </a:solidFill>
                <a:latin typeface="Arial"/>
              </a:rPr>
              <a:t>Consultar y guardar</a:t>
            </a:r>
          </a:p>
        </p:txBody>
      </p:sp>
      <p:sp>
        <p:nvSpPr>
          <p:cNvPr id="23" name="TextBox 22"/>
          <p:cNvSpPr txBox="1"/>
          <p:nvPr/>
        </p:nvSpPr>
        <p:spPr>
          <a:xfrm>
            <a:off x="2542032" y="3362649"/>
            <a:ext cx="2788920" cy="169277"/>
          </a:xfrm>
          <a:prstGeom prst="rect">
            <a:avLst/>
          </a:prstGeom>
          <a:noFill/>
        </p:spPr>
        <p:txBody>
          <a:bodyPr wrap="square" lIns="0" tIns="0" rIns="0" bIns="0" anchor="ctr">
            <a:spAutoFit/>
          </a:bodyPr>
          <a:lstStyle/>
          <a:p>
            <a:pPr algn="l"/>
            <a:r>
              <a:rPr lang="es-CO" sz="1100" b="0" i="0" dirty="0" err="1">
                <a:solidFill>
                  <a:srgbClr val="93A5BD"/>
                </a:solidFill>
                <a:latin typeface="Courier New"/>
              </a:rPr>
              <a:t>db.prepare</a:t>
            </a:r>
            <a:r>
              <a:rPr lang="es-CO" sz="1100" b="0" i="0" dirty="0">
                <a:solidFill>
                  <a:srgbClr val="93A5BD"/>
                </a:solidFill>
                <a:latin typeface="Courier New"/>
              </a:rPr>
              <a:t>(), run() y </a:t>
            </a:r>
            <a:r>
              <a:rPr lang="es-CO" sz="1100" b="0" i="0" dirty="0" err="1">
                <a:solidFill>
                  <a:srgbClr val="93A5BD"/>
                </a:solidFill>
                <a:latin typeface="Courier New"/>
              </a:rPr>
              <a:t>all</a:t>
            </a:r>
            <a:r>
              <a:rPr lang="es-CO" sz="1100" b="0" i="0" dirty="0">
                <a:solidFill>
                  <a:srgbClr val="93A5BD"/>
                </a:solidFill>
                <a:latin typeface="Courier New"/>
              </a:rPr>
              <a:t>()</a:t>
            </a:r>
          </a:p>
        </p:txBody>
      </p:sp>
      <p:sp>
        <p:nvSpPr>
          <p:cNvPr id="24" name="Rectangle 23"/>
          <p:cNvSpPr/>
          <p:nvPr/>
        </p:nvSpPr>
        <p:spPr>
          <a:xfrm>
            <a:off x="649224" y="3694176"/>
            <a:ext cx="73152" cy="274320"/>
          </a:xfrm>
          <a:prstGeom prst="rect">
            <a:avLst/>
          </a:prstGeom>
          <a:solidFill>
            <a:srgbClr val="56C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25" name="TextBox 24"/>
          <p:cNvSpPr txBox="1"/>
          <p:nvPr/>
        </p:nvSpPr>
        <p:spPr>
          <a:xfrm>
            <a:off x="822960" y="3746697"/>
            <a:ext cx="1691640" cy="169277"/>
          </a:xfrm>
          <a:prstGeom prst="rect">
            <a:avLst/>
          </a:prstGeom>
          <a:noFill/>
        </p:spPr>
        <p:txBody>
          <a:bodyPr wrap="square" lIns="0" tIns="0" rIns="0" bIns="0" anchor="ctr">
            <a:spAutoFit/>
          </a:bodyPr>
          <a:lstStyle/>
          <a:p>
            <a:pPr algn="l"/>
            <a:r>
              <a:rPr lang="es-CO" sz="1100" b="1" i="0">
                <a:solidFill>
                  <a:srgbClr val="56C7F2"/>
                </a:solidFill>
                <a:latin typeface="Arial"/>
              </a:rPr>
              <a:t>Construir respuestas</a:t>
            </a:r>
          </a:p>
        </p:txBody>
      </p:sp>
      <p:sp>
        <p:nvSpPr>
          <p:cNvPr id="26" name="TextBox 25"/>
          <p:cNvSpPr txBox="1"/>
          <p:nvPr/>
        </p:nvSpPr>
        <p:spPr>
          <a:xfrm>
            <a:off x="2542032" y="3662059"/>
            <a:ext cx="2788920" cy="338554"/>
          </a:xfrm>
          <a:prstGeom prst="rect">
            <a:avLst/>
          </a:prstGeom>
          <a:noFill/>
        </p:spPr>
        <p:txBody>
          <a:bodyPr wrap="square" lIns="0" tIns="0" rIns="0" bIns="0" anchor="ctr">
            <a:spAutoFit/>
          </a:bodyPr>
          <a:lstStyle/>
          <a:p>
            <a:pPr algn="l"/>
            <a:r>
              <a:rPr lang="es-CO" sz="1100" b="0" i="0">
                <a:solidFill>
                  <a:srgbClr val="93A5BD"/>
                </a:solidFill>
                <a:latin typeface="Courier New"/>
              </a:rPr>
              <a:t>HTML, JSON y códigos 200/201/400/404</a:t>
            </a:r>
          </a:p>
        </p:txBody>
      </p:sp>
      <p:sp>
        <p:nvSpPr>
          <p:cNvPr id="27" name="Rectangle 26"/>
          <p:cNvSpPr/>
          <p:nvPr/>
        </p:nvSpPr>
        <p:spPr>
          <a:xfrm>
            <a:off x="649224" y="4078224"/>
            <a:ext cx="73152" cy="274320"/>
          </a:xfrm>
          <a:prstGeom prst="rect">
            <a:avLst/>
          </a:prstGeom>
          <a:solidFill>
            <a:srgbClr val="56C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28" name="TextBox 27"/>
          <p:cNvSpPr txBox="1"/>
          <p:nvPr/>
        </p:nvSpPr>
        <p:spPr>
          <a:xfrm>
            <a:off x="822960" y="4130745"/>
            <a:ext cx="1691640" cy="169277"/>
          </a:xfrm>
          <a:prstGeom prst="rect">
            <a:avLst/>
          </a:prstGeom>
          <a:noFill/>
        </p:spPr>
        <p:txBody>
          <a:bodyPr wrap="square" lIns="0" tIns="0" rIns="0" bIns="0" anchor="ctr">
            <a:spAutoFit/>
          </a:bodyPr>
          <a:lstStyle/>
          <a:p>
            <a:pPr algn="l"/>
            <a:r>
              <a:rPr lang="es-CO" sz="1100" b="1" i="0">
                <a:solidFill>
                  <a:srgbClr val="56C7F2"/>
                </a:solidFill>
                <a:latin typeface="Arial"/>
              </a:rPr>
              <a:t>Entregar archivos</a:t>
            </a:r>
          </a:p>
        </p:txBody>
      </p:sp>
      <p:sp>
        <p:nvSpPr>
          <p:cNvPr id="29" name="TextBox 28"/>
          <p:cNvSpPr txBox="1"/>
          <p:nvPr/>
        </p:nvSpPr>
        <p:spPr>
          <a:xfrm>
            <a:off x="2542032" y="4046107"/>
            <a:ext cx="2788920" cy="338554"/>
          </a:xfrm>
          <a:prstGeom prst="rect">
            <a:avLst/>
          </a:prstGeom>
          <a:noFill/>
        </p:spPr>
        <p:txBody>
          <a:bodyPr wrap="square" lIns="0" tIns="0" rIns="0" bIns="0" anchor="ctr">
            <a:spAutoFit/>
          </a:bodyPr>
          <a:lstStyle/>
          <a:p>
            <a:pPr algn="l"/>
            <a:r>
              <a:rPr lang="es-CO" sz="1100" b="0" i="0">
                <a:solidFill>
                  <a:srgbClr val="93A5BD"/>
                </a:solidFill>
                <a:latin typeface="Courier New"/>
              </a:rPr>
              <a:t>contacto.html, contactos.html, styles.css</a:t>
            </a:r>
          </a:p>
        </p:txBody>
      </p:sp>
      <p:sp>
        <p:nvSpPr>
          <p:cNvPr id="30" name="Rounded Rectangle 29"/>
          <p:cNvSpPr/>
          <p:nvPr/>
        </p:nvSpPr>
        <p:spPr>
          <a:xfrm>
            <a:off x="5623560" y="1417320"/>
            <a:ext cx="3017520" cy="932688"/>
          </a:xfrm>
          <a:prstGeom prst="roundRect">
            <a:avLst>
              <a:gd name="adj" fmla="val 8000"/>
            </a:avLst>
          </a:prstGeom>
          <a:solidFill>
            <a:srgbClr val="1A2434"/>
          </a:solidFill>
          <a:ln w="12700">
            <a:solidFill>
              <a:srgbClr val="FFD47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31" name="TextBox 30"/>
          <p:cNvSpPr txBox="1"/>
          <p:nvPr/>
        </p:nvSpPr>
        <p:spPr>
          <a:xfrm>
            <a:off x="5751576" y="1533849"/>
            <a:ext cx="2761488" cy="169277"/>
          </a:xfrm>
          <a:prstGeom prst="rect">
            <a:avLst/>
          </a:prstGeom>
          <a:noFill/>
        </p:spPr>
        <p:txBody>
          <a:bodyPr wrap="square" lIns="0" tIns="0" rIns="0" bIns="0" anchor="ctr">
            <a:spAutoFit/>
          </a:bodyPr>
          <a:lstStyle/>
          <a:p>
            <a:pPr algn="l"/>
            <a:r>
              <a:rPr lang="es-CO" sz="1100" b="1" i="0">
                <a:solidFill>
                  <a:srgbClr val="FFD479"/>
                </a:solidFill>
                <a:latin typeface="Arial"/>
              </a:rPr>
              <a:t>Síntoma</a:t>
            </a:r>
          </a:p>
        </p:txBody>
      </p:sp>
      <p:sp>
        <p:nvSpPr>
          <p:cNvPr id="32" name="TextBox 31"/>
          <p:cNvSpPr txBox="1"/>
          <p:nvPr/>
        </p:nvSpPr>
        <p:spPr>
          <a:xfrm>
            <a:off x="5751576" y="1773936"/>
            <a:ext cx="2761488" cy="521208"/>
          </a:xfrm>
          <a:prstGeom prst="rect">
            <a:avLst/>
          </a:prstGeom>
          <a:noFill/>
        </p:spPr>
        <p:txBody>
          <a:bodyPr wrap="square" lIns="0" tIns="0" rIns="0" bIns="0" anchor="t">
            <a:spAutoFit/>
          </a:bodyPr>
          <a:lstStyle/>
          <a:p>
            <a:pPr algn="l">
              <a:spcAft>
                <a:spcPts val="200"/>
              </a:spcAft>
            </a:pPr>
            <a:r>
              <a:rPr lang="es-CO" sz="1100" b="0" i="0">
                <a:solidFill>
                  <a:srgbClr val="E8EEF6"/>
                </a:solidFill>
                <a:latin typeface="Calibri"/>
              </a:rPr>
              <a:t>El archivo cambia por motivos distintos: una regla nueva, otro gestor de base de datos o un nuevo diseño.</a:t>
            </a:r>
          </a:p>
        </p:txBody>
      </p:sp>
      <p:sp>
        <p:nvSpPr>
          <p:cNvPr id="33" name="Rounded Rectangle 32"/>
          <p:cNvSpPr/>
          <p:nvPr/>
        </p:nvSpPr>
        <p:spPr>
          <a:xfrm>
            <a:off x="5623560" y="2468880"/>
            <a:ext cx="3017520" cy="987552"/>
          </a:xfrm>
          <a:prstGeom prst="roundRect">
            <a:avLst>
              <a:gd name="adj" fmla="val 8000"/>
            </a:avLst>
          </a:prstGeom>
          <a:solidFill>
            <a:srgbClr val="1A2434"/>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34" name="TextBox 33"/>
          <p:cNvSpPr txBox="1"/>
          <p:nvPr/>
        </p:nvSpPr>
        <p:spPr>
          <a:xfrm>
            <a:off x="5751576" y="2585409"/>
            <a:ext cx="2761488" cy="169277"/>
          </a:xfrm>
          <a:prstGeom prst="rect">
            <a:avLst/>
          </a:prstGeom>
          <a:noFill/>
        </p:spPr>
        <p:txBody>
          <a:bodyPr wrap="square" lIns="0" tIns="0" rIns="0" bIns="0" anchor="ctr">
            <a:spAutoFit/>
          </a:bodyPr>
          <a:lstStyle/>
          <a:p>
            <a:pPr algn="l"/>
            <a:r>
              <a:rPr lang="es-CO" sz="1100" b="1" i="0">
                <a:solidFill>
                  <a:srgbClr val="56C7F2"/>
                </a:solidFill>
                <a:latin typeface="Arial"/>
              </a:rPr>
              <a:t>Pregunta</a:t>
            </a:r>
          </a:p>
        </p:txBody>
      </p:sp>
      <p:sp>
        <p:nvSpPr>
          <p:cNvPr id="35" name="TextBox 34"/>
          <p:cNvSpPr txBox="1"/>
          <p:nvPr/>
        </p:nvSpPr>
        <p:spPr>
          <a:xfrm>
            <a:off x="5751576" y="2825496"/>
            <a:ext cx="2761488" cy="507831"/>
          </a:xfrm>
          <a:prstGeom prst="rect">
            <a:avLst/>
          </a:prstGeom>
          <a:noFill/>
        </p:spPr>
        <p:txBody>
          <a:bodyPr wrap="square" lIns="0" tIns="0" rIns="0" bIns="0" anchor="t">
            <a:spAutoFit/>
          </a:bodyPr>
          <a:lstStyle/>
          <a:p>
            <a:pPr algn="l">
              <a:spcAft>
                <a:spcPts val="200"/>
              </a:spcAft>
            </a:pPr>
            <a:r>
              <a:rPr lang="es-CO" sz="1100" b="0" i="0" dirty="0">
                <a:solidFill>
                  <a:srgbClr val="E8EEF6"/>
                </a:solidFill>
                <a:latin typeface="Calibri"/>
              </a:rPr>
              <a:t>Si se exige un mensaje de al menos 10 caracteres, ¿qué líneas cambian? ¿Y si se reemplaza SQLite?</a:t>
            </a:r>
          </a:p>
        </p:txBody>
      </p:sp>
      <p:sp>
        <p:nvSpPr>
          <p:cNvPr id="36" name="Rounded Rectangle 35"/>
          <p:cNvSpPr/>
          <p:nvPr/>
        </p:nvSpPr>
        <p:spPr>
          <a:xfrm>
            <a:off x="5623560" y="3575304"/>
            <a:ext cx="3017520" cy="950976"/>
          </a:xfrm>
          <a:prstGeom prst="roundRect">
            <a:avLst>
              <a:gd name="adj" fmla="val 8000"/>
            </a:avLst>
          </a:prstGeom>
          <a:solidFill>
            <a:srgbClr val="1A243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37" name="TextBox 36"/>
          <p:cNvSpPr txBox="1"/>
          <p:nvPr/>
        </p:nvSpPr>
        <p:spPr>
          <a:xfrm>
            <a:off x="5751576" y="3691833"/>
            <a:ext cx="2761488" cy="169277"/>
          </a:xfrm>
          <a:prstGeom prst="rect">
            <a:avLst/>
          </a:prstGeom>
          <a:noFill/>
        </p:spPr>
        <p:txBody>
          <a:bodyPr wrap="square" lIns="0" tIns="0" rIns="0" bIns="0" anchor="ctr">
            <a:spAutoFit/>
          </a:bodyPr>
          <a:lstStyle/>
          <a:p>
            <a:pPr algn="l"/>
            <a:r>
              <a:rPr lang="es-CO" sz="1100" b="1" i="0">
                <a:solidFill>
                  <a:srgbClr val="3DDC97"/>
                </a:solidFill>
                <a:latin typeface="Arial"/>
              </a:rPr>
              <a:t>Propósito del bloque</a:t>
            </a:r>
          </a:p>
        </p:txBody>
      </p:sp>
      <p:sp>
        <p:nvSpPr>
          <p:cNvPr id="38" name="TextBox 37"/>
          <p:cNvSpPr txBox="1"/>
          <p:nvPr/>
        </p:nvSpPr>
        <p:spPr>
          <a:xfrm>
            <a:off x="5751576" y="3931920"/>
            <a:ext cx="2761488" cy="338554"/>
          </a:xfrm>
          <a:prstGeom prst="rect">
            <a:avLst/>
          </a:prstGeom>
          <a:noFill/>
        </p:spPr>
        <p:txBody>
          <a:bodyPr wrap="square" lIns="0" tIns="0" rIns="0" bIns="0" anchor="t">
            <a:spAutoFit/>
          </a:bodyPr>
          <a:lstStyle/>
          <a:p>
            <a:pPr algn="l">
              <a:spcAft>
                <a:spcPts val="200"/>
              </a:spcAft>
            </a:pPr>
            <a:r>
              <a:rPr lang="es-CO" sz="1100" b="0" i="0" dirty="0">
                <a:solidFill>
                  <a:srgbClr val="E8EEF6"/>
                </a:solidFill>
                <a:latin typeface="Calibri"/>
              </a:rPr>
              <a:t>Separar responsabilidades sin cambiar lo que la aplicación hace.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101B"/>
        </a:solidFill>
        <a:effectLst/>
      </p:bgPr>
    </p:bg>
    <p:spTree>
      <p:nvGrpSpPr>
        <p:cNvPr id="1" name=""/>
        <p:cNvGrpSpPr/>
        <p:nvPr/>
      </p:nvGrpSpPr>
      <p:grpSpPr>
        <a:xfrm>
          <a:off x="0" y="0"/>
          <a:ext cx="0" cy="0"/>
          <a:chOff x="0" y="0"/>
          <a:chExt cx="0" cy="0"/>
        </a:xfrm>
      </p:grpSpPr>
      <p:sp>
        <p:nvSpPr>
          <p:cNvPr id="2" name="TextBox 1"/>
          <p:cNvSpPr txBox="1"/>
          <p:nvPr/>
        </p:nvSpPr>
        <p:spPr>
          <a:xfrm>
            <a:off x="6309360" y="4718304"/>
            <a:ext cx="2331720" cy="201168"/>
          </a:xfrm>
          <a:prstGeom prst="rect">
            <a:avLst/>
          </a:prstGeom>
          <a:noFill/>
        </p:spPr>
        <p:txBody>
          <a:bodyPr wrap="square" lIns="0" tIns="0" rIns="0" bIns="0" anchor="ctr">
            <a:spAutoFit/>
          </a:bodyPr>
          <a:lstStyle/>
          <a:p>
            <a:pPr algn="r"/>
            <a:r>
              <a:rPr lang="es-CO" sz="800" b="0" i="0">
                <a:solidFill>
                  <a:srgbClr val="6C7E96"/>
                </a:solidFill>
                <a:latin typeface="Arial"/>
              </a:rPr>
              <a:t>Ingeniería Web  ·  05 / 24</a:t>
            </a:r>
          </a:p>
        </p:txBody>
      </p:sp>
      <p:sp>
        <p:nvSpPr>
          <p:cNvPr id="3" name="Rounded Rectangle 2"/>
          <p:cNvSpPr/>
          <p:nvPr/>
        </p:nvSpPr>
        <p:spPr>
          <a:xfrm>
            <a:off x="502920" y="365760"/>
            <a:ext cx="1024128" cy="228600"/>
          </a:xfrm>
          <a:prstGeom prst="roundRect">
            <a:avLst>
              <a:gd name="adj" fmla="val 50000"/>
            </a:avLst>
          </a:prstGeom>
          <a:solidFill>
            <a:srgbClr val="132A24"/>
          </a:solidFill>
          <a:ln w="952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502920" y="365760"/>
            <a:ext cx="1024128" cy="228600"/>
          </a:xfrm>
          <a:prstGeom prst="rect">
            <a:avLst/>
          </a:prstGeom>
          <a:noFill/>
        </p:spPr>
        <p:txBody>
          <a:bodyPr wrap="square" lIns="0" tIns="0" rIns="0" bIns="0" anchor="ctr">
            <a:spAutoFit/>
          </a:bodyPr>
          <a:lstStyle/>
          <a:p>
            <a:pPr algn="ctr"/>
            <a:r>
              <a:rPr lang="es-CO" sz="850" b="1" i="0">
                <a:solidFill>
                  <a:srgbClr val="3DDC97"/>
                </a:solidFill>
                <a:latin typeface="Arial"/>
              </a:rPr>
              <a:t>CONCEPTO</a:t>
            </a:r>
          </a:p>
        </p:txBody>
      </p:sp>
      <p:sp>
        <p:nvSpPr>
          <p:cNvPr id="5" name="Título"/>
          <p:cNvSpPr txBox="1"/>
          <p:nvPr/>
        </p:nvSpPr>
        <p:spPr>
          <a:xfrm>
            <a:off x="475488" y="658368"/>
            <a:ext cx="8138160" cy="438912"/>
          </a:xfrm>
          <a:prstGeom prst="rect">
            <a:avLst/>
          </a:prstGeom>
          <a:noFill/>
        </p:spPr>
        <p:txBody>
          <a:bodyPr wrap="square" lIns="0" tIns="0" rIns="0" bIns="0" anchor="ctr">
            <a:spAutoFit/>
          </a:bodyPr>
          <a:lstStyle/>
          <a:p>
            <a:pPr algn="l"/>
            <a:r>
              <a:rPr lang="es-CO" sz="2600" b="1" i="0">
                <a:solidFill>
                  <a:srgbClr val="FFFFFF"/>
                </a:solidFill>
                <a:latin typeface="Arial"/>
              </a:rPr>
              <a:t>Arquitectura en capas</a:t>
            </a:r>
          </a:p>
        </p:txBody>
      </p:sp>
      <p:sp>
        <p:nvSpPr>
          <p:cNvPr id="6" name="TextBox 5"/>
          <p:cNvSpPr txBox="1"/>
          <p:nvPr/>
        </p:nvSpPr>
        <p:spPr>
          <a:xfrm>
            <a:off x="475488" y="1131513"/>
            <a:ext cx="8138160" cy="169277"/>
          </a:xfrm>
          <a:prstGeom prst="rect">
            <a:avLst/>
          </a:prstGeom>
          <a:noFill/>
        </p:spPr>
        <p:txBody>
          <a:bodyPr wrap="square" lIns="0" tIns="0" rIns="0" bIns="0" anchor="ctr">
            <a:spAutoFit/>
          </a:bodyPr>
          <a:lstStyle/>
          <a:p>
            <a:pPr algn="l"/>
            <a:r>
              <a:rPr lang="es-CO" sz="1100" b="0" i="0" dirty="0">
                <a:solidFill>
                  <a:srgbClr val="93A5BD"/>
                </a:solidFill>
                <a:latin typeface="Calibri"/>
              </a:rPr>
              <a:t>Una capa agrupa código con una misma responsabilidad y define de qué otras capas depende.</a:t>
            </a:r>
          </a:p>
        </p:txBody>
      </p:sp>
      <p:sp>
        <p:nvSpPr>
          <p:cNvPr id="7" name="Rounded Rectangle 6"/>
          <p:cNvSpPr/>
          <p:nvPr/>
        </p:nvSpPr>
        <p:spPr>
          <a:xfrm>
            <a:off x="502920" y="1444752"/>
            <a:ext cx="5029200" cy="786384"/>
          </a:xfrm>
          <a:prstGeom prst="roundRect">
            <a:avLst>
              <a:gd name="adj" fmla="val 8000"/>
            </a:avLst>
          </a:prstGeom>
          <a:solidFill>
            <a:srgbClr val="1A2434"/>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8" name="TextBox 7"/>
          <p:cNvSpPr txBox="1"/>
          <p:nvPr/>
        </p:nvSpPr>
        <p:spPr>
          <a:xfrm>
            <a:off x="658368" y="1552137"/>
            <a:ext cx="2011680" cy="169277"/>
          </a:xfrm>
          <a:prstGeom prst="rect">
            <a:avLst/>
          </a:prstGeom>
          <a:noFill/>
        </p:spPr>
        <p:txBody>
          <a:bodyPr wrap="square" lIns="0" tIns="0" rIns="0" bIns="0" anchor="ctr">
            <a:spAutoFit/>
          </a:bodyPr>
          <a:lstStyle/>
          <a:p>
            <a:pPr algn="l"/>
            <a:r>
              <a:rPr lang="es-CO" sz="1100" b="1" i="0">
                <a:solidFill>
                  <a:srgbClr val="56C7F2"/>
                </a:solidFill>
                <a:latin typeface="Arial"/>
              </a:rPr>
              <a:t>Presentación</a:t>
            </a:r>
          </a:p>
        </p:txBody>
      </p:sp>
      <p:sp>
        <p:nvSpPr>
          <p:cNvPr id="9" name="TextBox 8"/>
          <p:cNvSpPr txBox="1"/>
          <p:nvPr/>
        </p:nvSpPr>
        <p:spPr>
          <a:xfrm>
            <a:off x="658368" y="1773936"/>
            <a:ext cx="4709160" cy="169277"/>
          </a:xfrm>
          <a:prstGeom prst="rect">
            <a:avLst/>
          </a:prstGeom>
          <a:noFill/>
        </p:spPr>
        <p:txBody>
          <a:bodyPr wrap="square" lIns="0" tIns="0" rIns="0" bIns="0" anchor="t">
            <a:spAutoFit/>
          </a:bodyPr>
          <a:lstStyle/>
          <a:p>
            <a:pPr algn="l"/>
            <a:r>
              <a:rPr lang="es-CO" sz="1100" b="0" i="0" dirty="0">
                <a:solidFill>
                  <a:srgbClr val="E8EEF6"/>
                </a:solidFill>
                <a:latin typeface="Calibri"/>
              </a:rPr>
              <a:t>Recibe solicitudes HTTP y entrega respuestas: HTML, CSS o JSON.</a:t>
            </a:r>
          </a:p>
        </p:txBody>
      </p:sp>
      <p:sp>
        <p:nvSpPr>
          <p:cNvPr id="10" name="TextBox 9"/>
          <p:cNvSpPr txBox="1"/>
          <p:nvPr/>
        </p:nvSpPr>
        <p:spPr>
          <a:xfrm>
            <a:off x="658368" y="1993392"/>
            <a:ext cx="4709160" cy="169277"/>
          </a:xfrm>
          <a:prstGeom prst="rect">
            <a:avLst/>
          </a:prstGeom>
          <a:noFill/>
        </p:spPr>
        <p:txBody>
          <a:bodyPr wrap="square" lIns="0" tIns="0" rIns="0" bIns="0" anchor="t">
            <a:spAutoFit/>
          </a:bodyPr>
          <a:lstStyle/>
          <a:p>
            <a:pPr algn="l"/>
            <a:r>
              <a:rPr lang="es-CO" sz="1100" b="0" i="0">
                <a:solidFill>
                  <a:srgbClr val="93A5BD"/>
                </a:solidFill>
                <a:latin typeface="Courier New"/>
              </a:rPr>
              <a:t>routes/ · controllers/ · views/ · public/</a:t>
            </a:r>
          </a:p>
        </p:txBody>
      </p:sp>
      <p:cxnSp>
        <p:nvCxnSpPr>
          <p:cNvPr id="11" name="Connector 10"/>
          <p:cNvCxnSpPr/>
          <p:nvPr/>
        </p:nvCxnSpPr>
        <p:spPr>
          <a:xfrm>
            <a:off x="3017520" y="2249424"/>
            <a:ext cx="0" cy="182880"/>
          </a:xfrm>
          <a:prstGeom prst="line">
            <a:avLst/>
          </a:prstGeom>
          <a:ln w="15875">
            <a:solidFill>
              <a:srgbClr val="93A5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02920" y="2450592"/>
            <a:ext cx="5029200" cy="786384"/>
          </a:xfrm>
          <a:prstGeom prst="roundRect">
            <a:avLst>
              <a:gd name="adj" fmla="val 8000"/>
            </a:avLst>
          </a:prstGeom>
          <a:solidFill>
            <a:srgbClr val="1A243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13" name="TextBox 12"/>
          <p:cNvSpPr txBox="1"/>
          <p:nvPr/>
        </p:nvSpPr>
        <p:spPr>
          <a:xfrm>
            <a:off x="658368" y="2557977"/>
            <a:ext cx="2011680" cy="169277"/>
          </a:xfrm>
          <a:prstGeom prst="rect">
            <a:avLst/>
          </a:prstGeom>
          <a:noFill/>
        </p:spPr>
        <p:txBody>
          <a:bodyPr wrap="square" lIns="0" tIns="0" rIns="0" bIns="0" anchor="ctr">
            <a:spAutoFit/>
          </a:bodyPr>
          <a:lstStyle/>
          <a:p>
            <a:pPr algn="l"/>
            <a:r>
              <a:rPr lang="es-CO" sz="1100" b="1" i="0">
                <a:solidFill>
                  <a:srgbClr val="3DDC97"/>
                </a:solidFill>
                <a:latin typeface="Arial"/>
              </a:rPr>
              <a:t>Lógica de negocio</a:t>
            </a:r>
          </a:p>
        </p:txBody>
      </p:sp>
      <p:sp>
        <p:nvSpPr>
          <p:cNvPr id="14" name="TextBox 13"/>
          <p:cNvSpPr txBox="1"/>
          <p:nvPr/>
        </p:nvSpPr>
        <p:spPr>
          <a:xfrm>
            <a:off x="658368" y="2779776"/>
            <a:ext cx="4709160" cy="169277"/>
          </a:xfrm>
          <a:prstGeom prst="rect">
            <a:avLst/>
          </a:prstGeom>
          <a:noFill/>
        </p:spPr>
        <p:txBody>
          <a:bodyPr wrap="square" lIns="0" tIns="0" rIns="0" bIns="0" anchor="t">
            <a:spAutoFit/>
          </a:bodyPr>
          <a:lstStyle/>
          <a:p>
            <a:pPr algn="l"/>
            <a:r>
              <a:rPr lang="es-CO" sz="1100" b="0" i="0" dirty="0">
                <a:solidFill>
                  <a:srgbClr val="E8EEF6"/>
                </a:solidFill>
                <a:latin typeface="Calibri"/>
              </a:rPr>
              <a:t>Reglas del dominio: qué es un contacto válido y qué operaciones existen.</a:t>
            </a:r>
          </a:p>
        </p:txBody>
      </p:sp>
      <p:sp>
        <p:nvSpPr>
          <p:cNvPr id="15" name="TextBox 14"/>
          <p:cNvSpPr txBox="1"/>
          <p:nvPr/>
        </p:nvSpPr>
        <p:spPr>
          <a:xfrm>
            <a:off x="658368" y="2999232"/>
            <a:ext cx="4709160" cy="169277"/>
          </a:xfrm>
          <a:prstGeom prst="rect">
            <a:avLst/>
          </a:prstGeom>
          <a:noFill/>
        </p:spPr>
        <p:txBody>
          <a:bodyPr wrap="square" lIns="0" tIns="0" rIns="0" bIns="0" anchor="t">
            <a:spAutoFit/>
          </a:bodyPr>
          <a:lstStyle/>
          <a:p>
            <a:pPr algn="l"/>
            <a:r>
              <a:rPr lang="es-CO" sz="1100" b="0" i="0">
                <a:solidFill>
                  <a:srgbClr val="93A5BD"/>
                </a:solidFill>
                <a:latin typeface="Courier New"/>
              </a:rPr>
              <a:t>models/contactoModel.js</a:t>
            </a:r>
          </a:p>
        </p:txBody>
      </p:sp>
      <p:cxnSp>
        <p:nvCxnSpPr>
          <p:cNvPr id="16" name="Connector 15"/>
          <p:cNvCxnSpPr/>
          <p:nvPr/>
        </p:nvCxnSpPr>
        <p:spPr>
          <a:xfrm>
            <a:off x="3017520" y="3255264"/>
            <a:ext cx="0" cy="182880"/>
          </a:xfrm>
          <a:prstGeom prst="line">
            <a:avLst/>
          </a:prstGeom>
          <a:ln w="15875">
            <a:solidFill>
              <a:srgbClr val="93A5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02920" y="3456432"/>
            <a:ext cx="5029200" cy="786384"/>
          </a:xfrm>
          <a:prstGeom prst="roundRect">
            <a:avLst>
              <a:gd name="adj" fmla="val 8000"/>
            </a:avLst>
          </a:prstGeom>
          <a:solidFill>
            <a:srgbClr val="1A2434"/>
          </a:solidFill>
          <a:ln w="12700">
            <a:solidFill>
              <a:srgbClr val="FFB86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18" name="TextBox 17"/>
          <p:cNvSpPr txBox="1"/>
          <p:nvPr/>
        </p:nvSpPr>
        <p:spPr>
          <a:xfrm>
            <a:off x="658368" y="3563817"/>
            <a:ext cx="2011680" cy="169277"/>
          </a:xfrm>
          <a:prstGeom prst="rect">
            <a:avLst/>
          </a:prstGeom>
          <a:noFill/>
        </p:spPr>
        <p:txBody>
          <a:bodyPr wrap="square" lIns="0" tIns="0" rIns="0" bIns="0" anchor="ctr">
            <a:spAutoFit/>
          </a:bodyPr>
          <a:lstStyle/>
          <a:p>
            <a:pPr algn="l"/>
            <a:r>
              <a:rPr lang="es-CO" sz="1100" b="1" i="0">
                <a:solidFill>
                  <a:srgbClr val="FFB86C"/>
                </a:solidFill>
                <a:latin typeface="Arial"/>
              </a:rPr>
              <a:t>Acceso a datos</a:t>
            </a:r>
          </a:p>
        </p:txBody>
      </p:sp>
      <p:sp>
        <p:nvSpPr>
          <p:cNvPr id="19" name="TextBox 18"/>
          <p:cNvSpPr txBox="1"/>
          <p:nvPr/>
        </p:nvSpPr>
        <p:spPr>
          <a:xfrm>
            <a:off x="658368" y="3785616"/>
            <a:ext cx="4709160" cy="169277"/>
          </a:xfrm>
          <a:prstGeom prst="rect">
            <a:avLst/>
          </a:prstGeom>
          <a:noFill/>
        </p:spPr>
        <p:txBody>
          <a:bodyPr wrap="square" lIns="0" tIns="0" rIns="0" bIns="0" anchor="t">
            <a:spAutoFit/>
          </a:bodyPr>
          <a:lstStyle/>
          <a:p>
            <a:pPr algn="l"/>
            <a:r>
              <a:rPr lang="es-CO" sz="1100" b="0" i="0">
                <a:solidFill>
                  <a:srgbClr val="E8EEF6"/>
                </a:solidFill>
                <a:latin typeface="Calibri"/>
              </a:rPr>
              <a:t>Lee y escribe en el almacenamiento mediante consultas.</a:t>
            </a:r>
          </a:p>
        </p:txBody>
      </p:sp>
      <p:sp>
        <p:nvSpPr>
          <p:cNvPr id="20" name="TextBox 19"/>
          <p:cNvSpPr txBox="1"/>
          <p:nvPr/>
        </p:nvSpPr>
        <p:spPr>
          <a:xfrm>
            <a:off x="658368" y="4005072"/>
            <a:ext cx="4709160" cy="169277"/>
          </a:xfrm>
          <a:prstGeom prst="rect">
            <a:avLst/>
          </a:prstGeom>
          <a:noFill/>
        </p:spPr>
        <p:txBody>
          <a:bodyPr wrap="square" lIns="0" tIns="0" rIns="0" bIns="0" anchor="t">
            <a:spAutoFit/>
          </a:bodyPr>
          <a:lstStyle/>
          <a:p>
            <a:pPr algn="l"/>
            <a:r>
              <a:rPr lang="es-CO" sz="1100" b="0" i="0">
                <a:solidFill>
                  <a:srgbClr val="93A5BD"/>
                </a:solidFill>
                <a:latin typeface="Courier New"/>
              </a:rPr>
              <a:t>data/contactoRepository.js</a:t>
            </a:r>
          </a:p>
        </p:txBody>
      </p:sp>
      <p:sp>
        <p:nvSpPr>
          <p:cNvPr id="21" name="TextBox 20"/>
          <p:cNvSpPr txBox="1"/>
          <p:nvPr/>
        </p:nvSpPr>
        <p:spPr>
          <a:xfrm>
            <a:off x="3127248" y="2256225"/>
            <a:ext cx="1371600" cy="169277"/>
          </a:xfrm>
          <a:prstGeom prst="rect">
            <a:avLst/>
          </a:prstGeom>
          <a:noFill/>
        </p:spPr>
        <p:txBody>
          <a:bodyPr wrap="square" lIns="0" tIns="0" rIns="0" bIns="0" anchor="ctr">
            <a:spAutoFit/>
          </a:bodyPr>
          <a:lstStyle/>
          <a:p>
            <a:pPr algn="l"/>
            <a:r>
              <a:rPr lang="es-CO" sz="1100" b="0" i="0">
                <a:solidFill>
                  <a:srgbClr val="6C7E96"/>
                </a:solidFill>
                <a:latin typeface="Courier New"/>
              </a:rPr>
              <a:t>usa</a:t>
            </a:r>
          </a:p>
        </p:txBody>
      </p:sp>
      <p:sp>
        <p:nvSpPr>
          <p:cNvPr id="22" name="TextBox 21"/>
          <p:cNvSpPr txBox="1"/>
          <p:nvPr/>
        </p:nvSpPr>
        <p:spPr>
          <a:xfrm>
            <a:off x="3127248" y="3262065"/>
            <a:ext cx="1371600" cy="169277"/>
          </a:xfrm>
          <a:prstGeom prst="rect">
            <a:avLst/>
          </a:prstGeom>
          <a:noFill/>
        </p:spPr>
        <p:txBody>
          <a:bodyPr wrap="square" lIns="0" tIns="0" rIns="0" bIns="0" anchor="ctr">
            <a:spAutoFit/>
          </a:bodyPr>
          <a:lstStyle/>
          <a:p>
            <a:pPr algn="l"/>
            <a:r>
              <a:rPr lang="es-CO" sz="1100" b="0" i="0">
                <a:solidFill>
                  <a:srgbClr val="6C7E96"/>
                </a:solidFill>
                <a:latin typeface="Courier New"/>
              </a:rPr>
              <a:t>usa</a:t>
            </a:r>
          </a:p>
        </p:txBody>
      </p:sp>
      <p:sp>
        <p:nvSpPr>
          <p:cNvPr id="23" name="Rounded Rectangle 22"/>
          <p:cNvSpPr/>
          <p:nvPr/>
        </p:nvSpPr>
        <p:spPr>
          <a:xfrm>
            <a:off x="5715000" y="1444752"/>
            <a:ext cx="2926080" cy="1325880"/>
          </a:xfrm>
          <a:prstGeom prst="roundRect">
            <a:avLst>
              <a:gd name="adj" fmla="val 8000"/>
            </a:avLst>
          </a:prstGeom>
          <a:solidFill>
            <a:srgbClr val="1A243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24" name="TextBox 23"/>
          <p:cNvSpPr txBox="1"/>
          <p:nvPr/>
        </p:nvSpPr>
        <p:spPr>
          <a:xfrm>
            <a:off x="5843016" y="1561281"/>
            <a:ext cx="2670048" cy="169277"/>
          </a:xfrm>
          <a:prstGeom prst="rect">
            <a:avLst/>
          </a:prstGeom>
          <a:noFill/>
        </p:spPr>
        <p:txBody>
          <a:bodyPr wrap="square" lIns="0" tIns="0" rIns="0" bIns="0" anchor="ctr">
            <a:spAutoFit/>
          </a:bodyPr>
          <a:lstStyle/>
          <a:p>
            <a:pPr algn="l"/>
            <a:r>
              <a:rPr lang="es-CO" sz="1100" b="1" i="0" dirty="0">
                <a:solidFill>
                  <a:srgbClr val="3DDC97"/>
                </a:solidFill>
                <a:latin typeface="Arial"/>
              </a:rPr>
              <a:t>Regla de dependencia</a:t>
            </a:r>
          </a:p>
        </p:txBody>
      </p:sp>
      <p:sp>
        <p:nvSpPr>
          <p:cNvPr id="25" name="TextBox 24"/>
          <p:cNvSpPr txBox="1"/>
          <p:nvPr/>
        </p:nvSpPr>
        <p:spPr>
          <a:xfrm>
            <a:off x="5843016" y="1801368"/>
            <a:ext cx="2670048" cy="507831"/>
          </a:xfrm>
          <a:prstGeom prst="rect">
            <a:avLst/>
          </a:prstGeom>
          <a:noFill/>
        </p:spPr>
        <p:txBody>
          <a:bodyPr wrap="square" lIns="0" tIns="0" rIns="0" bIns="0" anchor="t">
            <a:spAutoFit/>
          </a:bodyPr>
          <a:lstStyle/>
          <a:p>
            <a:pPr algn="l">
              <a:spcAft>
                <a:spcPts val="200"/>
              </a:spcAft>
            </a:pPr>
            <a:r>
              <a:rPr lang="es-CO" sz="1100" b="0" i="0" dirty="0">
                <a:solidFill>
                  <a:srgbClr val="E8EEF6"/>
                </a:solidFill>
                <a:latin typeface="Calibri"/>
              </a:rPr>
              <a:t>Cada capa usa a la inferior y no conoce a la superior. El modelo no sabe si la respuesta será HTML o JSON.</a:t>
            </a:r>
          </a:p>
        </p:txBody>
      </p:sp>
      <p:sp>
        <p:nvSpPr>
          <p:cNvPr id="26" name="Rounded Rectangle 25"/>
          <p:cNvSpPr/>
          <p:nvPr/>
        </p:nvSpPr>
        <p:spPr>
          <a:xfrm>
            <a:off x="5715000" y="2889504"/>
            <a:ext cx="2926080" cy="1481328"/>
          </a:xfrm>
          <a:prstGeom prst="roundRect">
            <a:avLst>
              <a:gd name="adj" fmla="val 8000"/>
            </a:avLst>
          </a:prstGeom>
          <a:solidFill>
            <a:srgbClr val="1A2434"/>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27" name="TextBox 26"/>
          <p:cNvSpPr txBox="1"/>
          <p:nvPr/>
        </p:nvSpPr>
        <p:spPr>
          <a:xfrm>
            <a:off x="5843016" y="3006033"/>
            <a:ext cx="2670048" cy="169277"/>
          </a:xfrm>
          <a:prstGeom prst="rect">
            <a:avLst/>
          </a:prstGeom>
          <a:noFill/>
        </p:spPr>
        <p:txBody>
          <a:bodyPr wrap="square" lIns="0" tIns="0" rIns="0" bIns="0" anchor="ctr">
            <a:spAutoFit/>
          </a:bodyPr>
          <a:lstStyle/>
          <a:p>
            <a:pPr algn="l"/>
            <a:r>
              <a:rPr lang="es-CO" sz="1100" b="1" i="0">
                <a:solidFill>
                  <a:srgbClr val="56C7F2"/>
                </a:solidFill>
                <a:latin typeface="Arial"/>
              </a:rPr>
              <a:t>Qué se gana</a:t>
            </a:r>
          </a:p>
        </p:txBody>
      </p:sp>
      <p:sp>
        <p:nvSpPr>
          <p:cNvPr id="28" name="TextBox 27"/>
          <p:cNvSpPr txBox="1"/>
          <p:nvPr/>
        </p:nvSpPr>
        <p:spPr>
          <a:xfrm>
            <a:off x="5843016" y="3246120"/>
            <a:ext cx="2670048" cy="792525"/>
          </a:xfrm>
          <a:prstGeom prst="rect">
            <a:avLst/>
          </a:prstGeom>
          <a:noFill/>
        </p:spPr>
        <p:txBody>
          <a:bodyPr wrap="square" lIns="0" tIns="0" rIns="0" bIns="0" anchor="t">
            <a:spAutoFit/>
          </a:bodyPr>
          <a:lstStyle/>
          <a:p>
            <a:pPr algn="l">
              <a:spcAft>
                <a:spcPts val="300"/>
              </a:spcAft>
            </a:pPr>
            <a:r>
              <a:rPr lang="es-CO" sz="1100" b="1" i="0" dirty="0">
                <a:solidFill>
                  <a:srgbClr val="3DDC97"/>
                </a:solidFill>
                <a:latin typeface="Calibri"/>
              </a:rPr>
              <a:t>›  </a:t>
            </a:r>
            <a:r>
              <a:rPr lang="es-CO" sz="1100" b="0" i="0" dirty="0">
                <a:solidFill>
                  <a:srgbClr val="E8EEF6"/>
                </a:solidFill>
                <a:latin typeface="Calibri"/>
              </a:rPr>
              <a:t>Cambios localizados</a:t>
            </a:r>
          </a:p>
          <a:p>
            <a:pPr algn="l">
              <a:spcAft>
                <a:spcPts val="300"/>
              </a:spcAft>
            </a:pPr>
            <a:r>
              <a:rPr lang="es-CO" sz="1100" b="1" i="0" dirty="0">
                <a:solidFill>
                  <a:srgbClr val="3DDC97"/>
                </a:solidFill>
                <a:latin typeface="Calibri"/>
              </a:rPr>
              <a:t>›  </a:t>
            </a:r>
            <a:r>
              <a:rPr lang="es-CO" sz="1100" b="0" i="0" dirty="0">
                <a:solidFill>
                  <a:srgbClr val="E8EEF6"/>
                </a:solidFill>
                <a:latin typeface="Calibri"/>
              </a:rPr>
              <a:t>Pruebas por partes</a:t>
            </a:r>
          </a:p>
          <a:p>
            <a:pPr algn="l">
              <a:spcAft>
                <a:spcPts val="300"/>
              </a:spcAft>
            </a:pPr>
            <a:r>
              <a:rPr lang="es-CO" sz="1100" b="1" i="0" dirty="0">
                <a:solidFill>
                  <a:srgbClr val="3DDC97"/>
                </a:solidFill>
                <a:latin typeface="Calibri"/>
              </a:rPr>
              <a:t>›  </a:t>
            </a:r>
            <a:r>
              <a:rPr lang="es-CO" sz="1100" b="0" i="0" dirty="0">
                <a:solidFill>
                  <a:srgbClr val="E8EEF6"/>
                </a:solidFill>
                <a:latin typeface="Calibri"/>
              </a:rPr>
              <a:t>Trabajo en paralelo</a:t>
            </a:r>
          </a:p>
          <a:p>
            <a:pPr algn="l">
              <a:spcAft>
                <a:spcPts val="300"/>
              </a:spcAft>
            </a:pPr>
            <a:r>
              <a:rPr lang="es-CO" sz="1100" b="1" i="0" dirty="0">
                <a:solidFill>
                  <a:srgbClr val="3DDC97"/>
                </a:solidFill>
                <a:latin typeface="Calibri"/>
              </a:rPr>
              <a:t>›  </a:t>
            </a:r>
            <a:r>
              <a:rPr lang="es-CO" sz="1100" b="0" i="0" dirty="0">
                <a:solidFill>
                  <a:srgbClr val="E8EEF6"/>
                </a:solidFill>
                <a:latin typeface="Calibri"/>
              </a:rPr>
              <a:t>Código más fácil de leer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101B"/>
        </a:solidFill>
        <a:effectLst/>
      </p:bgPr>
    </p:bg>
    <p:spTree>
      <p:nvGrpSpPr>
        <p:cNvPr id="1" name=""/>
        <p:cNvGrpSpPr/>
        <p:nvPr/>
      </p:nvGrpSpPr>
      <p:grpSpPr>
        <a:xfrm>
          <a:off x="0" y="0"/>
          <a:ext cx="0" cy="0"/>
          <a:chOff x="0" y="0"/>
          <a:chExt cx="0" cy="0"/>
        </a:xfrm>
      </p:grpSpPr>
      <p:sp>
        <p:nvSpPr>
          <p:cNvPr id="2" name="TextBox 1"/>
          <p:cNvSpPr txBox="1"/>
          <p:nvPr/>
        </p:nvSpPr>
        <p:spPr>
          <a:xfrm>
            <a:off x="6309360" y="4734249"/>
            <a:ext cx="2331720" cy="169277"/>
          </a:xfrm>
          <a:prstGeom prst="rect">
            <a:avLst/>
          </a:prstGeom>
          <a:noFill/>
        </p:spPr>
        <p:txBody>
          <a:bodyPr wrap="square" lIns="0" tIns="0" rIns="0" bIns="0" anchor="ctr">
            <a:spAutoFit/>
          </a:bodyPr>
          <a:lstStyle/>
          <a:p>
            <a:pPr algn="r"/>
            <a:r>
              <a:rPr lang="es-CO" sz="1100" b="0" i="0">
                <a:solidFill>
                  <a:srgbClr val="6C7E96"/>
                </a:solidFill>
                <a:latin typeface="Arial"/>
              </a:rPr>
              <a:t>Ingeniería Web  ·  06 / 24</a:t>
            </a:r>
          </a:p>
        </p:txBody>
      </p:sp>
      <p:sp>
        <p:nvSpPr>
          <p:cNvPr id="3" name="Rounded Rectangle 2"/>
          <p:cNvSpPr/>
          <p:nvPr/>
        </p:nvSpPr>
        <p:spPr>
          <a:xfrm>
            <a:off x="502920" y="365760"/>
            <a:ext cx="1024128" cy="228600"/>
          </a:xfrm>
          <a:prstGeom prst="roundRect">
            <a:avLst>
              <a:gd name="adj" fmla="val 50000"/>
            </a:avLst>
          </a:prstGeom>
          <a:solidFill>
            <a:srgbClr val="132A24"/>
          </a:solidFill>
          <a:ln w="952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502920" y="365760"/>
            <a:ext cx="1024128" cy="228600"/>
          </a:xfrm>
          <a:prstGeom prst="rect">
            <a:avLst/>
          </a:prstGeom>
          <a:noFill/>
        </p:spPr>
        <p:txBody>
          <a:bodyPr wrap="square" lIns="0" tIns="0" rIns="0" bIns="0" anchor="ctr">
            <a:spAutoFit/>
          </a:bodyPr>
          <a:lstStyle/>
          <a:p>
            <a:pPr algn="ctr"/>
            <a:r>
              <a:rPr lang="es-CO" sz="850" b="1" i="0">
                <a:solidFill>
                  <a:srgbClr val="3DDC97"/>
                </a:solidFill>
                <a:latin typeface="Arial"/>
              </a:rPr>
              <a:t>CONCEPTO</a:t>
            </a:r>
          </a:p>
        </p:txBody>
      </p:sp>
      <p:sp>
        <p:nvSpPr>
          <p:cNvPr id="5" name="Título"/>
          <p:cNvSpPr txBox="1"/>
          <p:nvPr/>
        </p:nvSpPr>
        <p:spPr>
          <a:xfrm>
            <a:off x="475488" y="658368"/>
            <a:ext cx="8138160" cy="438912"/>
          </a:xfrm>
          <a:prstGeom prst="rect">
            <a:avLst/>
          </a:prstGeom>
          <a:noFill/>
        </p:spPr>
        <p:txBody>
          <a:bodyPr wrap="square" lIns="0" tIns="0" rIns="0" bIns="0" anchor="ctr">
            <a:spAutoFit/>
          </a:bodyPr>
          <a:lstStyle/>
          <a:p>
            <a:pPr algn="l"/>
            <a:r>
              <a:rPr lang="es-CO" sz="2600" b="1" i="0">
                <a:solidFill>
                  <a:srgbClr val="FFFFFF"/>
                </a:solidFill>
                <a:latin typeface="Arial"/>
              </a:rPr>
              <a:t>Persistencia y base de datos no son lo mismo</a:t>
            </a:r>
          </a:p>
        </p:txBody>
      </p:sp>
      <p:sp>
        <p:nvSpPr>
          <p:cNvPr id="6" name="TextBox 5"/>
          <p:cNvSpPr txBox="1"/>
          <p:nvPr/>
        </p:nvSpPr>
        <p:spPr>
          <a:xfrm>
            <a:off x="475488" y="1131513"/>
            <a:ext cx="8138160" cy="169277"/>
          </a:xfrm>
          <a:prstGeom prst="rect">
            <a:avLst/>
          </a:prstGeom>
          <a:noFill/>
        </p:spPr>
        <p:txBody>
          <a:bodyPr wrap="square" lIns="0" tIns="0" rIns="0" bIns="0" anchor="ctr">
            <a:spAutoFit/>
          </a:bodyPr>
          <a:lstStyle/>
          <a:p>
            <a:pPr algn="l"/>
            <a:r>
              <a:rPr lang="es-CO" sz="1100" b="0" i="0" dirty="0">
                <a:solidFill>
                  <a:srgbClr val="93A5BD"/>
                </a:solidFill>
                <a:latin typeface="Calibri"/>
              </a:rPr>
              <a:t>El código de persistencia decide cómo consultar y guardar; el archivo de base de datos conserva los datos.</a:t>
            </a:r>
          </a:p>
        </p:txBody>
      </p:sp>
      <p:sp>
        <p:nvSpPr>
          <p:cNvPr id="7" name="Rounded Rectangle 6"/>
          <p:cNvSpPr/>
          <p:nvPr/>
        </p:nvSpPr>
        <p:spPr>
          <a:xfrm>
            <a:off x="502920" y="1371600"/>
            <a:ext cx="1751330" cy="182880"/>
          </a:xfrm>
          <a:prstGeom prst="roundRect">
            <a:avLst>
              <a:gd name="adj" fmla="val 50000"/>
            </a:avLst>
          </a:prstGeom>
          <a:solidFill>
            <a:srgbClr val="0F2533"/>
          </a:solidFill>
          <a:ln w="9525">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8" name="TextBox 7"/>
          <p:cNvSpPr txBox="1"/>
          <p:nvPr/>
        </p:nvSpPr>
        <p:spPr>
          <a:xfrm>
            <a:off x="502920" y="1378401"/>
            <a:ext cx="1777572" cy="169277"/>
          </a:xfrm>
          <a:prstGeom prst="rect">
            <a:avLst/>
          </a:prstGeom>
          <a:noFill/>
        </p:spPr>
        <p:txBody>
          <a:bodyPr wrap="square" lIns="0" tIns="0" rIns="0" bIns="0" anchor="ctr">
            <a:spAutoFit/>
          </a:bodyPr>
          <a:lstStyle/>
          <a:p>
            <a:pPr algn="ctr"/>
            <a:r>
              <a:rPr lang="es-CO" sz="1100" b="1" i="0">
                <a:solidFill>
                  <a:srgbClr val="56C7F2"/>
                </a:solidFill>
                <a:latin typeface="Arial"/>
              </a:rPr>
              <a:t>EJEMPLO ILUSTRATIVO</a:t>
            </a:r>
          </a:p>
        </p:txBody>
      </p:sp>
      <p:sp>
        <p:nvSpPr>
          <p:cNvPr id="9" name="Rounded Rectangle 8"/>
          <p:cNvSpPr/>
          <p:nvPr/>
        </p:nvSpPr>
        <p:spPr>
          <a:xfrm>
            <a:off x="502920" y="1627631"/>
            <a:ext cx="4343400" cy="2330735"/>
          </a:xfrm>
          <a:prstGeom prst="roundRect">
            <a:avLst>
              <a:gd name="adj" fmla="val 8000"/>
            </a:avLst>
          </a:prstGeom>
          <a:solidFill>
            <a:srgbClr val="070C1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10" name="TextBox 9"/>
          <p:cNvSpPr txBox="1"/>
          <p:nvPr/>
        </p:nvSpPr>
        <p:spPr>
          <a:xfrm>
            <a:off x="649224" y="1707585"/>
            <a:ext cx="4050792" cy="169277"/>
          </a:xfrm>
          <a:prstGeom prst="rect">
            <a:avLst/>
          </a:prstGeom>
          <a:noFill/>
        </p:spPr>
        <p:txBody>
          <a:bodyPr wrap="square" lIns="0" tIns="0" rIns="0" bIns="0" anchor="ctr">
            <a:spAutoFit/>
          </a:bodyPr>
          <a:lstStyle/>
          <a:p>
            <a:pPr algn="l"/>
            <a:r>
              <a:rPr lang="es-CO" sz="1100" b="1" i="0">
                <a:solidFill>
                  <a:srgbClr val="FFB86C"/>
                </a:solidFill>
                <a:latin typeface="Courier New"/>
              </a:rPr>
              <a:t>data/contactoRepository.js</a:t>
            </a:r>
          </a:p>
        </p:txBody>
      </p:sp>
      <p:sp>
        <p:nvSpPr>
          <p:cNvPr id="11" name="TextBox 10"/>
          <p:cNvSpPr txBox="1"/>
          <p:nvPr/>
        </p:nvSpPr>
        <p:spPr>
          <a:xfrm>
            <a:off x="649224" y="1901952"/>
            <a:ext cx="4050792" cy="2031325"/>
          </a:xfrm>
          <a:prstGeom prst="rect">
            <a:avLst/>
          </a:prstGeom>
          <a:noFill/>
        </p:spPr>
        <p:txBody>
          <a:bodyPr wrap="square" lIns="0" tIns="0" rIns="0" bIns="0" anchor="t">
            <a:spAutoFit/>
          </a:bodyPr>
          <a:lstStyle/>
          <a:p>
            <a:pPr algn="l"/>
            <a:r>
              <a:rPr lang="es-CO" sz="1100" b="0" i="0" dirty="0" err="1">
                <a:solidFill>
                  <a:srgbClr val="FFB86C"/>
                </a:solidFill>
                <a:latin typeface="Courier New"/>
              </a:rPr>
              <a:t>const</a:t>
            </a:r>
            <a:r>
              <a:rPr lang="es-CO" sz="1100" b="0" i="0" dirty="0">
                <a:solidFill>
                  <a:srgbClr val="D7E1EE"/>
                </a:solidFill>
                <a:latin typeface="Courier New"/>
              </a:rPr>
              <a:t> </a:t>
            </a:r>
            <a:r>
              <a:rPr lang="es-CO" sz="1100" b="0" i="0" dirty="0" err="1">
                <a:solidFill>
                  <a:srgbClr val="D7E1EE"/>
                </a:solidFill>
                <a:latin typeface="Courier New"/>
              </a:rPr>
              <a:t>listarSql</a:t>
            </a:r>
            <a:r>
              <a:rPr lang="es-CO" sz="1100" b="0" i="0" dirty="0">
                <a:solidFill>
                  <a:srgbClr val="D7E1EE"/>
                </a:solidFill>
                <a:latin typeface="Courier New"/>
              </a:rPr>
              <a:t> </a:t>
            </a:r>
            <a:r>
              <a:rPr lang="es-CO" sz="1100" b="0" i="0" dirty="0">
                <a:solidFill>
                  <a:srgbClr val="93A5BD"/>
                </a:solidFill>
                <a:latin typeface="Courier New"/>
              </a:rPr>
              <a:t>=</a:t>
            </a:r>
            <a:r>
              <a:rPr lang="es-CO" sz="1100" b="0" i="0" dirty="0">
                <a:solidFill>
                  <a:srgbClr val="D7E1EE"/>
                </a:solidFill>
                <a:latin typeface="Courier New"/>
              </a:rPr>
              <a:t> </a:t>
            </a:r>
            <a:r>
              <a:rPr lang="es-CO" sz="1100" b="0" i="0" dirty="0" err="1">
                <a:solidFill>
                  <a:srgbClr val="D7E1EE"/>
                </a:solidFill>
                <a:latin typeface="Courier New"/>
              </a:rPr>
              <a:t>db</a:t>
            </a:r>
            <a:r>
              <a:rPr lang="es-CO" sz="1100" b="0" i="0" dirty="0" err="1">
                <a:solidFill>
                  <a:srgbClr val="93A5BD"/>
                </a:solidFill>
                <a:latin typeface="Courier New"/>
              </a:rPr>
              <a:t>.</a:t>
            </a:r>
            <a:r>
              <a:rPr lang="es-CO" sz="1100" b="0" i="0" dirty="0" err="1">
                <a:solidFill>
                  <a:srgbClr val="D7E1EE"/>
                </a:solidFill>
                <a:latin typeface="Courier New"/>
              </a:rPr>
              <a:t>prepare</a:t>
            </a:r>
            <a:r>
              <a:rPr lang="es-CO" sz="1100" b="0" i="0" dirty="0">
                <a:solidFill>
                  <a:srgbClr val="93A5BD"/>
                </a:solidFill>
                <a:latin typeface="Courier New"/>
              </a:rPr>
              <a:t>(</a:t>
            </a:r>
            <a:r>
              <a:rPr lang="es-CO" sz="1100" b="0" i="0" dirty="0">
                <a:solidFill>
                  <a:srgbClr val="FFD479"/>
                </a:solidFill>
                <a:latin typeface="Courier New"/>
              </a:rPr>
              <a:t>`SELECT id, nombre,</a:t>
            </a:r>
          </a:p>
          <a:p>
            <a:pPr algn="l"/>
            <a:r>
              <a:rPr lang="es-CO" sz="1100" b="0" i="0" dirty="0">
                <a:solidFill>
                  <a:srgbClr val="FFD479"/>
                </a:solidFill>
                <a:latin typeface="Courier New"/>
              </a:rPr>
              <a:t>  correo, mensaje FROM contactos ORDER BY id`</a:t>
            </a:r>
            <a:r>
              <a:rPr lang="es-CO" sz="1100" b="0" i="0" dirty="0">
                <a:solidFill>
                  <a:srgbClr val="93A5BD"/>
                </a:solidFill>
                <a:latin typeface="Courier New"/>
              </a:rPr>
              <a:t>);</a:t>
            </a:r>
          </a:p>
          <a:p>
            <a:pPr algn="l"/>
            <a:r>
              <a:rPr lang="es-CO" sz="1100" b="0" i="0" dirty="0" err="1">
                <a:solidFill>
                  <a:srgbClr val="FFB86C"/>
                </a:solidFill>
                <a:latin typeface="Courier New"/>
              </a:rPr>
              <a:t>const</a:t>
            </a:r>
            <a:r>
              <a:rPr lang="es-CO" sz="1100" b="0" i="0" dirty="0">
                <a:solidFill>
                  <a:srgbClr val="D7E1EE"/>
                </a:solidFill>
                <a:latin typeface="Courier New"/>
              </a:rPr>
              <a:t> </a:t>
            </a:r>
            <a:r>
              <a:rPr lang="es-CO" sz="1100" b="0" i="0" dirty="0" err="1">
                <a:solidFill>
                  <a:srgbClr val="D7E1EE"/>
                </a:solidFill>
                <a:latin typeface="Courier New"/>
              </a:rPr>
              <a:t>insertarSql</a:t>
            </a:r>
            <a:r>
              <a:rPr lang="es-CO" sz="1100" b="0" i="0" dirty="0">
                <a:solidFill>
                  <a:srgbClr val="D7E1EE"/>
                </a:solidFill>
                <a:latin typeface="Courier New"/>
              </a:rPr>
              <a:t> </a:t>
            </a:r>
            <a:r>
              <a:rPr lang="es-CO" sz="1100" b="0" i="0" dirty="0">
                <a:solidFill>
                  <a:srgbClr val="93A5BD"/>
                </a:solidFill>
                <a:latin typeface="Courier New"/>
              </a:rPr>
              <a:t>=</a:t>
            </a:r>
            <a:r>
              <a:rPr lang="es-CO" sz="1100" b="0" i="0" dirty="0">
                <a:solidFill>
                  <a:srgbClr val="D7E1EE"/>
                </a:solidFill>
                <a:latin typeface="Courier New"/>
              </a:rPr>
              <a:t> </a:t>
            </a:r>
            <a:r>
              <a:rPr lang="es-CO" sz="1100" b="0" i="0" dirty="0" err="1">
                <a:solidFill>
                  <a:srgbClr val="D7E1EE"/>
                </a:solidFill>
                <a:latin typeface="Courier New"/>
              </a:rPr>
              <a:t>db</a:t>
            </a:r>
            <a:r>
              <a:rPr lang="es-CO" sz="1100" b="0" i="0" dirty="0" err="1">
                <a:solidFill>
                  <a:srgbClr val="93A5BD"/>
                </a:solidFill>
                <a:latin typeface="Courier New"/>
              </a:rPr>
              <a:t>.</a:t>
            </a:r>
            <a:r>
              <a:rPr lang="es-CO" sz="1100" b="0" i="0" dirty="0" err="1">
                <a:solidFill>
                  <a:srgbClr val="D7E1EE"/>
                </a:solidFill>
                <a:latin typeface="Courier New"/>
              </a:rPr>
              <a:t>prepare</a:t>
            </a:r>
            <a:r>
              <a:rPr lang="es-CO" sz="1100" b="0" i="0" dirty="0">
                <a:solidFill>
                  <a:srgbClr val="93A5BD"/>
                </a:solidFill>
                <a:latin typeface="Courier New"/>
              </a:rPr>
              <a:t>(</a:t>
            </a:r>
            <a:r>
              <a:rPr lang="es-CO" sz="1100" b="0" i="0" dirty="0">
                <a:solidFill>
                  <a:srgbClr val="FFD479"/>
                </a:solidFill>
                <a:latin typeface="Courier New"/>
              </a:rPr>
              <a:t>`INSERT INTO contactos</a:t>
            </a:r>
          </a:p>
          <a:p>
            <a:pPr algn="l"/>
            <a:r>
              <a:rPr lang="es-CO" sz="1100" b="0" i="0" dirty="0">
                <a:solidFill>
                  <a:srgbClr val="FFD479"/>
                </a:solidFill>
                <a:latin typeface="Courier New"/>
              </a:rPr>
              <a:t>  (nombre, correo, mensaje) VALUES (?, ?, ?)`</a:t>
            </a:r>
            <a:r>
              <a:rPr lang="es-CO" sz="1100" b="0" i="0" dirty="0">
                <a:solidFill>
                  <a:srgbClr val="93A5BD"/>
                </a:solidFill>
                <a:latin typeface="Courier New"/>
              </a:rPr>
              <a:t>);</a:t>
            </a:r>
          </a:p>
          <a:p>
            <a:pPr algn="l"/>
            <a:r>
              <a:rPr lang="es-CO" sz="1100" b="0" i="0" dirty="0">
                <a:solidFill>
                  <a:srgbClr val="E8EEF6"/>
                </a:solidFill>
                <a:latin typeface="Courier New"/>
              </a:rPr>
              <a:t> </a:t>
            </a:r>
          </a:p>
          <a:p>
            <a:pPr algn="l"/>
            <a:r>
              <a:rPr lang="es-CO" sz="1100" b="0" i="0" dirty="0" err="1">
                <a:solidFill>
                  <a:srgbClr val="FFB86C"/>
                </a:solidFill>
                <a:latin typeface="Courier New"/>
              </a:rPr>
              <a:t>function</a:t>
            </a:r>
            <a:r>
              <a:rPr lang="es-CO" sz="1100" b="0" i="0" dirty="0">
                <a:solidFill>
                  <a:srgbClr val="D7E1EE"/>
                </a:solidFill>
                <a:latin typeface="Courier New"/>
              </a:rPr>
              <a:t> listar</a:t>
            </a:r>
            <a:r>
              <a:rPr lang="es-CO" sz="1100" b="0" i="0" dirty="0">
                <a:solidFill>
                  <a:srgbClr val="93A5BD"/>
                </a:solidFill>
                <a:latin typeface="Courier New"/>
              </a:rPr>
              <a:t>()</a:t>
            </a:r>
            <a:r>
              <a:rPr lang="es-CO" sz="1100" b="0" i="0" dirty="0">
                <a:solidFill>
                  <a:srgbClr val="D7E1EE"/>
                </a:solidFill>
                <a:latin typeface="Courier New"/>
              </a:rPr>
              <a:t> </a:t>
            </a:r>
            <a:r>
              <a:rPr lang="es-CO" sz="1100" b="0" i="0" dirty="0">
                <a:solidFill>
                  <a:srgbClr val="93A5BD"/>
                </a:solidFill>
                <a:latin typeface="Courier New"/>
              </a:rPr>
              <a:t>{</a:t>
            </a:r>
            <a:r>
              <a:rPr lang="es-CO" sz="1100" b="0" i="0" dirty="0">
                <a:solidFill>
                  <a:srgbClr val="D7E1EE"/>
                </a:solidFill>
                <a:latin typeface="Courier New"/>
              </a:rPr>
              <a:t> </a:t>
            </a:r>
            <a:r>
              <a:rPr lang="es-CO" sz="1100" b="0" i="0" dirty="0" err="1">
                <a:solidFill>
                  <a:srgbClr val="FFB86C"/>
                </a:solidFill>
                <a:latin typeface="Courier New"/>
              </a:rPr>
              <a:t>return</a:t>
            </a:r>
            <a:r>
              <a:rPr lang="es-CO" sz="1100" b="0" i="0" dirty="0">
                <a:solidFill>
                  <a:srgbClr val="D7E1EE"/>
                </a:solidFill>
                <a:latin typeface="Courier New"/>
              </a:rPr>
              <a:t> </a:t>
            </a:r>
            <a:r>
              <a:rPr lang="es-CO" sz="1100" b="0" i="0" dirty="0" err="1">
                <a:solidFill>
                  <a:srgbClr val="D7E1EE"/>
                </a:solidFill>
                <a:latin typeface="Courier New"/>
              </a:rPr>
              <a:t>listarSql</a:t>
            </a:r>
            <a:r>
              <a:rPr lang="es-CO" sz="1100" b="0" i="0" dirty="0" err="1">
                <a:solidFill>
                  <a:srgbClr val="93A5BD"/>
                </a:solidFill>
                <a:latin typeface="Courier New"/>
              </a:rPr>
              <a:t>.</a:t>
            </a:r>
            <a:r>
              <a:rPr lang="es-CO" sz="1100" b="0" i="0" dirty="0" err="1">
                <a:solidFill>
                  <a:srgbClr val="D7E1EE"/>
                </a:solidFill>
                <a:latin typeface="Courier New"/>
              </a:rPr>
              <a:t>all</a:t>
            </a:r>
            <a:r>
              <a:rPr lang="es-CO" sz="1100" b="0" i="0" dirty="0">
                <a:solidFill>
                  <a:srgbClr val="93A5BD"/>
                </a:solidFill>
                <a:latin typeface="Courier New"/>
              </a:rPr>
              <a:t>();</a:t>
            </a:r>
            <a:r>
              <a:rPr lang="es-CO" sz="1100" b="0" i="0" dirty="0">
                <a:solidFill>
                  <a:srgbClr val="D7E1EE"/>
                </a:solidFill>
                <a:latin typeface="Courier New"/>
              </a:rPr>
              <a:t> </a:t>
            </a:r>
            <a:r>
              <a:rPr lang="es-CO" sz="1100" b="0" i="0" dirty="0">
                <a:solidFill>
                  <a:srgbClr val="93A5BD"/>
                </a:solidFill>
                <a:latin typeface="Courier New"/>
              </a:rPr>
              <a:t>}</a:t>
            </a:r>
          </a:p>
          <a:p>
            <a:pPr algn="l"/>
            <a:r>
              <a:rPr lang="es-CO" sz="1100" b="0" i="0" dirty="0" err="1">
                <a:solidFill>
                  <a:srgbClr val="FFB86C"/>
                </a:solidFill>
                <a:latin typeface="Courier New"/>
              </a:rPr>
              <a:t>function</a:t>
            </a:r>
            <a:r>
              <a:rPr lang="es-CO" sz="1100" b="0" i="0" dirty="0">
                <a:solidFill>
                  <a:srgbClr val="D7E1EE"/>
                </a:solidFill>
                <a:latin typeface="Courier New"/>
              </a:rPr>
              <a:t> insertar</a:t>
            </a:r>
            <a:r>
              <a:rPr lang="es-CO" sz="1100" b="0" i="0" dirty="0">
                <a:solidFill>
                  <a:srgbClr val="93A5BD"/>
                </a:solidFill>
                <a:latin typeface="Courier New"/>
              </a:rPr>
              <a:t>(</a:t>
            </a:r>
            <a:r>
              <a:rPr lang="es-CO" sz="1100" b="0" i="0" dirty="0">
                <a:solidFill>
                  <a:srgbClr val="D7E1EE"/>
                </a:solidFill>
                <a:latin typeface="Courier New"/>
              </a:rPr>
              <a:t>c</a:t>
            </a:r>
            <a:r>
              <a:rPr lang="es-CO" sz="1100" b="0" i="0" dirty="0">
                <a:solidFill>
                  <a:srgbClr val="93A5BD"/>
                </a:solidFill>
                <a:latin typeface="Courier New"/>
              </a:rPr>
              <a:t>)</a:t>
            </a:r>
            <a:r>
              <a:rPr lang="es-CO" sz="1100" b="0" i="0" dirty="0">
                <a:solidFill>
                  <a:srgbClr val="D7E1EE"/>
                </a:solidFill>
                <a:latin typeface="Courier New"/>
              </a:rPr>
              <a:t> </a:t>
            </a:r>
            <a:r>
              <a:rPr lang="es-CO" sz="1100" b="0" i="0" dirty="0">
                <a:solidFill>
                  <a:srgbClr val="93A5BD"/>
                </a:solidFill>
                <a:latin typeface="Courier New"/>
              </a:rPr>
              <a:t>{</a:t>
            </a:r>
          </a:p>
          <a:p>
            <a:pPr algn="l"/>
            <a:r>
              <a:rPr lang="es-CO" sz="1100" b="0" i="0" dirty="0">
                <a:solidFill>
                  <a:srgbClr val="D7E1EE"/>
                </a:solidFill>
                <a:latin typeface="Courier New"/>
              </a:rPr>
              <a:t>  </a:t>
            </a:r>
            <a:r>
              <a:rPr lang="es-CO" sz="1100" b="0" i="0" dirty="0" err="1">
                <a:solidFill>
                  <a:srgbClr val="FFB86C"/>
                </a:solidFill>
                <a:latin typeface="Courier New"/>
              </a:rPr>
              <a:t>return</a:t>
            </a:r>
            <a:r>
              <a:rPr lang="es-CO" sz="1100" b="0" i="0" dirty="0">
                <a:solidFill>
                  <a:srgbClr val="D7E1EE"/>
                </a:solidFill>
                <a:latin typeface="Courier New"/>
              </a:rPr>
              <a:t> </a:t>
            </a:r>
            <a:r>
              <a:rPr lang="es-CO" sz="1100" b="0" i="0" dirty="0" err="1">
                <a:solidFill>
                  <a:srgbClr val="D7E1EE"/>
                </a:solidFill>
                <a:latin typeface="Courier New"/>
              </a:rPr>
              <a:t>insertarSql</a:t>
            </a:r>
            <a:r>
              <a:rPr lang="es-CO" sz="1100" b="0" i="0" dirty="0" err="1">
                <a:solidFill>
                  <a:srgbClr val="93A5BD"/>
                </a:solidFill>
                <a:latin typeface="Courier New"/>
              </a:rPr>
              <a:t>.</a:t>
            </a:r>
            <a:r>
              <a:rPr lang="es-CO" sz="1100" b="0" i="0" dirty="0" err="1">
                <a:solidFill>
                  <a:srgbClr val="D7E1EE"/>
                </a:solidFill>
                <a:latin typeface="Courier New"/>
              </a:rPr>
              <a:t>run</a:t>
            </a:r>
            <a:r>
              <a:rPr lang="es-CO" sz="1100" b="0" i="0" dirty="0">
                <a:solidFill>
                  <a:srgbClr val="93A5BD"/>
                </a:solidFill>
                <a:latin typeface="Courier New"/>
              </a:rPr>
              <a:t>(</a:t>
            </a:r>
            <a:r>
              <a:rPr lang="es-CO" sz="1100" b="0" i="0" dirty="0" err="1">
                <a:solidFill>
                  <a:srgbClr val="D7E1EE"/>
                </a:solidFill>
                <a:latin typeface="Courier New"/>
              </a:rPr>
              <a:t>c</a:t>
            </a:r>
            <a:r>
              <a:rPr lang="es-CO" sz="1100" b="0" i="0" dirty="0" err="1">
                <a:solidFill>
                  <a:srgbClr val="93A5BD"/>
                </a:solidFill>
                <a:latin typeface="Courier New"/>
              </a:rPr>
              <a:t>.</a:t>
            </a:r>
            <a:r>
              <a:rPr lang="es-CO" sz="1100" b="0" i="0" dirty="0" err="1">
                <a:solidFill>
                  <a:srgbClr val="D7E1EE"/>
                </a:solidFill>
                <a:latin typeface="Courier New"/>
              </a:rPr>
              <a:t>nombre</a:t>
            </a:r>
            <a:r>
              <a:rPr lang="es-CO" sz="1100" b="0" i="0" dirty="0">
                <a:solidFill>
                  <a:srgbClr val="93A5BD"/>
                </a:solidFill>
                <a:latin typeface="Courier New"/>
              </a:rPr>
              <a:t>,</a:t>
            </a:r>
            <a:r>
              <a:rPr lang="es-CO" sz="1100" b="0" i="0" dirty="0">
                <a:solidFill>
                  <a:srgbClr val="D7E1EE"/>
                </a:solidFill>
                <a:latin typeface="Courier New"/>
              </a:rPr>
              <a:t> </a:t>
            </a:r>
            <a:r>
              <a:rPr lang="es-CO" sz="1100" b="0" i="0" dirty="0" err="1">
                <a:solidFill>
                  <a:srgbClr val="D7E1EE"/>
                </a:solidFill>
                <a:latin typeface="Courier New"/>
              </a:rPr>
              <a:t>c</a:t>
            </a:r>
            <a:r>
              <a:rPr lang="es-CO" sz="1100" b="0" i="0" dirty="0" err="1">
                <a:solidFill>
                  <a:srgbClr val="93A5BD"/>
                </a:solidFill>
                <a:latin typeface="Courier New"/>
              </a:rPr>
              <a:t>.</a:t>
            </a:r>
            <a:r>
              <a:rPr lang="es-CO" sz="1100" b="0" i="0" dirty="0" err="1">
                <a:solidFill>
                  <a:srgbClr val="D7E1EE"/>
                </a:solidFill>
                <a:latin typeface="Courier New"/>
              </a:rPr>
              <a:t>correo</a:t>
            </a:r>
            <a:r>
              <a:rPr lang="es-CO" sz="1100" b="0" i="0" dirty="0">
                <a:solidFill>
                  <a:srgbClr val="93A5BD"/>
                </a:solidFill>
                <a:latin typeface="Courier New"/>
              </a:rPr>
              <a:t>,</a:t>
            </a:r>
          </a:p>
          <a:p>
            <a:pPr algn="l"/>
            <a:r>
              <a:rPr lang="es-CO" sz="1100" b="0" i="0" dirty="0">
                <a:solidFill>
                  <a:srgbClr val="D7E1EE"/>
                </a:solidFill>
                <a:latin typeface="Courier New"/>
              </a:rPr>
              <a:t>    </a:t>
            </a:r>
            <a:r>
              <a:rPr lang="es-CO" sz="1100" b="0" i="0" dirty="0" err="1">
                <a:solidFill>
                  <a:srgbClr val="D7E1EE"/>
                </a:solidFill>
                <a:latin typeface="Courier New"/>
              </a:rPr>
              <a:t>c</a:t>
            </a:r>
            <a:r>
              <a:rPr lang="es-CO" sz="1100" b="0" i="0" dirty="0" err="1">
                <a:solidFill>
                  <a:srgbClr val="93A5BD"/>
                </a:solidFill>
                <a:latin typeface="Courier New"/>
              </a:rPr>
              <a:t>.</a:t>
            </a:r>
            <a:r>
              <a:rPr lang="es-CO" sz="1100" b="0" i="0" dirty="0" err="1">
                <a:solidFill>
                  <a:srgbClr val="D7E1EE"/>
                </a:solidFill>
                <a:latin typeface="Courier New"/>
              </a:rPr>
              <a:t>mensaje</a:t>
            </a:r>
            <a:r>
              <a:rPr lang="es-CO" sz="1100" b="0" i="0" dirty="0">
                <a:solidFill>
                  <a:srgbClr val="93A5BD"/>
                </a:solidFill>
                <a:latin typeface="Courier New"/>
              </a:rPr>
              <a:t>).</a:t>
            </a:r>
            <a:r>
              <a:rPr lang="es-CO" sz="1100" b="0" i="0" dirty="0" err="1">
                <a:solidFill>
                  <a:srgbClr val="D7E1EE"/>
                </a:solidFill>
                <a:latin typeface="Courier New"/>
              </a:rPr>
              <a:t>lastInsertRowid</a:t>
            </a:r>
            <a:r>
              <a:rPr lang="es-CO" sz="1100" b="0" i="0" dirty="0">
                <a:solidFill>
                  <a:srgbClr val="93A5BD"/>
                </a:solidFill>
                <a:latin typeface="Courier New"/>
              </a:rPr>
              <a:t>;</a:t>
            </a:r>
          </a:p>
          <a:p>
            <a:pPr algn="l"/>
            <a:r>
              <a:rPr lang="es-CO" sz="1100" b="0" i="0" dirty="0">
                <a:solidFill>
                  <a:srgbClr val="93A5BD"/>
                </a:solidFill>
                <a:latin typeface="Courier New"/>
              </a:rPr>
              <a:t>}</a:t>
            </a:r>
          </a:p>
          <a:p>
            <a:pPr algn="l"/>
            <a:r>
              <a:rPr lang="es-CO" sz="1100" b="0" i="0" dirty="0" err="1">
                <a:solidFill>
                  <a:srgbClr val="FFB86C"/>
                </a:solidFill>
                <a:latin typeface="Courier New"/>
              </a:rPr>
              <a:t>module</a:t>
            </a:r>
            <a:r>
              <a:rPr lang="es-CO" sz="1100" b="0" i="0" dirty="0" err="1">
                <a:solidFill>
                  <a:srgbClr val="93A5BD"/>
                </a:solidFill>
                <a:latin typeface="Courier New"/>
              </a:rPr>
              <a:t>.</a:t>
            </a:r>
            <a:r>
              <a:rPr lang="es-CO" sz="1100" b="0" i="0" dirty="0" err="1">
                <a:solidFill>
                  <a:srgbClr val="FFB86C"/>
                </a:solidFill>
                <a:latin typeface="Courier New"/>
              </a:rPr>
              <a:t>exports</a:t>
            </a:r>
            <a:r>
              <a:rPr lang="es-CO" sz="1100" b="0" i="0" dirty="0">
                <a:solidFill>
                  <a:srgbClr val="D7E1EE"/>
                </a:solidFill>
                <a:latin typeface="Courier New"/>
              </a:rPr>
              <a:t> </a:t>
            </a:r>
            <a:r>
              <a:rPr lang="es-CO" sz="1100" b="0" i="0" dirty="0">
                <a:solidFill>
                  <a:srgbClr val="93A5BD"/>
                </a:solidFill>
                <a:latin typeface="Courier New"/>
              </a:rPr>
              <a:t>=</a:t>
            </a:r>
            <a:r>
              <a:rPr lang="es-CO" sz="1100" b="0" i="0" dirty="0">
                <a:solidFill>
                  <a:srgbClr val="D7E1EE"/>
                </a:solidFill>
                <a:latin typeface="Courier New"/>
              </a:rPr>
              <a:t> </a:t>
            </a:r>
            <a:r>
              <a:rPr lang="es-CO" sz="1100" b="0" i="0" dirty="0">
                <a:solidFill>
                  <a:srgbClr val="93A5BD"/>
                </a:solidFill>
                <a:latin typeface="Courier New"/>
              </a:rPr>
              <a:t>{</a:t>
            </a:r>
            <a:r>
              <a:rPr lang="es-CO" sz="1100" b="0" i="0" dirty="0">
                <a:solidFill>
                  <a:srgbClr val="D7E1EE"/>
                </a:solidFill>
                <a:latin typeface="Courier New"/>
              </a:rPr>
              <a:t> listar</a:t>
            </a:r>
            <a:r>
              <a:rPr lang="es-CO" sz="1100" b="0" i="0" dirty="0">
                <a:solidFill>
                  <a:srgbClr val="93A5BD"/>
                </a:solidFill>
                <a:latin typeface="Courier New"/>
              </a:rPr>
              <a:t>,</a:t>
            </a:r>
            <a:r>
              <a:rPr lang="es-CO" sz="1100" b="0" i="0" dirty="0">
                <a:solidFill>
                  <a:srgbClr val="D7E1EE"/>
                </a:solidFill>
                <a:latin typeface="Courier New"/>
              </a:rPr>
              <a:t> insertar </a:t>
            </a:r>
            <a:r>
              <a:rPr lang="es-CO" sz="1100" b="0" i="0" dirty="0">
                <a:solidFill>
                  <a:srgbClr val="93A5BD"/>
                </a:solidFill>
                <a:latin typeface="Courier New"/>
              </a:rPr>
              <a:t>};</a:t>
            </a:r>
          </a:p>
        </p:txBody>
      </p:sp>
      <p:cxnSp>
        <p:nvCxnSpPr>
          <p:cNvPr id="12" name="Connector 11"/>
          <p:cNvCxnSpPr/>
          <p:nvPr/>
        </p:nvCxnSpPr>
        <p:spPr>
          <a:xfrm>
            <a:off x="4901184" y="2679192"/>
            <a:ext cx="274320" cy="0"/>
          </a:xfrm>
          <a:prstGeom prst="line">
            <a:avLst/>
          </a:prstGeom>
          <a:ln w="15875">
            <a:solidFill>
              <a:srgbClr val="93A5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846320" y="2411673"/>
            <a:ext cx="411480" cy="169277"/>
          </a:xfrm>
          <a:prstGeom prst="rect">
            <a:avLst/>
          </a:prstGeom>
          <a:noFill/>
        </p:spPr>
        <p:txBody>
          <a:bodyPr wrap="square" lIns="0" tIns="0" rIns="0" bIns="0" anchor="ctr">
            <a:spAutoFit/>
          </a:bodyPr>
          <a:lstStyle/>
          <a:p>
            <a:pPr algn="ctr"/>
            <a:r>
              <a:rPr lang="es-CO" sz="1100" b="0" i="0">
                <a:solidFill>
                  <a:srgbClr val="6C7E96"/>
                </a:solidFill>
                <a:latin typeface="Courier New"/>
              </a:rPr>
              <a:t>SQL</a:t>
            </a:r>
          </a:p>
        </p:txBody>
      </p:sp>
      <p:sp>
        <p:nvSpPr>
          <p:cNvPr id="14" name="Rounded Rectangle 13"/>
          <p:cNvSpPr/>
          <p:nvPr/>
        </p:nvSpPr>
        <p:spPr>
          <a:xfrm>
            <a:off x="5230368" y="1627632"/>
            <a:ext cx="3410712" cy="2103120"/>
          </a:xfrm>
          <a:prstGeom prst="roundRect">
            <a:avLst>
              <a:gd name="adj" fmla="val 8000"/>
            </a:avLst>
          </a:prstGeom>
          <a:solidFill>
            <a:srgbClr val="070C1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15" name="TextBox 14"/>
          <p:cNvSpPr txBox="1"/>
          <p:nvPr/>
        </p:nvSpPr>
        <p:spPr>
          <a:xfrm>
            <a:off x="5376672" y="1707585"/>
            <a:ext cx="3108960" cy="169277"/>
          </a:xfrm>
          <a:prstGeom prst="rect">
            <a:avLst/>
          </a:prstGeom>
          <a:noFill/>
        </p:spPr>
        <p:txBody>
          <a:bodyPr wrap="square" lIns="0" tIns="0" rIns="0" bIns="0" anchor="ctr">
            <a:spAutoFit/>
          </a:bodyPr>
          <a:lstStyle/>
          <a:p>
            <a:pPr algn="l"/>
            <a:r>
              <a:rPr lang="es-CO" sz="1100" b="1" i="0">
                <a:solidFill>
                  <a:srgbClr val="FFB86C"/>
                </a:solidFill>
                <a:latin typeface="Courier New"/>
              </a:rPr>
              <a:t>data/contactos.db · tabla contactos</a:t>
            </a:r>
          </a:p>
        </p:txBody>
      </p:sp>
      <p:graphicFrame>
        <p:nvGraphicFramePr>
          <p:cNvPr id="16" name="Table 15"/>
          <p:cNvGraphicFramePr>
            <a:graphicFrameLocks noGrp="1"/>
          </p:cNvGraphicFramePr>
          <p:nvPr/>
        </p:nvGraphicFramePr>
        <p:xfrm>
          <a:off x="5358384" y="2011680"/>
          <a:ext cx="3154680" cy="896112"/>
        </p:xfrm>
        <a:graphic>
          <a:graphicData uri="http://schemas.openxmlformats.org/drawingml/2006/table">
            <a:tbl>
              <a:tblPr>
                <a:tableStyleId>{2D5ABB26-0587-4C30-8999-92F81FD0307C}</a:tableStyleId>
              </a:tblPr>
              <a:tblGrid>
                <a:gridCol w="36576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274320">
                <a:tc>
                  <a:txBody>
                    <a:bodyPr/>
                    <a:lstStyle/>
                    <a:p>
                      <a:r>
                        <a:rPr lang="es-CO" sz="900" b="1" i="0">
                          <a:solidFill>
                            <a:srgbClr val="FFB86C"/>
                          </a:solidFill>
                          <a:latin typeface="Arial"/>
                        </a:rPr>
                        <a:t>id</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3233A"/>
                    </a:solidFill>
                  </a:tcPr>
                </a:tc>
                <a:tc>
                  <a:txBody>
                    <a:bodyPr/>
                    <a:lstStyle/>
                    <a:p>
                      <a:r>
                        <a:rPr lang="es-CO" sz="900" b="1" i="0">
                          <a:solidFill>
                            <a:srgbClr val="FFB86C"/>
                          </a:solidFill>
                          <a:latin typeface="Arial"/>
                        </a:rPr>
                        <a:t>nombre</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3233A"/>
                    </a:solidFill>
                  </a:tcPr>
                </a:tc>
                <a:tc>
                  <a:txBody>
                    <a:bodyPr/>
                    <a:lstStyle/>
                    <a:p>
                      <a:r>
                        <a:rPr lang="es-CO" sz="900" b="1" i="0">
                          <a:solidFill>
                            <a:srgbClr val="FFB86C"/>
                          </a:solidFill>
                          <a:latin typeface="Arial"/>
                        </a:rPr>
                        <a:t>correo</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3233A"/>
                    </a:solidFill>
                  </a:tcPr>
                </a:tc>
                <a:extLst>
                  <a:ext uri="{0D108BD9-81ED-4DB2-BD59-A6C34878D82A}">
                    <a16:rowId xmlns:a16="http://schemas.microsoft.com/office/drawing/2014/main" val="10000"/>
                  </a:ext>
                </a:extLst>
              </a:tr>
              <a:tr h="310896">
                <a:tc>
                  <a:txBody>
                    <a:bodyPr/>
                    <a:lstStyle/>
                    <a:p>
                      <a:r>
                        <a:rPr lang="es-CO" sz="900" b="0" i="0">
                          <a:solidFill>
                            <a:srgbClr val="E8EEF6"/>
                          </a:solidFill>
                          <a:latin typeface="Calibri"/>
                        </a:rPr>
                        <a:t>1</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A2434"/>
                    </a:solidFill>
                  </a:tcPr>
                </a:tc>
                <a:tc>
                  <a:txBody>
                    <a:bodyPr/>
                    <a:lstStyle/>
                    <a:p>
                      <a:r>
                        <a:rPr lang="es-CO" sz="900" b="0" i="0">
                          <a:solidFill>
                            <a:srgbClr val="E8EEF6"/>
                          </a:solidFill>
                          <a:latin typeface="Calibri"/>
                        </a:rPr>
                        <a:t>Ana</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A2434"/>
                    </a:solidFill>
                  </a:tcPr>
                </a:tc>
                <a:tc>
                  <a:txBody>
                    <a:bodyPr/>
                    <a:lstStyle/>
                    <a:p>
                      <a:r>
                        <a:rPr lang="es-CO" sz="900" b="0" i="0">
                          <a:solidFill>
                            <a:srgbClr val="E8EEF6"/>
                          </a:solidFill>
                          <a:latin typeface="Calibri"/>
                        </a:rPr>
                        <a:t>ana@example.com</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A2434"/>
                    </a:solidFill>
                  </a:tcPr>
                </a:tc>
                <a:extLst>
                  <a:ext uri="{0D108BD9-81ED-4DB2-BD59-A6C34878D82A}">
                    <a16:rowId xmlns:a16="http://schemas.microsoft.com/office/drawing/2014/main" val="10001"/>
                  </a:ext>
                </a:extLst>
              </a:tr>
              <a:tr h="310896">
                <a:tc>
                  <a:txBody>
                    <a:bodyPr/>
                    <a:lstStyle/>
                    <a:p>
                      <a:r>
                        <a:rPr lang="es-CO" sz="900" b="0" i="0">
                          <a:solidFill>
                            <a:srgbClr val="E8EEF6"/>
                          </a:solidFill>
                          <a:latin typeface="Calibri"/>
                        </a:rPr>
                        <a:t>2</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41E2D"/>
                    </a:solidFill>
                  </a:tcPr>
                </a:tc>
                <a:tc>
                  <a:txBody>
                    <a:bodyPr/>
                    <a:lstStyle/>
                    <a:p>
                      <a:r>
                        <a:rPr lang="es-CO" sz="900" b="0" i="0">
                          <a:solidFill>
                            <a:srgbClr val="E8EEF6"/>
                          </a:solidFill>
                          <a:latin typeface="Calibri"/>
                        </a:rPr>
                        <a:t>Beatriz</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41E2D"/>
                    </a:solidFill>
                  </a:tcPr>
                </a:tc>
                <a:tc>
                  <a:txBody>
                    <a:bodyPr/>
                    <a:lstStyle/>
                    <a:p>
                      <a:r>
                        <a:rPr lang="es-CO" sz="900" b="0" i="0">
                          <a:solidFill>
                            <a:srgbClr val="E8EEF6"/>
                          </a:solidFill>
                          <a:latin typeface="Calibri"/>
                        </a:rPr>
                        <a:t>beatriz@example.com</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41E2D"/>
                    </a:solidFill>
                  </a:tcPr>
                </a:tc>
                <a:extLst>
                  <a:ext uri="{0D108BD9-81ED-4DB2-BD59-A6C34878D82A}">
                    <a16:rowId xmlns:a16="http://schemas.microsoft.com/office/drawing/2014/main" val="10002"/>
                  </a:ext>
                </a:extLst>
              </a:tr>
            </a:tbl>
          </a:graphicData>
        </a:graphic>
      </p:graphicFrame>
      <p:sp>
        <p:nvSpPr>
          <p:cNvPr id="17" name="TextBox 16"/>
          <p:cNvSpPr txBox="1"/>
          <p:nvPr/>
        </p:nvSpPr>
        <p:spPr>
          <a:xfrm>
            <a:off x="5376672" y="3017520"/>
            <a:ext cx="3154680" cy="338554"/>
          </a:xfrm>
          <a:prstGeom prst="rect">
            <a:avLst/>
          </a:prstGeom>
          <a:noFill/>
        </p:spPr>
        <p:txBody>
          <a:bodyPr wrap="square" lIns="0" tIns="0" rIns="0" bIns="0" anchor="t">
            <a:spAutoFit/>
          </a:bodyPr>
          <a:lstStyle/>
          <a:p>
            <a:pPr algn="l"/>
            <a:r>
              <a:rPr lang="es-CO" sz="1100" b="0" i="0">
                <a:solidFill>
                  <a:srgbClr val="93A5BD"/>
                </a:solidFill>
                <a:latin typeface="Calibri"/>
              </a:rPr>
              <a:t>La columna mensaje existe en la tabla; se omite aquí por espacio.</a:t>
            </a:r>
          </a:p>
        </p:txBody>
      </p:sp>
      <p:sp>
        <p:nvSpPr>
          <p:cNvPr id="18" name="Rounded Rectangle 17"/>
          <p:cNvSpPr/>
          <p:nvPr/>
        </p:nvSpPr>
        <p:spPr>
          <a:xfrm>
            <a:off x="502920" y="4030218"/>
            <a:ext cx="2633472" cy="676656"/>
          </a:xfrm>
          <a:prstGeom prst="roundRect">
            <a:avLst>
              <a:gd name="adj" fmla="val 8000"/>
            </a:avLst>
          </a:prstGeom>
          <a:solidFill>
            <a:srgbClr val="1A2434"/>
          </a:solidFill>
          <a:ln w="12700">
            <a:solidFill>
              <a:srgbClr val="FFB86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19" name="TextBox 18"/>
          <p:cNvSpPr txBox="1"/>
          <p:nvPr/>
        </p:nvSpPr>
        <p:spPr>
          <a:xfrm>
            <a:off x="630936" y="4121658"/>
            <a:ext cx="2377440" cy="338554"/>
          </a:xfrm>
          <a:prstGeom prst="rect">
            <a:avLst/>
          </a:prstGeom>
          <a:noFill/>
        </p:spPr>
        <p:txBody>
          <a:bodyPr wrap="square" lIns="0" tIns="0" rIns="0" bIns="0" anchor="t">
            <a:spAutoFit/>
          </a:bodyPr>
          <a:lstStyle/>
          <a:p>
            <a:pPr algn="l">
              <a:spcAft>
                <a:spcPts val="200"/>
              </a:spcAft>
            </a:pPr>
            <a:r>
              <a:rPr lang="es-CO" sz="1100" b="1" i="0">
                <a:solidFill>
                  <a:srgbClr val="FFB86C"/>
                </a:solidFill>
                <a:latin typeface="Calibri"/>
              </a:rPr>
              <a:t>Persistencia: </a:t>
            </a:r>
            <a:r>
              <a:rPr lang="es-CO" sz="1100" b="0" i="0">
                <a:solidFill>
                  <a:srgbClr val="E8EEF6"/>
                </a:solidFill>
                <a:latin typeface="Calibri"/>
              </a:rPr>
              <a:t>código que traduce operaciones a SQL.</a:t>
            </a:r>
          </a:p>
        </p:txBody>
      </p:sp>
      <p:sp>
        <p:nvSpPr>
          <p:cNvPr id="20" name="Rounded Rectangle 19"/>
          <p:cNvSpPr/>
          <p:nvPr/>
        </p:nvSpPr>
        <p:spPr>
          <a:xfrm>
            <a:off x="3255264" y="4030218"/>
            <a:ext cx="2633472" cy="676656"/>
          </a:xfrm>
          <a:prstGeom prst="roundRect">
            <a:avLst>
              <a:gd name="adj" fmla="val 8000"/>
            </a:avLst>
          </a:prstGeom>
          <a:solidFill>
            <a:srgbClr val="1A2434"/>
          </a:solidFill>
          <a:ln w="12700">
            <a:solidFill>
              <a:srgbClr val="FFD47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21" name="TextBox 20"/>
          <p:cNvSpPr txBox="1"/>
          <p:nvPr/>
        </p:nvSpPr>
        <p:spPr>
          <a:xfrm>
            <a:off x="3383280" y="4121658"/>
            <a:ext cx="2377440" cy="338554"/>
          </a:xfrm>
          <a:prstGeom prst="rect">
            <a:avLst/>
          </a:prstGeom>
          <a:noFill/>
        </p:spPr>
        <p:txBody>
          <a:bodyPr wrap="square" lIns="0" tIns="0" rIns="0" bIns="0" anchor="t">
            <a:spAutoFit/>
          </a:bodyPr>
          <a:lstStyle/>
          <a:p>
            <a:pPr algn="l">
              <a:spcAft>
                <a:spcPts val="200"/>
              </a:spcAft>
            </a:pPr>
            <a:r>
              <a:rPr lang="es-CO" sz="1100" b="1" i="0">
                <a:solidFill>
                  <a:srgbClr val="FFD479"/>
                </a:solidFill>
                <a:latin typeface="Calibri"/>
              </a:rPr>
              <a:t>Base de datos: </a:t>
            </a:r>
            <a:r>
              <a:rPr lang="es-CO" sz="1100" b="0" i="0">
                <a:solidFill>
                  <a:srgbClr val="E8EEF6"/>
                </a:solidFill>
                <a:latin typeface="Calibri"/>
              </a:rPr>
              <a:t>tablas y filas que sobreviven al servidor.</a:t>
            </a:r>
          </a:p>
        </p:txBody>
      </p:sp>
      <p:sp>
        <p:nvSpPr>
          <p:cNvPr id="22" name="Rounded Rectangle 21"/>
          <p:cNvSpPr/>
          <p:nvPr/>
        </p:nvSpPr>
        <p:spPr>
          <a:xfrm>
            <a:off x="6007608" y="4030218"/>
            <a:ext cx="2633472" cy="676656"/>
          </a:xfrm>
          <a:prstGeom prst="roundRect">
            <a:avLst>
              <a:gd name="adj" fmla="val 8000"/>
            </a:avLst>
          </a:prstGeom>
          <a:solidFill>
            <a:srgbClr val="1A243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23" name="TextBox 22"/>
          <p:cNvSpPr txBox="1"/>
          <p:nvPr/>
        </p:nvSpPr>
        <p:spPr>
          <a:xfrm>
            <a:off x="6135624" y="4121658"/>
            <a:ext cx="2377440" cy="338554"/>
          </a:xfrm>
          <a:prstGeom prst="rect">
            <a:avLst/>
          </a:prstGeom>
          <a:noFill/>
        </p:spPr>
        <p:txBody>
          <a:bodyPr wrap="square" lIns="0" tIns="0" rIns="0" bIns="0" anchor="t">
            <a:spAutoFit/>
          </a:bodyPr>
          <a:lstStyle/>
          <a:p>
            <a:pPr algn="l">
              <a:spcAft>
                <a:spcPts val="200"/>
              </a:spcAft>
            </a:pPr>
            <a:r>
              <a:rPr lang="es-CO" sz="1100" b="1" i="0">
                <a:solidFill>
                  <a:srgbClr val="3DDC97"/>
                </a:solidFill>
                <a:latin typeface="Calibri"/>
              </a:rPr>
              <a:t>Efecto: </a:t>
            </a:r>
            <a:r>
              <a:rPr lang="es-CO" sz="1100" b="0" i="0">
                <a:solidFill>
                  <a:srgbClr val="E8EEF6"/>
                </a:solidFill>
                <a:latin typeface="Calibri"/>
              </a:rPr>
              <a:t>otro gestor cambia el repositorio, no el modelo.</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101B"/>
        </a:solidFill>
        <a:effectLst/>
      </p:bgPr>
    </p:bg>
    <p:spTree>
      <p:nvGrpSpPr>
        <p:cNvPr id="1" name=""/>
        <p:cNvGrpSpPr/>
        <p:nvPr/>
      </p:nvGrpSpPr>
      <p:grpSpPr>
        <a:xfrm>
          <a:off x="0" y="0"/>
          <a:ext cx="0" cy="0"/>
          <a:chOff x="0" y="0"/>
          <a:chExt cx="0" cy="0"/>
        </a:xfrm>
      </p:grpSpPr>
      <p:sp>
        <p:nvSpPr>
          <p:cNvPr id="2" name="TextBox 1"/>
          <p:cNvSpPr txBox="1"/>
          <p:nvPr/>
        </p:nvSpPr>
        <p:spPr>
          <a:xfrm>
            <a:off x="6309360" y="4734249"/>
            <a:ext cx="2331720" cy="169277"/>
          </a:xfrm>
          <a:prstGeom prst="rect">
            <a:avLst/>
          </a:prstGeom>
          <a:noFill/>
        </p:spPr>
        <p:txBody>
          <a:bodyPr wrap="square" lIns="0" tIns="0" rIns="0" bIns="0" anchor="ctr">
            <a:spAutoFit/>
          </a:bodyPr>
          <a:lstStyle/>
          <a:p>
            <a:pPr algn="r"/>
            <a:r>
              <a:rPr lang="es-CO" sz="1100" b="0" i="0">
                <a:solidFill>
                  <a:srgbClr val="6C7E96"/>
                </a:solidFill>
                <a:latin typeface="Arial"/>
              </a:rPr>
              <a:t>Ingeniería Web  ·  07 / 24</a:t>
            </a:r>
          </a:p>
        </p:txBody>
      </p:sp>
      <p:sp>
        <p:nvSpPr>
          <p:cNvPr id="3" name="Rounded Rectangle 2"/>
          <p:cNvSpPr/>
          <p:nvPr/>
        </p:nvSpPr>
        <p:spPr>
          <a:xfrm>
            <a:off x="502920" y="365760"/>
            <a:ext cx="1024128" cy="228600"/>
          </a:xfrm>
          <a:prstGeom prst="roundRect">
            <a:avLst>
              <a:gd name="adj" fmla="val 50000"/>
            </a:avLst>
          </a:prstGeom>
          <a:solidFill>
            <a:srgbClr val="132A24"/>
          </a:solidFill>
          <a:ln w="952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502920" y="365760"/>
            <a:ext cx="1024128" cy="228600"/>
          </a:xfrm>
          <a:prstGeom prst="rect">
            <a:avLst/>
          </a:prstGeom>
          <a:noFill/>
        </p:spPr>
        <p:txBody>
          <a:bodyPr wrap="square" lIns="0" tIns="0" rIns="0" bIns="0" anchor="ctr">
            <a:spAutoFit/>
          </a:bodyPr>
          <a:lstStyle/>
          <a:p>
            <a:pPr algn="ctr"/>
            <a:r>
              <a:rPr lang="es-CO" sz="850" b="1" i="0">
                <a:solidFill>
                  <a:srgbClr val="3DDC97"/>
                </a:solidFill>
                <a:latin typeface="Arial"/>
              </a:rPr>
              <a:t>CONCEPTO</a:t>
            </a:r>
          </a:p>
        </p:txBody>
      </p:sp>
      <p:sp>
        <p:nvSpPr>
          <p:cNvPr id="5" name="Título"/>
          <p:cNvSpPr txBox="1"/>
          <p:nvPr/>
        </p:nvSpPr>
        <p:spPr>
          <a:xfrm>
            <a:off x="475488" y="658368"/>
            <a:ext cx="8138160" cy="438912"/>
          </a:xfrm>
          <a:prstGeom prst="rect">
            <a:avLst/>
          </a:prstGeom>
          <a:noFill/>
        </p:spPr>
        <p:txBody>
          <a:bodyPr wrap="square" lIns="0" tIns="0" rIns="0" bIns="0" anchor="ctr">
            <a:spAutoFit/>
          </a:bodyPr>
          <a:lstStyle/>
          <a:p>
            <a:pPr algn="l"/>
            <a:r>
              <a:rPr lang="es-CO" sz="2600" b="1" i="0">
                <a:solidFill>
                  <a:srgbClr val="FFFFFF"/>
                </a:solidFill>
                <a:latin typeface="Arial"/>
              </a:rPr>
              <a:t>Modelo–Vista–Controlador (MVC)</a:t>
            </a:r>
          </a:p>
        </p:txBody>
      </p:sp>
      <p:sp>
        <p:nvSpPr>
          <p:cNvPr id="6" name="TextBox 5"/>
          <p:cNvSpPr txBox="1"/>
          <p:nvPr/>
        </p:nvSpPr>
        <p:spPr>
          <a:xfrm>
            <a:off x="475488" y="1131513"/>
            <a:ext cx="8138160" cy="169277"/>
          </a:xfrm>
          <a:prstGeom prst="rect">
            <a:avLst/>
          </a:prstGeom>
          <a:noFill/>
        </p:spPr>
        <p:txBody>
          <a:bodyPr wrap="square" lIns="0" tIns="0" rIns="0" bIns="0" anchor="ctr">
            <a:spAutoFit/>
          </a:bodyPr>
          <a:lstStyle/>
          <a:p>
            <a:pPr algn="l"/>
            <a:r>
              <a:rPr lang="es-CO" sz="1100" b="0" i="0">
                <a:solidFill>
                  <a:srgbClr val="93A5BD"/>
                </a:solidFill>
                <a:latin typeface="Calibri"/>
              </a:rPr>
              <a:t>Patrón que separa los datos y reglas, la presentación y la coordinación de las solicitudes.</a:t>
            </a:r>
          </a:p>
        </p:txBody>
      </p:sp>
      <p:sp>
        <p:nvSpPr>
          <p:cNvPr id="7" name="Rounded Rectangle 6"/>
          <p:cNvSpPr/>
          <p:nvPr/>
        </p:nvSpPr>
        <p:spPr>
          <a:xfrm>
            <a:off x="502920" y="1481328"/>
            <a:ext cx="1417320" cy="566928"/>
          </a:xfrm>
          <a:prstGeom prst="roundRect">
            <a:avLst>
              <a:gd name="adj" fmla="val 8000"/>
            </a:avLst>
          </a:prstGeom>
          <a:solidFill>
            <a:srgbClr val="1A243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8" name="TextBox 7"/>
          <p:cNvSpPr txBox="1"/>
          <p:nvPr/>
        </p:nvSpPr>
        <p:spPr>
          <a:xfrm>
            <a:off x="502920" y="1595515"/>
            <a:ext cx="1417320" cy="338554"/>
          </a:xfrm>
          <a:prstGeom prst="rect">
            <a:avLst/>
          </a:prstGeom>
          <a:noFill/>
        </p:spPr>
        <p:txBody>
          <a:bodyPr wrap="square" lIns="0" tIns="0" rIns="0" bIns="0" anchor="ctr">
            <a:spAutoFit/>
          </a:bodyPr>
          <a:lstStyle/>
          <a:p>
            <a:pPr algn="ctr"/>
            <a:r>
              <a:rPr lang="es-CO" sz="1100" b="1" i="0">
                <a:solidFill>
                  <a:srgbClr val="E8EEF6"/>
                </a:solidFill>
                <a:latin typeface="Calibri"/>
              </a:rPr>
              <a:t>Navegador</a:t>
            </a:r>
          </a:p>
          <a:p>
            <a:pPr algn="ctr"/>
            <a:r>
              <a:rPr lang="es-CO" sz="1100" b="0" i="0">
                <a:solidFill>
                  <a:srgbClr val="93A5BD"/>
                </a:solidFill>
                <a:latin typeface="Calibri"/>
              </a:rPr>
              <a:t>cliente HTTP</a:t>
            </a:r>
          </a:p>
        </p:txBody>
      </p:sp>
      <p:sp>
        <p:nvSpPr>
          <p:cNvPr id="9" name="Rounded Rectangle 8"/>
          <p:cNvSpPr/>
          <p:nvPr/>
        </p:nvSpPr>
        <p:spPr>
          <a:xfrm>
            <a:off x="3246120" y="1481328"/>
            <a:ext cx="1874520" cy="566928"/>
          </a:xfrm>
          <a:prstGeom prst="roundRect">
            <a:avLst>
              <a:gd name="adj" fmla="val 8000"/>
            </a:avLst>
          </a:prstGeom>
          <a:solidFill>
            <a:srgbClr val="1A2434"/>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10" name="TextBox 9"/>
          <p:cNvSpPr txBox="1"/>
          <p:nvPr/>
        </p:nvSpPr>
        <p:spPr>
          <a:xfrm>
            <a:off x="3246120" y="1595515"/>
            <a:ext cx="1874520" cy="338554"/>
          </a:xfrm>
          <a:prstGeom prst="rect">
            <a:avLst/>
          </a:prstGeom>
          <a:noFill/>
        </p:spPr>
        <p:txBody>
          <a:bodyPr wrap="square" lIns="0" tIns="0" rIns="0" bIns="0" anchor="ctr">
            <a:spAutoFit/>
          </a:bodyPr>
          <a:lstStyle/>
          <a:p>
            <a:pPr algn="ctr"/>
            <a:r>
              <a:rPr lang="es-CO" sz="1100" b="1" i="0">
                <a:solidFill>
                  <a:srgbClr val="56C7F2"/>
                </a:solidFill>
                <a:latin typeface="Calibri"/>
              </a:rPr>
              <a:t>Controlador</a:t>
            </a:r>
          </a:p>
          <a:p>
            <a:pPr algn="ctr"/>
            <a:r>
              <a:rPr lang="es-CO" sz="1100" b="0" i="0">
                <a:solidFill>
                  <a:srgbClr val="93A5BD"/>
                </a:solidFill>
                <a:latin typeface="Calibri"/>
              </a:rPr>
              <a:t>recibe y coordina</a:t>
            </a:r>
          </a:p>
        </p:txBody>
      </p:sp>
      <p:sp>
        <p:nvSpPr>
          <p:cNvPr id="11" name="Rounded Rectangle 10"/>
          <p:cNvSpPr/>
          <p:nvPr/>
        </p:nvSpPr>
        <p:spPr>
          <a:xfrm>
            <a:off x="6629400" y="1481328"/>
            <a:ext cx="2011680" cy="566928"/>
          </a:xfrm>
          <a:prstGeom prst="roundRect">
            <a:avLst>
              <a:gd name="adj" fmla="val 8000"/>
            </a:avLst>
          </a:prstGeom>
          <a:solidFill>
            <a:srgbClr val="1A243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12" name="TextBox 11"/>
          <p:cNvSpPr txBox="1"/>
          <p:nvPr/>
        </p:nvSpPr>
        <p:spPr>
          <a:xfrm>
            <a:off x="6629400" y="1595515"/>
            <a:ext cx="2011680" cy="338554"/>
          </a:xfrm>
          <a:prstGeom prst="rect">
            <a:avLst/>
          </a:prstGeom>
          <a:noFill/>
        </p:spPr>
        <p:txBody>
          <a:bodyPr wrap="square" lIns="0" tIns="0" rIns="0" bIns="0" anchor="ctr">
            <a:spAutoFit/>
          </a:bodyPr>
          <a:lstStyle/>
          <a:p>
            <a:pPr algn="ctr"/>
            <a:r>
              <a:rPr lang="es-CO" sz="1100" b="1" i="0">
                <a:solidFill>
                  <a:srgbClr val="3DDC97"/>
                </a:solidFill>
                <a:latin typeface="Calibri"/>
              </a:rPr>
              <a:t>Modelo</a:t>
            </a:r>
          </a:p>
          <a:p>
            <a:pPr algn="ctr"/>
            <a:r>
              <a:rPr lang="es-CO" sz="1100" b="0" i="0">
                <a:solidFill>
                  <a:srgbClr val="93A5BD"/>
                </a:solidFill>
                <a:latin typeface="Calibri"/>
              </a:rPr>
              <a:t>datos y reglas</a:t>
            </a:r>
          </a:p>
        </p:txBody>
      </p:sp>
      <p:sp>
        <p:nvSpPr>
          <p:cNvPr id="13" name="Rounded Rectangle 12"/>
          <p:cNvSpPr/>
          <p:nvPr/>
        </p:nvSpPr>
        <p:spPr>
          <a:xfrm>
            <a:off x="3246120" y="2487168"/>
            <a:ext cx="1874520" cy="566928"/>
          </a:xfrm>
          <a:prstGeom prst="roundRect">
            <a:avLst>
              <a:gd name="adj" fmla="val 8000"/>
            </a:avLst>
          </a:prstGeom>
          <a:solidFill>
            <a:srgbClr val="1A2434"/>
          </a:solidFill>
          <a:ln w="12700">
            <a:solidFill>
              <a:srgbClr val="FFD47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14" name="TextBox 13"/>
          <p:cNvSpPr txBox="1"/>
          <p:nvPr/>
        </p:nvSpPr>
        <p:spPr>
          <a:xfrm>
            <a:off x="3246120" y="2601355"/>
            <a:ext cx="1874520" cy="338554"/>
          </a:xfrm>
          <a:prstGeom prst="rect">
            <a:avLst/>
          </a:prstGeom>
          <a:noFill/>
        </p:spPr>
        <p:txBody>
          <a:bodyPr wrap="square" lIns="0" tIns="0" rIns="0" bIns="0" anchor="ctr">
            <a:spAutoFit/>
          </a:bodyPr>
          <a:lstStyle/>
          <a:p>
            <a:pPr algn="ctr"/>
            <a:r>
              <a:rPr lang="es-CO" sz="1100" b="1" i="0">
                <a:solidFill>
                  <a:srgbClr val="FFD479"/>
                </a:solidFill>
                <a:latin typeface="Calibri"/>
              </a:rPr>
              <a:t>Vista</a:t>
            </a:r>
          </a:p>
          <a:p>
            <a:pPr algn="ctr"/>
            <a:r>
              <a:rPr lang="es-CO" sz="1100" b="0" i="0">
                <a:solidFill>
                  <a:srgbClr val="93A5BD"/>
                </a:solidFill>
                <a:latin typeface="Calibri"/>
              </a:rPr>
              <a:t>presenta</a:t>
            </a:r>
          </a:p>
        </p:txBody>
      </p:sp>
      <p:cxnSp>
        <p:nvCxnSpPr>
          <p:cNvPr id="15" name="Connector 14"/>
          <p:cNvCxnSpPr/>
          <p:nvPr/>
        </p:nvCxnSpPr>
        <p:spPr>
          <a:xfrm>
            <a:off x="1938528" y="1700784"/>
            <a:ext cx="1289304" cy="0"/>
          </a:xfrm>
          <a:prstGeom prst="line">
            <a:avLst/>
          </a:prstGeom>
          <a:ln w="15875">
            <a:solidFill>
              <a:srgbClr val="93A5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938528" y="1463040"/>
            <a:ext cx="1289304" cy="169277"/>
          </a:xfrm>
          <a:prstGeom prst="rect">
            <a:avLst/>
          </a:prstGeom>
          <a:noFill/>
        </p:spPr>
        <p:txBody>
          <a:bodyPr wrap="square" lIns="0" tIns="0" rIns="0" bIns="0" anchor="t">
            <a:spAutoFit/>
          </a:bodyPr>
          <a:lstStyle/>
          <a:p>
            <a:pPr algn="ctr"/>
            <a:r>
              <a:rPr lang="es-CO" sz="1100" b="0" i="0">
                <a:solidFill>
                  <a:srgbClr val="6C7E96"/>
                </a:solidFill>
                <a:latin typeface="Courier New"/>
              </a:rPr>
              <a:t>1 · solicitud</a:t>
            </a:r>
          </a:p>
        </p:txBody>
      </p:sp>
      <p:cxnSp>
        <p:nvCxnSpPr>
          <p:cNvPr id="17" name="Connector 16"/>
          <p:cNvCxnSpPr/>
          <p:nvPr/>
        </p:nvCxnSpPr>
        <p:spPr>
          <a:xfrm>
            <a:off x="5138928" y="1700784"/>
            <a:ext cx="1472184" cy="0"/>
          </a:xfrm>
          <a:prstGeom prst="line">
            <a:avLst/>
          </a:prstGeom>
          <a:ln w="15875">
            <a:solidFill>
              <a:srgbClr val="93A5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138928" y="1463040"/>
            <a:ext cx="1472184" cy="169277"/>
          </a:xfrm>
          <a:prstGeom prst="rect">
            <a:avLst/>
          </a:prstGeom>
          <a:noFill/>
        </p:spPr>
        <p:txBody>
          <a:bodyPr wrap="square" lIns="0" tIns="0" rIns="0" bIns="0" anchor="t">
            <a:spAutoFit/>
          </a:bodyPr>
          <a:lstStyle/>
          <a:p>
            <a:pPr algn="ctr"/>
            <a:r>
              <a:rPr lang="es-CO" sz="1100" b="0" i="0">
                <a:solidFill>
                  <a:srgbClr val="6C7E96"/>
                </a:solidFill>
                <a:latin typeface="Courier New"/>
              </a:rPr>
              <a:t>2 · usa</a:t>
            </a:r>
          </a:p>
        </p:txBody>
      </p:sp>
      <p:cxnSp>
        <p:nvCxnSpPr>
          <p:cNvPr id="19" name="Connector 18"/>
          <p:cNvCxnSpPr/>
          <p:nvPr/>
        </p:nvCxnSpPr>
        <p:spPr>
          <a:xfrm flipH="1">
            <a:off x="5138928" y="1883664"/>
            <a:ext cx="1472184" cy="0"/>
          </a:xfrm>
          <a:prstGeom prst="line">
            <a:avLst/>
          </a:prstGeom>
          <a:ln w="15875">
            <a:solidFill>
              <a:srgbClr val="93A5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138928" y="1901952"/>
            <a:ext cx="1472184" cy="169277"/>
          </a:xfrm>
          <a:prstGeom prst="rect">
            <a:avLst/>
          </a:prstGeom>
          <a:noFill/>
        </p:spPr>
        <p:txBody>
          <a:bodyPr wrap="square" lIns="0" tIns="0" rIns="0" bIns="0" anchor="t">
            <a:spAutoFit/>
          </a:bodyPr>
          <a:lstStyle/>
          <a:p>
            <a:pPr algn="ctr"/>
            <a:r>
              <a:rPr lang="es-CO" sz="1100" b="0" i="0">
                <a:solidFill>
                  <a:srgbClr val="6C7E96"/>
                </a:solidFill>
                <a:latin typeface="Courier New"/>
              </a:rPr>
              <a:t>3 · resultado</a:t>
            </a:r>
          </a:p>
        </p:txBody>
      </p:sp>
      <p:cxnSp>
        <p:nvCxnSpPr>
          <p:cNvPr id="21" name="Connector 20"/>
          <p:cNvCxnSpPr/>
          <p:nvPr/>
        </p:nvCxnSpPr>
        <p:spPr>
          <a:xfrm>
            <a:off x="4178808" y="2066544"/>
            <a:ext cx="0" cy="402336"/>
          </a:xfrm>
          <a:prstGeom prst="line">
            <a:avLst/>
          </a:prstGeom>
          <a:ln w="15875">
            <a:solidFill>
              <a:srgbClr val="93A5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261104" y="2157984"/>
            <a:ext cx="1463040" cy="169277"/>
          </a:xfrm>
          <a:prstGeom prst="rect">
            <a:avLst/>
          </a:prstGeom>
          <a:noFill/>
        </p:spPr>
        <p:txBody>
          <a:bodyPr wrap="square" lIns="0" tIns="0" rIns="0" bIns="0" anchor="t">
            <a:spAutoFit/>
          </a:bodyPr>
          <a:lstStyle/>
          <a:p>
            <a:pPr algn="l"/>
            <a:r>
              <a:rPr lang="es-CO" sz="1100" b="0" i="0">
                <a:solidFill>
                  <a:srgbClr val="6C7E96"/>
                </a:solidFill>
                <a:latin typeface="Courier New"/>
              </a:rPr>
              <a:t>4 · datos</a:t>
            </a:r>
          </a:p>
        </p:txBody>
      </p:sp>
      <p:cxnSp>
        <p:nvCxnSpPr>
          <p:cNvPr id="23" name="Connector 22"/>
          <p:cNvCxnSpPr/>
          <p:nvPr/>
        </p:nvCxnSpPr>
        <p:spPr>
          <a:xfrm flipH="1">
            <a:off x="1207008" y="2770632"/>
            <a:ext cx="2020824" cy="0"/>
          </a:xfrm>
          <a:prstGeom prst="line">
            <a:avLst/>
          </a:prstGeom>
          <a:ln w="15875">
            <a:solidFill>
              <a:srgbClr val="93A5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1207008" y="2066544"/>
            <a:ext cx="0" cy="704088"/>
          </a:xfrm>
          <a:prstGeom prst="line">
            <a:avLst/>
          </a:prstGeom>
          <a:ln w="15875">
            <a:solidFill>
              <a:srgbClr val="93A5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325880" y="2542032"/>
            <a:ext cx="1828800" cy="169277"/>
          </a:xfrm>
          <a:prstGeom prst="rect">
            <a:avLst/>
          </a:prstGeom>
          <a:noFill/>
        </p:spPr>
        <p:txBody>
          <a:bodyPr wrap="square" lIns="0" tIns="0" rIns="0" bIns="0" anchor="t">
            <a:spAutoFit/>
          </a:bodyPr>
          <a:lstStyle/>
          <a:p>
            <a:pPr algn="ctr"/>
            <a:r>
              <a:rPr lang="es-CO" sz="1100" b="0" i="0">
                <a:solidFill>
                  <a:srgbClr val="6C7E96"/>
                </a:solidFill>
                <a:latin typeface="Courier New"/>
              </a:rPr>
              <a:t>5 · respuesta</a:t>
            </a:r>
          </a:p>
        </p:txBody>
      </p:sp>
      <p:sp>
        <p:nvSpPr>
          <p:cNvPr id="26" name="Rounded Rectangle 25"/>
          <p:cNvSpPr/>
          <p:nvPr/>
        </p:nvSpPr>
        <p:spPr>
          <a:xfrm>
            <a:off x="502920" y="3246120"/>
            <a:ext cx="2633472" cy="1280160"/>
          </a:xfrm>
          <a:prstGeom prst="roundRect">
            <a:avLst>
              <a:gd name="adj" fmla="val 8000"/>
            </a:avLst>
          </a:prstGeom>
          <a:solidFill>
            <a:srgbClr val="1A243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27" name="TextBox 26"/>
          <p:cNvSpPr txBox="1"/>
          <p:nvPr/>
        </p:nvSpPr>
        <p:spPr>
          <a:xfrm>
            <a:off x="630936" y="3344361"/>
            <a:ext cx="2377440" cy="169277"/>
          </a:xfrm>
          <a:prstGeom prst="rect">
            <a:avLst/>
          </a:prstGeom>
          <a:noFill/>
        </p:spPr>
        <p:txBody>
          <a:bodyPr wrap="square" lIns="0" tIns="0" rIns="0" bIns="0" anchor="ctr">
            <a:spAutoFit/>
          </a:bodyPr>
          <a:lstStyle/>
          <a:p>
            <a:pPr algn="l"/>
            <a:r>
              <a:rPr lang="es-CO" sz="1100" b="1" i="0">
                <a:solidFill>
                  <a:srgbClr val="3DDC97"/>
                </a:solidFill>
                <a:latin typeface="Arial"/>
              </a:rPr>
              <a:t>Modelo</a:t>
            </a:r>
          </a:p>
        </p:txBody>
      </p:sp>
      <p:sp>
        <p:nvSpPr>
          <p:cNvPr id="28" name="TextBox 27"/>
          <p:cNvSpPr txBox="1"/>
          <p:nvPr/>
        </p:nvSpPr>
        <p:spPr>
          <a:xfrm>
            <a:off x="630936" y="3566160"/>
            <a:ext cx="2377440" cy="507831"/>
          </a:xfrm>
          <a:prstGeom prst="rect">
            <a:avLst/>
          </a:prstGeom>
          <a:noFill/>
        </p:spPr>
        <p:txBody>
          <a:bodyPr wrap="square" lIns="0" tIns="0" rIns="0" bIns="0" anchor="t">
            <a:spAutoFit/>
          </a:bodyPr>
          <a:lstStyle/>
          <a:p>
            <a:pPr algn="l"/>
            <a:r>
              <a:rPr lang="es-CO" sz="1100" b="0" i="0">
                <a:solidFill>
                  <a:srgbClr val="E8EEF6"/>
                </a:solidFill>
                <a:latin typeface="Calibri"/>
              </a:rPr>
              <a:t>Datos y reglas del dominio. Un contacto válido tiene nombre, correo y mensaje suficiente. No se limita a SQLite.</a:t>
            </a:r>
          </a:p>
        </p:txBody>
      </p:sp>
      <p:sp>
        <p:nvSpPr>
          <p:cNvPr id="29" name="TextBox 28"/>
          <p:cNvSpPr txBox="1"/>
          <p:nvPr/>
        </p:nvSpPr>
        <p:spPr>
          <a:xfrm>
            <a:off x="630936" y="4279392"/>
            <a:ext cx="2377440" cy="169277"/>
          </a:xfrm>
          <a:prstGeom prst="rect">
            <a:avLst/>
          </a:prstGeom>
          <a:noFill/>
        </p:spPr>
        <p:txBody>
          <a:bodyPr wrap="square" lIns="0" tIns="0" rIns="0" bIns="0" anchor="t">
            <a:spAutoFit/>
          </a:bodyPr>
          <a:lstStyle/>
          <a:p>
            <a:pPr algn="l"/>
            <a:r>
              <a:rPr lang="es-CO" sz="1100" b="0" i="0">
                <a:solidFill>
                  <a:srgbClr val="93A5BD"/>
                </a:solidFill>
                <a:latin typeface="Courier New"/>
              </a:rPr>
              <a:t>models/contactoModel.js</a:t>
            </a:r>
          </a:p>
        </p:txBody>
      </p:sp>
      <p:sp>
        <p:nvSpPr>
          <p:cNvPr id="30" name="Rounded Rectangle 29"/>
          <p:cNvSpPr/>
          <p:nvPr/>
        </p:nvSpPr>
        <p:spPr>
          <a:xfrm>
            <a:off x="3255264" y="3246120"/>
            <a:ext cx="2633472" cy="1280160"/>
          </a:xfrm>
          <a:prstGeom prst="roundRect">
            <a:avLst>
              <a:gd name="adj" fmla="val 8000"/>
            </a:avLst>
          </a:prstGeom>
          <a:solidFill>
            <a:srgbClr val="1A2434"/>
          </a:solidFill>
          <a:ln w="12700">
            <a:solidFill>
              <a:srgbClr val="FFD47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31" name="TextBox 30"/>
          <p:cNvSpPr txBox="1"/>
          <p:nvPr/>
        </p:nvSpPr>
        <p:spPr>
          <a:xfrm>
            <a:off x="3383280" y="3344361"/>
            <a:ext cx="2377440" cy="169277"/>
          </a:xfrm>
          <a:prstGeom prst="rect">
            <a:avLst/>
          </a:prstGeom>
          <a:noFill/>
        </p:spPr>
        <p:txBody>
          <a:bodyPr wrap="square" lIns="0" tIns="0" rIns="0" bIns="0" anchor="ctr">
            <a:spAutoFit/>
          </a:bodyPr>
          <a:lstStyle/>
          <a:p>
            <a:pPr algn="l"/>
            <a:r>
              <a:rPr lang="es-CO" sz="1100" b="1" i="0">
                <a:solidFill>
                  <a:srgbClr val="FFD479"/>
                </a:solidFill>
                <a:latin typeface="Arial"/>
              </a:rPr>
              <a:t>Vista</a:t>
            </a:r>
          </a:p>
        </p:txBody>
      </p:sp>
      <p:sp>
        <p:nvSpPr>
          <p:cNvPr id="32" name="TextBox 31"/>
          <p:cNvSpPr txBox="1"/>
          <p:nvPr/>
        </p:nvSpPr>
        <p:spPr>
          <a:xfrm>
            <a:off x="3383280" y="3566160"/>
            <a:ext cx="2377440" cy="338554"/>
          </a:xfrm>
          <a:prstGeom prst="rect">
            <a:avLst/>
          </a:prstGeom>
          <a:noFill/>
        </p:spPr>
        <p:txBody>
          <a:bodyPr wrap="square" lIns="0" tIns="0" rIns="0" bIns="0" anchor="t">
            <a:spAutoFit/>
          </a:bodyPr>
          <a:lstStyle/>
          <a:p>
            <a:pPr algn="l"/>
            <a:r>
              <a:rPr lang="es-CO" sz="1100" b="0" i="0">
                <a:solidFill>
                  <a:srgbClr val="E8EEF6"/>
                </a:solidFill>
                <a:latin typeface="Calibri"/>
              </a:rPr>
              <a:t>Presenta la información: página HTML, mensaje de confirmación o error.</a:t>
            </a:r>
          </a:p>
        </p:txBody>
      </p:sp>
      <p:sp>
        <p:nvSpPr>
          <p:cNvPr id="33" name="TextBox 32"/>
          <p:cNvSpPr txBox="1"/>
          <p:nvPr/>
        </p:nvSpPr>
        <p:spPr>
          <a:xfrm>
            <a:off x="3383280" y="4279392"/>
            <a:ext cx="2377440" cy="169277"/>
          </a:xfrm>
          <a:prstGeom prst="rect">
            <a:avLst/>
          </a:prstGeom>
          <a:noFill/>
        </p:spPr>
        <p:txBody>
          <a:bodyPr wrap="square" lIns="0" tIns="0" rIns="0" bIns="0" anchor="t">
            <a:spAutoFit/>
          </a:bodyPr>
          <a:lstStyle/>
          <a:p>
            <a:pPr algn="l"/>
            <a:r>
              <a:rPr lang="es-CO" sz="1100" b="0" i="0">
                <a:solidFill>
                  <a:srgbClr val="93A5BD"/>
                </a:solidFill>
                <a:latin typeface="Courier New"/>
              </a:rPr>
              <a:t>views/</a:t>
            </a:r>
          </a:p>
        </p:txBody>
      </p:sp>
      <p:sp>
        <p:nvSpPr>
          <p:cNvPr id="34" name="Rounded Rectangle 33"/>
          <p:cNvSpPr/>
          <p:nvPr/>
        </p:nvSpPr>
        <p:spPr>
          <a:xfrm>
            <a:off x="6007607" y="3246120"/>
            <a:ext cx="2955418" cy="1280160"/>
          </a:xfrm>
          <a:prstGeom prst="roundRect">
            <a:avLst>
              <a:gd name="adj" fmla="val 8000"/>
            </a:avLst>
          </a:prstGeom>
          <a:solidFill>
            <a:srgbClr val="1A2434"/>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35" name="TextBox 34"/>
          <p:cNvSpPr txBox="1"/>
          <p:nvPr/>
        </p:nvSpPr>
        <p:spPr>
          <a:xfrm>
            <a:off x="6135624" y="3344361"/>
            <a:ext cx="2377440" cy="169277"/>
          </a:xfrm>
          <a:prstGeom prst="rect">
            <a:avLst/>
          </a:prstGeom>
          <a:noFill/>
        </p:spPr>
        <p:txBody>
          <a:bodyPr wrap="square" lIns="0" tIns="0" rIns="0" bIns="0" anchor="ctr">
            <a:spAutoFit/>
          </a:bodyPr>
          <a:lstStyle/>
          <a:p>
            <a:pPr algn="l"/>
            <a:r>
              <a:rPr lang="es-CO" sz="1100" b="1" i="0">
                <a:solidFill>
                  <a:srgbClr val="56C7F2"/>
                </a:solidFill>
                <a:latin typeface="Arial"/>
              </a:rPr>
              <a:t>Controlador</a:t>
            </a:r>
          </a:p>
        </p:txBody>
      </p:sp>
      <p:sp>
        <p:nvSpPr>
          <p:cNvPr id="36" name="TextBox 35"/>
          <p:cNvSpPr txBox="1"/>
          <p:nvPr/>
        </p:nvSpPr>
        <p:spPr>
          <a:xfrm>
            <a:off x="6135624" y="3566160"/>
            <a:ext cx="2377440" cy="338554"/>
          </a:xfrm>
          <a:prstGeom prst="rect">
            <a:avLst/>
          </a:prstGeom>
          <a:noFill/>
        </p:spPr>
        <p:txBody>
          <a:bodyPr wrap="square" lIns="0" tIns="0" rIns="0" bIns="0" anchor="t">
            <a:spAutoFit/>
          </a:bodyPr>
          <a:lstStyle/>
          <a:p>
            <a:pPr algn="l"/>
            <a:r>
              <a:rPr lang="es-CO" sz="1100" b="0" i="0">
                <a:solidFill>
                  <a:srgbClr val="E8EEF6"/>
                </a:solidFill>
                <a:latin typeface="Calibri"/>
              </a:rPr>
              <a:t>Recibe la solicitud, extrae datos, invoca al modelo y elige la respuesta.</a:t>
            </a:r>
          </a:p>
        </p:txBody>
      </p:sp>
      <p:sp>
        <p:nvSpPr>
          <p:cNvPr id="37" name="TextBox 36"/>
          <p:cNvSpPr txBox="1"/>
          <p:nvPr/>
        </p:nvSpPr>
        <p:spPr>
          <a:xfrm>
            <a:off x="6061519" y="4279391"/>
            <a:ext cx="2827401" cy="169277"/>
          </a:xfrm>
          <a:prstGeom prst="rect">
            <a:avLst/>
          </a:prstGeom>
          <a:noFill/>
        </p:spPr>
        <p:txBody>
          <a:bodyPr wrap="square" lIns="0" tIns="0" rIns="0" bIns="0" anchor="t">
            <a:spAutoFit/>
          </a:bodyPr>
          <a:lstStyle/>
          <a:p>
            <a:pPr algn="l"/>
            <a:r>
              <a:rPr lang="es-CO" sz="1100" b="0" i="0" dirty="0" err="1">
                <a:solidFill>
                  <a:srgbClr val="93A5BD"/>
                </a:solidFill>
                <a:latin typeface="Courier New"/>
              </a:rPr>
              <a:t>controllers</a:t>
            </a:r>
            <a:r>
              <a:rPr lang="es-CO" sz="1100" b="0" i="0" dirty="0">
                <a:solidFill>
                  <a:srgbClr val="93A5BD"/>
                </a:solidFill>
                <a:latin typeface="Courier New"/>
              </a:rPr>
              <a:t>/contactoController.js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101B"/>
        </a:solidFill>
        <a:effectLst/>
      </p:bgPr>
    </p:bg>
    <p:spTree>
      <p:nvGrpSpPr>
        <p:cNvPr id="1" name=""/>
        <p:cNvGrpSpPr/>
        <p:nvPr/>
      </p:nvGrpSpPr>
      <p:grpSpPr>
        <a:xfrm>
          <a:off x="0" y="0"/>
          <a:ext cx="0" cy="0"/>
          <a:chOff x="0" y="0"/>
          <a:chExt cx="0" cy="0"/>
        </a:xfrm>
      </p:grpSpPr>
      <p:sp>
        <p:nvSpPr>
          <p:cNvPr id="2" name="TextBox 1"/>
          <p:cNvSpPr txBox="1"/>
          <p:nvPr/>
        </p:nvSpPr>
        <p:spPr>
          <a:xfrm>
            <a:off x="6309360" y="4734249"/>
            <a:ext cx="2331720" cy="169277"/>
          </a:xfrm>
          <a:prstGeom prst="rect">
            <a:avLst/>
          </a:prstGeom>
          <a:noFill/>
        </p:spPr>
        <p:txBody>
          <a:bodyPr wrap="square" lIns="0" tIns="0" rIns="0" bIns="0" anchor="ctr">
            <a:spAutoFit/>
          </a:bodyPr>
          <a:lstStyle/>
          <a:p>
            <a:pPr algn="r"/>
            <a:r>
              <a:rPr lang="es-CO" sz="1100" b="0" i="0">
                <a:solidFill>
                  <a:srgbClr val="6C7E96"/>
                </a:solidFill>
                <a:latin typeface="Arial"/>
              </a:rPr>
              <a:t>Ingeniería Web  ·  08 / 24</a:t>
            </a:r>
          </a:p>
        </p:txBody>
      </p:sp>
      <p:sp>
        <p:nvSpPr>
          <p:cNvPr id="3" name="Rounded Rectangle 2"/>
          <p:cNvSpPr/>
          <p:nvPr/>
        </p:nvSpPr>
        <p:spPr>
          <a:xfrm>
            <a:off x="502920" y="365760"/>
            <a:ext cx="1435608" cy="228600"/>
          </a:xfrm>
          <a:prstGeom prst="roundRect">
            <a:avLst>
              <a:gd name="adj" fmla="val 50000"/>
            </a:avLst>
          </a:prstGeom>
          <a:solidFill>
            <a:srgbClr val="132A24"/>
          </a:solidFill>
          <a:ln w="952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502920" y="365760"/>
            <a:ext cx="1435608" cy="228600"/>
          </a:xfrm>
          <a:prstGeom prst="rect">
            <a:avLst/>
          </a:prstGeom>
          <a:noFill/>
        </p:spPr>
        <p:txBody>
          <a:bodyPr wrap="square" lIns="0" tIns="0" rIns="0" bIns="0" anchor="ctr">
            <a:spAutoFit/>
          </a:bodyPr>
          <a:lstStyle/>
          <a:p>
            <a:pPr algn="ctr"/>
            <a:r>
              <a:rPr lang="es-CO" sz="850" b="1" i="0">
                <a:solidFill>
                  <a:srgbClr val="3DDC97"/>
                </a:solidFill>
                <a:latin typeface="Arial"/>
              </a:rPr>
              <a:t>COMPARACIÓN</a:t>
            </a:r>
          </a:p>
        </p:txBody>
      </p:sp>
      <p:sp>
        <p:nvSpPr>
          <p:cNvPr id="5" name="Título"/>
          <p:cNvSpPr txBox="1"/>
          <p:nvPr/>
        </p:nvSpPr>
        <p:spPr>
          <a:xfrm>
            <a:off x="475488" y="658368"/>
            <a:ext cx="8138160" cy="438912"/>
          </a:xfrm>
          <a:prstGeom prst="rect">
            <a:avLst/>
          </a:prstGeom>
          <a:noFill/>
        </p:spPr>
        <p:txBody>
          <a:bodyPr wrap="square" lIns="0" tIns="0" rIns="0" bIns="0" anchor="ctr">
            <a:spAutoFit/>
          </a:bodyPr>
          <a:lstStyle/>
          <a:p>
            <a:pPr algn="l"/>
            <a:r>
              <a:rPr lang="es-CO" sz="2600" b="1" i="0">
                <a:solidFill>
                  <a:srgbClr val="FFFFFF"/>
                </a:solidFill>
                <a:latin typeface="Arial"/>
              </a:rPr>
              <a:t>Capas y MVC: combinables, no equivalentes</a:t>
            </a:r>
          </a:p>
        </p:txBody>
      </p:sp>
      <p:graphicFrame>
        <p:nvGraphicFramePr>
          <p:cNvPr id="6" name="Table 5"/>
          <p:cNvGraphicFramePr>
            <a:graphicFrameLocks noGrp="1"/>
          </p:cNvGraphicFramePr>
          <p:nvPr>
            <p:extLst>
              <p:ext uri="{D42A27DB-BD31-4B8C-83A1-F6EECF244321}">
                <p14:modId xmlns:p14="http://schemas.microsoft.com/office/powerpoint/2010/main" val="3049371638"/>
              </p:ext>
            </p:extLst>
          </p:nvPr>
        </p:nvGraphicFramePr>
        <p:xfrm>
          <a:off x="502920" y="1234440"/>
          <a:ext cx="8138160" cy="1517904"/>
        </p:xfrm>
        <a:graphic>
          <a:graphicData uri="http://schemas.openxmlformats.org/drawingml/2006/table">
            <a:tbl>
              <a:tblPr>
                <a:tableStyleId>{2D5ABB26-0587-4C30-8999-92F81FD0307C}</a:tableStyleId>
              </a:tblPr>
              <a:tblGrid>
                <a:gridCol w="1600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794760">
                  <a:extLst>
                    <a:ext uri="{9D8B030D-6E8A-4147-A177-3AD203B41FA5}">
                      <a16:colId xmlns:a16="http://schemas.microsoft.com/office/drawing/2014/main" val="20002"/>
                    </a:ext>
                  </a:extLst>
                </a:gridCol>
              </a:tblGrid>
              <a:tr h="310896">
                <a:tc>
                  <a:txBody>
                    <a:bodyPr/>
                    <a:lstStyle/>
                    <a:p>
                      <a:r>
                        <a:rPr lang="es-CO" sz="1100" b="1" i="0">
                          <a:solidFill>
                            <a:srgbClr val="3DDC97"/>
                          </a:solidFill>
                          <a:latin typeface="Arial"/>
                        </a:rPr>
                        <a:t>Capa</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3233A"/>
                    </a:solidFill>
                  </a:tcPr>
                </a:tc>
                <a:tc>
                  <a:txBody>
                    <a:bodyPr/>
                    <a:lstStyle/>
                    <a:p>
                      <a:r>
                        <a:rPr lang="es-CO" sz="1100" b="1" i="0">
                          <a:solidFill>
                            <a:srgbClr val="3DDC97"/>
                          </a:solidFill>
                          <a:latin typeface="Arial"/>
                        </a:rPr>
                        <a:t>Papel MVC más cercano</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3233A"/>
                    </a:solidFill>
                  </a:tcPr>
                </a:tc>
                <a:tc>
                  <a:txBody>
                    <a:bodyPr/>
                    <a:lstStyle/>
                    <a:p>
                      <a:r>
                        <a:rPr lang="es-CO" sz="1100" b="1" i="0">
                          <a:solidFill>
                            <a:srgbClr val="3DDC97"/>
                          </a:solidFill>
                          <a:latin typeface="Arial"/>
                        </a:rPr>
                        <a:t>Cómo se resuelve en el proyecto</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3233A"/>
                    </a:solidFill>
                  </a:tcPr>
                </a:tc>
                <a:extLst>
                  <a:ext uri="{0D108BD9-81ED-4DB2-BD59-A6C34878D82A}">
                    <a16:rowId xmlns:a16="http://schemas.microsoft.com/office/drawing/2014/main" val="10000"/>
                  </a:ext>
                </a:extLst>
              </a:tr>
              <a:tr h="402336">
                <a:tc>
                  <a:txBody>
                    <a:bodyPr/>
                    <a:lstStyle/>
                    <a:p>
                      <a:r>
                        <a:rPr lang="es-CO" sz="1100" b="1" i="0">
                          <a:solidFill>
                            <a:srgbClr val="56C7F2"/>
                          </a:solidFill>
                          <a:latin typeface="Arial"/>
                        </a:rPr>
                        <a:t>Presentación</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A2434"/>
                    </a:solidFill>
                  </a:tcPr>
                </a:tc>
                <a:tc>
                  <a:txBody>
                    <a:bodyPr/>
                    <a:lstStyle/>
                    <a:p>
                      <a:r>
                        <a:rPr lang="es-CO" sz="1100" b="0" i="0">
                          <a:solidFill>
                            <a:srgbClr val="E8EEF6"/>
                          </a:solidFill>
                          <a:latin typeface="Calibri"/>
                        </a:rPr>
                        <a:t>Controlador y vista</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A2434"/>
                    </a:solidFill>
                  </a:tcPr>
                </a:tc>
                <a:tc>
                  <a:txBody>
                    <a:bodyPr/>
                    <a:lstStyle/>
                    <a:p>
                      <a:r>
                        <a:rPr lang="es-CO" sz="1100" b="0" i="0" dirty="0">
                          <a:solidFill>
                            <a:srgbClr val="E8EEF6"/>
                          </a:solidFill>
                          <a:latin typeface="Calibri"/>
                        </a:rPr>
                        <a:t>El controlador maneja HTTP; la vista construye HTML</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A2434"/>
                    </a:solidFill>
                  </a:tcPr>
                </a:tc>
                <a:extLst>
                  <a:ext uri="{0D108BD9-81ED-4DB2-BD59-A6C34878D82A}">
                    <a16:rowId xmlns:a16="http://schemas.microsoft.com/office/drawing/2014/main" val="10001"/>
                  </a:ext>
                </a:extLst>
              </a:tr>
              <a:tr h="402336">
                <a:tc>
                  <a:txBody>
                    <a:bodyPr/>
                    <a:lstStyle/>
                    <a:p>
                      <a:r>
                        <a:rPr lang="es-CO" sz="1100" b="1" i="0">
                          <a:solidFill>
                            <a:srgbClr val="3DDC97"/>
                          </a:solidFill>
                          <a:latin typeface="Arial"/>
                        </a:rPr>
                        <a:t>Lógica de negocio</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41E2D"/>
                    </a:solidFill>
                  </a:tcPr>
                </a:tc>
                <a:tc>
                  <a:txBody>
                    <a:bodyPr/>
                    <a:lstStyle/>
                    <a:p>
                      <a:r>
                        <a:rPr lang="es-CO" sz="1100" b="0" i="0" dirty="0">
                          <a:solidFill>
                            <a:srgbClr val="E8EEF6"/>
                          </a:solidFill>
                          <a:latin typeface="Calibri"/>
                        </a:rPr>
                        <a:t>Modelo (reglas)</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41E2D"/>
                    </a:solidFill>
                  </a:tcPr>
                </a:tc>
                <a:tc>
                  <a:txBody>
                    <a:bodyPr/>
                    <a:lstStyle/>
                    <a:p>
                      <a:r>
                        <a:rPr lang="es-CO" sz="1100" b="0" i="0">
                          <a:solidFill>
                            <a:srgbClr val="E8EEF6"/>
                          </a:solidFill>
                          <a:latin typeface="Calibri"/>
                        </a:rPr>
                        <a:t>contactoModel.js valida y decide qué se registra</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41E2D"/>
                    </a:solidFill>
                  </a:tcPr>
                </a:tc>
                <a:extLst>
                  <a:ext uri="{0D108BD9-81ED-4DB2-BD59-A6C34878D82A}">
                    <a16:rowId xmlns:a16="http://schemas.microsoft.com/office/drawing/2014/main" val="10002"/>
                  </a:ext>
                </a:extLst>
              </a:tr>
              <a:tr h="402336">
                <a:tc>
                  <a:txBody>
                    <a:bodyPr/>
                    <a:lstStyle/>
                    <a:p>
                      <a:r>
                        <a:rPr lang="es-CO" sz="1100" b="1" i="0">
                          <a:solidFill>
                            <a:srgbClr val="FFB86C"/>
                          </a:solidFill>
                          <a:latin typeface="Arial"/>
                        </a:rPr>
                        <a:t>Acceso a datos</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A2434"/>
                    </a:solidFill>
                  </a:tcPr>
                </a:tc>
                <a:tc>
                  <a:txBody>
                    <a:bodyPr/>
                    <a:lstStyle/>
                    <a:p>
                      <a:r>
                        <a:rPr lang="es-CO" sz="1100" b="0" i="0">
                          <a:solidFill>
                            <a:srgbClr val="E8EEF6"/>
                          </a:solidFill>
                          <a:latin typeface="Calibri"/>
                        </a:rPr>
                        <a:t>Ninguno propio; a veces se incluye en el modelo</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A2434"/>
                    </a:solidFill>
                  </a:tcPr>
                </a:tc>
                <a:tc>
                  <a:txBody>
                    <a:bodyPr/>
                    <a:lstStyle/>
                    <a:p>
                      <a:r>
                        <a:rPr lang="es-CO" sz="1100" b="0" i="0" dirty="0">
                          <a:solidFill>
                            <a:srgbClr val="E8EEF6"/>
                          </a:solidFill>
                          <a:latin typeface="Calibri"/>
                        </a:rPr>
                        <a:t>contactoRepository.js aísla las consultas SQLite</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A2434"/>
                    </a:solidFill>
                  </a:tcPr>
                </a:tc>
                <a:extLst>
                  <a:ext uri="{0D108BD9-81ED-4DB2-BD59-A6C34878D82A}">
                    <a16:rowId xmlns:a16="http://schemas.microsoft.com/office/drawing/2014/main" val="10003"/>
                  </a:ext>
                </a:extLst>
              </a:tr>
            </a:tbl>
          </a:graphicData>
        </a:graphic>
      </p:graphicFrame>
      <p:sp>
        <p:nvSpPr>
          <p:cNvPr id="7" name="Rounded Rectangle 6"/>
          <p:cNvSpPr/>
          <p:nvPr/>
        </p:nvSpPr>
        <p:spPr>
          <a:xfrm>
            <a:off x="502920" y="3035808"/>
            <a:ext cx="3986784" cy="1463040"/>
          </a:xfrm>
          <a:prstGeom prst="roundRect">
            <a:avLst>
              <a:gd name="adj" fmla="val 8000"/>
            </a:avLst>
          </a:prstGeom>
          <a:solidFill>
            <a:srgbClr val="1A243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8" name="TextBox 7"/>
          <p:cNvSpPr txBox="1"/>
          <p:nvPr/>
        </p:nvSpPr>
        <p:spPr>
          <a:xfrm>
            <a:off x="630936" y="3152337"/>
            <a:ext cx="3730752" cy="169277"/>
          </a:xfrm>
          <a:prstGeom prst="rect">
            <a:avLst/>
          </a:prstGeom>
          <a:noFill/>
        </p:spPr>
        <p:txBody>
          <a:bodyPr wrap="square" lIns="0" tIns="0" rIns="0" bIns="0" anchor="ctr">
            <a:spAutoFit/>
          </a:bodyPr>
          <a:lstStyle/>
          <a:p>
            <a:pPr algn="l"/>
            <a:r>
              <a:rPr lang="es-CO" sz="1100" b="1" i="0">
                <a:solidFill>
                  <a:srgbClr val="3DDC97"/>
                </a:solidFill>
                <a:latin typeface="Arial"/>
              </a:rPr>
              <a:t>Alcance distinto</a:t>
            </a:r>
          </a:p>
        </p:txBody>
      </p:sp>
      <p:sp>
        <p:nvSpPr>
          <p:cNvPr id="9" name="TextBox 8"/>
          <p:cNvSpPr txBox="1"/>
          <p:nvPr/>
        </p:nvSpPr>
        <p:spPr>
          <a:xfrm>
            <a:off x="630936" y="3392424"/>
            <a:ext cx="3730752" cy="677108"/>
          </a:xfrm>
          <a:prstGeom prst="rect">
            <a:avLst/>
          </a:prstGeom>
          <a:noFill/>
        </p:spPr>
        <p:txBody>
          <a:bodyPr wrap="square" lIns="0" tIns="0" rIns="0" bIns="0" anchor="t">
            <a:spAutoFit/>
          </a:bodyPr>
          <a:lstStyle/>
          <a:p>
            <a:pPr algn="l">
              <a:spcAft>
                <a:spcPts val="200"/>
              </a:spcAft>
            </a:pPr>
            <a:r>
              <a:rPr lang="es-CO" sz="1100" b="0" i="0">
                <a:solidFill>
                  <a:srgbClr val="E8EEF6"/>
                </a:solidFill>
                <a:latin typeface="Calibri"/>
              </a:rPr>
              <a:t>MVC organiza la interacción con el usuario. Las capas organizan las dependencias de todo el sistema. Por eso una capa puede contener varios papeles MVC y MVC no nombra el acceso a datos.</a:t>
            </a:r>
          </a:p>
        </p:txBody>
      </p:sp>
      <p:sp>
        <p:nvSpPr>
          <p:cNvPr id="10" name="Rounded Rectangle 9"/>
          <p:cNvSpPr/>
          <p:nvPr/>
        </p:nvSpPr>
        <p:spPr>
          <a:xfrm>
            <a:off x="4654296" y="3035808"/>
            <a:ext cx="3986784" cy="1463040"/>
          </a:xfrm>
          <a:prstGeom prst="roundRect">
            <a:avLst>
              <a:gd name="adj" fmla="val 8000"/>
            </a:avLst>
          </a:prstGeom>
          <a:solidFill>
            <a:srgbClr val="1A2434"/>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11" name="TextBox 10"/>
          <p:cNvSpPr txBox="1"/>
          <p:nvPr/>
        </p:nvSpPr>
        <p:spPr>
          <a:xfrm>
            <a:off x="4782312" y="3152337"/>
            <a:ext cx="3730752" cy="169277"/>
          </a:xfrm>
          <a:prstGeom prst="rect">
            <a:avLst/>
          </a:prstGeom>
          <a:noFill/>
        </p:spPr>
        <p:txBody>
          <a:bodyPr wrap="square" lIns="0" tIns="0" rIns="0" bIns="0" anchor="ctr">
            <a:spAutoFit/>
          </a:bodyPr>
          <a:lstStyle/>
          <a:p>
            <a:pPr algn="l"/>
            <a:r>
              <a:rPr lang="es-CO" sz="1100" b="1" i="0">
                <a:solidFill>
                  <a:srgbClr val="56C7F2"/>
                </a:solidFill>
                <a:latin typeface="Arial"/>
              </a:rPr>
              <a:t>Capas lógicas no son servidores</a:t>
            </a:r>
          </a:p>
        </p:txBody>
      </p:sp>
      <p:sp>
        <p:nvSpPr>
          <p:cNvPr id="12" name="TextBox 11"/>
          <p:cNvSpPr txBox="1"/>
          <p:nvPr/>
        </p:nvSpPr>
        <p:spPr>
          <a:xfrm>
            <a:off x="4782312" y="3392424"/>
            <a:ext cx="3730752" cy="507831"/>
          </a:xfrm>
          <a:prstGeom prst="rect">
            <a:avLst/>
          </a:prstGeom>
          <a:noFill/>
        </p:spPr>
        <p:txBody>
          <a:bodyPr wrap="square" lIns="0" tIns="0" rIns="0" bIns="0" anchor="t">
            <a:spAutoFit/>
          </a:bodyPr>
          <a:lstStyle/>
          <a:p>
            <a:pPr algn="l">
              <a:spcAft>
                <a:spcPts val="200"/>
              </a:spcAft>
            </a:pPr>
            <a:r>
              <a:rPr lang="es-CO" sz="1100" b="0" i="0">
                <a:solidFill>
                  <a:srgbClr val="E8EEF6"/>
                </a:solidFill>
                <a:latin typeface="Calibri"/>
              </a:rPr>
              <a:t>Las tres capas del proyecto se ejecutan en un solo proceso Node.js, en el puerto 3000. Repartirlas en máquinas distintas (niveles físicos o tiers) es otra decisión.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101B"/>
        </a:solidFill>
        <a:effectLst/>
      </p:bgPr>
    </p:bg>
    <p:spTree>
      <p:nvGrpSpPr>
        <p:cNvPr id="1" name=""/>
        <p:cNvGrpSpPr/>
        <p:nvPr/>
      </p:nvGrpSpPr>
      <p:grpSpPr>
        <a:xfrm>
          <a:off x="0" y="0"/>
          <a:ext cx="0" cy="0"/>
          <a:chOff x="0" y="0"/>
          <a:chExt cx="0" cy="0"/>
        </a:xfrm>
      </p:grpSpPr>
      <p:sp>
        <p:nvSpPr>
          <p:cNvPr id="2" name="TextBox 1"/>
          <p:cNvSpPr txBox="1"/>
          <p:nvPr/>
        </p:nvSpPr>
        <p:spPr>
          <a:xfrm>
            <a:off x="6309360" y="4718304"/>
            <a:ext cx="2331720" cy="201168"/>
          </a:xfrm>
          <a:prstGeom prst="rect">
            <a:avLst/>
          </a:prstGeom>
          <a:noFill/>
        </p:spPr>
        <p:txBody>
          <a:bodyPr wrap="square" lIns="0" tIns="0" rIns="0" bIns="0" anchor="ctr">
            <a:spAutoFit/>
          </a:bodyPr>
          <a:lstStyle/>
          <a:p>
            <a:pPr algn="r"/>
            <a:r>
              <a:rPr lang="es-CO" sz="800" b="0" i="0">
                <a:solidFill>
                  <a:srgbClr val="6C7E96"/>
                </a:solidFill>
                <a:latin typeface="Arial"/>
              </a:rPr>
              <a:t>Ingeniería Web  ·  09 / 24</a:t>
            </a:r>
          </a:p>
        </p:txBody>
      </p:sp>
      <p:sp>
        <p:nvSpPr>
          <p:cNvPr id="3" name="Rounded Rectangle 2"/>
          <p:cNvSpPr/>
          <p:nvPr/>
        </p:nvSpPr>
        <p:spPr>
          <a:xfrm>
            <a:off x="502920" y="365760"/>
            <a:ext cx="1280160" cy="228600"/>
          </a:xfrm>
          <a:prstGeom prst="roundRect">
            <a:avLst>
              <a:gd name="adj" fmla="val 50000"/>
            </a:avLst>
          </a:prstGeom>
          <a:solidFill>
            <a:srgbClr val="132A24"/>
          </a:solidFill>
          <a:ln w="952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502920" y="365760"/>
            <a:ext cx="1280160" cy="228600"/>
          </a:xfrm>
          <a:prstGeom prst="rect">
            <a:avLst/>
          </a:prstGeom>
          <a:noFill/>
        </p:spPr>
        <p:txBody>
          <a:bodyPr wrap="square" lIns="0" tIns="0" rIns="0" bIns="0" anchor="ctr">
            <a:spAutoFit/>
          </a:bodyPr>
          <a:lstStyle/>
          <a:p>
            <a:pPr algn="ctr"/>
            <a:r>
              <a:rPr lang="es-CO" sz="850" b="1" i="0">
                <a:solidFill>
                  <a:srgbClr val="3DDC97"/>
                </a:solidFill>
                <a:latin typeface="Arial"/>
              </a:rPr>
              <a:t>ESTRUCTURA</a:t>
            </a:r>
          </a:p>
        </p:txBody>
      </p:sp>
      <p:sp>
        <p:nvSpPr>
          <p:cNvPr id="5" name="Título"/>
          <p:cNvSpPr txBox="1"/>
          <p:nvPr/>
        </p:nvSpPr>
        <p:spPr>
          <a:xfrm>
            <a:off x="475488" y="658368"/>
            <a:ext cx="8138160" cy="438912"/>
          </a:xfrm>
          <a:prstGeom prst="rect">
            <a:avLst/>
          </a:prstGeom>
          <a:noFill/>
        </p:spPr>
        <p:txBody>
          <a:bodyPr wrap="square" lIns="0" tIns="0" rIns="0" bIns="0" anchor="ctr">
            <a:spAutoFit/>
          </a:bodyPr>
          <a:lstStyle/>
          <a:p>
            <a:pPr algn="l"/>
            <a:r>
              <a:rPr lang="es-CO" sz="2600" b="1" i="0">
                <a:solidFill>
                  <a:srgbClr val="FFFFFF"/>
                </a:solidFill>
                <a:latin typeface="Arial"/>
              </a:rPr>
              <a:t>Organización de archivos del proyecto</a:t>
            </a:r>
          </a:p>
        </p:txBody>
      </p:sp>
      <p:sp>
        <p:nvSpPr>
          <p:cNvPr id="6" name="Rounded Rectangle 5"/>
          <p:cNvSpPr/>
          <p:nvPr/>
        </p:nvSpPr>
        <p:spPr>
          <a:xfrm>
            <a:off x="502920" y="1225296"/>
            <a:ext cx="1417320" cy="182880"/>
          </a:xfrm>
          <a:prstGeom prst="roundRect">
            <a:avLst>
              <a:gd name="adj" fmla="val 50000"/>
            </a:avLst>
          </a:prstGeom>
          <a:solidFill>
            <a:srgbClr val="0F2533"/>
          </a:solidFill>
          <a:ln w="9525">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502920" y="1225296"/>
            <a:ext cx="1417320" cy="182880"/>
          </a:xfrm>
          <a:prstGeom prst="rect">
            <a:avLst/>
          </a:prstGeom>
          <a:noFill/>
        </p:spPr>
        <p:txBody>
          <a:bodyPr wrap="square" lIns="0" tIns="0" rIns="0" bIns="0" anchor="ctr">
            <a:spAutoFit/>
          </a:bodyPr>
          <a:lstStyle/>
          <a:p>
            <a:pPr algn="ctr"/>
            <a:r>
              <a:rPr lang="es-CO" sz="700" b="1" i="0">
                <a:solidFill>
                  <a:srgbClr val="56C7F2"/>
                </a:solidFill>
                <a:latin typeface="Arial"/>
              </a:rPr>
              <a:t>EJEMPLO ILUSTRATIVO</a:t>
            </a:r>
          </a:p>
        </p:txBody>
      </p:sp>
      <p:sp>
        <p:nvSpPr>
          <p:cNvPr id="8" name="Rounded Rectangle 7"/>
          <p:cNvSpPr/>
          <p:nvPr/>
        </p:nvSpPr>
        <p:spPr>
          <a:xfrm>
            <a:off x="502920" y="1481328"/>
            <a:ext cx="5257800" cy="3035808"/>
          </a:xfrm>
          <a:prstGeom prst="roundRect">
            <a:avLst>
              <a:gd name="adj" fmla="val 8000"/>
            </a:avLst>
          </a:prstGeom>
          <a:solidFill>
            <a:srgbClr val="070C1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9" name="TextBox 8"/>
          <p:cNvSpPr txBox="1"/>
          <p:nvPr/>
        </p:nvSpPr>
        <p:spPr>
          <a:xfrm>
            <a:off x="640080" y="1609344"/>
            <a:ext cx="5029200" cy="2672526"/>
          </a:xfrm>
          <a:prstGeom prst="rect">
            <a:avLst/>
          </a:prstGeom>
          <a:noFill/>
        </p:spPr>
        <p:txBody>
          <a:bodyPr wrap="square" lIns="0" tIns="0" rIns="0" bIns="0" anchor="t">
            <a:spAutoFit/>
          </a:bodyPr>
          <a:lstStyle/>
          <a:p>
            <a:pPr algn="l">
              <a:spcAft>
                <a:spcPts val="450"/>
              </a:spcAft>
            </a:pPr>
            <a:r>
              <a:rPr lang="es-CO" sz="1100" b="0" i="0" dirty="0">
                <a:solidFill>
                  <a:srgbClr val="E8EEF6"/>
                </a:solidFill>
                <a:latin typeface="Courier New"/>
              </a:rPr>
              <a:t>soporte-web/</a:t>
            </a:r>
          </a:p>
          <a:p>
            <a:pPr algn="l">
              <a:spcAft>
                <a:spcPts val="450"/>
              </a:spcAft>
            </a:pPr>
            <a:r>
              <a:rPr lang="es-CO" sz="1100" b="0" i="0" dirty="0">
                <a:solidFill>
                  <a:srgbClr val="E8EEF6"/>
                </a:solidFill>
                <a:latin typeface="Courier New"/>
              </a:rPr>
              <a:t>├─ server_rutas.js                   </a:t>
            </a:r>
            <a:r>
              <a:rPr lang="es-CO" sz="1100" b="0" i="0" dirty="0">
                <a:solidFill>
                  <a:srgbClr val="6C7E96"/>
                </a:solidFill>
                <a:latin typeface="Courier New"/>
              </a:rPr>
              <a:t>inicio del servidor</a:t>
            </a:r>
          </a:p>
          <a:p>
            <a:pPr algn="l">
              <a:spcAft>
                <a:spcPts val="450"/>
              </a:spcAft>
            </a:pPr>
            <a:r>
              <a:rPr lang="es-CO" sz="1100" b="1" i="0" dirty="0">
                <a:solidFill>
                  <a:srgbClr val="56C7F2"/>
                </a:solidFill>
                <a:latin typeface="Courier New"/>
              </a:rPr>
              <a:t>├─ </a:t>
            </a:r>
            <a:r>
              <a:rPr lang="es-CO" sz="1100" b="1" i="0" dirty="0" err="1">
                <a:solidFill>
                  <a:srgbClr val="56C7F2"/>
                </a:solidFill>
                <a:latin typeface="Courier New"/>
              </a:rPr>
              <a:t>routes</a:t>
            </a:r>
            <a:r>
              <a:rPr lang="es-CO" sz="1100" b="1" i="0" dirty="0">
                <a:solidFill>
                  <a:srgbClr val="56C7F2"/>
                </a:solidFill>
                <a:latin typeface="Courier New"/>
              </a:rPr>
              <a:t>/rutas.js                   </a:t>
            </a:r>
            <a:r>
              <a:rPr lang="es-CO" sz="1100" b="0" i="0" dirty="0">
                <a:solidFill>
                  <a:srgbClr val="6C7E96"/>
                </a:solidFill>
                <a:latin typeface="Courier New"/>
              </a:rPr>
              <a:t>selección de rutas</a:t>
            </a:r>
          </a:p>
          <a:p>
            <a:pPr algn="l">
              <a:spcAft>
                <a:spcPts val="450"/>
              </a:spcAft>
            </a:pPr>
            <a:r>
              <a:rPr lang="es-CO" sz="1100" b="1" i="0" dirty="0">
                <a:solidFill>
                  <a:srgbClr val="56C7F2"/>
                </a:solidFill>
                <a:latin typeface="Courier New"/>
              </a:rPr>
              <a:t>├─ </a:t>
            </a:r>
            <a:r>
              <a:rPr lang="es-CO" sz="1100" b="1" i="0" dirty="0" err="1">
                <a:solidFill>
                  <a:srgbClr val="56C7F2"/>
                </a:solidFill>
                <a:latin typeface="Courier New"/>
              </a:rPr>
              <a:t>controllers</a:t>
            </a:r>
            <a:r>
              <a:rPr lang="es-CO" sz="1100" b="1" i="0" dirty="0">
                <a:solidFill>
                  <a:srgbClr val="56C7F2"/>
                </a:solidFill>
                <a:latin typeface="Courier New"/>
              </a:rPr>
              <a:t>/contactoController.js </a:t>
            </a:r>
            <a:r>
              <a:rPr lang="es-CO" sz="1100" b="0" i="0" dirty="0">
                <a:solidFill>
                  <a:srgbClr val="6C7E96"/>
                </a:solidFill>
                <a:latin typeface="Courier New"/>
              </a:rPr>
              <a:t>manejo de HTTP</a:t>
            </a:r>
          </a:p>
          <a:p>
            <a:pPr algn="l">
              <a:spcAft>
                <a:spcPts val="450"/>
              </a:spcAft>
            </a:pPr>
            <a:r>
              <a:rPr lang="es-CO" sz="1100" b="1" i="0" dirty="0">
                <a:solidFill>
                  <a:srgbClr val="3DDC97"/>
                </a:solidFill>
                <a:latin typeface="Courier New"/>
              </a:rPr>
              <a:t>├─ </a:t>
            </a:r>
            <a:r>
              <a:rPr lang="es-CO" sz="1100" b="1" i="0" dirty="0" err="1">
                <a:solidFill>
                  <a:srgbClr val="3DDC97"/>
                </a:solidFill>
                <a:latin typeface="Courier New"/>
              </a:rPr>
              <a:t>models</a:t>
            </a:r>
            <a:r>
              <a:rPr lang="es-CO" sz="1100" b="1" i="0" dirty="0">
                <a:solidFill>
                  <a:srgbClr val="3DDC97"/>
                </a:solidFill>
                <a:latin typeface="Courier New"/>
              </a:rPr>
              <a:t>/contactoModel.js           </a:t>
            </a:r>
            <a:r>
              <a:rPr lang="es-CO" sz="1100" b="0" i="0" dirty="0">
                <a:solidFill>
                  <a:srgbClr val="6C7E96"/>
                </a:solidFill>
                <a:latin typeface="Courier New"/>
              </a:rPr>
              <a:t>reglas del contacto</a:t>
            </a:r>
          </a:p>
          <a:p>
            <a:pPr algn="l">
              <a:spcAft>
                <a:spcPts val="450"/>
              </a:spcAft>
            </a:pPr>
            <a:r>
              <a:rPr lang="es-CO" sz="1100" b="1" i="0" dirty="0">
                <a:solidFill>
                  <a:srgbClr val="FFB86C"/>
                </a:solidFill>
                <a:latin typeface="Courier New"/>
              </a:rPr>
              <a:t>├─ data/contactoRepository.js        </a:t>
            </a:r>
            <a:r>
              <a:rPr lang="es-CO" sz="1100" b="0" i="0" dirty="0">
                <a:solidFill>
                  <a:srgbClr val="6C7E96"/>
                </a:solidFill>
                <a:latin typeface="Courier New"/>
              </a:rPr>
              <a:t>consultas SQLite</a:t>
            </a:r>
          </a:p>
          <a:p>
            <a:pPr algn="l">
              <a:spcAft>
                <a:spcPts val="450"/>
              </a:spcAft>
            </a:pPr>
            <a:r>
              <a:rPr lang="es-CO" sz="1100" b="1" i="0" dirty="0">
                <a:solidFill>
                  <a:srgbClr val="FFD479"/>
                </a:solidFill>
                <a:latin typeface="Courier New"/>
              </a:rPr>
              <a:t>├─ data/</a:t>
            </a:r>
            <a:r>
              <a:rPr lang="es-CO" sz="1100" b="1" i="0" dirty="0" err="1">
                <a:solidFill>
                  <a:srgbClr val="FFD479"/>
                </a:solidFill>
                <a:latin typeface="Courier New"/>
              </a:rPr>
              <a:t>contactos.db</a:t>
            </a:r>
            <a:r>
              <a:rPr lang="es-CO" sz="1100" b="1" i="0" dirty="0">
                <a:solidFill>
                  <a:srgbClr val="FFD479"/>
                </a:solidFill>
                <a:latin typeface="Courier New"/>
              </a:rPr>
              <a:t>                 </a:t>
            </a:r>
            <a:r>
              <a:rPr lang="es-CO" sz="1100" b="0" i="0" dirty="0">
                <a:solidFill>
                  <a:srgbClr val="6C7E96"/>
                </a:solidFill>
                <a:latin typeface="Courier New"/>
              </a:rPr>
              <a:t>almacenamiento</a:t>
            </a:r>
          </a:p>
          <a:p>
            <a:pPr algn="l">
              <a:spcAft>
                <a:spcPts val="450"/>
              </a:spcAft>
            </a:pPr>
            <a:r>
              <a:rPr lang="es-CO" sz="1100" b="1" i="0" dirty="0">
                <a:solidFill>
                  <a:srgbClr val="56C7F2"/>
                </a:solidFill>
                <a:latin typeface="Courier New"/>
              </a:rPr>
              <a:t>├─ </a:t>
            </a:r>
            <a:r>
              <a:rPr lang="es-CO" sz="1100" b="1" i="0" dirty="0" err="1">
                <a:solidFill>
                  <a:srgbClr val="56C7F2"/>
                </a:solidFill>
                <a:latin typeface="Courier New"/>
              </a:rPr>
              <a:t>views</a:t>
            </a:r>
            <a:r>
              <a:rPr lang="es-CO" sz="1100" b="1" i="0" dirty="0">
                <a:solidFill>
                  <a:srgbClr val="56C7F2"/>
                </a:solidFill>
                <a:latin typeface="Courier New"/>
              </a:rPr>
              <a:t>/                            </a:t>
            </a:r>
            <a:r>
              <a:rPr lang="es-CO" sz="1100" b="0" i="0" dirty="0">
                <a:solidFill>
                  <a:srgbClr val="6C7E96"/>
                </a:solidFill>
                <a:latin typeface="Courier New"/>
              </a:rPr>
              <a:t>páginas y respuestas HTML</a:t>
            </a:r>
          </a:p>
          <a:p>
            <a:pPr algn="l">
              <a:spcAft>
                <a:spcPts val="450"/>
              </a:spcAft>
            </a:pPr>
            <a:r>
              <a:rPr lang="es-CO" sz="1100" b="0" i="0" dirty="0">
                <a:solidFill>
                  <a:srgbClr val="93A5BD"/>
                </a:solidFill>
                <a:latin typeface="Courier New"/>
              </a:rPr>
              <a:t>│   index.html · contacto.html · contactos.html …</a:t>
            </a:r>
          </a:p>
          <a:p>
            <a:pPr algn="l">
              <a:spcAft>
                <a:spcPts val="450"/>
              </a:spcAft>
            </a:pPr>
            <a:r>
              <a:rPr lang="es-CO" sz="1100" b="1" i="0" dirty="0">
                <a:solidFill>
                  <a:srgbClr val="56C7F2"/>
                </a:solidFill>
                <a:latin typeface="Courier New"/>
              </a:rPr>
              <a:t>│   contactoVista.js                 </a:t>
            </a:r>
            <a:r>
              <a:rPr lang="es-CO" sz="1100" b="0" i="0" dirty="0">
                <a:solidFill>
                  <a:srgbClr val="6C7E96"/>
                </a:solidFill>
                <a:latin typeface="Courier New"/>
              </a:rPr>
              <a:t>confirmación y error</a:t>
            </a:r>
          </a:p>
          <a:p>
            <a:pPr algn="l">
              <a:spcAft>
                <a:spcPts val="450"/>
              </a:spcAft>
            </a:pPr>
            <a:r>
              <a:rPr lang="es-CO" sz="1100" b="1" i="0" dirty="0">
                <a:solidFill>
                  <a:srgbClr val="56C7F2"/>
                </a:solidFill>
                <a:latin typeface="Courier New"/>
              </a:rPr>
              <a:t>└─ </a:t>
            </a:r>
            <a:r>
              <a:rPr lang="es-CO" sz="1100" b="1" i="0" dirty="0" err="1">
                <a:solidFill>
                  <a:srgbClr val="56C7F2"/>
                </a:solidFill>
                <a:latin typeface="Courier New"/>
              </a:rPr>
              <a:t>public</a:t>
            </a:r>
            <a:r>
              <a:rPr lang="es-CO" sz="1100" b="1" i="0" dirty="0">
                <a:solidFill>
                  <a:srgbClr val="56C7F2"/>
                </a:solidFill>
                <a:latin typeface="Courier New"/>
              </a:rPr>
              <a:t>/styles.css                 </a:t>
            </a:r>
            <a:r>
              <a:rPr lang="es-CO" sz="1100" b="0" i="0" dirty="0">
                <a:solidFill>
                  <a:srgbClr val="6C7E96"/>
                </a:solidFill>
                <a:latin typeface="Courier New"/>
              </a:rPr>
              <a:t>estilos</a:t>
            </a:r>
          </a:p>
        </p:txBody>
      </p:sp>
      <p:sp>
        <p:nvSpPr>
          <p:cNvPr id="10" name="Rounded Rectangle 9"/>
          <p:cNvSpPr/>
          <p:nvPr/>
        </p:nvSpPr>
        <p:spPr>
          <a:xfrm>
            <a:off x="5943600" y="1481328"/>
            <a:ext cx="2697480" cy="475488"/>
          </a:xfrm>
          <a:prstGeom prst="roundRect">
            <a:avLst>
              <a:gd name="adj" fmla="val 8000"/>
            </a:avLst>
          </a:prstGeom>
          <a:solidFill>
            <a:srgbClr val="1A2434"/>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11" name="TextBox 10"/>
          <p:cNvSpPr txBox="1"/>
          <p:nvPr/>
        </p:nvSpPr>
        <p:spPr>
          <a:xfrm>
            <a:off x="6071616" y="1533849"/>
            <a:ext cx="2468880" cy="169277"/>
          </a:xfrm>
          <a:prstGeom prst="rect">
            <a:avLst/>
          </a:prstGeom>
          <a:noFill/>
        </p:spPr>
        <p:txBody>
          <a:bodyPr wrap="square" lIns="0" tIns="0" rIns="0" bIns="0" anchor="ctr">
            <a:spAutoFit/>
          </a:bodyPr>
          <a:lstStyle/>
          <a:p>
            <a:pPr algn="l"/>
            <a:r>
              <a:rPr lang="es-CO" sz="1100" b="1" i="0">
                <a:solidFill>
                  <a:srgbClr val="56C7F2"/>
                </a:solidFill>
                <a:latin typeface="Arial"/>
              </a:rPr>
              <a:t>Presentación</a:t>
            </a:r>
          </a:p>
        </p:txBody>
      </p:sp>
      <p:sp>
        <p:nvSpPr>
          <p:cNvPr id="12" name="TextBox 11"/>
          <p:cNvSpPr txBox="1"/>
          <p:nvPr/>
        </p:nvSpPr>
        <p:spPr>
          <a:xfrm>
            <a:off x="6071616" y="1735017"/>
            <a:ext cx="2468880" cy="169277"/>
          </a:xfrm>
          <a:prstGeom prst="rect">
            <a:avLst/>
          </a:prstGeom>
          <a:noFill/>
        </p:spPr>
        <p:txBody>
          <a:bodyPr wrap="square" lIns="0" tIns="0" rIns="0" bIns="0" anchor="ctr">
            <a:spAutoFit/>
          </a:bodyPr>
          <a:lstStyle/>
          <a:p>
            <a:pPr algn="l"/>
            <a:r>
              <a:rPr lang="es-CO" sz="1100" b="0" i="0">
                <a:solidFill>
                  <a:srgbClr val="E8EEF6"/>
                </a:solidFill>
                <a:latin typeface="Calibri"/>
              </a:rPr>
              <a:t>rutas, controlador, vistas y estilos</a:t>
            </a:r>
          </a:p>
        </p:txBody>
      </p:sp>
      <p:sp>
        <p:nvSpPr>
          <p:cNvPr id="13" name="Rounded Rectangle 12"/>
          <p:cNvSpPr/>
          <p:nvPr/>
        </p:nvSpPr>
        <p:spPr>
          <a:xfrm>
            <a:off x="5943600" y="2048256"/>
            <a:ext cx="2697480" cy="475488"/>
          </a:xfrm>
          <a:prstGeom prst="roundRect">
            <a:avLst>
              <a:gd name="adj" fmla="val 8000"/>
            </a:avLst>
          </a:prstGeom>
          <a:solidFill>
            <a:srgbClr val="1A243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14" name="TextBox 13"/>
          <p:cNvSpPr txBox="1"/>
          <p:nvPr/>
        </p:nvSpPr>
        <p:spPr>
          <a:xfrm>
            <a:off x="6071616" y="2100777"/>
            <a:ext cx="2468880" cy="169277"/>
          </a:xfrm>
          <a:prstGeom prst="rect">
            <a:avLst/>
          </a:prstGeom>
          <a:noFill/>
        </p:spPr>
        <p:txBody>
          <a:bodyPr wrap="square" lIns="0" tIns="0" rIns="0" bIns="0" anchor="ctr">
            <a:spAutoFit/>
          </a:bodyPr>
          <a:lstStyle/>
          <a:p>
            <a:pPr algn="l"/>
            <a:r>
              <a:rPr lang="es-CO" sz="1100" b="1" i="0">
                <a:solidFill>
                  <a:srgbClr val="3DDC97"/>
                </a:solidFill>
                <a:latin typeface="Arial"/>
              </a:rPr>
              <a:t>Lógica de negocio</a:t>
            </a:r>
          </a:p>
        </p:txBody>
      </p:sp>
      <p:sp>
        <p:nvSpPr>
          <p:cNvPr id="15" name="TextBox 14"/>
          <p:cNvSpPr txBox="1"/>
          <p:nvPr/>
        </p:nvSpPr>
        <p:spPr>
          <a:xfrm>
            <a:off x="6071616" y="2301945"/>
            <a:ext cx="2468880" cy="169277"/>
          </a:xfrm>
          <a:prstGeom prst="rect">
            <a:avLst/>
          </a:prstGeom>
          <a:noFill/>
        </p:spPr>
        <p:txBody>
          <a:bodyPr wrap="square" lIns="0" tIns="0" rIns="0" bIns="0" anchor="ctr">
            <a:spAutoFit/>
          </a:bodyPr>
          <a:lstStyle/>
          <a:p>
            <a:pPr algn="l"/>
            <a:r>
              <a:rPr lang="es-CO" sz="1100" b="0" i="0">
                <a:solidFill>
                  <a:srgbClr val="E8EEF6"/>
                </a:solidFill>
                <a:latin typeface="Calibri"/>
              </a:rPr>
              <a:t>modelo</a:t>
            </a:r>
          </a:p>
        </p:txBody>
      </p:sp>
      <p:sp>
        <p:nvSpPr>
          <p:cNvPr id="16" name="Rounded Rectangle 15"/>
          <p:cNvSpPr/>
          <p:nvPr/>
        </p:nvSpPr>
        <p:spPr>
          <a:xfrm>
            <a:off x="5943600" y="2615184"/>
            <a:ext cx="2697480" cy="475488"/>
          </a:xfrm>
          <a:prstGeom prst="roundRect">
            <a:avLst>
              <a:gd name="adj" fmla="val 8000"/>
            </a:avLst>
          </a:prstGeom>
          <a:solidFill>
            <a:srgbClr val="1A2434"/>
          </a:solidFill>
          <a:ln w="12700">
            <a:solidFill>
              <a:srgbClr val="FFB86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17" name="TextBox 16"/>
          <p:cNvSpPr txBox="1"/>
          <p:nvPr/>
        </p:nvSpPr>
        <p:spPr>
          <a:xfrm>
            <a:off x="6071616" y="2667705"/>
            <a:ext cx="2468880" cy="169277"/>
          </a:xfrm>
          <a:prstGeom prst="rect">
            <a:avLst/>
          </a:prstGeom>
          <a:noFill/>
        </p:spPr>
        <p:txBody>
          <a:bodyPr wrap="square" lIns="0" tIns="0" rIns="0" bIns="0" anchor="ctr">
            <a:spAutoFit/>
          </a:bodyPr>
          <a:lstStyle/>
          <a:p>
            <a:pPr algn="l"/>
            <a:r>
              <a:rPr lang="es-CO" sz="1100" b="1" i="0">
                <a:solidFill>
                  <a:srgbClr val="FFB86C"/>
                </a:solidFill>
                <a:latin typeface="Arial"/>
              </a:rPr>
              <a:t>Acceso a datos</a:t>
            </a:r>
          </a:p>
        </p:txBody>
      </p:sp>
      <p:sp>
        <p:nvSpPr>
          <p:cNvPr id="18" name="TextBox 17"/>
          <p:cNvSpPr txBox="1"/>
          <p:nvPr/>
        </p:nvSpPr>
        <p:spPr>
          <a:xfrm>
            <a:off x="6071616" y="2868873"/>
            <a:ext cx="2468880" cy="169277"/>
          </a:xfrm>
          <a:prstGeom prst="rect">
            <a:avLst/>
          </a:prstGeom>
          <a:noFill/>
        </p:spPr>
        <p:txBody>
          <a:bodyPr wrap="square" lIns="0" tIns="0" rIns="0" bIns="0" anchor="ctr">
            <a:spAutoFit/>
          </a:bodyPr>
          <a:lstStyle/>
          <a:p>
            <a:pPr algn="l"/>
            <a:r>
              <a:rPr lang="es-CO" sz="1100" b="0" i="0">
                <a:solidFill>
                  <a:srgbClr val="E8EEF6"/>
                </a:solidFill>
                <a:latin typeface="Calibri"/>
              </a:rPr>
              <a:t>repositorio</a:t>
            </a:r>
          </a:p>
        </p:txBody>
      </p:sp>
      <p:sp>
        <p:nvSpPr>
          <p:cNvPr id="19" name="Rounded Rectangle 18"/>
          <p:cNvSpPr/>
          <p:nvPr/>
        </p:nvSpPr>
        <p:spPr>
          <a:xfrm>
            <a:off x="5943600" y="3182112"/>
            <a:ext cx="2697480" cy="475488"/>
          </a:xfrm>
          <a:prstGeom prst="roundRect">
            <a:avLst>
              <a:gd name="adj" fmla="val 8000"/>
            </a:avLst>
          </a:prstGeom>
          <a:solidFill>
            <a:srgbClr val="1A2434"/>
          </a:solidFill>
          <a:ln w="12700">
            <a:solidFill>
              <a:srgbClr val="FFD47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20" name="TextBox 19"/>
          <p:cNvSpPr txBox="1"/>
          <p:nvPr/>
        </p:nvSpPr>
        <p:spPr>
          <a:xfrm>
            <a:off x="6071616" y="3234633"/>
            <a:ext cx="2468880" cy="169277"/>
          </a:xfrm>
          <a:prstGeom prst="rect">
            <a:avLst/>
          </a:prstGeom>
          <a:noFill/>
        </p:spPr>
        <p:txBody>
          <a:bodyPr wrap="square" lIns="0" tIns="0" rIns="0" bIns="0" anchor="ctr">
            <a:spAutoFit/>
          </a:bodyPr>
          <a:lstStyle/>
          <a:p>
            <a:pPr algn="l"/>
            <a:r>
              <a:rPr lang="es-CO" sz="1100" b="1" i="0">
                <a:solidFill>
                  <a:srgbClr val="FFD479"/>
                </a:solidFill>
                <a:latin typeface="Arial"/>
              </a:rPr>
              <a:t>Almacenamiento</a:t>
            </a:r>
          </a:p>
        </p:txBody>
      </p:sp>
      <p:sp>
        <p:nvSpPr>
          <p:cNvPr id="21" name="TextBox 20"/>
          <p:cNvSpPr txBox="1"/>
          <p:nvPr/>
        </p:nvSpPr>
        <p:spPr>
          <a:xfrm>
            <a:off x="6071616" y="3435801"/>
            <a:ext cx="2468880" cy="169277"/>
          </a:xfrm>
          <a:prstGeom prst="rect">
            <a:avLst/>
          </a:prstGeom>
          <a:noFill/>
        </p:spPr>
        <p:txBody>
          <a:bodyPr wrap="square" lIns="0" tIns="0" rIns="0" bIns="0" anchor="ctr">
            <a:spAutoFit/>
          </a:bodyPr>
          <a:lstStyle/>
          <a:p>
            <a:pPr algn="l"/>
            <a:r>
              <a:rPr lang="es-CO" sz="1100" b="0" i="0">
                <a:solidFill>
                  <a:srgbClr val="E8EEF6"/>
                </a:solidFill>
                <a:latin typeface="Calibri"/>
              </a:rPr>
              <a:t>archivo .db</a:t>
            </a:r>
          </a:p>
        </p:txBody>
      </p:sp>
      <p:sp>
        <p:nvSpPr>
          <p:cNvPr id="22" name="TextBox 21"/>
          <p:cNvSpPr txBox="1"/>
          <p:nvPr/>
        </p:nvSpPr>
        <p:spPr>
          <a:xfrm>
            <a:off x="5943600" y="3822192"/>
            <a:ext cx="2697480" cy="507831"/>
          </a:xfrm>
          <a:prstGeom prst="rect">
            <a:avLst/>
          </a:prstGeom>
          <a:noFill/>
        </p:spPr>
        <p:txBody>
          <a:bodyPr wrap="square" lIns="0" tIns="0" rIns="0" bIns="0" anchor="t">
            <a:spAutoFit/>
          </a:bodyPr>
          <a:lstStyle/>
          <a:p>
            <a:pPr algn="l"/>
            <a:r>
              <a:rPr lang="es-CO" sz="1100" b="0" i="0">
                <a:solidFill>
                  <a:srgbClr val="93A5BD"/>
                </a:solidFill>
                <a:latin typeface="Calibri"/>
              </a:rPr>
              <a:t>La carpeta data/ contiene código (repositorio) y almacenamiento (.db): comparten ubicación, no responsabilidad.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101B"/>
        </a:solidFill>
        <a:effectLst/>
      </p:bgPr>
    </p:bg>
    <p:spTree>
      <p:nvGrpSpPr>
        <p:cNvPr id="1" name=""/>
        <p:cNvGrpSpPr/>
        <p:nvPr/>
      </p:nvGrpSpPr>
      <p:grpSpPr>
        <a:xfrm>
          <a:off x="0" y="0"/>
          <a:ext cx="0" cy="0"/>
          <a:chOff x="0" y="0"/>
          <a:chExt cx="0" cy="0"/>
        </a:xfrm>
      </p:grpSpPr>
      <p:sp>
        <p:nvSpPr>
          <p:cNvPr id="2" name="TextBox 1"/>
          <p:cNvSpPr txBox="1"/>
          <p:nvPr/>
        </p:nvSpPr>
        <p:spPr>
          <a:xfrm>
            <a:off x="6309360" y="4718304"/>
            <a:ext cx="2331720" cy="201168"/>
          </a:xfrm>
          <a:prstGeom prst="rect">
            <a:avLst/>
          </a:prstGeom>
          <a:noFill/>
        </p:spPr>
        <p:txBody>
          <a:bodyPr wrap="square" lIns="0" tIns="0" rIns="0" bIns="0" anchor="ctr">
            <a:spAutoFit/>
          </a:bodyPr>
          <a:lstStyle/>
          <a:p>
            <a:pPr algn="r"/>
            <a:r>
              <a:rPr lang="es-CO" sz="800" b="0" i="0">
                <a:solidFill>
                  <a:srgbClr val="6C7E96"/>
                </a:solidFill>
                <a:latin typeface="Arial"/>
              </a:rPr>
              <a:t>Ingeniería Web  ·  10 / 24</a:t>
            </a:r>
          </a:p>
        </p:txBody>
      </p:sp>
      <p:sp>
        <p:nvSpPr>
          <p:cNvPr id="3" name="Rounded Rectangle 2"/>
          <p:cNvSpPr/>
          <p:nvPr/>
        </p:nvSpPr>
        <p:spPr>
          <a:xfrm>
            <a:off x="502920" y="365760"/>
            <a:ext cx="1243584" cy="228600"/>
          </a:xfrm>
          <a:prstGeom prst="roundRect">
            <a:avLst>
              <a:gd name="adj" fmla="val 50000"/>
            </a:avLst>
          </a:prstGeom>
          <a:solidFill>
            <a:srgbClr val="132A24"/>
          </a:solidFill>
          <a:ln w="952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502920" y="365760"/>
            <a:ext cx="1243584" cy="228600"/>
          </a:xfrm>
          <a:prstGeom prst="rect">
            <a:avLst/>
          </a:prstGeom>
          <a:noFill/>
        </p:spPr>
        <p:txBody>
          <a:bodyPr wrap="square" lIns="0" tIns="0" rIns="0" bIns="0" anchor="ctr">
            <a:spAutoFit/>
          </a:bodyPr>
          <a:lstStyle/>
          <a:p>
            <a:pPr algn="ctr"/>
            <a:r>
              <a:rPr lang="es-CO" sz="850" b="1" i="0">
                <a:solidFill>
                  <a:srgbClr val="3DDC97"/>
                </a:solidFill>
                <a:latin typeface="Arial"/>
              </a:rPr>
              <a:t>RECORRIDO</a:t>
            </a:r>
          </a:p>
        </p:txBody>
      </p:sp>
      <p:sp>
        <p:nvSpPr>
          <p:cNvPr id="5" name="Título"/>
          <p:cNvSpPr txBox="1"/>
          <p:nvPr/>
        </p:nvSpPr>
        <p:spPr>
          <a:xfrm>
            <a:off x="475488" y="658368"/>
            <a:ext cx="8138160" cy="438912"/>
          </a:xfrm>
          <a:prstGeom prst="rect">
            <a:avLst/>
          </a:prstGeom>
          <a:noFill/>
        </p:spPr>
        <p:txBody>
          <a:bodyPr wrap="square" lIns="0" tIns="0" rIns="0" bIns="0" anchor="ctr">
            <a:spAutoFit/>
          </a:bodyPr>
          <a:lstStyle/>
          <a:p>
            <a:pPr algn="l"/>
            <a:r>
              <a:rPr lang="es-CO" sz="2600" b="1" i="0">
                <a:solidFill>
                  <a:srgbClr val="FFFFFF"/>
                </a:solidFill>
                <a:latin typeface="Arial"/>
              </a:rPr>
              <a:t>Recorrido de una consulta: GET /api/contactos</a:t>
            </a:r>
          </a:p>
        </p:txBody>
      </p:sp>
      <p:sp>
        <p:nvSpPr>
          <p:cNvPr id="6" name="Rounded Rectangle 5"/>
          <p:cNvSpPr/>
          <p:nvPr/>
        </p:nvSpPr>
        <p:spPr>
          <a:xfrm>
            <a:off x="502920" y="1261872"/>
            <a:ext cx="1444752" cy="658368"/>
          </a:xfrm>
          <a:prstGeom prst="roundRect">
            <a:avLst>
              <a:gd name="adj" fmla="val 8000"/>
            </a:avLst>
          </a:prstGeom>
          <a:solidFill>
            <a:srgbClr val="1A243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7" name="Rounded Rectangle 6"/>
          <p:cNvSpPr/>
          <p:nvPr/>
        </p:nvSpPr>
        <p:spPr>
          <a:xfrm>
            <a:off x="576072" y="1335024"/>
            <a:ext cx="219456" cy="219456"/>
          </a:xfrm>
          <a:prstGeom prst="roundRect">
            <a:avLst>
              <a:gd name="adj" fmla="val 13333"/>
            </a:avLst>
          </a:prstGeom>
          <a:solidFill>
            <a:srgbClr val="1A2434"/>
          </a:solidFill>
          <a:ln w="12700">
            <a:solidFill>
              <a:srgbClr val="93A5B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8" name="TextBox 7"/>
          <p:cNvSpPr txBox="1"/>
          <p:nvPr/>
        </p:nvSpPr>
        <p:spPr>
          <a:xfrm>
            <a:off x="576072" y="1360113"/>
            <a:ext cx="219456" cy="169277"/>
          </a:xfrm>
          <a:prstGeom prst="rect">
            <a:avLst/>
          </a:prstGeom>
          <a:noFill/>
        </p:spPr>
        <p:txBody>
          <a:bodyPr wrap="square" lIns="0" tIns="0" rIns="0" bIns="0" anchor="ctr">
            <a:spAutoFit/>
          </a:bodyPr>
          <a:lstStyle/>
          <a:p>
            <a:pPr algn="ctr"/>
            <a:r>
              <a:rPr lang="es-CO" sz="1100" b="1" i="0">
                <a:solidFill>
                  <a:srgbClr val="93A5BD"/>
                </a:solidFill>
                <a:latin typeface="Arial"/>
              </a:rPr>
              <a:t>1</a:t>
            </a:r>
          </a:p>
        </p:txBody>
      </p:sp>
      <p:sp>
        <p:nvSpPr>
          <p:cNvPr id="9" name="TextBox 8"/>
          <p:cNvSpPr txBox="1"/>
          <p:nvPr/>
        </p:nvSpPr>
        <p:spPr>
          <a:xfrm>
            <a:off x="850392" y="1360113"/>
            <a:ext cx="1042416" cy="169277"/>
          </a:xfrm>
          <a:prstGeom prst="rect">
            <a:avLst/>
          </a:prstGeom>
          <a:noFill/>
        </p:spPr>
        <p:txBody>
          <a:bodyPr wrap="square" lIns="0" tIns="0" rIns="0" bIns="0" anchor="ctr">
            <a:spAutoFit/>
          </a:bodyPr>
          <a:lstStyle/>
          <a:p>
            <a:pPr algn="l"/>
            <a:r>
              <a:rPr lang="es-CO" sz="1100" b="1" i="0">
                <a:solidFill>
                  <a:srgbClr val="FFFFFF"/>
                </a:solidFill>
                <a:latin typeface="Arial"/>
              </a:rPr>
              <a:t>Página</a:t>
            </a:r>
          </a:p>
        </p:txBody>
      </p:sp>
      <p:sp>
        <p:nvSpPr>
          <p:cNvPr id="10" name="TextBox 9"/>
          <p:cNvSpPr txBox="1"/>
          <p:nvPr/>
        </p:nvSpPr>
        <p:spPr>
          <a:xfrm>
            <a:off x="576072" y="1643577"/>
            <a:ext cx="1316736" cy="169277"/>
          </a:xfrm>
          <a:prstGeom prst="rect">
            <a:avLst/>
          </a:prstGeom>
          <a:noFill/>
        </p:spPr>
        <p:txBody>
          <a:bodyPr wrap="square" lIns="0" tIns="0" rIns="0" bIns="0" anchor="ctr">
            <a:spAutoFit/>
          </a:bodyPr>
          <a:lstStyle/>
          <a:p>
            <a:pPr algn="l"/>
            <a:r>
              <a:rPr lang="es-CO" sz="1100" b="0" i="0">
                <a:solidFill>
                  <a:srgbClr val="93A5BD"/>
                </a:solidFill>
                <a:latin typeface="Courier New"/>
              </a:rPr>
              <a:t>fetch()</a:t>
            </a:r>
          </a:p>
        </p:txBody>
      </p:sp>
      <p:cxnSp>
        <p:nvCxnSpPr>
          <p:cNvPr id="11" name="Connector 10"/>
          <p:cNvCxnSpPr/>
          <p:nvPr/>
        </p:nvCxnSpPr>
        <p:spPr>
          <a:xfrm>
            <a:off x="1965960" y="1591056"/>
            <a:ext cx="192024" cy="0"/>
          </a:xfrm>
          <a:prstGeom prst="line">
            <a:avLst/>
          </a:prstGeom>
          <a:ln w="15875">
            <a:solidFill>
              <a:srgbClr val="93A5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176272" y="1261872"/>
            <a:ext cx="1444752" cy="658368"/>
          </a:xfrm>
          <a:prstGeom prst="roundRect">
            <a:avLst>
              <a:gd name="adj" fmla="val 8000"/>
            </a:avLst>
          </a:prstGeom>
          <a:solidFill>
            <a:srgbClr val="1A2434"/>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13" name="Rounded Rectangle 12"/>
          <p:cNvSpPr/>
          <p:nvPr/>
        </p:nvSpPr>
        <p:spPr>
          <a:xfrm>
            <a:off x="2249424" y="1335024"/>
            <a:ext cx="219456" cy="219456"/>
          </a:xfrm>
          <a:prstGeom prst="roundRect">
            <a:avLst>
              <a:gd name="adj" fmla="val 13333"/>
            </a:avLst>
          </a:prstGeom>
          <a:solidFill>
            <a:srgbClr val="0F2533"/>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14" name="TextBox 13"/>
          <p:cNvSpPr txBox="1"/>
          <p:nvPr/>
        </p:nvSpPr>
        <p:spPr>
          <a:xfrm>
            <a:off x="2249424" y="1360113"/>
            <a:ext cx="219456" cy="169277"/>
          </a:xfrm>
          <a:prstGeom prst="rect">
            <a:avLst/>
          </a:prstGeom>
          <a:noFill/>
        </p:spPr>
        <p:txBody>
          <a:bodyPr wrap="square" lIns="0" tIns="0" rIns="0" bIns="0" anchor="ctr">
            <a:spAutoFit/>
          </a:bodyPr>
          <a:lstStyle/>
          <a:p>
            <a:pPr algn="ctr"/>
            <a:r>
              <a:rPr lang="es-CO" sz="1100" b="1" i="0">
                <a:solidFill>
                  <a:srgbClr val="56C7F2"/>
                </a:solidFill>
                <a:latin typeface="Arial"/>
              </a:rPr>
              <a:t>2</a:t>
            </a:r>
          </a:p>
        </p:txBody>
      </p:sp>
      <p:sp>
        <p:nvSpPr>
          <p:cNvPr id="15" name="TextBox 14"/>
          <p:cNvSpPr txBox="1"/>
          <p:nvPr/>
        </p:nvSpPr>
        <p:spPr>
          <a:xfrm>
            <a:off x="2523744" y="1360113"/>
            <a:ext cx="1042416" cy="169277"/>
          </a:xfrm>
          <a:prstGeom prst="rect">
            <a:avLst/>
          </a:prstGeom>
          <a:noFill/>
        </p:spPr>
        <p:txBody>
          <a:bodyPr wrap="square" lIns="0" tIns="0" rIns="0" bIns="0" anchor="ctr">
            <a:spAutoFit/>
          </a:bodyPr>
          <a:lstStyle/>
          <a:p>
            <a:pPr algn="l"/>
            <a:r>
              <a:rPr lang="es-CO" sz="1100" b="1" i="0">
                <a:solidFill>
                  <a:srgbClr val="56C7F2"/>
                </a:solidFill>
                <a:latin typeface="Arial"/>
              </a:rPr>
              <a:t>rutas.js</a:t>
            </a:r>
          </a:p>
        </p:txBody>
      </p:sp>
      <p:sp>
        <p:nvSpPr>
          <p:cNvPr id="16" name="TextBox 15"/>
          <p:cNvSpPr txBox="1"/>
          <p:nvPr/>
        </p:nvSpPr>
        <p:spPr>
          <a:xfrm>
            <a:off x="2249424" y="1558939"/>
            <a:ext cx="1316736" cy="338554"/>
          </a:xfrm>
          <a:prstGeom prst="rect">
            <a:avLst/>
          </a:prstGeom>
          <a:noFill/>
        </p:spPr>
        <p:txBody>
          <a:bodyPr wrap="square" lIns="0" tIns="0" rIns="0" bIns="0" anchor="ctr">
            <a:spAutoFit/>
          </a:bodyPr>
          <a:lstStyle/>
          <a:p>
            <a:pPr algn="l"/>
            <a:r>
              <a:rPr lang="es-CO" sz="1100" b="0" i="0">
                <a:solidFill>
                  <a:srgbClr val="93A5BD"/>
                </a:solidFill>
                <a:latin typeface="Courier New"/>
              </a:rPr>
              <a:t>GET /api/contactos</a:t>
            </a:r>
          </a:p>
        </p:txBody>
      </p:sp>
      <p:cxnSp>
        <p:nvCxnSpPr>
          <p:cNvPr id="17" name="Connector 16"/>
          <p:cNvCxnSpPr/>
          <p:nvPr/>
        </p:nvCxnSpPr>
        <p:spPr>
          <a:xfrm>
            <a:off x="3639312" y="1591056"/>
            <a:ext cx="192024" cy="0"/>
          </a:xfrm>
          <a:prstGeom prst="line">
            <a:avLst/>
          </a:prstGeom>
          <a:ln w="15875">
            <a:solidFill>
              <a:srgbClr val="93A5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3849624" y="1261872"/>
            <a:ext cx="1444752" cy="658368"/>
          </a:xfrm>
          <a:prstGeom prst="roundRect">
            <a:avLst>
              <a:gd name="adj" fmla="val 8000"/>
            </a:avLst>
          </a:prstGeom>
          <a:solidFill>
            <a:srgbClr val="1A2434"/>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19" name="Rounded Rectangle 18"/>
          <p:cNvSpPr/>
          <p:nvPr/>
        </p:nvSpPr>
        <p:spPr>
          <a:xfrm>
            <a:off x="3922776" y="1335024"/>
            <a:ext cx="219456" cy="219456"/>
          </a:xfrm>
          <a:prstGeom prst="roundRect">
            <a:avLst>
              <a:gd name="adj" fmla="val 13333"/>
            </a:avLst>
          </a:prstGeom>
          <a:solidFill>
            <a:srgbClr val="0F2533"/>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20" name="TextBox 19"/>
          <p:cNvSpPr txBox="1"/>
          <p:nvPr/>
        </p:nvSpPr>
        <p:spPr>
          <a:xfrm>
            <a:off x="3922776" y="1360113"/>
            <a:ext cx="219456" cy="169277"/>
          </a:xfrm>
          <a:prstGeom prst="rect">
            <a:avLst/>
          </a:prstGeom>
          <a:noFill/>
        </p:spPr>
        <p:txBody>
          <a:bodyPr wrap="square" lIns="0" tIns="0" rIns="0" bIns="0" anchor="ctr">
            <a:spAutoFit/>
          </a:bodyPr>
          <a:lstStyle/>
          <a:p>
            <a:pPr algn="ctr"/>
            <a:r>
              <a:rPr lang="es-CO" sz="1100" b="1" i="0">
                <a:solidFill>
                  <a:srgbClr val="56C7F2"/>
                </a:solidFill>
                <a:latin typeface="Arial"/>
              </a:rPr>
              <a:t>3</a:t>
            </a:r>
          </a:p>
        </p:txBody>
      </p:sp>
      <p:sp>
        <p:nvSpPr>
          <p:cNvPr id="21" name="TextBox 20"/>
          <p:cNvSpPr txBox="1"/>
          <p:nvPr/>
        </p:nvSpPr>
        <p:spPr>
          <a:xfrm>
            <a:off x="4197096" y="1360113"/>
            <a:ext cx="1042416" cy="169277"/>
          </a:xfrm>
          <a:prstGeom prst="rect">
            <a:avLst/>
          </a:prstGeom>
          <a:noFill/>
        </p:spPr>
        <p:txBody>
          <a:bodyPr wrap="square" lIns="0" tIns="0" rIns="0" bIns="0" anchor="ctr">
            <a:spAutoFit/>
          </a:bodyPr>
          <a:lstStyle/>
          <a:p>
            <a:pPr algn="l"/>
            <a:r>
              <a:rPr lang="es-CO" sz="1100" b="1" i="0">
                <a:solidFill>
                  <a:srgbClr val="56C7F2"/>
                </a:solidFill>
                <a:latin typeface="Arial"/>
              </a:rPr>
              <a:t>Controlador</a:t>
            </a:r>
          </a:p>
        </p:txBody>
      </p:sp>
      <p:sp>
        <p:nvSpPr>
          <p:cNvPr id="22" name="TextBox 21"/>
          <p:cNvSpPr txBox="1"/>
          <p:nvPr/>
        </p:nvSpPr>
        <p:spPr>
          <a:xfrm>
            <a:off x="3922776" y="1643577"/>
            <a:ext cx="1316736" cy="169277"/>
          </a:xfrm>
          <a:prstGeom prst="rect">
            <a:avLst/>
          </a:prstGeom>
          <a:noFill/>
        </p:spPr>
        <p:txBody>
          <a:bodyPr wrap="square" lIns="0" tIns="0" rIns="0" bIns="0" anchor="ctr">
            <a:spAutoFit/>
          </a:bodyPr>
          <a:lstStyle/>
          <a:p>
            <a:pPr algn="l"/>
            <a:r>
              <a:rPr lang="es-CO" sz="1100" b="0" i="0">
                <a:solidFill>
                  <a:srgbClr val="93A5BD"/>
                </a:solidFill>
                <a:latin typeface="Courier New"/>
              </a:rPr>
              <a:t>listarApi()</a:t>
            </a:r>
          </a:p>
        </p:txBody>
      </p:sp>
      <p:cxnSp>
        <p:nvCxnSpPr>
          <p:cNvPr id="23" name="Connector 22"/>
          <p:cNvCxnSpPr/>
          <p:nvPr/>
        </p:nvCxnSpPr>
        <p:spPr>
          <a:xfrm>
            <a:off x="5312664" y="1591056"/>
            <a:ext cx="192024" cy="0"/>
          </a:xfrm>
          <a:prstGeom prst="line">
            <a:avLst/>
          </a:prstGeom>
          <a:ln w="15875">
            <a:solidFill>
              <a:srgbClr val="93A5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522976" y="1261872"/>
            <a:ext cx="1444752" cy="658368"/>
          </a:xfrm>
          <a:prstGeom prst="roundRect">
            <a:avLst>
              <a:gd name="adj" fmla="val 8000"/>
            </a:avLst>
          </a:prstGeom>
          <a:solidFill>
            <a:srgbClr val="1A243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25" name="Rounded Rectangle 24"/>
          <p:cNvSpPr/>
          <p:nvPr/>
        </p:nvSpPr>
        <p:spPr>
          <a:xfrm>
            <a:off x="5596128" y="1335024"/>
            <a:ext cx="219456" cy="219456"/>
          </a:xfrm>
          <a:prstGeom prst="roundRect">
            <a:avLst>
              <a:gd name="adj" fmla="val 13333"/>
            </a:avLst>
          </a:prstGeom>
          <a:solidFill>
            <a:srgbClr val="132A2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26" name="TextBox 25"/>
          <p:cNvSpPr txBox="1"/>
          <p:nvPr/>
        </p:nvSpPr>
        <p:spPr>
          <a:xfrm>
            <a:off x="5596128" y="1360113"/>
            <a:ext cx="219456" cy="169277"/>
          </a:xfrm>
          <a:prstGeom prst="rect">
            <a:avLst/>
          </a:prstGeom>
          <a:noFill/>
        </p:spPr>
        <p:txBody>
          <a:bodyPr wrap="square" lIns="0" tIns="0" rIns="0" bIns="0" anchor="ctr">
            <a:spAutoFit/>
          </a:bodyPr>
          <a:lstStyle/>
          <a:p>
            <a:pPr algn="ctr"/>
            <a:r>
              <a:rPr lang="es-CO" sz="1100" b="1" i="0">
                <a:solidFill>
                  <a:srgbClr val="3DDC97"/>
                </a:solidFill>
                <a:latin typeface="Arial"/>
              </a:rPr>
              <a:t>4</a:t>
            </a:r>
          </a:p>
        </p:txBody>
      </p:sp>
      <p:sp>
        <p:nvSpPr>
          <p:cNvPr id="27" name="TextBox 26"/>
          <p:cNvSpPr txBox="1"/>
          <p:nvPr/>
        </p:nvSpPr>
        <p:spPr>
          <a:xfrm>
            <a:off x="5870448" y="1360113"/>
            <a:ext cx="1042416" cy="169277"/>
          </a:xfrm>
          <a:prstGeom prst="rect">
            <a:avLst/>
          </a:prstGeom>
          <a:noFill/>
        </p:spPr>
        <p:txBody>
          <a:bodyPr wrap="square" lIns="0" tIns="0" rIns="0" bIns="0" anchor="ctr">
            <a:spAutoFit/>
          </a:bodyPr>
          <a:lstStyle/>
          <a:p>
            <a:pPr algn="l"/>
            <a:r>
              <a:rPr lang="es-CO" sz="1100" b="1" i="0">
                <a:solidFill>
                  <a:srgbClr val="3DDC97"/>
                </a:solidFill>
                <a:latin typeface="Arial"/>
              </a:rPr>
              <a:t>Modelo</a:t>
            </a:r>
          </a:p>
        </p:txBody>
      </p:sp>
      <p:sp>
        <p:nvSpPr>
          <p:cNvPr id="28" name="TextBox 27"/>
          <p:cNvSpPr txBox="1"/>
          <p:nvPr/>
        </p:nvSpPr>
        <p:spPr>
          <a:xfrm>
            <a:off x="5596128" y="1643577"/>
            <a:ext cx="1316736" cy="169277"/>
          </a:xfrm>
          <a:prstGeom prst="rect">
            <a:avLst/>
          </a:prstGeom>
          <a:noFill/>
        </p:spPr>
        <p:txBody>
          <a:bodyPr wrap="square" lIns="0" tIns="0" rIns="0" bIns="0" anchor="ctr">
            <a:spAutoFit/>
          </a:bodyPr>
          <a:lstStyle/>
          <a:p>
            <a:pPr algn="l"/>
            <a:r>
              <a:rPr lang="es-CO" sz="1100" b="0" i="0">
                <a:solidFill>
                  <a:srgbClr val="93A5BD"/>
                </a:solidFill>
                <a:latin typeface="Courier New"/>
              </a:rPr>
              <a:t>listar()</a:t>
            </a:r>
          </a:p>
        </p:txBody>
      </p:sp>
      <p:cxnSp>
        <p:nvCxnSpPr>
          <p:cNvPr id="29" name="Connector 28"/>
          <p:cNvCxnSpPr/>
          <p:nvPr/>
        </p:nvCxnSpPr>
        <p:spPr>
          <a:xfrm>
            <a:off x="6986016" y="1591056"/>
            <a:ext cx="192024" cy="0"/>
          </a:xfrm>
          <a:prstGeom prst="line">
            <a:avLst/>
          </a:prstGeom>
          <a:ln w="15875">
            <a:solidFill>
              <a:srgbClr val="93A5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7196328" y="1261872"/>
            <a:ext cx="1444752" cy="658368"/>
          </a:xfrm>
          <a:prstGeom prst="roundRect">
            <a:avLst>
              <a:gd name="adj" fmla="val 8000"/>
            </a:avLst>
          </a:prstGeom>
          <a:solidFill>
            <a:srgbClr val="1A2434"/>
          </a:solidFill>
          <a:ln w="12700">
            <a:solidFill>
              <a:srgbClr val="FFB86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31" name="Rounded Rectangle 30"/>
          <p:cNvSpPr/>
          <p:nvPr/>
        </p:nvSpPr>
        <p:spPr>
          <a:xfrm>
            <a:off x="7269480" y="1335024"/>
            <a:ext cx="219456" cy="219456"/>
          </a:xfrm>
          <a:prstGeom prst="roundRect">
            <a:avLst>
              <a:gd name="adj" fmla="val 13333"/>
            </a:avLst>
          </a:prstGeom>
          <a:solidFill>
            <a:srgbClr val="35210F"/>
          </a:solidFill>
          <a:ln w="12700">
            <a:solidFill>
              <a:srgbClr val="FFB86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32" name="TextBox 31"/>
          <p:cNvSpPr txBox="1"/>
          <p:nvPr/>
        </p:nvSpPr>
        <p:spPr>
          <a:xfrm>
            <a:off x="7269480" y="1360113"/>
            <a:ext cx="219456" cy="169277"/>
          </a:xfrm>
          <a:prstGeom prst="rect">
            <a:avLst/>
          </a:prstGeom>
          <a:noFill/>
        </p:spPr>
        <p:txBody>
          <a:bodyPr wrap="square" lIns="0" tIns="0" rIns="0" bIns="0" anchor="ctr">
            <a:spAutoFit/>
          </a:bodyPr>
          <a:lstStyle/>
          <a:p>
            <a:pPr algn="ctr"/>
            <a:r>
              <a:rPr lang="es-CO" sz="1100" b="1" i="0">
                <a:solidFill>
                  <a:srgbClr val="FFB86C"/>
                </a:solidFill>
                <a:latin typeface="Arial"/>
              </a:rPr>
              <a:t>5</a:t>
            </a:r>
          </a:p>
        </p:txBody>
      </p:sp>
      <p:sp>
        <p:nvSpPr>
          <p:cNvPr id="33" name="TextBox 32"/>
          <p:cNvSpPr txBox="1"/>
          <p:nvPr/>
        </p:nvSpPr>
        <p:spPr>
          <a:xfrm>
            <a:off x="7543800" y="1360113"/>
            <a:ext cx="1042416" cy="169277"/>
          </a:xfrm>
          <a:prstGeom prst="rect">
            <a:avLst/>
          </a:prstGeom>
          <a:noFill/>
        </p:spPr>
        <p:txBody>
          <a:bodyPr wrap="square" lIns="0" tIns="0" rIns="0" bIns="0" anchor="ctr">
            <a:spAutoFit/>
          </a:bodyPr>
          <a:lstStyle/>
          <a:p>
            <a:pPr algn="l"/>
            <a:r>
              <a:rPr lang="es-CO" sz="1100" b="1" i="0">
                <a:solidFill>
                  <a:srgbClr val="FFB86C"/>
                </a:solidFill>
                <a:latin typeface="Arial"/>
              </a:rPr>
              <a:t>Repositorio</a:t>
            </a:r>
          </a:p>
        </p:txBody>
      </p:sp>
      <p:sp>
        <p:nvSpPr>
          <p:cNvPr id="34" name="TextBox 33"/>
          <p:cNvSpPr txBox="1"/>
          <p:nvPr/>
        </p:nvSpPr>
        <p:spPr>
          <a:xfrm>
            <a:off x="7269480" y="1643577"/>
            <a:ext cx="1316736" cy="169277"/>
          </a:xfrm>
          <a:prstGeom prst="rect">
            <a:avLst/>
          </a:prstGeom>
          <a:noFill/>
        </p:spPr>
        <p:txBody>
          <a:bodyPr wrap="square" lIns="0" tIns="0" rIns="0" bIns="0" anchor="ctr">
            <a:spAutoFit/>
          </a:bodyPr>
          <a:lstStyle/>
          <a:p>
            <a:pPr algn="l"/>
            <a:r>
              <a:rPr lang="es-CO" sz="1100" b="0" i="0">
                <a:solidFill>
                  <a:srgbClr val="93A5BD"/>
                </a:solidFill>
                <a:latin typeface="Courier New"/>
              </a:rPr>
              <a:t>listarSql.all()</a:t>
            </a:r>
          </a:p>
        </p:txBody>
      </p:sp>
      <p:cxnSp>
        <p:nvCxnSpPr>
          <p:cNvPr id="35" name="Connector 34"/>
          <p:cNvCxnSpPr/>
          <p:nvPr/>
        </p:nvCxnSpPr>
        <p:spPr>
          <a:xfrm>
            <a:off x="7918704" y="1938528"/>
            <a:ext cx="0" cy="219456"/>
          </a:xfrm>
          <a:prstGeom prst="line">
            <a:avLst/>
          </a:prstGeom>
          <a:ln w="15875">
            <a:solidFill>
              <a:srgbClr val="93A5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7324344" y="2176272"/>
            <a:ext cx="1188720" cy="274320"/>
          </a:xfrm>
          <a:prstGeom prst="roundRect">
            <a:avLst>
              <a:gd name="adj" fmla="val 13333"/>
            </a:avLst>
          </a:prstGeom>
          <a:solidFill>
            <a:srgbClr val="1A2434"/>
          </a:solidFill>
          <a:ln w="12700">
            <a:solidFill>
              <a:srgbClr val="FFD47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37" name="TextBox 36"/>
          <p:cNvSpPr txBox="1"/>
          <p:nvPr/>
        </p:nvSpPr>
        <p:spPr>
          <a:xfrm>
            <a:off x="7360920" y="2228793"/>
            <a:ext cx="1115568" cy="169277"/>
          </a:xfrm>
          <a:prstGeom prst="rect">
            <a:avLst/>
          </a:prstGeom>
          <a:noFill/>
        </p:spPr>
        <p:txBody>
          <a:bodyPr wrap="square" lIns="0" tIns="0" rIns="0" bIns="0" anchor="ctr">
            <a:spAutoFit/>
          </a:bodyPr>
          <a:lstStyle/>
          <a:p>
            <a:pPr algn="ctr"/>
            <a:r>
              <a:rPr lang="es-CO" sz="1100" b="1" i="0">
                <a:solidFill>
                  <a:srgbClr val="FFD479"/>
                </a:solidFill>
                <a:latin typeface="Courier New"/>
              </a:rPr>
              <a:t>contactos.db</a:t>
            </a:r>
          </a:p>
        </p:txBody>
      </p:sp>
      <p:cxnSp>
        <p:nvCxnSpPr>
          <p:cNvPr id="38" name="Connector 37"/>
          <p:cNvCxnSpPr/>
          <p:nvPr/>
        </p:nvCxnSpPr>
        <p:spPr>
          <a:xfrm flipH="1">
            <a:off x="731520" y="2313432"/>
            <a:ext cx="6419088" cy="0"/>
          </a:xfrm>
          <a:prstGeom prst="line">
            <a:avLst/>
          </a:prstGeom>
          <a:ln w="15875">
            <a:solidFill>
              <a:srgbClr val="3DDC97"/>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914400" y="2359152"/>
            <a:ext cx="5486400" cy="169277"/>
          </a:xfrm>
          <a:prstGeom prst="rect">
            <a:avLst/>
          </a:prstGeom>
          <a:noFill/>
        </p:spPr>
        <p:txBody>
          <a:bodyPr wrap="square" lIns="0" tIns="0" rIns="0" bIns="0" anchor="t">
            <a:spAutoFit/>
          </a:bodyPr>
          <a:lstStyle/>
          <a:p>
            <a:pPr algn="l"/>
            <a:r>
              <a:rPr lang="es-CO" sz="1100" b="0" i="0">
                <a:solidFill>
                  <a:srgbClr val="3DDC97"/>
                </a:solidFill>
                <a:latin typeface="Courier New"/>
              </a:rPr>
              <a:t>vuelta: arreglo → JSON.stringify() → 200 JSON → filas en la tabla</a:t>
            </a:r>
          </a:p>
        </p:txBody>
      </p:sp>
      <p:sp>
        <p:nvSpPr>
          <p:cNvPr id="40" name="Rounded Rectangle 39"/>
          <p:cNvSpPr/>
          <p:nvPr/>
        </p:nvSpPr>
        <p:spPr>
          <a:xfrm>
            <a:off x="502920" y="2670048"/>
            <a:ext cx="1935480" cy="182880"/>
          </a:xfrm>
          <a:prstGeom prst="roundRect">
            <a:avLst>
              <a:gd name="adj" fmla="val 50000"/>
            </a:avLst>
          </a:prstGeom>
          <a:solidFill>
            <a:srgbClr val="0F2533"/>
          </a:solidFill>
          <a:ln w="9525">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41" name="TextBox 40"/>
          <p:cNvSpPr txBox="1"/>
          <p:nvPr/>
        </p:nvSpPr>
        <p:spPr>
          <a:xfrm>
            <a:off x="537972" y="2683651"/>
            <a:ext cx="1821180" cy="169277"/>
          </a:xfrm>
          <a:prstGeom prst="rect">
            <a:avLst/>
          </a:prstGeom>
          <a:noFill/>
        </p:spPr>
        <p:txBody>
          <a:bodyPr wrap="square" lIns="0" tIns="0" rIns="0" bIns="0" anchor="ctr">
            <a:spAutoFit/>
          </a:bodyPr>
          <a:lstStyle/>
          <a:p>
            <a:pPr algn="ctr"/>
            <a:r>
              <a:rPr lang="es-CO" sz="1100" b="1" i="0" dirty="0">
                <a:solidFill>
                  <a:srgbClr val="56C7F2"/>
                </a:solidFill>
                <a:latin typeface="Arial"/>
              </a:rPr>
              <a:t>EJEMPLO ILUSTRATIVO</a:t>
            </a:r>
          </a:p>
        </p:txBody>
      </p:sp>
      <p:sp>
        <p:nvSpPr>
          <p:cNvPr id="42" name="Rounded Rectangle 41"/>
          <p:cNvSpPr/>
          <p:nvPr/>
        </p:nvSpPr>
        <p:spPr>
          <a:xfrm>
            <a:off x="502920" y="2907792"/>
            <a:ext cx="4709160" cy="1609344"/>
          </a:xfrm>
          <a:prstGeom prst="roundRect">
            <a:avLst>
              <a:gd name="adj" fmla="val 8000"/>
            </a:avLst>
          </a:prstGeom>
          <a:solidFill>
            <a:srgbClr val="070C1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43" name="TextBox 42"/>
          <p:cNvSpPr txBox="1"/>
          <p:nvPr/>
        </p:nvSpPr>
        <p:spPr>
          <a:xfrm>
            <a:off x="649224" y="2987745"/>
            <a:ext cx="4416552" cy="169277"/>
          </a:xfrm>
          <a:prstGeom prst="rect">
            <a:avLst/>
          </a:prstGeom>
          <a:noFill/>
        </p:spPr>
        <p:txBody>
          <a:bodyPr wrap="square" lIns="0" tIns="0" rIns="0" bIns="0" anchor="ctr">
            <a:spAutoFit/>
          </a:bodyPr>
          <a:lstStyle/>
          <a:p>
            <a:pPr algn="l"/>
            <a:r>
              <a:rPr lang="es-CO" sz="1100" b="1" i="0">
                <a:solidFill>
                  <a:srgbClr val="56C7F2"/>
                </a:solidFill>
                <a:latin typeface="Courier New"/>
              </a:rPr>
              <a:t>controllers/contactoController.js</a:t>
            </a:r>
          </a:p>
        </p:txBody>
      </p:sp>
      <p:sp>
        <p:nvSpPr>
          <p:cNvPr id="44" name="TextBox 43"/>
          <p:cNvSpPr txBox="1"/>
          <p:nvPr/>
        </p:nvSpPr>
        <p:spPr>
          <a:xfrm>
            <a:off x="649224" y="3182112"/>
            <a:ext cx="4416552" cy="1015663"/>
          </a:xfrm>
          <a:prstGeom prst="rect">
            <a:avLst/>
          </a:prstGeom>
          <a:noFill/>
        </p:spPr>
        <p:txBody>
          <a:bodyPr wrap="square" lIns="0" tIns="0" rIns="0" bIns="0" anchor="t">
            <a:spAutoFit/>
          </a:bodyPr>
          <a:lstStyle/>
          <a:p>
            <a:pPr algn="l"/>
            <a:r>
              <a:rPr lang="es-CO" sz="1100" b="0" i="0">
                <a:solidFill>
                  <a:srgbClr val="FFB86C"/>
                </a:solidFill>
                <a:latin typeface="Courier New"/>
              </a:rPr>
              <a:t>function</a:t>
            </a:r>
            <a:r>
              <a:rPr lang="es-CO" sz="1100" b="0" i="0">
                <a:solidFill>
                  <a:srgbClr val="D7E1EE"/>
                </a:solidFill>
                <a:latin typeface="Courier New"/>
              </a:rPr>
              <a:t> listarApi</a:t>
            </a:r>
            <a:r>
              <a:rPr lang="es-CO" sz="1100" b="0" i="0">
                <a:solidFill>
                  <a:srgbClr val="93A5BD"/>
                </a:solidFill>
                <a:latin typeface="Courier New"/>
              </a:rPr>
              <a:t>(</a:t>
            </a:r>
            <a:r>
              <a:rPr lang="es-CO" sz="1100" b="0" i="0">
                <a:solidFill>
                  <a:srgbClr val="D7E1EE"/>
                </a:solidFill>
                <a:latin typeface="Courier New"/>
              </a:rPr>
              <a:t>req</a:t>
            </a:r>
            <a:r>
              <a:rPr lang="es-CO" sz="1100" b="0" i="0">
                <a:solidFill>
                  <a:srgbClr val="93A5BD"/>
                </a:solidFill>
                <a:latin typeface="Courier New"/>
              </a:rPr>
              <a:t>,</a:t>
            </a:r>
            <a:r>
              <a:rPr lang="es-CO" sz="1100" b="0" i="0">
                <a:solidFill>
                  <a:srgbClr val="D7E1EE"/>
                </a:solidFill>
                <a:latin typeface="Courier New"/>
              </a:rPr>
              <a:t> res</a:t>
            </a:r>
            <a:r>
              <a:rPr lang="es-CO" sz="1100" b="0" i="0">
                <a:solidFill>
                  <a:srgbClr val="93A5BD"/>
                </a:solidFill>
                <a:latin typeface="Courier New"/>
              </a:rPr>
              <a:t>)</a:t>
            </a:r>
            <a:r>
              <a:rPr lang="es-CO" sz="1100" b="0" i="0">
                <a:solidFill>
                  <a:srgbClr val="D7E1EE"/>
                </a:solidFill>
                <a:latin typeface="Courier New"/>
              </a:rPr>
              <a:t> </a:t>
            </a:r>
            <a:r>
              <a:rPr lang="es-CO" sz="1100" b="0" i="0">
                <a:solidFill>
                  <a:srgbClr val="93A5BD"/>
                </a:solidFill>
                <a:latin typeface="Courier New"/>
              </a:rPr>
              <a:t>{</a:t>
            </a:r>
          </a:p>
          <a:p>
            <a:pPr algn="l"/>
            <a:r>
              <a:rPr lang="es-CO" sz="1100" b="0" i="0">
                <a:solidFill>
                  <a:srgbClr val="D7E1EE"/>
                </a:solidFill>
                <a:latin typeface="Courier New"/>
              </a:rPr>
              <a:t>  </a:t>
            </a:r>
            <a:r>
              <a:rPr lang="es-CO" sz="1100" b="0" i="0">
                <a:solidFill>
                  <a:srgbClr val="FFB86C"/>
                </a:solidFill>
                <a:latin typeface="Courier New"/>
              </a:rPr>
              <a:t>const</a:t>
            </a:r>
            <a:r>
              <a:rPr lang="es-CO" sz="1100" b="0" i="0">
                <a:solidFill>
                  <a:srgbClr val="D7E1EE"/>
                </a:solidFill>
                <a:latin typeface="Courier New"/>
              </a:rPr>
              <a:t> contactos </a:t>
            </a:r>
            <a:r>
              <a:rPr lang="es-CO" sz="1100" b="0" i="0">
                <a:solidFill>
                  <a:srgbClr val="93A5BD"/>
                </a:solidFill>
                <a:latin typeface="Courier New"/>
              </a:rPr>
              <a:t>=</a:t>
            </a:r>
            <a:r>
              <a:rPr lang="es-CO" sz="1100" b="0" i="0">
                <a:solidFill>
                  <a:srgbClr val="D7E1EE"/>
                </a:solidFill>
                <a:latin typeface="Courier New"/>
              </a:rPr>
              <a:t> modelo</a:t>
            </a:r>
            <a:r>
              <a:rPr lang="es-CO" sz="1100" b="0" i="0">
                <a:solidFill>
                  <a:srgbClr val="93A5BD"/>
                </a:solidFill>
                <a:latin typeface="Courier New"/>
              </a:rPr>
              <a:t>.</a:t>
            </a:r>
            <a:r>
              <a:rPr lang="es-CO" sz="1100" b="0" i="0">
                <a:solidFill>
                  <a:srgbClr val="D7E1EE"/>
                </a:solidFill>
                <a:latin typeface="Courier New"/>
              </a:rPr>
              <a:t>listar</a:t>
            </a:r>
            <a:r>
              <a:rPr lang="es-CO" sz="1100" b="0" i="0">
                <a:solidFill>
                  <a:srgbClr val="93A5BD"/>
                </a:solidFill>
                <a:latin typeface="Courier New"/>
              </a:rPr>
              <a:t>();</a:t>
            </a:r>
          </a:p>
          <a:p>
            <a:pPr algn="l"/>
            <a:r>
              <a:rPr lang="es-CO" sz="1100" b="0" i="0">
                <a:solidFill>
                  <a:srgbClr val="D7E1EE"/>
                </a:solidFill>
                <a:latin typeface="Courier New"/>
              </a:rPr>
              <a:t>  res</a:t>
            </a:r>
            <a:r>
              <a:rPr lang="es-CO" sz="1100" b="0" i="0">
                <a:solidFill>
                  <a:srgbClr val="93A5BD"/>
                </a:solidFill>
                <a:latin typeface="Courier New"/>
              </a:rPr>
              <a:t>.</a:t>
            </a:r>
            <a:r>
              <a:rPr lang="es-CO" sz="1100" b="0" i="0">
                <a:solidFill>
                  <a:srgbClr val="D7E1EE"/>
                </a:solidFill>
                <a:latin typeface="Courier New"/>
              </a:rPr>
              <a:t>writeHead</a:t>
            </a:r>
            <a:r>
              <a:rPr lang="es-CO" sz="1100" b="0" i="0">
                <a:solidFill>
                  <a:srgbClr val="93A5BD"/>
                </a:solidFill>
                <a:latin typeface="Courier New"/>
              </a:rPr>
              <a:t>(</a:t>
            </a:r>
            <a:r>
              <a:rPr lang="es-CO" sz="1100" b="0" i="0">
                <a:solidFill>
                  <a:srgbClr val="3DDC97"/>
                </a:solidFill>
                <a:latin typeface="Courier New"/>
              </a:rPr>
              <a:t>200</a:t>
            </a:r>
            <a:r>
              <a:rPr lang="es-CO" sz="1100" b="0" i="0">
                <a:solidFill>
                  <a:srgbClr val="93A5BD"/>
                </a:solidFill>
                <a:latin typeface="Courier New"/>
              </a:rPr>
              <a:t>,</a:t>
            </a:r>
            <a:r>
              <a:rPr lang="es-CO" sz="1100" b="0" i="0">
                <a:solidFill>
                  <a:srgbClr val="D7E1EE"/>
                </a:solidFill>
                <a:latin typeface="Courier New"/>
              </a:rPr>
              <a:t> </a:t>
            </a:r>
            <a:r>
              <a:rPr lang="es-CO" sz="1100" b="0" i="0">
                <a:solidFill>
                  <a:srgbClr val="93A5BD"/>
                </a:solidFill>
                <a:latin typeface="Courier New"/>
              </a:rPr>
              <a:t>{</a:t>
            </a:r>
          </a:p>
          <a:p>
            <a:pPr algn="l"/>
            <a:r>
              <a:rPr lang="es-CO" sz="1100" b="0" i="0">
                <a:solidFill>
                  <a:srgbClr val="D7E1EE"/>
                </a:solidFill>
                <a:latin typeface="Courier New"/>
              </a:rPr>
              <a:t>    </a:t>
            </a:r>
            <a:r>
              <a:rPr lang="es-CO" sz="1100" b="0" i="0">
                <a:solidFill>
                  <a:srgbClr val="FFD479"/>
                </a:solidFill>
                <a:latin typeface="Courier New"/>
              </a:rPr>
              <a:t>'Content-Type'</a:t>
            </a:r>
            <a:r>
              <a:rPr lang="es-CO" sz="1100" b="0" i="0">
                <a:solidFill>
                  <a:srgbClr val="93A5BD"/>
                </a:solidFill>
                <a:latin typeface="Courier New"/>
              </a:rPr>
              <a:t>:</a:t>
            </a:r>
            <a:r>
              <a:rPr lang="es-CO" sz="1100" b="0" i="0">
                <a:solidFill>
                  <a:srgbClr val="D7E1EE"/>
                </a:solidFill>
                <a:latin typeface="Courier New"/>
              </a:rPr>
              <a:t> </a:t>
            </a:r>
            <a:r>
              <a:rPr lang="es-CO" sz="1100" b="0" i="0">
                <a:solidFill>
                  <a:srgbClr val="FFD479"/>
                </a:solidFill>
                <a:latin typeface="Courier New"/>
              </a:rPr>
              <a:t>'application/json'</a:t>
            </a:r>
            <a:r>
              <a:rPr lang="es-CO" sz="1100" b="0" i="0">
                <a:solidFill>
                  <a:srgbClr val="D7E1EE"/>
                </a:solidFill>
                <a:latin typeface="Courier New"/>
              </a:rPr>
              <a:t> </a:t>
            </a:r>
            <a:r>
              <a:rPr lang="es-CO" sz="1100" b="0" i="0">
                <a:solidFill>
                  <a:srgbClr val="93A5BD"/>
                </a:solidFill>
                <a:latin typeface="Courier New"/>
              </a:rPr>
              <a:t>});</a:t>
            </a:r>
          </a:p>
          <a:p>
            <a:pPr algn="l"/>
            <a:r>
              <a:rPr lang="es-CO" sz="1100" b="0" i="0">
                <a:solidFill>
                  <a:srgbClr val="D7E1EE"/>
                </a:solidFill>
                <a:latin typeface="Courier New"/>
              </a:rPr>
              <a:t>  res</a:t>
            </a:r>
            <a:r>
              <a:rPr lang="es-CO" sz="1100" b="0" i="0">
                <a:solidFill>
                  <a:srgbClr val="93A5BD"/>
                </a:solidFill>
                <a:latin typeface="Courier New"/>
              </a:rPr>
              <a:t>.</a:t>
            </a:r>
            <a:r>
              <a:rPr lang="es-CO" sz="1100" b="0" i="0">
                <a:solidFill>
                  <a:srgbClr val="D7E1EE"/>
                </a:solidFill>
                <a:latin typeface="Courier New"/>
              </a:rPr>
              <a:t>end</a:t>
            </a:r>
            <a:r>
              <a:rPr lang="es-CO" sz="1100" b="0" i="0">
                <a:solidFill>
                  <a:srgbClr val="93A5BD"/>
                </a:solidFill>
                <a:latin typeface="Courier New"/>
              </a:rPr>
              <a:t>(</a:t>
            </a:r>
            <a:r>
              <a:rPr lang="es-CO" sz="1100" b="0" i="0">
                <a:solidFill>
                  <a:srgbClr val="D7E1EE"/>
                </a:solidFill>
                <a:latin typeface="Courier New"/>
              </a:rPr>
              <a:t>JSON</a:t>
            </a:r>
            <a:r>
              <a:rPr lang="es-CO" sz="1100" b="0" i="0">
                <a:solidFill>
                  <a:srgbClr val="93A5BD"/>
                </a:solidFill>
                <a:latin typeface="Courier New"/>
              </a:rPr>
              <a:t>.</a:t>
            </a:r>
            <a:r>
              <a:rPr lang="es-CO" sz="1100" b="0" i="0">
                <a:solidFill>
                  <a:srgbClr val="D7E1EE"/>
                </a:solidFill>
                <a:latin typeface="Courier New"/>
              </a:rPr>
              <a:t>stringify</a:t>
            </a:r>
            <a:r>
              <a:rPr lang="es-CO" sz="1100" b="0" i="0">
                <a:solidFill>
                  <a:srgbClr val="93A5BD"/>
                </a:solidFill>
                <a:latin typeface="Courier New"/>
              </a:rPr>
              <a:t>(</a:t>
            </a:r>
            <a:r>
              <a:rPr lang="es-CO" sz="1100" b="0" i="0">
                <a:solidFill>
                  <a:srgbClr val="D7E1EE"/>
                </a:solidFill>
                <a:latin typeface="Courier New"/>
              </a:rPr>
              <a:t>contactos</a:t>
            </a:r>
            <a:r>
              <a:rPr lang="es-CO" sz="1100" b="0" i="0">
                <a:solidFill>
                  <a:srgbClr val="93A5BD"/>
                </a:solidFill>
                <a:latin typeface="Courier New"/>
              </a:rPr>
              <a:t>));</a:t>
            </a:r>
          </a:p>
          <a:p>
            <a:pPr algn="l"/>
            <a:r>
              <a:rPr lang="es-CO" sz="1100" b="0" i="0">
                <a:solidFill>
                  <a:srgbClr val="93A5BD"/>
                </a:solidFill>
                <a:latin typeface="Courier New"/>
              </a:rPr>
              <a:t>}</a:t>
            </a:r>
          </a:p>
        </p:txBody>
      </p:sp>
      <p:sp>
        <p:nvSpPr>
          <p:cNvPr id="45" name="Rounded Rectangle 44"/>
          <p:cNvSpPr/>
          <p:nvPr/>
        </p:nvSpPr>
        <p:spPr>
          <a:xfrm>
            <a:off x="5394960" y="2670048"/>
            <a:ext cx="3246120" cy="1847088"/>
          </a:xfrm>
          <a:prstGeom prst="roundRect">
            <a:avLst>
              <a:gd name="adj" fmla="val 8000"/>
            </a:avLst>
          </a:prstGeom>
          <a:solidFill>
            <a:srgbClr val="1A243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46" name="TextBox 45"/>
          <p:cNvSpPr txBox="1"/>
          <p:nvPr/>
        </p:nvSpPr>
        <p:spPr>
          <a:xfrm>
            <a:off x="5522976" y="2786577"/>
            <a:ext cx="2990088" cy="169277"/>
          </a:xfrm>
          <a:prstGeom prst="rect">
            <a:avLst/>
          </a:prstGeom>
          <a:noFill/>
        </p:spPr>
        <p:txBody>
          <a:bodyPr wrap="square" lIns="0" tIns="0" rIns="0" bIns="0" anchor="ctr">
            <a:spAutoFit/>
          </a:bodyPr>
          <a:lstStyle/>
          <a:p>
            <a:pPr algn="l"/>
            <a:r>
              <a:rPr lang="es-CO" sz="1100" b="1" i="0">
                <a:solidFill>
                  <a:srgbClr val="3DDC97"/>
                </a:solidFill>
                <a:latin typeface="Arial"/>
              </a:rPr>
              <a:t>Observe</a:t>
            </a:r>
          </a:p>
        </p:txBody>
      </p:sp>
      <p:sp>
        <p:nvSpPr>
          <p:cNvPr id="47" name="TextBox 46"/>
          <p:cNvSpPr txBox="1"/>
          <p:nvPr/>
        </p:nvSpPr>
        <p:spPr>
          <a:xfrm>
            <a:off x="5522976" y="3026664"/>
            <a:ext cx="2990088" cy="792525"/>
          </a:xfrm>
          <a:prstGeom prst="rect">
            <a:avLst/>
          </a:prstGeom>
          <a:noFill/>
        </p:spPr>
        <p:txBody>
          <a:bodyPr wrap="square" lIns="0" tIns="0" rIns="0" bIns="0" anchor="t">
            <a:spAutoFit/>
          </a:bodyPr>
          <a:lstStyle/>
          <a:p>
            <a:pPr algn="l">
              <a:spcAft>
                <a:spcPts val="300"/>
              </a:spcAft>
            </a:pPr>
            <a:r>
              <a:rPr lang="es-CO" sz="1100" b="1" i="0">
                <a:solidFill>
                  <a:srgbClr val="3DDC97"/>
                </a:solidFill>
                <a:latin typeface="Calibri"/>
              </a:rPr>
              <a:t>›  </a:t>
            </a:r>
            <a:r>
              <a:rPr lang="es-CO" sz="1100" b="0" i="0">
                <a:solidFill>
                  <a:srgbClr val="E8EEF6"/>
                </a:solidFill>
                <a:latin typeface="Calibri"/>
              </a:rPr>
              <a:t>La ruta no contiene SQL.</a:t>
            </a:r>
          </a:p>
          <a:p>
            <a:pPr algn="l">
              <a:spcAft>
                <a:spcPts val="300"/>
              </a:spcAft>
            </a:pPr>
            <a:r>
              <a:rPr lang="es-CO" sz="1100" b="1" i="0">
                <a:solidFill>
                  <a:srgbClr val="3DDC97"/>
                </a:solidFill>
                <a:latin typeface="Calibri"/>
              </a:rPr>
              <a:t>›  </a:t>
            </a:r>
            <a:r>
              <a:rPr lang="es-CO" sz="1100" b="0" i="0">
                <a:solidFill>
                  <a:srgbClr val="E8EEF6"/>
                </a:solidFill>
                <a:latin typeface="Calibri"/>
              </a:rPr>
              <a:t>El controlador no conoce la tabla contactos.</a:t>
            </a:r>
          </a:p>
          <a:p>
            <a:pPr algn="l">
              <a:spcAft>
                <a:spcPts val="300"/>
              </a:spcAft>
            </a:pPr>
            <a:r>
              <a:rPr lang="es-CO" sz="1100" b="1" i="0">
                <a:solidFill>
                  <a:srgbClr val="3DDC97"/>
                </a:solidFill>
                <a:latin typeface="Calibri"/>
              </a:rPr>
              <a:t>›  </a:t>
            </a:r>
            <a:r>
              <a:rPr lang="es-CO" sz="1100" b="0" i="0">
                <a:solidFill>
                  <a:srgbClr val="E8EEF6"/>
                </a:solidFill>
                <a:latin typeface="Calibri"/>
              </a:rPr>
              <a:t>El modelo no sabe que la respuesta será JSON.</a:t>
            </a:r>
          </a:p>
          <a:p>
            <a:pPr algn="l">
              <a:spcAft>
                <a:spcPts val="300"/>
              </a:spcAft>
            </a:pPr>
            <a:r>
              <a:rPr lang="es-CO" sz="1100" b="1" i="0">
                <a:solidFill>
                  <a:srgbClr val="3DDC97"/>
                </a:solidFill>
                <a:latin typeface="Calibri"/>
              </a:rPr>
              <a:t>›  </a:t>
            </a:r>
            <a:r>
              <a:rPr lang="es-CO" sz="1100" b="0" i="0">
                <a:solidFill>
                  <a:srgbClr val="E8EEF6"/>
                </a:solidFill>
                <a:latin typeface="Calibri"/>
              </a:rPr>
              <a:t>La tabla HTML se arma en el navegador.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101B"/>
        </a:solidFill>
        <a:effectLst/>
      </p:bgPr>
    </p:bg>
    <p:spTree>
      <p:nvGrpSpPr>
        <p:cNvPr id="1" name=""/>
        <p:cNvGrpSpPr/>
        <p:nvPr/>
      </p:nvGrpSpPr>
      <p:grpSpPr>
        <a:xfrm>
          <a:off x="0" y="0"/>
          <a:ext cx="0" cy="0"/>
          <a:chOff x="0" y="0"/>
          <a:chExt cx="0" cy="0"/>
        </a:xfrm>
      </p:grpSpPr>
      <p:sp>
        <p:nvSpPr>
          <p:cNvPr id="2" name="TextBox 1"/>
          <p:cNvSpPr txBox="1"/>
          <p:nvPr/>
        </p:nvSpPr>
        <p:spPr>
          <a:xfrm>
            <a:off x="6309360" y="4718304"/>
            <a:ext cx="2331720" cy="201168"/>
          </a:xfrm>
          <a:prstGeom prst="rect">
            <a:avLst/>
          </a:prstGeom>
          <a:noFill/>
        </p:spPr>
        <p:txBody>
          <a:bodyPr wrap="square" lIns="0" tIns="0" rIns="0" bIns="0" anchor="ctr">
            <a:spAutoFit/>
          </a:bodyPr>
          <a:lstStyle/>
          <a:p>
            <a:pPr algn="r"/>
            <a:r>
              <a:rPr lang="es-CO" sz="800" b="0" i="0">
                <a:solidFill>
                  <a:srgbClr val="6C7E96"/>
                </a:solidFill>
                <a:latin typeface="Arial"/>
              </a:rPr>
              <a:t>Ingeniería Web  ·  11 / 24</a:t>
            </a:r>
          </a:p>
        </p:txBody>
      </p:sp>
      <p:sp>
        <p:nvSpPr>
          <p:cNvPr id="3" name="Rounded Rectangle 2"/>
          <p:cNvSpPr/>
          <p:nvPr/>
        </p:nvSpPr>
        <p:spPr>
          <a:xfrm>
            <a:off x="502920" y="365760"/>
            <a:ext cx="1243584" cy="228600"/>
          </a:xfrm>
          <a:prstGeom prst="roundRect">
            <a:avLst>
              <a:gd name="adj" fmla="val 50000"/>
            </a:avLst>
          </a:prstGeom>
          <a:solidFill>
            <a:srgbClr val="132A24"/>
          </a:solidFill>
          <a:ln w="952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502920" y="365760"/>
            <a:ext cx="1243584" cy="228600"/>
          </a:xfrm>
          <a:prstGeom prst="rect">
            <a:avLst/>
          </a:prstGeom>
          <a:noFill/>
        </p:spPr>
        <p:txBody>
          <a:bodyPr wrap="square" lIns="0" tIns="0" rIns="0" bIns="0" anchor="ctr">
            <a:spAutoFit/>
          </a:bodyPr>
          <a:lstStyle/>
          <a:p>
            <a:pPr algn="ctr"/>
            <a:r>
              <a:rPr lang="es-CO" sz="850" b="1" i="0">
                <a:solidFill>
                  <a:srgbClr val="3DDC97"/>
                </a:solidFill>
                <a:latin typeface="Arial"/>
              </a:rPr>
              <a:t>RECORRIDO</a:t>
            </a:r>
          </a:p>
        </p:txBody>
      </p:sp>
      <p:sp>
        <p:nvSpPr>
          <p:cNvPr id="5" name="Título"/>
          <p:cNvSpPr txBox="1"/>
          <p:nvPr/>
        </p:nvSpPr>
        <p:spPr>
          <a:xfrm>
            <a:off x="475488" y="658368"/>
            <a:ext cx="8138160" cy="438912"/>
          </a:xfrm>
          <a:prstGeom prst="rect">
            <a:avLst/>
          </a:prstGeom>
          <a:noFill/>
        </p:spPr>
        <p:txBody>
          <a:bodyPr wrap="square" lIns="0" tIns="0" rIns="0" bIns="0" anchor="ctr">
            <a:spAutoFit/>
          </a:bodyPr>
          <a:lstStyle/>
          <a:p>
            <a:pPr algn="l"/>
            <a:r>
              <a:rPr lang="es-CO" sz="2600" b="1" i="0">
                <a:solidFill>
                  <a:srgbClr val="FFFFFF"/>
                </a:solidFill>
                <a:latin typeface="Arial"/>
              </a:rPr>
              <a:t>Recorrido de un registro: POST /contacto</a:t>
            </a:r>
          </a:p>
        </p:txBody>
      </p:sp>
      <p:sp>
        <p:nvSpPr>
          <p:cNvPr id="6" name="Rounded Rectangle 5"/>
          <p:cNvSpPr/>
          <p:nvPr/>
        </p:nvSpPr>
        <p:spPr>
          <a:xfrm>
            <a:off x="502920" y="1261872"/>
            <a:ext cx="1481328" cy="621792"/>
          </a:xfrm>
          <a:prstGeom prst="roundRect">
            <a:avLst>
              <a:gd name="adj" fmla="val 8000"/>
            </a:avLst>
          </a:prstGeom>
          <a:solidFill>
            <a:srgbClr val="1A243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7" name="TextBox 6"/>
          <p:cNvSpPr txBox="1"/>
          <p:nvPr/>
        </p:nvSpPr>
        <p:spPr>
          <a:xfrm>
            <a:off x="594360" y="1350969"/>
            <a:ext cx="1298448" cy="169277"/>
          </a:xfrm>
          <a:prstGeom prst="rect">
            <a:avLst/>
          </a:prstGeom>
          <a:noFill/>
        </p:spPr>
        <p:txBody>
          <a:bodyPr wrap="square" lIns="0" tIns="0" rIns="0" bIns="0" anchor="ctr">
            <a:spAutoFit/>
          </a:bodyPr>
          <a:lstStyle/>
          <a:p>
            <a:pPr algn="l"/>
            <a:r>
              <a:rPr lang="es-CO" sz="1100" b="1" i="0">
                <a:solidFill>
                  <a:srgbClr val="FFFFFF"/>
                </a:solidFill>
                <a:latin typeface="Arial"/>
              </a:rPr>
              <a:t>Formulario</a:t>
            </a:r>
          </a:p>
        </p:txBody>
      </p:sp>
      <p:sp>
        <p:nvSpPr>
          <p:cNvPr id="8" name="TextBox 7"/>
          <p:cNvSpPr txBox="1"/>
          <p:nvPr/>
        </p:nvSpPr>
        <p:spPr>
          <a:xfrm>
            <a:off x="594360" y="1597857"/>
            <a:ext cx="1298448" cy="169277"/>
          </a:xfrm>
          <a:prstGeom prst="rect">
            <a:avLst/>
          </a:prstGeom>
          <a:noFill/>
        </p:spPr>
        <p:txBody>
          <a:bodyPr wrap="square" lIns="0" tIns="0" rIns="0" bIns="0" anchor="ctr">
            <a:spAutoFit/>
          </a:bodyPr>
          <a:lstStyle/>
          <a:p>
            <a:pPr algn="l"/>
            <a:r>
              <a:rPr lang="es-CO" sz="1100" b="0" i="0">
                <a:solidFill>
                  <a:srgbClr val="93A5BD"/>
                </a:solidFill>
                <a:latin typeface="Courier New"/>
              </a:rPr>
              <a:t>contacto.html</a:t>
            </a:r>
          </a:p>
        </p:txBody>
      </p:sp>
      <p:sp>
        <p:nvSpPr>
          <p:cNvPr id="9" name="Rounded Rectangle 8"/>
          <p:cNvSpPr/>
          <p:nvPr/>
        </p:nvSpPr>
        <p:spPr>
          <a:xfrm>
            <a:off x="2194560" y="1261872"/>
            <a:ext cx="1481328" cy="621792"/>
          </a:xfrm>
          <a:prstGeom prst="roundRect">
            <a:avLst>
              <a:gd name="adj" fmla="val 8000"/>
            </a:avLst>
          </a:prstGeom>
          <a:solidFill>
            <a:srgbClr val="1A2434"/>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10" name="TextBox 9"/>
          <p:cNvSpPr txBox="1"/>
          <p:nvPr/>
        </p:nvSpPr>
        <p:spPr>
          <a:xfrm>
            <a:off x="2286000" y="1350969"/>
            <a:ext cx="1298448" cy="169277"/>
          </a:xfrm>
          <a:prstGeom prst="rect">
            <a:avLst/>
          </a:prstGeom>
          <a:noFill/>
        </p:spPr>
        <p:txBody>
          <a:bodyPr wrap="square" lIns="0" tIns="0" rIns="0" bIns="0" anchor="ctr">
            <a:spAutoFit/>
          </a:bodyPr>
          <a:lstStyle/>
          <a:p>
            <a:pPr algn="l"/>
            <a:r>
              <a:rPr lang="es-CO" sz="1100" b="1" i="0">
                <a:solidFill>
                  <a:srgbClr val="56C7F2"/>
                </a:solidFill>
                <a:latin typeface="Arial"/>
              </a:rPr>
              <a:t>rutas.js</a:t>
            </a:r>
          </a:p>
        </p:txBody>
      </p:sp>
      <p:sp>
        <p:nvSpPr>
          <p:cNvPr id="11" name="TextBox 10"/>
          <p:cNvSpPr txBox="1"/>
          <p:nvPr/>
        </p:nvSpPr>
        <p:spPr>
          <a:xfrm>
            <a:off x="2286000" y="1597857"/>
            <a:ext cx="1298448" cy="169277"/>
          </a:xfrm>
          <a:prstGeom prst="rect">
            <a:avLst/>
          </a:prstGeom>
          <a:noFill/>
        </p:spPr>
        <p:txBody>
          <a:bodyPr wrap="square" lIns="0" tIns="0" rIns="0" bIns="0" anchor="ctr">
            <a:spAutoFit/>
          </a:bodyPr>
          <a:lstStyle/>
          <a:p>
            <a:pPr algn="l"/>
            <a:r>
              <a:rPr lang="es-CO" sz="1100" b="0" i="0">
                <a:solidFill>
                  <a:srgbClr val="93A5BD"/>
                </a:solidFill>
                <a:latin typeface="Courier New"/>
              </a:rPr>
              <a:t>POST /contacto</a:t>
            </a:r>
          </a:p>
        </p:txBody>
      </p:sp>
      <p:sp>
        <p:nvSpPr>
          <p:cNvPr id="12" name="Rounded Rectangle 11"/>
          <p:cNvSpPr/>
          <p:nvPr/>
        </p:nvSpPr>
        <p:spPr>
          <a:xfrm>
            <a:off x="3886200" y="1261872"/>
            <a:ext cx="1481328" cy="621792"/>
          </a:xfrm>
          <a:prstGeom prst="roundRect">
            <a:avLst>
              <a:gd name="adj" fmla="val 8000"/>
            </a:avLst>
          </a:prstGeom>
          <a:solidFill>
            <a:srgbClr val="1A2434"/>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13" name="TextBox 12"/>
          <p:cNvSpPr txBox="1"/>
          <p:nvPr/>
        </p:nvSpPr>
        <p:spPr>
          <a:xfrm>
            <a:off x="3977640" y="1350969"/>
            <a:ext cx="1298448" cy="169277"/>
          </a:xfrm>
          <a:prstGeom prst="rect">
            <a:avLst/>
          </a:prstGeom>
          <a:noFill/>
        </p:spPr>
        <p:txBody>
          <a:bodyPr wrap="square" lIns="0" tIns="0" rIns="0" bIns="0" anchor="ctr">
            <a:spAutoFit/>
          </a:bodyPr>
          <a:lstStyle/>
          <a:p>
            <a:pPr algn="l"/>
            <a:r>
              <a:rPr lang="es-CO" sz="1100" b="1" i="0">
                <a:solidFill>
                  <a:srgbClr val="56C7F2"/>
                </a:solidFill>
                <a:latin typeface="Arial"/>
              </a:rPr>
              <a:t>Controlador</a:t>
            </a:r>
          </a:p>
        </p:txBody>
      </p:sp>
      <p:sp>
        <p:nvSpPr>
          <p:cNvPr id="14" name="TextBox 13"/>
          <p:cNvSpPr txBox="1"/>
          <p:nvPr/>
        </p:nvSpPr>
        <p:spPr>
          <a:xfrm>
            <a:off x="3977640" y="1597857"/>
            <a:ext cx="1298448" cy="169277"/>
          </a:xfrm>
          <a:prstGeom prst="rect">
            <a:avLst/>
          </a:prstGeom>
          <a:noFill/>
        </p:spPr>
        <p:txBody>
          <a:bodyPr wrap="square" lIns="0" tIns="0" rIns="0" bIns="0" anchor="ctr">
            <a:spAutoFit/>
          </a:bodyPr>
          <a:lstStyle/>
          <a:p>
            <a:pPr algn="l"/>
            <a:r>
              <a:rPr lang="es-CO" sz="1100" b="0" i="0">
                <a:solidFill>
                  <a:srgbClr val="93A5BD"/>
                </a:solidFill>
                <a:latin typeface="Courier New"/>
              </a:rPr>
              <a:t>registrar()</a:t>
            </a:r>
          </a:p>
        </p:txBody>
      </p:sp>
      <p:sp>
        <p:nvSpPr>
          <p:cNvPr id="15" name="Rounded Rectangle 14"/>
          <p:cNvSpPr/>
          <p:nvPr/>
        </p:nvSpPr>
        <p:spPr>
          <a:xfrm>
            <a:off x="5577840" y="1261872"/>
            <a:ext cx="1481328" cy="621792"/>
          </a:xfrm>
          <a:prstGeom prst="roundRect">
            <a:avLst>
              <a:gd name="adj" fmla="val 8000"/>
            </a:avLst>
          </a:prstGeom>
          <a:solidFill>
            <a:srgbClr val="1A243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16" name="TextBox 15"/>
          <p:cNvSpPr txBox="1"/>
          <p:nvPr/>
        </p:nvSpPr>
        <p:spPr>
          <a:xfrm>
            <a:off x="5669280" y="1350969"/>
            <a:ext cx="1298448" cy="169277"/>
          </a:xfrm>
          <a:prstGeom prst="rect">
            <a:avLst/>
          </a:prstGeom>
          <a:noFill/>
        </p:spPr>
        <p:txBody>
          <a:bodyPr wrap="square" lIns="0" tIns="0" rIns="0" bIns="0" anchor="ctr">
            <a:spAutoFit/>
          </a:bodyPr>
          <a:lstStyle/>
          <a:p>
            <a:pPr algn="l"/>
            <a:r>
              <a:rPr lang="es-CO" sz="1100" b="1" i="0">
                <a:solidFill>
                  <a:srgbClr val="3DDC97"/>
                </a:solidFill>
                <a:latin typeface="Arial"/>
              </a:rPr>
              <a:t>Modelo</a:t>
            </a:r>
          </a:p>
        </p:txBody>
      </p:sp>
      <p:sp>
        <p:nvSpPr>
          <p:cNvPr id="17" name="TextBox 16"/>
          <p:cNvSpPr txBox="1"/>
          <p:nvPr/>
        </p:nvSpPr>
        <p:spPr>
          <a:xfrm>
            <a:off x="5669280" y="1513219"/>
            <a:ext cx="1298448" cy="338554"/>
          </a:xfrm>
          <a:prstGeom prst="rect">
            <a:avLst/>
          </a:prstGeom>
          <a:noFill/>
        </p:spPr>
        <p:txBody>
          <a:bodyPr wrap="square" lIns="0" tIns="0" rIns="0" bIns="0" anchor="ctr">
            <a:spAutoFit/>
          </a:bodyPr>
          <a:lstStyle/>
          <a:p>
            <a:pPr algn="l"/>
            <a:r>
              <a:rPr lang="es-CO" sz="1100" b="0" i="0">
                <a:solidFill>
                  <a:srgbClr val="93A5BD"/>
                </a:solidFill>
                <a:latin typeface="Courier New"/>
              </a:rPr>
              <a:t>registrar(datos)</a:t>
            </a:r>
          </a:p>
        </p:txBody>
      </p:sp>
      <p:cxnSp>
        <p:nvCxnSpPr>
          <p:cNvPr id="18" name="Connector 17"/>
          <p:cNvCxnSpPr/>
          <p:nvPr/>
        </p:nvCxnSpPr>
        <p:spPr>
          <a:xfrm>
            <a:off x="2002536" y="1572768"/>
            <a:ext cx="173736" cy="0"/>
          </a:xfrm>
          <a:prstGeom prst="line">
            <a:avLst/>
          </a:prstGeom>
          <a:ln w="15875">
            <a:solidFill>
              <a:srgbClr val="93A5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694176" y="1572768"/>
            <a:ext cx="173736" cy="0"/>
          </a:xfrm>
          <a:prstGeom prst="line">
            <a:avLst/>
          </a:prstGeom>
          <a:ln w="15875">
            <a:solidFill>
              <a:srgbClr val="93A5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385816" y="1572768"/>
            <a:ext cx="173736" cy="0"/>
          </a:xfrm>
          <a:prstGeom prst="line">
            <a:avLst/>
          </a:prstGeom>
          <a:ln w="15875">
            <a:solidFill>
              <a:srgbClr val="93A5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360920" y="1261872"/>
            <a:ext cx="1280160" cy="621792"/>
          </a:xfrm>
          <a:prstGeom prst="roundRect">
            <a:avLst>
              <a:gd name="adj" fmla="val 8000"/>
            </a:avLst>
          </a:prstGeom>
          <a:solidFill>
            <a:srgbClr val="1A2434"/>
          </a:solidFill>
          <a:ln w="12700">
            <a:solidFill>
              <a:srgbClr val="FFB86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22" name="TextBox 21"/>
          <p:cNvSpPr txBox="1"/>
          <p:nvPr/>
        </p:nvSpPr>
        <p:spPr>
          <a:xfrm>
            <a:off x="7424928" y="1350969"/>
            <a:ext cx="1152144" cy="169277"/>
          </a:xfrm>
          <a:prstGeom prst="rect">
            <a:avLst/>
          </a:prstGeom>
          <a:noFill/>
        </p:spPr>
        <p:txBody>
          <a:bodyPr wrap="square" lIns="0" tIns="0" rIns="0" bIns="0" anchor="ctr">
            <a:spAutoFit/>
          </a:bodyPr>
          <a:lstStyle/>
          <a:p>
            <a:pPr algn="l"/>
            <a:r>
              <a:rPr lang="es-CO" sz="1100" b="1" i="0">
                <a:solidFill>
                  <a:srgbClr val="FFB86C"/>
                </a:solidFill>
                <a:latin typeface="Arial"/>
              </a:rPr>
              <a:t>Repositorio</a:t>
            </a:r>
          </a:p>
        </p:txBody>
      </p:sp>
      <p:sp>
        <p:nvSpPr>
          <p:cNvPr id="23" name="TextBox 22"/>
          <p:cNvSpPr txBox="1"/>
          <p:nvPr/>
        </p:nvSpPr>
        <p:spPr>
          <a:xfrm>
            <a:off x="7424928" y="1597857"/>
            <a:ext cx="1152144" cy="169277"/>
          </a:xfrm>
          <a:prstGeom prst="rect">
            <a:avLst/>
          </a:prstGeom>
          <a:noFill/>
        </p:spPr>
        <p:txBody>
          <a:bodyPr wrap="square" lIns="0" tIns="0" rIns="0" bIns="0" anchor="ctr">
            <a:spAutoFit/>
          </a:bodyPr>
          <a:lstStyle/>
          <a:p>
            <a:pPr algn="l"/>
            <a:r>
              <a:rPr lang="es-CO" sz="1100" b="0" i="0">
                <a:solidFill>
                  <a:srgbClr val="93A5BD"/>
                </a:solidFill>
                <a:latin typeface="Courier New"/>
              </a:rPr>
              <a:t>si es válido</a:t>
            </a:r>
          </a:p>
        </p:txBody>
      </p:sp>
      <p:cxnSp>
        <p:nvCxnSpPr>
          <p:cNvPr id="24" name="Connector 23"/>
          <p:cNvCxnSpPr/>
          <p:nvPr/>
        </p:nvCxnSpPr>
        <p:spPr>
          <a:xfrm>
            <a:off x="7077456" y="1572768"/>
            <a:ext cx="265176" cy="0"/>
          </a:xfrm>
          <a:prstGeom prst="line">
            <a:avLst/>
          </a:prstGeom>
          <a:ln w="15875">
            <a:solidFill>
              <a:srgbClr val="3DDC9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452360" y="2066544"/>
            <a:ext cx="1097280" cy="256032"/>
          </a:xfrm>
          <a:prstGeom prst="roundRect">
            <a:avLst>
              <a:gd name="adj" fmla="val 13333"/>
            </a:avLst>
          </a:prstGeom>
          <a:solidFill>
            <a:srgbClr val="1A2434"/>
          </a:solidFill>
          <a:ln w="12700">
            <a:solidFill>
              <a:srgbClr val="FFD47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26" name="TextBox 25"/>
          <p:cNvSpPr txBox="1"/>
          <p:nvPr/>
        </p:nvSpPr>
        <p:spPr>
          <a:xfrm>
            <a:off x="7488936" y="2109921"/>
            <a:ext cx="1024128" cy="169277"/>
          </a:xfrm>
          <a:prstGeom prst="rect">
            <a:avLst/>
          </a:prstGeom>
          <a:noFill/>
        </p:spPr>
        <p:txBody>
          <a:bodyPr wrap="square" lIns="0" tIns="0" rIns="0" bIns="0" anchor="ctr">
            <a:spAutoFit/>
          </a:bodyPr>
          <a:lstStyle/>
          <a:p>
            <a:pPr algn="ctr"/>
            <a:r>
              <a:rPr lang="es-CO" sz="1100" b="1" i="0">
                <a:solidFill>
                  <a:srgbClr val="FFD479"/>
                </a:solidFill>
                <a:latin typeface="Courier New"/>
              </a:rPr>
              <a:t>contactos.db</a:t>
            </a:r>
          </a:p>
        </p:txBody>
      </p:sp>
      <p:cxnSp>
        <p:nvCxnSpPr>
          <p:cNvPr id="27" name="Connector 26"/>
          <p:cNvCxnSpPr/>
          <p:nvPr/>
        </p:nvCxnSpPr>
        <p:spPr>
          <a:xfrm>
            <a:off x="8001000" y="1901952"/>
            <a:ext cx="0" cy="146304"/>
          </a:xfrm>
          <a:prstGeom prst="line">
            <a:avLst/>
          </a:prstGeom>
          <a:ln w="15875">
            <a:solidFill>
              <a:srgbClr val="93A5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5577840" y="2139696"/>
            <a:ext cx="1481328" cy="475488"/>
          </a:xfrm>
          <a:prstGeom prst="roundRect">
            <a:avLst>
              <a:gd name="adj" fmla="val 8000"/>
            </a:avLst>
          </a:prstGeom>
          <a:solidFill>
            <a:srgbClr val="1A2434"/>
          </a:solidFill>
          <a:ln w="12700">
            <a:solidFill>
              <a:srgbClr val="FF6B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29" name="TextBox 28"/>
          <p:cNvSpPr txBox="1"/>
          <p:nvPr/>
        </p:nvSpPr>
        <p:spPr>
          <a:xfrm>
            <a:off x="5577840" y="2208163"/>
            <a:ext cx="1481328" cy="338554"/>
          </a:xfrm>
          <a:prstGeom prst="rect">
            <a:avLst/>
          </a:prstGeom>
          <a:noFill/>
        </p:spPr>
        <p:txBody>
          <a:bodyPr wrap="square" lIns="0" tIns="0" rIns="0" bIns="0" anchor="ctr">
            <a:spAutoFit/>
          </a:bodyPr>
          <a:lstStyle/>
          <a:p>
            <a:pPr algn="ctr"/>
            <a:r>
              <a:rPr lang="es-CO" sz="1100" b="1" i="0">
                <a:solidFill>
                  <a:srgbClr val="FF6B6B"/>
                </a:solidFill>
                <a:latin typeface="Courier New"/>
              </a:rPr>
              <a:t>400</a:t>
            </a:r>
            <a:r>
              <a:rPr lang="es-CO" sz="1100" b="0" i="0">
                <a:solidFill>
                  <a:srgbClr val="E8EEF6"/>
                </a:solidFill>
                <a:latin typeface="Calibri"/>
              </a:rPr>
              <a:t> · vista de error</a:t>
            </a:r>
          </a:p>
          <a:p>
            <a:pPr algn="ctr"/>
            <a:r>
              <a:rPr lang="es-CO" sz="1100" b="0" i="0">
                <a:solidFill>
                  <a:srgbClr val="93A5BD"/>
                </a:solidFill>
                <a:latin typeface="Calibri"/>
              </a:rPr>
              <a:t>no llega al repositorio</a:t>
            </a:r>
          </a:p>
        </p:txBody>
      </p:sp>
      <p:cxnSp>
        <p:nvCxnSpPr>
          <p:cNvPr id="30" name="Connector 29"/>
          <p:cNvCxnSpPr/>
          <p:nvPr/>
        </p:nvCxnSpPr>
        <p:spPr>
          <a:xfrm>
            <a:off x="6318504" y="1901952"/>
            <a:ext cx="0" cy="219456"/>
          </a:xfrm>
          <a:prstGeom prst="line">
            <a:avLst/>
          </a:prstGeom>
          <a:ln w="15875">
            <a:solidFill>
              <a:srgbClr val="FF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400800" y="1920240"/>
            <a:ext cx="731520" cy="169277"/>
          </a:xfrm>
          <a:prstGeom prst="rect">
            <a:avLst/>
          </a:prstGeom>
          <a:noFill/>
        </p:spPr>
        <p:txBody>
          <a:bodyPr wrap="square" lIns="0" tIns="0" rIns="0" bIns="0" anchor="t">
            <a:spAutoFit/>
          </a:bodyPr>
          <a:lstStyle/>
          <a:p>
            <a:pPr algn="l"/>
            <a:r>
              <a:rPr lang="es-CO" sz="1100" b="0" i="0">
                <a:solidFill>
                  <a:srgbClr val="FF6B6B"/>
                </a:solidFill>
                <a:latin typeface="Courier New"/>
              </a:rPr>
              <a:t>inválido</a:t>
            </a:r>
          </a:p>
        </p:txBody>
      </p:sp>
      <p:sp>
        <p:nvSpPr>
          <p:cNvPr id="32" name="Rounded Rectangle 31"/>
          <p:cNvSpPr/>
          <p:nvPr/>
        </p:nvSpPr>
        <p:spPr>
          <a:xfrm>
            <a:off x="7360920" y="2468880"/>
            <a:ext cx="1280160" cy="475488"/>
          </a:xfrm>
          <a:prstGeom prst="roundRect">
            <a:avLst>
              <a:gd name="adj" fmla="val 8000"/>
            </a:avLst>
          </a:prstGeom>
          <a:solidFill>
            <a:srgbClr val="1A243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33" name="TextBox 32"/>
          <p:cNvSpPr txBox="1"/>
          <p:nvPr/>
        </p:nvSpPr>
        <p:spPr>
          <a:xfrm>
            <a:off x="7360920" y="2621985"/>
            <a:ext cx="1280160" cy="169277"/>
          </a:xfrm>
          <a:prstGeom prst="rect">
            <a:avLst/>
          </a:prstGeom>
          <a:noFill/>
        </p:spPr>
        <p:txBody>
          <a:bodyPr wrap="square" lIns="0" tIns="0" rIns="0" bIns="0" anchor="ctr">
            <a:spAutoFit/>
          </a:bodyPr>
          <a:lstStyle/>
          <a:p>
            <a:pPr algn="ctr"/>
            <a:r>
              <a:rPr lang="es-CO" sz="1100" b="1" i="0">
                <a:solidFill>
                  <a:srgbClr val="3DDC97"/>
                </a:solidFill>
                <a:latin typeface="Courier New"/>
              </a:rPr>
              <a:t>201</a:t>
            </a:r>
            <a:r>
              <a:rPr lang="es-CO" sz="1100" b="0" i="0">
                <a:solidFill>
                  <a:srgbClr val="E8EEF6"/>
                </a:solidFill>
                <a:latin typeface="Calibri"/>
              </a:rPr>
              <a:t> · confirmación</a:t>
            </a:r>
          </a:p>
        </p:txBody>
      </p:sp>
      <p:cxnSp>
        <p:nvCxnSpPr>
          <p:cNvPr id="34" name="Connector 33"/>
          <p:cNvCxnSpPr/>
          <p:nvPr/>
        </p:nvCxnSpPr>
        <p:spPr>
          <a:xfrm>
            <a:off x="8001000" y="2340864"/>
            <a:ext cx="0" cy="109728"/>
          </a:xfrm>
          <a:prstGeom prst="line">
            <a:avLst/>
          </a:prstGeom>
          <a:ln w="15875">
            <a:solidFill>
              <a:srgbClr val="93A5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502920" y="1988820"/>
            <a:ext cx="1954530" cy="182880"/>
          </a:xfrm>
          <a:prstGeom prst="roundRect">
            <a:avLst>
              <a:gd name="adj" fmla="val 50000"/>
            </a:avLst>
          </a:prstGeom>
          <a:solidFill>
            <a:srgbClr val="0F2533"/>
          </a:solidFill>
          <a:ln w="9525">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36" name="TextBox 35"/>
          <p:cNvSpPr txBox="1"/>
          <p:nvPr/>
        </p:nvSpPr>
        <p:spPr>
          <a:xfrm>
            <a:off x="551688" y="2000175"/>
            <a:ext cx="1935479" cy="169277"/>
          </a:xfrm>
          <a:prstGeom prst="rect">
            <a:avLst/>
          </a:prstGeom>
          <a:noFill/>
        </p:spPr>
        <p:txBody>
          <a:bodyPr wrap="square" lIns="0" tIns="0" rIns="0" bIns="0" anchor="ctr">
            <a:spAutoFit/>
          </a:bodyPr>
          <a:lstStyle/>
          <a:p>
            <a:pPr algn="ctr"/>
            <a:r>
              <a:rPr lang="es-CO" sz="1100" b="1" i="0">
                <a:solidFill>
                  <a:srgbClr val="56C7F2"/>
                </a:solidFill>
                <a:latin typeface="Arial"/>
              </a:rPr>
              <a:t>EJEMPLO ILUSTRATIVO</a:t>
            </a:r>
          </a:p>
        </p:txBody>
      </p:sp>
      <p:sp>
        <p:nvSpPr>
          <p:cNvPr id="37" name="Rounded Rectangle 36"/>
          <p:cNvSpPr/>
          <p:nvPr/>
        </p:nvSpPr>
        <p:spPr>
          <a:xfrm>
            <a:off x="502920" y="2226564"/>
            <a:ext cx="4846320" cy="2802636"/>
          </a:xfrm>
          <a:prstGeom prst="roundRect">
            <a:avLst>
              <a:gd name="adj" fmla="val 8000"/>
            </a:avLst>
          </a:prstGeom>
          <a:solidFill>
            <a:srgbClr val="070C1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38" name="TextBox 37"/>
          <p:cNvSpPr txBox="1"/>
          <p:nvPr/>
        </p:nvSpPr>
        <p:spPr>
          <a:xfrm>
            <a:off x="649224" y="2306517"/>
            <a:ext cx="4553712" cy="169277"/>
          </a:xfrm>
          <a:prstGeom prst="rect">
            <a:avLst/>
          </a:prstGeom>
          <a:noFill/>
        </p:spPr>
        <p:txBody>
          <a:bodyPr wrap="square" lIns="0" tIns="0" rIns="0" bIns="0" anchor="ctr">
            <a:spAutoFit/>
          </a:bodyPr>
          <a:lstStyle/>
          <a:p>
            <a:pPr algn="l"/>
            <a:r>
              <a:rPr lang="es-CO" sz="1100" b="1" i="0">
                <a:solidFill>
                  <a:srgbClr val="56C7F2"/>
                </a:solidFill>
                <a:latin typeface="Courier New"/>
              </a:rPr>
              <a:t>controllers/contactoController.js</a:t>
            </a:r>
          </a:p>
        </p:txBody>
      </p:sp>
      <p:sp>
        <p:nvSpPr>
          <p:cNvPr id="39" name="TextBox 38"/>
          <p:cNvSpPr txBox="1"/>
          <p:nvPr/>
        </p:nvSpPr>
        <p:spPr>
          <a:xfrm>
            <a:off x="649224" y="2500884"/>
            <a:ext cx="4553712" cy="2539157"/>
          </a:xfrm>
          <a:prstGeom prst="rect">
            <a:avLst/>
          </a:prstGeom>
          <a:noFill/>
        </p:spPr>
        <p:txBody>
          <a:bodyPr wrap="square" lIns="0" tIns="0" rIns="0" bIns="0" anchor="t">
            <a:spAutoFit/>
          </a:bodyPr>
          <a:lstStyle/>
          <a:p>
            <a:pPr algn="l"/>
            <a:r>
              <a:rPr lang="es-CO" sz="1100" b="0" i="0" dirty="0" err="1">
                <a:solidFill>
                  <a:srgbClr val="FFB86C"/>
                </a:solidFill>
                <a:latin typeface="Courier New"/>
              </a:rPr>
              <a:t>function</a:t>
            </a:r>
            <a:r>
              <a:rPr lang="es-CO" sz="1100" b="0" i="0" dirty="0">
                <a:solidFill>
                  <a:srgbClr val="D7E1EE"/>
                </a:solidFill>
                <a:latin typeface="Courier New"/>
              </a:rPr>
              <a:t> registrar</a:t>
            </a:r>
            <a:r>
              <a:rPr lang="es-CO" sz="1100" b="0" i="0" dirty="0">
                <a:solidFill>
                  <a:srgbClr val="93A5BD"/>
                </a:solidFill>
                <a:latin typeface="Courier New"/>
              </a:rPr>
              <a:t>(</a:t>
            </a:r>
            <a:r>
              <a:rPr lang="es-CO" sz="1100" b="0" i="0" dirty="0" err="1">
                <a:solidFill>
                  <a:srgbClr val="D7E1EE"/>
                </a:solidFill>
                <a:latin typeface="Courier New"/>
              </a:rPr>
              <a:t>req</a:t>
            </a:r>
            <a:r>
              <a:rPr lang="es-CO" sz="1100" b="0" i="0" dirty="0">
                <a:solidFill>
                  <a:srgbClr val="93A5BD"/>
                </a:solidFill>
                <a:latin typeface="Courier New"/>
              </a:rPr>
              <a:t>,</a:t>
            </a:r>
            <a:r>
              <a:rPr lang="es-CO" sz="1100" b="0" i="0" dirty="0">
                <a:solidFill>
                  <a:srgbClr val="D7E1EE"/>
                </a:solidFill>
                <a:latin typeface="Courier New"/>
              </a:rPr>
              <a:t> res</a:t>
            </a:r>
            <a:r>
              <a:rPr lang="es-CO" sz="1100" b="0" i="0" dirty="0">
                <a:solidFill>
                  <a:srgbClr val="93A5BD"/>
                </a:solidFill>
                <a:latin typeface="Courier New"/>
              </a:rPr>
              <a:t>)</a:t>
            </a:r>
            <a:r>
              <a:rPr lang="es-CO" sz="1100" b="0" i="0" dirty="0">
                <a:solidFill>
                  <a:srgbClr val="D7E1EE"/>
                </a:solidFill>
                <a:latin typeface="Courier New"/>
              </a:rPr>
              <a:t> </a:t>
            </a:r>
            <a:r>
              <a:rPr lang="es-CO" sz="1100" b="0" i="0" dirty="0">
                <a:solidFill>
                  <a:srgbClr val="93A5BD"/>
                </a:solidFill>
                <a:latin typeface="Courier New"/>
              </a:rPr>
              <a:t>{</a:t>
            </a:r>
          </a:p>
          <a:p>
            <a:pPr algn="l"/>
            <a:r>
              <a:rPr lang="es-CO" sz="1100" b="0" i="0" dirty="0">
                <a:solidFill>
                  <a:srgbClr val="D7E1EE"/>
                </a:solidFill>
                <a:latin typeface="Courier New"/>
              </a:rPr>
              <a:t>  </a:t>
            </a:r>
            <a:r>
              <a:rPr lang="es-CO" sz="1100" b="0" i="0" dirty="0" err="1">
                <a:solidFill>
                  <a:srgbClr val="FFB86C"/>
                </a:solidFill>
                <a:latin typeface="Courier New"/>
              </a:rPr>
              <a:t>let</a:t>
            </a:r>
            <a:r>
              <a:rPr lang="es-CO" sz="1100" b="0" i="0" dirty="0">
                <a:solidFill>
                  <a:srgbClr val="D7E1EE"/>
                </a:solidFill>
                <a:latin typeface="Courier New"/>
              </a:rPr>
              <a:t> cuerpo </a:t>
            </a:r>
            <a:r>
              <a:rPr lang="es-CO" sz="1100" b="0" i="0" dirty="0">
                <a:solidFill>
                  <a:srgbClr val="93A5BD"/>
                </a:solidFill>
                <a:latin typeface="Courier New"/>
              </a:rPr>
              <a:t>=</a:t>
            </a:r>
            <a:r>
              <a:rPr lang="es-CO" sz="1100" b="0" i="0" dirty="0">
                <a:solidFill>
                  <a:srgbClr val="D7E1EE"/>
                </a:solidFill>
                <a:latin typeface="Courier New"/>
              </a:rPr>
              <a:t> </a:t>
            </a:r>
            <a:r>
              <a:rPr lang="es-CO" sz="1100" b="0" i="0" dirty="0">
                <a:solidFill>
                  <a:srgbClr val="FFD479"/>
                </a:solidFill>
                <a:latin typeface="Courier New"/>
              </a:rPr>
              <a:t>''</a:t>
            </a:r>
            <a:r>
              <a:rPr lang="es-CO" sz="1100" b="0" i="0" dirty="0">
                <a:solidFill>
                  <a:srgbClr val="93A5BD"/>
                </a:solidFill>
                <a:latin typeface="Courier New"/>
              </a:rPr>
              <a:t>;</a:t>
            </a:r>
          </a:p>
          <a:p>
            <a:pPr algn="l"/>
            <a:r>
              <a:rPr lang="es-CO" sz="1100" b="0" i="0" dirty="0">
                <a:solidFill>
                  <a:srgbClr val="D7E1EE"/>
                </a:solidFill>
                <a:latin typeface="Courier New"/>
              </a:rPr>
              <a:t>  </a:t>
            </a:r>
            <a:r>
              <a:rPr lang="es-CO" sz="1100" b="0" i="0" dirty="0" err="1">
                <a:solidFill>
                  <a:srgbClr val="D7E1EE"/>
                </a:solidFill>
                <a:latin typeface="Courier New"/>
              </a:rPr>
              <a:t>req</a:t>
            </a:r>
            <a:r>
              <a:rPr lang="es-CO" sz="1100" b="0" i="0" dirty="0" err="1">
                <a:solidFill>
                  <a:srgbClr val="93A5BD"/>
                </a:solidFill>
                <a:latin typeface="Courier New"/>
              </a:rPr>
              <a:t>.</a:t>
            </a:r>
            <a:r>
              <a:rPr lang="es-CO" sz="1100" b="0" i="0" dirty="0" err="1">
                <a:solidFill>
                  <a:srgbClr val="D7E1EE"/>
                </a:solidFill>
                <a:latin typeface="Courier New"/>
              </a:rPr>
              <a:t>on</a:t>
            </a:r>
            <a:r>
              <a:rPr lang="es-CO" sz="1100" b="0" i="0" dirty="0">
                <a:solidFill>
                  <a:srgbClr val="93A5BD"/>
                </a:solidFill>
                <a:latin typeface="Courier New"/>
              </a:rPr>
              <a:t>(</a:t>
            </a:r>
            <a:r>
              <a:rPr lang="es-CO" sz="1100" b="0" i="0" dirty="0">
                <a:solidFill>
                  <a:srgbClr val="FFD479"/>
                </a:solidFill>
                <a:latin typeface="Courier New"/>
              </a:rPr>
              <a:t>'data'</a:t>
            </a:r>
            <a:r>
              <a:rPr lang="es-CO" sz="1100" b="0" i="0" dirty="0">
                <a:solidFill>
                  <a:srgbClr val="93A5BD"/>
                </a:solidFill>
                <a:latin typeface="Courier New"/>
              </a:rPr>
              <a:t>,</a:t>
            </a:r>
            <a:r>
              <a:rPr lang="es-CO" sz="1100" b="0" i="0" dirty="0">
                <a:solidFill>
                  <a:srgbClr val="D7E1EE"/>
                </a:solidFill>
                <a:latin typeface="Courier New"/>
              </a:rPr>
              <a:t> </a:t>
            </a:r>
            <a:r>
              <a:rPr lang="es-CO" sz="1100" b="0" i="0" dirty="0">
                <a:solidFill>
                  <a:srgbClr val="93A5BD"/>
                </a:solidFill>
                <a:latin typeface="Courier New"/>
              </a:rPr>
              <a:t>(</a:t>
            </a:r>
            <a:r>
              <a:rPr lang="es-CO" sz="1100" b="0" i="0" dirty="0">
                <a:solidFill>
                  <a:srgbClr val="D7E1EE"/>
                </a:solidFill>
                <a:latin typeface="Courier New"/>
              </a:rPr>
              <a:t>parte</a:t>
            </a:r>
            <a:r>
              <a:rPr lang="es-CO" sz="1100" b="0" i="0" dirty="0">
                <a:solidFill>
                  <a:srgbClr val="93A5BD"/>
                </a:solidFill>
                <a:latin typeface="Courier New"/>
              </a:rPr>
              <a:t>)</a:t>
            </a:r>
            <a:r>
              <a:rPr lang="es-CO" sz="1100" b="0" i="0" dirty="0">
                <a:solidFill>
                  <a:srgbClr val="D7E1EE"/>
                </a:solidFill>
                <a:latin typeface="Courier New"/>
              </a:rPr>
              <a:t> </a:t>
            </a:r>
            <a:r>
              <a:rPr lang="es-CO" sz="1100" b="0" i="0" dirty="0">
                <a:solidFill>
                  <a:srgbClr val="93A5BD"/>
                </a:solidFill>
                <a:latin typeface="Courier New"/>
              </a:rPr>
              <a:t>=&gt;</a:t>
            </a:r>
            <a:r>
              <a:rPr lang="es-CO" sz="1100" b="0" i="0" dirty="0">
                <a:solidFill>
                  <a:srgbClr val="D7E1EE"/>
                </a:solidFill>
                <a:latin typeface="Courier New"/>
              </a:rPr>
              <a:t> </a:t>
            </a:r>
            <a:r>
              <a:rPr lang="es-CO" sz="1100" b="0" i="0" dirty="0">
                <a:solidFill>
                  <a:srgbClr val="93A5BD"/>
                </a:solidFill>
                <a:latin typeface="Courier New"/>
              </a:rPr>
              <a:t>{</a:t>
            </a:r>
            <a:r>
              <a:rPr lang="es-CO" sz="1100" b="0" i="0" dirty="0">
                <a:solidFill>
                  <a:srgbClr val="D7E1EE"/>
                </a:solidFill>
                <a:latin typeface="Courier New"/>
              </a:rPr>
              <a:t> cuerpo </a:t>
            </a:r>
            <a:r>
              <a:rPr lang="es-CO" sz="1100" b="0" i="0" dirty="0">
                <a:solidFill>
                  <a:srgbClr val="93A5BD"/>
                </a:solidFill>
                <a:latin typeface="Courier New"/>
              </a:rPr>
              <a:t>+=</a:t>
            </a:r>
            <a:r>
              <a:rPr lang="es-CO" sz="1100" b="0" i="0" dirty="0">
                <a:solidFill>
                  <a:srgbClr val="D7E1EE"/>
                </a:solidFill>
                <a:latin typeface="Courier New"/>
              </a:rPr>
              <a:t> parte</a:t>
            </a:r>
            <a:r>
              <a:rPr lang="es-CO" sz="1100" b="0" i="0" dirty="0">
                <a:solidFill>
                  <a:srgbClr val="93A5BD"/>
                </a:solidFill>
                <a:latin typeface="Courier New"/>
              </a:rPr>
              <a:t>;</a:t>
            </a:r>
            <a:r>
              <a:rPr lang="es-CO" sz="1100" b="0" i="0" dirty="0">
                <a:solidFill>
                  <a:srgbClr val="D7E1EE"/>
                </a:solidFill>
                <a:latin typeface="Courier New"/>
              </a:rPr>
              <a:t> </a:t>
            </a:r>
            <a:r>
              <a:rPr lang="es-CO" sz="1100" b="0" i="0" dirty="0">
                <a:solidFill>
                  <a:srgbClr val="93A5BD"/>
                </a:solidFill>
                <a:latin typeface="Courier New"/>
              </a:rPr>
              <a:t>});</a:t>
            </a:r>
          </a:p>
          <a:p>
            <a:pPr algn="l"/>
            <a:r>
              <a:rPr lang="es-CO" sz="1100" b="0" i="0" dirty="0">
                <a:solidFill>
                  <a:srgbClr val="D7E1EE"/>
                </a:solidFill>
                <a:latin typeface="Courier New"/>
              </a:rPr>
              <a:t>  </a:t>
            </a:r>
            <a:r>
              <a:rPr lang="es-CO" sz="1100" b="0" i="0" dirty="0" err="1">
                <a:solidFill>
                  <a:srgbClr val="D7E1EE"/>
                </a:solidFill>
                <a:latin typeface="Courier New"/>
              </a:rPr>
              <a:t>req</a:t>
            </a:r>
            <a:r>
              <a:rPr lang="es-CO" sz="1100" b="0" i="0" dirty="0" err="1">
                <a:solidFill>
                  <a:srgbClr val="93A5BD"/>
                </a:solidFill>
                <a:latin typeface="Courier New"/>
              </a:rPr>
              <a:t>.</a:t>
            </a:r>
            <a:r>
              <a:rPr lang="es-CO" sz="1100" b="0" i="0" dirty="0" err="1">
                <a:solidFill>
                  <a:srgbClr val="D7E1EE"/>
                </a:solidFill>
                <a:latin typeface="Courier New"/>
              </a:rPr>
              <a:t>on</a:t>
            </a:r>
            <a:r>
              <a:rPr lang="es-CO" sz="1100" b="0" i="0" dirty="0">
                <a:solidFill>
                  <a:srgbClr val="93A5BD"/>
                </a:solidFill>
                <a:latin typeface="Courier New"/>
              </a:rPr>
              <a:t>(</a:t>
            </a:r>
            <a:r>
              <a:rPr lang="es-CO" sz="1100" b="0" i="0" dirty="0">
                <a:solidFill>
                  <a:srgbClr val="FFD479"/>
                </a:solidFill>
                <a:latin typeface="Courier New"/>
              </a:rPr>
              <a:t>'</a:t>
            </a:r>
            <a:r>
              <a:rPr lang="es-CO" sz="1100" b="0" i="0" dirty="0" err="1">
                <a:solidFill>
                  <a:srgbClr val="FFD479"/>
                </a:solidFill>
                <a:latin typeface="Courier New"/>
              </a:rPr>
              <a:t>end</a:t>
            </a:r>
            <a:r>
              <a:rPr lang="es-CO" sz="1100" b="0" i="0" dirty="0">
                <a:solidFill>
                  <a:srgbClr val="FFD479"/>
                </a:solidFill>
                <a:latin typeface="Courier New"/>
              </a:rPr>
              <a:t>'</a:t>
            </a:r>
            <a:r>
              <a:rPr lang="es-CO" sz="1100" b="0" i="0" dirty="0">
                <a:solidFill>
                  <a:srgbClr val="93A5BD"/>
                </a:solidFill>
                <a:latin typeface="Courier New"/>
              </a:rPr>
              <a:t>,</a:t>
            </a:r>
            <a:r>
              <a:rPr lang="es-CO" sz="1100" b="0" i="0" dirty="0">
                <a:solidFill>
                  <a:srgbClr val="D7E1EE"/>
                </a:solidFill>
                <a:latin typeface="Courier New"/>
              </a:rPr>
              <a:t> </a:t>
            </a:r>
            <a:r>
              <a:rPr lang="es-CO" sz="1100" b="0" i="0" dirty="0">
                <a:solidFill>
                  <a:srgbClr val="93A5BD"/>
                </a:solidFill>
                <a:latin typeface="Courier New"/>
              </a:rPr>
              <a:t>()</a:t>
            </a:r>
            <a:r>
              <a:rPr lang="es-CO" sz="1100" b="0" i="0" dirty="0">
                <a:solidFill>
                  <a:srgbClr val="D7E1EE"/>
                </a:solidFill>
                <a:latin typeface="Courier New"/>
              </a:rPr>
              <a:t> </a:t>
            </a:r>
            <a:r>
              <a:rPr lang="es-CO" sz="1100" b="0" i="0" dirty="0">
                <a:solidFill>
                  <a:srgbClr val="93A5BD"/>
                </a:solidFill>
                <a:latin typeface="Courier New"/>
              </a:rPr>
              <a:t>=&gt;</a:t>
            </a:r>
            <a:r>
              <a:rPr lang="es-CO" sz="1100" b="0" i="0" dirty="0">
                <a:solidFill>
                  <a:srgbClr val="D7E1EE"/>
                </a:solidFill>
                <a:latin typeface="Courier New"/>
              </a:rPr>
              <a:t> </a:t>
            </a:r>
            <a:r>
              <a:rPr lang="es-CO" sz="1100" b="0" i="0" dirty="0">
                <a:solidFill>
                  <a:srgbClr val="93A5BD"/>
                </a:solidFill>
                <a:latin typeface="Courier New"/>
              </a:rPr>
              <a:t>{</a:t>
            </a:r>
          </a:p>
          <a:p>
            <a:pPr algn="l"/>
            <a:r>
              <a:rPr lang="es-CO" sz="1100" b="0" i="0" dirty="0">
                <a:solidFill>
                  <a:srgbClr val="D7E1EE"/>
                </a:solidFill>
                <a:latin typeface="Courier New"/>
              </a:rPr>
              <a:t>    </a:t>
            </a:r>
            <a:r>
              <a:rPr lang="es-CO" sz="1100" b="0" i="0" dirty="0" err="1">
                <a:solidFill>
                  <a:srgbClr val="FFB86C"/>
                </a:solidFill>
                <a:latin typeface="Courier New"/>
              </a:rPr>
              <a:t>const</a:t>
            </a:r>
            <a:r>
              <a:rPr lang="es-CO" sz="1100" b="0" i="0" dirty="0">
                <a:solidFill>
                  <a:srgbClr val="D7E1EE"/>
                </a:solidFill>
                <a:latin typeface="Courier New"/>
              </a:rPr>
              <a:t> datos </a:t>
            </a:r>
            <a:r>
              <a:rPr lang="es-CO" sz="1100" b="0" i="0" dirty="0">
                <a:solidFill>
                  <a:srgbClr val="93A5BD"/>
                </a:solidFill>
                <a:latin typeface="Courier New"/>
              </a:rPr>
              <a:t>=</a:t>
            </a:r>
            <a:r>
              <a:rPr lang="es-CO" sz="1100" b="0" i="0" dirty="0">
                <a:solidFill>
                  <a:srgbClr val="D7E1EE"/>
                </a:solidFill>
                <a:latin typeface="Courier New"/>
              </a:rPr>
              <a:t> </a:t>
            </a:r>
            <a:r>
              <a:rPr lang="es-CO" sz="1100" b="0" i="0" dirty="0" err="1">
                <a:solidFill>
                  <a:srgbClr val="D7E1EE"/>
                </a:solidFill>
                <a:latin typeface="Courier New"/>
              </a:rPr>
              <a:t>Object</a:t>
            </a:r>
            <a:r>
              <a:rPr lang="es-CO" sz="1100" b="0" i="0" dirty="0" err="1">
                <a:solidFill>
                  <a:srgbClr val="93A5BD"/>
                </a:solidFill>
                <a:latin typeface="Courier New"/>
              </a:rPr>
              <a:t>.</a:t>
            </a:r>
            <a:r>
              <a:rPr lang="es-CO" sz="1100" b="0" i="0" dirty="0" err="1">
                <a:solidFill>
                  <a:srgbClr val="D7E1EE"/>
                </a:solidFill>
                <a:latin typeface="Courier New"/>
              </a:rPr>
              <a:t>fromEntries</a:t>
            </a:r>
            <a:r>
              <a:rPr lang="es-CO" sz="1100" b="0" i="0" dirty="0">
                <a:solidFill>
                  <a:srgbClr val="93A5BD"/>
                </a:solidFill>
                <a:latin typeface="Courier New"/>
              </a:rPr>
              <a:t>(</a:t>
            </a:r>
            <a:r>
              <a:rPr lang="es-CO" sz="1100" b="0" i="0" dirty="0">
                <a:solidFill>
                  <a:srgbClr val="FFB86C"/>
                </a:solidFill>
                <a:latin typeface="Courier New"/>
              </a:rPr>
              <a:t>new</a:t>
            </a:r>
            <a:r>
              <a:rPr lang="es-CO" sz="1100" b="0" i="0" dirty="0">
                <a:solidFill>
                  <a:srgbClr val="D7E1EE"/>
                </a:solidFill>
                <a:latin typeface="Courier New"/>
              </a:rPr>
              <a:t> </a:t>
            </a:r>
            <a:r>
              <a:rPr lang="es-CO" sz="1100" b="0" i="0" dirty="0" err="1">
                <a:solidFill>
                  <a:srgbClr val="D7E1EE"/>
                </a:solidFill>
                <a:latin typeface="Courier New"/>
              </a:rPr>
              <a:t>URLSearchParams</a:t>
            </a:r>
            <a:r>
              <a:rPr lang="es-CO" sz="1100" b="0" i="0" dirty="0">
                <a:solidFill>
                  <a:srgbClr val="93A5BD"/>
                </a:solidFill>
                <a:latin typeface="Courier New"/>
              </a:rPr>
              <a:t>(</a:t>
            </a:r>
            <a:r>
              <a:rPr lang="es-CO" sz="1100" b="0" i="0" dirty="0">
                <a:solidFill>
                  <a:srgbClr val="D7E1EE"/>
                </a:solidFill>
                <a:latin typeface="Courier New"/>
              </a:rPr>
              <a:t>cuerpo</a:t>
            </a:r>
            <a:r>
              <a:rPr lang="es-CO" sz="1100" b="0" i="0" dirty="0">
                <a:solidFill>
                  <a:srgbClr val="93A5BD"/>
                </a:solidFill>
                <a:latin typeface="Courier New"/>
              </a:rPr>
              <a:t>));</a:t>
            </a:r>
          </a:p>
          <a:p>
            <a:pPr algn="l"/>
            <a:r>
              <a:rPr lang="es-CO" sz="1100" b="0" i="0" dirty="0">
                <a:solidFill>
                  <a:srgbClr val="D7E1EE"/>
                </a:solidFill>
                <a:latin typeface="Courier New"/>
              </a:rPr>
              <a:t>    </a:t>
            </a:r>
            <a:r>
              <a:rPr lang="es-CO" sz="1100" b="0" i="0" dirty="0" err="1">
                <a:solidFill>
                  <a:srgbClr val="FFB86C"/>
                </a:solidFill>
                <a:latin typeface="Courier New"/>
              </a:rPr>
              <a:t>const</a:t>
            </a:r>
            <a:r>
              <a:rPr lang="es-CO" sz="1100" b="0" i="0" dirty="0">
                <a:solidFill>
                  <a:srgbClr val="D7E1EE"/>
                </a:solidFill>
                <a:latin typeface="Courier New"/>
              </a:rPr>
              <a:t> r </a:t>
            </a:r>
            <a:r>
              <a:rPr lang="es-CO" sz="1100" b="0" i="0" dirty="0">
                <a:solidFill>
                  <a:srgbClr val="93A5BD"/>
                </a:solidFill>
                <a:latin typeface="Courier New"/>
              </a:rPr>
              <a:t>=</a:t>
            </a:r>
            <a:r>
              <a:rPr lang="es-CO" sz="1100" b="0" i="0" dirty="0">
                <a:solidFill>
                  <a:srgbClr val="D7E1EE"/>
                </a:solidFill>
                <a:latin typeface="Courier New"/>
              </a:rPr>
              <a:t> </a:t>
            </a:r>
            <a:r>
              <a:rPr lang="es-CO" sz="1100" b="0" i="0" dirty="0" err="1">
                <a:solidFill>
                  <a:srgbClr val="D7E1EE"/>
                </a:solidFill>
                <a:latin typeface="Courier New"/>
              </a:rPr>
              <a:t>modelo</a:t>
            </a:r>
            <a:r>
              <a:rPr lang="es-CO" sz="1100" b="0" i="0" dirty="0" err="1">
                <a:solidFill>
                  <a:srgbClr val="93A5BD"/>
                </a:solidFill>
                <a:latin typeface="Courier New"/>
              </a:rPr>
              <a:t>.</a:t>
            </a:r>
            <a:r>
              <a:rPr lang="es-CO" sz="1100" b="0" i="0" dirty="0" err="1">
                <a:solidFill>
                  <a:srgbClr val="D7E1EE"/>
                </a:solidFill>
                <a:latin typeface="Courier New"/>
              </a:rPr>
              <a:t>registrar</a:t>
            </a:r>
            <a:r>
              <a:rPr lang="es-CO" sz="1100" b="0" i="0" dirty="0">
                <a:solidFill>
                  <a:srgbClr val="93A5BD"/>
                </a:solidFill>
                <a:latin typeface="Courier New"/>
              </a:rPr>
              <a:t>(</a:t>
            </a:r>
            <a:r>
              <a:rPr lang="es-CO" sz="1100" b="0" i="0" dirty="0">
                <a:solidFill>
                  <a:srgbClr val="D7E1EE"/>
                </a:solidFill>
                <a:latin typeface="Courier New"/>
              </a:rPr>
              <a:t>datos</a:t>
            </a:r>
            <a:r>
              <a:rPr lang="es-CO" sz="1100" b="0" i="0" dirty="0">
                <a:solidFill>
                  <a:srgbClr val="93A5BD"/>
                </a:solidFill>
                <a:latin typeface="Courier New"/>
              </a:rPr>
              <a:t>);</a:t>
            </a:r>
          </a:p>
          <a:p>
            <a:pPr algn="l"/>
            <a:r>
              <a:rPr lang="es-CO" sz="1100" b="0" i="0" dirty="0">
                <a:solidFill>
                  <a:srgbClr val="D7E1EE"/>
                </a:solidFill>
                <a:latin typeface="Courier New"/>
              </a:rPr>
              <a:t>    </a:t>
            </a:r>
            <a:r>
              <a:rPr lang="es-CO" sz="1100" b="0" i="0" dirty="0" err="1">
                <a:solidFill>
                  <a:srgbClr val="FFB86C"/>
                </a:solidFill>
                <a:latin typeface="Courier New"/>
              </a:rPr>
              <a:t>const</a:t>
            </a:r>
            <a:r>
              <a:rPr lang="es-CO" sz="1100" b="0" i="0" dirty="0">
                <a:solidFill>
                  <a:srgbClr val="D7E1EE"/>
                </a:solidFill>
                <a:latin typeface="Courier New"/>
              </a:rPr>
              <a:t> </a:t>
            </a:r>
            <a:r>
              <a:rPr lang="es-CO" sz="1100" b="0" i="0" dirty="0" err="1">
                <a:solidFill>
                  <a:srgbClr val="D7E1EE"/>
                </a:solidFill>
                <a:latin typeface="Courier New"/>
              </a:rPr>
              <a:t>html</a:t>
            </a:r>
            <a:r>
              <a:rPr lang="es-CO" sz="1100" b="0" i="0" dirty="0">
                <a:solidFill>
                  <a:srgbClr val="D7E1EE"/>
                </a:solidFill>
                <a:latin typeface="Courier New"/>
              </a:rPr>
              <a:t> </a:t>
            </a:r>
            <a:r>
              <a:rPr lang="es-CO" sz="1100" b="0" i="0" dirty="0">
                <a:solidFill>
                  <a:srgbClr val="93A5BD"/>
                </a:solidFill>
                <a:latin typeface="Courier New"/>
              </a:rPr>
              <a:t>=</a:t>
            </a:r>
            <a:r>
              <a:rPr lang="es-CO" sz="1100" b="0" i="0" dirty="0">
                <a:solidFill>
                  <a:srgbClr val="D7E1EE"/>
                </a:solidFill>
                <a:latin typeface="Courier New"/>
              </a:rPr>
              <a:t> </a:t>
            </a:r>
            <a:r>
              <a:rPr lang="es-CO" sz="1100" b="0" i="0" dirty="0" err="1">
                <a:solidFill>
                  <a:srgbClr val="D7E1EE"/>
                </a:solidFill>
                <a:latin typeface="Courier New"/>
              </a:rPr>
              <a:t>r</a:t>
            </a:r>
            <a:r>
              <a:rPr lang="es-CO" sz="1100" b="0" i="0" dirty="0" err="1">
                <a:solidFill>
                  <a:srgbClr val="93A5BD"/>
                </a:solidFill>
                <a:latin typeface="Courier New"/>
              </a:rPr>
              <a:t>.</a:t>
            </a:r>
            <a:r>
              <a:rPr lang="es-CO" sz="1100" b="0" i="0" dirty="0" err="1">
                <a:solidFill>
                  <a:srgbClr val="D7E1EE"/>
                </a:solidFill>
                <a:latin typeface="Courier New"/>
              </a:rPr>
              <a:t>ok</a:t>
            </a:r>
            <a:r>
              <a:rPr lang="es-CO" sz="1100" b="0" i="0" dirty="0">
                <a:solidFill>
                  <a:srgbClr val="D7E1EE"/>
                </a:solidFill>
                <a:latin typeface="Courier New"/>
              </a:rPr>
              <a:t> </a:t>
            </a:r>
            <a:r>
              <a:rPr lang="es-CO" sz="1100" b="0" i="0" dirty="0">
                <a:solidFill>
                  <a:srgbClr val="93A5BD"/>
                </a:solidFill>
                <a:latin typeface="Courier New"/>
              </a:rPr>
              <a:t>?</a:t>
            </a:r>
            <a:r>
              <a:rPr lang="es-CO" sz="1100" b="0" i="0" dirty="0">
                <a:solidFill>
                  <a:srgbClr val="D7E1EE"/>
                </a:solidFill>
                <a:latin typeface="Courier New"/>
              </a:rPr>
              <a:t> </a:t>
            </a:r>
            <a:r>
              <a:rPr lang="es-CO" sz="1100" b="0" i="0" dirty="0" err="1">
                <a:solidFill>
                  <a:srgbClr val="D7E1EE"/>
                </a:solidFill>
                <a:latin typeface="Courier New"/>
              </a:rPr>
              <a:t>vistas</a:t>
            </a:r>
            <a:r>
              <a:rPr lang="es-CO" sz="1100" b="0" i="0" dirty="0" err="1">
                <a:solidFill>
                  <a:srgbClr val="93A5BD"/>
                </a:solidFill>
                <a:latin typeface="Courier New"/>
              </a:rPr>
              <a:t>.</a:t>
            </a:r>
            <a:r>
              <a:rPr lang="es-CO" sz="1100" b="0" i="0" dirty="0" err="1">
                <a:solidFill>
                  <a:srgbClr val="D7E1EE"/>
                </a:solidFill>
                <a:latin typeface="Courier New"/>
              </a:rPr>
              <a:t>confirmacion</a:t>
            </a:r>
            <a:r>
              <a:rPr lang="es-CO" sz="1100" b="0" i="0" dirty="0">
                <a:solidFill>
                  <a:srgbClr val="93A5BD"/>
                </a:solidFill>
                <a:latin typeface="Courier New"/>
              </a:rPr>
              <a:t>(</a:t>
            </a:r>
            <a:r>
              <a:rPr lang="es-CO" sz="1100" b="0" i="0" dirty="0" err="1">
                <a:solidFill>
                  <a:srgbClr val="D7E1EE"/>
                </a:solidFill>
                <a:latin typeface="Courier New"/>
              </a:rPr>
              <a:t>datos</a:t>
            </a:r>
            <a:r>
              <a:rPr lang="es-CO" sz="1100" b="0" i="0" dirty="0" err="1">
                <a:solidFill>
                  <a:srgbClr val="93A5BD"/>
                </a:solidFill>
                <a:latin typeface="Courier New"/>
              </a:rPr>
              <a:t>.</a:t>
            </a:r>
            <a:r>
              <a:rPr lang="es-CO" sz="1100" b="0" i="0" dirty="0" err="1">
                <a:solidFill>
                  <a:srgbClr val="D7E1EE"/>
                </a:solidFill>
                <a:latin typeface="Courier New"/>
              </a:rPr>
              <a:t>nombre</a:t>
            </a:r>
            <a:r>
              <a:rPr lang="es-CO" sz="1100" b="0" i="0" dirty="0">
                <a:solidFill>
                  <a:srgbClr val="93A5BD"/>
                </a:solidFill>
                <a:latin typeface="Courier New"/>
              </a:rPr>
              <a:t>)</a:t>
            </a:r>
          </a:p>
          <a:p>
            <a:pPr algn="l"/>
            <a:r>
              <a:rPr lang="es-CO" sz="1100" b="0" i="0" dirty="0">
                <a:solidFill>
                  <a:srgbClr val="D7E1EE"/>
                </a:solidFill>
                <a:latin typeface="Courier New"/>
              </a:rPr>
              <a:t>                      </a:t>
            </a:r>
            <a:r>
              <a:rPr lang="es-CO" sz="1100" b="0" i="0" dirty="0">
                <a:solidFill>
                  <a:srgbClr val="93A5BD"/>
                </a:solidFill>
                <a:latin typeface="Courier New"/>
              </a:rPr>
              <a:t>:</a:t>
            </a:r>
            <a:r>
              <a:rPr lang="es-CO" sz="1100" b="0" i="0" dirty="0">
                <a:solidFill>
                  <a:srgbClr val="D7E1EE"/>
                </a:solidFill>
                <a:latin typeface="Courier New"/>
              </a:rPr>
              <a:t> </a:t>
            </a:r>
            <a:r>
              <a:rPr lang="es-CO" sz="1100" b="0" i="0" dirty="0" err="1">
                <a:solidFill>
                  <a:srgbClr val="D7E1EE"/>
                </a:solidFill>
                <a:latin typeface="Courier New"/>
              </a:rPr>
              <a:t>vistas</a:t>
            </a:r>
            <a:r>
              <a:rPr lang="es-CO" sz="1100" b="0" i="0" dirty="0" err="1">
                <a:solidFill>
                  <a:srgbClr val="93A5BD"/>
                </a:solidFill>
                <a:latin typeface="Courier New"/>
              </a:rPr>
              <a:t>.</a:t>
            </a:r>
            <a:r>
              <a:rPr lang="es-CO" sz="1100" b="0" i="0" dirty="0" err="1">
                <a:solidFill>
                  <a:srgbClr val="D7E1EE"/>
                </a:solidFill>
                <a:latin typeface="Courier New"/>
              </a:rPr>
              <a:t>error</a:t>
            </a:r>
            <a:r>
              <a:rPr lang="es-CO" sz="1100" b="0" i="0" dirty="0">
                <a:solidFill>
                  <a:srgbClr val="93A5BD"/>
                </a:solidFill>
                <a:latin typeface="Courier New"/>
              </a:rPr>
              <a:t>(</a:t>
            </a:r>
            <a:r>
              <a:rPr lang="es-CO" sz="1100" b="0" i="0" dirty="0" err="1">
                <a:solidFill>
                  <a:srgbClr val="D7E1EE"/>
                </a:solidFill>
                <a:latin typeface="Courier New"/>
              </a:rPr>
              <a:t>r</a:t>
            </a:r>
            <a:r>
              <a:rPr lang="es-CO" sz="1100" b="0" i="0" dirty="0" err="1">
                <a:solidFill>
                  <a:srgbClr val="93A5BD"/>
                </a:solidFill>
                <a:latin typeface="Courier New"/>
              </a:rPr>
              <a:t>.</a:t>
            </a:r>
            <a:r>
              <a:rPr lang="es-CO" sz="1100" b="0" i="0" dirty="0" err="1">
                <a:solidFill>
                  <a:srgbClr val="D7E1EE"/>
                </a:solidFill>
                <a:latin typeface="Courier New"/>
              </a:rPr>
              <a:t>errores</a:t>
            </a:r>
            <a:r>
              <a:rPr lang="es-CO" sz="1100" b="0" i="0" dirty="0">
                <a:solidFill>
                  <a:srgbClr val="93A5BD"/>
                </a:solidFill>
                <a:latin typeface="Courier New"/>
              </a:rPr>
              <a:t>);</a:t>
            </a:r>
          </a:p>
          <a:p>
            <a:pPr algn="l"/>
            <a:r>
              <a:rPr lang="es-CO" sz="1100" b="0" i="0" dirty="0">
                <a:solidFill>
                  <a:srgbClr val="D7E1EE"/>
                </a:solidFill>
                <a:latin typeface="Courier New"/>
              </a:rPr>
              <a:t>    </a:t>
            </a:r>
            <a:r>
              <a:rPr lang="es-CO" sz="1100" b="0" i="0" dirty="0" err="1">
                <a:solidFill>
                  <a:srgbClr val="D7E1EE"/>
                </a:solidFill>
                <a:latin typeface="Courier New"/>
              </a:rPr>
              <a:t>res</a:t>
            </a:r>
            <a:r>
              <a:rPr lang="es-CO" sz="1100" b="0" i="0" dirty="0" err="1">
                <a:solidFill>
                  <a:srgbClr val="93A5BD"/>
                </a:solidFill>
                <a:latin typeface="Courier New"/>
              </a:rPr>
              <a:t>.</a:t>
            </a:r>
            <a:r>
              <a:rPr lang="es-CO" sz="1100" b="0" i="0" dirty="0" err="1">
                <a:solidFill>
                  <a:srgbClr val="D7E1EE"/>
                </a:solidFill>
                <a:latin typeface="Courier New"/>
              </a:rPr>
              <a:t>writeHead</a:t>
            </a:r>
            <a:r>
              <a:rPr lang="es-CO" sz="1100" b="0" i="0" dirty="0">
                <a:solidFill>
                  <a:srgbClr val="93A5BD"/>
                </a:solidFill>
                <a:latin typeface="Courier New"/>
              </a:rPr>
              <a:t>(</a:t>
            </a:r>
            <a:r>
              <a:rPr lang="es-CO" sz="1100" b="0" i="0" dirty="0" err="1">
                <a:solidFill>
                  <a:srgbClr val="D7E1EE"/>
                </a:solidFill>
                <a:latin typeface="Courier New"/>
              </a:rPr>
              <a:t>r</a:t>
            </a:r>
            <a:r>
              <a:rPr lang="es-CO" sz="1100" b="0" i="0" dirty="0" err="1">
                <a:solidFill>
                  <a:srgbClr val="93A5BD"/>
                </a:solidFill>
                <a:latin typeface="Courier New"/>
              </a:rPr>
              <a:t>.</a:t>
            </a:r>
            <a:r>
              <a:rPr lang="es-CO" sz="1100" b="0" i="0" dirty="0" err="1">
                <a:solidFill>
                  <a:srgbClr val="D7E1EE"/>
                </a:solidFill>
                <a:latin typeface="Courier New"/>
              </a:rPr>
              <a:t>ok</a:t>
            </a:r>
            <a:r>
              <a:rPr lang="es-CO" sz="1100" b="0" i="0" dirty="0">
                <a:solidFill>
                  <a:srgbClr val="D7E1EE"/>
                </a:solidFill>
                <a:latin typeface="Courier New"/>
              </a:rPr>
              <a:t> </a:t>
            </a:r>
            <a:r>
              <a:rPr lang="es-CO" sz="1100" b="0" i="0" dirty="0">
                <a:solidFill>
                  <a:srgbClr val="93A5BD"/>
                </a:solidFill>
                <a:latin typeface="Courier New"/>
              </a:rPr>
              <a:t>?</a:t>
            </a:r>
            <a:r>
              <a:rPr lang="es-CO" sz="1100" b="0" i="0" dirty="0">
                <a:solidFill>
                  <a:srgbClr val="D7E1EE"/>
                </a:solidFill>
                <a:latin typeface="Courier New"/>
              </a:rPr>
              <a:t> </a:t>
            </a:r>
            <a:r>
              <a:rPr lang="es-CO" sz="1100" b="0" i="0" dirty="0">
                <a:solidFill>
                  <a:srgbClr val="3DDC97"/>
                </a:solidFill>
                <a:latin typeface="Courier New"/>
              </a:rPr>
              <a:t>201</a:t>
            </a:r>
            <a:r>
              <a:rPr lang="es-CO" sz="1100" b="0" i="0" dirty="0">
                <a:solidFill>
                  <a:srgbClr val="D7E1EE"/>
                </a:solidFill>
                <a:latin typeface="Courier New"/>
              </a:rPr>
              <a:t> </a:t>
            </a:r>
            <a:r>
              <a:rPr lang="es-CO" sz="1100" b="0" i="0" dirty="0">
                <a:solidFill>
                  <a:srgbClr val="93A5BD"/>
                </a:solidFill>
                <a:latin typeface="Courier New"/>
              </a:rPr>
              <a:t>:</a:t>
            </a:r>
            <a:r>
              <a:rPr lang="es-CO" sz="1100" b="0" i="0" dirty="0">
                <a:solidFill>
                  <a:srgbClr val="D7E1EE"/>
                </a:solidFill>
                <a:latin typeface="Courier New"/>
              </a:rPr>
              <a:t> </a:t>
            </a:r>
            <a:r>
              <a:rPr lang="es-CO" sz="1100" b="0" i="0" dirty="0">
                <a:solidFill>
                  <a:srgbClr val="3DDC97"/>
                </a:solidFill>
                <a:latin typeface="Courier New"/>
              </a:rPr>
              <a:t>400</a:t>
            </a:r>
            <a:r>
              <a:rPr lang="es-CO" sz="1100" b="0" i="0" dirty="0">
                <a:solidFill>
                  <a:srgbClr val="93A5BD"/>
                </a:solidFill>
                <a:latin typeface="Courier New"/>
              </a:rPr>
              <a:t>,</a:t>
            </a:r>
          </a:p>
          <a:p>
            <a:pPr algn="l"/>
            <a:r>
              <a:rPr lang="es-CO" sz="1100" b="0" i="0" dirty="0">
                <a:solidFill>
                  <a:srgbClr val="D7E1EE"/>
                </a:solidFill>
                <a:latin typeface="Courier New"/>
              </a:rPr>
              <a:t>      </a:t>
            </a:r>
            <a:r>
              <a:rPr lang="es-CO" sz="1100" b="0" i="0" dirty="0">
                <a:solidFill>
                  <a:srgbClr val="93A5BD"/>
                </a:solidFill>
                <a:latin typeface="Courier New"/>
              </a:rPr>
              <a:t>{</a:t>
            </a:r>
            <a:r>
              <a:rPr lang="es-CO" sz="1100" b="0" i="0" dirty="0">
                <a:solidFill>
                  <a:srgbClr val="D7E1EE"/>
                </a:solidFill>
                <a:latin typeface="Courier New"/>
              </a:rPr>
              <a:t> </a:t>
            </a:r>
            <a:r>
              <a:rPr lang="es-CO" sz="1100" b="0" i="0" dirty="0">
                <a:solidFill>
                  <a:srgbClr val="FFD479"/>
                </a:solidFill>
                <a:latin typeface="Courier New"/>
              </a:rPr>
              <a:t>'Content-</a:t>
            </a:r>
            <a:r>
              <a:rPr lang="es-CO" sz="1100" b="0" i="0" dirty="0" err="1">
                <a:solidFill>
                  <a:srgbClr val="FFD479"/>
                </a:solidFill>
                <a:latin typeface="Courier New"/>
              </a:rPr>
              <a:t>Type</a:t>
            </a:r>
            <a:r>
              <a:rPr lang="es-CO" sz="1100" b="0" i="0" dirty="0">
                <a:solidFill>
                  <a:srgbClr val="FFD479"/>
                </a:solidFill>
                <a:latin typeface="Courier New"/>
              </a:rPr>
              <a:t>'</a:t>
            </a:r>
            <a:r>
              <a:rPr lang="es-CO" sz="1100" b="0" i="0" dirty="0">
                <a:solidFill>
                  <a:srgbClr val="93A5BD"/>
                </a:solidFill>
                <a:latin typeface="Courier New"/>
              </a:rPr>
              <a:t>:</a:t>
            </a:r>
            <a:r>
              <a:rPr lang="es-CO" sz="1100" b="0" i="0" dirty="0">
                <a:solidFill>
                  <a:srgbClr val="D7E1EE"/>
                </a:solidFill>
                <a:latin typeface="Courier New"/>
              </a:rPr>
              <a:t> </a:t>
            </a:r>
            <a:r>
              <a:rPr lang="es-CO" sz="1100" b="0" i="0" dirty="0">
                <a:solidFill>
                  <a:srgbClr val="FFD479"/>
                </a:solidFill>
                <a:latin typeface="Courier New"/>
              </a:rPr>
              <a:t>'</a:t>
            </a:r>
            <a:r>
              <a:rPr lang="es-CO" sz="1100" b="0" i="0" dirty="0" err="1">
                <a:solidFill>
                  <a:srgbClr val="FFD479"/>
                </a:solidFill>
                <a:latin typeface="Courier New"/>
              </a:rPr>
              <a:t>text</a:t>
            </a:r>
            <a:r>
              <a:rPr lang="es-CO" sz="1100" b="0" i="0" dirty="0">
                <a:solidFill>
                  <a:srgbClr val="FFD479"/>
                </a:solidFill>
                <a:latin typeface="Courier New"/>
              </a:rPr>
              <a:t>/</a:t>
            </a:r>
            <a:r>
              <a:rPr lang="es-CO" sz="1100" b="0" i="0" dirty="0" err="1">
                <a:solidFill>
                  <a:srgbClr val="FFD479"/>
                </a:solidFill>
                <a:latin typeface="Courier New"/>
              </a:rPr>
              <a:t>html</a:t>
            </a:r>
            <a:r>
              <a:rPr lang="es-CO" sz="1100" b="0" i="0" dirty="0">
                <a:solidFill>
                  <a:srgbClr val="FFD479"/>
                </a:solidFill>
                <a:latin typeface="Courier New"/>
              </a:rPr>
              <a:t>; </a:t>
            </a:r>
            <a:r>
              <a:rPr lang="es-CO" sz="1100" b="0" i="0" dirty="0" err="1">
                <a:solidFill>
                  <a:srgbClr val="FFD479"/>
                </a:solidFill>
                <a:latin typeface="Courier New"/>
              </a:rPr>
              <a:t>charset</a:t>
            </a:r>
            <a:r>
              <a:rPr lang="es-CO" sz="1100" b="0" i="0" dirty="0">
                <a:solidFill>
                  <a:srgbClr val="FFD479"/>
                </a:solidFill>
                <a:latin typeface="Courier New"/>
              </a:rPr>
              <a:t>=UTF-8'</a:t>
            </a:r>
            <a:r>
              <a:rPr lang="es-CO" sz="1100" b="0" i="0" dirty="0">
                <a:solidFill>
                  <a:srgbClr val="D7E1EE"/>
                </a:solidFill>
                <a:latin typeface="Courier New"/>
              </a:rPr>
              <a:t> </a:t>
            </a:r>
            <a:r>
              <a:rPr lang="es-CO" sz="1100" b="0" i="0" dirty="0">
                <a:solidFill>
                  <a:srgbClr val="93A5BD"/>
                </a:solidFill>
                <a:latin typeface="Courier New"/>
              </a:rPr>
              <a:t>});</a:t>
            </a:r>
          </a:p>
          <a:p>
            <a:pPr algn="l"/>
            <a:r>
              <a:rPr lang="es-CO" sz="1100" b="0" i="0" dirty="0">
                <a:solidFill>
                  <a:srgbClr val="D7E1EE"/>
                </a:solidFill>
                <a:latin typeface="Courier New"/>
              </a:rPr>
              <a:t>    </a:t>
            </a:r>
            <a:r>
              <a:rPr lang="es-CO" sz="1100" b="0" i="0" dirty="0" err="1">
                <a:solidFill>
                  <a:srgbClr val="D7E1EE"/>
                </a:solidFill>
                <a:latin typeface="Courier New"/>
              </a:rPr>
              <a:t>res</a:t>
            </a:r>
            <a:r>
              <a:rPr lang="es-CO" sz="1100" b="0" i="0" dirty="0" err="1">
                <a:solidFill>
                  <a:srgbClr val="93A5BD"/>
                </a:solidFill>
                <a:latin typeface="Courier New"/>
              </a:rPr>
              <a:t>.</a:t>
            </a:r>
            <a:r>
              <a:rPr lang="es-CO" sz="1100" b="0" i="0" dirty="0" err="1">
                <a:solidFill>
                  <a:srgbClr val="D7E1EE"/>
                </a:solidFill>
                <a:latin typeface="Courier New"/>
              </a:rPr>
              <a:t>end</a:t>
            </a:r>
            <a:r>
              <a:rPr lang="es-CO" sz="1100" b="0" i="0" dirty="0">
                <a:solidFill>
                  <a:srgbClr val="93A5BD"/>
                </a:solidFill>
                <a:latin typeface="Courier New"/>
              </a:rPr>
              <a:t>(</a:t>
            </a:r>
            <a:r>
              <a:rPr lang="es-CO" sz="1100" b="0" i="0" dirty="0" err="1">
                <a:solidFill>
                  <a:srgbClr val="D7E1EE"/>
                </a:solidFill>
                <a:latin typeface="Courier New"/>
              </a:rPr>
              <a:t>html</a:t>
            </a:r>
            <a:r>
              <a:rPr lang="es-CO" sz="1100" b="0" i="0" dirty="0">
                <a:solidFill>
                  <a:srgbClr val="93A5BD"/>
                </a:solidFill>
                <a:latin typeface="Courier New"/>
              </a:rPr>
              <a:t>);</a:t>
            </a:r>
          </a:p>
          <a:p>
            <a:pPr algn="l"/>
            <a:r>
              <a:rPr lang="es-CO" sz="1100" b="0" i="0" dirty="0">
                <a:solidFill>
                  <a:srgbClr val="D7E1EE"/>
                </a:solidFill>
                <a:latin typeface="Courier New"/>
              </a:rPr>
              <a:t>  </a:t>
            </a:r>
            <a:r>
              <a:rPr lang="es-CO" sz="1100" b="0" i="0" dirty="0">
                <a:solidFill>
                  <a:srgbClr val="93A5BD"/>
                </a:solidFill>
                <a:latin typeface="Courier New"/>
              </a:rPr>
              <a:t>});</a:t>
            </a:r>
          </a:p>
          <a:p>
            <a:pPr algn="l"/>
            <a:r>
              <a:rPr lang="es-CO" sz="1100" b="0" i="0" dirty="0">
                <a:solidFill>
                  <a:srgbClr val="93A5BD"/>
                </a:solidFill>
                <a:latin typeface="Courier New"/>
              </a:rPr>
              <a:t>}</a:t>
            </a:r>
          </a:p>
        </p:txBody>
      </p:sp>
      <p:sp>
        <p:nvSpPr>
          <p:cNvPr id="40" name="Rounded Rectangle 39"/>
          <p:cNvSpPr/>
          <p:nvPr/>
        </p:nvSpPr>
        <p:spPr>
          <a:xfrm>
            <a:off x="5532120" y="3072384"/>
            <a:ext cx="3108960" cy="1444752"/>
          </a:xfrm>
          <a:prstGeom prst="roundRect">
            <a:avLst>
              <a:gd name="adj" fmla="val 8000"/>
            </a:avLst>
          </a:prstGeom>
          <a:solidFill>
            <a:srgbClr val="1A243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41" name="TextBox 40"/>
          <p:cNvSpPr txBox="1"/>
          <p:nvPr/>
        </p:nvSpPr>
        <p:spPr>
          <a:xfrm>
            <a:off x="5660136" y="3188913"/>
            <a:ext cx="2852928" cy="169277"/>
          </a:xfrm>
          <a:prstGeom prst="rect">
            <a:avLst/>
          </a:prstGeom>
          <a:noFill/>
        </p:spPr>
        <p:txBody>
          <a:bodyPr wrap="square" lIns="0" tIns="0" rIns="0" bIns="0" anchor="ctr">
            <a:spAutoFit/>
          </a:bodyPr>
          <a:lstStyle/>
          <a:p>
            <a:pPr algn="l"/>
            <a:r>
              <a:rPr lang="es-CO" sz="1100" b="1" i="0">
                <a:solidFill>
                  <a:srgbClr val="3DDC97"/>
                </a:solidFill>
                <a:latin typeface="Arial"/>
              </a:rPr>
              <a:t>Quién decide qué</a:t>
            </a:r>
          </a:p>
        </p:txBody>
      </p:sp>
      <p:sp>
        <p:nvSpPr>
          <p:cNvPr id="42" name="TextBox 41"/>
          <p:cNvSpPr txBox="1"/>
          <p:nvPr/>
        </p:nvSpPr>
        <p:spPr>
          <a:xfrm>
            <a:off x="5660136" y="3429000"/>
            <a:ext cx="2852928" cy="754053"/>
          </a:xfrm>
          <a:prstGeom prst="rect">
            <a:avLst/>
          </a:prstGeom>
          <a:noFill/>
        </p:spPr>
        <p:txBody>
          <a:bodyPr wrap="square" lIns="0" tIns="0" rIns="0" bIns="0" anchor="t">
            <a:spAutoFit/>
          </a:bodyPr>
          <a:lstStyle/>
          <a:p>
            <a:pPr algn="l">
              <a:spcAft>
                <a:spcPts val="300"/>
              </a:spcAft>
            </a:pPr>
            <a:r>
              <a:rPr lang="es-CO" sz="1100" b="1" i="0">
                <a:solidFill>
                  <a:srgbClr val="3DDC97"/>
                </a:solidFill>
                <a:latin typeface="Calibri"/>
              </a:rPr>
              <a:t>›  </a:t>
            </a:r>
            <a:r>
              <a:rPr lang="es-CO" sz="1100" b="1" i="0">
                <a:solidFill>
                  <a:srgbClr val="E8EEF6"/>
                </a:solidFill>
                <a:latin typeface="Calibri"/>
              </a:rPr>
              <a:t>Controlador: </a:t>
            </a:r>
            <a:r>
              <a:rPr lang="es-CO" sz="1100" b="0" i="0">
                <a:solidFill>
                  <a:srgbClr val="E8EEF6"/>
                </a:solidFill>
                <a:latin typeface="Calibri"/>
              </a:rPr>
              <a:t>lee el cuerpo y elige 201 o 400.</a:t>
            </a:r>
          </a:p>
          <a:p>
            <a:pPr algn="l">
              <a:spcAft>
                <a:spcPts val="300"/>
              </a:spcAft>
            </a:pPr>
            <a:r>
              <a:rPr lang="es-CO" sz="1100" b="1" i="0">
                <a:solidFill>
                  <a:srgbClr val="3DDC97"/>
                </a:solidFill>
                <a:latin typeface="Calibri"/>
              </a:rPr>
              <a:t>›  </a:t>
            </a:r>
            <a:r>
              <a:rPr lang="es-CO" sz="1100" b="1" i="0">
                <a:solidFill>
                  <a:srgbClr val="E8EEF6"/>
                </a:solidFill>
                <a:latin typeface="Calibri"/>
              </a:rPr>
              <a:t>Modelo: </a:t>
            </a:r>
            <a:r>
              <a:rPr lang="es-CO" sz="1100" b="0" i="0">
                <a:solidFill>
                  <a:srgbClr val="E8EEF6"/>
                </a:solidFill>
                <a:latin typeface="Calibri"/>
              </a:rPr>
              <a:t>decide si el contacto es válido.</a:t>
            </a:r>
          </a:p>
          <a:p>
            <a:pPr algn="l">
              <a:spcAft>
                <a:spcPts val="300"/>
              </a:spcAft>
            </a:pPr>
            <a:r>
              <a:rPr lang="es-CO" sz="1100" b="1" i="0">
                <a:solidFill>
                  <a:srgbClr val="3DDC97"/>
                </a:solidFill>
                <a:latin typeface="Calibri"/>
              </a:rPr>
              <a:t>›  </a:t>
            </a:r>
            <a:r>
              <a:rPr lang="es-CO" sz="1100" b="1" i="0">
                <a:solidFill>
                  <a:srgbClr val="E8EEF6"/>
                </a:solidFill>
                <a:latin typeface="Calibri"/>
              </a:rPr>
              <a:t>Repositorio: </a:t>
            </a:r>
            <a:r>
              <a:rPr lang="es-CO" sz="1100" b="0" i="0">
                <a:solidFill>
                  <a:srgbClr val="E8EEF6"/>
                </a:solidFill>
                <a:latin typeface="Calibri"/>
              </a:rPr>
              <a:t>solo guarda lo que el modelo aprueba.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7100A"/>
        </a:solidFill>
        <a:effectLst/>
      </p:bgPr>
    </p:bg>
    <p:spTree>
      <p:nvGrpSpPr>
        <p:cNvPr id="1" name=""/>
        <p:cNvGrpSpPr/>
        <p:nvPr/>
      </p:nvGrpSpPr>
      <p:grpSpPr>
        <a:xfrm>
          <a:off x="0" y="0"/>
          <a:ext cx="0" cy="0"/>
          <a:chOff x="0" y="0"/>
          <a:chExt cx="0" cy="0"/>
        </a:xfrm>
      </p:grpSpPr>
      <p:sp>
        <p:nvSpPr>
          <p:cNvPr id="2" name="TextBox 1"/>
          <p:cNvSpPr txBox="1"/>
          <p:nvPr/>
        </p:nvSpPr>
        <p:spPr>
          <a:xfrm>
            <a:off x="6309360" y="4718304"/>
            <a:ext cx="2331720" cy="201168"/>
          </a:xfrm>
          <a:prstGeom prst="rect">
            <a:avLst/>
          </a:prstGeom>
          <a:noFill/>
        </p:spPr>
        <p:txBody>
          <a:bodyPr wrap="square" lIns="0" tIns="0" rIns="0" bIns="0" anchor="ctr">
            <a:spAutoFit/>
          </a:bodyPr>
          <a:lstStyle/>
          <a:p>
            <a:pPr algn="r"/>
            <a:r>
              <a:rPr lang="es-CO" sz="800" b="0" i="0">
                <a:solidFill>
                  <a:srgbClr val="6C7E96"/>
                </a:solidFill>
                <a:latin typeface="Arial"/>
              </a:rPr>
              <a:t>Ingeniería Web  ·  12 / 24</a:t>
            </a:r>
          </a:p>
        </p:txBody>
      </p:sp>
      <p:sp>
        <p:nvSpPr>
          <p:cNvPr id="3" name="Rounded Rectangle 2"/>
          <p:cNvSpPr/>
          <p:nvPr/>
        </p:nvSpPr>
        <p:spPr>
          <a:xfrm>
            <a:off x="502920" y="365760"/>
            <a:ext cx="1728216" cy="228600"/>
          </a:xfrm>
          <a:prstGeom prst="roundRect">
            <a:avLst>
              <a:gd name="adj" fmla="val 50000"/>
            </a:avLst>
          </a:prstGeom>
          <a:solidFill>
            <a:srgbClr val="35210F"/>
          </a:solidFill>
          <a:ln w="9525">
            <a:solidFill>
              <a:srgbClr val="FF8A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4" name="TextBox 3"/>
          <p:cNvSpPr txBox="1"/>
          <p:nvPr/>
        </p:nvSpPr>
        <p:spPr>
          <a:xfrm>
            <a:off x="502920" y="395421"/>
            <a:ext cx="1728216" cy="169277"/>
          </a:xfrm>
          <a:prstGeom prst="rect">
            <a:avLst/>
          </a:prstGeom>
          <a:noFill/>
        </p:spPr>
        <p:txBody>
          <a:bodyPr wrap="square" lIns="0" tIns="0" rIns="0" bIns="0" anchor="ctr">
            <a:spAutoFit/>
          </a:bodyPr>
          <a:lstStyle/>
          <a:p>
            <a:pPr algn="ctr"/>
            <a:r>
              <a:rPr lang="es-CO" sz="1100" b="1" i="0">
                <a:solidFill>
                  <a:srgbClr val="FF8A3D"/>
                </a:solidFill>
                <a:latin typeface="Arial"/>
              </a:rPr>
              <a:t>LABORATORIO 07</a:t>
            </a:r>
          </a:p>
        </p:txBody>
      </p:sp>
      <p:sp>
        <p:nvSpPr>
          <p:cNvPr id="5" name="Rounded Rectangle 4"/>
          <p:cNvSpPr/>
          <p:nvPr/>
        </p:nvSpPr>
        <p:spPr>
          <a:xfrm>
            <a:off x="6903719" y="384048"/>
            <a:ext cx="1854691" cy="182880"/>
          </a:xfrm>
          <a:prstGeom prst="roundRect">
            <a:avLst>
              <a:gd name="adj" fmla="val 50000"/>
            </a:avLst>
          </a:prstGeom>
          <a:solidFill>
            <a:srgbClr val="132A24"/>
          </a:solidFill>
          <a:ln w="952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6" name="TextBox 5"/>
          <p:cNvSpPr txBox="1"/>
          <p:nvPr/>
        </p:nvSpPr>
        <p:spPr>
          <a:xfrm>
            <a:off x="6882288" y="395421"/>
            <a:ext cx="1854690" cy="169277"/>
          </a:xfrm>
          <a:prstGeom prst="rect">
            <a:avLst/>
          </a:prstGeom>
          <a:noFill/>
        </p:spPr>
        <p:txBody>
          <a:bodyPr wrap="square" lIns="0" tIns="0" rIns="0" bIns="0" anchor="ctr">
            <a:spAutoFit/>
          </a:bodyPr>
          <a:lstStyle/>
          <a:p>
            <a:pPr algn="ctr"/>
            <a:r>
              <a:rPr lang="es-CO" sz="1100" b="1" i="0" dirty="0">
                <a:solidFill>
                  <a:srgbClr val="3DDC97"/>
                </a:solidFill>
                <a:latin typeface="Arial"/>
              </a:rPr>
              <a:t>PROYECTO PREPARADO</a:t>
            </a:r>
          </a:p>
        </p:txBody>
      </p:sp>
      <p:sp>
        <p:nvSpPr>
          <p:cNvPr id="7" name="TextBox 6"/>
          <p:cNvSpPr txBox="1"/>
          <p:nvPr/>
        </p:nvSpPr>
        <p:spPr>
          <a:xfrm>
            <a:off x="475488" y="640080"/>
            <a:ext cx="8138160" cy="603504"/>
          </a:xfrm>
          <a:prstGeom prst="rect">
            <a:avLst/>
          </a:prstGeom>
          <a:noFill/>
        </p:spPr>
        <p:txBody>
          <a:bodyPr wrap="square" lIns="0" tIns="0" rIns="0" bIns="0" anchor="t">
            <a:spAutoFit/>
          </a:bodyPr>
          <a:lstStyle/>
          <a:p>
            <a:pPr algn="l"/>
            <a:r>
              <a:rPr lang="es-CO" sz="1900" b="1" i="0" dirty="0">
                <a:solidFill>
                  <a:srgbClr val="FFFFFF"/>
                </a:solidFill>
                <a:latin typeface="Arial"/>
              </a:rPr>
              <a:t>Laboratorio 07 — Organización del proyecto de contactos con capas y MVC</a:t>
            </a:r>
          </a:p>
        </p:txBody>
      </p:sp>
      <p:sp>
        <p:nvSpPr>
          <p:cNvPr id="8" name="Rounded Rectangle 7"/>
          <p:cNvSpPr/>
          <p:nvPr/>
        </p:nvSpPr>
        <p:spPr>
          <a:xfrm>
            <a:off x="502920" y="1280160"/>
            <a:ext cx="2615184" cy="1078992"/>
          </a:xfrm>
          <a:prstGeom prst="roundRect">
            <a:avLst>
              <a:gd name="adj" fmla="val 8000"/>
            </a:avLst>
          </a:prstGeom>
          <a:solidFill>
            <a:srgbClr val="20160E"/>
          </a:solidFill>
          <a:ln w="12700">
            <a:solidFill>
              <a:srgbClr val="FF8A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9" name="TextBox 8"/>
          <p:cNvSpPr txBox="1"/>
          <p:nvPr/>
        </p:nvSpPr>
        <p:spPr>
          <a:xfrm>
            <a:off x="630936" y="1396689"/>
            <a:ext cx="2359152" cy="169277"/>
          </a:xfrm>
          <a:prstGeom prst="rect">
            <a:avLst/>
          </a:prstGeom>
          <a:noFill/>
        </p:spPr>
        <p:txBody>
          <a:bodyPr wrap="square" lIns="0" tIns="0" rIns="0" bIns="0" anchor="ctr">
            <a:spAutoFit/>
          </a:bodyPr>
          <a:lstStyle/>
          <a:p>
            <a:pPr algn="l"/>
            <a:r>
              <a:rPr lang="es-CO" sz="1100" b="1" i="0">
                <a:solidFill>
                  <a:srgbClr val="FF8A3D"/>
                </a:solidFill>
                <a:latin typeface="Arial"/>
              </a:rPr>
              <a:t>Propósito</a:t>
            </a:r>
          </a:p>
        </p:txBody>
      </p:sp>
      <p:sp>
        <p:nvSpPr>
          <p:cNvPr id="10" name="TextBox 9"/>
          <p:cNvSpPr txBox="1"/>
          <p:nvPr/>
        </p:nvSpPr>
        <p:spPr>
          <a:xfrm>
            <a:off x="630936" y="1636776"/>
            <a:ext cx="2359152" cy="338554"/>
          </a:xfrm>
          <a:prstGeom prst="rect">
            <a:avLst/>
          </a:prstGeom>
          <a:noFill/>
        </p:spPr>
        <p:txBody>
          <a:bodyPr wrap="square" lIns="0" tIns="0" rIns="0" bIns="0" anchor="t">
            <a:spAutoFit/>
          </a:bodyPr>
          <a:lstStyle/>
          <a:p>
            <a:pPr algn="l">
              <a:spcAft>
                <a:spcPts val="200"/>
              </a:spcAft>
            </a:pPr>
            <a:r>
              <a:rPr lang="es-CO" sz="1100" b="0" i="0">
                <a:solidFill>
                  <a:srgbClr val="E8EEF6"/>
                </a:solidFill>
                <a:latin typeface="Calibri"/>
              </a:rPr>
              <a:t>Seguir una consulta y un registro por las capas y agregar una regla en el modelo.</a:t>
            </a:r>
          </a:p>
        </p:txBody>
      </p:sp>
      <p:sp>
        <p:nvSpPr>
          <p:cNvPr id="11" name="Rounded Rectangle 10"/>
          <p:cNvSpPr/>
          <p:nvPr/>
        </p:nvSpPr>
        <p:spPr>
          <a:xfrm>
            <a:off x="3264408" y="1280160"/>
            <a:ext cx="2615184" cy="1078992"/>
          </a:xfrm>
          <a:prstGeom prst="roundRect">
            <a:avLst>
              <a:gd name="adj" fmla="val 8000"/>
            </a:avLst>
          </a:prstGeom>
          <a:solidFill>
            <a:srgbClr val="20160E"/>
          </a:solidFill>
          <a:ln w="12700">
            <a:solidFill>
              <a:srgbClr val="FFB86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12" name="TextBox 11"/>
          <p:cNvSpPr txBox="1"/>
          <p:nvPr/>
        </p:nvSpPr>
        <p:spPr>
          <a:xfrm>
            <a:off x="3392424" y="1396689"/>
            <a:ext cx="2359152" cy="169277"/>
          </a:xfrm>
          <a:prstGeom prst="rect">
            <a:avLst/>
          </a:prstGeom>
          <a:noFill/>
        </p:spPr>
        <p:txBody>
          <a:bodyPr wrap="square" lIns="0" tIns="0" rIns="0" bIns="0" anchor="ctr">
            <a:spAutoFit/>
          </a:bodyPr>
          <a:lstStyle/>
          <a:p>
            <a:pPr algn="l"/>
            <a:r>
              <a:rPr lang="es-CO" sz="1100" b="1" i="0">
                <a:solidFill>
                  <a:srgbClr val="FFB86C"/>
                </a:solidFill>
                <a:latin typeface="Arial"/>
              </a:rPr>
              <a:t>Punto de partida</a:t>
            </a:r>
          </a:p>
        </p:txBody>
      </p:sp>
      <p:sp>
        <p:nvSpPr>
          <p:cNvPr id="13" name="TextBox 12"/>
          <p:cNvSpPr txBox="1"/>
          <p:nvPr/>
        </p:nvSpPr>
        <p:spPr>
          <a:xfrm>
            <a:off x="3392424" y="1636776"/>
            <a:ext cx="2359152" cy="507831"/>
          </a:xfrm>
          <a:prstGeom prst="rect">
            <a:avLst/>
          </a:prstGeom>
          <a:noFill/>
        </p:spPr>
        <p:txBody>
          <a:bodyPr wrap="square" lIns="0" tIns="0" rIns="0" bIns="0" anchor="t">
            <a:spAutoFit/>
          </a:bodyPr>
          <a:lstStyle/>
          <a:p>
            <a:pPr algn="l">
              <a:spcAft>
                <a:spcPts val="200"/>
              </a:spcAft>
            </a:pPr>
            <a:r>
              <a:rPr lang="es-CO" sz="1100" b="0" i="0">
                <a:solidFill>
                  <a:srgbClr val="E8EEF6"/>
                </a:solidFill>
                <a:latin typeface="Calibri"/>
              </a:rPr>
              <a:t>Proyecto preparado con routes/, controllers/, models/, data/, views/ y public/.</a:t>
            </a:r>
          </a:p>
        </p:txBody>
      </p:sp>
      <p:sp>
        <p:nvSpPr>
          <p:cNvPr id="14" name="Rounded Rectangle 13"/>
          <p:cNvSpPr/>
          <p:nvPr/>
        </p:nvSpPr>
        <p:spPr>
          <a:xfrm>
            <a:off x="6025896" y="1280160"/>
            <a:ext cx="2615184" cy="1078992"/>
          </a:xfrm>
          <a:prstGeom prst="roundRect">
            <a:avLst>
              <a:gd name="adj" fmla="val 8000"/>
            </a:avLst>
          </a:prstGeom>
          <a:solidFill>
            <a:srgbClr val="20160E"/>
          </a:solidFill>
          <a:ln w="12700">
            <a:solidFill>
              <a:srgbClr val="FFD47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15" name="TextBox 14"/>
          <p:cNvSpPr txBox="1"/>
          <p:nvPr/>
        </p:nvSpPr>
        <p:spPr>
          <a:xfrm>
            <a:off x="6153912" y="1396689"/>
            <a:ext cx="2359152" cy="169277"/>
          </a:xfrm>
          <a:prstGeom prst="rect">
            <a:avLst/>
          </a:prstGeom>
          <a:noFill/>
        </p:spPr>
        <p:txBody>
          <a:bodyPr wrap="square" lIns="0" tIns="0" rIns="0" bIns="0" anchor="ctr">
            <a:spAutoFit/>
          </a:bodyPr>
          <a:lstStyle/>
          <a:p>
            <a:pPr algn="l"/>
            <a:r>
              <a:rPr lang="es-CO" sz="1100" b="1" i="0">
                <a:solidFill>
                  <a:srgbClr val="FFD479"/>
                </a:solidFill>
                <a:latin typeface="Arial"/>
              </a:rPr>
              <a:t>Resultado esperado</a:t>
            </a:r>
          </a:p>
        </p:txBody>
      </p:sp>
      <p:sp>
        <p:nvSpPr>
          <p:cNvPr id="16" name="TextBox 15"/>
          <p:cNvSpPr txBox="1"/>
          <p:nvPr/>
        </p:nvSpPr>
        <p:spPr>
          <a:xfrm>
            <a:off x="6153912" y="1636776"/>
            <a:ext cx="2359152" cy="507831"/>
          </a:xfrm>
          <a:prstGeom prst="rect">
            <a:avLst/>
          </a:prstGeom>
          <a:noFill/>
        </p:spPr>
        <p:txBody>
          <a:bodyPr wrap="square" lIns="0" tIns="0" rIns="0" bIns="0" anchor="t">
            <a:spAutoFit/>
          </a:bodyPr>
          <a:lstStyle/>
          <a:p>
            <a:pPr algn="l">
              <a:spcAft>
                <a:spcPts val="200"/>
              </a:spcAft>
            </a:pPr>
            <a:r>
              <a:rPr lang="es-CO" sz="1100" b="0" i="0">
                <a:solidFill>
                  <a:srgbClr val="E8EEF6"/>
                </a:solidFill>
                <a:latin typeface="Calibri"/>
              </a:rPr>
              <a:t>Mensaje corto: 400 y no se guarda. Registro válido: 201 y aparece en la consulta.</a:t>
            </a:r>
          </a:p>
        </p:txBody>
      </p:sp>
      <p:sp>
        <p:nvSpPr>
          <p:cNvPr id="17" name="Rounded Rectangle 16"/>
          <p:cNvSpPr/>
          <p:nvPr/>
        </p:nvSpPr>
        <p:spPr>
          <a:xfrm>
            <a:off x="502920" y="2505456"/>
            <a:ext cx="8138160" cy="2011680"/>
          </a:xfrm>
          <a:prstGeom prst="roundRect">
            <a:avLst>
              <a:gd name="adj" fmla="val 8000"/>
            </a:avLst>
          </a:prstGeom>
          <a:solidFill>
            <a:srgbClr val="070C14"/>
          </a:solidFill>
          <a:ln w="12700">
            <a:solidFill>
              <a:srgbClr val="FF8A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18" name="TextBox 17"/>
          <p:cNvSpPr txBox="1"/>
          <p:nvPr/>
        </p:nvSpPr>
        <p:spPr>
          <a:xfrm>
            <a:off x="667512" y="2594553"/>
            <a:ext cx="5486400" cy="169277"/>
          </a:xfrm>
          <a:prstGeom prst="rect">
            <a:avLst/>
          </a:prstGeom>
          <a:noFill/>
        </p:spPr>
        <p:txBody>
          <a:bodyPr wrap="square" lIns="0" tIns="0" rIns="0" bIns="0" anchor="ctr">
            <a:spAutoFit/>
          </a:bodyPr>
          <a:lstStyle/>
          <a:p>
            <a:pPr algn="l"/>
            <a:r>
              <a:rPr lang="es-CO" sz="1100" b="1" i="0">
                <a:solidFill>
                  <a:srgbClr val="FF8A3D"/>
                </a:solidFill>
                <a:latin typeface="Arial"/>
              </a:rPr>
              <a:t>Pasos · 20 minutos</a:t>
            </a:r>
          </a:p>
        </p:txBody>
      </p:sp>
      <p:sp>
        <p:nvSpPr>
          <p:cNvPr id="19" name="Rounded Rectangle 18"/>
          <p:cNvSpPr/>
          <p:nvPr/>
        </p:nvSpPr>
        <p:spPr>
          <a:xfrm>
            <a:off x="667512" y="2852928"/>
            <a:ext cx="246888" cy="246888"/>
          </a:xfrm>
          <a:prstGeom prst="roundRect">
            <a:avLst>
              <a:gd name="adj" fmla="val 13333"/>
            </a:avLst>
          </a:prstGeom>
          <a:solidFill>
            <a:srgbClr val="35210F"/>
          </a:solidFill>
          <a:ln w="12700">
            <a:solidFill>
              <a:srgbClr val="FF8A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20" name="TextBox 19"/>
          <p:cNvSpPr txBox="1"/>
          <p:nvPr/>
        </p:nvSpPr>
        <p:spPr>
          <a:xfrm>
            <a:off x="667512" y="2891733"/>
            <a:ext cx="246888" cy="169277"/>
          </a:xfrm>
          <a:prstGeom prst="rect">
            <a:avLst/>
          </a:prstGeom>
          <a:noFill/>
        </p:spPr>
        <p:txBody>
          <a:bodyPr wrap="square" lIns="0" tIns="0" rIns="0" bIns="0" anchor="ctr">
            <a:spAutoFit/>
          </a:bodyPr>
          <a:lstStyle/>
          <a:p>
            <a:pPr algn="ctr"/>
            <a:r>
              <a:rPr lang="es-CO" sz="1100" b="1" i="0">
                <a:solidFill>
                  <a:srgbClr val="FF8A3D"/>
                </a:solidFill>
                <a:latin typeface="Arial"/>
              </a:rPr>
              <a:t>1</a:t>
            </a:r>
          </a:p>
        </p:txBody>
      </p:sp>
      <p:sp>
        <p:nvSpPr>
          <p:cNvPr id="21" name="TextBox 20"/>
          <p:cNvSpPr txBox="1"/>
          <p:nvPr/>
        </p:nvSpPr>
        <p:spPr>
          <a:xfrm>
            <a:off x="1024128" y="2891733"/>
            <a:ext cx="6309360" cy="169277"/>
          </a:xfrm>
          <a:prstGeom prst="rect">
            <a:avLst/>
          </a:prstGeom>
          <a:noFill/>
        </p:spPr>
        <p:txBody>
          <a:bodyPr wrap="square" lIns="0" tIns="0" rIns="0" bIns="0" anchor="ctr">
            <a:spAutoFit/>
          </a:bodyPr>
          <a:lstStyle/>
          <a:p>
            <a:pPr algn="l"/>
            <a:r>
              <a:rPr lang="es-CO" sz="1100" b="0" i="0">
                <a:solidFill>
                  <a:srgbClr val="E8EEF6"/>
                </a:solidFill>
                <a:latin typeface="Calibri"/>
              </a:rPr>
              <a:t>Ejecutar node server_rutas.js y abrir http://localhost:3000.</a:t>
            </a:r>
          </a:p>
        </p:txBody>
      </p:sp>
      <p:sp>
        <p:nvSpPr>
          <p:cNvPr id="22" name="TextBox 21"/>
          <p:cNvSpPr txBox="1"/>
          <p:nvPr/>
        </p:nvSpPr>
        <p:spPr>
          <a:xfrm>
            <a:off x="7543800" y="2891733"/>
            <a:ext cx="914400" cy="169277"/>
          </a:xfrm>
          <a:prstGeom prst="rect">
            <a:avLst/>
          </a:prstGeom>
          <a:noFill/>
        </p:spPr>
        <p:txBody>
          <a:bodyPr wrap="square" lIns="0" tIns="0" rIns="0" bIns="0" anchor="ctr">
            <a:spAutoFit/>
          </a:bodyPr>
          <a:lstStyle/>
          <a:p>
            <a:pPr algn="r"/>
            <a:r>
              <a:rPr lang="es-CO" sz="1100" b="0" i="0">
                <a:solidFill>
                  <a:srgbClr val="FFB86C"/>
                </a:solidFill>
                <a:latin typeface="Courier New"/>
              </a:rPr>
              <a:t>2 min</a:t>
            </a:r>
          </a:p>
        </p:txBody>
      </p:sp>
      <p:sp>
        <p:nvSpPr>
          <p:cNvPr id="23" name="Rounded Rectangle 22"/>
          <p:cNvSpPr/>
          <p:nvPr/>
        </p:nvSpPr>
        <p:spPr>
          <a:xfrm>
            <a:off x="667512" y="3177540"/>
            <a:ext cx="246888" cy="246888"/>
          </a:xfrm>
          <a:prstGeom prst="roundRect">
            <a:avLst>
              <a:gd name="adj" fmla="val 13333"/>
            </a:avLst>
          </a:prstGeom>
          <a:solidFill>
            <a:srgbClr val="35210F"/>
          </a:solidFill>
          <a:ln w="12700">
            <a:solidFill>
              <a:srgbClr val="FF8A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24" name="TextBox 23"/>
          <p:cNvSpPr txBox="1"/>
          <p:nvPr/>
        </p:nvSpPr>
        <p:spPr>
          <a:xfrm>
            <a:off x="667512" y="3216345"/>
            <a:ext cx="246888" cy="169277"/>
          </a:xfrm>
          <a:prstGeom prst="rect">
            <a:avLst/>
          </a:prstGeom>
          <a:noFill/>
        </p:spPr>
        <p:txBody>
          <a:bodyPr wrap="square" lIns="0" tIns="0" rIns="0" bIns="0" anchor="ctr">
            <a:spAutoFit/>
          </a:bodyPr>
          <a:lstStyle/>
          <a:p>
            <a:pPr algn="ctr"/>
            <a:r>
              <a:rPr lang="es-CO" sz="1100" b="1" i="0">
                <a:solidFill>
                  <a:srgbClr val="FF8A3D"/>
                </a:solidFill>
                <a:latin typeface="Arial"/>
              </a:rPr>
              <a:t>2</a:t>
            </a:r>
          </a:p>
        </p:txBody>
      </p:sp>
      <p:sp>
        <p:nvSpPr>
          <p:cNvPr id="25" name="TextBox 24"/>
          <p:cNvSpPr txBox="1"/>
          <p:nvPr/>
        </p:nvSpPr>
        <p:spPr>
          <a:xfrm>
            <a:off x="1024128" y="3216345"/>
            <a:ext cx="6309360" cy="169277"/>
          </a:xfrm>
          <a:prstGeom prst="rect">
            <a:avLst/>
          </a:prstGeom>
          <a:noFill/>
        </p:spPr>
        <p:txBody>
          <a:bodyPr wrap="square" lIns="0" tIns="0" rIns="0" bIns="0" anchor="ctr">
            <a:spAutoFit/>
          </a:bodyPr>
          <a:lstStyle/>
          <a:p>
            <a:pPr algn="l"/>
            <a:r>
              <a:rPr lang="es-CO" sz="1100" b="0" i="0">
                <a:solidFill>
                  <a:srgbClr val="E8EEF6"/>
                </a:solidFill>
                <a:latin typeface="Calibri"/>
              </a:rPr>
              <a:t>Seguir GET /api/contactos: rutas → controlador → modelo → repositorio.</a:t>
            </a:r>
          </a:p>
        </p:txBody>
      </p:sp>
      <p:sp>
        <p:nvSpPr>
          <p:cNvPr id="26" name="TextBox 25"/>
          <p:cNvSpPr txBox="1"/>
          <p:nvPr/>
        </p:nvSpPr>
        <p:spPr>
          <a:xfrm>
            <a:off x="7543800" y="3216345"/>
            <a:ext cx="914400" cy="169277"/>
          </a:xfrm>
          <a:prstGeom prst="rect">
            <a:avLst/>
          </a:prstGeom>
          <a:noFill/>
        </p:spPr>
        <p:txBody>
          <a:bodyPr wrap="square" lIns="0" tIns="0" rIns="0" bIns="0" anchor="ctr">
            <a:spAutoFit/>
          </a:bodyPr>
          <a:lstStyle/>
          <a:p>
            <a:pPr algn="r"/>
            <a:r>
              <a:rPr lang="es-CO" sz="1100" b="0" i="0">
                <a:solidFill>
                  <a:srgbClr val="FFB86C"/>
                </a:solidFill>
                <a:latin typeface="Courier New"/>
              </a:rPr>
              <a:t>5 min</a:t>
            </a:r>
          </a:p>
        </p:txBody>
      </p:sp>
      <p:sp>
        <p:nvSpPr>
          <p:cNvPr id="27" name="Rounded Rectangle 26"/>
          <p:cNvSpPr/>
          <p:nvPr/>
        </p:nvSpPr>
        <p:spPr>
          <a:xfrm>
            <a:off x="667512" y="3502152"/>
            <a:ext cx="246888" cy="246888"/>
          </a:xfrm>
          <a:prstGeom prst="roundRect">
            <a:avLst>
              <a:gd name="adj" fmla="val 13333"/>
            </a:avLst>
          </a:prstGeom>
          <a:solidFill>
            <a:srgbClr val="35210F"/>
          </a:solidFill>
          <a:ln w="12700">
            <a:solidFill>
              <a:srgbClr val="FF8A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28" name="TextBox 27"/>
          <p:cNvSpPr txBox="1"/>
          <p:nvPr/>
        </p:nvSpPr>
        <p:spPr>
          <a:xfrm>
            <a:off x="667512" y="3540957"/>
            <a:ext cx="246888" cy="169277"/>
          </a:xfrm>
          <a:prstGeom prst="rect">
            <a:avLst/>
          </a:prstGeom>
          <a:noFill/>
        </p:spPr>
        <p:txBody>
          <a:bodyPr wrap="square" lIns="0" tIns="0" rIns="0" bIns="0" anchor="ctr">
            <a:spAutoFit/>
          </a:bodyPr>
          <a:lstStyle/>
          <a:p>
            <a:pPr algn="ctr"/>
            <a:r>
              <a:rPr lang="es-CO" sz="1100" b="1" i="0">
                <a:solidFill>
                  <a:srgbClr val="FF8A3D"/>
                </a:solidFill>
                <a:latin typeface="Arial"/>
              </a:rPr>
              <a:t>3</a:t>
            </a:r>
          </a:p>
        </p:txBody>
      </p:sp>
      <p:sp>
        <p:nvSpPr>
          <p:cNvPr id="29" name="TextBox 28"/>
          <p:cNvSpPr txBox="1"/>
          <p:nvPr/>
        </p:nvSpPr>
        <p:spPr>
          <a:xfrm>
            <a:off x="1024128" y="3540957"/>
            <a:ext cx="6309360" cy="169277"/>
          </a:xfrm>
          <a:prstGeom prst="rect">
            <a:avLst/>
          </a:prstGeom>
          <a:noFill/>
        </p:spPr>
        <p:txBody>
          <a:bodyPr wrap="square" lIns="0" tIns="0" rIns="0" bIns="0" anchor="ctr">
            <a:spAutoFit/>
          </a:bodyPr>
          <a:lstStyle/>
          <a:p>
            <a:pPr algn="l"/>
            <a:r>
              <a:rPr lang="es-CO" sz="1100" b="0" i="0">
                <a:solidFill>
                  <a:srgbClr val="E8EEF6"/>
                </a:solidFill>
                <a:latin typeface="Calibri"/>
              </a:rPr>
              <a:t>Seguir POST /contacto: ¿dónde se lee el cuerpo, se valida y se guarda?</a:t>
            </a:r>
          </a:p>
        </p:txBody>
      </p:sp>
      <p:sp>
        <p:nvSpPr>
          <p:cNvPr id="30" name="TextBox 29"/>
          <p:cNvSpPr txBox="1"/>
          <p:nvPr/>
        </p:nvSpPr>
        <p:spPr>
          <a:xfrm>
            <a:off x="7543800" y="3540957"/>
            <a:ext cx="914400" cy="169277"/>
          </a:xfrm>
          <a:prstGeom prst="rect">
            <a:avLst/>
          </a:prstGeom>
          <a:noFill/>
        </p:spPr>
        <p:txBody>
          <a:bodyPr wrap="square" lIns="0" tIns="0" rIns="0" bIns="0" anchor="ctr">
            <a:spAutoFit/>
          </a:bodyPr>
          <a:lstStyle/>
          <a:p>
            <a:pPr algn="r"/>
            <a:r>
              <a:rPr lang="es-CO" sz="1100" b="0" i="0">
                <a:solidFill>
                  <a:srgbClr val="FFB86C"/>
                </a:solidFill>
                <a:latin typeface="Courier New"/>
              </a:rPr>
              <a:t>4 min</a:t>
            </a:r>
          </a:p>
        </p:txBody>
      </p:sp>
      <p:sp>
        <p:nvSpPr>
          <p:cNvPr id="31" name="Rounded Rectangle 30"/>
          <p:cNvSpPr/>
          <p:nvPr/>
        </p:nvSpPr>
        <p:spPr>
          <a:xfrm>
            <a:off x="667512" y="3826764"/>
            <a:ext cx="246888" cy="246888"/>
          </a:xfrm>
          <a:prstGeom prst="roundRect">
            <a:avLst>
              <a:gd name="adj" fmla="val 13333"/>
            </a:avLst>
          </a:prstGeom>
          <a:solidFill>
            <a:srgbClr val="35210F"/>
          </a:solidFill>
          <a:ln w="12700">
            <a:solidFill>
              <a:srgbClr val="FF8A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32" name="TextBox 31"/>
          <p:cNvSpPr txBox="1"/>
          <p:nvPr/>
        </p:nvSpPr>
        <p:spPr>
          <a:xfrm>
            <a:off x="667512" y="3865569"/>
            <a:ext cx="246888" cy="169277"/>
          </a:xfrm>
          <a:prstGeom prst="rect">
            <a:avLst/>
          </a:prstGeom>
          <a:noFill/>
        </p:spPr>
        <p:txBody>
          <a:bodyPr wrap="square" lIns="0" tIns="0" rIns="0" bIns="0" anchor="ctr">
            <a:spAutoFit/>
          </a:bodyPr>
          <a:lstStyle/>
          <a:p>
            <a:pPr algn="ctr"/>
            <a:r>
              <a:rPr lang="es-CO" sz="1100" b="1" i="0">
                <a:solidFill>
                  <a:srgbClr val="FF8A3D"/>
                </a:solidFill>
                <a:latin typeface="Arial"/>
              </a:rPr>
              <a:t>4</a:t>
            </a:r>
          </a:p>
        </p:txBody>
      </p:sp>
      <p:sp>
        <p:nvSpPr>
          <p:cNvPr id="33" name="TextBox 32"/>
          <p:cNvSpPr txBox="1"/>
          <p:nvPr/>
        </p:nvSpPr>
        <p:spPr>
          <a:xfrm>
            <a:off x="1024128" y="3865569"/>
            <a:ext cx="6309360" cy="169277"/>
          </a:xfrm>
          <a:prstGeom prst="rect">
            <a:avLst/>
          </a:prstGeom>
          <a:noFill/>
        </p:spPr>
        <p:txBody>
          <a:bodyPr wrap="square" lIns="0" tIns="0" rIns="0" bIns="0" anchor="ctr">
            <a:spAutoFit/>
          </a:bodyPr>
          <a:lstStyle/>
          <a:p>
            <a:pPr algn="l"/>
            <a:r>
              <a:rPr lang="es-CO" sz="1100" b="0" i="0">
                <a:solidFill>
                  <a:srgbClr val="E8EEF6"/>
                </a:solidFill>
                <a:latin typeface="Calibri"/>
              </a:rPr>
              <a:t>En models/contactoModel.js, agregar la regla de 10 caracteres.</a:t>
            </a:r>
          </a:p>
        </p:txBody>
      </p:sp>
      <p:sp>
        <p:nvSpPr>
          <p:cNvPr id="34" name="TextBox 33"/>
          <p:cNvSpPr txBox="1"/>
          <p:nvPr/>
        </p:nvSpPr>
        <p:spPr>
          <a:xfrm>
            <a:off x="7543800" y="3865569"/>
            <a:ext cx="914400" cy="169277"/>
          </a:xfrm>
          <a:prstGeom prst="rect">
            <a:avLst/>
          </a:prstGeom>
          <a:noFill/>
        </p:spPr>
        <p:txBody>
          <a:bodyPr wrap="square" lIns="0" tIns="0" rIns="0" bIns="0" anchor="ctr">
            <a:spAutoFit/>
          </a:bodyPr>
          <a:lstStyle/>
          <a:p>
            <a:pPr algn="r"/>
            <a:r>
              <a:rPr lang="es-CO" sz="1100" b="0" i="0">
                <a:solidFill>
                  <a:srgbClr val="FFB86C"/>
                </a:solidFill>
                <a:latin typeface="Courier New"/>
              </a:rPr>
              <a:t>5 min</a:t>
            </a:r>
          </a:p>
        </p:txBody>
      </p:sp>
      <p:sp>
        <p:nvSpPr>
          <p:cNvPr id="35" name="Rounded Rectangle 34"/>
          <p:cNvSpPr/>
          <p:nvPr/>
        </p:nvSpPr>
        <p:spPr>
          <a:xfrm>
            <a:off x="667512" y="4151376"/>
            <a:ext cx="246888" cy="246888"/>
          </a:xfrm>
          <a:prstGeom prst="roundRect">
            <a:avLst>
              <a:gd name="adj" fmla="val 13333"/>
            </a:avLst>
          </a:prstGeom>
          <a:solidFill>
            <a:srgbClr val="35210F"/>
          </a:solidFill>
          <a:ln w="12700">
            <a:solidFill>
              <a:srgbClr val="FF8A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36" name="TextBox 35"/>
          <p:cNvSpPr txBox="1"/>
          <p:nvPr/>
        </p:nvSpPr>
        <p:spPr>
          <a:xfrm>
            <a:off x="667512" y="4190181"/>
            <a:ext cx="246888" cy="169277"/>
          </a:xfrm>
          <a:prstGeom prst="rect">
            <a:avLst/>
          </a:prstGeom>
          <a:noFill/>
        </p:spPr>
        <p:txBody>
          <a:bodyPr wrap="square" lIns="0" tIns="0" rIns="0" bIns="0" anchor="ctr">
            <a:spAutoFit/>
          </a:bodyPr>
          <a:lstStyle/>
          <a:p>
            <a:pPr algn="ctr"/>
            <a:r>
              <a:rPr lang="es-CO" sz="1100" b="1" i="0">
                <a:solidFill>
                  <a:srgbClr val="FF8A3D"/>
                </a:solidFill>
                <a:latin typeface="Arial"/>
              </a:rPr>
              <a:t>5</a:t>
            </a:r>
          </a:p>
        </p:txBody>
      </p:sp>
      <p:sp>
        <p:nvSpPr>
          <p:cNvPr id="37" name="TextBox 36"/>
          <p:cNvSpPr txBox="1"/>
          <p:nvPr/>
        </p:nvSpPr>
        <p:spPr>
          <a:xfrm>
            <a:off x="1024128" y="4190181"/>
            <a:ext cx="6309360" cy="169277"/>
          </a:xfrm>
          <a:prstGeom prst="rect">
            <a:avLst/>
          </a:prstGeom>
          <a:noFill/>
        </p:spPr>
        <p:txBody>
          <a:bodyPr wrap="square" lIns="0" tIns="0" rIns="0" bIns="0" anchor="ctr">
            <a:spAutoFit/>
          </a:bodyPr>
          <a:lstStyle/>
          <a:p>
            <a:pPr algn="l"/>
            <a:r>
              <a:rPr lang="es-CO" sz="1100" b="0" i="0">
                <a:solidFill>
                  <a:srgbClr val="E8EEF6"/>
                </a:solidFill>
                <a:latin typeface="Calibri"/>
              </a:rPr>
              <a:t>Probar un mensaje corto y uno válido; revisar /contactos.</a:t>
            </a:r>
          </a:p>
        </p:txBody>
      </p:sp>
      <p:sp>
        <p:nvSpPr>
          <p:cNvPr id="38" name="TextBox 37"/>
          <p:cNvSpPr txBox="1"/>
          <p:nvPr/>
        </p:nvSpPr>
        <p:spPr>
          <a:xfrm>
            <a:off x="7543800" y="4190181"/>
            <a:ext cx="914400" cy="169277"/>
          </a:xfrm>
          <a:prstGeom prst="rect">
            <a:avLst/>
          </a:prstGeom>
          <a:noFill/>
        </p:spPr>
        <p:txBody>
          <a:bodyPr wrap="square" lIns="0" tIns="0" rIns="0" bIns="0" anchor="ctr">
            <a:spAutoFit/>
          </a:bodyPr>
          <a:lstStyle/>
          <a:p>
            <a:pPr algn="r"/>
            <a:r>
              <a:rPr lang="es-CO" sz="1100" b="0" i="0">
                <a:solidFill>
                  <a:srgbClr val="FFB86C"/>
                </a:solidFill>
                <a:latin typeface="Courier New"/>
              </a:rPr>
              <a:t>4 min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7100A"/>
        </a:solidFill>
        <a:effectLst/>
      </p:bgPr>
    </p:bg>
    <p:spTree>
      <p:nvGrpSpPr>
        <p:cNvPr id="1" name=""/>
        <p:cNvGrpSpPr/>
        <p:nvPr/>
      </p:nvGrpSpPr>
      <p:grpSpPr>
        <a:xfrm>
          <a:off x="0" y="0"/>
          <a:ext cx="0" cy="0"/>
          <a:chOff x="0" y="0"/>
          <a:chExt cx="0" cy="0"/>
        </a:xfrm>
      </p:grpSpPr>
      <p:sp>
        <p:nvSpPr>
          <p:cNvPr id="2" name="TextBox 1"/>
          <p:cNvSpPr txBox="1"/>
          <p:nvPr/>
        </p:nvSpPr>
        <p:spPr>
          <a:xfrm>
            <a:off x="6309360" y="4718304"/>
            <a:ext cx="2331720" cy="201168"/>
          </a:xfrm>
          <a:prstGeom prst="rect">
            <a:avLst/>
          </a:prstGeom>
          <a:noFill/>
        </p:spPr>
        <p:txBody>
          <a:bodyPr wrap="square" lIns="0" tIns="0" rIns="0" bIns="0" anchor="ctr">
            <a:spAutoFit/>
          </a:bodyPr>
          <a:lstStyle/>
          <a:p>
            <a:pPr algn="r"/>
            <a:r>
              <a:rPr lang="es-CO" sz="800" b="0" i="0">
                <a:solidFill>
                  <a:srgbClr val="6C7E96"/>
                </a:solidFill>
                <a:latin typeface="Arial"/>
              </a:rPr>
              <a:t>Ingeniería Web  ·  13 / 24</a:t>
            </a:r>
          </a:p>
        </p:txBody>
      </p:sp>
      <p:sp>
        <p:nvSpPr>
          <p:cNvPr id="3" name="Rounded Rectangle 2"/>
          <p:cNvSpPr/>
          <p:nvPr/>
        </p:nvSpPr>
        <p:spPr>
          <a:xfrm>
            <a:off x="502920" y="365760"/>
            <a:ext cx="2057400" cy="228600"/>
          </a:xfrm>
          <a:prstGeom prst="roundRect">
            <a:avLst>
              <a:gd name="adj" fmla="val 50000"/>
            </a:avLst>
          </a:prstGeom>
          <a:solidFill>
            <a:srgbClr val="35210F"/>
          </a:solidFill>
          <a:ln w="9525">
            <a:solidFill>
              <a:srgbClr val="FF8A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502920" y="365760"/>
            <a:ext cx="2057400" cy="228600"/>
          </a:xfrm>
          <a:prstGeom prst="rect">
            <a:avLst/>
          </a:prstGeom>
          <a:noFill/>
        </p:spPr>
        <p:txBody>
          <a:bodyPr wrap="square" lIns="0" tIns="0" rIns="0" bIns="0" anchor="ctr">
            <a:spAutoFit/>
          </a:bodyPr>
          <a:lstStyle/>
          <a:p>
            <a:pPr algn="ctr"/>
            <a:r>
              <a:rPr lang="es-CO" sz="850" b="1" i="0">
                <a:solidFill>
                  <a:srgbClr val="FF8A3D"/>
                </a:solidFill>
                <a:latin typeface="Arial"/>
              </a:rPr>
              <a:t>LABORATORIO 07 · MODELO</a:t>
            </a:r>
          </a:p>
        </p:txBody>
      </p:sp>
      <p:sp>
        <p:nvSpPr>
          <p:cNvPr id="5" name="Título"/>
          <p:cNvSpPr txBox="1"/>
          <p:nvPr/>
        </p:nvSpPr>
        <p:spPr>
          <a:xfrm>
            <a:off x="475488" y="658368"/>
            <a:ext cx="8138160" cy="438912"/>
          </a:xfrm>
          <a:prstGeom prst="rect">
            <a:avLst/>
          </a:prstGeom>
          <a:noFill/>
        </p:spPr>
        <p:txBody>
          <a:bodyPr wrap="square" lIns="0" tIns="0" rIns="0" bIns="0" anchor="ctr">
            <a:spAutoFit/>
          </a:bodyPr>
          <a:lstStyle/>
          <a:p>
            <a:pPr algn="l"/>
            <a:r>
              <a:rPr lang="es-CO" sz="2600" b="1" i="0">
                <a:solidFill>
                  <a:srgbClr val="FFFFFF"/>
                </a:solidFill>
                <a:latin typeface="Arial"/>
              </a:rPr>
              <a:t>La regla de validación vive en el modelo</a:t>
            </a:r>
          </a:p>
        </p:txBody>
      </p:sp>
      <p:sp>
        <p:nvSpPr>
          <p:cNvPr id="6" name="Rounded Rectangle 5"/>
          <p:cNvSpPr/>
          <p:nvPr/>
        </p:nvSpPr>
        <p:spPr>
          <a:xfrm>
            <a:off x="502919" y="1188720"/>
            <a:ext cx="1868805" cy="182880"/>
          </a:xfrm>
          <a:prstGeom prst="roundRect">
            <a:avLst>
              <a:gd name="adj" fmla="val 50000"/>
            </a:avLst>
          </a:prstGeom>
          <a:solidFill>
            <a:srgbClr val="35210F"/>
          </a:solidFill>
          <a:ln w="9525">
            <a:solidFill>
              <a:srgbClr val="FF8A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7" name="TextBox 6"/>
          <p:cNvSpPr txBox="1"/>
          <p:nvPr/>
        </p:nvSpPr>
        <p:spPr>
          <a:xfrm>
            <a:off x="526734" y="1195521"/>
            <a:ext cx="1787843" cy="169277"/>
          </a:xfrm>
          <a:prstGeom prst="rect">
            <a:avLst/>
          </a:prstGeom>
          <a:noFill/>
        </p:spPr>
        <p:txBody>
          <a:bodyPr wrap="square" lIns="0" tIns="0" rIns="0" bIns="0" anchor="ctr">
            <a:spAutoFit/>
          </a:bodyPr>
          <a:lstStyle/>
          <a:p>
            <a:pPr algn="ctr"/>
            <a:r>
              <a:rPr lang="es-CO" sz="1100" b="1" i="0" dirty="0">
                <a:solidFill>
                  <a:srgbClr val="FF8A3D"/>
                </a:solidFill>
                <a:latin typeface="Arial"/>
              </a:rPr>
              <a:t>EJEMPLO ILUSTRATIVO</a:t>
            </a:r>
          </a:p>
        </p:txBody>
      </p:sp>
      <p:sp>
        <p:nvSpPr>
          <p:cNvPr id="8" name="Rounded Rectangle 7"/>
          <p:cNvSpPr/>
          <p:nvPr/>
        </p:nvSpPr>
        <p:spPr>
          <a:xfrm>
            <a:off x="502920" y="1426464"/>
            <a:ext cx="5074920" cy="3659862"/>
          </a:xfrm>
          <a:prstGeom prst="roundRect">
            <a:avLst>
              <a:gd name="adj" fmla="val 8000"/>
            </a:avLst>
          </a:prstGeom>
          <a:solidFill>
            <a:srgbClr val="070C1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9" name="TextBox 8"/>
          <p:cNvSpPr txBox="1"/>
          <p:nvPr/>
        </p:nvSpPr>
        <p:spPr>
          <a:xfrm>
            <a:off x="649224" y="1506417"/>
            <a:ext cx="4782312" cy="169277"/>
          </a:xfrm>
          <a:prstGeom prst="rect">
            <a:avLst/>
          </a:prstGeom>
          <a:noFill/>
        </p:spPr>
        <p:txBody>
          <a:bodyPr wrap="square" lIns="0" tIns="0" rIns="0" bIns="0" anchor="ctr">
            <a:spAutoFit/>
          </a:bodyPr>
          <a:lstStyle/>
          <a:p>
            <a:pPr algn="l"/>
            <a:r>
              <a:rPr lang="es-CO" sz="1100" b="1" i="0">
                <a:solidFill>
                  <a:srgbClr val="FF8A3D"/>
                </a:solidFill>
                <a:latin typeface="Courier New"/>
              </a:rPr>
              <a:t>models/contactoModel.js</a:t>
            </a:r>
          </a:p>
        </p:txBody>
      </p:sp>
      <p:sp>
        <p:nvSpPr>
          <p:cNvPr id="10" name="TextBox 9"/>
          <p:cNvSpPr txBox="1"/>
          <p:nvPr/>
        </p:nvSpPr>
        <p:spPr>
          <a:xfrm>
            <a:off x="649224" y="1700784"/>
            <a:ext cx="4782312" cy="3385542"/>
          </a:xfrm>
          <a:prstGeom prst="rect">
            <a:avLst/>
          </a:prstGeom>
          <a:noFill/>
        </p:spPr>
        <p:txBody>
          <a:bodyPr wrap="square" lIns="0" tIns="0" rIns="0" bIns="0" anchor="t">
            <a:spAutoFit/>
          </a:bodyPr>
          <a:lstStyle/>
          <a:p>
            <a:pPr algn="l"/>
            <a:r>
              <a:rPr lang="es-CO" sz="1100" b="0" i="0" dirty="0" err="1">
                <a:solidFill>
                  <a:srgbClr val="FFB86C"/>
                </a:solidFill>
                <a:latin typeface="Courier New"/>
              </a:rPr>
              <a:t>const</a:t>
            </a:r>
            <a:r>
              <a:rPr lang="es-CO" sz="1100" b="0" i="0" dirty="0">
                <a:solidFill>
                  <a:srgbClr val="D7E1EE"/>
                </a:solidFill>
                <a:latin typeface="Courier New"/>
              </a:rPr>
              <a:t> repositorio </a:t>
            </a:r>
            <a:r>
              <a:rPr lang="es-CO" sz="1100" b="0" i="0" dirty="0">
                <a:solidFill>
                  <a:srgbClr val="93A5BD"/>
                </a:solidFill>
                <a:latin typeface="Courier New"/>
              </a:rPr>
              <a:t>=</a:t>
            </a:r>
            <a:r>
              <a:rPr lang="es-CO" sz="1100" b="0" i="0" dirty="0">
                <a:solidFill>
                  <a:srgbClr val="D7E1EE"/>
                </a:solidFill>
                <a:latin typeface="Courier New"/>
              </a:rPr>
              <a:t> </a:t>
            </a:r>
            <a:r>
              <a:rPr lang="es-CO" sz="1100" b="0" i="0" dirty="0" err="1">
                <a:solidFill>
                  <a:srgbClr val="FFB86C"/>
                </a:solidFill>
                <a:latin typeface="Courier New"/>
              </a:rPr>
              <a:t>require</a:t>
            </a:r>
            <a:r>
              <a:rPr lang="es-CO" sz="1100" b="0" i="0" dirty="0">
                <a:solidFill>
                  <a:srgbClr val="93A5BD"/>
                </a:solidFill>
                <a:latin typeface="Courier New"/>
              </a:rPr>
              <a:t>(</a:t>
            </a:r>
            <a:r>
              <a:rPr lang="es-CO" sz="1100" b="0" i="0" dirty="0">
                <a:solidFill>
                  <a:srgbClr val="FFD479"/>
                </a:solidFill>
                <a:latin typeface="Courier New"/>
              </a:rPr>
              <a:t>'../data/</a:t>
            </a:r>
            <a:r>
              <a:rPr lang="es-CO" sz="1100" b="0" i="0" dirty="0" err="1">
                <a:solidFill>
                  <a:srgbClr val="FFD479"/>
                </a:solidFill>
                <a:latin typeface="Courier New"/>
              </a:rPr>
              <a:t>contactoRepository</a:t>
            </a:r>
            <a:r>
              <a:rPr lang="es-CO" sz="1100" b="0" i="0" dirty="0">
                <a:solidFill>
                  <a:srgbClr val="FFD479"/>
                </a:solidFill>
                <a:latin typeface="Courier New"/>
              </a:rPr>
              <a:t>'</a:t>
            </a:r>
            <a:r>
              <a:rPr lang="es-CO" sz="1100" b="0" i="0" dirty="0">
                <a:solidFill>
                  <a:srgbClr val="93A5BD"/>
                </a:solidFill>
                <a:latin typeface="Courier New"/>
              </a:rPr>
              <a:t>);</a:t>
            </a:r>
          </a:p>
          <a:p>
            <a:pPr algn="l"/>
            <a:r>
              <a:rPr lang="es-CO" sz="1100" b="0" i="0" dirty="0">
                <a:solidFill>
                  <a:srgbClr val="E8EEF6"/>
                </a:solidFill>
                <a:latin typeface="Courier New"/>
              </a:rPr>
              <a:t> </a:t>
            </a:r>
          </a:p>
          <a:p>
            <a:pPr algn="l"/>
            <a:r>
              <a:rPr lang="es-CO" sz="1100" b="0" i="0" dirty="0" err="1">
                <a:solidFill>
                  <a:srgbClr val="FFB86C"/>
                </a:solidFill>
                <a:latin typeface="Courier New"/>
              </a:rPr>
              <a:t>function</a:t>
            </a:r>
            <a:r>
              <a:rPr lang="es-CO" sz="1100" b="0" i="0" dirty="0">
                <a:solidFill>
                  <a:srgbClr val="D7E1EE"/>
                </a:solidFill>
                <a:latin typeface="Courier New"/>
              </a:rPr>
              <a:t> validar</a:t>
            </a:r>
            <a:r>
              <a:rPr lang="es-CO" sz="1100" b="0" i="0" dirty="0">
                <a:solidFill>
                  <a:srgbClr val="93A5BD"/>
                </a:solidFill>
                <a:latin typeface="Courier New"/>
              </a:rPr>
              <a:t>({</a:t>
            </a:r>
            <a:r>
              <a:rPr lang="es-CO" sz="1100" b="0" i="0" dirty="0">
                <a:solidFill>
                  <a:srgbClr val="D7E1EE"/>
                </a:solidFill>
                <a:latin typeface="Courier New"/>
              </a:rPr>
              <a:t> nombre</a:t>
            </a:r>
            <a:r>
              <a:rPr lang="es-CO" sz="1100" b="0" i="0" dirty="0">
                <a:solidFill>
                  <a:srgbClr val="93A5BD"/>
                </a:solidFill>
                <a:latin typeface="Courier New"/>
              </a:rPr>
              <a:t>,</a:t>
            </a:r>
            <a:r>
              <a:rPr lang="es-CO" sz="1100" b="0" i="0" dirty="0">
                <a:solidFill>
                  <a:srgbClr val="D7E1EE"/>
                </a:solidFill>
                <a:latin typeface="Courier New"/>
              </a:rPr>
              <a:t> correo</a:t>
            </a:r>
            <a:r>
              <a:rPr lang="es-CO" sz="1100" b="0" i="0" dirty="0">
                <a:solidFill>
                  <a:srgbClr val="93A5BD"/>
                </a:solidFill>
                <a:latin typeface="Courier New"/>
              </a:rPr>
              <a:t>,</a:t>
            </a:r>
            <a:r>
              <a:rPr lang="es-CO" sz="1100" b="0" i="0" dirty="0">
                <a:solidFill>
                  <a:srgbClr val="D7E1EE"/>
                </a:solidFill>
                <a:latin typeface="Courier New"/>
              </a:rPr>
              <a:t> mensaje </a:t>
            </a:r>
            <a:r>
              <a:rPr lang="es-CO" sz="1100" b="0" i="0" dirty="0">
                <a:solidFill>
                  <a:srgbClr val="93A5BD"/>
                </a:solidFill>
                <a:latin typeface="Courier New"/>
              </a:rPr>
              <a:t>})</a:t>
            </a:r>
            <a:r>
              <a:rPr lang="es-CO" sz="1100" b="0" i="0" dirty="0">
                <a:solidFill>
                  <a:srgbClr val="D7E1EE"/>
                </a:solidFill>
                <a:latin typeface="Courier New"/>
              </a:rPr>
              <a:t> </a:t>
            </a:r>
            <a:r>
              <a:rPr lang="es-CO" sz="1100" b="0" i="0" dirty="0">
                <a:solidFill>
                  <a:srgbClr val="93A5BD"/>
                </a:solidFill>
                <a:latin typeface="Courier New"/>
              </a:rPr>
              <a:t>{</a:t>
            </a:r>
          </a:p>
          <a:p>
            <a:pPr algn="l"/>
            <a:r>
              <a:rPr lang="es-CO" sz="1100" b="0" i="0" dirty="0">
                <a:solidFill>
                  <a:srgbClr val="D7E1EE"/>
                </a:solidFill>
                <a:latin typeface="Courier New"/>
              </a:rPr>
              <a:t>  </a:t>
            </a:r>
            <a:r>
              <a:rPr lang="es-CO" sz="1100" b="0" i="0" dirty="0" err="1">
                <a:solidFill>
                  <a:srgbClr val="FFB86C"/>
                </a:solidFill>
                <a:latin typeface="Courier New"/>
              </a:rPr>
              <a:t>const</a:t>
            </a:r>
            <a:r>
              <a:rPr lang="es-CO" sz="1100" b="0" i="0" dirty="0">
                <a:solidFill>
                  <a:srgbClr val="D7E1EE"/>
                </a:solidFill>
                <a:latin typeface="Courier New"/>
              </a:rPr>
              <a:t> errores </a:t>
            </a:r>
            <a:r>
              <a:rPr lang="es-CO" sz="1100" b="0" i="0" dirty="0">
                <a:solidFill>
                  <a:srgbClr val="93A5BD"/>
                </a:solidFill>
                <a:latin typeface="Courier New"/>
              </a:rPr>
              <a:t>=</a:t>
            </a:r>
            <a:r>
              <a:rPr lang="es-CO" sz="1100" b="0" i="0" dirty="0">
                <a:solidFill>
                  <a:srgbClr val="D7E1EE"/>
                </a:solidFill>
                <a:latin typeface="Courier New"/>
              </a:rPr>
              <a:t> </a:t>
            </a:r>
            <a:r>
              <a:rPr lang="es-CO" sz="1100" b="0" i="0" dirty="0">
                <a:solidFill>
                  <a:srgbClr val="93A5BD"/>
                </a:solidFill>
                <a:latin typeface="Courier New"/>
              </a:rPr>
              <a:t>[];</a:t>
            </a:r>
          </a:p>
          <a:p>
            <a:pPr algn="l"/>
            <a:r>
              <a:rPr lang="es-CO" sz="1100" b="0" i="0" dirty="0">
                <a:solidFill>
                  <a:srgbClr val="D7E1EE"/>
                </a:solidFill>
                <a:latin typeface="Courier New"/>
              </a:rPr>
              <a:t>  </a:t>
            </a:r>
            <a:r>
              <a:rPr lang="es-CO" sz="1100" b="0" i="0" dirty="0" err="1">
                <a:solidFill>
                  <a:srgbClr val="FFB86C"/>
                </a:solidFill>
                <a:latin typeface="Courier New"/>
              </a:rPr>
              <a:t>if</a:t>
            </a:r>
            <a:r>
              <a:rPr lang="es-CO" sz="1100" b="0" i="0" dirty="0">
                <a:solidFill>
                  <a:srgbClr val="D7E1EE"/>
                </a:solidFill>
                <a:latin typeface="Courier New"/>
              </a:rPr>
              <a:t> </a:t>
            </a:r>
            <a:r>
              <a:rPr lang="es-CO" sz="1100" b="0" i="0" dirty="0">
                <a:solidFill>
                  <a:srgbClr val="93A5BD"/>
                </a:solidFill>
                <a:latin typeface="Courier New"/>
              </a:rPr>
              <a:t>(!</a:t>
            </a:r>
            <a:r>
              <a:rPr lang="es-CO" sz="1100" b="0" i="0" dirty="0">
                <a:solidFill>
                  <a:srgbClr val="D7E1EE"/>
                </a:solidFill>
                <a:latin typeface="Courier New"/>
              </a:rPr>
              <a:t>nombre </a:t>
            </a:r>
            <a:r>
              <a:rPr lang="es-CO" sz="1100" b="0" i="0" dirty="0">
                <a:solidFill>
                  <a:srgbClr val="93A5BD"/>
                </a:solidFill>
                <a:latin typeface="Courier New"/>
              </a:rPr>
              <a:t>||</a:t>
            </a:r>
            <a:r>
              <a:rPr lang="es-CO" sz="1100" b="0" i="0" dirty="0">
                <a:solidFill>
                  <a:srgbClr val="D7E1EE"/>
                </a:solidFill>
                <a:latin typeface="Courier New"/>
              </a:rPr>
              <a:t> </a:t>
            </a:r>
            <a:r>
              <a:rPr lang="es-CO" sz="1100" b="0" i="0" dirty="0">
                <a:solidFill>
                  <a:srgbClr val="93A5BD"/>
                </a:solidFill>
                <a:latin typeface="Courier New"/>
              </a:rPr>
              <a:t>!</a:t>
            </a:r>
            <a:r>
              <a:rPr lang="es-CO" sz="1100" b="0" i="0" dirty="0">
                <a:solidFill>
                  <a:srgbClr val="D7E1EE"/>
                </a:solidFill>
                <a:latin typeface="Courier New"/>
              </a:rPr>
              <a:t>correo </a:t>
            </a:r>
            <a:r>
              <a:rPr lang="es-CO" sz="1100" b="0" i="0" dirty="0">
                <a:solidFill>
                  <a:srgbClr val="93A5BD"/>
                </a:solidFill>
                <a:latin typeface="Courier New"/>
              </a:rPr>
              <a:t>||</a:t>
            </a:r>
            <a:r>
              <a:rPr lang="es-CO" sz="1100" b="0" i="0" dirty="0">
                <a:solidFill>
                  <a:srgbClr val="D7E1EE"/>
                </a:solidFill>
                <a:latin typeface="Courier New"/>
              </a:rPr>
              <a:t> </a:t>
            </a:r>
            <a:r>
              <a:rPr lang="es-CO" sz="1100" b="0" i="0" dirty="0">
                <a:solidFill>
                  <a:srgbClr val="93A5BD"/>
                </a:solidFill>
                <a:latin typeface="Courier New"/>
              </a:rPr>
              <a:t>!</a:t>
            </a:r>
            <a:r>
              <a:rPr lang="es-CO" sz="1100" b="0" i="0" dirty="0">
                <a:solidFill>
                  <a:srgbClr val="D7E1EE"/>
                </a:solidFill>
                <a:latin typeface="Courier New"/>
              </a:rPr>
              <a:t>mensaje</a:t>
            </a:r>
            <a:r>
              <a:rPr lang="es-CO" sz="1100" b="0" i="0" dirty="0">
                <a:solidFill>
                  <a:srgbClr val="93A5BD"/>
                </a:solidFill>
                <a:latin typeface="Courier New"/>
              </a:rPr>
              <a:t>)</a:t>
            </a:r>
            <a:r>
              <a:rPr lang="es-CO" sz="1100" b="0" i="0" dirty="0">
                <a:solidFill>
                  <a:srgbClr val="D7E1EE"/>
                </a:solidFill>
                <a:latin typeface="Courier New"/>
              </a:rPr>
              <a:t> </a:t>
            </a:r>
            <a:r>
              <a:rPr lang="es-CO" sz="1100" b="0" i="0" dirty="0">
                <a:solidFill>
                  <a:srgbClr val="93A5BD"/>
                </a:solidFill>
                <a:latin typeface="Courier New"/>
              </a:rPr>
              <a:t>{</a:t>
            </a:r>
          </a:p>
          <a:p>
            <a:pPr algn="l"/>
            <a:r>
              <a:rPr lang="es-CO" sz="1100" b="0" i="0" dirty="0">
                <a:solidFill>
                  <a:srgbClr val="D7E1EE"/>
                </a:solidFill>
                <a:latin typeface="Courier New"/>
              </a:rPr>
              <a:t>    </a:t>
            </a:r>
            <a:r>
              <a:rPr lang="es-CO" sz="1100" b="0" i="0" dirty="0" err="1">
                <a:solidFill>
                  <a:srgbClr val="D7E1EE"/>
                </a:solidFill>
                <a:latin typeface="Courier New"/>
              </a:rPr>
              <a:t>errores</a:t>
            </a:r>
            <a:r>
              <a:rPr lang="es-CO" sz="1100" b="0" i="0" dirty="0" err="1">
                <a:solidFill>
                  <a:srgbClr val="93A5BD"/>
                </a:solidFill>
                <a:latin typeface="Courier New"/>
              </a:rPr>
              <a:t>.</a:t>
            </a:r>
            <a:r>
              <a:rPr lang="es-CO" sz="1100" b="0" i="0" dirty="0" err="1">
                <a:solidFill>
                  <a:srgbClr val="D7E1EE"/>
                </a:solidFill>
                <a:latin typeface="Courier New"/>
              </a:rPr>
              <a:t>push</a:t>
            </a:r>
            <a:r>
              <a:rPr lang="es-CO" sz="1100" b="0" i="0" dirty="0">
                <a:solidFill>
                  <a:srgbClr val="93A5BD"/>
                </a:solidFill>
                <a:latin typeface="Courier New"/>
              </a:rPr>
              <a:t>(</a:t>
            </a:r>
            <a:r>
              <a:rPr lang="es-CO" sz="1100" b="0" i="0" dirty="0">
                <a:solidFill>
                  <a:srgbClr val="FFD479"/>
                </a:solidFill>
                <a:latin typeface="Courier New"/>
              </a:rPr>
              <a:t>'Todos los campos son obligatorios.'</a:t>
            </a:r>
            <a:r>
              <a:rPr lang="es-CO" sz="1100" b="0" i="0" dirty="0">
                <a:solidFill>
                  <a:srgbClr val="93A5BD"/>
                </a:solidFill>
                <a:latin typeface="Courier New"/>
              </a:rPr>
              <a:t>);</a:t>
            </a:r>
          </a:p>
          <a:p>
            <a:pPr algn="l"/>
            <a:r>
              <a:rPr lang="es-CO" sz="1100" b="0" i="0" dirty="0">
                <a:solidFill>
                  <a:srgbClr val="D7E1EE"/>
                </a:solidFill>
                <a:latin typeface="Courier New"/>
              </a:rPr>
              <a:t>  </a:t>
            </a:r>
            <a:r>
              <a:rPr lang="es-CO" sz="1100" b="0" i="0" dirty="0">
                <a:solidFill>
                  <a:srgbClr val="93A5BD"/>
                </a:solidFill>
                <a:latin typeface="Courier New"/>
              </a:rPr>
              <a:t>}</a:t>
            </a:r>
          </a:p>
          <a:p>
            <a:pPr algn="l"/>
            <a:r>
              <a:rPr lang="es-CO" sz="1100" b="0" i="0" dirty="0">
                <a:solidFill>
                  <a:srgbClr val="D7E1EE"/>
                </a:solidFill>
                <a:latin typeface="Courier New"/>
              </a:rPr>
              <a:t>  </a:t>
            </a:r>
            <a:r>
              <a:rPr lang="es-CO" sz="1100" b="0" i="0" dirty="0">
                <a:solidFill>
                  <a:srgbClr val="6C7E96"/>
                </a:solidFill>
                <a:latin typeface="Courier New"/>
              </a:rPr>
              <a:t>// NUEVA REGLA · Laboratorio 07</a:t>
            </a:r>
          </a:p>
          <a:p>
            <a:pPr algn="l"/>
            <a:r>
              <a:rPr lang="es-CO" sz="1100" b="0" i="0" dirty="0">
                <a:solidFill>
                  <a:srgbClr val="D7E1EE"/>
                </a:solidFill>
                <a:latin typeface="Courier New"/>
              </a:rPr>
              <a:t>  </a:t>
            </a:r>
            <a:r>
              <a:rPr lang="es-CO" sz="1100" b="0" i="0" dirty="0" err="1">
                <a:solidFill>
                  <a:srgbClr val="FFB86C"/>
                </a:solidFill>
                <a:latin typeface="Courier New"/>
              </a:rPr>
              <a:t>if</a:t>
            </a:r>
            <a:r>
              <a:rPr lang="es-CO" sz="1100" b="0" i="0" dirty="0">
                <a:solidFill>
                  <a:srgbClr val="D7E1EE"/>
                </a:solidFill>
                <a:latin typeface="Courier New"/>
              </a:rPr>
              <a:t> </a:t>
            </a:r>
            <a:r>
              <a:rPr lang="es-CO" sz="1100" b="0" i="0" dirty="0">
                <a:solidFill>
                  <a:srgbClr val="93A5BD"/>
                </a:solidFill>
                <a:latin typeface="Courier New"/>
              </a:rPr>
              <a:t>(</a:t>
            </a:r>
            <a:r>
              <a:rPr lang="es-CO" sz="1100" b="0" i="0" dirty="0">
                <a:solidFill>
                  <a:srgbClr val="D7E1EE"/>
                </a:solidFill>
                <a:latin typeface="Courier New"/>
              </a:rPr>
              <a:t>mensaje </a:t>
            </a:r>
            <a:r>
              <a:rPr lang="es-CO" sz="1100" b="0" i="0" dirty="0">
                <a:solidFill>
                  <a:srgbClr val="93A5BD"/>
                </a:solidFill>
                <a:latin typeface="Courier New"/>
              </a:rPr>
              <a:t>&amp;&amp;</a:t>
            </a:r>
            <a:r>
              <a:rPr lang="es-CO" sz="1100" b="0" i="0" dirty="0">
                <a:solidFill>
                  <a:srgbClr val="D7E1EE"/>
                </a:solidFill>
                <a:latin typeface="Courier New"/>
              </a:rPr>
              <a:t> </a:t>
            </a:r>
            <a:r>
              <a:rPr lang="es-CO" sz="1100" b="0" i="0" dirty="0" err="1">
                <a:solidFill>
                  <a:srgbClr val="D7E1EE"/>
                </a:solidFill>
                <a:latin typeface="Courier New"/>
              </a:rPr>
              <a:t>mensaje</a:t>
            </a:r>
            <a:r>
              <a:rPr lang="es-CO" sz="1100" b="0" i="0" dirty="0" err="1">
                <a:solidFill>
                  <a:srgbClr val="93A5BD"/>
                </a:solidFill>
                <a:latin typeface="Courier New"/>
              </a:rPr>
              <a:t>.</a:t>
            </a:r>
            <a:r>
              <a:rPr lang="es-CO" sz="1100" b="0" i="0" dirty="0" err="1">
                <a:solidFill>
                  <a:srgbClr val="D7E1EE"/>
                </a:solidFill>
                <a:latin typeface="Courier New"/>
              </a:rPr>
              <a:t>trim</a:t>
            </a:r>
            <a:r>
              <a:rPr lang="es-CO" sz="1100" b="0" i="0" dirty="0">
                <a:solidFill>
                  <a:srgbClr val="93A5BD"/>
                </a:solidFill>
                <a:latin typeface="Courier New"/>
              </a:rPr>
              <a:t>().</a:t>
            </a:r>
            <a:r>
              <a:rPr lang="es-CO" sz="1100" b="0" i="0" dirty="0" err="1">
                <a:solidFill>
                  <a:srgbClr val="D7E1EE"/>
                </a:solidFill>
                <a:latin typeface="Courier New"/>
              </a:rPr>
              <a:t>length</a:t>
            </a:r>
            <a:r>
              <a:rPr lang="es-CO" sz="1100" b="0" i="0" dirty="0">
                <a:solidFill>
                  <a:srgbClr val="D7E1EE"/>
                </a:solidFill>
                <a:latin typeface="Courier New"/>
              </a:rPr>
              <a:t> </a:t>
            </a:r>
            <a:r>
              <a:rPr lang="es-CO" sz="1100" b="0" i="0" dirty="0">
                <a:solidFill>
                  <a:srgbClr val="93A5BD"/>
                </a:solidFill>
                <a:latin typeface="Courier New"/>
              </a:rPr>
              <a:t>&lt;</a:t>
            </a:r>
            <a:r>
              <a:rPr lang="es-CO" sz="1100" b="0" i="0" dirty="0">
                <a:solidFill>
                  <a:srgbClr val="D7E1EE"/>
                </a:solidFill>
                <a:latin typeface="Courier New"/>
              </a:rPr>
              <a:t> </a:t>
            </a:r>
            <a:r>
              <a:rPr lang="es-CO" sz="1100" b="0" i="0" dirty="0">
                <a:solidFill>
                  <a:srgbClr val="3DDC97"/>
                </a:solidFill>
                <a:latin typeface="Courier New"/>
              </a:rPr>
              <a:t>10</a:t>
            </a:r>
            <a:r>
              <a:rPr lang="es-CO" sz="1100" b="0" i="0" dirty="0">
                <a:solidFill>
                  <a:srgbClr val="93A5BD"/>
                </a:solidFill>
                <a:latin typeface="Courier New"/>
              </a:rPr>
              <a:t>)</a:t>
            </a:r>
            <a:r>
              <a:rPr lang="es-CO" sz="1100" b="0" i="0" dirty="0">
                <a:solidFill>
                  <a:srgbClr val="D7E1EE"/>
                </a:solidFill>
                <a:latin typeface="Courier New"/>
              </a:rPr>
              <a:t> </a:t>
            </a:r>
            <a:r>
              <a:rPr lang="es-CO" sz="1100" b="0" i="0" dirty="0">
                <a:solidFill>
                  <a:srgbClr val="93A5BD"/>
                </a:solidFill>
                <a:latin typeface="Courier New"/>
              </a:rPr>
              <a:t>{</a:t>
            </a:r>
          </a:p>
          <a:p>
            <a:pPr algn="l"/>
            <a:r>
              <a:rPr lang="es-CO" sz="1100" b="0" i="0" dirty="0">
                <a:solidFill>
                  <a:srgbClr val="D7E1EE"/>
                </a:solidFill>
                <a:latin typeface="Courier New"/>
              </a:rPr>
              <a:t>    </a:t>
            </a:r>
            <a:r>
              <a:rPr lang="es-CO" sz="1100" b="0" i="0" dirty="0" err="1">
                <a:solidFill>
                  <a:srgbClr val="D7E1EE"/>
                </a:solidFill>
                <a:latin typeface="Courier New"/>
              </a:rPr>
              <a:t>errores</a:t>
            </a:r>
            <a:r>
              <a:rPr lang="es-CO" sz="1100" b="0" i="0" dirty="0" err="1">
                <a:solidFill>
                  <a:srgbClr val="93A5BD"/>
                </a:solidFill>
                <a:latin typeface="Courier New"/>
              </a:rPr>
              <a:t>.</a:t>
            </a:r>
            <a:r>
              <a:rPr lang="es-CO" sz="1100" b="0" i="0" dirty="0" err="1">
                <a:solidFill>
                  <a:srgbClr val="D7E1EE"/>
                </a:solidFill>
                <a:latin typeface="Courier New"/>
              </a:rPr>
              <a:t>push</a:t>
            </a:r>
            <a:r>
              <a:rPr lang="es-CO" sz="1100" b="0" i="0" dirty="0">
                <a:solidFill>
                  <a:srgbClr val="93A5BD"/>
                </a:solidFill>
                <a:latin typeface="Courier New"/>
              </a:rPr>
              <a:t>(</a:t>
            </a:r>
            <a:r>
              <a:rPr lang="es-CO" sz="1100" b="0" i="0" dirty="0">
                <a:solidFill>
                  <a:srgbClr val="FFD479"/>
                </a:solidFill>
                <a:latin typeface="Courier New"/>
              </a:rPr>
              <a:t>'Mensaje: mínimo 10 caracteres.'</a:t>
            </a:r>
            <a:r>
              <a:rPr lang="es-CO" sz="1100" b="0" i="0" dirty="0">
                <a:solidFill>
                  <a:srgbClr val="93A5BD"/>
                </a:solidFill>
                <a:latin typeface="Courier New"/>
              </a:rPr>
              <a:t>);</a:t>
            </a:r>
          </a:p>
          <a:p>
            <a:pPr algn="l"/>
            <a:r>
              <a:rPr lang="es-CO" sz="1100" b="0" i="0" dirty="0">
                <a:solidFill>
                  <a:srgbClr val="D7E1EE"/>
                </a:solidFill>
                <a:latin typeface="Courier New"/>
              </a:rPr>
              <a:t>  </a:t>
            </a:r>
            <a:r>
              <a:rPr lang="es-CO" sz="1100" b="0" i="0" dirty="0">
                <a:solidFill>
                  <a:srgbClr val="93A5BD"/>
                </a:solidFill>
                <a:latin typeface="Courier New"/>
              </a:rPr>
              <a:t>}</a:t>
            </a:r>
          </a:p>
          <a:p>
            <a:pPr algn="l"/>
            <a:r>
              <a:rPr lang="es-CO" sz="1100" b="0" i="0" dirty="0">
                <a:solidFill>
                  <a:srgbClr val="D7E1EE"/>
                </a:solidFill>
                <a:latin typeface="Courier New"/>
              </a:rPr>
              <a:t>  </a:t>
            </a:r>
            <a:r>
              <a:rPr lang="es-CO" sz="1100" b="0" i="0" dirty="0" err="1">
                <a:solidFill>
                  <a:srgbClr val="FFB86C"/>
                </a:solidFill>
                <a:latin typeface="Courier New"/>
              </a:rPr>
              <a:t>return</a:t>
            </a:r>
            <a:r>
              <a:rPr lang="es-CO" sz="1100" b="0" i="0" dirty="0">
                <a:solidFill>
                  <a:srgbClr val="D7E1EE"/>
                </a:solidFill>
                <a:latin typeface="Courier New"/>
              </a:rPr>
              <a:t> errores</a:t>
            </a:r>
            <a:r>
              <a:rPr lang="es-CO" sz="1100" b="0" i="0" dirty="0">
                <a:solidFill>
                  <a:srgbClr val="93A5BD"/>
                </a:solidFill>
                <a:latin typeface="Courier New"/>
              </a:rPr>
              <a:t>;</a:t>
            </a:r>
          </a:p>
          <a:p>
            <a:pPr algn="l"/>
            <a:r>
              <a:rPr lang="es-CO" sz="1100" b="0" i="0" dirty="0">
                <a:solidFill>
                  <a:srgbClr val="93A5BD"/>
                </a:solidFill>
                <a:latin typeface="Courier New"/>
              </a:rPr>
              <a:t>}</a:t>
            </a:r>
          </a:p>
          <a:p>
            <a:pPr algn="l"/>
            <a:r>
              <a:rPr lang="es-CO" sz="1100" b="0" i="0" dirty="0">
                <a:solidFill>
                  <a:srgbClr val="E8EEF6"/>
                </a:solidFill>
                <a:latin typeface="Courier New"/>
              </a:rPr>
              <a:t> </a:t>
            </a:r>
          </a:p>
          <a:p>
            <a:pPr algn="l"/>
            <a:r>
              <a:rPr lang="es-CO" sz="1100" b="0" i="0" dirty="0" err="1">
                <a:solidFill>
                  <a:srgbClr val="FFB86C"/>
                </a:solidFill>
                <a:latin typeface="Courier New"/>
              </a:rPr>
              <a:t>function</a:t>
            </a:r>
            <a:r>
              <a:rPr lang="es-CO" sz="1100" b="0" i="0" dirty="0">
                <a:solidFill>
                  <a:srgbClr val="D7E1EE"/>
                </a:solidFill>
                <a:latin typeface="Courier New"/>
              </a:rPr>
              <a:t> registrar</a:t>
            </a:r>
            <a:r>
              <a:rPr lang="es-CO" sz="1100" b="0" i="0" dirty="0">
                <a:solidFill>
                  <a:srgbClr val="93A5BD"/>
                </a:solidFill>
                <a:latin typeface="Courier New"/>
              </a:rPr>
              <a:t>(</a:t>
            </a:r>
            <a:r>
              <a:rPr lang="es-CO" sz="1100" b="0" i="0" dirty="0">
                <a:solidFill>
                  <a:srgbClr val="D7E1EE"/>
                </a:solidFill>
                <a:latin typeface="Courier New"/>
              </a:rPr>
              <a:t>datos</a:t>
            </a:r>
            <a:r>
              <a:rPr lang="es-CO" sz="1100" b="0" i="0" dirty="0">
                <a:solidFill>
                  <a:srgbClr val="93A5BD"/>
                </a:solidFill>
                <a:latin typeface="Courier New"/>
              </a:rPr>
              <a:t>)</a:t>
            </a:r>
            <a:r>
              <a:rPr lang="es-CO" sz="1100" b="0" i="0" dirty="0">
                <a:solidFill>
                  <a:srgbClr val="D7E1EE"/>
                </a:solidFill>
                <a:latin typeface="Courier New"/>
              </a:rPr>
              <a:t> </a:t>
            </a:r>
            <a:r>
              <a:rPr lang="es-CO" sz="1100" b="0" i="0" dirty="0">
                <a:solidFill>
                  <a:srgbClr val="93A5BD"/>
                </a:solidFill>
                <a:latin typeface="Courier New"/>
              </a:rPr>
              <a:t>{</a:t>
            </a:r>
          </a:p>
          <a:p>
            <a:pPr algn="l"/>
            <a:r>
              <a:rPr lang="es-CO" sz="1100" b="0" i="0" dirty="0">
                <a:solidFill>
                  <a:srgbClr val="D7E1EE"/>
                </a:solidFill>
                <a:latin typeface="Courier New"/>
              </a:rPr>
              <a:t>  </a:t>
            </a:r>
            <a:r>
              <a:rPr lang="es-CO" sz="1100" b="0" i="0" dirty="0" err="1">
                <a:solidFill>
                  <a:srgbClr val="FFB86C"/>
                </a:solidFill>
                <a:latin typeface="Courier New"/>
              </a:rPr>
              <a:t>const</a:t>
            </a:r>
            <a:r>
              <a:rPr lang="es-CO" sz="1100" b="0" i="0" dirty="0">
                <a:solidFill>
                  <a:srgbClr val="D7E1EE"/>
                </a:solidFill>
                <a:latin typeface="Courier New"/>
              </a:rPr>
              <a:t> errores </a:t>
            </a:r>
            <a:r>
              <a:rPr lang="es-CO" sz="1100" b="0" i="0" dirty="0">
                <a:solidFill>
                  <a:srgbClr val="93A5BD"/>
                </a:solidFill>
                <a:latin typeface="Courier New"/>
              </a:rPr>
              <a:t>=</a:t>
            </a:r>
            <a:r>
              <a:rPr lang="es-CO" sz="1100" b="0" i="0" dirty="0">
                <a:solidFill>
                  <a:srgbClr val="D7E1EE"/>
                </a:solidFill>
                <a:latin typeface="Courier New"/>
              </a:rPr>
              <a:t> validar</a:t>
            </a:r>
            <a:r>
              <a:rPr lang="es-CO" sz="1100" b="0" i="0" dirty="0">
                <a:solidFill>
                  <a:srgbClr val="93A5BD"/>
                </a:solidFill>
                <a:latin typeface="Courier New"/>
              </a:rPr>
              <a:t>(</a:t>
            </a:r>
            <a:r>
              <a:rPr lang="es-CO" sz="1100" b="0" i="0" dirty="0">
                <a:solidFill>
                  <a:srgbClr val="D7E1EE"/>
                </a:solidFill>
                <a:latin typeface="Courier New"/>
              </a:rPr>
              <a:t>datos</a:t>
            </a:r>
            <a:r>
              <a:rPr lang="es-CO" sz="1100" b="0" i="0" dirty="0">
                <a:solidFill>
                  <a:srgbClr val="93A5BD"/>
                </a:solidFill>
                <a:latin typeface="Courier New"/>
              </a:rPr>
              <a:t>);</a:t>
            </a:r>
          </a:p>
          <a:p>
            <a:pPr algn="l"/>
            <a:r>
              <a:rPr lang="es-CO" sz="1100" b="0" i="0" dirty="0">
                <a:solidFill>
                  <a:srgbClr val="D7E1EE"/>
                </a:solidFill>
                <a:latin typeface="Courier New"/>
              </a:rPr>
              <a:t>  </a:t>
            </a:r>
            <a:r>
              <a:rPr lang="es-CO" sz="1100" b="0" i="0" dirty="0" err="1">
                <a:solidFill>
                  <a:srgbClr val="FFB86C"/>
                </a:solidFill>
                <a:latin typeface="Courier New"/>
              </a:rPr>
              <a:t>if</a:t>
            </a:r>
            <a:r>
              <a:rPr lang="es-CO" sz="1100" b="0" i="0" dirty="0">
                <a:solidFill>
                  <a:srgbClr val="D7E1EE"/>
                </a:solidFill>
                <a:latin typeface="Courier New"/>
              </a:rPr>
              <a:t> </a:t>
            </a:r>
            <a:r>
              <a:rPr lang="es-CO" sz="1100" b="0" i="0" dirty="0">
                <a:solidFill>
                  <a:srgbClr val="93A5BD"/>
                </a:solidFill>
                <a:latin typeface="Courier New"/>
              </a:rPr>
              <a:t>(</a:t>
            </a:r>
            <a:r>
              <a:rPr lang="es-CO" sz="1100" b="0" i="0" dirty="0" err="1">
                <a:solidFill>
                  <a:srgbClr val="D7E1EE"/>
                </a:solidFill>
                <a:latin typeface="Courier New"/>
              </a:rPr>
              <a:t>errores</a:t>
            </a:r>
            <a:r>
              <a:rPr lang="es-CO" sz="1100" b="0" i="0" dirty="0" err="1">
                <a:solidFill>
                  <a:srgbClr val="93A5BD"/>
                </a:solidFill>
                <a:latin typeface="Courier New"/>
              </a:rPr>
              <a:t>.</a:t>
            </a:r>
            <a:r>
              <a:rPr lang="es-CO" sz="1100" b="0" i="0" dirty="0" err="1">
                <a:solidFill>
                  <a:srgbClr val="D7E1EE"/>
                </a:solidFill>
                <a:latin typeface="Courier New"/>
              </a:rPr>
              <a:t>length</a:t>
            </a:r>
            <a:r>
              <a:rPr lang="es-CO" sz="1100" b="0" i="0" dirty="0">
                <a:solidFill>
                  <a:srgbClr val="D7E1EE"/>
                </a:solidFill>
                <a:latin typeface="Courier New"/>
              </a:rPr>
              <a:t> </a:t>
            </a:r>
            <a:r>
              <a:rPr lang="es-CO" sz="1100" b="0" i="0" dirty="0">
                <a:solidFill>
                  <a:srgbClr val="93A5BD"/>
                </a:solidFill>
                <a:latin typeface="Courier New"/>
              </a:rPr>
              <a:t>&gt;</a:t>
            </a:r>
            <a:r>
              <a:rPr lang="es-CO" sz="1100" b="0" i="0" dirty="0">
                <a:solidFill>
                  <a:srgbClr val="D7E1EE"/>
                </a:solidFill>
                <a:latin typeface="Courier New"/>
              </a:rPr>
              <a:t> </a:t>
            </a:r>
            <a:r>
              <a:rPr lang="es-CO" sz="1100" b="0" i="0" dirty="0">
                <a:solidFill>
                  <a:srgbClr val="3DDC97"/>
                </a:solidFill>
                <a:latin typeface="Courier New"/>
              </a:rPr>
              <a:t>0</a:t>
            </a:r>
            <a:r>
              <a:rPr lang="es-CO" sz="1100" b="0" i="0" dirty="0">
                <a:solidFill>
                  <a:srgbClr val="93A5BD"/>
                </a:solidFill>
                <a:latin typeface="Courier New"/>
              </a:rPr>
              <a:t>)</a:t>
            </a:r>
            <a:r>
              <a:rPr lang="es-CO" sz="1100" b="0" i="0" dirty="0">
                <a:solidFill>
                  <a:srgbClr val="D7E1EE"/>
                </a:solidFill>
                <a:latin typeface="Courier New"/>
              </a:rPr>
              <a:t> </a:t>
            </a:r>
            <a:r>
              <a:rPr lang="es-CO" sz="1100" b="0" i="0" dirty="0" err="1">
                <a:solidFill>
                  <a:srgbClr val="FFB86C"/>
                </a:solidFill>
                <a:latin typeface="Courier New"/>
              </a:rPr>
              <a:t>return</a:t>
            </a:r>
            <a:r>
              <a:rPr lang="es-CO" sz="1100" b="0" i="0" dirty="0">
                <a:solidFill>
                  <a:srgbClr val="D7E1EE"/>
                </a:solidFill>
                <a:latin typeface="Courier New"/>
              </a:rPr>
              <a:t> </a:t>
            </a:r>
            <a:r>
              <a:rPr lang="es-CO" sz="1100" b="0" i="0" dirty="0">
                <a:solidFill>
                  <a:srgbClr val="93A5BD"/>
                </a:solidFill>
                <a:latin typeface="Courier New"/>
              </a:rPr>
              <a:t>{</a:t>
            </a:r>
            <a:r>
              <a:rPr lang="es-CO" sz="1100" b="0" i="0" dirty="0">
                <a:solidFill>
                  <a:srgbClr val="D7E1EE"/>
                </a:solidFill>
                <a:latin typeface="Courier New"/>
              </a:rPr>
              <a:t> ok</a:t>
            </a:r>
            <a:r>
              <a:rPr lang="es-CO" sz="1100" b="0" i="0" dirty="0">
                <a:solidFill>
                  <a:srgbClr val="93A5BD"/>
                </a:solidFill>
                <a:latin typeface="Courier New"/>
              </a:rPr>
              <a:t>:</a:t>
            </a:r>
            <a:r>
              <a:rPr lang="es-CO" sz="1100" b="0" i="0" dirty="0">
                <a:solidFill>
                  <a:srgbClr val="D7E1EE"/>
                </a:solidFill>
                <a:latin typeface="Courier New"/>
              </a:rPr>
              <a:t> false</a:t>
            </a:r>
            <a:r>
              <a:rPr lang="es-CO" sz="1100" b="0" i="0" dirty="0">
                <a:solidFill>
                  <a:srgbClr val="93A5BD"/>
                </a:solidFill>
                <a:latin typeface="Courier New"/>
              </a:rPr>
              <a:t>,</a:t>
            </a:r>
            <a:r>
              <a:rPr lang="es-CO" sz="1100" b="0" i="0" dirty="0">
                <a:solidFill>
                  <a:srgbClr val="D7E1EE"/>
                </a:solidFill>
                <a:latin typeface="Courier New"/>
              </a:rPr>
              <a:t> errores </a:t>
            </a:r>
            <a:r>
              <a:rPr lang="es-CO" sz="1100" b="0" i="0" dirty="0">
                <a:solidFill>
                  <a:srgbClr val="93A5BD"/>
                </a:solidFill>
                <a:latin typeface="Courier New"/>
              </a:rPr>
              <a:t>};</a:t>
            </a:r>
          </a:p>
          <a:p>
            <a:pPr algn="l"/>
            <a:r>
              <a:rPr lang="es-CO" sz="1100" b="0" i="0" dirty="0">
                <a:solidFill>
                  <a:srgbClr val="D7E1EE"/>
                </a:solidFill>
                <a:latin typeface="Courier New"/>
              </a:rPr>
              <a:t>  </a:t>
            </a:r>
            <a:r>
              <a:rPr lang="es-CO" sz="1100" b="0" i="0" dirty="0" err="1">
                <a:solidFill>
                  <a:srgbClr val="FFB86C"/>
                </a:solidFill>
                <a:latin typeface="Courier New"/>
              </a:rPr>
              <a:t>return</a:t>
            </a:r>
            <a:r>
              <a:rPr lang="es-CO" sz="1100" b="0" i="0" dirty="0">
                <a:solidFill>
                  <a:srgbClr val="D7E1EE"/>
                </a:solidFill>
                <a:latin typeface="Courier New"/>
              </a:rPr>
              <a:t> </a:t>
            </a:r>
            <a:r>
              <a:rPr lang="es-CO" sz="1100" b="0" i="0" dirty="0">
                <a:solidFill>
                  <a:srgbClr val="93A5BD"/>
                </a:solidFill>
                <a:latin typeface="Courier New"/>
              </a:rPr>
              <a:t>{</a:t>
            </a:r>
            <a:r>
              <a:rPr lang="es-CO" sz="1100" b="0" i="0" dirty="0">
                <a:solidFill>
                  <a:srgbClr val="D7E1EE"/>
                </a:solidFill>
                <a:latin typeface="Courier New"/>
              </a:rPr>
              <a:t> ok</a:t>
            </a:r>
            <a:r>
              <a:rPr lang="es-CO" sz="1100" b="0" i="0" dirty="0">
                <a:solidFill>
                  <a:srgbClr val="93A5BD"/>
                </a:solidFill>
                <a:latin typeface="Courier New"/>
              </a:rPr>
              <a:t>:</a:t>
            </a:r>
            <a:r>
              <a:rPr lang="es-CO" sz="1100" b="0" i="0" dirty="0">
                <a:solidFill>
                  <a:srgbClr val="D7E1EE"/>
                </a:solidFill>
                <a:latin typeface="Courier New"/>
              </a:rPr>
              <a:t> true</a:t>
            </a:r>
            <a:r>
              <a:rPr lang="es-CO" sz="1100" b="0" i="0" dirty="0">
                <a:solidFill>
                  <a:srgbClr val="93A5BD"/>
                </a:solidFill>
                <a:latin typeface="Courier New"/>
              </a:rPr>
              <a:t>,</a:t>
            </a:r>
            <a:r>
              <a:rPr lang="es-CO" sz="1100" b="0" i="0" dirty="0">
                <a:solidFill>
                  <a:srgbClr val="D7E1EE"/>
                </a:solidFill>
                <a:latin typeface="Courier New"/>
              </a:rPr>
              <a:t> id</a:t>
            </a:r>
            <a:r>
              <a:rPr lang="es-CO" sz="1100" b="0" i="0" dirty="0">
                <a:solidFill>
                  <a:srgbClr val="93A5BD"/>
                </a:solidFill>
                <a:latin typeface="Courier New"/>
              </a:rPr>
              <a:t>:</a:t>
            </a:r>
            <a:r>
              <a:rPr lang="es-CO" sz="1100" b="0" i="0" dirty="0">
                <a:solidFill>
                  <a:srgbClr val="D7E1EE"/>
                </a:solidFill>
                <a:latin typeface="Courier New"/>
              </a:rPr>
              <a:t> </a:t>
            </a:r>
            <a:r>
              <a:rPr lang="es-CO" sz="1100" b="0" i="0" dirty="0" err="1">
                <a:solidFill>
                  <a:srgbClr val="D7E1EE"/>
                </a:solidFill>
                <a:latin typeface="Courier New"/>
              </a:rPr>
              <a:t>repositorio</a:t>
            </a:r>
            <a:r>
              <a:rPr lang="es-CO" sz="1100" b="0" i="0" dirty="0" err="1">
                <a:solidFill>
                  <a:srgbClr val="93A5BD"/>
                </a:solidFill>
                <a:latin typeface="Courier New"/>
              </a:rPr>
              <a:t>.</a:t>
            </a:r>
            <a:r>
              <a:rPr lang="es-CO" sz="1100" b="0" i="0" dirty="0" err="1">
                <a:solidFill>
                  <a:srgbClr val="D7E1EE"/>
                </a:solidFill>
                <a:latin typeface="Courier New"/>
              </a:rPr>
              <a:t>insertar</a:t>
            </a:r>
            <a:r>
              <a:rPr lang="es-CO" sz="1100" b="0" i="0" dirty="0">
                <a:solidFill>
                  <a:srgbClr val="93A5BD"/>
                </a:solidFill>
                <a:latin typeface="Courier New"/>
              </a:rPr>
              <a:t>(</a:t>
            </a:r>
            <a:r>
              <a:rPr lang="es-CO" sz="1100" b="0" i="0" dirty="0">
                <a:solidFill>
                  <a:srgbClr val="D7E1EE"/>
                </a:solidFill>
                <a:latin typeface="Courier New"/>
              </a:rPr>
              <a:t>datos</a:t>
            </a:r>
            <a:r>
              <a:rPr lang="es-CO" sz="1100" b="0" i="0" dirty="0">
                <a:solidFill>
                  <a:srgbClr val="93A5BD"/>
                </a:solidFill>
                <a:latin typeface="Courier New"/>
              </a:rPr>
              <a:t>)</a:t>
            </a:r>
            <a:r>
              <a:rPr lang="es-CO" sz="1100" b="0" i="0" dirty="0">
                <a:solidFill>
                  <a:srgbClr val="D7E1EE"/>
                </a:solidFill>
                <a:latin typeface="Courier New"/>
              </a:rPr>
              <a:t> </a:t>
            </a:r>
            <a:r>
              <a:rPr lang="es-CO" sz="1100" b="0" i="0" dirty="0">
                <a:solidFill>
                  <a:srgbClr val="93A5BD"/>
                </a:solidFill>
                <a:latin typeface="Courier New"/>
              </a:rPr>
              <a:t>};</a:t>
            </a:r>
          </a:p>
          <a:p>
            <a:pPr algn="l"/>
            <a:r>
              <a:rPr lang="es-CO" sz="1100" b="0" i="0" dirty="0">
                <a:solidFill>
                  <a:srgbClr val="93A5BD"/>
                </a:solidFill>
                <a:latin typeface="Courier New"/>
              </a:rPr>
              <a:t>}</a:t>
            </a:r>
          </a:p>
        </p:txBody>
      </p:sp>
      <p:sp>
        <p:nvSpPr>
          <p:cNvPr id="11" name="Rounded Rectangle 10"/>
          <p:cNvSpPr/>
          <p:nvPr/>
        </p:nvSpPr>
        <p:spPr>
          <a:xfrm>
            <a:off x="5760720" y="1426464"/>
            <a:ext cx="2880360" cy="763244"/>
          </a:xfrm>
          <a:prstGeom prst="roundRect">
            <a:avLst>
              <a:gd name="adj" fmla="val 8000"/>
            </a:avLst>
          </a:prstGeom>
          <a:solidFill>
            <a:srgbClr val="20160E"/>
          </a:solidFill>
          <a:ln w="12700">
            <a:solidFill>
              <a:srgbClr val="FFB86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12" name="TextBox 11"/>
          <p:cNvSpPr txBox="1"/>
          <p:nvPr/>
        </p:nvSpPr>
        <p:spPr>
          <a:xfrm>
            <a:off x="5888736" y="1478985"/>
            <a:ext cx="2651760" cy="169277"/>
          </a:xfrm>
          <a:prstGeom prst="rect">
            <a:avLst/>
          </a:prstGeom>
          <a:noFill/>
        </p:spPr>
        <p:txBody>
          <a:bodyPr wrap="square" lIns="0" tIns="0" rIns="0" bIns="0" anchor="ctr">
            <a:spAutoFit/>
          </a:bodyPr>
          <a:lstStyle/>
          <a:p>
            <a:pPr algn="l"/>
            <a:r>
              <a:rPr lang="es-CO" sz="1100" b="1" i="0">
                <a:solidFill>
                  <a:srgbClr val="FFB86C"/>
                </a:solidFill>
                <a:latin typeface="Courier New"/>
              </a:rPr>
              <a:t>trim()</a:t>
            </a:r>
          </a:p>
        </p:txBody>
      </p:sp>
      <p:sp>
        <p:nvSpPr>
          <p:cNvPr id="13" name="TextBox 12"/>
          <p:cNvSpPr txBox="1"/>
          <p:nvPr/>
        </p:nvSpPr>
        <p:spPr>
          <a:xfrm>
            <a:off x="5888736" y="1673352"/>
            <a:ext cx="2651760" cy="338554"/>
          </a:xfrm>
          <a:prstGeom prst="rect">
            <a:avLst/>
          </a:prstGeom>
          <a:noFill/>
        </p:spPr>
        <p:txBody>
          <a:bodyPr wrap="square" lIns="0" tIns="0" rIns="0" bIns="0" anchor="t">
            <a:spAutoFit/>
          </a:bodyPr>
          <a:lstStyle/>
          <a:p>
            <a:pPr algn="l"/>
            <a:r>
              <a:rPr lang="es-CO" sz="1100" b="0" i="0">
                <a:solidFill>
                  <a:srgbClr val="E8EEF6"/>
                </a:solidFill>
                <a:latin typeface="Calibri"/>
              </a:rPr>
              <a:t>Quita espacios al inicio y al final: «   Hola   » sigue siendo corto.</a:t>
            </a:r>
          </a:p>
        </p:txBody>
      </p:sp>
      <p:sp>
        <p:nvSpPr>
          <p:cNvPr id="14" name="Rounded Rectangle 13"/>
          <p:cNvSpPr/>
          <p:nvPr/>
        </p:nvSpPr>
        <p:spPr>
          <a:xfrm>
            <a:off x="5760720" y="2084832"/>
            <a:ext cx="2880360" cy="763244"/>
          </a:xfrm>
          <a:prstGeom prst="roundRect">
            <a:avLst>
              <a:gd name="adj" fmla="val 8000"/>
            </a:avLst>
          </a:prstGeom>
          <a:solidFill>
            <a:srgbClr val="20160E"/>
          </a:solidFill>
          <a:ln w="12700">
            <a:solidFill>
              <a:srgbClr val="FFD47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15" name="TextBox 14"/>
          <p:cNvSpPr txBox="1"/>
          <p:nvPr/>
        </p:nvSpPr>
        <p:spPr>
          <a:xfrm>
            <a:off x="5888736" y="2137353"/>
            <a:ext cx="2651760" cy="169277"/>
          </a:xfrm>
          <a:prstGeom prst="rect">
            <a:avLst/>
          </a:prstGeom>
          <a:noFill/>
        </p:spPr>
        <p:txBody>
          <a:bodyPr wrap="square" lIns="0" tIns="0" rIns="0" bIns="0" anchor="ctr">
            <a:spAutoFit/>
          </a:bodyPr>
          <a:lstStyle/>
          <a:p>
            <a:pPr algn="l"/>
            <a:r>
              <a:rPr lang="es-CO" sz="1100" b="1" i="0">
                <a:solidFill>
                  <a:srgbClr val="FFD479"/>
                </a:solidFill>
                <a:latin typeface="Courier New"/>
              </a:rPr>
              <a:t>length &lt; 10</a:t>
            </a:r>
          </a:p>
        </p:txBody>
      </p:sp>
      <p:sp>
        <p:nvSpPr>
          <p:cNvPr id="16" name="TextBox 15"/>
          <p:cNvSpPr txBox="1"/>
          <p:nvPr/>
        </p:nvSpPr>
        <p:spPr>
          <a:xfrm>
            <a:off x="5888736" y="2331720"/>
            <a:ext cx="2651760" cy="169277"/>
          </a:xfrm>
          <a:prstGeom prst="rect">
            <a:avLst/>
          </a:prstGeom>
          <a:noFill/>
        </p:spPr>
        <p:txBody>
          <a:bodyPr wrap="square" lIns="0" tIns="0" rIns="0" bIns="0" anchor="t">
            <a:spAutoFit/>
          </a:bodyPr>
          <a:lstStyle/>
          <a:p>
            <a:pPr algn="l"/>
            <a:r>
              <a:rPr lang="es-CO" sz="1100" b="0" i="0">
                <a:solidFill>
                  <a:srgbClr val="E8EEF6"/>
                </a:solidFill>
                <a:latin typeface="Calibri"/>
              </a:rPr>
              <a:t>Cuenta los caracteres restantes del mensaje.</a:t>
            </a:r>
          </a:p>
        </p:txBody>
      </p:sp>
      <p:sp>
        <p:nvSpPr>
          <p:cNvPr id="17" name="Rounded Rectangle 16"/>
          <p:cNvSpPr/>
          <p:nvPr/>
        </p:nvSpPr>
        <p:spPr>
          <a:xfrm>
            <a:off x="5760720" y="2743200"/>
            <a:ext cx="2880360" cy="763244"/>
          </a:xfrm>
          <a:prstGeom prst="roundRect">
            <a:avLst>
              <a:gd name="adj" fmla="val 8000"/>
            </a:avLst>
          </a:prstGeom>
          <a:solidFill>
            <a:srgbClr val="20160E"/>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18" name="TextBox 17"/>
          <p:cNvSpPr txBox="1"/>
          <p:nvPr/>
        </p:nvSpPr>
        <p:spPr>
          <a:xfrm>
            <a:off x="5888736" y="2795721"/>
            <a:ext cx="2651760" cy="169277"/>
          </a:xfrm>
          <a:prstGeom prst="rect">
            <a:avLst/>
          </a:prstGeom>
          <a:noFill/>
        </p:spPr>
        <p:txBody>
          <a:bodyPr wrap="square" lIns="0" tIns="0" rIns="0" bIns="0" anchor="ctr">
            <a:spAutoFit/>
          </a:bodyPr>
          <a:lstStyle/>
          <a:p>
            <a:pPr algn="l"/>
            <a:r>
              <a:rPr lang="es-CO" sz="1100" b="1" i="0">
                <a:solidFill>
                  <a:srgbClr val="3DDC97"/>
                </a:solidFill>
                <a:latin typeface="Courier New"/>
              </a:rPr>
              <a:t>errores</a:t>
            </a:r>
          </a:p>
        </p:txBody>
      </p:sp>
      <p:sp>
        <p:nvSpPr>
          <p:cNvPr id="19" name="TextBox 18"/>
          <p:cNvSpPr txBox="1"/>
          <p:nvPr/>
        </p:nvSpPr>
        <p:spPr>
          <a:xfrm>
            <a:off x="5888736" y="2990088"/>
            <a:ext cx="2724912" cy="338554"/>
          </a:xfrm>
          <a:prstGeom prst="rect">
            <a:avLst/>
          </a:prstGeom>
          <a:noFill/>
        </p:spPr>
        <p:txBody>
          <a:bodyPr wrap="square" lIns="0" tIns="0" rIns="0" bIns="0" anchor="t">
            <a:spAutoFit/>
          </a:bodyPr>
          <a:lstStyle/>
          <a:p>
            <a:pPr algn="l"/>
            <a:r>
              <a:rPr lang="es-CO" sz="1100" b="0" i="0" dirty="0">
                <a:solidFill>
                  <a:srgbClr val="E8EEF6"/>
                </a:solidFill>
                <a:latin typeface="Calibri"/>
              </a:rPr>
              <a:t>Lista que el controlador convierte en 400 y vista de error.</a:t>
            </a:r>
          </a:p>
        </p:txBody>
      </p:sp>
      <p:sp>
        <p:nvSpPr>
          <p:cNvPr id="20" name="Rounded Rectangle 19"/>
          <p:cNvSpPr/>
          <p:nvPr/>
        </p:nvSpPr>
        <p:spPr>
          <a:xfrm>
            <a:off x="5760720" y="3401568"/>
            <a:ext cx="2880360" cy="763244"/>
          </a:xfrm>
          <a:prstGeom prst="roundRect">
            <a:avLst>
              <a:gd name="adj" fmla="val 8000"/>
            </a:avLst>
          </a:prstGeom>
          <a:solidFill>
            <a:srgbClr val="20160E"/>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21" name="TextBox 20"/>
          <p:cNvSpPr txBox="1"/>
          <p:nvPr/>
        </p:nvSpPr>
        <p:spPr>
          <a:xfrm>
            <a:off x="5888736" y="3454089"/>
            <a:ext cx="2651760" cy="169277"/>
          </a:xfrm>
          <a:prstGeom prst="rect">
            <a:avLst/>
          </a:prstGeom>
          <a:noFill/>
        </p:spPr>
        <p:txBody>
          <a:bodyPr wrap="square" lIns="0" tIns="0" rIns="0" bIns="0" anchor="ctr">
            <a:spAutoFit/>
          </a:bodyPr>
          <a:lstStyle/>
          <a:p>
            <a:pPr algn="l"/>
            <a:r>
              <a:rPr lang="es-CO" sz="1100" b="1" i="0">
                <a:solidFill>
                  <a:srgbClr val="56C7F2"/>
                </a:solidFill>
                <a:latin typeface="Courier New"/>
              </a:rPr>
              <a:t>controlador</a:t>
            </a:r>
          </a:p>
        </p:txBody>
      </p:sp>
      <p:sp>
        <p:nvSpPr>
          <p:cNvPr id="22" name="TextBox 21"/>
          <p:cNvSpPr txBox="1"/>
          <p:nvPr/>
        </p:nvSpPr>
        <p:spPr>
          <a:xfrm>
            <a:off x="5888736" y="3648456"/>
            <a:ext cx="2651760" cy="338554"/>
          </a:xfrm>
          <a:prstGeom prst="rect">
            <a:avLst/>
          </a:prstGeom>
          <a:noFill/>
        </p:spPr>
        <p:txBody>
          <a:bodyPr wrap="square" lIns="0" tIns="0" rIns="0" bIns="0" anchor="t">
            <a:spAutoFit/>
          </a:bodyPr>
          <a:lstStyle/>
          <a:p>
            <a:pPr algn="l"/>
            <a:r>
              <a:rPr lang="es-CO" sz="1100" b="0" i="0">
                <a:solidFill>
                  <a:srgbClr val="E8EEF6"/>
                </a:solidFill>
                <a:latin typeface="Calibri"/>
              </a:rPr>
              <a:t>No cambia: ya responde según el resultado del modelo.</a:t>
            </a:r>
          </a:p>
        </p:txBody>
      </p:sp>
      <p:sp>
        <p:nvSpPr>
          <p:cNvPr id="23" name="Rounded Rectangle 22"/>
          <p:cNvSpPr/>
          <p:nvPr/>
        </p:nvSpPr>
        <p:spPr>
          <a:xfrm>
            <a:off x="5760720" y="4059935"/>
            <a:ext cx="2880360" cy="615519"/>
          </a:xfrm>
          <a:prstGeom prst="roundRect">
            <a:avLst>
              <a:gd name="adj" fmla="val 8000"/>
            </a:avLst>
          </a:prstGeom>
          <a:solidFill>
            <a:srgbClr val="070C1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24" name="TextBox 23"/>
          <p:cNvSpPr txBox="1"/>
          <p:nvPr/>
        </p:nvSpPr>
        <p:spPr>
          <a:xfrm>
            <a:off x="5870448" y="4034621"/>
            <a:ext cx="2697480" cy="507831"/>
          </a:xfrm>
          <a:prstGeom prst="rect">
            <a:avLst/>
          </a:prstGeom>
          <a:noFill/>
        </p:spPr>
        <p:txBody>
          <a:bodyPr wrap="square" lIns="0" tIns="0" rIns="0" bIns="0" anchor="ctr">
            <a:spAutoFit/>
          </a:bodyPr>
          <a:lstStyle/>
          <a:p>
            <a:pPr algn="l"/>
            <a:r>
              <a:rPr lang="es-CO" sz="1100" b="1" i="0">
                <a:solidFill>
                  <a:srgbClr val="56C7F2"/>
                </a:solidFill>
                <a:latin typeface="Courier New"/>
              </a:rPr>
              <a:t>minlength</a:t>
            </a:r>
            <a:r>
              <a:rPr lang="es-CO" sz="1100" b="0" i="0">
                <a:solidFill>
                  <a:srgbClr val="E8EEF6"/>
                </a:solidFill>
                <a:latin typeface="Calibri"/>
              </a:rPr>
              <a:t> en el HTML ayuda al usuario, pero cualquier cliente puede enviar POST: valida el servidor.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7100A"/>
        </a:solidFill>
        <a:effectLst/>
      </p:bgPr>
    </p:bg>
    <p:spTree>
      <p:nvGrpSpPr>
        <p:cNvPr id="1" name=""/>
        <p:cNvGrpSpPr/>
        <p:nvPr/>
      </p:nvGrpSpPr>
      <p:grpSpPr>
        <a:xfrm>
          <a:off x="0" y="0"/>
          <a:ext cx="0" cy="0"/>
          <a:chOff x="0" y="0"/>
          <a:chExt cx="0" cy="0"/>
        </a:xfrm>
      </p:grpSpPr>
      <p:sp>
        <p:nvSpPr>
          <p:cNvPr id="2" name="TextBox 1"/>
          <p:cNvSpPr txBox="1"/>
          <p:nvPr/>
        </p:nvSpPr>
        <p:spPr>
          <a:xfrm>
            <a:off x="6309360" y="4718304"/>
            <a:ext cx="2331720" cy="201168"/>
          </a:xfrm>
          <a:prstGeom prst="rect">
            <a:avLst/>
          </a:prstGeom>
          <a:noFill/>
        </p:spPr>
        <p:txBody>
          <a:bodyPr wrap="square" lIns="0" tIns="0" rIns="0" bIns="0" anchor="ctr">
            <a:spAutoFit/>
          </a:bodyPr>
          <a:lstStyle/>
          <a:p>
            <a:pPr algn="r"/>
            <a:r>
              <a:rPr lang="es-CO" sz="800" b="0" i="0">
                <a:solidFill>
                  <a:srgbClr val="6C7E96"/>
                </a:solidFill>
                <a:latin typeface="Arial"/>
              </a:rPr>
              <a:t>Ingeniería Web  ·  14 / 24</a:t>
            </a:r>
          </a:p>
        </p:txBody>
      </p:sp>
      <p:sp>
        <p:nvSpPr>
          <p:cNvPr id="3" name="Rounded Rectangle 2"/>
          <p:cNvSpPr/>
          <p:nvPr/>
        </p:nvSpPr>
        <p:spPr>
          <a:xfrm>
            <a:off x="502920" y="365760"/>
            <a:ext cx="2468880" cy="228600"/>
          </a:xfrm>
          <a:prstGeom prst="roundRect">
            <a:avLst>
              <a:gd name="adj" fmla="val 50000"/>
            </a:avLst>
          </a:prstGeom>
          <a:solidFill>
            <a:srgbClr val="35210F"/>
          </a:solidFill>
          <a:ln w="9525">
            <a:solidFill>
              <a:srgbClr val="FF8A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502920" y="365760"/>
            <a:ext cx="2468880" cy="228600"/>
          </a:xfrm>
          <a:prstGeom prst="rect">
            <a:avLst/>
          </a:prstGeom>
          <a:noFill/>
        </p:spPr>
        <p:txBody>
          <a:bodyPr wrap="square" lIns="0" tIns="0" rIns="0" bIns="0" anchor="ctr">
            <a:spAutoFit/>
          </a:bodyPr>
          <a:lstStyle/>
          <a:p>
            <a:pPr algn="ctr"/>
            <a:r>
              <a:rPr lang="es-CO" sz="850" b="1" i="0">
                <a:solidFill>
                  <a:srgbClr val="FF8A3D"/>
                </a:solidFill>
                <a:latin typeface="Arial"/>
              </a:rPr>
              <a:t>LABORATORIO 07 · COMPROBACIÓN</a:t>
            </a:r>
          </a:p>
        </p:txBody>
      </p:sp>
      <p:sp>
        <p:nvSpPr>
          <p:cNvPr id="5" name="Título"/>
          <p:cNvSpPr txBox="1"/>
          <p:nvPr/>
        </p:nvSpPr>
        <p:spPr>
          <a:xfrm>
            <a:off x="475488" y="658368"/>
            <a:ext cx="8138160" cy="438912"/>
          </a:xfrm>
          <a:prstGeom prst="rect">
            <a:avLst/>
          </a:prstGeom>
          <a:noFill/>
        </p:spPr>
        <p:txBody>
          <a:bodyPr wrap="square" lIns="0" tIns="0" rIns="0" bIns="0" anchor="ctr">
            <a:spAutoFit/>
          </a:bodyPr>
          <a:lstStyle/>
          <a:p>
            <a:pPr algn="l"/>
            <a:r>
              <a:rPr lang="es-CO" sz="2600" b="1" i="0">
                <a:solidFill>
                  <a:srgbClr val="FFFFFF"/>
                </a:solidFill>
                <a:latin typeface="Arial"/>
              </a:rPr>
              <a:t>Comprobación y preguntas del Laboratorio 07</a:t>
            </a:r>
          </a:p>
        </p:txBody>
      </p:sp>
      <p:graphicFrame>
        <p:nvGraphicFramePr>
          <p:cNvPr id="6" name="Table 5"/>
          <p:cNvGraphicFramePr>
            <a:graphicFrameLocks noGrp="1"/>
          </p:cNvGraphicFramePr>
          <p:nvPr/>
        </p:nvGraphicFramePr>
        <p:xfrm>
          <a:off x="502920" y="1234440"/>
          <a:ext cx="8138160" cy="1353312"/>
        </p:xfrm>
        <a:graphic>
          <a:graphicData uri="http://schemas.openxmlformats.org/drawingml/2006/table">
            <a:tbl>
              <a:tblPr>
                <a:tableStyleId>{2D5ABB26-0587-4C30-8999-92F81FD0307C}</a:tableStyleId>
              </a:tblPr>
              <a:tblGrid>
                <a:gridCol w="1965960">
                  <a:extLst>
                    <a:ext uri="{9D8B030D-6E8A-4147-A177-3AD203B41FA5}">
                      <a16:colId xmlns:a16="http://schemas.microsoft.com/office/drawing/2014/main" val="20000"/>
                    </a:ext>
                  </a:extLst>
                </a:gridCol>
                <a:gridCol w="260604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gridCol w="1874520">
                  <a:extLst>
                    <a:ext uri="{9D8B030D-6E8A-4147-A177-3AD203B41FA5}">
                      <a16:colId xmlns:a16="http://schemas.microsoft.com/office/drawing/2014/main" val="20003"/>
                    </a:ext>
                  </a:extLst>
                </a:gridCol>
              </a:tblGrid>
              <a:tr h="310896">
                <a:tc>
                  <a:txBody>
                    <a:bodyPr/>
                    <a:lstStyle/>
                    <a:p>
                      <a:r>
                        <a:rPr lang="es-CO" sz="950" b="1" i="0">
                          <a:solidFill>
                            <a:srgbClr val="FF8A3D"/>
                          </a:solidFill>
                          <a:latin typeface="Arial"/>
                        </a:rPr>
                        <a:t>Caso</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3233A"/>
                    </a:solidFill>
                  </a:tcPr>
                </a:tc>
                <a:tc>
                  <a:txBody>
                    <a:bodyPr/>
                    <a:lstStyle/>
                    <a:p>
                      <a:r>
                        <a:rPr lang="es-CO" sz="950" b="1" i="0">
                          <a:solidFill>
                            <a:srgbClr val="FF8A3D"/>
                          </a:solidFill>
                          <a:latin typeface="Arial"/>
                        </a:rPr>
                        <a:t>Mensaje enviado</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3233A"/>
                    </a:solidFill>
                  </a:tcPr>
                </a:tc>
                <a:tc>
                  <a:txBody>
                    <a:bodyPr/>
                    <a:lstStyle/>
                    <a:p>
                      <a:r>
                        <a:rPr lang="es-CO" sz="950" b="1" i="0">
                          <a:solidFill>
                            <a:srgbClr val="FF8A3D"/>
                          </a:solidFill>
                          <a:latin typeface="Arial"/>
                        </a:rPr>
                        <a:t>Respuesta</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3233A"/>
                    </a:solidFill>
                  </a:tcPr>
                </a:tc>
                <a:tc>
                  <a:txBody>
                    <a:bodyPr/>
                    <a:lstStyle/>
                    <a:p>
                      <a:r>
                        <a:rPr lang="es-CO" sz="950" b="1" i="0">
                          <a:solidFill>
                            <a:srgbClr val="FF8A3D"/>
                          </a:solidFill>
                          <a:latin typeface="Arial"/>
                        </a:rPr>
                        <a:t>¿Se guarda?</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3233A"/>
                    </a:solidFill>
                  </a:tcPr>
                </a:tc>
                <a:extLst>
                  <a:ext uri="{0D108BD9-81ED-4DB2-BD59-A6C34878D82A}">
                    <a16:rowId xmlns:a16="http://schemas.microsoft.com/office/drawing/2014/main" val="10000"/>
                  </a:ext>
                </a:extLst>
              </a:tr>
              <a:tr h="347472">
                <a:tc>
                  <a:txBody>
                    <a:bodyPr/>
                    <a:lstStyle/>
                    <a:p>
                      <a:r>
                        <a:rPr lang="es-CO" sz="1000" b="1" i="0">
                          <a:solidFill>
                            <a:srgbClr val="FFB86C"/>
                          </a:solidFill>
                          <a:latin typeface="Arial"/>
                        </a:rPr>
                        <a:t>Mensaje corto</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A2434"/>
                    </a:solidFill>
                  </a:tcPr>
                </a:tc>
                <a:tc>
                  <a:txBody>
                    <a:bodyPr/>
                    <a:lstStyle/>
                    <a:p>
                      <a:r>
                        <a:rPr lang="es-CO" sz="1000" b="0" i="0">
                          <a:solidFill>
                            <a:srgbClr val="E8EEF6"/>
                          </a:solidFill>
                          <a:latin typeface="Courier New"/>
                        </a:rPr>
                        <a:t>Hola</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A2434"/>
                    </a:solidFill>
                  </a:tcPr>
                </a:tc>
                <a:tc>
                  <a:txBody>
                    <a:bodyPr/>
                    <a:lstStyle/>
                    <a:p>
                      <a:r>
                        <a:rPr lang="es-CO" sz="1000" b="1" i="0">
                          <a:solidFill>
                            <a:srgbClr val="FF6B6B"/>
                          </a:solidFill>
                          <a:latin typeface="Courier New"/>
                        </a:rPr>
                        <a:t>400</a:t>
                      </a:r>
                      <a:r>
                        <a:rPr lang="es-CO" sz="1000" b="0" i="0">
                          <a:solidFill>
                            <a:srgbClr val="E8EEF6"/>
                          </a:solidFill>
                          <a:latin typeface="Calibri"/>
                        </a:rPr>
                        <a:t> · vista de error</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A2434"/>
                    </a:solidFill>
                  </a:tcPr>
                </a:tc>
                <a:tc>
                  <a:txBody>
                    <a:bodyPr/>
                    <a:lstStyle/>
                    <a:p>
                      <a:r>
                        <a:rPr lang="es-CO" sz="1000" b="0" i="0">
                          <a:solidFill>
                            <a:srgbClr val="E8EEF6"/>
                          </a:solidFill>
                          <a:latin typeface="Calibri"/>
                        </a:rPr>
                        <a:t>No</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A2434"/>
                    </a:solidFill>
                  </a:tcPr>
                </a:tc>
                <a:extLst>
                  <a:ext uri="{0D108BD9-81ED-4DB2-BD59-A6C34878D82A}">
                    <a16:rowId xmlns:a16="http://schemas.microsoft.com/office/drawing/2014/main" val="10001"/>
                  </a:ext>
                </a:extLst>
              </a:tr>
              <a:tr h="347472">
                <a:tc>
                  <a:txBody>
                    <a:bodyPr/>
                    <a:lstStyle/>
                    <a:p>
                      <a:r>
                        <a:rPr lang="es-CO" sz="1000" b="1" i="0">
                          <a:solidFill>
                            <a:srgbClr val="FFB86C"/>
                          </a:solidFill>
                          <a:latin typeface="Arial"/>
                        </a:rPr>
                        <a:t>Solo espacios y texto corto</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41E2D"/>
                    </a:solidFill>
                  </a:tcPr>
                </a:tc>
                <a:tc>
                  <a:txBody>
                    <a:bodyPr/>
                    <a:lstStyle/>
                    <a:p>
                      <a:r>
                        <a:rPr lang="es-CO" sz="1000" b="0" i="0">
                          <a:solidFill>
                            <a:srgbClr val="E8EEF6"/>
                          </a:solidFill>
                          <a:latin typeface="Courier New"/>
                        </a:rPr>
                        <a:t>   Hola   </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41E2D"/>
                    </a:solidFill>
                  </a:tcPr>
                </a:tc>
                <a:tc>
                  <a:txBody>
                    <a:bodyPr/>
                    <a:lstStyle/>
                    <a:p>
                      <a:r>
                        <a:rPr lang="es-CO" sz="1000" b="1" i="0">
                          <a:solidFill>
                            <a:srgbClr val="FF6B6B"/>
                          </a:solidFill>
                          <a:latin typeface="Courier New"/>
                        </a:rPr>
                        <a:t>400</a:t>
                      </a:r>
                      <a:r>
                        <a:rPr lang="es-CO" sz="1000" b="0" i="0">
                          <a:solidFill>
                            <a:srgbClr val="E8EEF6"/>
                          </a:solidFill>
                          <a:latin typeface="Calibri"/>
                        </a:rPr>
                        <a:t> · vista de error</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41E2D"/>
                    </a:solidFill>
                  </a:tcPr>
                </a:tc>
                <a:tc>
                  <a:txBody>
                    <a:bodyPr/>
                    <a:lstStyle/>
                    <a:p>
                      <a:r>
                        <a:rPr lang="es-CO" sz="1000" b="0" i="0">
                          <a:solidFill>
                            <a:srgbClr val="E8EEF6"/>
                          </a:solidFill>
                          <a:latin typeface="Calibri"/>
                        </a:rPr>
                        <a:t>No</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41E2D"/>
                    </a:solidFill>
                  </a:tcPr>
                </a:tc>
                <a:extLst>
                  <a:ext uri="{0D108BD9-81ED-4DB2-BD59-A6C34878D82A}">
                    <a16:rowId xmlns:a16="http://schemas.microsoft.com/office/drawing/2014/main" val="10002"/>
                  </a:ext>
                </a:extLst>
              </a:tr>
              <a:tr h="347472">
                <a:tc>
                  <a:txBody>
                    <a:bodyPr/>
                    <a:lstStyle/>
                    <a:p>
                      <a:r>
                        <a:rPr lang="es-CO" sz="1000" b="1" i="0">
                          <a:solidFill>
                            <a:srgbClr val="3DDC97"/>
                          </a:solidFill>
                          <a:latin typeface="Arial"/>
                        </a:rPr>
                        <a:t>Registro válido</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A2434"/>
                    </a:solidFill>
                  </a:tcPr>
                </a:tc>
                <a:tc>
                  <a:txBody>
                    <a:bodyPr/>
                    <a:lstStyle/>
                    <a:p>
                      <a:r>
                        <a:rPr lang="es-CO" sz="1000" b="0" i="0">
                          <a:solidFill>
                            <a:srgbClr val="E8EEF6"/>
                          </a:solidFill>
                          <a:latin typeface="Courier New"/>
                        </a:rPr>
                        <a:t>Solicito el horario de atención.</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A2434"/>
                    </a:solidFill>
                  </a:tcPr>
                </a:tc>
                <a:tc>
                  <a:txBody>
                    <a:bodyPr/>
                    <a:lstStyle/>
                    <a:p>
                      <a:r>
                        <a:rPr lang="es-CO" sz="1000" b="1" i="0">
                          <a:solidFill>
                            <a:srgbClr val="3DDC97"/>
                          </a:solidFill>
                          <a:latin typeface="Courier New"/>
                        </a:rPr>
                        <a:t>201</a:t>
                      </a:r>
                      <a:r>
                        <a:rPr lang="es-CO" sz="1000" b="0" i="0">
                          <a:solidFill>
                            <a:srgbClr val="E8EEF6"/>
                          </a:solidFill>
                          <a:latin typeface="Calibri"/>
                        </a:rPr>
                        <a:t> · confirmación</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A2434"/>
                    </a:solidFill>
                  </a:tcPr>
                </a:tc>
                <a:tc>
                  <a:txBody>
                    <a:bodyPr/>
                    <a:lstStyle/>
                    <a:p>
                      <a:r>
                        <a:rPr lang="es-CO" sz="1000" b="0" i="0">
                          <a:solidFill>
                            <a:srgbClr val="E8EEF6"/>
                          </a:solidFill>
                          <a:latin typeface="Calibri"/>
                        </a:rPr>
                        <a:t>Sí: aparece en /api/contactos</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A2434"/>
                    </a:solidFill>
                  </a:tcPr>
                </a:tc>
                <a:extLst>
                  <a:ext uri="{0D108BD9-81ED-4DB2-BD59-A6C34878D82A}">
                    <a16:rowId xmlns:a16="http://schemas.microsoft.com/office/drawing/2014/main" val="10003"/>
                  </a:ext>
                </a:extLst>
              </a:tr>
            </a:tbl>
          </a:graphicData>
        </a:graphic>
      </p:graphicFrame>
      <p:sp>
        <p:nvSpPr>
          <p:cNvPr id="7" name="Rounded Rectangle 6"/>
          <p:cNvSpPr/>
          <p:nvPr/>
        </p:nvSpPr>
        <p:spPr>
          <a:xfrm>
            <a:off x="502920" y="2770632"/>
            <a:ext cx="4023360" cy="1746504"/>
          </a:xfrm>
          <a:prstGeom prst="roundRect">
            <a:avLst>
              <a:gd name="adj" fmla="val 8000"/>
            </a:avLst>
          </a:prstGeom>
          <a:solidFill>
            <a:srgbClr val="070C1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49224" y="2843784"/>
            <a:ext cx="3730752" cy="182880"/>
          </a:xfrm>
          <a:prstGeom prst="rect">
            <a:avLst/>
          </a:prstGeom>
          <a:noFill/>
        </p:spPr>
        <p:txBody>
          <a:bodyPr wrap="square" lIns="0" tIns="0" rIns="0" bIns="0" anchor="ctr">
            <a:spAutoFit/>
          </a:bodyPr>
          <a:lstStyle/>
          <a:p>
            <a:pPr algn="l"/>
            <a:r>
              <a:rPr lang="es-CO" sz="900" b="1" i="0">
                <a:solidFill>
                  <a:srgbClr val="FF8A3D"/>
                </a:solidFill>
                <a:latin typeface="Courier New"/>
              </a:rPr>
              <a:t>Comprobar el código de estado</a:t>
            </a:r>
          </a:p>
        </p:txBody>
      </p:sp>
      <p:sp>
        <p:nvSpPr>
          <p:cNvPr id="9" name="TextBox 8"/>
          <p:cNvSpPr txBox="1"/>
          <p:nvPr/>
        </p:nvSpPr>
        <p:spPr>
          <a:xfrm>
            <a:off x="649224" y="3044952"/>
            <a:ext cx="3730752" cy="1417320"/>
          </a:xfrm>
          <a:prstGeom prst="rect">
            <a:avLst/>
          </a:prstGeom>
          <a:noFill/>
        </p:spPr>
        <p:txBody>
          <a:bodyPr wrap="square" lIns="0" tIns="0" rIns="0" bIns="0" anchor="t">
            <a:spAutoFit/>
          </a:bodyPr>
          <a:lstStyle/>
          <a:p>
            <a:pPr algn="l"/>
            <a:r>
              <a:rPr lang="es-CO" sz="850" b="0" i="0">
                <a:solidFill>
                  <a:srgbClr val="D7E1EE"/>
                </a:solidFill>
                <a:latin typeface="Courier New"/>
              </a:rPr>
              <a:t>Navegador: F12 › Red › solicitud «contacto»</a:t>
            </a:r>
          </a:p>
          <a:p>
            <a:pPr algn="l"/>
            <a:r>
              <a:rPr lang="es-CO" sz="850" b="0" i="0">
                <a:solidFill>
                  <a:srgbClr val="D7E1EE"/>
                </a:solidFill>
                <a:latin typeface="Courier New"/>
              </a:rPr>
              <a:t>  Estado 400 o 201</a:t>
            </a:r>
          </a:p>
          <a:p>
            <a:pPr algn="l"/>
            <a:r>
              <a:rPr lang="es-CO" sz="850" b="0" i="0">
                <a:solidFill>
                  <a:srgbClr val="E8EEF6"/>
                </a:solidFill>
                <a:latin typeface="Courier New"/>
              </a:rPr>
              <a:t> </a:t>
            </a:r>
          </a:p>
          <a:p>
            <a:pPr algn="l"/>
            <a:r>
              <a:rPr lang="es-CO" sz="850" b="0" i="0">
                <a:solidFill>
                  <a:srgbClr val="D7E1EE"/>
                </a:solidFill>
                <a:latin typeface="Courier New"/>
              </a:rPr>
              <a:t>Terminal (opcional):</a:t>
            </a:r>
          </a:p>
          <a:p>
            <a:pPr algn="l"/>
            <a:r>
              <a:rPr lang="es-CO" sz="850" b="0" i="0">
                <a:solidFill>
                  <a:srgbClr val="D7E1EE"/>
                </a:solidFill>
                <a:latin typeface="Courier New"/>
              </a:rPr>
              <a:t>curl -i -d "nombre=Carlos&amp;correo=carlos@</a:t>
            </a:r>
          </a:p>
          <a:p>
            <a:pPr algn="l"/>
            <a:r>
              <a:rPr lang="es-CO" sz="850" b="0" i="0">
                <a:solidFill>
                  <a:srgbClr val="D7E1EE"/>
                </a:solidFill>
                <a:latin typeface="Courier New"/>
              </a:rPr>
              <a:t>example.com&amp;mensaje=Hola" localhost:3000/contacto</a:t>
            </a:r>
          </a:p>
        </p:txBody>
      </p:sp>
      <p:sp>
        <p:nvSpPr>
          <p:cNvPr id="10" name="Rounded Rectangle 9"/>
          <p:cNvSpPr/>
          <p:nvPr/>
        </p:nvSpPr>
        <p:spPr>
          <a:xfrm>
            <a:off x="4663440" y="2770632"/>
            <a:ext cx="3977640" cy="502920"/>
          </a:xfrm>
          <a:prstGeom prst="roundRect">
            <a:avLst>
              <a:gd name="adj" fmla="val 8000"/>
            </a:avLst>
          </a:prstGeom>
          <a:solidFill>
            <a:srgbClr val="20160E"/>
          </a:solidFill>
          <a:ln w="12700">
            <a:solidFill>
              <a:srgbClr val="FF8A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ounded Rectangle 10"/>
          <p:cNvSpPr/>
          <p:nvPr/>
        </p:nvSpPr>
        <p:spPr>
          <a:xfrm>
            <a:off x="4773168" y="2880360"/>
            <a:ext cx="283464" cy="283464"/>
          </a:xfrm>
          <a:prstGeom prst="roundRect">
            <a:avLst>
              <a:gd name="adj" fmla="val 13333"/>
            </a:avLst>
          </a:prstGeom>
          <a:solidFill>
            <a:srgbClr val="35210F"/>
          </a:solidFill>
          <a:ln w="12700">
            <a:solidFill>
              <a:srgbClr val="FF8A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4773168" y="2880360"/>
            <a:ext cx="283464" cy="283464"/>
          </a:xfrm>
          <a:prstGeom prst="rect">
            <a:avLst/>
          </a:prstGeom>
          <a:noFill/>
        </p:spPr>
        <p:txBody>
          <a:bodyPr wrap="square" lIns="0" tIns="0" rIns="0" bIns="0" anchor="ctr">
            <a:spAutoFit/>
          </a:bodyPr>
          <a:lstStyle/>
          <a:p>
            <a:pPr algn="ctr"/>
            <a:r>
              <a:rPr lang="es-CO" sz="900" b="1" i="0">
                <a:solidFill>
                  <a:srgbClr val="FF8A3D"/>
                </a:solidFill>
                <a:latin typeface="Arial"/>
              </a:rPr>
              <a:t>01</a:t>
            </a:r>
          </a:p>
        </p:txBody>
      </p:sp>
      <p:sp>
        <p:nvSpPr>
          <p:cNvPr id="13" name="TextBox 12"/>
          <p:cNvSpPr txBox="1"/>
          <p:nvPr/>
        </p:nvSpPr>
        <p:spPr>
          <a:xfrm>
            <a:off x="5166360" y="2770632"/>
            <a:ext cx="3383280" cy="502920"/>
          </a:xfrm>
          <a:prstGeom prst="rect">
            <a:avLst/>
          </a:prstGeom>
          <a:noFill/>
        </p:spPr>
        <p:txBody>
          <a:bodyPr wrap="square" lIns="0" tIns="0" rIns="0" bIns="0" anchor="ctr">
            <a:spAutoFit/>
          </a:bodyPr>
          <a:lstStyle/>
          <a:p>
            <a:pPr algn="l"/>
            <a:r>
              <a:rPr lang="es-CO" sz="1050" b="0" i="0">
                <a:solidFill>
                  <a:srgbClr val="E8EEF6"/>
                </a:solidFill>
                <a:latin typeface="Calibri"/>
              </a:rPr>
              <a:t>¿Qué archivos cambiaron para agregar la regla?</a:t>
            </a:r>
          </a:p>
        </p:txBody>
      </p:sp>
      <p:sp>
        <p:nvSpPr>
          <p:cNvPr id="14" name="Rounded Rectangle 13"/>
          <p:cNvSpPr/>
          <p:nvPr/>
        </p:nvSpPr>
        <p:spPr>
          <a:xfrm>
            <a:off x="4663440" y="3364992"/>
            <a:ext cx="3977640" cy="502920"/>
          </a:xfrm>
          <a:prstGeom prst="roundRect">
            <a:avLst>
              <a:gd name="adj" fmla="val 8000"/>
            </a:avLst>
          </a:prstGeom>
          <a:solidFill>
            <a:srgbClr val="20160E"/>
          </a:solidFill>
          <a:ln w="12700">
            <a:solidFill>
              <a:srgbClr val="FF8A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ounded Rectangle 14"/>
          <p:cNvSpPr/>
          <p:nvPr/>
        </p:nvSpPr>
        <p:spPr>
          <a:xfrm>
            <a:off x="4773168" y="3474720"/>
            <a:ext cx="283464" cy="283464"/>
          </a:xfrm>
          <a:prstGeom prst="roundRect">
            <a:avLst>
              <a:gd name="adj" fmla="val 13333"/>
            </a:avLst>
          </a:prstGeom>
          <a:solidFill>
            <a:srgbClr val="35210F"/>
          </a:solidFill>
          <a:ln w="12700">
            <a:solidFill>
              <a:srgbClr val="FF8A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4773168" y="3474720"/>
            <a:ext cx="283464" cy="283464"/>
          </a:xfrm>
          <a:prstGeom prst="rect">
            <a:avLst/>
          </a:prstGeom>
          <a:noFill/>
        </p:spPr>
        <p:txBody>
          <a:bodyPr wrap="square" lIns="0" tIns="0" rIns="0" bIns="0" anchor="ctr">
            <a:spAutoFit/>
          </a:bodyPr>
          <a:lstStyle/>
          <a:p>
            <a:pPr algn="ctr"/>
            <a:r>
              <a:rPr lang="es-CO" sz="900" b="1" i="0">
                <a:solidFill>
                  <a:srgbClr val="FF8A3D"/>
                </a:solidFill>
                <a:latin typeface="Arial"/>
              </a:rPr>
              <a:t>02</a:t>
            </a:r>
          </a:p>
        </p:txBody>
      </p:sp>
      <p:sp>
        <p:nvSpPr>
          <p:cNvPr id="17" name="TextBox 16"/>
          <p:cNvSpPr txBox="1"/>
          <p:nvPr/>
        </p:nvSpPr>
        <p:spPr>
          <a:xfrm>
            <a:off x="5166360" y="3364992"/>
            <a:ext cx="3383280" cy="502920"/>
          </a:xfrm>
          <a:prstGeom prst="rect">
            <a:avLst/>
          </a:prstGeom>
          <a:noFill/>
        </p:spPr>
        <p:txBody>
          <a:bodyPr wrap="square" lIns="0" tIns="0" rIns="0" bIns="0" anchor="ctr">
            <a:spAutoFit/>
          </a:bodyPr>
          <a:lstStyle/>
          <a:p>
            <a:pPr algn="l"/>
            <a:r>
              <a:rPr lang="es-CO" sz="1050" b="0" i="0">
                <a:solidFill>
                  <a:srgbClr val="E8EEF6"/>
                </a:solidFill>
                <a:latin typeface="Calibri"/>
              </a:rPr>
              <a:t>¿Por qué el repositorio no valida el mensaje?</a:t>
            </a:r>
          </a:p>
        </p:txBody>
      </p:sp>
      <p:sp>
        <p:nvSpPr>
          <p:cNvPr id="18" name="Rounded Rectangle 17"/>
          <p:cNvSpPr/>
          <p:nvPr/>
        </p:nvSpPr>
        <p:spPr>
          <a:xfrm>
            <a:off x="4663440" y="3959352"/>
            <a:ext cx="3977640" cy="502920"/>
          </a:xfrm>
          <a:prstGeom prst="roundRect">
            <a:avLst>
              <a:gd name="adj" fmla="val 8000"/>
            </a:avLst>
          </a:prstGeom>
          <a:solidFill>
            <a:srgbClr val="20160E"/>
          </a:solidFill>
          <a:ln w="12700">
            <a:solidFill>
              <a:srgbClr val="FF8A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ounded Rectangle 18"/>
          <p:cNvSpPr/>
          <p:nvPr/>
        </p:nvSpPr>
        <p:spPr>
          <a:xfrm>
            <a:off x="4773168" y="4069080"/>
            <a:ext cx="283464" cy="283464"/>
          </a:xfrm>
          <a:prstGeom prst="roundRect">
            <a:avLst>
              <a:gd name="adj" fmla="val 13333"/>
            </a:avLst>
          </a:prstGeom>
          <a:solidFill>
            <a:srgbClr val="35210F"/>
          </a:solidFill>
          <a:ln w="12700">
            <a:solidFill>
              <a:srgbClr val="FF8A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4773168" y="4069080"/>
            <a:ext cx="283464" cy="283464"/>
          </a:xfrm>
          <a:prstGeom prst="rect">
            <a:avLst/>
          </a:prstGeom>
          <a:noFill/>
        </p:spPr>
        <p:txBody>
          <a:bodyPr wrap="square" lIns="0" tIns="0" rIns="0" bIns="0" anchor="ctr">
            <a:spAutoFit/>
          </a:bodyPr>
          <a:lstStyle/>
          <a:p>
            <a:pPr algn="ctr"/>
            <a:r>
              <a:rPr lang="es-CO" sz="900" b="1" i="0">
                <a:solidFill>
                  <a:srgbClr val="FF8A3D"/>
                </a:solidFill>
                <a:latin typeface="Arial"/>
              </a:rPr>
              <a:t>03</a:t>
            </a:r>
          </a:p>
        </p:txBody>
      </p:sp>
      <p:sp>
        <p:nvSpPr>
          <p:cNvPr id="21" name="TextBox 20"/>
          <p:cNvSpPr txBox="1"/>
          <p:nvPr/>
        </p:nvSpPr>
        <p:spPr>
          <a:xfrm>
            <a:off x="5166360" y="3959352"/>
            <a:ext cx="3383280" cy="502920"/>
          </a:xfrm>
          <a:prstGeom prst="rect">
            <a:avLst/>
          </a:prstGeom>
          <a:noFill/>
        </p:spPr>
        <p:txBody>
          <a:bodyPr wrap="square" lIns="0" tIns="0" rIns="0" bIns="0" anchor="ctr">
            <a:spAutoFit/>
          </a:bodyPr>
          <a:lstStyle/>
          <a:p>
            <a:pPr algn="l"/>
            <a:r>
              <a:rPr lang="es-CO" sz="1050" b="0" i="0">
                <a:solidFill>
                  <a:srgbClr val="E8EEF6"/>
                </a:solidFill>
                <a:latin typeface="Calibri"/>
              </a:rPr>
              <a:t>¿Qué pasaría si la regla estuviera en rutas.js?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A101B"/>
        </a:solidFill>
        <a:effectLst/>
      </p:bgPr>
    </p:bg>
    <p:spTree>
      <p:nvGrpSpPr>
        <p:cNvPr id="1" name=""/>
        <p:cNvGrpSpPr/>
        <p:nvPr/>
      </p:nvGrpSpPr>
      <p:grpSpPr>
        <a:xfrm>
          <a:off x="0" y="0"/>
          <a:ext cx="0" cy="0"/>
          <a:chOff x="0" y="0"/>
          <a:chExt cx="0" cy="0"/>
        </a:xfrm>
      </p:grpSpPr>
      <p:sp>
        <p:nvSpPr>
          <p:cNvPr id="2" name="TextBox 1"/>
          <p:cNvSpPr txBox="1"/>
          <p:nvPr/>
        </p:nvSpPr>
        <p:spPr>
          <a:xfrm>
            <a:off x="6309360" y="4734249"/>
            <a:ext cx="2331720" cy="169277"/>
          </a:xfrm>
          <a:prstGeom prst="rect">
            <a:avLst/>
          </a:prstGeom>
          <a:noFill/>
        </p:spPr>
        <p:txBody>
          <a:bodyPr wrap="square" lIns="0" tIns="0" rIns="0" bIns="0" anchor="ctr">
            <a:spAutoFit/>
          </a:bodyPr>
          <a:lstStyle/>
          <a:p>
            <a:pPr algn="r"/>
            <a:r>
              <a:rPr lang="es-CO" sz="1100" b="0" i="0">
                <a:solidFill>
                  <a:srgbClr val="6C7E96"/>
                </a:solidFill>
                <a:latin typeface="Arial"/>
              </a:rPr>
              <a:t>Ingeniería Web  ·  15 / 24</a:t>
            </a:r>
          </a:p>
        </p:txBody>
      </p:sp>
      <p:sp>
        <p:nvSpPr>
          <p:cNvPr id="3" name="Rounded Rectangle 2"/>
          <p:cNvSpPr/>
          <p:nvPr/>
        </p:nvSpPr>
        <p:spPr>
          <a:xfrm>
            <a:off x="502920" y="365760"/>
            <a:ext cx="1783080" cy="228600"/>
          </a:xfrm>
          <a:prstGeom prst="roundRect">
            <a:avLst>
              <a:gd name="adj" fmla="val 50000"/>
            </a:avLst>
          </a:prstGeom>
          <a:solidFill>
            <a:srgbClr val="132A24"/>
          </a:solidFill>
          <a:ln w="952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502920" y="365760"/>
            <a:ext cx="1783080" cy="228600"/>
          </a:xfrm>
          <a:prstGeom prst="rect">
            <a:avLst/>
          </a:prstGeom>
          <a:noFill/>
        </p:spPr>
        <p:txBody>
          <a:bodyPr wrap="square" lIns="0" tIns="0" rIns="0" bIns="0" anchor="ctr">
            <a:spAutoFit/>
          </a:bodyPr>
          <a:lstStyle/>
          <a:p>
            <a:pPr algn="ctr"/>
            <a:r>
              <a:rPr lang="es-CO" sz="850" b="1" i="0">
                <a:solidFill>
                  <a:srgbClr val="3DDC97"/>
                </a:solidFill>
                <a:latin typeface="Arial"/>
              </a:rPr>
              <a:t>CONCEPTO · ONTOLOGÍAS</a:t>
            </a:r>
          </a:p>
        </p:txBody>
      </p:sp>
      <p:sp>
        <p:nvSpPr>
          <p:cNvPr id="5" name="Título"/>
          <p:cNvSpPr txBox="1"/>
          <p:nvPr/>
        </p:nvSpPr>
        <p:spPr>
          <a:xfrm>
            <a:off x="475488" y="658368"/>
            <a:ext cx="8138160" cy="438912"/>
          </a:xfrm>
          <a:prstGeom prst="rect">
            <a:avLst/>
          </a:prstGeom>
          <a:noFill/>
        </p:spPr>
        <p:txBody>
          <a:bodyPr wrap="square" lIns="0" tIns="0" rIns="0" bIns="0" anchor="ctr">
            <a:spAutoFit/>
          </a:bodyPr>
          <a:lstStyle/>
          <a:p>
            <a:pPr algn="l"/>
            <a:r>
              <a:rPr lang="es-CO" sz="2600" b="1" i="0">
                <a:solidFill>
                  <a:srgbClr val="FFFFFF"/>
                </a:solidFill>
                <a:latin typeface="Arial"/>
              </a:rPr>
              <a:t>Introducción a las ontologías</a:t>
            </a:r>
          </a:p>
        </p:txBody>
      </p:sp>
      <p:sp>
        <p:nvSpPr>
          <p:cNvPr id="6" name="Rounded Rectangle 5"/>
          <p:cNvSpPr/>
          <p:nvPr/>
        </p:nvSpPr>
        <p:spPr>
          <a:xfrm>
            <a:off x="502920" y="1234440"/>
            <a:ext cx="4892040" cy="1024128"/>
          </a:xfrm>
          <a:prstGeom prst="roundRect">
            <a:avLst>
              <a:gd name="adj" fmla="val 8000"/>
            </a:avLst>
          </a:prstGeom>
          <a:solidFill>
            <a:srgbClr val="1A243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7" name="TextBox 6"/>
          <p:cNvSpPr txBox="1"/>
          <p:nvPr/>
        </p:nvSpPr>
        <p:spPr>
          <a:xfrm>
            <a:off x="667512" y="1323537"/>
            <a:ext cx="4572000" cy="169277"/>
          </a:xfrm>
          <a:prstGeom prst="rect">
            <a:avLst/>
          </a:prstGeom>
          <a:noFill/>
        </p:spPr>
        <p:txBody>
          <a:bodyPr wrap="square" lIns="0" tIns="0" rIns="0" bIns="0" anchor="ctr">
            <a:spAutoFit/>
          </a:bodyPr>
          <a:lstStyle/>
          <a:p>
            <a:pPr algn="l"/>
            <a:r>
              <a:rPr lang="es-CO" sz="1100" b="1" i="0">
                <a:solidFill>
                  <a:srgbClr val="3DDC97"/>
                </a:solidFill>
                <a:latin typeface="Arial"/>
              </a:rPr>
              <a:t>Definición</a:t>
            </a:r>
          </a:p>
        </p:txBody>
      </p:sp>
      <p:sp>
        <p:nvSpPr>
          <p:cNvPr id="8" name="TextBox 7"/>
          <p:cNvSpPr txBox="1"/>
          <p:nvPr/>
        </p:nvSpPr>
        <p:spPr>
          <a:xfrm>
            <a:off x="667512" y="1554480"/>
            <a:ext cx="4572000" cy="338554"/>
          </a:xfrm>
          <a:prstGeom prst="rect">
            <a:avLst/>
          </a:prstGeom>
          <a:noFill/>
        </p:spPr>
        <p:txBody>
          <a:bodyPr wrap="square" lIns="0" tIns="0" rIns="0" bIns="0" anchor="t">
            <a:spAutoFit/>
          </a:bodyPr>
          <a:lstStyle/>
          <a:p>
            <a:pPr algn="l"/>
            <a:r>
              <a:rPr lang="es-CO" sz="1100" b="0" i="0">
                <a:solidFill>
                  <a:srgbClr val="E8EEF6"/>
                </a:solidFill>
                <a:latin typeface="Calibri"/>
              </a:rPr>
              <a:t>Una ontología es una especificación explícita y formal de una conceptualización compartida: define los conceptos de un dominio, sus relaciones y su significado.</a:t>
            </a:r>
          </a:p>
        </p:txBody>
      </p:sp>
      <p:sp>
        <p:nvSpPr>
          <p:cNvPr id="9" name="Rounded Rectangle 8"/>
          <p:cNvSpPr/>
          <p:nvPr/>
        </p:nvSpPr>
        <p:spPr>
          <a:xfrm>
            <a:off x="502920" y="2395728"/>
            <a:ext cx="2404872" cy="804672"/>
          </a:xfrm>
          <a:prstGeom prst="roundRect">
            <a:avLst>
              <a:gd name="adj" fmla="val 8000"/>
            </a:avLst>
          </a:prstGeom>
          <a:solidFill>
            <a:srgbClr val="1A2434"/>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10" name="TextBox 9"/>
          <p:cNvSpPr txBox="1"/>
          <p:nvPr/>
        </p:nvSpPr>
        <p:spPr>
          <a:xfrm>
            <a:off x="621792" y="2475681"/>
            <a:ext cx="2194560" cy="169277"/>
          </a:xfrm>
          <a:prstGeom prst="rect">
            <a:avLst/>
          </a:prstGeom>
          <a:noFill/>
        </p:spPr>
        <p:txBody>
          <a:bodyPr wrap="square" lIns="0" tIns="0" rIns="0" bIns="0" anchor="ctr">
            <a:spAutoFit/>
          </a:bodyPr>
          <a:lstStyle/>
          <a:p>
            <a:pPr algn="l"/>
            <a:r>
              <a:rPr lang="es-CO" sz="1100" b="1" i="0">
                <a:solidFill>
                  <a:srgbClr val="56C7F2"/>
                </a:solidFill>
                <a:latin typeface="Arial"/>
              </a:rPr>
              <a:t>Vocabulario común</a:t>
            </a:r>
          </a:p>
        </p:txBody>
      </p:sp>
      <p:sp>
        <p:nvSpPr>
          <p:cNvPr id="11" name="TextBox 10"/>
          <p:cNvSpPr txBox="1"/>
          <p:nvPr/>
        </p:nvSpPr>
        <p:spPr>
          <a:xfrm>
            <a:off x="621792" y="2688336"/>
            <a:ext cx="2194560" cy="338554"/>
          </a:xfrm>
          <a:prstGeom prst="rect">
            <a:avLst/>
          </a:prstGeom>
          <a:noFill/>
        </p:spPr>
        <p:txBody>
          <a:bodyPr wrap="square" lIns="0" tIns="0" rIns="0" bIns="0" anchor="t">
            <a:spAutoFit/>
          </a:bodyPr>
          <a:lstStyle/>
          <a:p>
            <a:pPr algn="l"/>
            <a:r>
              <a:rPr lang="es-CO" sz="1100" b="0" i="0">
                <a:solidFill>
                  <a:srgbClr val="E8EEF6"/>
                </a:solidFill>
                <a:latin typeface="Calibri"/>
              </a:rPr>
              <a:t>Personas y programas usan los mismos términos.</a:t>
            </a:r>
          </a:p>
        </p:txBody>
      </p:sp>
      <p:sp>
        <p:nvSpPr>
          <p:cNvPr id="12" name="Rounded Rectangle 11"/>
          <p:cNvSpPr/>
          <p:nvPr/>
        </p:nvSpPr>
        <p:spPr>
          <a:xfrm>
            <a:off x="2990088" y="2395728"/>
            <a:ext cx="2404872" cy="804672"/>
          </a:xfrm>
          <a:prstGeom prst="roundRect">
            <a:avLst>
              <a:gd name="adj" fmla="val 8000"/>
            </a:avLst>
          </a:prstGeom>
          <a:solidFill>
            <a:srgbClr val="1A2434"/>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13" name="TextBox 12"/>
          <p:cNvSpPr txBox="1"/>
          <p:nvPr/>
        </p:nvSpPr>
        <p:spPr>
          <a:xfrm>
            <a:off x="3108960" y="2475681"/>
            <a:ext cx="2194560" cy="169277"/>
          </a:xfrm>
          <a:prstGeom prst="rect">
            <a:avLst/>
          </a:prstGeom>
          <a:noFill/>
        </p:spPr>
        <p:txBody>
          <a:bodyPr wrap="square" lIns="0" tIns="0" rIns="0" bIns="0" anchor="ctr">
            <a:spAutoFit/>
          </a:bodyPr>
          <a:lstStyle/>
          <a:p>
            <a:pPr algn="l"/>
            <a:r>
              <a:rPr lang="es-CO" sz="1100" b="1" i="0">
                <a:solidFill>
                  <a:srgbClr val="56C7F2"/>
                </a:solidFill>
                <a:latin typeface="Arial"/>
              </a:rPr>
              <a:t>Significado explícito</a:t>
            </a:r>
          </a:p>
        </p:txBody>
      </p:sp>
      <p:sp>
        <p:nvSpPr>
          <p:cNvPr id="14" name="TextBox 13"/>
          <p:cNvSpPr txBox="1"/>
          <p:nvPr/>
        </p:nvSpPr>
        <p:spPr>
          <a:xfrm>
            <a:off x="3108960" y="2688336"/>
            <a:ext cx="2194560" cy="338554"/>
          </a:xfrm>
          <a:prstGeom prst="rect">
            <a:avLst/>
          </a:prstGeom>
          <a:noFill/>
        </p:spPr>
        <p:txBody>
          <a:bodyPr wrap="square" lIns="0" tIns="0" rIns="0" bIns="0" anchor="t">
            <a:spAutoFit/>
          </a:bodyPr>
          <a:lstStyle/>
          <a:p>
            <a:pPr algn="l"/>
            <a:r>
              <a:rPr lang="es-CO" sz="1100" b="0" i="0">
                <a:solidFill>
                  <a:srgbClr val="E8EEF6"/>
                </a:solidFill>
                <a:latin typeface="Calibri"/>
              </a:rPr>
              <a:t>Qué es un Servicio queda escrito, no implícito en el código.</a:t>
            </a:r>
          </a:p>
        </p:txBody>
      </p:sp>
      <p:sp>
        <p:nvSpPr>
          <p:cNvPr id="15" name="Rounded Rectangle 14"/>
          <p:cNvSpPr/>
          <p:nvPr/>
        </p:nvSpPr>
        <p:spPr>
          <a:xfrm>
            <a:off x="502920" y="3310128"/>
            <a:ext cx="2404872" cy="804672"/>
          </a:xfrm>
          <a:prstGeom prst="roundRect">
            <a:avLst>
              <a:gd name="adj" fmla="val 8000"/>
            </a:avLst>
          </a:prstGeom>
          <a:solidFill>
            <a:srgbClr val="1A243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16" name="TextBox 15"/>
          <p:cNvSpPr txBox="1"/>
          <p:nvPr/>
        </p:nvSpPr>
        <p:spPr>
          <a:xfrm>
            <a:off x="621792" y="3390081"/>
            <a:ext cx="2194560" cy="169277"/>
          </a:xfrm>
          <a:prstGeom prst="rect">
            <a:avLst/>
          </a:prstGeom>
          <a:noFill/>
        </p:spPr>
        <p:txBody>
          <a:bodyPr wrap="square" lIns="0" tIns="0" rIns="0" bIns="0" anchor="ctr">
            <a:spAutoFit/>
          </a:bodyPr>
          <a:lstStyle/>
          <a:p>
            <a:pPr algn="l"/>
            <a:r>
              <a:rPr lang="es-CO" sz="1100" b="1" i="0">
                <a:solidFill>
                  <a:srgbClr val="3DDC97"/>
                </a:solidFill>
                <a:latin typeface="Arial"/>
              </a:rPr>
              <a:t>Inferencia</a:t>
            </a:r>
          </a:p>
        </p:txBody>
      </p:sp>
      <p:sp>
        <p:nvSpPr>
          <p:cNvPr id="17" name="TextBox 16"/>
          <p:cNvSpPr txBox="1"/>
          <p:nvPr/>
        </p:nvSpPr>
        <p:spPr>
          <a:xfrm>
            <a:off x="621792" y="3602736"/>
            <a:ext cx="2194560" cy="338554"/>
          </a:xfrm>
          <a:prstGeom prst="rect">
            <a:avLst/>
          </a:prstGeom>
          <a:noFill/>
        </p:spPr>
        <p:txBody>
          <a:bodyPr wrap="square" lIns="0" tIns="0" rIns="0" bIns="0" anchor="t">
            <a:spAutoFit/>
          </a:bodyPr>
          <a:lstStyle/>
          <a:p>
            <a:pPr algn="l"/>
            <a:r>
              <a:rPr lang="es-CO" sz="1100" b="0" i="0">
                <a:solidFill>
                  <a:srgbClr val="E8EEF6"/>
                </a:solidFill>
                <a:latin typeface="Calibri"/>
              </a:rPr>
              <a:t>Se deducen hechos que no se escribieron.</a:t>
            </a:r>
          </a:p>
        </p:txBody>
      </p:sp>
      <p:sp>
        <p:nvSpPr>
          <p:cNvPr id="18" name="Rounded Rectangle 17"/>
          <p:cNvSpPr/>
          <p:nvPr/>
        </p:nvSpPr>
        <p:spPr>
          <a:xfrm>
            <a:off x="2990088" y="3310128"/>
            <a:ext cx="2404872" cy="804672"/>
          </a:xfrm>
          <a:prstGeom prst="roundRect">
            <a:avLst>
              <a:gd name="adj" fmla="val 8000"/>
            </a:avLst>
          </a:prstGeom>
          <a:solidFill>
            <a:srgbClr val="1A243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19" name="TextBox 18"/>
          <p:cNvSpPr txBox="1"/>
          <p:nvPr/>
        </p:nvSpPr>
        <p:spPr>
          <a:xfrm>
            <a:off x="3108960" y="3390081"/>
            <a:ext cx="2194560" cy="169277"/>
          </a:xfrm>
          <a:prstGeom prst="rect">
            <a:avLst/>
          </a:prstGeom>
          <a:noFill/>
        </p:spPr>
        <p:txBody>
          <a:bodyPr wrap="square" lIns="0" tIns="0" rIns="0" bIns="0" anchor="ctr">
            <a:spAutoFit/>
          </a:bodyPr>
          <a:lstStyle/>
          <a:p>
            <a:pPr algn="l"/>
            <a:r>
              <a:rPr lang="es-CO" sz="1100" b="1" i="0">
                <a:solidFill>
                  <a:srgbClr val="3DDC97"/>
                </a:solidFill>
                <a:latin typeface="Arial"/>
              </a:rPr>
              <a:t>Integración</a:t>
            </a:r>
          </a:p>
        </p:txBody>
      </p:sp>
      <p:sp>
        <p:nvSpPr>
          <p:cNvPr id="20" name="TextBox 19"/>
          <p:cNvSpPr txBox="1"/>
          <p:nvPr/>
        </p:nvSpPr>
        <p:spPr>
          <a:xfrm>
            <a:off x="3108960" y="3602736"/>
            <a:ext cx="2194560" cy="338554"/>
          </a:xfrm>
          <a:prstGeom prst="rect">
            <a:avLst/>
          </a:prstGeom>
          <a:noFill/>
        </p:spPr>
        <p:txBody>
          <a:bodyPr wrap="square" lIns="0" tIns="0" rIns="0" bIns="0" anchor="t">
            <a:spAutoFit/>
          </a:bodyPr>
          <a:lstStyle/>
          <a:p>
            <a:pPr algn="l"/>
            <a:r>
              <a:rPr lang="es-CO" sz="1100" b="0" i="0">
                <a:solidFill>
                  <a:srgbClr val="E8EEF6"/>
                </a:solidFill>
                <a:latin typeface="Calibri"/>
              </a:rPr>
              <a:t>Datos de fuentes distintas se describen igual.</a:t>
            </a:r>
          </a:p>
        </p:txBody>
      </p:sp>
      <p:sp>
        <p:nvSpPr>
          <p:cNvPr id="21" name="Rounded Rectangle 20"/>
          <p:cNvSpPr/>
          <p:nvPr/>
        </p:nvSpPr>
        <p:spPr>
          <a:xfrm>
            <a:off x="5577840" y="1234440"/>
            <a:ext cx="3063240" cy="2880360"/>
          </a:xfrm>
          <a:prstGeom prst="roundRect">
            <a:avLst>
              <a:gd name="adj" fmla="val 8000"/>
            </a:avLst>
          </a:prstGeom>
          <a:solidFill>
            <a:srgbClr val="070C1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22" name="TextBox 21"/>
          <p:cNvSpPr txBox="1"/>
          <p:nvPr/>
        </p:nvSpPr>
        <p:spPr>
          <a:xfrm>
            <a:off x="5724144" y="1323537"/>
            <a:ext cx="2788920" cy="169277"/>
          </a:xfrm>
          <a:prstGeom prst="rect">
            <a:avLst/>
          </a:prstGeom>
          <a:noFill/>
        </p:spPr>
        <p:txBody>
          <a:bodyPr wrap="square" lIns="0" tIns="0" rIns="0" bIns="0" anchor="ctr">
            <a:spAutoFit/>
          </a:bodyPr>
          <a:lstStyle/>
          <a:p>
            <a:pPr algn="l"/>
            <a:r>
              <a:rPr lang="es-CO" sz="1100" b="1" i="0">
                <a:solidFill>
                  <a:srgbClr val="FFD479"/>
                </a:solidFill>
                <a:latin typeface="Arial"/>
              </a:rPr>
              <a:t>Una ontología no es…</a:t>
            </a:r>
          </a:p>
        </p:txBody>
      </p:sp>
      <p:sp>
        <p:nvSpPr>
          <p:cNvPr id="23" name="TextBox 22"/>
          <p:cNvSpPr txBox="1"/>
          <p:nvPr/>
        </p:nvSpPr>
        <p:spPr>
          <a:xfrm>
            <a:off x="5724144" y="1625289"/>
            <a:ext cx="2788920" cy="169277"/>
          </a:xfrm>
          <a:prstGeom prst="rect">
            <a:avLst/>
          </a:prstGeom>
          <a:noFill/>
        </p:spPr>
        <p:txBody>
          <a:bodyPr wrap="square" lIns="0" tIns="0" rIns="0" bIns="0" anchor="ctr">
            <a:spAutoFit/>
          </a:bodyPr>
          <a:lstStyle/>
          <a:p>
            <a:pPr algn="l"/>
            <a:r>
              <a:rPr lang="es-CO" sz="1100" b="1" i="0">
                <a:solidFill>
                  <a:srgbClr val="FFB86C"/>
                </a:solidFill>
                <a:latin typeface="Courier New"/>
              </a:rPr>
              <a:t>una base de datos</a:t>
            </a:r>
          </a:p>
        </p:txBody>
      </p:sp>
      <p:sp>
        <p:nvSpPr>
          <p:cNvPr id="24" name="TextBox 23"/>
          <p:cNvSpPr txBox="1"/>
          <p:nvPr/>
        </p:nvSpPr>
        <p:spPr>
          <a:xfrm>
            <a:off x="5724144" y="1837944"/>
            <a:ext cx="2788920" cy="338554"/>
          </a:xfrm>
          <a:prstGeom prst="rect">
            <a:avLst/>
          </a:prstGeom>
          <a:noFill/>
        </p:spPr>
        <p:txBody>
          <a:bodyPr wrap="square" lIns="0" tIns="0" rIns="0" bIns="0" anchor="t">
            <a:spAutoFit/>
          </a:bodyPr>
          <a:lstStyle/>
          <a:p>
            <a:pPr algn="l"/>
            <a:r>
              <a:rPr lang="es-CO" sz="1100" b="0" i="0">
                <a:solidFill>
                  <a:srgbClr val="E8EEF6"/>
                </a:solidFill>
                <a:latin typeface="Calibri"/>
              </a:rPr>
              <a:t>La base almacena registros; la ontología declara qué significan.</a:t>
            </a:r>
          </a:p>
        </p:txBody>
      </p:sp>
      <p:sp>
        <p:nvSpPr>
          <p:cNvPr id="25" name="TextBox 24"/>
          <p:cNvSpPr txBox="1"/>
          <p:nvPr/>
        </p:nvSpPr>
        <p:spPr>
          <a:xfrm>
            <a:off x="5724144" y="2448249"/>
            <a:ext cx="2788920" cy="169277"/>
          </a:xfrm>
          <a:prstGeom prst="rect">
            <a:avLst/>
          </a:prstGeom>
          <a:noFill/>
        </p:spPr>
        <p:txBody>
          <a:bodyPr wrap="square" lIns="0" tIns="0" rIns="0" bIns="0" anchor="ctr">
            <a:spAutoFit/>
          </a:bodyPr>
          <a:lstStyle/>
          <a:p>
            <a:pPr algn="l"/>
            <a:r>
              <a:rPr lang="es-CO" sz="1100" b="1" i="0">
                <a:solidFill>
                  <a:srgbClr val="FFB86C"/>
                </a:solidFill>
                <a:latin typeface="Courier New"/>
              </a:rPr>
              <a:t>un diagrama de clases</a:t>
            </a:r>
          </a:p>
        </p:txBody>
      </p:sp>
      <p:sp>
        <p:nvSpPr>
          <p:cNvPr id="26" name="TextBox 25"/>
          <p:cNvSpPr txBox="1"/>
          <p:nvPr/>
        </p:nvSpPr>
        <p:spPr>
          <a:xfrm>
            <a:off x="5724144" y="2660904"/>
            <a:ext cx="2788920" cy="338554"/>
          </a:xfrm>
          <a:prstGeom prst="rect">
            <a:avLst/>
          </a:prstGeom>
          <a:noFill/>
        </p:spPr>
        <p:txBody>
          <a:bodyPr wrap="square" lIns="0" tIns="0" rIns="0" bIns="0" anchor="t">
            <a:spAutoFit/>
          </a:bodyPr>
          <a:lstStyle/>
          <a:p>
            <a:pPr algn="l"/>
            <a:r>
              <a:rPr lang="es-CO" sz="1100" b="0" i="0">
                <a:solidFill>
                  <a:srgbClr val="E8EEF6"/>
                </a:solidFill>
                <a:latin typeface="Calibri"/>
              </a:rPr>
              <a:t>UML describe un programa; la ontología describe el dominio con semántica formal.</a:t>
            </a:r>
          </a:p>
        </p:txBody>
      </p:sp>
      <p:sp>
        <p:nvSpPr>
          <p:cNvPr id="27" name="TextBox 26"/>
          <p:cNvSpPr txBox="1"/>
          <p:nvPr/>
        </p:nvSpPr>
        <p:spPr>
          <a:xfrm>
            <a:off x="5724144" y="3271209"/>
            <a:ext cx="2788920" cy="169277"/>
          </a:xfrm>
          <a:prstGeom prst="rect">
            <a:avLst/>
          </a:prstGeom>
          <a:noFill/>
        </p:spPr>
        <p:txBody>
          <a:bodyPr wrap="square" lIns="0" tIns="0" rIns="0" bIns="0" anchor="ctr">
            <a:spAutoFit/>
          </a:bodyPr>
          <a:lstStyle/>
          <a:p>
            <a:pPr algn="l"/>
            <a:r>
              <a:rPr lang="es-CO" sz="1100" b="1" i="0">
                <a:solidFill>
                  <a:srgbClr val="FFB86C"/>
                </a:solidFill>
                <a:latin typeface="Courier New"/>
              </a:rPr>
              <a:t>cualquier archivo JSON</a:t>
            </a:r>
          </a:p>
        </p:txBody>
      </p:sp>
      <p:sp>
        <p:nvSpPr>
          <p:cNvPr id="28" name="TextBox 27"/>
          <p:cNvSpPr txBox="1"/>
          <p:nvPr/>
        </p:nvSpPr>
        <p:spPr>
          <a:xfrm>
            <a:off x="5724144" y="3483864"/>
            <a:ext cx="2788920" cy="338554"/>
          </a:xfrm>
          <a:prstGeom prst="rect">
            <a:avLst/>
          </a:prstGeom>
          <a:noFill/>
        </p:spPr>
        <p:txBody>
          <a:bodyPr wrap="square" lIns="0" tIns="0" rIns="0" bIns="0" anchor="t">
            <a:spAutoFit/>
          </a:bodyPr>
          <a:lstStyle/>
          <a:p>
            <a:pPr algn="l"/>
            <a:r>
              <a:rPr lang="es-CO" sz="1100" b="0" i="0">
                <a:solidFill>
                  <a:srgbClr val="E8EEF6"/>
                </a:solidFill>
                <a:latin typeface="Calibri"/>
              </a:rPr>
              <a:t>Sin vocabulario definido, las claves de JSON son solo texto.</a:t>
            </a:r>
          </a:p>
        </p:txBody>
      </p:sp>
      <p:sp>
        <p:nvSpPr>
          <p:cNvPr id="29" name="Rounded Rectangle 28"/>
          <p:cNvSpPr/>
          <p:nvPr/>
        </p:nvSpPr>
        <p:spPr>
          <a:xfrm>
            <a:off x="502920" y="4206240"/>
            <a:ext cx="8138160" cy="329184"/>
          </a:xfrm>
          <a:prstGeom prst="roundRect">
            <a:avLst>
              <a:gd name="adj" fmla="val 8000"/>
            </a:avLst>
          </a:prstGeom>
          <a:solidFill>
            <a:srgbClr val="1A2434"/>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30" name="TextBox 29"/>
          <p:cNvSpPr txBox="1"/>
          <p:nvPr/>
        </p:nvSpPr>
        <p:spPr>
          <a:xfrm>
            <a:off x="667512" y="4286193"/>
            <a:ext cx="7863840" cy="169277"/>
          </a:xfrm>
          <a:prstGeom prst="rect">
            <a:avLst/>
          </a:prstGeom>
          <a:noFill/>
        </p:spPr>
        <p:txBody>
          <a:bodyPr wrap="square" lIns="0" tIns="0" rIns="0" bIns="0" anchor="ctr">
            <a:spAutoFit/>
          </a:bodyPr>
          <a:lstStyle/>
          <a:p>
            <a:pPr algn="l"/>
            <a:r>
              <a:rPr lang="es-CO" sz="1100" b="1" i="0">
                <a:solidFill>
                  <a:srgbClr val="56C7F2"/>
                </a:solidFill>
                <a:latin typeface="Calibri"/>
              </a:rPr>
              <a:t>MVC organiza el código.  </a:t>
            </a:r>
            <a:r>
              <a:rPr lang="es-CO" sz="1100" b="0" i="0">
                <a:solidFill>
                  <a:srgbClr val="E8EEF6"/>
                </a:solidFill>
                <a:latin typeface="Calibri"/>
              </a:rPr>
              <a:t>La ontología hace explícito el significado de la información.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A101B"/>
        </a:solidFill>
        <a:effectLst/>
      </p:bgPr>
    </p:bg>
    <p:spTree>
      <p:nvGrpSpPr>
        <p:cNvPr id="1" name=""/>
        <p:cNvGrpSpPr/>
        <p:nvPr/>
      </p:nvGrpSpPr>
      <p:grpSpPr>
        <a:xfrm>
          <a:off x="0" y="0"/>
          <a:ext cx="0" cy="0"/>
          <a:chOff x="0" y="0"/>
          <a:chExt cx="0" cy="0"/>
        </a:xfrm>
      </p:grpSpPr>
      <p:sp>
        <p:nvSpPr>
          <p:cNvPr id="2" name="TextBox 1"/>
          <p:cNvSpPr txBox="1"/>
          <p:nvPr/>
        </p:nvSpPr>
        <p:spPr>
          <a:xfrm>
            <a:off x="6309360" y="4718304"/>
            <a:ext cx="2331720" cy="201168"/>
          </a:xfrm>
          <a:prstGeom prst="rect">
            <a:avLst/>
          </a:prstGeom>
          <a:noFill/>
        </p:spPr>
        <p:txBody>
          <a:bodyPr wrap="square" lIns="0" tIns="0" rIns="0" bIns="0" anchor="ctr">
            <a:spAutoFit/>
          </a:bodyPr>
          <a:lstStyle/>
          <a:p>
            <a:pPr algn="r"/>
            <a:r>
              <a:rPr lang="es-CO" sz="800" b="0" i="0">
                <a:solidFill>
                  <a:srgbClr val="6C7E96"/>
                </a:solidFill>
                <a:latin typeface="Arial"/>
              </a:rPr>
              <a:t>Ingeniería Web  ·  16 / 24</a:t>
            </a:r>
          </a:p>
        </p:txBody>
      </p:sp>
      <p:sp>
        <p:nvSpPr>
          <p:cNvPr id="3" name="Rounded Rectangle 2"/>
          <p:cNvSpPr/>
          <p:nvPr/>
        </p:nvSpPr>
        <p:spPr>
          <a:xfrm>
            <a:off x="502920" y="365760"/>
            <a:ext cx="1783080" cy="228600"/>
          </a:xfrm>
          <a:prstGeom prst="roundRect">
            <a:avLst>
              <a:gd name="adj" fmla="val 50000"/>
            </a:avLst>
          </a:prstGeom>
          <a:solidFill>
            <a:srgbClr val="132A24"/>
          </a:solidFill>
          <a:ln w="952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502920" y="365760"/>
            <a:ext cx="1783080" cy="228600"/>
          </a:xfrm>
          <a:prstGeom prst="rect">
            <a:avLst/>
          </a:prstGeom>
          <a:noFill/>
        </p:spPr>
        <p:txBody>
          <a:bodyPr wrap="square" lIns="0" tIns="0" rIns="0" bIns="0" anchor="ctr">
            <a:spAutoFit/>
          </a:bodyPr>
          <a:lstStyle/>
          <a:p>
            <a:pPr algn="ctr"/>
            <a:r>
              <a:rPr lang="es-CO" sz="850" b="1" i="0">
                <a:solidFill>
                  <a:srgbClr val="3DDC97"/>
                </a:solidFill>
                <a:latin typeface="Arial"/>
              </a:rPr>
              <a:t>CONCEPTO · ONTOLOGÍAS</a:t>
            </a:r>
          </a:p>
        </p:txBody>
      </p:sp>
      <p:sp>
        <p:nvSpPr>
          <p:cNvPr id="5" name="Título"/>
          <p:cNvSpPr txBox="1"/>
          <p:nvPr/>
        </p:nvSpPr>
        <p:spPr>
          <a:xfrm>
            <a:off x="475488" y="658368"/>
            <a:ext cx="8138160" cy="438912"/>
          </a:xfrm>
          <a:prstGeom prst="rect">
            <a:avLst/>
          </a:prstGeom>
          <a:noFill/>
        </p:spPr>
        <p:txBody>
          <a:bodyPr wrap="square" lIns="0" tIns="0" rIns="0" bIns="0" anchor="ctr">
            <a:spAutoFit/>
          </a:bodyPr>
          <a:lstStyle/>
          <a:p>
            <a:pPr algn="l"/>
            <a:r>
              <a:rPr lang="es-CO" sz="2600" b="1" i="0">
                <a:solidFill>
                  <a:srgbClr val="FFFFFF"/>
                </a:solidFill>
                <a:latin typeface="Arial"/>
              </a:rPr>
              <a:t>Clases e individuos</a:t>
            </a:r>
          </a:p>
        </p:txBody>
      </p:sp>
      <p:sp>
        <p:nvSpPr>
          <p:cNvPr id="6" name="Rounded Rectangle 5"/>
          <p:cNvSpPr/>
          <p:nvPr/>
        </p:nvSpPr>
        <p:spPr>
          <a:xfrm>
            <a:off x="502920" y="1234440"/>
            <a:ext cx="3986784" cy="896112"/>
          </a:xfrm>
          <a:prstGeom prst="roundRect">
            <a:avLst>
              <a:gd name="adj" fmla="val 8000"/>
            </a:avLst>
          </a:prstGeom>
          <a:solidFill>
            <a:srgbClr val="1A243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7" name="TextBox 6"/>
          <p:cNvSpPr txBox="1"/>
          <p:nvPr/>
        </p:nvSpPr>
        <p:spPr>
          <a:xfrm>
            <a:off x="630936" y="1350969"/>
            <a:ext cx="3730752" cy="169277"/>
          </a:xfrm>
          <a:prstGeom prst="rect">
            <a:avLst/>
          </a:prstGeom>
          <a:noFill/>
        </p:spPr>
        <p:txBody>
          <a:bodyPr wrap="square" lIns="0" tIns="0" rIns="0" bIns="0" anchor="ctr">
            <a:spAutoFit/>
          </a:bodyPr>
          <a:lstStyle/>
          <a:p>
            <a:pPr algn="l"/>
            <a:r>
              <a:rPr lang="es-CO" sz="1100" b="1" i="0">
                <a:solidFill>
                  <a:srgbClr val="3DDC97"/>
                </a:solidFill>
                <a:latin typeface="Arial"/>
              </a:rPr>
              <a:t>Clase</a:t>
            </a:r>
          </a:p>
        </p:txBody>
      </p:sp>
      <p:sp>
        <p:nvSpPr>
          <p:cNvPr id="8" name="TextBox 7"/>
          <p:cNvSpPr txBox="1"/>
          <p:nvPr/>
        </p:nvSpPr>
        <p:spPr>
          <a:xfrm>
            <a:off x="630936" y="1591056"/>
            <a:ext cx="3730752" cy="338554"/>
          </a:xfrm>
          <a:prstGeom prst="rect">
            <a:avLst/>
          </a:prstGeom>
          <a:noFill/>
        </p:spPr>
        <p:txBody>
          <a:bodyPr wrap="square" lIns="0" tIns="0" rIns="0" bIns="0" anchor="t">
            <a:spAutoFit/>
          </a:bodyPr>
          <a:lstStyle/>
          <a:p>
            <a:pPr algn="l">
              <a:spcAft>
                <a:spcPts val="200"/>
              </a:spcAft>
            </a:pPr>
            <a:r>
              <a:rPr lang="es-CO" sz="1100" b="0" i="0">
                <a:solidFill>
                  <a:srgbClr val="E8EEF6"/>
                </a:solidFill>
                <a:latin typeface="Calibri"/>
              </a:rPr>
              <a:t>Conjunto de individuos con características comunes. Ej.: </a:t>
            </a:r>
            <a:r>
              <a:rPr lang="es-CO" sz="1100" b="1" i="0">
                <a:solidFill>
                  <a:srgbClr val="3DDC97"/>
                </a:solidFill>
                <a:latin typeface="Courier New"/>
              </a:rPr>
              <a:t>Contacto</a:t>
            </a:r>
            <a:r>
              <a:rPr lang="es-CO" sz="1100" b="0" i="0">
                <a:solidFill>
                  <a:srgbClr val="E8EEF6"/>
                </a:solidFill>
                <a:latin typeface="Calibri"/>
              </a:rPr>
              <a:t>, </a:t>
            </a:r>
            <a:r>
              <a:rPr lang="es-CO" sz="1100" b="1" i="0">
                <a:solidFill>
                  <a:srgbClr val="3DDC97"/>
                </a:solidFill>
                <a:latin typeface="Courier New"/>
              </a:rPr>
              <a:t>Solicitud</a:t>
            </a:r>
            <a:r>
              <a:rPr lang="es-CO" sz="1100" b="0" i="0">
                <a:solidFill>
                  <a:srgbClr val="E8EEF6"/>
                </a:solidFill>
                <a:latin typeface="Calibri"/>
              </a:rPr>
              <a:t>, </a:t>
            </a:r>
            <a:r>
              <a:rPr lang="es-CO" sz="1100" b="1" i="0">
                <a:solidFill>
                  <a:srgbClr val="3DDC97"/>
                </a:solidFill>
                <a:latin typeface="Courier New"/>
              </a:rPr>
              <a:t>Servicio</a:t>
            </a:r>
            <a:r>
              <a:rPr lang="es-CO" sz="1100" b="0" i="0">
                <a:solidFill>
                  <a:srgbClr val="E8EEF6"/>
                </a:solidFill>
                <a:latin typeface="Calibri"/>
              </a:rPr>
              <a:t>.</a:t>
            </a:r>
          </a:p>
        </p:txBody>
      </p:sp>
      <p:sp>
        <p:nvSpPr>
          <p:cNvPr id="9" name="Rounded Rectangle 8"/>
          <p:cNvSpPr/>
          <p:nvPr/>
        </p:nvSpPr>
        <p:spPr>
          <a:xfrm>
            <a:off x="4654296" y="1234440"/>
            <a:ext cx="3986784" cy="896112"/>
          </a:xfrm>
          <a:prstGeom prst="roundRect">
            <a:avLst>
              <a:gd name="adj" fmla="val 8000"/>
            </a:avLst>
          </a:prstGeom>
          <a:solidFill>
            <a:srgbClr val="1A2434"/>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10" name="TextBox 9"/>
          <p:cNvSpPr txBox="1"/>
          <p:nvPr/>
        </p:nvSpPr>
        <p:spPr>
          <a:xfrm>
            <a:off x="4782312" y="1350969"/>
            <a:ext cx="3730752" cy="169277"/>
          </a:xfrm>
          <a:prstGeom prst="rect">
            <a:avLst/>
          </a:prstGeom>
          <a:noFill/>
        </p:spPr>
        <p:txBody>
          <a:bodyPr wrap="square" lIns="0" tIns="0" rIns="0" bIns="0" anchor="ctr">
            <a:spAutoFit/>
          </a:bodyPr>
          <a:lstStyle/>
          <a:p>
            <a:pPr algn="l"/>
            <a:r>
              <a:rPr lang="es-CO" sz="1100" b="1" i="0">
                <a:solidFill>
                  <a:srgbClr val="56C7F2"/>
                </a:solidFill>
                <a:latin typeface="Arial"/>
              </a:rPr>
              <a:t>Individuo</a:t>
            </a:r>
          </a:p>
        </p:txBody>
      </p:sp>
      <p:sp>
        <p:nvSpPr>
          <p:cNvPr id="11" name="TextBox 10"/>
          <p:cNvSpPr txBox="1"/>
          <p:nvPr/>
        </p:nvSpPr>
        <p:spPr>
          <a:xfrm>
            <a:off x="4782312" y="1591056"/>
            <a:ext cx="3730752" cy="338554"/>
          </a:xfrm>
          <a:prstGeom prst="rect">
            <a:avLst/>
          </a:prstGeom>
          <a:noFill/>
        </p:spPr>
        <p:txBody>
          <a:bodyPr wrap="square" lIns="0" tIns="0" rIns="0" bIns="0" anchor="t">
            <a:spAutoFit/>
          </a:bodyPr>
          <a:lstStyle/>
          <a:p>
            <a:pPr algn="l">
              <a:spcAft>
                <a:spcPts val="200"/>
              </a:spcAft>
            </a:pPr>
            <a:r>
              <a:rPr lang="es-CO" sz="1100" b="0" i="0">
                <a:solidFill>
                  <a:srgbClr val="E8EEF6"/>
                </a:solidFill>
                <a:latin typeface="Calibri"/>
              </a:rPr>
              <a:t>Elemento concreto del dominio que pertenece a una o más clases. Ej.: </a:t>
            </a:r>
            <a:r>
              <a:rPr lang="es-CO" sz="1100" b="1" i="0">
                <a:solidFill>
                  <a:srgbClr val="56C7F2"/>
                </a:solidFill>
                <a:latin typeface="Courier New"/>
              </a:rPr>
              <a:t>ana</a:t>
            </a:r>
            <a:r>
              <a:rPr lang="es-CO" sz="1100" b="0" i="0">
                <a:solidFill>
                  <a:srgbClr val="E8EEF6"/>
                </a:solidFill>
                <a:latin typeface="Calibri"/>
              </a:rPr>
              <a:t>, </a:t>
            </a:r>
            <a:r>
              <a:rPr lang="es-CO" sz="1100" b="1" i="0">
                <a:solidFill>
                  <a:srgbClr val="56C7F2"/>
                </a:solidFill>
                <a:latin typeface="Courier New"/>
              </a:rPr>
              <a:t>solicitud001</a:t>
            </a:r>
            <a:r>
              <a:rPr lang="es-CO" sz="1100" b="0" i="0">
                <a:solidFill>
                  <a:srgbClr val="E8EEF6"/>
                </a:solidFill>
                <a:latin typeface="Calibri"/>
              </a:rPr>
              <a:t>.</a:t>
            </a:r>
          </a:p>
        </p:txBody>
      </p:sp>
      <p:sp>
        <p:nvSpPr>
          <p:cNvPr id="12" name="Rounded Rectangle 11"/>
          <p:cNvSpPr/>
          <p:nvPr/>
        </p:nvSpPr>
        <p:spPr>
          <a:xfrm>
            <a:off x="502920" y="2286000"/>
            <a:ext cx="2331720" cy="1691640"/>
          </a:xfrm>
          <a:prstGeom prst="roundRect">
            <a:avLst>
              <a:gd name="adj" fmla="val 6000"/>
            </a:avLst>
          </a:prstGeom>
          <a:solidFill>
            <a:srgbClr val="1A243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13" name="TextBox 12"/>
          <p:cNvSpPr txBox="1"/>
          <p:nvPr/>
        </p:nvSpPr>
        <p:spPr>
          <a:xfrm>
            <a:off x="640080" y="2375097"/>
            <a:ext cx="2011680" cy="169277"/>
          </a:xfrm>
          <a:prstGeom prst="rect">
            <a:avLst/>
          </a:prstGeom>
          <a:noFill/>
        </p:spPr>
        <p:txBody>
          <a:bodyPr wrap="square" lIns="0" tIns="0" rIns="0" bIns="0" anchor="ctr">
            <a:spAutoFit/>
          </a:bodyPr>
          <a:lstStyle/>
          <a:p>
            <a:pPr algn="l"/>
            <a:r>
              <a:rPr lang="es-CO" sz="1100" b="1" i="0">
                <a:solidFill>
                  <a:srgbClr val="3DDC97"/>
                </a:solidFill>
                <a:latin typeface="Courier New"/>
              </a:rPr>
              <a:t>Contacto</a:t>
            </a:r>
          </a:p>
        </p:txBody>
      </p:sp>
      <p:sp>
        <p:nvSpPr>
          <p:cNvPr id="14" name="Rounded Rectangle 13"/>
          <p:cNvSpPr/>
          <p:nvPr/>
        </p:nvSpPr>
        <p:spPr>
          <a:xfrm>
            <a:off x="822960" y="2743200"/>
            <a:ext cx="1691640" cy="365760"/>
          </a:xfrm>
          <a:prstGeom prst="roundRect">
            <a:avLst>
              <a:gd name="adj" fmla="val 50000"/>
            </a:avLst>
          </a:prstGeom>
          <a:solidFill>
            <a:srgbClr val="070C14"/>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15" name="TextBox 14"/>
          <p:cNvSpPr txBox="1"/>
          <p:nvPr/>
        </p:nvSpPr>
        <p:spPr>
          <a:xfrm>
            <a:off x="822960" y="2841441"/>
            <a:ext cx="1691640" cy="169277"/>
          </a:xfrm>
          <a:prstGeom prst="rect">
            <a:avLst/>
          </a:prstGeom>
          <a:noFill/>
        </p:spPr>
        <p:txBody>
          <a:bodyPr wrap="square" lIns="0" tIns="0" rIns="0" bIns="0" anchor="ctr">
            <a:spAutoFit/>
          </a:bodyPr>
          <a:lstStyle/>
          <a:p>
            <a:pPr algn="ctr"/>
            <a:r>
              <a:rPr lang="es-CO" sz="1100" b="1" i="0">
                <a:solidFill>
                  <a:srgbClr val="56C7F2"/>
                </a:solidFill>
                <a:latin typeface="Courier New"/>
              </a:rPr>
              <a:t>ana</a:t>
            </a:r>
          </a:p>
        </p:txBody>
      </p:sp>
      <p:sp>
        <p:nvSpPr>
          <p:cNvPr id="16" name="Rounded Rectangle 15"/>
          <p:cNvSpPr/>
          <p:nvPr/>
        </p:nvSpPr>
        <p:spPr>
          <a:xfrm>
            <a:off x="822960" y="3273552"/>
            <a:ext cx="1691640" cy="365760"/>
          </a:xfrm>
          <a:prstGeom prst="roundRect">
            <a:avLst>
              <a:gd name="adj" fmla="val 50000"/>
            </a:avLst>
          </a:prstGeom>
          <a:solidFill>
            <a:srgbClr val="070C14"/>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17" name="TextBox 16"/>
          <p:cNvSpPr txBox="1"/>
          <p:nvPr/>
        </p:nvSpPr>
        <p:spPr>
          <a:xfrm>
            <a:off x="822960" y="3371793"/>
            <a:ext cx="1691640" cy="169277"/>
          </a:xfrm>
          <a:prstGeom prst="rect">
            <a:avLst/>
          </a:prstGeom>
          <a:noFill/>
        </p:spPr>
        <p:txBody>
          <a:bodyPr wrap="square" lIns="0" tIns="0" rIns="0" bIns="0" anchor="ctr">
            <a:spAutoFit/>
          </a:bodyPr>
          <a:lstStyle/>
          <a:p>
            <a:pPr algn="ctr"/>
            <a:r>
              <a:rPr lang="es-CO" sz="1100" b="1" i="0">
                <a:solidFill>
                  <a:srgbClr val="56C7F2"/>
                </a:solidFill>
                <a:latin typeface="Courier New"/>
              </a:rPr>
              <a:t>beatriz</a:t>
            </a:r>
          </a:p>
        </p:txBody>
      </p:sp>
      <p:sp>
        <p:nvSpPr>
          <p:cNvPr id="18" name="Rounded Rectangle 17"/>
          <p:cNvSpPr/>
          <p:nvPr/>
        </p:nvSpPr>
        <p:spPr>
          <a:xfrm>
            <a:off x="3017520" y="2286000"/>
            <a:ext cx="2331720" cy="1691640"/>
          </a:xfrm>
          <a:prstGeom prst="roundRect">
            <a:avLst>
              <a:gd name="adj" fmla="val 6000"/>
            </a:avLst>
          </a:prstGeom>
          <a:solidFill>
            <a:srgbClr val="1A243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19" name="TextBox 18"/>
          <p:cNvSpPr txBox="1"/>
          <p:nvPr/>
        </p:nvSpPr>
        <p:spPr>
          <a:xfrm>
            <a:off x="3154680" y="2375097"/>
            <a:ext cx="2011680" cy="169277"/>
          </a:xfrm>
          <a:prstGeom prst="rect">
            <a:avLst/>
          </a:prstGeom>
          <a:noFill/>
        </p:spPr>
        <p:txBody>
          <a:bodyPr wrap="square" lIns="0" tIns="0" rIns="0" bIns="0" anchor="ctr">
            <a:spAutoFit/>
          </a:bodyPr>
          <a:lstStyle/>
          <a:p>
            <a:pPr algn="l"/>
            <a:r>
              <a:rPr lang="es-CO" sz="1100" b="1" i="0">
                <a:solidFill>
                  <a:srgbClr val="3DDC97"/>
                </a:solidFill>
                <a:latin typeface="Courier New"/>
              </a:rPr>
              <a:t>Solicitud</a:t>
            </a:r>
          </a:p>
        </p:txBody>
      </p:sp>
      <p:sp>
        <p:nvSpPr>
          <p:cNvPr id="20" name="Rounded Rectangle 19"/>
          <p:cNvSpPr/>
          <p:nvPr/>
        </p:nvSpPr>
        <p:spPr>
          <a:xfrm>
            <a:off x="3337560" y="2743200"/>
            <a:ext cx="1691640" cy="365760"/>
          </a:xfrm>
          <a:prstGeom prst="roundRect">
            <a:avLst>
              <a:gd name="adj" fmla="val 50000"/>
            </a:avLst>
          </a:prstGeom>
          <a:solidFill>
            <a:srgbClr val="070C14"/>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21" name="TextBox 20"/>
          <p:cNvSpPr txBox="1"/>
          <p:nvPr/>
        </p:nvSpPr>
        <p:spPr>
          <a:xfrm>
            <a:off x="3337560" y="2841441"/>
            <a:ext cx="1691640" cy="169277"/>
          </a:xfrm>
          <a:prstGeom prst="rect">
            <a:avLst/>
          </a:prstGeom>
          <a:noFill/>
        </p:spPr>
        <p:txBody>
          <a:bodyPr wrap="square" lIns="0" tIns="0" rIns="0" bIns="0" anchor="ctr">
            <a:spAutoFit/>
          </a:bodyPr>
          <a:lstStyle/>
          <a:p>
            <a:pPr algn="ctr"/>
            <a:r>
              <a:rPr lang="es-CO" sz="1100" b="1" i="0">
                <a:solidFill>
                  <a:srgbClr val="56C7F2"/>
                </a:solidFill>
                <a:latin typeface="Courier New"/>
              </a:rPr>
              <a:t>solicitud001</a:t>
            </a:r>
          </a:p>
        </p:txBody>
      </p:sp>
      <p:sp>
        <p:nvSpPr>
          <p:cNvPr id="22" name="Rounded Rectangle 21"/>
          <p:cNvSpPr/>
          <p:nvPr/>
        </p:nvSpPr>
        <p:spPr>
          <a:xfrm>
            <a:off x="5532120" y="2286000"/>
            <a:ext cx="3108960" cy="1691640"/>
          </a:xfrm>
          <a:prstGeom prst="roundRect">
            <a:avLst>
              <a:gd name="adj" fmla="val 6000"/>
            </a:avLst>
          </a:prstGeom>
          <a:solidFill>
            <a:srgbClr val="1A243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23" name="TextBox 22"/>
          <p:cNvSpPr txBox="1"/>
          <p:nvPr/>
        </p:nvSpPr>
        <p:spPr>
          <a:xfrm>
            <a:off x="5669280" y="2375097"/>
            <a:ext cx="2834640" cy="169277"/>
          </a:xfrm>
          <a:prstGeom prst="rect">
            <a:avLst/>
          </a:prstGeom>
          <a:noFill/>
        </p:spPr>
        <p:txBody>
          <a:bodyPr wrap="square" lIns="0" tIns="0" rIns="0" bIns="0" anchor="ctr">
            <a:spAutoFit/>
          </a:bodyPr>
          <a:lstStyle/>
          <a:p>
            <a:pPr algn="l"/>
            <a:r>
              <a:rPr lang="es-CO" sz="1100" b="1" i="0">
                <a:solidFill>
                  <a:srgbClr val="3DDC97"/>
                </a:solidFill>
                <a:latin typeface="Courier New"/>
              </a:rPr>
              <a:t>Servicio</a:t>
            </a:r>
          </a:p>
        </p:txBody>
      </p:sp>
      <p:sp>
        <p:nvSpPr>
          <p:cNvPr id="24" name="Rounded Rectangle 23"/>
          <p:cNvSpPr/>
          <p:nvPr/>
        </p:nvSpPr>
        <p:spPr>
          <a:xfrm>
            <a:off x="5760720" y="2670048"/>
            <a:ext cx="2651760" cy="1170432"/>
          </a:xfrm>
          <a:prstGeom prst="roundRect">
            <a:avLst>
              <a:gd name="adj" fmla="val 8000"/>
            </a:avLst>
          </a:prstGeom>
          <a:solidFill>
            <a:srgbClr val="13202F"/>
          </a:solidFill>
          <a:ln w="12700">
            <a:solidFill>
              <a:srgbClr val="3DDC97"/>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25" name="TextBox 24"/>
          <p:cNvSpPr txBox="1"/>
          <p:nvPr/>
        </p:nvSpPr>
        <p:spPr>
          <a:xfrm>
            <a:off x="5870448" y="2740857"/>
            <a:ext cx="2468880" cy="169277"/>
          </a:xfrm>
          <a:prstGeom prst="rect">
            <a:avLst/>
          </a:prstGeom>
          <a:noFill/>
        </p:spPr>
        <p:txBody>
          <a:bodyPr wrap="square" lIns="0" tIns="0" rIns="0" bIns="0" anchor="ctr">
            <a:spAutoFit/>
          </a:bodyPr>
          <a:lstStyle/>
          <a:p>
            <a:pPr algn="l"/>
            <a:r>
              <a:rPr lang="es-CO" sz="1100" b="1" i="0">
                <a:solidFill>
                  <a:srgbClr val="3DDC97"/>
                </a:solidFill>
                <a:latin typeface="Courier New"/>
              </a:rPr>
              <a:t>DesarrolloWeb</a:t>
            </a:r>
          </a:p>
        </p:txBody>
      </p:sp>
      <p:sp>
        <p:nvSpPr>
          <p:cNvPr id="26" name="Rounded Rectangle 25"/>
          <p:cNvSpPr/>
          <p:nvPr/>
        </p:nvSpPr>
        <p:spPr>
          <a:xfrm>
            <a:off x="6263640" y="3108960"/>
            <a:ext cx="1691640" cy="365760"/>
          </a:xfrm>
          <a:prstGeom prst="roundRect">
            <a:avLst>
              <a:gd name="adj" fmla="val 50000"/>
            </a:avLst>
          </a:prstGeom>
          <a:solidFill>
            <a:srgbClr val="070C14"/>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27" name="TextBox 26"/>
          <p:cNvSpPr txBox="1"/>
          <p:nvPr/>
        </p:nvSpPr>
        <p:spPr>
          <a:xfrm>
            <a:off x="6263640" y="3207201"/>
            <a:ext cx="1691640" cy="169277"/>
          </a:xfrm>
          <a:prstGeom prst="rect">
            <a:avLst/>
          </a:prstGeom>
          <a:noFill/>
        </p:spPr>
        <p:txBody>
          <a:bodyPr wrap="square" lIns="0" tIns="0" rIns="0" bIns="0" anchor="ctr">
            <a:spAutoFit/>
          </a:bodyPr>
          <a:lstStyle/>
          <a:p>
            <a:pPr algn="ctr"/>
            <a:r>
              <a:rPr lang="es-CO" sz="1100" b="1" i="0">
                <a:solidFill>
                  <a:srgbClr val="56C7F2"/>
                </a:solidFill>
                <a:latin typeface="Courier New"/>
              </a:rPr>
              <a:t>paginaTienda</a:t>
            </a:r>
          </a:p>
        </p:txBody>
      </p:sp>
      <p:sp>
        <p:nvSpPr>
          <p:cNvPr id="28" name="TextBox 27"/>
          <p:cNvSpPr txBox="1"/>
          <p:nvPr/>
        </p:nvSpPr>
        <p:spPr>
          <a:xfrm>
            <a:off x="502920" y="4217613"/>
            <a:ext cx="8138160" cy="169277"/>
          </a:xfrm>
          <a:prstGeom prst="rect">
            <a:avLst/>
          </a:prstGeom>
          <a:noFill/>
        </p:spPr>
        <p:txBody>
          <a:bodyPr wrap="square" lIns="0" tIns="0" rIns="0" bIns="0" anchor="ctr">
            <a:spAutoFit/>
          </a:bodyPr>
          <a:lstStyle/>
          <a:p>
            <a:pPr algn="l"/>
            <a:r>
              <a:rPr lang="es-CO" sz="1100" b="1" i="0">
                <a:solidFill>
                  <a:srgbClr val="FFD479"/>
                </a:solidFill>
                <a:latin typeface="Calibri"/>
              </a:rPr>
              <a:t>Pertenencia: </a:t>
            </a:r>
            <a:r>
              <a:rPr lang="es-CO" sz="1100" b="0" i="0">
                <a:solidFill>
                  <a:srgbClr val="D7E1EE"/>
                </a:solidFill>
                <a:latin typeface="Courier New"/>
              </a:rPr>
              <a:t>sw:ana a sw:Contacto .</a:t>
            </a:r>
            <a:r>
              <a:rPr lang="es-CO" sz="1100" b="0" i="0">
                <a:solidFill>
                  <a:srgbClr val="93A5BD"/>
                </a:solidFill>
                <a:latin typeface="Calibri"/>
              </a:rPr>
              <a:t>   Una fila de la tabla se convierte en individuo cuando se describe con este vocabulario.</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A101B"/>
        </a:solidFill>
        <a:effectLst/>
      </p:bgPr>
    </p:bg>
    <p:spTree>
      <p:nvGrpSpPr>
        <p:cNvPr id="1" name=""/>
        <p:cNvGrpSpPr/>
        <p:nvPr/>
      </p:nvGrpSpPr>
      <p:grpSpPr>
        <a:xfrm>
          <a:off x="0" y="0"/>
          <a:ext cx="0" cy="0"/>
          <a:chOff x="0" y="0"/>
          <a:chExt cx="0" cy="0"/>
        </a:xfrm>
      </p:grpSpPr>
      <p:sp>
        <p:nvSpPr>
          <p:cNvPr id="2" name="TextBox 1"/>
          <p:cNvSpPr txBox="1"/>
          <p:nvPr/>
        </p:nvSpPr>
        <p:spPr>
          <a:xfrm>
            <a:off x="6309360" y="4718304"/>
            <a:ext cx="2331720" cy="201168"/>
          </a:xfrm>
          <a:prstGeom prst="rect">
            <a:avLst/>
          </a:prstGeom>
          <a:noFill/>
        </p:spPr>
        <p:txBody>
          <a:bodyPr wrap="square" lIns="0" tIns="0" rIns="0" bIns="0" anchor="ctr">
            <a:spAutoFit/>
          </a:bodyPr>
          <a:lstStyle/>
          <a:p>
            <a:pPr algn="r"/>
            <a:r>
              <a:rPr lang="es-CO" sz="800" b="0" i="0">
                <a:solidFill>
                  <a:srgbClr val="6C7E96"/>
                </a:solidFill>
                <a:latin typeface="Arial"/>
              </a:rPr>
              <a:t>Ingeniería Web  ·  17 / 24</a:t>
            </a:r>
          </a:p>
        </p:txBody>
      </p:sp>
      <p:sp>
        <p:nvSpPr>
          <p:cNvPr id="3" name="Rounded Rectangle 2"/>
          <p:cNvSpPr/>
          <p:nvPr/>
        </p:nvSpPr>
        <p:spPr>
          <a:xfrm>
            <a:off x="502920" y="365760"/>
            <a:ext cx="1783080" cy="228600"/>
          </a:xfrm>
          <a:prstGeom prst="roundRect">
            <a:avLst>
              <a:gd name="adj" fmla="val 50000"/>
            </a:avLst>
          </a:prstGeom>
          <a:solidFill>
            <a:srgbClr val="132A24"/>
          </a:solidFill>
          <a:ln w="952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502920" y="365760"/>
            <a:ext cx="1783080" cy="228600"/>
          </a:xfrm>
          <a:prstGeom prst="rect">
            <a:avLst/>
          </a:prstGeom>
          <a:noFill/>
        </p:spPr>
        <p:txBody>
          <a:bodyPr wrap="square" lIns="0" tIns="0" rIns="0" bIns="0" anchor="ctr">
            <a:spAutoFit/>
          </a:bodyPr>
          <a:lstStyle/>
          <a:p>
            <a:pPr algn="ctr"/>
            <a:r>
              <a:rPr lang="es-CO" sz="850" b="1" i="0">
                <a:solidFill>
                  <a:srgbClr val="3DDC97"/>
                </a:solidFill>
                <a:latin typeface="Arial"/>
              </a:rPr>
              <a:t>CONCEPTO · ONTOLOGÍAS</a:t>
            </a:r>
          </a:p>
        </p:txBody>
      </p:sp>
      <p:sp>
        <p:nvSpPr>
          <p:cNvPr id="5" name="Título"/>
          <p:cNvSpPr txBox="1"/>
          <p:nvPr/>
        </p:nvSpPr>
        <p:spPr>
          <a:xfrm>
            <a:off x="475488" y="658368"/>
            <a:ext cx="8138160" cy="438912"/>
          </a:xfrm>
          <a:prstGeom prst="rect">
            <a:avLst/>
          </a:prstGeom>
          <a:noFill/>
        </p:spPr>
        <p:txBody>
          <a:bodyPr wrap="square" lIns="0" tIns="0" rIns="0" bIns="0" anchor="ctr">
            <a:spAutoFit/>
          </a:bodyPr>
          <a:lstStyle/>
          <a:p>
            <a:pPr algn="l"/>
            <a:r>
              <a:rPr lang="es-CO" sz="2600" b="1" i="0">
                <a:solidFill>
                  <a:srgbClr val="FFFFFF"/>
                </a:solidFill>
                <a:latin typeface="Arial"/>
              </a:rPr>
              <a:t>Propiedades de objeto y propiedades de datos</a:t>
            </a:r>
          </a:p>
        </p:txBody>
      </p:sp>
      <p:sp>
        <p:nvSpPr>
          <p:cNvPr id="6" name="Rounded Rectangle 5"/>
          <p:cNvSpPr/>
          <p:nvPr/>
        </p:nvSpPr>
        <p:spPr>
          <a:xfrm>
            <a:off x="685800" y="1481328"/>
            <a:ext cx="1234440" cy="365760"/>
          </a:xfrm>
          <a:prstGeom prst="roundRect">
            <a:avLst>
              <a:gd name="adj" fmla="val 50000"/>
            </a:avLst>
          </a:prstGeom>
          <a:solidFill>
            <a:srgbClr val="070C14"/>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685800" y="1481328"/>
            <a:ext cx="1234440" cy="365760"/>
          </a:xfrm>
          <a:prstGeom prst="rect">
            <a:avLst/>
          </a:prstGeom>
          <a:noFill/>
        </p:spPr>
        <p:txBody>
          <a:bodyPr wrap="square" lIns="0" tIns="0" rIns="0" bIns="0" anchor="ctr">
            <a:spAutoFit/>
          </a:bodyPr>
          <a:lstStyle/>
          <a:p>
            <a:pPr algn="ctr"/>
            <a:r>
              <a:rPr lang="es-CO" sz="950" b="1" i="0">
                <a:solidFill>
                  <a:srgbClr val="56C7F2"/>
                </a:solidFill>
                <a:latin typeface="Courier New"/>
              </a:rPr>
              <a:t>ana</a:t>
            </a:r>
          </a:p>
        </p:txBody>
      </p:sp>
      <p:sp>
        <p:nvSpPr>
          <p:cNvPr id="8" name="Rounded Rectangle 7"/>
          <p:cNvSpPr/>
          <p:nvPr/>
        </p:nvSpPr>
        <p:spPr>
          <a:xfrm>
            <a:off x="3429000" y="1481328"/>
            <a:ext cx="1691640" cy="365760"/>
          </a:xfrm>
          <a:prstGeom prst="roundRect">
            <a:avLst>
              <a:gd name="adj" fmla="val 50000"/>
            </a:avLst>
          </a:prstGeom>
          <a:solidFill>
            <a:srgbClr val="070C14"/>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3429000" y="1481328"/>
            <a:ext cx="1691640" cy="365760"/>
          </a:xfrm>
          <a:prstGeom prst="rect">
            <a:avLst/>
          </a:prstGeom>
          <a:noFill/>
        </p:spPr>
        <p:txBody>
          <a:bodyPr wrap="square" lIns="0" tIns="0" rIns="0" bIns="0" anchor="ctr">
            <a:spAutoFit/>
          </a:bodyPr>
          <a:lstStyle/>
          <a:p>
            <a:pPr algn="ctr"/>
            <a:r>
              <a:rPr lang="es-CO" sz="950" b="1" i="0">
                <a:solidFill>
                  <a:srgbClr val="56C7F2"/>
                </a:solidFill>
                <a:latin typeface="Courier New"/>
              </a:rPr>
              <a:t>solicitud001</a:t>
            </a:r>
          </a:p>
        </p:txBody>
      </p:sp>
      <p:sp>
        <p:nvSpPr>
          <p:cNvPr id="10" name="Rounded Rectangle 9"/>
          <p:cNvSpPr/>
          <p:nvPr/>
        </p:nvSpPr>
        <p:spPr>
          <a:xfrm>
            <a:off x="6629400" y="1481328"/>
            <a:ext cx="1691640" cy="365760"/>
          </a:xfrm>
          <a:prstGeom prst="roundRect">
            <a:avLst>
              <a:gd name="adj" fmla="val 50000"/>
            </a:avLst>
          </a:prstGeom>
          <a:solidFill>
            <a:srgbClr val="070C14"/>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6629400" y="1481328"/>
            <a:ext cx="1691640" cy="365760"/>
          </a:xfrm>
          <a:prstGeom prst="rect">
            <a:avLst/>
          </a:prstGeom>
          <a:noFill/>
        </p:spPr>
        <p:txBody>
          <a:bodyPr wrap="square" lIns="0" tIns="0" rIns="0" bIns="0" anchor="ctr">
            <a:spAutoFit/>
          </a:bodyPr>
          <a:lstStyle/>
          <a:p>
            <a:pPr algn="ctr"/>
            <a:r>
              <a:rPr lang="es-CO" sz="950" b="1" i="0">
                <a:solidFill>
                  <a:srgbClr val="56C7F2"/>
                </a:solidFill>
                <a:latin typeface="Courier New"/>
              </a:rPr>
              <a:t>paginaTienda</a:t>
            </a:r>
          </a:p>
        </p:txBody>
      </p:sp>
      <p:cxnSp>
        <p:nvCxnSpPr>
          <p:cNvPr id="12" name="Connector 11"/>
          <p:cNvCxnSpPr/>
          <p:nvPr/>
        </p:nvCxnSpPr>
        <p:spPr>
          <a:xfrm>
            <a:off x="1938528" y="1664208"/>
            <a:ext cx="1472184" cy="0"/>
          </a:xfrm>
          <a:prstGeom prst="line">
            <a:avLst/>
          </a:prstGeom>
          <a:ln w="19050">
            <a:solidFill>
              <a:srgbClr val="56C7F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938528" y="1417320"/>
            <a:ext cx="1472184" cy="201168"/>
          </a:xfrm>
          <a:prstGeom prst="rect">
            <a:avLst/>
          </a:prstGeom>
          <a:noFill/>
        </p:spPr>
        <p:txBody>
          <a:bodyPr wrap="square" lIns="0" tIns="0" rIns="0" bIns="0" anchor="t">
            <a:spAutoFit/>
          </a:bodyPr>
          <a:lstStyle/>
          <a:p>
            <a:pPr algn="ctr"/>
            <a:r>
              <a:rPr lang="es-CO" sz="900" b="1" i="0">
                <a:solidFill>
                  <a:srgbClr val="56C7F2"/>
                </a:solidFill>
                <a:latin typeface="Courier New"/>
              </a:rPr>
              <a:t>realiza</a:t>
            </a:r>
          </a:p>
        </p:txBody>
      </p:sp>
      <p:cxnSp>
        <p:nvCxnSpPr>
          <p:cNvPr id="14" name="Connector 13"/>
          <p:cNvCxnSpPr/>
          <p:nvPr/>
        </p:nvCxnSpPr>
        <p:spPr>
          <a:xfrm>
            <a:off x="5138928" y="1664208"/>
            <a:ext cx="1472184" cy="0"/>
          </a:xfrm>
          <a:prstGeom prst="line">
            <a:avLst/>
          </a:prstGeom>
          <a:ln w="19050">
            <a:solidFill>
              <a:srgbClr val="56C7F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138928" y="1417320"/>
            <a:ext cx="1472184" cy="201168"/>
          </a:xfrm>
          <a:prstGeom prst="rect">
            <a:avLst/>
          </a:prstGeom>
          <a:noFill/>
        </p:spPr>
        <p:txBody>
          <a:bodyPr wrap="square" lIns="0" tIns="0" rIns="0" bIns="0" anchor="t">
            <a:spAutoFit/>
          </a:bodyPr>
          <a:lstStyle/>
          <a:p>
            <a:pPr algn="ctr"/>
            <a:r>
              <a:rPr lang="es-CO" sz="900" b="1" i="0">
                <a:solidFill>
                  <a:srgbClr val="56C7F2"/>
                </a:solidFill>
                <a:latin typeface="Courier New"/>
              </a:rPr>
              <a:t>solicita</a:t>
            </a:r>
          </a:p>
        </p:txBody>
      </p:sp>
      <p:sp>
        <p:nvSpPr>
          <p:cNvPr id="16" name="Rectangle 15"/>
          <p:cNvSpPr/>
          <p:nvPr/>
        </p:nvSpPr>
        <p:spPr>
          <a:xfrm>
            <a:off x="502920" y="2359152"/>
            <a:ext cx="868680" cy="329184"/>
          </a:xfrm>
          <a:prstGeom prst="rect">
            <a:avLst/>
          </a:prstGeom>
          <a:solidFill>
            <a:srgbClr val="1A2434"/>
          </a:solidFill>
          <a:ln w="12700">
            <a:solidFill>
              <a:srgbClr val="FFD47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502920" y="2359152"/>
            <a:ext cx="868680" cy="329184"/>
          </a:xfrm>
          <a:prstGeom prst="rect">
            <a:avLst/>
          </a:prstGeom>
          <a:noFill/>
        </p:spPr>
        <p:txBody>
          <a:bodyPr wrap="square" lIns="0" tIns="0" rIns="0" bIns="0" anchor="ctr">
            <a:spAutoFit/>
          </a:bodyPr>
          <a:lstStyle/>
          <a:p>
            <a:pPr algn="ctr"/>
            <a:r>
              <a:rPr lang="es-CO" sz="900" b="0" i="0">
                <a:solidFill>
                  <a:srgbClr val="FFD479"/>
                </a:solidFill>
                <a:latin typeface="Courier New"/>
              </a:rPr>
              <a:t>"Ana"</a:t>
            </a:r>
          </a:p>
        </p:txBody>
      </p:sp>
      <p:sp>
        <p:nvSpPr>
          <p:cNvPr id="18" name="Rectangle 17"/>
          <p:cNvSpPr/>
          <p:nvPr/>
        </p:nvSpPr>
        <p:spPr>
          <a:xfrm>
            <a:off x="1508760" y="2359152"/>
            <a:ext cx="1691640" cy="329184"/>
          </a:xfrm>
          <a:prstGeom prst="rect">
            <a:avLst/>
          </a:prstGeom>
          <a:solidFill>
            <a:srgbClr val="1A2434"/>
          </a:solidFill>
          <a:ln w="12700">
            <a:solidFill>
              <a:srgbClr val="FFD47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1508760" y="2359152"/>
            <a:ext cx="1691640" cy="329184"/>
          </a:xfrm>
          <a:prstGeom prst="rect">
            <a:avLst/>
          </a:prstGeom>
          <a:noFill/>
        </p:spPr>
        <p:txBody>
          <a:bodyPr wrap="square" lIns="0" tIns="0" rIns="0" bIns="0" anchor="ctr">
            <a:spAutoFit/>
          </a:bodyPr>
          <a:lstStyle/>
          <a:p>
            <a:pPr algn="ctr"/>
            <a:r>
              <a:rPr lang="es-CO" sz="900" b="0" i="0">
                <a:solidFill>
                  <a:srgbClr val="FFD479"/>
                </a:solidFill>
                <a:latin typeface="Courier New"/>
              </a:rPr>
              <a:t>"ana@example.com"</a:t>
            </a:r>
          </a:p>
        </p:txBody>
      </p:sp>
      <p:cxnSp>
        <p:nvCxnSpPr>
          <p:cNvPr id="20" name="Connector 19"/>
          <p:cNvCxnSpPr/>
          <p:nvPr/>
        </p:nvCxnSpPr>
        <p:spPr>
          <a:xfrm flipH="1">
            <a:off x="932688" y="1865376"/>
            <a:ext cx="164592" cy="475488"/>
          </a:xfrm>
          <a:prstGeom prst="line">
            <a:avLst/>
          </a:prstGeom>
          <a:ln w="15875">
            <a:solidFill>
              <a:srgbClr val="FFD47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508760" y="1865376"/>
            <a:ext cx="685800" cy="475488"/>
          </a:xfrm>
          <a:prstGeom prst="line">
            <a:avLst/>
          </a:prstGeom>
          <a:ln w="15875">
            <a:solidFill>
              <a:srgbClr val="FFD47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1440" y="2029968"/>
            <a:ext cx="777240" cy="182880"/>
          </a:xfrm>
          <a:prstGeom prst="rect">
            <a:avLst/>
          </a:prstGeom>
          <a:noFill/>
        </p:spPr>
        <p:txBody>
          <a:bodyPr wrap="square" lIns="0" tIns="0" rIns="0" bIns="0" anchor="t">
            <a:spAutoFit/>
          </a:bodyPr>
          <a:lstStyle/>
          <a:p>
            <a:pPr algn="r"/>
            <a:r>
              <a:rPr lang="es-CO" sz="850" b="0" i="0">
                <a:solidFill>
                  <a:srgbClr val="FFD479"/>
                </a:solidFill>
                <a:latin typeface="Courier New"/>
              </a:rPr>
              <a:t>nombre</a:t>
            </a:r>
          </a:p>
        </p:txBody>
      </p:sp>
      <p:sp>
        <p:nvSpPr>
          <p:cNvPr id="23" name="TextBox 22"/>
          <p:cNvSpPr txBox="1"/>
          <p:nvPr/>
        </p:nvSpPr>
        <p:spPr>
          <a:xfrm>
            <a:off x="2103120" y="2029968"/>
            <a:ext cx="777240" cy="182880"/>
          </a:xfrm>
          <a:prstGeom prst="rect">
            <a:avLst/>
          </a:prstGeom>
          <a:noFill/>
        </p:spPr>
        <p:txBody>
          <a:bodyPr wrap="square" lIns="0" tIns="0" rIns="0" bIns="0" anchor="t">
            <a:spAutoFit/>
          </a:bodyPr>
          <a:lstStyle/>
          <a:p>
            <a:pPr algn="l"/>
            <a:r>
              <a:rPr lang="es-CO" sz="850" b="0" i="0">
                <a:solidFill>
                  <a:srgbClr val="FFD479"/>
                </a:solidFill>
                <a:latin typeface="Courier New"/>
              </a:rPr>
              <a:t>correo</a:t>
            </a:r>
          </a:p>
        </p:txBody>
      </p:sp>
      <p:sp>
        <p:nvSpPr>
          <p:cNvPr id="24" name="Rectangle 23"/>
          <p:cNvSpPr/>
          <p:nvPr/>
        </p:nvSpPr>
        <p:spPr>
          <a:xfrm>
            <a:off x="3520440" y="2359152"/>
            <a:ext cx="1508760" cy="329184"/>
          </a:xfrm>
          <a:prstGeom prst="rect">
            <a:avLst/>
          </a:prstGeom>
          <a:solidFill>
            <a:srgbClr val="1A2434"/>
          </a:solidFill>
          <a:ln w="12700">
            <a:solidFill>
              <a:srgbClr val="FFD47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3520440" y="2359152"/>
            <a:ext cx="1508760" cy="329184"/>
          </a:xfrm>
          <a:prstGeom prst="rect">
            <a:avLst/>
          </a:prstGeom>
          <a:noFill/>
        </p:spPr>
        <p:txBody>
          <a:bodyPr wrap="square" lIns="0" tIns="0" rIns="0" bIns="0" anchor="ctr">
            <a:spAutoFit/>
          </a:bodyPr>
          <a:lstStyle/>
          <a:p>
            <a:pPr algn="ctr"/>
            <a:r>
              <a:rPr lang="es-CO" sz="900" b="0" i="0">
                <a:solidFill>
                  <a:srgbClr val="FFD479"/>
                </a:solidFill>
                <a:latin typeface="Courier New"/>
              </a:rPr>
              <a:t>"2026-10-05"</a:t>
            </a:r>
          </a:p>
        </p:txBody>
      </p:sp>
      <p:cxnSp>
        <p:nvCxnSpPr>
          <p:cNvPr id="26" name="Connector 25"/>
          <p:cNvCxnSpPr/>
          <p:nvPr/>
        </p:nvCxnSpPr>
        <p:spPr>
          <a:xfrm>
            <a:off x="4270248" y="1865376"/>
            <a:ext cx="0" cy="475488"/>
          </a:xfrm>
          <a:prstGeom prst="line">
            <a:avLst/>
          </a:prstGeom>
          <a:ln w="15875">
            <a:solidFill>
              <a:srgbClr val="FFD47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343400" y="2029968"/>
            <a:ext cx="731520" cy="182880"/>
          </a:xfrm>
          <a:prstGeom prst="rect">
            <a:avLst/>
          </a:prstGeom>
          <a:noFill/>
        </p:spPr>
        <p:txBody>
          <a:bodyPr wrap="square" lIns="0" tIns="0" rIns="0" bIns="0" anchor="t">
            <a:spAutoFit/>
          </a:bodyPr>
          <a:lstStyle/>
          <a:p>
            <a:pPr algn="l"/>
            <a:r>
              <a:rPr lang="es-CO" sz="850" b="0" i="0">
                <a:solidFill>
                  <a:srgbClr val="FFD479"/>
                </a:solidFill>
                <a:latin typeface="Courier New"/>
              </a:rPr>
              <a:t>fecha</a:t>
            </a:r>
          </a:p>
        </p:txBody>
      </p:sp>
      <p:sp>
        <p:nvSpPr>
          <p:cNvPr id="28" name="TextBox 27"/>
          <p:cNvSpPr txBox="1"/>
          <p:nvPr/>
        </p:nvSpPr>
        <p:spPr>
          <a:xfrm>
            <a:off x="5303520" y="2249424"/>
            <a:ext cx="3337560" cy="457200"/>
          </a:xfrm>
          <a:prstGeom prst="rect">
            <a:avLst/>
          </a:prstGeom>
          <a:noFill/>
        </p:spPr>
        <p:txBody>
          <a:bodyPr wrap="square" lIns="0" tIns="0" rIns="0" bIns="0" anchor="t">
            <a:spAutoFit/>
          </a:bodyPr>
          <a:lstStyle/>
          <a:p>
            <a:pPr algn="l"/>
            <a:r>
              <a:rPr lang="es-CO" sz="950" b="0" i="0">
                <a:solidFill>
                  <a:srgbClr val="56C7F2"/>
                </a:solidFill>
                <a:latin typeface="Calibri"/>
              </a:rPr>
              <a:t>— </a:t>
            </a:r>
            <a:r>
              <a:rPr lang="es-CO" sz="950" b="0" i="0">
                <a:solidFill>
                  <a:srgbClr val="93A5BD"/>
                </a:solidFill>
                <a:latin typeface="Calibri"/>
              </a:rPr>
              <a:t>objeto: une dos individuos</a:t>
            </a:r>
          </a:p>
          <a:p>
            <a:pPr algn="l"/>
            <a:r>
              <a:rPr lang="es-CO" sz="950" b="0" i="0">
                <a:solidFill>
                  <a:srgbClr val="FFD479"/>
                </a:solidFill>
                <a:latin typeface="Calibri"/>
              </a:rPr>
              <a:t>— </a:t>
            </a:r>
            <a:r>
              <a:rPr lang="es-CO" sz="950" b="0" i="0">
                <a:solidFill>
                  <a:srgbClr val="93A5BD"/>
                </a:solidFill>
                <a:latin typeface="Calibri"/>
              </a:rPr>
              <a:t>datos: une un individuo con un valor</a:t>
            </a:r>
          </a:p>
        </p:txBody>
      </p:sp>
      <p:graphicFrame>
        <p:nvGraphicFramePr>
          <p:cNvPr id="29" name="Table 28"/>
          <p:cNvGraphicFramePr>
            <a:graphicFrameLocks noGrp="1"/>
          </p:cNvGraphicFramePr>
          <p:nvPr/>
        </p:nvGraphicFramePr>
        <p:xfrm>
          <a:off x="502920" y="2852928"/>
          <a:ext cx="5074920" cy="1280160"/>
        </p:xfrm>
        <a:graphic>
          <a:graphicData uri="http://schemas.openxmlformats.org/drawingml/2006/table">
            <a:tbl>
              <a:tblPr>
                <a:tableStyleId>{2D5ABB26-0587-4C30-8999-92F81FD0307C}</a:tableStyleId>
              </a:tblPr>
              <a:tblGrid>
                <a:gridCol w="137160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292608">
                <a:tc>
                  <a:txBody>
                    <a:bodyPr/>
                    <a:lstStyle/>
                    <a:p>
                      <a:r>
                        <a:rPr lang="es-CO" sz="950" b="1" i="0">
                          <a:solidFill>
                            <a:srgbClr val="3DDC97"/>
                          </a:solidFill>
                          <a:latin typeface="Arial"/>
                        </a:rPr>
                        <a:t>Propiedad</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3233A"/>
                    </a:solidFill>
                  </a:tcPr>
                </a:tc>
                <a:tc>
                  <a:txBody>
                    <a:bodyPr/>
                    <a:lstStyle/>
                    <a:p>
                      <a:r>
                        <a:rPr lang="es-CO" sz="950" b="1" i="0">
                          <a:solidFill>
                            <a:srgbClr val="3DDC97"/>
                          </a:solidFill>
                          <a:latin typeface="Arial"/>
                        </a:rPr>
                        <a:t>Tipo</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3233A"/>
                    </a:solidFill>
                  </a:tcPr>
                </a:tc>
                <a:tc>
                  <a:txBody>
                    <a:bodyPr/>
                    <a:lstStyle/>
                    <a:p>
                      <a:r>
                        <a:rPr lang="es-CO" sz="950" b="1" i="0">
                          <a:solidFill>
                            <a:srgbClr val="3DDC97"/>
                          </a:solidFill>
                          <a:latin typeface="Arial"/>
                        </a:rPr>
                        <a:t>Dominio</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3233A"/>
                    </a:solidFill>
                  </a:tcPr>
                </a:tc>
                <a:tc>
                  <a:txBody>
                    <a:bodyPr/>
                    <a:lstStyle/>
                    <a:p>
                      <a:r>
                        <a:rPr lang="es-CO" sz="950" b="1" i="0">
                          <a:solidFill>
                            <a:srgbClr val="3DDC97"/>
                          </a:solidFill>
                          <a:latin typeface="Arial"/>
                        </a:rPr>
                        <a:t>Rango</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3233A"/>
                    </a:solidFill>
                  </a:tcPr>
                </a:tc>
                <a:extLst>
                  <a:ext uri="{0D108BD9-81ED-4DB2-BD59-A6C34878D82A}">
                    <a16:rowId xmlns:a16="http://schemas.microsoft.com/office/drawing/2014/main" val="10000"/>
                  </a:ext>
                </a:extLst>
              </a:tr>
              <a:tr h="329184">
                <a:tc>
                  <a:txBody>
                    <a:bodyPr/>
                    <a:lstStyle/>
                    <a:p>
                      <a:r>
                        <a:rPr lang="es-CO" sz="950" b="1" i="0">
                          <a:solidFill>
                            <a:srgbClr val="56C7F2"/>
                          </a:solidFill>
                          <a:latin typeface="Courier New"/>
                        </a:rPr>
                        <a:t>realiza</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A2434"/>
                    </a:solidFill>
                  </a:tcPr>
                </a:tc>
                <a:tc>
                  <a:txBody>
                    <a:bodyPr/>
                    <a:lstStyle/>
                    <a:p>
                      <a:r>
                        <a:rPr lang="es-CO" sz="950" b="0" i="0">
                          <a:solidFill>
                            <a:srgbClr val="E8EEF6"/>
                          </a:solidFill>
                          <a:latin typeface="Calibri"/>
                        </a:rPr>
                        <a:t>de objeto</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A2434"/>
                    </a:solidFill>
                  </a:tcPr>
                </a:tc>
                <a:tc>
                  <a:txBody>
                    <a:bodyPr/>
                    <a:lstStyle/>
                    <a:p>
                      <a:r>
                        <a:rPr lang="es-CO" sz="950" b="0" i="0">
                          <a:solidFill>
                            <a:srgbClr val="E8EEF6"/>
                          </a:solidFill>
                          <a:latin typeface="Calibri"/>
                        </a:rPr>
                        <a:t>Contacto</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A2434"/>
                    </a:solidFill>
                  </a:tcPr>
                </a:tc>
                <a:tc>
                  <a:txBody>
                    <a:bodyPr/>
                    <a:lstStyle/>
                    <a:p>
                      <a:r>
                        <a:rPr lang="es-CO" sz="950" b="0" i="0">
                          <a:solidFill>
                            <a:srgbClr val="E8EEF6"/>
                          </a:solidFill>
                          <a:latin typeface="Calibri"/>
                        </a:rPr>
                        <a:t>Solicitud</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A2434"/>
                    </a:solidFill>
                  </a:tcPr>
                </a:tc>
                <a:extLst>
                  <a:ext uri="{0D108BD9-81ED-4DB2-BD59-A6C34878D82A}">
                    <a16:rowId xmlns:a16="http://schemas.microsoft.com/office/drawing/2014/main" val="10001"/>
                  </a:ext>
                </a:extLst>
              </a:tr>
              <a:tr h="329184">
                <a:tc>
                  <a:txBody>
                    <a:bodyPr/>
                    <a:lstStyle/>
                    <a:p>
                      <a:r>
                        <a:rPr lang="es-CO" sz="950" b="1" i="0">
                          <a:solidFill>
                            <a:srgbClr val="56C7F2"/>
                          </a:solidFill>
                          <a:latin typeface="Courier New"/>
                        </a:rPr>
                        <a:t>solicita</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41E2D"/>
                    </a:solidFill>
                  </a:tcPr>
                </a:tc>
                <a:tc>
                  <a:txBody>
                    <a:bodyPr/>
                    <a:lstStyle/>
                    <a:p>
                      <a:r>
                        <a:rPr lang="es-CO" sz="950" b="0" i="0">
                          <a:solidFill>
                            <a:srgbClr val="E8EEF6"/>
                          </a:solidFill>
                          <a:latin typeface="Calibri"/>
                        </a:rPr>
                        <a:t>de objeto</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41E2D"/>
                    </a:solidFill>
                  </a:tcPr>
                </a:tc>
                <a:tc>
                  <a:txBody>
                    <a:bodyPr/>
                    <a:lstStyle/>
                    <a:p>
                      <a:r>
                        <a:rPr lang="es-CO" sz="950" b="0" i="0">
                          <a:solidFill>
                            <a:srgbClr val="E8EEF6"/>
                          </a:solidFill>
                          <a:latin typeface="Calibri"/>
                        </a:rPr>
                        <a:t>Solicitud</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41E2D"/>
                    </a:solidFill>
                  </a:tcPr>
                </a:tc>
                <a:tc>
                  <a:txBody>
                    <a:bodyPr/>
                    <a:lstStyle/>
                    <a:p>
                      <a:r>
                        <a:rPr lang="es-CO" sz="950" b="0" i="0">
                          <a:solidFill>
                            <a:srgbClr val="E8EEF6"/>
                          </a:solidFill>
                          <a:latin typeface="Calibri"/>
                        </a:rPr>
                        <a:t>Servicio</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41E2D"/>
                    </a:solidFill>
                  </a:tcPr>
                </a:tc>
                <a:extLst>
                  <a:ext uri="{0D108BD9-81ED-4DB2-BD59-A6C34878D82A}">
                    <a16:rowId xmlns:a16="http://schemas.microsoft.com/office/drawing/2014/main" val="10002"/>
                  </a:ext>
                </a:extLst>
              </a:tr>
              <a:tr h="329184">
                <a:tc>
                  <a:txBody>
                    <a:bodyPr/>
                    <a:lstStyle/>
                    <a:p>
                      <a:r>
                        <a:rPr lang="es-CO" sz="950" b="1" i="0">
                          <a:solidFill>
                            <a:srgbClr val="FFD479"/>
                          </a:solidFill>
                          <a:latin typeface="Courier New"/>
                        </a:rPr>
                        <a:t>nombre · correo</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A2434"/>
                    </a:solidFill>
                  </a:tcPr>
                </a:tc>
                <a:tc>
                  <a:txBody>
                    <a:bodyPr/>
                    <a:lstStyle/>
                    <a:p>
                      <a:r>
                        <a:rPr lang="es-CO" sz="950" b="0" i="0">
                          <a:solidFill>
                            <a:srgbClr val="E8EEF6"/>
                          </a:solidFill>
                          <a:latin typeface="Calibri"/>
                        </a:rPr>
                        <a:t>de datos</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A2434"/>
                    </a:solidFill>
                  </a:tcPr>
                </a:tc>
                <a:tc>
                  <a:txBody>
                    <a:bodyPr/>
                    <a:lstStyle/>
                    <a:p>
                      <a:r>
                        <a:rPr lang="es-CO" sz="950" b="0" i="0">
                          <a:solidFill>
                            <a:srgbClr val="E8EEF6"/>
                          </a:solidFill>
                          <a:latin typeface="Calibri"/>
                        </a:rPr>
                        <a:t>Contacto</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A2434"/>
                    </a:solidFill>
                  </a:tcPr>
                </a:tc>
                <a:tc>
                  <a:txBody>
                    <a:bodyPr/>
                    <a:lstStyle/>
                    <a:p>
                      <a:r>
                        <a:rPr lang="es-CO" sz="950" b="0" i="0">
                          <a:solidFill>
                            <a:srgbClr val="E8EEF6"/>
                          </a:solidFill>
                          <a:latin typeface="Calibri"/>
                        </a:rPr>
                        <a:t>texto (xsd:string)</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A2434"/>
                    </a:solidFill>
                  </a:tcPr>
                </a:tc>
                <a:extLst>
                  <a:ext uri="{0D108BD9-81ED-4DB2-BD59-A6C34878D82A}">
                    <a16:rowId xmlns:a16="http://schemas.microsoft.com/office/drawing/2014/main" val="10003"/>
                  </a:ext>
                </a:extLst>
              </a:tr>
            </a:tbl>
          </a:graphicData>
        </a:graphic>
      </p:graphicFrame>
      <p:sp>
        <p:nvSpPr>
          <p:cNvPr id="30" name="Rounded Rectangle 29"/>
          <p:cNvSpPr/>
          <p:nvPr/>
        </p:nvSpPr>
        <p:spPr>
          <a:xfrm>
            <a:off x="5742432" y="2852928"/>
            <a:ext cx="2898648" cy="1664208"/>
          </a:xfrm>
          <a:prstGeom prst="roundRect">
            <a:avLst>
              <a:gd name="adj" fmla="val 8000"/>
            </a:avLst>
          </a:prstGeom>
          <a:solidFill>
            <a:srgbClr val="1A2434"/>
          </a:solidFill>
          <a:ln w="12700">
            <a:solidFill>
              <a:srgbClr val="FFD47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5870448" y="2944368"/>
            <a:ext cx="2642616" cy="219456"/>
          </a:xfrm>
          <a:prstGeom prst="rect">
            <a:avLst/>
          </a:prstGeom>
          <a:noFill/>
        </p:spPr>
        <p:txBody>
          <a:bodyPr wrap="square" lIns="0" tIns="0" rIns="0" bIns="0" anchor="ctr">
            <a:spAutoFit/>
          </a:bodyPr>
          <a:lstStyle/>
          <a:p>
            <a:pPr algn="l"/>
            <a:r>
              <a:rPr lang="es-CO" sz="1100" b="1" i="0">
                <a:solidFill>
                  <a:srgbClr val="FFD479"/>
                </a:solidFill>
                <a:latin typeface="Arial"/>
              </a:rPr>
              <a:t>Dominio y rango no validan</a:t>
            </a:r>
          </a:p>
        </p:txBody>
      </p:sp>
      <p:sp>
        <p:nvSpPr>
          <p:cNvPr id="32" name="TextBox 31"/>
          <p:cNvSpPr txBox="1"/>
          <p:nvPr/>
        </p:nvSpPr>
        <p:spPr>
          <a:xfrm>
            <a:off x="5870448" y="3209544"/>
            <a:ext cx="2642616" cy="1252728"/>
          </a:xfrm>
          <a:prstGeom prst="rect">
            <a:avLst/>
          </a:prstGeom>
          <a:noFill/>
        </p:spPr>
        <p:txBody>
          <a:bodyPr wrap="square" lIns="0" tIns="0" rIns="0" bIns="0" anchor="t">
            <a:spAutoFit/>
          </a:bodyPr>
          <a:lstStyle/>
          <a:p>
            <a:pPr algn="l">
              <a:spcAft>
                <a:spcPts val="200"/>
              </a:spcAft>
            </a:pPr>
            <a:r>
              <a:rPr lang="es-CO" sz="980" b="0" i="0">
                <a:solidFill>
                  <a:srgbClr val="E8EEF6"/>
                </a:solidFill>
                <a:latin typeface="Calibri"/>
              </a:rPr>
              <a:t>Si se afirma «x realiza y», se infiere que x es un Contacto y y una Solicitud. No se rechaza el dato, como sí haría la validación de un formulario.</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A101B"/>
        </a:solidFill>
        <a:effectLst/>
      </p:bgPr>
    </p:bg>
    <p:spTree>
      <p:nvGrpSpPr>
        <p:cNvPr id="1" name=""/>
        <p:cNvGrpSpPr/>
        <p:nvPr/>
      </p:nvGrpSpPr>
      <p:grpSpPr>
        <a:xfrm>
          <a:off x="0" y="0"/>
          <a:ext cx="0" cy="0"/>
          <a:chOff x="0" y="0"/>
          <a:chExt cx="0" cy="0"/>
        </a:xfrm>
      </p:grpSpPr>
      <p:sp>
        <p:nvSpPr>
          <p:cNvPr id="2" name="TextBox 1"/>
          <p:cNvSpPr txBox="1"/>
          <p:nvPr/>
        </p:nvSpPr>
        <p:spPr>
          <a:xfrm>
            <a:off x="6309360" y="4718304"/>
            <a:ext cx="2331720" cy="201168"/>
          </a:xfrm>
          <a:prstGeom prst="rect">
            <a:avLst/>
          </a:prstGeom>
          <a:noFill/>
        </p:spPr>
        <p:txBody>
          <a:bodyPr wrap="square" lIns="0" tIns="0" rIns="0" bIns="0" anchor="ctr">
            <a:spAutoFit/>
          </a:bodyPr>
          <a:lstStyle/>
          <a:p>
            <a:pPr algn="r"/>
            <a:r>
              <a:rPr lang="es-CO" sz="800" b="0" i="0">
                <a:solidFill>
                  <a:srgbClr val="6C7E96"/>
                </a:solidFill>
                <a:latin typeface="Arial"/>
              </a:rPr>
              <a:t>Ingeniería Web  ·  18 / 24</a:t>
            </a:r>
          </a:p>
        </p:txBody>
      </p:sp>
      <p:sp>
        <p:nvSpPr>
          <p:cNvPr id="3" name="Rounded Rectangle 2"/>
          <p:cNvSpPr/>
          <p:nvPr/>
        </p:nvSpPr>
        <p:spPr>
          <a:xfrm>
            <a:off x="502920" y="365760"/>
            <a:ext cx="1783080" cy="228600"/>
          </a:xfrm>
          <a:prstGeom prst="roundRect">
            <a:avLst>
              <a:gd name="adj" fmla="val 50000"/>
            </a:avLst>
          </a:prstGeom>
          <a:solidFill>
            <a:srgbClr val="132A24"/>
          </a:solidFill>
          <a:ln w="952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502920" y="365760"/>
            <a:ext cx="1783080" cy="228600"/>
          </a:xfrm>
          <a:prstGeom prst="rect">
            <a:avLst/>
          </a:prstGeom>
          <a:noFill/>
        </p:spPr>
        <p:txBody>
          <a:bodyPr wrap="square" lIns="0" tIns="0" rIns="0" bIns="0" anchor="ctr">
            <a:spAutoFit/>
          </a:bodyPr>
          <a:lstStyle/>
          <a:p>
            <a:pPr algn="ctr"/>
            <a:r>
              <a:rPr lang="es-CO" sz="850" b="1" i="0">
                <a:solidFill>
                  <a:srgbClr val="3DDC97"/>
                </a:solidFill>
                <a:latin typeface="Arial"/>
              </a:rPr>
              <a:t>CONCEPTO · ONTOLOGÍAS</a:t>
            </a:r>
          </a:p>
        </p:txBody>
      </p:sp>
      <p:sp>
        <p:nvSpPr>
          <p:cNvPr id="5" name="Título"/>
          <p:cNvSpPr txBox="1"/>
          <p:nvPr/>
        </p:nvSpPr>
        <p:spPr>
          <a:xfrm>
            <a:off x="475488" y="658368"/>
            <a:ext cx="8138160" cy="438912"/>
          </a:xfrm>
          <a:prstGeom prst="rect">
            <a:avLst/>
          </a:prstGeom>
          <a:noFill/>
        </p:spPr>
        <p:txBody>
          <a:bodyPr wrap="square" lIns="0" tIns="0" rIns="0" bIns="0" anchor="ctr">
            <a:spAutoFit/>
          </a:bodyPr>
          <a:lstStyle/>
          <a:p>
            <a:pPr algn="l"/>
            <a:r>
              <a:rPr lang="es-CO" sz="2600" b="1" i="0">
                <a:solidFill>
                  <a:srgbClr val="FFFFFF"/>
                </a:solidFill>
                <a:latin typeface="Arial"/>
              </a:rPr>
              <a:t>Afirmaciones RDF y lectura de Turtle</a:t>
            </a:r>
          </a:p>
        </p:txBody>
      </p:sp>
      <p:sp>
        <p:nvSpPr>
          <p:cNvPr id="6" name="Rounded Rectangle 5"/>
          <p:cNvSpPr/>
          <p:nvPr/>
        </p:nvSpPr>
        <p:spPr>
          <a:xfrm>
            <a:off x="502920" y="1234440"/>
            <a:ext cx="1947672" cy="731520"/>
          </a:xfrm>
          <a:prstGeom prst="roundRect">
            <a:avLst>
              <a:gd name="adj" fmla="val 8000"/>
            </a:avLst>
          </a:prstGeom>
          <a:solidFill>
            <a:srgbClr val="1A243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612648" y="1280160"/>
            <a:ext cx="1737360" cy="201168"/>
          </a:xfrm>
          <a:prstGeom prst="rect">
            <a:avLst/>
          </a:prstGeom>
          <a:noFill/>
        </p:spPr>
        <p:txBody>
          <a:bodyPr wrap="square" lIns="0" tIns="0" rIns="0" bIns="0" anchor="ctr">
            <a:spAutoFit/>
          </a:bodyPr>
          <a:lstStyle/>
          <a:p>
            <a:pPr algn="l"/>
            <a:r>
              <a:rPr lang="es-CO" sz="1000" b="1" i="0">
                <a:solidFill>
                  <a:srgbClr val="3DDC97"/>
                </a:solidFill>
                <a:latin typeface="Courier New"/>
              </a:rPr>
              <a:t>RDF</a:t>
            </a:r>
          </a:p>
        </p:txBody>
      </p:sp>
      <p:sp>
        <p:nvSpPr>
          <p:cNvPr id="8" name="TextBox 7"/>
          <p:cNvSpPr txBox="1"/>
          <p:nvPr/>
        </p:nvSpPr>
        <p:spPr>
          <a:xfrm>
            <a:off x="612648" y="1499616"/>
            <a:ext cx="1783080" cy="438912"/>
          </a:xfrm>
          <a:prstGeom prst="rect">
            <a:avLst/>
          </a:prstGeom>
          <a:noFill/>
        </p:spPr>
        <p:txBody>
          <a:bodyPr wrap="square" lIns="0" tIns="0" rIns="0" bIns="0" anchor="t">
            <a:spAutoFit/>
          </a:bodyPr>
          <a:lstStyle/>
          <a:p>
            <a:pPr algn="l"/>
            <a:r>
              <a:rPr lang="es-CO" sz="900" b="0" i="0">
                <a:solidFill>
                  <a:srgbClr val="E8EEF6"/>
                </a:solidFill>
                <a:latin typeface="Calibri"/>
              </a:rPr>
              <a:t>Modelo de datos: afirmaciones sujeto–predicado–objeto.</a:t>
            </a:r>
          </a:p>
        </p:txBody>
      </p:sp>
      <p:sp>
        <p:nvSpPr>
          <p:cNvPr id="9" name="Rounded Rectangle 8"/>
          <p:cNvSpPr/>
          <p:nvPr/>
        </p:nvSpPr>
        <p:spPr>
          <a:xfrm>
            <a:off x="2569464" y="1234440"/>
            <a:ext cx="1947672" cy="731520"/>
          </a:xfrm>
          <a:prstGeom prst="roundRect">
            <a:avLst>
              <a:gd name="adj" fmla="val 8000"/>
            </a:avLst>
          </a:prstGeom>
          <a:solidFill>
            <a:srgbClr val="1A243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2679192" y="1280160"/>
            <a:ext cx="1737360" cy="201168"/>
          </a:xfrm>
          <a:prstGeom prst="rect">
            <a:avLst/>
          </a:prstGeom>
          <a:noFill/>
        </p:spPr>
        <p:txBody>
          <a:bodyPr wrap="square" lIns="0" tIns="0" rIns="0" bIns="0" anchor="ctr">
            <a:spAutoFit/>
          </a:bodyPr>
          <a:lstStyle/>
          <a:p>
            <a:pPr algn="l"/>
            <a:r>
              <a:rPr lang="es-CO" sz="1000" b="1" i="0">
                <a:solidFill>
                  <a:srgbClr val="3DDC97"/>
                </a:solidFill>
                <a:latin typeface="Courier New"/>
              </a:rPr>
              <a:t>RDFS</a:t>
            </a:r>
          </a:p>
        </p:txBody>
      </p:sp>
      <p:sp>
        <p:nvSpPr>
          <p:cNvPr id="11" name="TextBox 10"/>
          <p:cNvSpPr txBox="1"/>
          <p:nvPr/>
        </p:nvSpPr>
        <p:spPr>
          <a:xfrm>
            <a:off x="2679192" y="1499616"/>
            <a:ext cx="1783080" cy="438912"/>
          </a:xfrm>
          <a:prstGeom prst="rect">
            <a:avLst/>
          </a:prstGeom>
          <a:noFill/>
        </p:spPr>
        <p:txBody>
          <a:bodyPr wrap="square" lIns="0" tIns="0" rIns="0" bIns="0" anchor="t">
            <a:spAutoFit/>
          </a:bodyPr>
          <a:lstStyle/>
          <a:p>
            <a:pPr algn="l"/>
            <a:r>
              <a:rPr lang="es-CO" sz="900" b="0" i="0">
                <a:solidFill>
                  <a:srgbClr val="E8EEF6"/>
                </a:solidFill>
                <a:latin typeface="Calibri"/>
              </a:rPr>
              <a:t>Vocabulario básico: clases, subclases, dominio y rango.</a:t>
            </a:r>
          </a:p>
        </p:txBody>
      </p:sp>
      <p:sp>
        <p:nvSpPr>
          <p:cNvPr id="12" name="Rounded Rectangle 11"/>
          <p:cNvSpPr/>
          <p:nvPr/>
        </p:nvSpPr>
        <p:spPr>
          <a:xfrm>
            <a:off x="4636008" y="1234440"/>
            <a:ext cx="1947672" cy="731520"/>
          </a:xfrm>
          <a:prstGeom prst="roundRect">
            <a:avLst>
              <a:gd name="adj" fmla="val 8000"/>
            </a:avLst>
          </a:prstGeom>
          <a:solidFill>
            <a:srgbClr val="1A2434"/>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4745736" y="1280160"/>
            <a:ext cx="1737360" cy="201168"/>
          </a:xfrm>
          <a:prstGeom prst="rect">
            <a:avLst/>
          </a:prstGeom>
          <a:noFill/>
        </p:spPr>
        <p:txBody>
          <a:bodyPr wrap="square" lIns="0" tIns="0" rIns="0" bIns="0" anchor="ctr">
            <a:spAutoFit/>
          </a:bodyPr>
          <a:lstStyle/>
          <a:p>
            <a:pPr algn="l"/>
            <a:r>
              <a:rPr lang="es-CO" sz="1000" b="1" i="0">
                <a:solidFill>
                  <a:srgbClr val="56C7F2"/>
                </a:solidFill>
                <a:latin typeface="Courier New"/>
              </a:rPr>
              <a:t>OWL</a:t>
            </a:r>
          </a:p>
        </p:txBody>
      </p:sp>
      <p:sp>
        <p:nvSpPr>
          <p:cNvPr id="14" name="TextBox 13"/>
          <p:cNvSpPr txBox="1"/>
          <p:nvPr/>
        </p:nvSpPr>
        <p:spPr>
          <a:xfrm>
            <a:off x="4745736" y="1499616"/>
            <a:ext cx="1783080" cy="438912"/>
          </a:xfrm>
          <a:prstGeom prst="rect">
            <a:avLst/>
          </a:prstGeom>
          <a:noFill/>
        </p:spPr>
        <p:txBody>
          <a:bodyPr wrap="square" lIns="0" tIns="0" rIns="0" bIns="0" anchor="t">
            <a:spAutoFit/>
          </a:bodyPr>
          <a:lstStyle/>
          <a:p>
            <a:pPr algn="l"/>
            <a:r>
              <a:rPr lang="es-CO" sz="900" b="0" i="0">
                <a:solidFill>
                  <a:srgbClr val="E8EEF6"/>
                </a:solidFill>
                <a:latin typeface="Calibri"/>
              </a:rPr>
              <a:t>Lenguaje de ontologías más expresivo: tipos de propiedades.</a:t>
            </a:r>
          </a:p>
        </p:txBody>
      </p:sp>
      <p:sp>
        <p:nvSpPr>
          <p:cNvPr id="15" name="Rounded Rectangle 14"/>
          <p:cNvSpPr/>
          <p:nvPr/>
        </p:nvSpPr>
        <p:spPr>
          <a:xfrm>
            <a:off x="6702552" y="1234440"/>
            <a:ext cx="1947672" cy="731520"/>
          </a:xfrm>
          <a:prstGeom prst="roundRect">
            <a:avLst>
              <a:gd name="adj" fmla="val 8000"/>
            </a:avLst>
          </a:prstGeom>
          <a:solidFill>
            <a:srgbClr val="1A2434"/>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812280" y="1280160"/>
            <a:ext cx="1737360" cy="201168"/>
          </a:xfrm>
          <a:prstGeom prst="rect">
            <a:avLst/>
          </a:prstGeom>
          <a:noFill/>
        </p:spPr>
        <p:txBody>
          <a:bodyPr wrap="square" lIns="0" tIns="0" rIns="0" bIns="0" anchor="ctr">
            <a:spAutoFit/>
          </a:bodyPr>
          <a:lstStyle/>
          <a:p>
            <a:pPr algn="l"/>
            <a:r>
              <a:rPr lang="es-CO" sz="1000" b="1" i="0">
                <a:solidFill>
                  <a:srgbClr val="56C7F2"/>
                </a:solidFill>
                <a:latin typeface="Courier New"/>
              </a:rPr>
              <a:t>Turtle</a:t>
            </a:r>
          </a:p>
        </p:txBody>
      </p:sp>
      <p:sp>
        <p:nvSpPr>
          <p:cNvPr id="17" name="TextBox 16"/>
          <p:cNvSpPr txBox="1"/>
          <p:nvPr/>
        </p:nvSpPr>
        <p:spPr>
          <a:xfrm>
            <a:off x="6812280" y="1499616"/>
            <a:ext cx="1783080" cy="438912"/>
          </a:xfrm>
          <a:prstGeom prst="rect">
            <a:avLst/>
          </a:prstGeom>
          <a:noFill/>
        </p:spPr>
        <p:txBody>
          <a:bodyPr wrap="square" lIns="0" tIns="0" rIns="0" bIns="0" anchor="t">
            <a:spAutoFit/>
          </a:bodyPr>
          <a:lstStyle/>
          <a:p>
            <a:pPr algn="l"/>
            <a:r>
              <a:rPr lang="es-CO" sz="900" b="0" i="0">
                <a:solidFill>
                  <a:srgbClr val="E8EEF6"/>
                </a:solidFill>
                <a:latin typeface="Calibri"/>
              </a:rPr>
              <a:t>Sintaxis de texto para escribir afirmaciones RDF.</a:t>
            </a:r>
          </a:p>
        </p:txBody>
      </p:sp>
      <p:sp>
        <p:nvSpPr>
          <p:cNvPr id="18" name="TextBox 17"/>
          <p:cNvSpPr txBox="1"/>
          <p:nvPr/>
        </p:nvSpPr>
        <p:spPr>
          <a:xfrm>
            <a:off x="502920" y="2103120"/>
            <a:ext cx="1280160" cy="182880"/>
          </a:xfrm>
          <a:prstGeom prst="rect">
            <a:avLst/>
          </a:prstGeom>
          <a:noFill/>
        </p:spPr>
        <p:txBody>
          <a:bodyPr wrap="square" lIns="0" tIns="0" rIns="0" bIns="0" anchor="ctr">
            <a:spAutoFit/>
          </a:bodyPr>
          <a:lstStyle/>
          <a:p>
            <a:pPr algn="ctr"/>
            <a:r>
              <a:rPr lang="es-CO" sz="850" b="1" i="0">
                <a:solidFill>
                  <a:srgbClr val="6C7E96"/>
                </a:solidFill>
                <a:latin typeface="Arial"/>
              </a:rPr>
              <a:t>sujeto</a:t>
            </a:r>
          </a:p>
        </p:txBody>
      </p:sp>
      <p:sp>
        <p:nvSpPr>
          <p:cNvPr id="19" name="Rounded Rectangle 18"/>
          <p:cNvSpPr/>
          <p:nvPr/>
        </p:nvSpPr>
        <p:spPr>
          <a:xfrm>
            <a:off x="502920" y="2304288"/>
            <a:ext cx="1280160" cy="347472"/>
          </a:xfrm>
          <a:prstGeom prst="roundRect">
            <a:avLst>
              <a:gd name="adj" fmla="val 8000"/>
            </a:avLst>
          </a:prstGeom>
          <a:solidFill>
            <a:srgbClr val="070C1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502920" y="2304288"/>
            <a:ext cx="1280160" cy="347472"/>
          </a:xfrm>
          <a:prstGeom prst="rect">
            <a:avLst/>
          </a:prstGeom>
          <a:noFill/>
        </p:spPr>
        <p:txBody>
          <a:bodyPr wrap="square" lIns="0" tIns="0" rIns="0" bIns="0" anchor="ctr">
            <a:spAutoFit/>
          </a:bodyPr>
          <a:lstStyle/>
          <a:p>
            <a:pPr algn="ctr"/>
            <a:r>
              <a:rPr lang="es-CO" sz="850" b="1" i="0">
                <a:solidFill>
                  <a:srgbClr val="D7E1EE"/>
                </a:solidFill>
                <a:latin typeface="Courier New"/>
              </a:rPr>
              <a:t>sw:ana</a:t>
            </a:r>
          </a:p>
        </p:txBody>
      </p:sp>
      <p:sp>
        <p:nvSpPr>
          <p:cNvPr id="21" name="TextBox 20"/>
          <p:cNvSpPr txBox="1"/>
          <p:nvPr/>
        </p:nvSpPr>
        <p:spPr>
          <a:xfrm>
            <a:off x="1874520" y="2103120"/>
            <a:ext cx="1280160" cy="182880"/>
          </a:xfrm>
          <a:prstGeom prst="rect">
            <a:avLst/>
          </a:prstGeom>
          <a:noFill/>
        </p:spPr>
        <p:txBody>
          <a:bodyPr wrap="square" lIns="0" tIns="0" rIns="0" bIns="0" anchor="ctr">
            <a:spAutoFit/>
          </a:bodyPr>
          <a:lstStyle/>
          <a:p>
            <a:pPr algn="ctr"/>
            <a:r>
              <a:rPr lang="es-CO" sz="850" b="1" i="0">
                <a:solidFill>
                  <a:srgbClr val="6C7E96"/>
                </a:solidFill>
                <a:latin typeface="Arial"/>
              </a:rPr>
              <a:t>predicado</a:t>
            </a:r>
          </a:p>
        </p:txBody>
      </p:sp>
      <p:sp>
        <p:nvSpPr>
          <p:cNvPr id="22" name="Rounded Rectangle 21"/>
          <p:cNvSpPr/>
          <p:nvPr/>
        </p:nvSpPr>
        <p:spPr>
          <a:xfrm>
            <a:off x="1874520" y="2304288"/>
            <a:ext cx="1280160" cy="347472"/>
          </a:xfrm>
          <a:prstGeom prst="roundRect">
            <a:avLst>
              <a:gd name="adj" fmla="val 8000"/>
            </a:avLst>
          </a:prstGeom>
          <a:solidFill>
            <a:srgbClr val="070C14"/>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1874520" y="2304288"/>
            <a:ext cx="1280160" cy="347472"/>
          </a:xfrm>
          <a:prstGeom prst="rect">
            <a:avLst/>
          </a:prstGeom>
          <a:noFill/>
        </p:spPr>
        <p:txBody>
          <a:bodyPr wrap="square" lIns="0" tIns="0" rIns="0" bIns="0" anchor="ctr">
            <a:spAutoFit/>
          </a:bodyPr>
          <a:lstStyle/>
          <a:p>
            <a:pPr algn="ctr"/>
            <a:r>
              <a:rPr lang="es-CO" sz="850" b="1" i="0">
                <a:solidFill>
                  <a:srgbClr val="56C7F2"/>
                </a:solidFill>
                <a:latin typeface="Courier New"/>
              </a:rPr>
              <a:t>sw:realiza</a:t>
            </a:r>
          </a:p>
        </p:txBody>
      </p:sp>
      <p:sp>
        <p:nvSpPr>
          <p:cNvPr id="24" name="TextBox 23"/>
          <p:cNvSpPr txBox="1"/>
          <p:nvPr/>
        </p:nvSpPr>
        <p:spPr>
          <a:xfrm>
            <a:off x="3246120" y="2103120"/>
            <a:ext cx="1280160" cy="182880"/>
          </a:xfrm>
          <a:prstGeom prst="rect">
            <a:avLst/>
          </a:prstGeom>
          <a:noFill/>
        </p:spPr>
        <p:txBody>
          <a:bodyPr wrap="square" lIns="0" tIns="0" rIns="0" bIns="0" anchor="ctr">
            <a:spAutoFit/>
          </a:bodyPr>
          <a:lstStyle/>
          <a:p>
            <a:pPr algn="ctr"/>
            <a:r>
              <a:rPr lang="es-CO" sz="850" b="1" i="0">
                <a:solidFill>
                  <a:srgbClr val="6C7E96"/>
                </a:solidFill>
                <a:latin typeface="Arial"/>
              </a:rPr>
              <a:t>objeto</a:t>
            </a:r>
          </a:p>
        </p:txBody>
      </p:sp>
      <p:sp>
        <p:nvSpPr>
          <p:cNvPr id="25" name="Rounded Rectangle 24"/>
          <p:cNvSpPr/>
          <p:nvPr/>
        </p:nvSpPr>
        <p:spPr>
          <a:xfrm>
            <a:off x="3246120" y="2304288"/>
            <a:ext cx="1280160" cy="347472"/>
          </a:xfrm>
          <a:prstGeom prst="roundRect">
            <a:avLst>
              <a:gd name="adj" fmla="val 8000"/>
            </a:avLst>
          </a:prstGeom>
          <a:solidFill>
            <a:srgbClr val="070C1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3246120" y="2304288"/>
            <a:ext cx="1280160" cy="347472"/>
          </a:xfrm>
          <a:prstGeom prst="rect">
            <a:avLst/>
          </a:prstGeom>
          <a:noFill/>
        </p:spPr>
        <p:txBody>
          <a:bodyPr wrap="square" lIns="0" tIns="0" rIns="0" bIns="0" anchor="ctr">
            <a:spAutoFit/>
          </a:bodyPr>
          <a:lstStyle/>
          <a:p>
            <a:pPr algn="ctr"/>
            <a:r>
              <a:rPr lang="es-CO" sz="850" b="1" i="0">
                <a:solidFill>
                  <a:srgbClr val="D7E1EE"/>
                </a:solidFill>
                <a:latin typeface="Courier New"/>
              </a:rPr>
              <a:t>sw:solicitud001</a:t>
            </a:r>
          </a:p>
        </p:txBody>
      </p:sp>
      <p:graphicFrame>
        <p:nvGraphicFramePr>
          <p:cNvPr id="27" name="Table 26"/>
          <p:cNvGraphicFramePr>
            <a:graphicFrameLocks noGrp="1"/>
          </p:cNvGraphicFramePr>
          <p:nvPr/>
        </p:nvGraphicFramePr>
        <p:xfrm>
          <a:off x="502920" y="2788920"/>
          <a:ext cx="4023360" cy="1572768"/>
        </p:xfrm>
        <a:graphic>
          <a:graphicData uri="http://schemas.openxmlformats.org/drawingml/2006/table">
            <a:tbl>
              <a:tblPr>
                <a:tableStyleId>{2D5ABB26-0587-4C30-8999-92F81FD0307C}</a:tableStyleId>
              </a:tblPr>
              <a:tblGrid>
                <a:gridCol w="86868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965960">
                  <a:extLst>
                    <a:ext uri="{9D8B030D-6E8A-4147-A177-3AD203B41FA5}">
                      <a16:colId xmlns:a16="http://schemas.microsoft.com/office/drawing/2014/main" val="20002"/>
                    </a:ext>
                  </a:extLst>
                </a:gridCol>
              </a:tblGrid>
              <a:tr h="274320">
                <a:tc>
                  <a:txBody>
                    <a:bodyPr/>
                    <a:lstStyle/>
                    <a:p>
                      <a:r>
                        <a:rPr lang="es-CO" sz="900" b="1" i="0">
                          <a:solidFill>
                            <a:srgbClr val="3DDC97"/>
                          </a:solidFill>
                          <a:latin typeface="Arial"/>
                        </a:rPr>
                        <a:t>Sujeto</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3233A"/>
                    </a:solidFill>
                  </a:tcPr>
                </a:tc>
                <a:tc>
                  <a:txBody>
                    <a:bodyPr/>
                    <a:lstStyle/>
                    <a:p>
                      <a:r>
                        <a:rPr lang="es-CO" sz="900" b="1" i="0">
                          <a:solidFill>
                            <a:srgbClr val="3DDC97"/>
                          </a:solidFill>
                          <a:latin typeface="Arial"/>
                        </a:rPr>
                        <a:t>Predicado</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3233A"/>
                    </a:solidFill>
                  </a:tcPr>
                </a:tc>
                <a:tc>
                  <a:txBody>
                    <a:bodyPr/>
                    <a:lstStyle/>
                    <a:p>
                      <a:r>
                        <a:rPr lang="es-CO" sz="900" b="1" i="0">
                          <a:solidFill>
                            <a:srgbClr val="3DDC97"/>
                          </a:solidFill>
                          <a:latin typeface="Arial"/>
                        </a:rPr>
                        <a:t>Objeto</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3233A"/>
                    </a:solidFill>
                  </a:tcPr>
                </a:tc>
                <a:extLst>
                  <a:ext uri="{0D108BD9-81ED-4DB2-BD59-A6C34878D82A}">
                    <a16:rowId xmlns:a16="http://schemas.microsoft.com/office/drawing/2014/main" val="10000"/>
                  </a:ext>
                </a:extLst>
              </a:tr>
              <a:tr h="324612">
                <a:tc>
                  <a:txBody>
                    <a:bodyPr/>
                    <a:lstStyle/>
                    <a:p>
                      <a:r>
                        <a:rPr lang="es-CO" sz="850" b="0" i="0">
                          <a:solidFill>
                            <a:srgbClr val="E8EEF6"/>
                          </a:solidFill>
                          <a:latin typeface="Courier New"/>
                        </a:rPr>
                        <a:t>sw:ana</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A2434"/>
                    </a:solidFill>
                  </a:tcPr>
                </a:tc>
                <a:tc>
                  <a:txBody>
                    <a:bodyPr/>
                    <a:lstStyle/>
                    <a:p>
                      <a:r>
                        <a:rPr lang="es-CO" sz="850" b="0" i="0">
                          <a:solidFill>
                            <a:srgbClr val="FFB86C"/>
                          </a:solidFill>
                          <a:latin typeface="Courier New"/>
                        </a:rPr>
                        <a:t>a</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A2434"/>
                    </a:solidFill>
                  </a:tcPr>
                </a:tc>
                <a:tc>
                  <a:txBody>
                    <a:bodyPr/>
                    <a:lstStyle/>
                    <a:p>
                      <a:r>
                        <a:rPr lang="es-CO" sz="850" b="0" i="0">
                          <a:solidFill>
                            <a:srgbClr val="3DDC97"/>
                          </a:solidFill>
                          <a:latin typeface="Courier New"/>
                        </a:rPr>
                        <a:t>sw:Contacto</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A2434"/>
                    </a:solidFill>
                  </a:tcPr>
                </a:tc>
                <a:extLst>
                  <a:ext uri="{0D108BD9-81ED-4DB2-BD59-A6C34878D82A}">
                    <a16:rowId xmlns:a16="http://schemas.microsoft.com/office/drawing/2014/main" val="10001"/>
                  </a:ext>
                </a:extLst>
              </a:tr>
              <a:tr h="324612">
                <a:tc>
                  <a:txBody>
                    <a:bodyPr/>
                    <a:lstStyle/>
                    <a:p>
                      <a:r>
                        <a:rPr lang="es-CO" sz="850" b="0" i="0">
                          <a:solidFill>
                            <a:srgbClr val="E8EEF6"/>
                          </a:solidFill>
                          <a:latin typeface="Courier New"/>
                        </a:rPr>
                        <a:t>sw:ana</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41E2D"/>
                    </a:solidFill>
                  </a:tcPr>
                </a:tc>
                <a:tc>
                  <a:txBody>
                    <a:bodyPr/>
                    <a:lstStyle/>
                    <a:p>
                      <a:r>
                        <a:rPr lang="es-CO" sz="850" b="0" i="0">
                          <a:solidFill>
                            <a:srgbClr val="56C7F2"/>
                          </a:solidFill>
                          <a:latin typeface="Courier New"/>
                        </a:rPr>
                        <a:t>sw:nombre</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41E2D"/>
                    </a:solidFill>
                  </a:tcPr>
                </a:tc>
                <a:tc>
                  <a:txBody>
                    <a:bodyPr/>
                    <a:lstStyle/>
                    <a:p>
                      <a:r>
                        <a:rPr lang="es-CO" sz="850" b="0" i="0">
                          <a:solidFill>
                            <a:srgbClr val="FFD479"/>
                          </a:solidFill>
                          <a:latin typeface="Courier New"/>
                        </a:rPr>
                        <a:t>"Ana"</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41E2D"/>
                    </a:solidFill>
                  </a:tcPr>
                </a:tc>
                <a:extLst>
                  <a:ext uri="{0D108BD9-81ED-4DB2-BD59-A6C34878D82A}">
                    <a16:rowId xmlns:a16="http://schemas.microsoft.com/office/drawing/2014/main" val="10002"/>
                  </a:ext>
                </a:extLst>
              </a:tr>
              <a:tr h="324612">
                <a:tc>
                  <a:txBody>
                    <a:bodyPr/>
                    <a:lstStyle/>
                    <a:p>
                      <a:r>
                        <a:rPr lang="es-CO" sz="850" b="0" i="0">
                          <a:solidFill>
                            <a:srgbClr val="E8EEF6"/>
                          </a:solidFill>
                          <a:latin typeface="Courier New"/>
                        </a:rPr>
                        <a:t>sw:ana</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A2434"/>
                    </a:solidFill>
                  </a:tcPr>
                </a:tc>
                <a:tc>
                  <a:txBody>
                    <a:bodyPr/>
                    <a:lstStyle/>
                    <a:p>
                      <a:r>
                        <a:rPr lang="es-CO" sz="850" b="0" i="0">
                          <a:solidFill>
                            <a:srgbClr val="56C7F2"/>
                          </a:solidFill>
                          <a:latin typeface="Courier New"/>
                        </a:rPr>
                        <a:t>sw:correo</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A2434"/>
                    </a:solidFill>
                  </a:tcPr>
                </a:tc>
                <a:tc>
                  <a:txBody>
                    <a:bodyPr/>
                    <a:lstStyle/>
                    <a:p>
                      <a:r>
                        <a:rPr lang="es-CO" sz="850" b="0" i="0">
                          <a:solidFill>
                            <a:srgbClr val="FFD479"/>
                          </a:solidFill>
                          <a:latin typeface="Courier New"/>
                        </a:rPr>
                        <a:t>"ana@example.com"</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A2434"/>
                    </a:solidFill>
                  </a:tcPr>
                </a:tc>
                <a:extLst>
                  <a:ext uri="{0D108BD9-81ED-4DB2-BD59-A6C34878D82A}">
                    <a16:rowId xmlns:a16="http://schemas.microsoft.com/office/drawing/2014/main" val="10003"/>
                  </a:ext>
                </a:extLst>
              </a:tr>
              <a:tr h="324612">
                <a:tc>
                  <a:txBody>
                    <a:bodyPr/>
                    <a:lstStyle/>
                    <a:p>
                      <a:r>
                        <a:rPr lang="es-CO" sz="850" b="0" i="0">
                          <a:solidFill>
                            <a:srgbClr val="E8EEF6"/>
                          </a:solidFill>
                          <a:latin typeface="Courier New"/>
                        </a:rPr>
                        <a:t>sw:ana</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41E2D"/>
                    </a:solidFill>
                  </a:tcPr>
                </a:tc>
                <a:tc>
                  <a:txBody>
                    <a:bodyPr/>
                    <a:lstStyle/>
                    <a:p>
                      <a:r>
                        <a:rPr lang="es-CO" sz="850" b="0" i="0">
                          <a:solidFill>
                            <a:srgbClr val="56C7F2"/>
                          </a:solidFill>
                          <a:latin typeface="Courier New"/>
                        </a:rPr>
                        <a:t>sw:realiza</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41E2D"/>
                    </a:solidFill>
                  </a:tcPr>
                </a:tc>
                <a:tc>
                  <a:txBody>
                    <a:bodyPr/>
                    <a:lstStyle/>
                    <a:p>
                      <a:r>
                        <a:rPr lang="es-CO" sz="850" b="0" i="0">
                          <a:solidFill>
                            <a:srgbClr val="E8EEF6"/>
                          </a:solidFill>
                          <a:latin typeface="Courier New"/>
                        </a:rPr>
                        <a:t>sw:solicitud001</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41E2D"/>
                    </a:solidFill>
                  </a:tcPr>
                </a:tc>
                <a:extLst>
                  <a:ext uri="{0D108BD9-81ED-4DB2-BD59-A6C34878D82A}">
                    <a16:rowId xmlns:a16="http://schemas.microsoft.com/office/drawing/2014/main" val="10004"/>
                  </a:ext>
                </a:extLst>
              </a:tr>
            </a:tbl>
          </a:graphicData>
        </a:graphic>
      </p:graphicFrame>
      <p:sp>
        <p:nvSpPr>
          <p:cNvPr id="28" name="Rounded Rectangle 27"/>
          <p:cNvSpPr/>
          <p:nvPr/>
        </p:nvSpPr>
        <p:spPr>
          <a:xfrm>
            <a:off x="4663440" y="2103120"/>
            <a:ext cx="3977640" cy="1572768"/>
          </a:xfrm>
          <a:prstGeom prst="roundRect">
            <a:avLst>
              <a:gd name="adj" fmla="val 8000"/>
            </a:avLst>
          </a:prstGeom>
          <a:solidFill>
            <a:srgbClr val="070C1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4809744" y="2176272"/>
            <a:ext cx="3685032" cy="182880"/>
          </a:xfrm>
          <a:prstGeom prst="rect">
            <a:avLst/>
          </a:prstGeom>
          <a:noFill/>
        </p:spPr>
        <p:txBody>
          <a:bodyPr wrap="square" lIns="0" tIns="0" rIns="0" bIns="0" anchor="ctr">
            <a:spAutoFit/>
          </a:bodyPr>
          <a:lstStyle/>
          <a:p>
            <a:pPr algn="l"/>
            <a:r>
              <a:rPr lang="es-CO" sz="950" b="1" i="0">
                <a:solidFill>
                  <a:srgbClr val="3DDC97"/>
                </a:solidFill>
                <a:latin typeface="Courier New"/>
              </a:rPr>
              <a:t>ana.ttl</a:t>
            </a:r>
          </a:p>
        </p:txBody>
      </p:sp>
      <p:sp>
        <p:nvSpPr>
          <p:cNvPr id="30" name="TextBox 29"/>
          <p:cNvSpPr txBox="1"/>
          <p:nvPr/>
        </p:nvSpPr>
        <p:spPr>
          <a:xfrm>
            <a:off x="4809744" y="2377440"/>
            <a:ext cx="3685032" cy="1243584"/>
          </a:xfrm>
          <a:prstGeom prst="rect">
            <a:avLst/>
          </a:prstGeom>
          <a:noFill/>
        </p:spPr>
        <p:txBody>
          <a:bodyPr wrap="square" lIns="0" tIns="0" rIns="0" bIns="0" anchor="t">
            <a:spAutoFit/>
          </a:bodyPr>
          <a:lstStyle/>
          <a:p>
            <a:pPr algn="l"/>
            <a:r>
              <a:rPr lang="es-CO" sz="900" b="0" i="0">
                <a:solidFill>
                  <a:srgbClr val="FFB86C"/>
                </a:solidFill>
                <a:latin typeface="Courier New"/>
              </a:rPr>
              <a:t>@prefix</a:t>
            </a:r>
            <a:r>
              <a:rPr lang="es-CO" sz="900" b="0" i="0">
                <a:solidFill>
                  <a:srgbClr val="D7E1EE"/>
                </a:solidFill>
                <a:latin typeface="Courier New"/>
              </a:rPr>
              <a:t> </a:t>
            </a:r>
            <a:r>
              <a:rPr lang="es-CO" sz="900" b="0" i="0">
                <a:solidFill>
                  <a:srgbClr val="56C7F2"/>
                </a:solidFill>
                <a:latin typeface="Courier New"/>
              </a:rPr>
              <a:t>sw:</a:t>
            </a:r>
            <a:r>
              <a:rPr lang="es-CO" sz="900" b="0" i="0">
                <a:solidFill>
                  <a:srgbClr val="D7E1EE"/>
                </a:solidFill>
                <a:latin typeface="Courier New"/>
              </a:rPr>
              <a:t> </a:t>
            </a:r>
            <a:r>
              <a:rPr lang="es-CO" sz="900" b="0" i="0">
                <a:solidFill>
                  <a:srgbClr val="93A5BD"/>
                </a:solidFill>
                <a:latin typeface="Courier New"/>
              </a:rPr>
              <a:t>&lt;http://example.org/soporte-web#&gt;</a:t>
            </a:r>
            <a:r>
              <a:rPr lang="es-CO" sz="900" b="0" i="0">
                <a:solidFill>
                  <a:srgbClr val="D7E1EE"/>
                </a:solidFill>
                <a:latin typeface="Courier New"/>
              </a:rPr>
              <a:t> </a:t>
            </a:r>
            <a:r>
              <a:rPr lang="es-CO" sz="900" b="0" i="0">
                <a:solidFill>
                  <a:srgbClr val="93A5BD"/>
                </a:solidFill>
                <a:latin typeface="Courier New"/>
              </a:rPr>
              <a:t>.</a:t>
            </a:r>
          </a:p>
          <a:p>
            <a:pPr algn="l"/>
            <a:r>
              <a:rPr lang="es-CO" sz="900" b="0" i="0">
                <a:solidFill>
                  <a:srgbClr val="E8EEF6"/>
                </a:solidFill>
                <a:latin typeface="Courier New"/>
              </a:rPr>
              <a:t> </a:t>
            </a:r>
          </a:p>
          <a:p>
            <a:pPr algn="l"/>
            <a:r>
              <a:rPr lang="es-CO" sz="900" b="0" i="0">
                <a:solidFill>
                  <a:srgbClr val="D7E1EE"/>
                </a:solidFill>
                <a:latin typeface="Courier New"/>
              </a:rPr>
              <a:t>sw:ana </a:t>
            </a:r>
            <a:r>
              <a:rPr lang="es-CO" sz="900" b="0" i="0">
                <a:solidFill>
                  <a:srgbClr val="FFB86C"/>
                </a:solidFill>
                <a:latin typeface="Courier New"/>
              </a:rPr>
              <a:t>a</a:t>
            </a:r>
            <a:r>
              <a:rPr lang="es-CO" sz="900" b="0" i="0">
                <a:solidFill>
                  <a:srgbClr val="D7E1EE"/>
                </a:solidFill>
                <a:latin typeface="Courier New"/>
              </a:rPr>
              <a:t> </a:t>
            </a:r>
            <a:r>
              <a:rPr lang="es-CO" sz="900" b="0" i="0">
                <a:solidFill>
                  <a:srgbClr val="3DDC97"/>
                </a:solidFill>
                <a:latin typeface="Courier New"/>
              </a:rPr>
              <a:t>sw:Contacto</a:t>
            </a:r>
            <a:r>
              <a:rPr lang="es-CO" sz="900" b="0" i="0">
                <a:solidFill>
                  <a:srgbClr val="D7E1EE"/>
                </a:solidFill>
                <a:latin typeface="Courier New"/>
              </a:rPr>
              <a:t> </a:t>
            </a:r>
            <a:r>
              <a:rPr lang="es-CO" sz="900" b="0" i="0">
                <a:solidFill>
                  <a:srgbClr val="93A5BD"/>
                </a:solidFill>
                <a:latin typeface="Courier New"/>
              </a:rPr>
              <a:t>;</a:t>
            </a:r>
          </a:p>
          <a:p>
            <a:pPr algn="l"/>
            <a:r>
              <a:rPr lang="es-CO" sz="900" b="0" i="0">
                <a:solidFill>
                  <a:srgbClr val="D7E1EE"/>
                </a:solidFill>
                <a:latin typeface="Courier New"/>
              </a:rPr>
              <a:t>    </a:t>
            </a:r>
            <a:r>
              <a:rPr lang="es-CO" sz="900" b="0" i="0">
                <a:solidFill>
                  <a:srgbClr val="56C7F2"/>
                </a:solidFill>
                <a:latin typeface="Courier New"/>
              </a:rPr>
              <a:t>sw:nombre</a:t>
            </a:r>
            <a:r>
              <a:rPr lang="es-CO" sz="900" b="0" i="0">
                <a:solidFill>
                  <a:srgbClr val="D7E1EE"/>
                </a:solidFill>
                <a:latin typeface="Courier New"/>
              </a:rPr>
              <a:t> </a:t>
            </a:r>
            <a:r>
              <a:rPr lang="es-CO" sz="900" b="0" i="0">
                <a:solidFill>
                  <a:srgbClr val="FFD479"/>
                </a:solidFill>
                <a:latin typeface="Courier New"/>
              </a:rPr>
              <a:t>"Ana"</a:t>
            </a:r>
            <a:r>
              <a:rPr lang="es-CO" sz="900" b="0" i="0">
                <a:solidFill>
                  <a:srgbClr val="D7E1EE"/>
                </a:solidFill>
                <a:latin typeface="Courier New"/>
              </a:rPr>
              <a:t> </a:t>
            </a:r>
            <a:r>
              <a:rPr lang="es-CO" sz="900" b="0" i="0">
                <a:solidFill>
                  <a:srgbClr val="93A5BD"/>
                </a:solidFill>
                <a:latin typeface="Courier New"/>
              </a:rPr>
              <a:t>;</a:t>
            </a:r>
          </a:p>
          <a:p>
            <a:pPr algn="l"/>
            <a:r>
              <a:rPr lang="es-CO" sz="900" b="0" i="0">
                <a:solidFill>
                  <a:srgbClr val="D7E1EE"/>
                </a:solidFill>
                <a:latin typeface="Courier New"/>
              </a:rPr>
              <a:t>    </a:t>
            </a:r>
            <a:r>
              <a:rPr lang="es-CO" sz="900" b="0" i="0">
                <a:solidFill>
                  <a:srgbClr val="56C7F2"/>
                </a:solidFill>
                <a:latin typeface="Courier New"/>
              </a:rPr>
              <a:t>sw:correo</a:t>
            </a:r>
            <a:r>
              <a:rPr lang="es-CO" sz="900" b="0" i="0">
                <a:solidFill>
                  <a:srgbClr val="D7E1EE"/>
                </a:solidFill>
                <a:latin typeface="Courier New"/>
              </a:rPr>
              <a:t> </a:t>
            </a:r>
            <a:r>
              <a:rPr lang="es-CO" sz="900" b="0" i="0">
                <a:solidFill>
                  <a:srgbClr val="FFD479"/>
                </a:solidFill>
                <a:latin typeface="Courier New"/>
              </a:rPr>
              <a:t>"ana@example.com"</a:t>
            </a:r>
            <a:r>
              <a:rPr lang="es-CO" sz="900" b="0" i="0">
                <a:solidFill>
                  <a:srgbClr val="D7E1EE"/>
                </a:solidFill>
                <a:latin typeface="Courier New"/>
              </a:rPr>
              <a:t> </a:t>
            </a:r>
            <a:r>
              <a:rPr lang="es-CO" sz="900" b="0" i="0">
                <a:solidFill>
                  <a:srgbClr val="93A5BD"/>
                </a:solidFill>
                <a:latin typeface="Courier New"/>
              </a:rPr>
              <a:t>;</a:t>
            </a:r>
          </a:p>
          <a:p>
            <a:pPr algn="l"/>
            <a:r>
              <a:rPr lang="es-CO" sz="900" b="0" i="0">
                <a:solidFill>
                  <a:srgbClr val="D7E1EE"/>
                </a:solidFill>
                <a:latin typeface="Courier New"/>
              </a:rPr>
              <a:t>    </a:t>
            </a:r>
            <a:r>
              <a:rPr lang="es-CO" sz="900" b="0" i="0">
                <a:solidFill>
                  <a:srgbClr val="56C7F2"/>
                </a:solidFill>
                <a:latin typeface="Courier New"/>
              </a:rPr>
              <a:t>sw:realiza</a:t>
            </a:r>
            <a:r>
              <a:rPr lang="es-CO" sz="900" b="0" i="0">
                <a:solidFill>
                  <a:srgbClr val="D7E1EE"/>
                </a:solidFill>
                <a:latin typeface="Courier New"/>
              </a:rPr>
              <a:t> sw:solicitud001 </a:t>
            </a:r>
            <a:r>
              <a:rPr lang="es-CO" sz="900" b="0" i="0">
                <a:solidFill>
                  <a:srgbClr val="93A5BD"/>
                </a:solidFill>
                <a:latin typeface="Courier New"/>
              </a:rPr>
              <a:t>.</a:t>
            </a:r>
          </a:p>
        </p:txBody>
      </p:sp>
      <p:sp>
        <p:nvSpPr>
          <p:cNvPr id="31" name="Rounded Rectangle 30"/>
          <p:cNvSpPr/>
          <p:nvPr/>
        </p:nvSpPr>
        <p:spPr>
          <a:xfrm>
            <a:off x="4663440" y="3767328"/>
            <a:ext cx="1938528" cy="329184"/>
          </a:xfrm>
          <a:prstGeom prst="roundRect">
            <a:avLst>
              <a:gd name="adj" fmla="val 8000"/>
            </a:avLst>
          </a:prstGeom>
          <a:solidFill>
            <a:srgbClr val="1A243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4736592" y="3767328"/>
            <a:ext cx="566928" cy="329184"/>
          </a:xfrm>
          <a:prstGeom prst="rect">
            <a:avLst/>
          </a:prstGeom>
          <a:noFill/>
        </p:spPr>
        <p:txBody>
          <a:bodyPr wrap="square" lIns="0" tIns="0" rIns="0" bIns="0" anchor="ctr">
            <a:spAutoFit/>
          </a:bodyPr>
          <a:lstStyle/>
          <a:p>
            <a:pPr algn="l"/>
            <a:r>
              <a:rPr lang="es-CO" sz="850" b="1" i="0">
                <a:solidFill>
                  <a:srgbClr val="FFB86C"/>
                </a:solidFill>
                <a:latin typeface="Courier New"/>
              </a:rPr>
              <a:t>@prefix</a:t>
            </a:r>
          </a:p>
        </p:txBody>
      </p:sp>
      <p:sp>
        <p:nvSpPr>
          <p:cNvPr id="33" name="TextBox 32"/>
          <p:cNvSpPr txBox="1"/>
          <p:nvPr/>
        </p:nvSpPr>
        <p:spPr>
          <a:xfrm>
            <a:off x="5321808" y="3767328"/>
            <a:ext cx="1243584" cy="329184"/>
          </a:xfrm>
          <a:prstGeom prst="rect">
            <a:avLst/>
          </a:prstGeom>
          <a:noFill/>
        </p:spPr>
        <p:txBody>
          <a:bodyPr wrap="square" lIns="0" tIns="0" rIns="0" bIns="0" anchor="ctr">
            <a:spAutoFit/>
          </a:bodyPr>
          <a:lstStyle/>
          <a:p>
            <a:pPr algn="l"/>
            <a:r>
              <a:rPr lang="es-CO" sz="850" b="0" i="0">
                <a:solidFill>
                  <a:srgbClr val="E8EEF6"/>
                </a:solidFill>
                <a:latin typeface="Calibri"/>
              </a:rPr>
              <a:t>abrevia un IRI</a:t>
            </a:r>
          </a:p>
        </p:txBody>
      </p:sp>
      <p:sp>
        <p:nvSpPr>
          <p:cNvPr id="34" name="Rounded Rectangle 33"/>
          <p:cNvSpPr/>
          <p:nvPr/>
        </p:nvSpPr>
        <p:spPr>
          <a:xfrm>
            <a:off x="6675120" y="3767328"/>
            <a:ext cx="1938528" cy="329184"/>
          </a:xfrm>
          <a:prstGeom prst="roundRect">
            <a:avLst>
              <a:gd name="adj" fmla="val 8000"/>
            </a:avLst>
          </a:prstGeom>
          <a:solidFill>
            <a:srgbClr val="1A243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6748272" y="3767328"/>
            <a:ext cx="566928" cy="329184"/>
          </a:xfrm>
          <a:prstGeom prst="rect">
            <a:avLst/>
          </a:prstGeom>
          <a:noFill/>
        </p:spPr>
        <p:txBody>
          <a:bodyPr wrap="square" lIns="0" tIns="0" rIns="0" bIns="0" anchor="ctr">
            <a:spAutoFit/>
          </a:bodyPr>
          <a:lstStyle/>
          <a:p>
            <a:pPr algn="l"/>
            <a:r>
              <a:rPr lang="es-CO" sz="850" b="1" i="0">
                <a:solidFill>
                  <a:srgbClr val="FFB86C"/>
                </a:solidFill>
                <a:latin typeface="Courier New"/>
              </a:rPr>
              <a:t>a</a:t>
            </a:r>
          </a:p>
        </p:txBody>
      </p:sp>
      <p:sp>
        <p:nvSpPr>
          <p:cNvPr id="36" name="TextBox 35"/>
          <p:cNvSpPr txBox="1"/>
          <p:nvPr/>
        </p:nvSpPr>
        <p:spPr>
          <a:xfrm>
            <a:off x="7333488" y="3767328"/>
            <a:ext cx="1243584" cy="329184"/>
          </a:xfrm>
          <a:prstGeom prst="rect">
            <a:avLst/>
          </a:prstGeom>
          <a:noFill/>
        </p:spPr>
        <p:txBody>
          <a:bodyPr wrap="square" lIns="0" tIns="0" rIns="0" bIns="0" anchor="ctr">
            <a:spAutoFit/>
          </a:bodyPr>
          <a:lstStyle/>
          <a:p>
            <a:pPr algn="l"/>
            <a:r>
              <a:rPr lang="es-CO" sz="850" b="0" i="0">
                <a:solidFill>
                  <a:srgbClr val="E8EEF6"/>
                </a:solidFill>
                <a:latin typeface="Calibri"/>
              </a:rPr>
              <a:t>equivale a rdf:type</a:t>
            </a:r>
          </a:p>
        </p:txBody>
      </p:sp>
      <p:sp>
        <p:nvSpPr>
          <p:cNvPr id="37" name="Rounded Rectangle 36"/>
          <p:cNvSpPr/>
          <p:nvPr/>
        </p:nvSpPr>
        <p:spPr>
          <a:xfrm>
            <a:off x="4663440" y="4151376"/>
            <a:ext cx="1938528" cy="329184"/>
          </a:xfrm>
          <a:prstGeom prst="roundRect">
            <a:avLst>
              <a:gd name="adj" fmla="val 8000"/>
            </a:avLst>
          </a:prstGeom>
          <a:solidFill>
            <a:srgbClr val="1A243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4736592" y="4151376"/>
            <a:ext cx="566928" cy="329184"/>
          </a:xfrm>
          <a:prstGeom prst="rect">
            <a:avLst/>
          </a:prstGeom>
          <a:noFill/>
        </p:spPr>
        <p:txBody>
          <a:bodyPr wrap="square" lIns="0" tIns="0" rIns="0" bIns="0" anchor="ctr">
            <a:spAutoFit/>
          </a:bodyPr>
          <a:lstStyle/>
          <a:p>
            <a:pPr algn="l"/>
            <a:r>
              <a:rPr lang="es-CO" sz="850" b="1" i="0">
                <a:solidFill>
                  <a:srgbClr val="FFB86C"/>
                </a:solidFill>
                <a:latin typeface="Courier New"/>
              </a:rPr>
              <a:t>;</a:t>
            </a:r>
          </a:p>
        </p:txBody>
      </p:sp>
      <p:sp>
        <p:nvSpPr>
          <p:cNvPr id="39" name="TextBox 38"/>
          <p:cNvSpPr txBox="1"/>
          <p:nvPr/>
        </p:nvSpPr>
        <p:spPr>
          <a:xfrm>
            <a:off x="5321808" y="4151376"/>
            <a:ext cx="1243584" cy="329184"/>
          </a:xfrm>
          <a:prstGeom prst="rect">
            <a:avLst/>
          </a:prstGeom>
          <a:noFill/>
        </p:spPr>
        <p:txBody>
          <a:bodyPr wrap="square" lIns="0" tIns="0" rIns="0" bIns="0" anchor="ctr">
            <a:spAutoFit/>
          </a:bodyPr>
          <a:lstStyle/>
          <a:p>
            <a:pPr algn="l"/>
            <a:r>
              <a:rPr lang="es-CO" sz="850" b="0" i="0">
                <a:solidFill>
                  <a:srgbClr val="E8EEF6"/>
                </a:solidFill>
                <a:latin typeface="Calibri"/>
              </a:rPr>
              <a:t>mismo sujeto, otra afirmación</a:t>
            </a:r>
          </a:p>
        </p:txBody>
      </p:sp>
      <p:sp>
        <p:nvSpPr>
          <p:cNvPr id="40" name="Rounded Rectangle 39"/>
          <p:cNvSpPr/>
          <p:nvPr/>
        </p:nvSpPr>
        <p:spPr>
          <a:xfrm>
            <a:off x="6675120" y="4151376"/>
            <a:ext cx="1938528" cy="329184"/>
          </a:xfrm>
          <a:prstGeom prst="roundRect">
            <a:avLst>
              <a:gd name="adj" fmla="val 8000"/>
            </a:avLst>
          </a:prstGeom>
          <a:solidFill>
            <a:srgbClr val="1A243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6748272" y="4151376"/>
            <a:ext cx="566928" cy="329184"/>
          </a:xfrm>
          <a:prstGeom prst="rect">
            <a:avLst/>
          </a:prstGeom>
          <a:noFill/>
        </p:spPr>
        <p:txBody>
          <a:bodyPr wrap="square" lIns="0" tIns="0" rIns="0" bIns="0" anchor="ctr">
            <a:spAutoFit/>
          </a:bodyPr>
          <a:lstStyle/>
          <a:p>
            <a:pPr algn="l"/>
            <a:r>
              <a:rPr lang="es-CO" sz="850" b="1" i="0">
                <a:solidFill>
                  <a:srgbClr val="FFB86C"/>
                </a:solidFill>
                <a:latin typeface="Courier New"/>
              </a:rPr>
              <a:t>.</a:t>
            </a:r>
          </a:p>
        </p:txBody>
      </p:sp>
      <p:sp>
        <p:nvSpPr>
          <p:cNvPr id="42" name="TextBox 41"/>
          <p:cNvSpPr txBox="1"/>
          <p:nvPr/>
        </p:nvSpPr>
        <p:spPr>
          <a:xfrm>
            <a:off x="7333488" y="4151376"/>
            <a:ext cx="1243584" cy="329184"/>
          </a:xfrm>
          <a:prstGeom prst="rect">
            <a:avLst/>
          </a:prstGeom>
          <a:noFill/>
        </p:spPr>
        <p:txBody>
          <a:bodyPr wrap="square" lIns="0" tIns="0" rIns="0" bIns="0" anchor="ctr">
            <a:spAutoFit/>
          </a:bodyPr>
          <a:lstStyle/>
          <a:p>
            <a:pPr algn="l"/>
            <a:r>
              <a:rPr lang="es-CO" sz="850" b="0" i="0">
                <a:solidFill>
                  <a:srgbClr val="E8EEF6"/>
                </a:solidFill>
                <a:latin typeface="Calibri"/>
              </a:rPr>
              <a:t>termina la descripción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A101B"/>
        </a:solidFill>
        <a:effectLst/>
      </p:bgPr>
    </p:bg>
    <p:spTree>
      <p:nvGrpSpPr>
        <p:cNvPr id="1" name=""/>
        <p:cNvGrpSpPr/>
        <p:nvPr/>
      </p:nvGrpSpPr>
      <p:grpSpPr>
        <a:xfrm>
          <a:off x="0" y="0"/>
          <a:ext cx="0" cy="0"/>
          <a:chOff x="0" y="0"/>
          <a:chExt cx="0" cy="0"/>
        </a:xfrm>
      </p:grpSpPr>
      <p:sp>
        <p:nvSpPr>
          <p:cNvPr id="2" name="TextBox 1"/>
          <p:cNvSpPr txBox="1"/>
          <p:nvPr/>
        </p:nvSpPr>
        <p:spPr>
          <a:xfrm>
            <a:off x="6309360" y="4718304"/>
            <a:ext cx="2331720" cy="201168"/>
          </a:xfrm>
          <a:prstGeom prst="rect">
            <a:avLst/>
          </a:prstGeom>
          <a:noFill/>
        </p:spPr>
        <p:txBody>
          <a:bodyPr wrap="square" lIns="0" tIns="0" rIns="0" bIns="0" anchor="ctr">
            <a:spAutoFit/>
          </a:bodyPr>
          <a:lstStyle/>
          <a:p>
            <a:pPr algn="r"/>
            <a:r>
              <a:rPr lang="es-CO" sz="800" b="0" i="0">
                <a:solidFill>
                  <a:srgbClr val="6C7E96"/>
                </a:solidFill>
                <a:latin typeface="Arial"/>
              </a:rPr>
              <a:t>Ingeniería Web  ·  19 / 24</a:t>
            </a:r>
          </a:p>
        </p:txBody>
      </p:sp>
      <p:sp>
        <p:nvSpPr>
          <p:cNvPr id="3" name="Rounded Rectangle 2"/>
          <p:cNvSpPr/>
          <p:nvPr/>
        </p:nvSpPr>
        <p:spPr>
          <a:xfrm>
            <a:off x="502920" y="365760"/>
            <a:ext cx="1783080" cy="228600"/>
          </a:xfrm>
          <a:prstGeom prst="roundRect">
            <a:avLst>
              <a:gd name="adj" fmla="val 50000"/>
            </a:avLst>
          </a:prstGeom>
          <a:solidFill>
            <a:srgbClr val="132A24"/>
          </a:solidFill>
          <a:ln w="952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502920" y="365760"/>
            <a:ext cx="1783080" cy="228600"/>
          </a:xfrm>
          <a:prstGeom prst="rect">
            <a:avLst/>
          </a:prstGeom>
          <a:noFill/>
        </p:spPr>
        <p:txBody>
          <a:bodyPr wrap="square" lIns="0" tIns="0" rIns="0" bIns="0" anchor="ctr">
            <a:spAutoFit/>
          </a:bodyPr>
          <a:lstStyle/>
          <a:p>
            <a:pPr algn="ctr"/>
            <a:r>
              <a:rPr lang="es-CO" sz="850" b="1" i="0">
                <a:solidFill>
                  <a:srgbClr val="3DDC97"/>
                </a:solidFill>
                <a:latin typeface="Arial"/>
              </a:rPr>
              <a:t>CONCEPTO · ONTOLOGÍAS</a:t>
            </a:r>
          </a:p>
        </p:txBody>
      </p:sp>
      <p:sp>
        <p:nvSpPr>
          <p:cNvPr id="5" name="Título"/>
          <p:cNvSpPr txBox="1"/>
          <p:nvPr/>
        </p:nvSpPr>
        <p:spPr>
          <a:xfrm>
            <a:off x="475488" y="658368"/>
            <a:ext cx="8138160" cy="438912"/>
          </a:xfrm>
          <a:prstGeom prst="rect">
            <a:avLst/>
          </a:prstGeom>
          <a:noFill/>
        </p:spPr>
        <p:txBody>
          <a:bodyPr wrap="square" lIns="0" tIns="0" rIns="0" bIns="0" anchor="ctr">
            <a:spAutoFit/>
          </a:bodyPr>
          <a:lstStyle/>
          <a:p>
            <a:pPr algn="l"/>
            <a:r>
              <a:rPr lang="es-CO" sz="2600" b="1" i="0">
                <a:solidFill>
                  <a:srgbClr val="FFFFFF"/>
                </a:solidFill>
                <a:latin typeface="Arial"/>
              </a:rPr>
              <a:t>Subclases e inferencia sencilla</a:t>
            </a:r>
          </a:p>
        </p:txBody>
      </p:sp>
      <p:sp>
        <p:nvSpPr>
          <p:cNvPr id="6" name="Rounded Rectangle 5"/>
          <p:cNvSpPr/>
          <p:nvPr/>
        </p:nvSpPr>
        <p:spPr>
          <a:xfrm>
            <a:off x="502920" y="1234440"/>
            <a:ext cx="3749040" cy="2514600"/>
          </a:xfrm>
          <a:prstGeom prst="roundRect">
            <a:avLst>
              <a:gd name="adj" fmla="val 5000"/>
            </a:avLst>
          </a:prstGeom>
          <a:solidFill>
            <a:srgbClr val="1A243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658368" y="1298448"/>
            <a:ext cx="2743200" cy="219456"/>
          </a:xfrm>
          <a:prstGeom prst="rect">
            <a:avLst/>
          </a:prstGeom>
          <a:noFill/>
        </p:spPr>
        <p:txBody>
          <a:bodyPr wrap="square" lIns="0" tIns="0" rIns="0" bIns="0" anchor="ctr">
            <a:spAutoFit/>
          </a:bodyPr>
          <a:lstStyle/>
          <a:p>
            <a:pPr algn="l"/>
            <a:r>
              <a:rPr lang="es-CO" sz="1100" b="1" i="0">
                <a:solidFill>
                  <a:srgbClr val="3DDC97"/>
                </a:solidFill>
                <a:latin typeface="Courier New"/>
              </a:rPr>
              <a:t>Servicio</a:t>
            </a:r>
          </a:p>
        </p:txBody>
      </p:sp>
      <p:sp>
        <p:nvSpPr>
          <p:cNvPr id="8" name="Rounded Rectangle 7"/>
          <p:cNvSpPr/>
          <p:nvPr/>
        </p:nvSpPr>
        <p:spPr>
          <a:xfrm>
            <a:off x="713232" y="1664208"/>
            <a:ext cx="1691640" cy="1874520"/>
          </a:xfrm>
          <a:prstGeom prst="roundRect">
            <a:avLst>
              <a:gd name="adj" fmla="val 8000"/>
            </a:avLst>
          </a:prstGeom>
          <a:solidFill>
            <a:srgbClr val="13202F"/>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786384" y="1719072"/>
            <a:ext cx="1554480" cy="219456"/>
          </a:xfrm>
          <a:prstGeom prst="rect">
            <a:avLst/>
          </a:prstGeom>
          <a:noFill/>
        </p:spPr>
        <p:txBody>
          <a:bodyPr wrap="square" lIns="0" tIns="0" rIns="0" bIns="0" anchor="ctr">
            <a:spAutoFit/>
          </a:bodyPr>
          <a:lstStyle/>
          <a:p>
            <a:pPr algn="l"/>
            <a:r>
              <a:rPr lang="es-CO" sz="900" b="1" i="0">
                <a:solidFill>
                  <a:srgbClr val="3DDC97"/>
                </a:solidFill>
                <a:latin typeface="Courier New"/>
              </a:rPr>
              <a:t>DesarrolloWeb</a:t>
            </a:r>
          </a:p>
        </p:txBody>
      </p:sp>
      <p:sp>
        <p:nvSpPr>
          <p:cNvPr id="10" name="Rounded Rectangle 9"/>
          <p:cNvSpPr/>
          <p:nvPr/>
        </p:nvSpPr>
        <p:spPr>
          <a:xfrm>
            <a:off x="822960" y="2395728"/>
            <a:ext cx="1472184" cy="365760"/>
          </a:xfrm>
          <a:prstGeom prst="roundRect">
            <a:avLst>
              <a:gd name="adj" fmla="val 50000"/>
            </a:avLst>
          </a:prstGeom>
          <a:solidFill>
            <a:srgbClr val="070C14"/>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22960" y="2395728"/>
            <a:ext cx="1472184" cy="365760"/>
          </a:xfrm>
          <a:prstGeom prst="rect">
            <a:avLst/>
          </a:prstGeom>
          <a:noFill/>
        </p:spPr>
        <p:txBody>
          <a:bodyPr wrap="square" lIns="0" tIns="0" rIns="0" bIns="0" anchor="ctr">
            <a:spAutoFit/>
          </a:bodyPr>
          <a:lstStyle/>
          <a:p>
            <a:pPr algn="ctr"/>
            <a:r>
              <a:rPr lang="es-CO" sz="900" b="1" i="0">
                <a:solidFill>
                  <a:srgbClr val="56C7F2"/>
                </a:solidFill>
                <a:latin typeface="Courier New"/>
              </a:rPr>
              <a:t>paginaTienda</a:t>
            </a:r>
          </a:p>
        </p:txBody>
      </p:sp>
      <p:sp>
        <p:nvSpPr>
          <p:cNvPr id="12" name="Rounded Rectangle 11"/>
          <p:cNvSpPr/>
          <p:nvPr/>
        </p:nvSpPr>
        <p:spPr>
          <a:xfrm>
            <a:off x="2542032" y="1664208"/>
            <a:ext cx="1554480" cy="1874520"/>
          </a:xfrm>
          <a:prstGeom prst="roundRect">
            <a:avLst>
              <a:gd name="adj" fmla="val 8000"/>
            </a:avLst>
          </a:prstGeom>
          <a:solidFill>
            <a:srgbClr val="13202F"/>
          </a:solidFill>
          <a:ln w="12700">
            <a:solidFill>
              <a:srgbClr val="FF8A3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2596896" y="1719072"/>
            <a:ext cx="1463040" cy="219456"/>
          </a:xfrm>
          <a:prstGeom prst="rect">
            <a:avLst/>
          </a:prstGeom>
          <a:noFill/>
        </p:spPr>
        <p:txBody>
          <a:bodyPr wrap="square" lIns="0" tIns="0" rIns="0" bIns="0" anchor="ctr">
            <a:spAutoFit/>
          </a:bodyPr>
          <a:lstStyle/>
          <a:p>
            <a:pPr algn="l"/>
            <a:r>
              <a:rPr lang="es-CO" sz="850" b="1" i="0">
                <a:solidFill>
                  <a:srgbClr val="FF8A3D"/>
                </a:solidFill>
                <a:latin typeface="Courier New"/>
              </a:rPr>
              <a:t>MantenimientoWeb</a:t>
            </a:r>
          </a:p>
        </p:txBody>
      </p:sp>
      <p:sp>
        <p:nvSpPr>
          <p:cNvPr id="14" name="TextBox 13"/>
          <p:cNvSpPr txBox="1"/>
          <p:nvPr/>
        </p:nvSpPr>
        <p:spPr>
          <a:xfrm>
            <a:off x="2596896" y="2331720"/>
            <a:ext cx="1463040" cy="548640"/>
          </a:xfrm>
          <a:prstGeom prst="rect">
            <a:avLst/>
          </a:prstGeom>
          <a:noFill/>
        </p:spPr>
        <p:txBody>
          <a:bodyPr wrap="square" lIns="0" tIns="0" rIns="0" bIns="0" anchor="t">
            <a:spAutoFit/>
          </a:bodyPr>
          <a:lstStyle/>
          <a:p>
            <a:pPr algn="ctr"/>
            <a:r>
              <a:rPr lang="es-CO" sz="900" b="0" i="0">
                <a:solidFill>
                  <a:srgbClr val="93A5BD"/>
                </a:solidFill>
                <a:latin typeface="Calibri"/>
              </a:rPr>
              <a:t>se agrega en el Laboratorio 08</a:t>
            </a:r>
          </a:p>
        </p:txBody>
      </p:sp>
      <p:sp>
        <p:nvSpPr>
          <p:cNvPr id="15" name="TextBox 14"/>
          <p:cNvSpPr txBox="1"/>
          <p:nvPr/>
        </p:nvSpPr>
        <p:spPr>
          <a:xfrm>
            <a:off x="502920" y="3840480"/>
            <a:ext cx="3749040" cy="457200"/>
          </a:xfrm>
          <a:prstGeom prst="rect">
            <a:avLst/>
          </a:prstGeom>
          <a:noFill/>
        </p:spPr>
        <p:txBody>
          <a:bodyPr wrap="square" lIns="0" tIns="0" rIns="0" bIns="0" anchor="t">
            <a:spAutoFit/>
          </a:bodyPr>
          <a:lstStyle/>
          <a:p>
            <a:pPr algn="l"/>
            <a:r>
              <a:rPr lang="es-CO" sz="1000" b="0" i="0">
                <a:solidFill>
                  <a:srgbClr val="93A5BD"/>
                </a:solidFill>
                <a:latin typeface="Calibri"/>
              </a:rPr>
              <a:t>Toda instancia de DesarrolloWeb es también instancia de Servicio.</a:t>
            </a:r>
          </a:p>
        </p:txBody>
      </p:sp>
      <p:sp>
        <p:nvSpPr>
          <p:cNvPr id="16" name="Rounded Rectangle 15"/>
          <p:cNvSpPr/>
          <p:nvPr/>
        </p:nvSpPr>
        <p:spPr>
          <a:xfrm>
            <a:off x="4434840" y="1234440"/>
            <a:ext cx="4206240" cy="548640"/>
          </a:xfrm>
          <a:prstGeom prst="roundRect">
            <a:avLst>
              <a:gd name="adj" fmla="val 8000"/>
            </a:avLst>
          </a:prstGeom>
          <a:solidFill>
            <a:srgbClr val="070C1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4572000" y="1280160"/>
            <a:ext cx="1371600" cy="182880"/>
          </a:xfrm>
          <a:prstGeom prst="rect">
            <a:avLst/>
          </a:prstGeom>
          <a:noFill/>
        </p:spPr>
        <p:txBody>
          <a:bodyPr wrap="square" lIns="0" tIns="0" rIns="0" bIns="0" anchor="ctr">
            <a:spAutoFit/>
          </a:bodyPr>
          <a:lstStyle/>
          <a:p>
            <a:pPr algn="l"/>
            <a:r>
              <a:rPr lang="es-CO" sz="850" b="1" i="0">
                <a:solidFill>
                  <a:srgbClr val="3DDC97"/>
                </a:solidFill>
                <a:latin typeface="Arial"/>
              </a:rPr>
              <a:t>Afirmado</a:t>
            </a:r>
          </a:p>
        </p:txBody>
      </p:sp>
      <p:sp>
        <p:nvSpPr>
          <p:cNvPr id="18" name="TextBox 17"/>
          <p:cNvSpPr txBox="1"/>
          <p:nvPr/>
        </p:nvSpPr>
        <p:spPr>
          <a:xfrm>
            <a:off x="4572000" y="1481328"/>
            <a:ext cx="3977640" cy="256032"/>
          </a:xfrm>
          <a:prstGeom prst="rect">
            <a:avLst/>
          </a:prstGeom>
          <a:noFill/>
        </p:spPr>
        <p:txBody>
          <a:bodyPr wrap="square" lIns="0" tIns="0" rIns="0" bIns="0" anchor="ctr">
            <a:spAutoFit/>
          </a:bodyPr>
          <a:lstStyle/>
          <a:p>
            <a:pPr algn="l"/>
            <a:r>
              <a:rPr lang="es-CO" sz="900" b="0" i="0">
                <a:solidFill>
                  <a:srgbClr val="3DDC97"/>
                </a:solidFill>
                <a:latin typeface="Courier New"/>
              </a:rPr>
              <a:t>sw:DesarrolloWeb</a:t>
            </a:r>
            <a:r>
              <a:rPr lang="es-CO" sz="900" b="0" i="0">
                <a:solidFill>
                  <a:srgbClr val="D7E1EE"/>
                </a:solidFill>
                <a:latin typeface="Courier New"/>
              </a:rPr>
              <a:t> </a:t>
            </a:r>
            <a:r>
              <a:rPr lang="es-CO" sz="900" b="0" i="0">
                <a:solidFill>
                  <a:srgbClr val="FFB86C"/>
                </a:solidFill>
                <a:latin typeface="Courier New"/>
              </a:rPr>
              <a:t>rdfs:subClassOf</a:t>
            </a:r>
            <a:r>
              <a:rPr lang="es-CO" sz="900" b="0" i="0">
                <a:solidFill>
                  <a:srgbClr val="D7E1EE"/>
                </a:solidFill>
                <a:latin typeface="Courier New"/>
              </a:rPr>
              <a:t> </a:t>
            </a:r>
            <a:r>
              <a:rPr lang="es-CO" sz="900" b="0" i="0">
                <a:solidFill>
                  <a:srgbClr val="3DDC97"/>
                </a:solidFill>
                <a:latin typeface="Courier New"/>
              </a:rPr>
              <a:t>sw:Servicio</a:t>
            </a:r>
            <a:r>
              <a:rPr lang="es-CO" sz="900" b="0" i="0">
                <a:solidFill>
                  <a:srgbClr val="D7E1EE"/>
                </a:solidFill>
                <a:latin typeface="Courier New"/>
              </a:rPr>
              <a:t> </a:t>
            </a:r>
            <a:r>
              <a:rPr lang="es-CO" sz="900" b="0" i="0">
                <a:solidFill>
                  <a:srgbClr val="93A5BD"/>
                </a:solidFill>
                <a:latin typeface="Courier New"/>
              </a:rPr>
              <a:t>.</a:t>
            </a:r>
          </a:p>
        </p:txBody>
      </p:sp>
      <p:sp>
        <p:nvSpPr>
          <p:cNvPr id="19" name="Rounded Rectangle 18"/>
          <p:cNvSpPr/>
          <p:nvPr/>
        </p:nvSpPr>
        <p:spPr>
          <a:xfrm>
            <a:off x="4434840" y="1892808"/>
            <a:ext cx="4206240" cy="548640"/>
          </a:xfrm>
          <a:prstGeom prst="roundRect">
            <a:avLst>
              <a:gd name="adj" fmla="val 8000"/>
            </a:avLst>
          </a:prstGeom>
          <a:solidFill>
            <a:srgbClr val="070C1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4572000" y="1938528"/>
            <a:ext cx="1371600" cy="182880"/>
          </a:xfrm>
          <a:prstGeom prst="rect">
            <a:avLst/>
          </a:prstGeom>
          <a:noFill/>
        </p:spPr>
        <p:txBody>
          <a:bodyPr wrap="square" lIns="0" tIns="0" rIns="0" bIns="0" anchor="ctr">
            <a:spAutoFit/>
          </a:bodyPr>
          <a:lstStyle/>
          <a:p>
            <a:pPr algn="l"/>
            <a:r>
              <a:rPr lang="es-CO" sz="850" b="1" i="0">
                <a:solidFill>
                  <a:srgbClr val="3DDC97"/>
                </a:solidFill>
                <a:latin typeface="Arial"/>
              </a:rPr>
              <a:t>Afirmado</a:t>
            </a:r>
          </a:p>
        </p:txBody>
      </p:sp>
      <p:sp>
        <p:nvSpPr>
          <p:cNvPr id="21" name="TextBox 20"/>
          <p:cNvSpPr txBox="1"/>
          <p:nvPr/>
        </p:nvSpPr>
        <p:spPr>
          <a:xfrm>
            <a:off x="4572000" y="2139696"/>
            <a:ext cx="3977640" cy="256032"/>
          </a:xfrm>
          <a:prstGeom prst="rect">
            <a:avLst/>
          </a:prstGeom>
          <a:noFill/>
        </p:spPr>
        <p:txBody>
          <a:bodyPr wrap="square" lIns="0" tIns="0" rIns="0" bIns="0" anchor="ctr">
            <a:spAutoFit/>
          </a:bodyPr>
          <a:lstStyle/>
          <a:p>
            <a:pPr algn="l"/>
            <a:r>
              <a:rPr lang="es-CO" sz="900" b="0" i="0">
                <a:solidFill>
                  <a:srgbClr val="D7E1EE"/>
                </a:solidFill>
                <a:latin typeface="Courier New"/>
              </a:rPr>
              <a:t>sw:paginaTienda </a:t>
            </a:r>
            <a:r>
              <a:rPr lang="es-CO" sz="900" b="0" i="0">
                <a:solidFill>
                  <a:srgbClr val="FFB86C"/>
                </a:solidFill>
                <a:latin typeface="Courier New"/>
              </a:rPr>
              <a:t>a</a:t>
            </a:r>
            <a:r>
              <a:rPr lang="es-CO" sz="900" b="0" i="0">
                <a:solidFill>
                  <a:srgbClr val="D7E1EE"/>
                </a:solidFill>
                <a:latin typeface="Courier New"/>
              </a:rPr>
              <a:t> </a:t>
            </a:r>
            <a:r>
              <a:rPr lang="es-CO" sz="900" b="0" i="0">
                <a:solidFill>
                  <a:srgbClr val="3DDC97"/>
                </a:solidFill>
                <a:latin typeface="Courier New"/>
              </a:rPr>
              <a:t>sw:DesarrolloWeb</a:t>
            </a:r>
            <a:r>
              <a:rPr lang="es-CO" sz="900" b="0" i="0">
                <a:solidFill>
                  <a:srgbClr val="D7E1EE"/>
                </a:solidFill>
                <a:latin typeface="Courier New"/>
              </a:rPr>
              <a:t> </a:t>
            </a:r>
            <a:r>
              <a:rPr lang="es-CO" sz="900" b="0" i="0">
                <a:solidFill>
                  <a:srgbClr val="93A5BD"/>
                </a:solidFill>
                <a:latin typeface="Courier New"/>
              </a:rPr>
              <a:t>.</a:t>
            </a:r>
          </a:p>
        </p:txBody>
      </p:sp>
      <p:sp>
        <p:nvSpPr>
          <p:cNvPr id="22" name="Rounded Rectangle 21"/>
          <p:cNvSpPr/>
          <p:nvPr/>
        </p:nvSpPr>
        <p:spPr>
          <a:xfrm>
            <a:off x="4434840" y="2679192"/>
            <a:ext cx="4206240" cy="548640"/>
          </a:xfrm>
          <a:prstGeom prst="roundRect">
            <a:avLst>
              <a:gd name="adj" fmla="val 8000"/>
            </a:avLst>
          </a:prstGeom>
          <a:solidFill>
            <a:srgbClr val="2E2814"/>
          </a:solidFill>
          <a:ln w="12700">
            <a:solidFill>
              <a:srgbClr val="FFD47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4572000" y="2724912"/>
            <a:ext cx="1371600" cy="182880"/>
          </a:xfrm>
          <a:prstGeom prst="rect">
            <a:avLst/>
          </a:prstGeom>
          <a:noFill/>
        </p:spPr>
        <p:txBody>
          <a:bodyPr wrap="square" lIns="0" tIns="0" rIns="0" bIns="0" anchor="ctr">
            <a:spAutoFit/>
          </a:bodyPr>
          <a:lstStyle/>
          <a:p>
            <a:pPr algn="l"/>
            <a:r>
              <a:rPr lang="es-CO" sz="850" b="1" i="0">
                <a:solidFill>
                  <a:srgbClr val="FFD479"/>
                </a:solidFill>
                <a:latin typeface="Arial"/>
              </a:rPr>
              <a:t>Inferido</a:t>
            </a:r>
          </a:p>
        </p:txBody>
      </p:sp>
      <p:sp>
        <p:nvSpPr>
          <p:cNvPr id="24" name="TextBox 23"/>
          <p:cNvSpPr txBox="1"/>
          <p:nvPr/>
        </p:nvSpPr>
        <p:spPr>
          <a:xfrm>
            <a:off x="4572000" y="2926080"/>
            <a:ext cx="3977640" cy="256032"/>
          </a:xfrm>
          <a:prstGeom prst="rect">
            <a:avLst/>
          </a:prstGeom>
          <a:noFill/>
        </p:spPr>
        <p:txBody>
          <a:bodyPr wrap="square" lIns="0" tIns="0" rIns="0" bIns="0" anchor="ctr">
            <a:spAutoFit/>
          </a:bodyPr>
          <a:lstStyle/>
          <a:p>
            <a:pPr algn="l"/>
            <a:r>
              <a:rPr lang="es-CO" sz="900" b="0" i="0">
                <a:solidFill>
                  <a:srgbClr val="D7E1EE"/>
                </a:solidFill>
                <a:latin typeface="Courier New"/>
              </a:rPr>
              <a:t>sw:paginaTienda </a:t>
            </a:r>
            <a:r>
              <a:rPr lang="es-CO" sz="900" b="0" i="0">
                <a:solidFill>
                  <a:srgbClr val="FFB86C"/>
                </a:solidFill>
                <a:latin typeface="Courier New"/>
              </a:rPr>
              <a:t>a</a:t>
            </a:r>
            <a:r>
              <a:rPr lang="es-CO" sz="900" b="0" i="0">
                <a:solidFill>
                  <a:srgbClr val="D7E1EE"/>
                </a:solidFill>
                <a:latin typeface="Courier New"/>
              </a:rPr>
              <a:t> </a:t>
            </a:r>
            <a:r>
              <a:rPr lang="es-CO" sz="900" b="0" i="0">
                <a:solidFill>
                  <a:srgbClr val="3DDC97"/>
                </a:solidFill>
                <a:latin typeface="Courier New"/>
              </a:rPr>
              <a:t>sw:Servicio</a:t>
            </a:r>
            <a:r>
              <a:rPr lang="es-CO" sz="900" b="0" i="0">
                <a:solidFill>
                  <a:srgbClr val="D7E1EE"/>
                </a:solidFill>
                <a:latin typeface="Courier New"/>
              </a:rPr>
              <a:t> </a:t>
            </a:r>
            <a:r>
              <a:rPr lang="es-CO" sz="900" b="0" i="0">
                <a:solidFill>
                  <a:srgbClr val="93A5BD"/>
                </a:solidFill>
                <a:latin typeface="Courier New"/>
              </a:rPr>
              <a:t>.</a:t>
            </a:r>
          </a:p>
        </p:txBody>
      </p:sp>
      <p:sp>
        <p:nvSpPr>
          <p:cNvPr id="25" name="TextBox 24"/>
          <p:cNvSpPr txBox="1"/>
          <p:nvPr/>
        </p:nvSpPr>
        <p:spPr>
          <a:xfrm>
            <a:off x="4434840" y="2468880"/>
            <a:ext cx="4206240" cy="164592"/>
          </a:xfrm>
          <a:prstGeom prst="rect">
            <a:avLst/>
          </a:prstGeom>
          <a:noFill/>
        </p:spPr>
        <p:txBody>
          <a:bodyPr wrap="square" lIns="0" tIns="0" rIns="0" bIns="0" anchor="ctr">
            <a:spAutoFit/>
          </a:bodyPr>
          <a:lstStyle/>
          <a:p>
            <a:pPr algn="ctr"/>
            <a:r>
              <a:rPr lang="es-CO" sz="850" b="0" i="0">
                <a:solidFill>
                  <a:srgbClr val="6C7E96"/>
                </a:solidFill>
                <a:latin typeface="Courier New"/>
              </a:rPr>
              <a:t>↓  regla de subclase (rdfs9)</a:t>
            </a:r>
          </a:p>
        </p:txBody>
      </p:sp>
      <p:sp>
        <p:nvSpPr>
          <p:cNvPr id="26" name="Rounded Rectangle 25"/>
          <p:cNvSpPr/>
          <p:nvPr/>
        </p:nvSpPr>
        <p:spPr>
          <a:xfrm>
            <a:off x="4434840" y="3383280"/>
            <a:ext cx="4206240" cy="1133856"/>
          </a:xfrm>
          <a:prstGeom prst="roundRect">
            <a:avLst>
              <a:gd name="adj" fmla="val 8000"/>
            </a:avLst>
          </a:prstGeom>
          <a:solidFill>
            <a:srgbClr val="1A2434"/>
          </a:solidFill>
          <a:ln w="12700">
            <a:solidFill>
              <a:srgbClr val="FFD47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4562856" y="3474720"/>
            <a:ext cx="3950208" cy="219456"/>
          </a:xfrm>
          <a:prstGeom prst="rect">
            <a:avLst/>
          </a:prstGeom>
          <a:noFill/>
        </p:spPr>
        <p:txBody>
          <a:bodyPr wrap="square" lIns="0" tIns="0" rIns="0" bIns="0" anchor="ctr">
            <a:spAutoFit/>
          </a:bodyPr>
          <a:lstStyle/>
          <a:p>
            <a:pPr algn="l"/>
            <a:r>
              <a:rPr lang="es-CO" sz="1100" b="1" i="0">
                <a:solidFill>
                  <a:srgbClr val="FFD479"/>
                </a:solidFill>
                <a:latin typeface="Arial"/>
              </a:rPr>
              <a:t>Qué significa inferir</a:t>
            </a:r>
          </a:p>
        </p:txBody>
      </p:sp>
      <p:sp>
        <p:nvSpPr>
          <p:cNvPr id="28" name="TextBox 27"/>
          <p:cNvSpPr txBox="1"/>
          <p:nvPr/>
        </p:nvSpPr>
        <p:spPr>
          <a:xfrm>
            <a:off x="4562856" y="3739896"/>
            <a:ext cx="3950208" cy="722376"/>
          </a:xfrm>
          <a:prstGeom prst="rect">
            <a:avLst/>
          </a:prstGeom>
          <a:noFill/>
        </p:spPr>
        <p:txBody>
          <a:bodyPr wrap="square" lIns="0" tIns="0" rIns="0" bIns="0" anchor="t">
            <a:spAutoFit/>
          </a:bodyPr>
          <a:lstStyle/>
          <a:p>
            <a:pPr algn="l">
              <a:spcAft>
                <a:spcPts val="200"/>
              </a:spcAft>
            </a:pPr>
            <a:r>
              <a:rPr lang="es-CO" sz="1000" b="0" i="0">
                <a:solidFill>
                  <a:srgbClr val="E8EEF6"/>
                </a:solidFill>
                <a:latin typeface="Calibri"/>
              </a:rPr>
              <a:t>Obtener una afirmación que no se escribió, a partir de las que sí se escribieron y del significado de RDFS. Hoy la inferencia se hace a mano.</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A101B"/>
        </a:solidFill>
        <a:effectLst/>
      </p:bgPr>
    </p:bg>
    <p:spTree>
      <p:nvGrpSpPr>
        <p:cNvPr id="1" name=""/>
        <p:cNvGrpSpPr/>
        <p:nvPr/>
      </p:nvGrpSpPr>
      <p:grpSpPr>
        <a:xfrm>
          <a:off x="0" y="0"/>
          <a:ext cx="0" cy="0"/>
          <a:chOff x="0" y="0"/>
          <a:chExt cx="0" cy="0"/>
        </a:xfrm>
      </p:grpSpPr>
      <p:sp>
        <p:nvSpPr>
          <p:cNvPr id="2" name="TextBox 1"/>
          <p:cNvSpPr txBox="1"/>
          <p:nvPr/>
        </p:nvSpPr>
        <p:spPr>
          <a:xfrm>
            <a:off x="6309360" y="4718304"/>
            <a:ext cx="2331720" cy="201168"/>
          </a:xfrm>
          <a:prstGeom prst="rect">
            <a:avLst/>
          </a:prstGeom>
          <a:noFill/>
        </p:spPr>
        <p:txBody>
          <a:bodyPr wrap="square" lIns="0" tIns="0" rIns="0" bIns="0" anchor="ctr">
            <a:spAutoFit/>
          </a:bodyPr>
          <a:lstStyle/>
          <a:p>
            <a:pPr algn="r"/>
            <a:r>
              <a:rPr lang="es-CO" sz="800" b="0" i="0">
                <a:solidFill>
                  <a:srgbClr val="6C7E96"/>
                </a:solidFill>
                <a:latin typeface="Arial"/>
              </a:rPr>
              <a:t>Ingeniería Web  ·  20 / 24</a:t>
            </a:r>
          </a:p>
        </p:txBody>
      </p:sp>
      <p:sp>
        <p:nvSpPr>
          <p:cNvPr id="3" name="Rounded Rectangle 2"/>
          <p:cNvSpPr/>
          <p:nvPr/>
        </p:nvSpPr>
        <p:spPr>
          <a:xfrm>
            <a:off x="502920" y="365760"/>
            <a:ext cx="1691640" cy="228600"/>
          </a:xfrm>
          <a:prstGeom prst="roundRect">
            <a:avLst>
              <a:gd name="adj" fmla="val 50000"/>
            </a:avLst>
          </a:prstGeom>
          <a:solidFill>
            <a:srgbClr val="132A24"/>
          </a:solidFill>
          <a:ln w="952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502920" y="365760"/>
            <a:ext cx="1691640" cy="228600"/>
          </a:xfrm>
          <a:prstGeom prst="rect">
            <a:avLst/>
          </a:prstGeom>
          <a:noFill/>
        </p:spPr>
        <p:txBody>
          <a:bodyPr wrap="square" lIns="0" tIns="0" rIns="0" bIns="0" anchor="ctr">
            <a:spAutoFit/>
          </a:bodyPr>
          <a:lstStyle/>
          <a:p>
            <a:pPr algn="ctr"/>
            <a:r>
              <a:rPr lang="es-CO" sz="850" b="1" i="0">
                <a:solidFill>
                  <a:srgbClr val="3DDC97"/>
                </a:solidFill>
                <a:latin typeface="Arial"/>
              </a:rPr>
              <a:t>EJEMPLO DEL PROYECTO</a:t>
            </a:r>
          </a:p>
        </p:txBody>
      </p:sp>
      <p:sp>
        <p:nvSpPr>
          <p:cNvPr id="5" name="Título"/>
          <p:cNvSpPr txBox="1"/>
          <p:nvPr/>
        </p:nvSpPr>
        <p:spPr>
          <a:xfrm>
            <a:off x="475488" y="658368"/>
            <a:ext cx="8138160" cy="438912"/>
          </a:xfrm>
          <a:prstGeom prst="rect">
            <a:avLst/>
          </a:prstGeom>
          <a:noFill/>
        </p:spPr>
        <p:txBody>
          <a:bodyPr wrap="square" lIns="0" tIns="0" rIns="0" bIns="0" anchor="ctr">
            <a:spAutoFit/>
          </a:bodyPr>
          <a:lstStyle/>
          <a:p>
            <a:pPr algn="l"/>
            <a:r>
              <a:rPr lang="es-CO" sz="2600" b="1" i="0">
                <a:solidFill>
                  <a:srgbClr val="FFFFFF"/>
                </a:solidFill>
                <a:latin typeface="Arial"/>
              </a:rPr>
              <a:t>Ejemplo de ontología del proyecto Soporte Web</a:t>
            </a:r>
          </a:p>
        </p:txBody>
      </p:sp>
      <p:sp>
        <p:nvSpPr>
          <p:cNvPr id="6" name="Rounded Rectangle 5"/>
          <p:cNvSpPr/>
          <p:nvPr/>
        </p:nvSpPr>
        <p:spPr>
          <a:xfrm>
            <a:off x="7223760" y="384048"/>
            <a:ext cx="1417320" cy="182880"/>
          </a:xfrm>
          <a:prstGeom prst="roundRect">
            <a:avLst>
              <a:gd name="adj" fmla="val 50000"/>
            </a:avLst>
          </a:prstGeom>
          <a:solidFill>
            <a:srgbClr val="0F2533"/>
          </a:solidFill>
          <a:ln w="9525">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223760" y="384048"/>
            <a:ext cx="1417320" cy="182880"/>
          </a:xfrm>
          <a:prstGeom prst="rect">
            <a:avLst/>
          </a:prstGeom>
          <a:noFill/>
        </p:spPr>
        <p:txBody>
          <a:bodyPr wrap="square" lIns="0" tIns="0" rIns="0" bIns="0" anchor="ctr">
            <a:spAutoFit/>
          </a:bodyPr>
          <a:lstStyle/>
          <a:p>
            <a:pPr algn="ctr"/>
            <a:r>
              <a:rPr lang="es-CO" sz="700" b="1" i="0">
                <a:solidFill>
                  <a:srgbClr val="56C7F2"/>
                </a:solidFill>
                <a:latin typeface="Arial"/>
              </a:rPr>
              <a:t>EJEMPLO ILUSTRATIVO</a:t>
            </a:r>
          </a:p>
        </p:txBody>
      </p:sp>
      <p:sp>
        <p:nvSpPr>
          <p:cNvPr id="8" name="Rounded Rectangle 7"/>
          <p:cNvSpPr/>
          <p:nvPr/>
        </p:nvSpPr>
        <p:spPr>
          <a:xfrm>
            <a:off x="502920" y="1234440"/>
            <a:ext cx="4983480" cy="2880360"/>
          </a:xfrm>
          <a:prstGeom prst="roundRect">
            <a:avLst>
              <a:gd name="adj" fmla="val 8000"/>
            </a:avLst>
          </a:prstGeom>
          <a:solidFill>
            <a:srgbClr val="070C1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649224" y="1307592"/>
            <a:ext cx="4690872" cy="182880"/>
          </a:xfrm>
          <a:prstGeom prst="rect">
            <a:avLst/>
          </a:prstGeom>
          <a:noFill/>
        </p:spPr>
        <p:txBody>
          <a:bodyPr wrap="square" lIns="0" tIns="0" rIns="0" bIns="0" anchor="ctr">
            <a:spAutoFit/>
          </a:bodyPr>
          <a:lstStyle/>
          <a:p>
            <a:pPr algn="l"/>
            <a:r>
              <a:rPr lang="es-CO" sz="880" b="1" i="0">
                <a:solidFill>
                  <a:srgbClr val="3DDC97"/>
                </a:solidFill>
                <a:latin typeface="Courier New"/>
              </a:rPr>
              <a:t>ontologia_soporte.ttl · vocabulario</a:t>
            </a:r>
          </a:p>
        </p:txBody>
      </p:sp>
      <p:sp>
        <p:nvSpPr>
          <p:cNvPr id="10" name="TextBox 9"/>
          <p:cNvSpPr txBox="1"/>
          <p:nvPr/>
        </p:nvSpPr>
        <p:spPr>
          <a:xfrm>
            <a:off x="649224" y="1508760"/>
            <a:ext cx="4690872" cy="2551176"/>
          </a:xfrm>
          <a:prstGeom prst="rect">
            <a:avLst/>
          </a:prstGeom>
          <a:noFill/>
        </p:spPr>
        <p:txBody>
          <a:bodyPr wrap="square" lIns="0" tIns="0" rIns="0" bIns="0" anchor="t">
            <a:spAutoFit/>
          </a:bodyPr>
          <a:lstStyle/>
          <a:p>
            <a:pPr algn="l"/>
            <a:r>
              <a:rPr lang="es-CO" sz="830" b="0" i="0">
                <a:solidFill>
                  <a:srgbClr val="FFB86C"/>
                </a:solidFill>
                <a:latin typeface="Courier New"/>
              </a:rPr>
              <a:t>@prefix</a:t>
            </a:r>
            <a:r>
              <a:rPr lang="es-CO" sz="830" b="0" i="0">
                <a:solidFill>
                  <a:srgbClr val="D7E1EE"/>
                </a:solidFill>
                <a:latin typeface="Courier New"/>
              </a:rPr>
              <a:t> </a:t>
            </a:r>
            <a:r>
              <a:rPr lang="es-CO" sz="830" b="0" i="0">
                <a:solidFill>
                  <a:srgbClr val="56C7F2"/>
                </a:solidFill>
                <a:latin typeface="Courier New"/>
              </a:rPr>
              <a:t>sw:</a:t>
            </a:r>
            <a:r>
              <a:rPr lang="es-CO" sz="830" b="0" i="0">
                <a:solidFill>
                  <a:srgbClr val="D7E1EE"/>
                </a:solidFill>
                <a:latin typeface="Courier New"/>
              </a:rPr>
              <a:t>   </a:t>
            </a:r>
            <a:r>
              <a:rPr lang="es-CO" sz="830" b="0" i="0">
                <a:solidFill>
                  <a:srgbClr val="93A5BD"/>
                </a:solidFill>
                <a:latin typeface="Courier New"/>
              </a:rPr>
              <a:t>&lt;http://example.org/soporte-web#&gt;</a:t>
            </a:r>
            <a:r>
              <a:rPr lang="es-CO" sz="830" b="0" i="0">
                <a:solidFill>
                  <a:srgbClr val="D7E1EE"/>
                </a:solidFill>
                <a:latin typeface="Courier New"/>
              </a:rPr>
              <a:t> </a:t>
            </a:r>
            <a:r>
              <a:rPr lang="es-CO" sz="830" b="0" i="0">
                <a:solidFill>
                  <a:srgbClr val="93A5BD"/>
                </a:solidFill>
                <a:latin typeface="Courier New"/>
              </a:rPr>
              <a:t>.</a:t>
            </a:r>
          </a:p>
          <a:p>
            <a:pPr algn="l"/>
            <a:r>
              <a:rPr lang="es-CO" sz="830" b="0" i="0">
                <a:solidFill>
                  <a:srgbClr val="FFB86C"/>
                </a:solidFill>
                <a:latin typeface="Courier New"/>
              </a:rPr>
              <a:t>@prefix</a:t>
            </a:r>
            <a:r>
              <a:rPr lang="es-CO" sz="830" b="0" i="0">
                <a:solidFill>
                  <a:srgbClr val="D7E1EE"/>
                </a:solidFill>
                <a:latin typeface="Courier New"/>
              </a:rPr>
              <a:t> </a:t>
            </a:r>
            <a:r>
              <a:rPr lang="es-CO" sz="830" b="0" i="0">
                <a:solidFill>
                  <a:srgbClr val="FFB86C"/>
                </a:solidFill>
                <a:latin typeface="Courier New"/>
              </a:rPr>
              <a:t>owl:</a:t>
            </a:r>
            <a:r>
              <a:rPr lang="es-CO" sz="830" b="0" i="0">
                <a:solidFill>
                  <a:srgbClr val="D7E1EE"/>
                </a:solidFill>
                <a:latin typeface="Courier New"/>
              </a:rPr>
              <a:t>  </a:t>
            </a:r>
            <a:r>
              <a:rPr lang="es-CO" sz="830" b="0" i="0">
                <a:solidFill>
                  <a:srgbClr val="93A5BD"/>
                </a:solidFill>
                <a:latin typeface="Courier New"/>
              </a:rPr>
              <a:t>&lt;http://www.w3.org/2002/07/owl#&gt;</a:t>
            </a:r>
            <a:r>
              <a:rPr lang="es-CO" sz="830" b="0" i="0">
                <a:solidFill>
                  <a:srgbClr val="D7E1EE"/>
                </a:solidFill>
                <a:latin typeface="Courier New"/>
              </a:rPr>
              <a:t> </a:t>
            </a:r>
            <a:r>
              <a:rPr lang="es-CO" sz="830" b="0" i="0">
                <a:solidFill>
                  <a:srgbClr val="93A5BD"/>
                </a:solidFill>
                <a:latin typeface="Courier New"/>
              </a:rPr>
              <a:t>.</a:t>
            </a:r>
          </a:p>
          <a:p>
            <a:pPr algn="l"/>
            <a:r>
              <a:rPr lang="es-CO" sz="830" b="0" i="0">
                <a:solidFill>
                  <a:srgbClr val="FFB86C"/>
                </a:solidFill>
                <a:latin typeface="Courier New"/>
              </a:rPr>
              <a:t>@prefix</a:t>
            </a:r>
            <a:r>
              <a:rPr lang="es-CO" sz="830" b="0" i="0">
                <a:solidFill>
                  <a:srgbClr val="D7E1EE"/>
                </a:solidFill>
                <a:latin typeface="Courier New"/>
              </a:rPr>
              <a:t> </a:t>
            </a:r>
            <a:r>
              <a:rPr lang="es-CO" sz="830" b="0" i="0">
                <a:solidFill>
                  <a:srgbClr val="FFB86C"/>
                </a:solidFill>
                <a:latin typeface="Courier New"/>
              </a:rPr>
              <a:t>rdfs:</a:t>
            </a:r>
            <a:r>
              <a:rPr lang="es-CO" sz="830" b="0" i="0">
                <a:solidFill>
                  <a:srgbClr val="D7E1EE"/>
                </a:solidFill>
                <a:latin typeface="Courier New"/>
              </a:rPr>
              <a:t> </a:t>
            </a:r>
            <a:r>
              <a:rPr lang="es-CO" sz="830" b="0" i="0">
                <a:solidFill>
                  <a:srgbClr val="93A5BD"/>
                </a:solidFill>
                <a:latin typeface="Courier New"/>
              </a:rPr>
              <a:t>&lt;http://www.w3.org/2000/01/rdf-schema#&gt;</a:t>
            </a:r>
            <a:r>
              <a:rPr lang="es-CO" sz="830" b="0" i="0">
                <a:solidFill>
                  <a:srgbClr val="D7E1EE"/>
                </a:solidFill>
                <a:latin typeface="Courier New"/>
              </a:rPr>
              <a:t> </a:t>
            </a:r>
            <a:r>
              <a:rPr lang="es-CO" sz="830" b="0" i="0">
                <a:solidFill>
                  <a:srgbClr val="93A5BD"/>
                </a:solidFill>
                <a:latin typeface="Courier New"/>
              </a:rPr>
              <a:t>.</a:t>
            </a:r>
          </a:p>
          <a:p>
            <a:pPr algn="l"/>
            <a:r>
              <a:rPr lang="es-CO" sz="830" b="0" i="0">
                <a:solidFill>
                  <a:srgbClr val="FFB86C"/>
                </a:solidFill>
                <a:latin typeface="Courier New"/>
              </a:rPr>
              <a:t>@prefix</a:t>
            </a:r>
            <a:r>
              <a:rPr lang="es-CO" sz="830" b="0" i="0">
                <a:solidFill>
                  <a:srgbClr val="D7E1EE"/>
                </a:solidFill>
                <a:latin typeface="Courier New"/>
              </a:rPr>
              <a:t> </a:t>
            </a:r>
            <a:r>
              <a:rPr lang="es-CO" sz="830" b="0" i="0">
                <a:solidFill>
                  <a:srgbClr val="FFB86C"/>
                </a:solidFill>
                <a:latin typeface="Courier New"/>
              </a:rPr>
              <a:t>xsd:</a:t>
            </a:r>
            <a:r>
              <a:rPr lang="es-CO" sz="830" b="0" i="0">
                <a:solidFill>
                  <a:srgbClr val="D7E1EE"/>
                </a:solidFill>
                <a:latin typeface="Courier New"/>
              </a:rPr>
              <a:t>  </a:t>
            </a:r>
            <a:r>
              <a:rPr lang="es-CO" sz="830" b="0" i="0">
                <a:solidFill>
                  <a:srgbClr val="93A5BD"/>
                </a:solidFill>
                <a:latin typeface="Courier New"/>
              </a:rPr>
              <a:t>&lt;http://www.w3.org/2001/XMLSchema#&gt;</a:t>
            </a:r>
            <a:r>
              <a:rPr lang="es-CO" sz="830" b="0" i="0">
                <a:solidFill>
                  <a:srgbClr val="D7E1EE"/>
                </a:solidFill>
                <a:latin typeface="Courier New"/>
              </a:rPr>
              <a:t> </a:t>
            </a:r>
            <a:r>
              <a:rPr lang="es-CO" sz="830" b="0" i="0">
                <a:solidFill>
                  <a:srgbClr val="93A5BD"/>
                </a:solidFill>
                <a:latin typeface="Courier New"/>
              </a:rPr>
              <a:t>.</a:t>
            </a:r>
          </a:p>
          <a:p>
            <a:pPr algn="l"/>
            <a:r>
              <a:rPr lang="es-CO" sz="830" b="0" i="0">
                <a:solidFill>
                  <a:srgbClr val="E8EEF6"/>
                </a:solidFill>
                <a:latin typeface="Courier New"/>
              </a:rPr>
              <a:t> </a:t>
            </a:r>
          </a:p>
          <a:p>
            <a:pPr algn="l"/>
            <a:r>
              <a:rPr lang="es-CO" sz="830" b="0" i="0">
                <a:solidFill>
                  <a:srgbClr val="3DDC97"/>
                </a:solidFill>
                <a:latin typeface="Courier New"/>
              </a:rPr>
              <a:t>sw:Contacto</a:t>
            </a:r>
            <a:r>
              <a:rPr lang="es-CO" sz="830" b="0" i="0">
                <a:solidFill>
                  <a:srgbClr val="D7E1EE"/>
                </a:solidFill>
                <a:latin typeface="Courier New"/>
              </a:rPr>
              <a:t>      </a:t>
            </a:r>
            <a:r>
              <a:rPr lang="es-CO" sz="830" b="0" i="0">
                <a:solidFill>
                  <a:srgbClr val="FFB86C"/>
                </a:solidFill>
                <a:latin typeface="Courier New"/>
              </a:rPr>
              <a:t>a</a:t>
            </a:r>
            <a:r>
              <a:rPr lang="es-CO" sz="830" b="0" i="0">
                <a:solidFill>
                  <a:srgbClr val="D7E1EE"/>
                </a:solidFill>
                <a:latin typeface="Courier New"/>
              </a:rPr>
              <a:t> </a:t>
            </a:r>
            <a:r>
              <a:rPr lang="es-CO" sz="830" b="0" i="0">
                <a:solidFill>
                  <a:srgbClr val="FFB86C"/>
                </a:solidFill>
                <a:latin typeface="Courier New"/>
              </a:rPr>
              <a:t>owl:Class</a:t>
            </a:r>
            <a:r>
              <a:rPr lang="es-CO" sz="830" b="0" i="0">
                <a:solidFill>
                  <a:srgbClr val="D7E1EE"/>
                </a:solidFill>
                <a:latin typeface="Courier New"/>
              </a:rPr>
              <a:t> </a:t>
            </a:r>
            <a:r>
              <a:rPr lang="es-CO" sz="830" b="0" i="0">
                <a:solidFill>
                  <a:srgbClr val="93A5BD"/>
                </a:solidFill>
                <a:latin typeface="Courier New"/>
              </a:rPr>
              <a:t>.</a:t>
            </a:r>
          </a:p>
          <a:p>
            <a:pPr algn="l"/>
            <a:r>
              <a:rPr lang="es-CO" sz="830" b="0" i="0">
                <a:solidFill>
                  <a:srgbClr val="3DDC97"/>
                </a:solidFill>
                <a:latin typeface="Courier New"/>
              </a:rPr>
              <a:t>sw:Solicitud</a:t>
            </a:r>
            <a:r>
              <a:rPr lang="es-CO" sz="830" b="0" i="0">
                <a:solidFill>
                  <a:srgbClr val="D7E1EE"/>
                </a:solidFill>
                <a:latin typeface="Courier New"/>
              </a:rPr>
              <a:t>     </a:t>
            </a:r>
            <a:r>
              <a:rPr lang="es-CO" sz="830" b="0" i="0">
                <a:solidFill>
                  <a:srgbClr val="FFB86C"/>
                </a:solidFill>
                <a:latin typeface="Courier New"/>
              </a:rPr>
              <a:t>a</a:t>
            </a:r>
            <a:r>
              <a:rPr lang="es-CO" sz="830" b="0" i="0">
                <a:solidFill>
                  <a:srgbClr val="D7E1EE"/>
                </a:solidFill>
                <a:latin typeface="Courier New"/>
              </a:rPr>
              <a:t> </a:t>
            </a:r>
            <a:r>
              <a:rPr lang="es-CO" sz="830" b="0" i="0">
                <a:solidFill>
                  <a:srgbClr val="FFB86C"/>
                </a:solidFill>
                <a:latin typeface="Courier New"/>
              </a:rPr>
              <a:t>owl:Class</a:t>
            </a:r>
            <a:r>
              <a:rPr lang="es-CO" sz="830" b="0" i="0">
                <a:solidFill>
                  <a:srgbClr val="D7E1EE"/>
                </a:solidFill>
                <a:latin typeface="Courier New"/>
              </a:rPr>
              <a:t> </a:t>
            </a:r>
            <a:r>
              <a:rPr lang="es-CO" sz="830" b="0" i="0">
                <a:solidFill>
                  <a:srgbClr val="93A5BD"/>
                </a:solidFill>
                <a:latin typeface="Courier New"/>
              </a:rPr>
              <a:t>.</a:t>
            </a:r>
          </a:p>
          <a:p>
            <a:pPr algn="l"/>
            <a:r>
              <a:rPr lang="es-CO" sz="830" b="0" i="0">
                <a:solidFill>
                  <a:srgbClr val="3DDC97"/>
                </a:solidFill>
                <a:latin typeface="Courier New"/>
              </a:rPr>
              <a:t>sw:Servicio</a:t>
            </a:r>
            <a:r>
              <a:rPr lang="es-CO" sz="830" b="0" i="0">
                <a:solidFill>
                  <a:srgbClr val="D7E1EE"/>
                </a:solidFill>
                <a:latin typeface="Courier New"/>
              </a:rPr>
              <a:t>      </a:t>
            </a:r>
            <a:r>
              <a:rPr lang="es-CO" sz="830" b="0" i="0">
                <a:solidFill>
                  <a:srgbClr val="FFB86C"/>
                </a:solidFill>
                <a:latin typeface="Courier New"/>
              </a:rPr>
              <a:t>a</a:t>
            </a:r>
            <a:r>
              <a:rPr lang="es-CO" sz="830" b="0" i="0">
                <a:solidFill>
                  <a:srgbClr val="D7E1EE"/>
                </a:solidFill>
                <a:latin typeface="Courier New"/>
              </a:rPr>
              <a:t> </a:t>
            </a:r>
            <a:r>
              <a:rPr lang="es-CO" sz="830" b="0" i="0">
                <a:solidFill>
                  <a:srgbClr val="FFB86C"/>
                </a:solidFill>
                <a:latin typeface="Courier New"/>
              </a:rPr>
              <a:t>owl:Class</a:t>
            </a:r>
            <a:r>
              <a:rPr lang="es-CO" sz="830" b="0" i="0">
                <a:solidFill>
                  <a:srgbClr val="D7E1EE"/>
                </a:solidFill>
                <a:latin typeface="Courier New"/>
              </a:rPr>
              <a:t> </a:t>
            </a:r>
            <a:r>
              <a:rPr lang="es-CO" sz="830" b="0" i="0">
                <a:solidFill>
                  <a:srgbClr val="93A5BD"/>
                </a:solidFill>
                <a:latin typeface="Courier New"/>
              </a:rPr>
              <a:t>.</a:t>
            </a:r>
          </a:p>
          <a:p>
            <a:pPr algn="l"/>
            <a:r>
              <a:rPr lang="es-CO" sz="830" b="0" i="0">
                <a:solidFill>
                  <a:srgbClr val="3DDC97"/>
                </a:solidFill>
                <a:latin typeface="Courier New"/>
              </a:rPr>
              <a:t>sw:DesarrolloWeb</a:t>
            </a:r>
            <a:r>
              <a:rPr lang="es-CO" sz="830" b="0" i="0">
                <a:solidFill>
                  <a:srgbClr val="D7E1EE"/>
                </a:solidFill>
                <a:latin typeface="Courier New"/>
              </a:rPr>
              <a:t> </a:t>
            </a:r>
            <a:r>
              <a:rPr lang="es-CO" sz="830" b="0" i="0">
                <a:solidFill>
                  <a:srgbClr val="FFB86C"/>
                </a:solidFill>
                <a:latin typeface="Courier New"/>
              </a:rPr>
              <a:t>a</a:t>
            </a:r>
            <a:r>
              <a:rPr lang="es-CO" sz="830" b="0" i="0">
                <a:solidFill>
                  <a:srgbClr val="D7E1EE"/>
                </a:solidFill>
                <a:latin typeface="Courier New"/>
              </a:rPr>
              <a:t> </a:t>
            </a:r>
            <a:r>
              <a:rPr lang="es-CO" sz="830" b="0" i="0">
                <a:solidFill>
                  <a:srgbClr val="FFB86C"/>
                </a:solidFill>
                <a:latin typeface="Courier New"/>
              </a:rPr>
              <a:t>owl:Class</a:t>
            </a:r>
            <a:r>
              <a:rPr lang="es-CO" sz="830" b="0" i="0">
                <a:solidFill>
                  <a:srgbClr val="D7E1EE"/>
                </a:solidFill>
                <a:latin typeface="Courier New"/>
              </a:rPr>
              <a:t> </a:t>
            </a:r>
            <a:r>
              <a:rPr lang="es-CO" sz="830" b="0" i="0">
                <a:solidFill>
                  <a:srgbClr val="93A5BD"/>
                </a:solidFill>
                <a:latin typeface="Courier New"/>
              </a:rPr>
              <a:t>;</a:t>
            </a:r>
            <a:r>
              <a:rPr lang="es-CO" sz="830" b="0" i="0">
                <a:solidFill>
                  <a:srgbClr val="D7E1EE"/>
                </a:solidFill>
                <a:latin typeface="Courier New"/>
              </a:rPr>
              <a:t> </a:t>
            </a:r>
            <a:r>
              <a:rPr lang="es-CO" sz="830" b="0" i="0">
                <a:solidFill>
                  <a:srgbClr val="FFB86C"/>
                </a:solidFill>
                <a:latin typeface="Courier New"/>
              </a:rPr>
              <a:t>rdfs:subClassOf</a:t>
            </a:r>
            <a:r>
              <a:rPr lang="es-CO" sz="830" b="0" i="0">
                <a:solidFill>
                  <a:srgbClr val="D7E1EE"/>
                </a:solidFill>
                <a:latin typeface="Courier New"/>
              </a:rPr>
              <a:t> </a:t>
            </a:r>
            <a:r>
              <a:rPr lang="es-CO" sz="830" b="0" i="0">
                <a:solidFill>
                  <a:srgbClr val="3DDC97"/>
                </a:solidFill>
                <a:latin typeface="Courier New"/>
              </a:rPr>
              <a:t>sw:Servicio</a:t>
            </a:r>
            <a:r>
              <a:rPr lang="es-CO" sz="830" b="0" i="0">
                <a:solidFill>
                  <a:srgbClr val="D7E1EE"/>
                </a:solidFill>
                <a:latin typeface="Courier New"/>
              </a:rPr>
              <a:t> </a:t>
            </a:r>
            <a:r>
              <a:rPr lang="es-CO" sz="830" b="0" i="0">
                <a:solidFill>
                  <a:srgbClr val="93A5BD"/>
                </a:solidFill>
                <a:latin typeface="Courier New"/>
              </a:rPr>
              <a:t>.</a:t>
            </a:r>
          </a:p>
          <a:p>
            <a:pPr algn="l"/>
            <a:r>
              <a:rPr lang="es-CO" sz="830" b="0" i="0">
                <a:solidFill>
                  <a:srgbClr val="E8EEF6"/>
                </a:solidFill>
                <a:latin typeface="Courier New"/>
              </a:rPr>
              <a:t> </a:t>
            </a:r>
          </a:p>
          <a:p>
            <a:pPr algn="l"/>
            <a:r>
              <a:rPr lang="es-CO" sz="830" b="0" i="0">
                <a:solidFill>
                  <a:srgbClr val="D7E1EE"/>
                </a:solidFill>
                <a:latin typeface="Courier New"/>
              </a:rPr>
              <a:t>sw:realiza  </a:t>
            </a:r>
            <a:r>
              <a:rPr lang="es-CO" sz="830" b="0" i="0">
                <a:solidFill>
                  <a:srgbClr val="FFB86C"/>
                </a:solidFill>
                <a:latin typeface="Courier New"/>
              </a:rPr>
              <a:t>a</a:t>
            </a:r>
            <a:r>
              <a:rPr lang="es-CO" sz="830" b="0" i="0">
                <a:solidFill>
                  <a:srgbClr val="D7E1EE"/>
                </a:solidFill>
                <a:latin typeface="Courier New"/>
              </a:rPr>
              <a:t> </a:t>
            </a:r>
            <a:r>
              <a:rPr lang="es-CO" sz="830" b="0" i="0">
                <a:solidFill>
                  <a:srgbClr val="FFB86C"/>
                </a:solidFill>
                <a:latin typeface="Courier New"/>
              </a:rPr>
              <a:t>owl:ObjectProperty</a:t>
            </a:r>
            <a:r>
              <a:rPr lang="es-CO" sz="830" b="0" i="0">
                <a:solidFill>
                  <a:srgbClr val="D7E1EE"/>
                </a:solidFill>
                <a:latin typeface="Courier New"/>
              </a:rPr>
              <a:t> </a:t>
            </a:r>
            <a:r>
              <a:rPr lang="es-CO" sz="830" b="0" i="0">
                <a:solidFill>
                  <a:srgbClr val="93A5BD"/>
                </a:solidFill>
                <a:latin typeface="Courier New"/>
              </a:rPr>
              <a:t>;</a:t>
            </a:r>
          </a:p>
          <a:p>
            <a:pPr algn="l"/>
            <a:r>
              <a:rPr lang="es-CO" sz="830" b="0" i="0">
                <a:solidFill>
                  <a:srgbClr val="D7E1EE"/>
                </a:solidFill>
                <a:latin typeface="Courier New"/>
              </a:rPr>
              <a:t>    </a:t>
            </a:r>
            <a:r>
              <a:rPr lang="es-CO" sz="830" b="0" i="0">
                <a:solidFill>
                  <a:srgbClr val="FFB86C"/>
                </a:solidFill>
                <a:latin typeface="Courier New"/>
              </a:rPr>
              <a:t>rdfs:domain</a:t>
            </a:r>
            <a:r>
              <a:rPr lang="es-CO" sz="830" b="0" i="0">
                <a:solidFill>
                  <a:srgbClr val="D7E1EE"/>
                </a:solidFill>
                <a:latin typeface="Courier New"/>
              </a:rPr>
              <a:t> </a:t>
            </a:r>
            <a:r>
              <a:rPr lang="es-CO" sz="830" b="0" i="0">
                <a:solidFill>
                  <a:srgbClr val="3DDC97"/>
                </a:solidFill>
                <a:latin typeface="Courier New"/>
              </a:rPr>
              <a:t>sw:Contacto</a:t>
            </a:r>
            <a:r>
              <a:rPr lang="es-CO" sz="830" b="0" i="0">
                <a:solidFill>
                  <a:srgbClr val="D7E1EE"/>
                </a:solidFill>
                <a:latin typeface="Courier New"/>
              </a:rPr>
              <a:t> </a:t>
            </a:r>
            <a:r>
              <a:rPr lang="es-CO" sz="830" b="0" i="0">
                <a:solidFill>
                  <a:srgbClr val="93A5BD"/>
                </a:solidFill>
                <a:latin typeface="Courier New"/>
              </a:rPr>
              <a:t>;</a:t>
            </a:r>
            <a:r>
              <a:rPr lang="es-CO" sz="830" b="0" i="0">
                <a:solidFill>
                  <a:srgbClr val="D7E1EE"/>
                </a:solidFill>
                <a:latin typeface="Courier New"/>
              </a:rPr>
              <a:t> </a:t>
            </a:r>
            <a:r>
              <a:rPr lang="es-CO" sz="830" b="0" i="0">
                <a:solidFill>
                  <a:srgbClr val="FFB86C"/>
                </a:solidFill>
                <a:latin typeface="Courier New"/>
              </a:rPr>
              <a:t>rdfs:range</a:t>
            </a:r>
            <a:r>
              <a:rPr lang="es-CO" sz="830" b="0" i="0">
                <a:solidFill>
                  <a:srgbClr val="D7E1EE"/>
                </a:solidFill>
                <a:latin typeface="Courier New"/>
              </a:rPr>
              <a:t> </a:t>
            </a:r>
            <a:r>
              <a:rPr lang="es-CO" sz="830" b="0" i="0">
                <a:solidFill>
                  <a:srgbClr val="3DDC97"/>
                </a:solidFill>
                <a:latin typeface="Courier New"/>
              </a:rPr>
              <a:t>sw:Solicitud</a:t>
            </a:r>
            <a:r>
              <a:rPr lang="es-CO" sz="830" b="0" i="0">
                <a:solidFill>
                  <a:srgbClr val="D7E1EE"/>
                </a:solidFill>
                <a:latin typeface="Courier New"/>
              </a:rPr>
              <a:t> </a:t>
            </a:r>
            <a:r>
              <a:rPr lang="es-CO" sz="830" b="0" i="0">
                <a:solidFill>
                  <a:srgbClr val="93A5BD"/>
                </a:solidFill>
                <a:latin typeface="Courier New"/>
              </a:rPr>
              <a:t>.</a:t>
            </a:r>
          </a:p>
          <a:p>
            <a:pPr algn="l"/>
            <a:r>
              <a:rPr lang="es-CO" sz="830" b="0" i="0">
                <a:solidFill>
                  <a:srgbClr val="D7E1EE"/>
                </a:solidFill>
                <a:latin typeface="Courier New"/>
              </a:rPr>
              <a:t>sw:solicita </a:t>
            </a:r>
            <a:r>
              <a:rPr lang="es-CO" sz="830" b="0" i="0">
                <a:solidFill>
                  <a:srgbClr val="FFB86C"/>
                </a:solidFill>
                <a:latin typeface="Courier New"/>
              </a:rPr>
              <a:t>a</a:t>
            </a:r>
            <a:r>
              <a:rPr lang="es-CO" sz="830" b="0" i="0">
                <a:solidFill>
                  <a:srgbClr val="D7E1EE"/>
                </a:solidFill>
                <a:latin typeface="Courier New"/>
              </a:rPr>
              <a:t> </a:t>
            </a:r>
            <a:r>
              <a:rPr lang="es-CO" sz="830" b="0" i="0">
                <a:solidFill>
                  <a:srgbClr val="FFB86C"/>
                </a:solidFill>
                <a:latin typeface="Courier New"/>
              </a:rPr>
              <a:t>owl:ObjectProperty</a:t>
            </a:r>
            <a:r>
              <a:rPr lang="es-CO" sz="830" b="0" i="0">
                <a:solidFill>
                  <a:srgbClr val="D7E1EE"/>
                </a:solidFill>
                <a:latin typeface="Courier New"/>
              </a:rPr>
              <a:t> </a:t>
            </a:r>
            <a:r>
              <a:rPr lang="es-CO" sz="830" b="0" i="0">
                <a:solidFill>
                  <a:srgbClr val="93A5BD"/>
                </a:solidFill>
                <a:latin typeface="Courier New"/>
              </a:rPr>
              <a:t>;</a:t>
            </a:r>
          </a:p>
          <a:p>
            <a:pPr algn="l"/>
            <a:r>
              <a:rPr lang="es-CO" sz="830" b="0" i="0">
                <a:solidFill>
                  <a:srgbClr val="D7E1EE"/>
                </a:solidFill>
                <a:latin typeface="Courier New"/>
              </a:rPr>
              <a:t>    </a:t>
            </a:r>
            <a:r>
              <a:rPr lang="es-CO" sz="830" b="0" i="0">
                <a:solidFill>
                  <a:srgbClr val="FFB86C"/>
                </a:solidFill>
                <a:latin typeface="Courier New"/>
              </a:rPr>
              <a:t>rdfs:domain</a:t>
            </a:r>
            <a:r>
              <a:rPr lang="es-CO" sz="830" b="0" i="0">
                <a:solidFill>
                  <a:srgbClr val="D7E1EE"/>
                </a:solidFill>
                <a:latin typeface="Courier New"/>
              </a:rPr>
              <a:t> </a:t>
            </a:r>
            <a:r>
              <a:rPr lang="es-CO" sz="830" b="0" i="0">
                <a:solidFill>
                  <a:srgbClr val="3DDC97"/>
                </a:solidFill>
                <a:latin typeface="Courier New"/>
              </a:rPr>
              <a:t>sw:Solicitud</a:t>
            </a:r>
            <a:r>
              <a:rPr lang="es-CO" sz="830" b="0" i="0">
                <a:solidFill>
                  <a:srgbClr val="D7E1EE"/>
                </a:solidFill>
                <a:latin typeface="Courier New"/>
              </a:rPr>
              <a:t> </a:t>
            </a:r>
            <a:r>
              <a:rPr lang="es-CO" sz="830" b="0" i="0">
                <a:solidFill>
                  <a:srgbClr val="93A5BD"/>
                </a:solidFill>
                <a:latin typeface="Courier New"/>
              </a:rPr>
              <a:t>;</a:t>
            </a:r>
            <a:r>
              <a:rPr lang="es-CO" sz="830" b="0" i="0">
                <a:solidFill>
                  <a:srgbClr val="D7E1EE"/>
                </a:solidFill>
                <a:latin typeface="Courier New"/>
              </a:rPr>
              <a:t> </a:t>
            </a:r>
            <a:r>
              <a:rPr lang="es-CO" sz="830" b="0" i="0">
                <a:solidFill>
                  <a:srgbClr val="FFB86C"/>
                </a:solidFill>
                <a:latin typeface="Courier New"/>
              </a:rPr>
              <a:t>rdfs:range</a:t>
            </a:r>
            <a:r>
              <a:rPr lang="es-CO" sz="830" b="0" i="0">
                <a:solidFill>
                  <a:srgbClr val="D7E1EE"/>
                </a:solidFill>
                <a:latin typeface="Courier New"/>
              </a:rPr>
              <a:t> </a:t>
            </a:r>
            <a:r>
              <a:rPr lang="es-CO" sz="830" b="0" i="0">
                <a:solidFill>
                  <a:srgbClr val="3DDC97"/>
                </a:solidFill>
                <a:latin typeface="Courier New"/>
              </a:rPr>
              <a:t>sw:Servicio</a:t>
            </a:r>
            <a:r>
              <a:rPr lang="es-CO" sz="830" b="0" i="0">
                <a:solidFill>
                  <a:srgbClr val="D7E1EE"/>
                </a:solidFill>
                <a:latin typeface="Courier New"/>
              </a:rPr>
              <a:t> </a:t>
            </a:r>
            <a:r>
              <a:rPr lang="es-CO" sz="830" b="0" i="0">
                <a:solidFill>
                  <a:srgbClr val="93A5BD"/>
                </a:solidFill>
                <a:latin typeface="Courier New"/>
              </a:rPr>
              <a:t>.</a:t>
            </a:r>
          </a:p>
          <a:p>
            <a:pPr algn="l"/>
            <a:r>
              <a:rPr lang="es-CO" sz="830" b="0" i="0">
                <a:solidFill>
                  <a:srgbClr val="D7E1EE"/>
                </a:solidFill>
                <a:latin typeface="Courier New"/>
              </a:rPr>
              <a:t>sw:nombre </a:t>
            </a:r>
            <a:r>
              <a:rPr lang="es-CO" sz="830" b="0" i="0">
                <a:solidFill>
                  <a:srgbClr val="FFB86C"/>
                </a:solidFill>
                <a:latin typeface="Courier New"/>
              </a:rPr>
              <a:t>a</a:t>
            </a:r>
            <a:r>
              <a:rPr lang="es-CO" sz="830" b="0" i="0">
                <a:solidFill>
                  <a:srgbClr val="D7E1EE"/>
                </a:solidFill>
                <a:latin typeface="Courier New"/>
              </a:rPr>
              <a:t> </a:t>
            </a:r>
            <a:r>
              <a:rPr lang="es-CO" sz="830" b="0" i="0">
                <a:solidFill>
                  <a:srgbClr val="FFB86C"/>
                </a:solidFill>
                <a:latin typeface="Courier New"/>
              </a:rPr>
              <a:t>owl:DatatypeProperty</a:t>
            </a:r>
            <a:r>
              <a:rPr lang="es-CO" sz="830" b="0" i="0">
                <a:solidFill>
                  <a:srgbClr val="D7E1EE"/>
                </a:solidFill>
                <a:latin typeface="Courier New"/>
              </a:rPr>
              <a:t> </a:t>
            </a:r>
            <a:r>
              <a:rPr lang="es-CO" sz="830" b="0" i="0">
                <a:solidFill>
                  <a:srgbClr val="93A5BD"/>
                </a:solidFill>
                <a:latin typeface="Courier New"/>
              </a:rPr>
              <a:t>;</a:t>
            </a:r>
          </a:p>
          <a:p>
            <a:pPr algn="l"/>
            <a:r>
              <a:rPr lang="es-CO" sz="830" b="0" i="0">
                <a:solidFill>
                  <a:srgbClr val="D7E1EE"/>
                </a:solidFill>
                <a:latin typeface="Courier New"/>
              </a:rPr>
              <a:t>    </a:t>
            </a:r>
            <a:r>
              <a:rPr lang="es-CO" sz="830" b="0" i="0">
                <a:solidFill>
                  <a:srgbClr val="FFB86C"/>
                </a:solidFill>
                <a:latin typeface="Courier New"/>
              </a:rPr>
              <a:t>rdfs:domain</a:t>
            </a:r>
            <a:r>
              <a:rPr lang="es-CO" sz="830" b="0" i="0">
                <a:solidFill>
                  <a:srgbClr val="D7E1EE"/>
                </a:solidFill>
                <a:latin typeface="Courier New"/>
              </a:rPr>
              <a:t> </a:t>
            </a:r>
            <a:r>
              <a:rPr lang="es-CO" sz="830" b="0" i="0">
                <a:solidFill>
                  <a:srgbClr val="3DDC97"/>
                </a:solidFill>
                <a:latin typeface="Courier New"/>
              </a:rPr>
              <a:t>sw:Contacto</a:t>
            </a:r>
            <a:r>
              <a:rPr lang="es-CO" sz="830" b="0" i="0">
                <a:solidFill>
                  <a:srgbClr val="D7E1EE"/>
                </a:solidFill>
                <a:latin typeface="Courier New"/>
              </a:rPr>
              <a:t> </a:t>
            </a:r>
            <a:r>
              <a:rPr lang="es-CO" sz="830" b="0" i="0">
                <a:solidFill>
                  <a:srgbClr val="93A5BD"/>
                </a:solidFill>
                <a:latin typeface="Courier New"/>
              </a:rPr>
              <a:t>;</a:t>
            </a:r>
            <a:r>
              <a:rPr lang="es-CO" sz="830" b="0" i="0">
                <a:solidFill>
                  <a:srgbClr val="D7E1EE"/>
                </a:solidFill>
                <a:latin typeface="Courier New"/>
              </a:rPr>
              <a:t> </a:t>
            </a:r>
            <a:r>
              <a:rPr lang="es-CO" sz="830" b="0" i="0">
                <a:solidFill>
                  <a:srgbClr val="FFB86C"/>
                </a:solidFill>
                <a:latin typeface="Courier New"/>
              </a:rPr>
              <a:t>rdfs:range</a:t>
            </a:r>
            <a:r>
              <a:rPr lang="es-CO" sz="830" b="0" i="0">
                <a:solidFill>
                  <a:srgbClr val="D7E1EE"/>
                </a:solidFill>
                <a:latin typeface="Courier New"/>
              </a:rPr>
              <a:t> </a:t>
            </a:r>
            <a:r>
              <a:rPr lang="es-CO" sz="830" b="0" i="0">
                <a:solidFill>
                  <a:srgbClr val="FFB86C"/>
                </a:solidFill>
                <a:latin typeface="Courier New"/>
              </a:rPr>
              <a:t>xsd:string</a:t>
            </a:r>
            <a:r>
              <a:rPr lang="es-CO" sz="830" b="0" i="0">
                <a:solidFill>
                  <a:srgbClr val="D7E1EE"/>
                </a:solidFill>
                <a:latin typeface="Courier New"/>
              </a:rPr>
              <a:t> </a:t>
            </a:r>
            <a:r>
              <a:rPr lang="es-CO" sz="830" b="0" i="0">
                <a:solidFill>
                  <a:srgbClr val="93A5BD"/>
                </a:solidFill>
                <a:latin typeface="Courier New"/>
              </a:rPr>
              <a:t>.</a:t>
            </a:r>
          </a:p>
          <a:p>
            <a:pPr algn="l"/>
            <a:r>
              <a:rPr lang="es-CO" sz="830" b="0" i="0">
                <a:solidFill>
                  <a:srgbClr val="D7E1EE"/>
                </a:solidFill>
                <a:latin typeface="Courier New"/>
              </a:rPr>
              <a:t>sw:correo </a:t>
            </a:r>
            <a:r>
              <a:rPr lang="es-CO" sz="830" b="0" i="0">
                <a:solidFill>
                  <a:srgbClr val="FFB86C"/>
                </a:solidFill>
                <a:latin typeface="Courier New"/>
              </a:rPr>
              <a:t>a</a:t>
            </a:r>
            <a:r>
              <a:rPr lang="es-CO" sz="830" b="0" i="0">
                <a:solidFill>
                  <a:srgbClr val="D7E1EE"/>
                </a:solidFill>
                <a:latin typeface="Courier New"/>
              </a:rPr>
              <a:t> </a:t>
            </a:r>
            <a:r>
              <a:rPr lang="es-CO" sz="830" b="0" i="0">
                <a:solidFill>
                  <a:srgbClr val="FFB86C"/>
                </a:solidFill>
                <a:latin typeface="Courier New"/>
              </a:rPr>
              <a:t>owl:DatatypeProperty</a:t>
            </a:r>
            <a:r>
              <a:rPr lang="es-CO" sz="830" b="0" i="0">
                <a:solidFill>
                  <a:srgbClr val="D7E1EE"/>
                </a:solidFill>
                <a:latin typeface="Courier New"/>
              </a:rPr>
              <a:t> </a:t>
            </a:r>
            <a:r>
              <a:rPr lang="es-CO" sz="830" b="0" i="0">
                <a:solidFill>
                  <a:srgbClr val="93A5BD"/>
                </a:solidFill>
                <a:latin typeface="Courier New"/>
              </a:rPr>
              <a:t>;</a:t>
            </a:r>
          </a:p>
          <a:p>
            <a:pPr algn="l"/>
            <a:r>
              <a:rPr lang="es-CO" sz="830" b="0" i="0">
                <a:solidFill>
                  <a:srgbClr val="D7E1EE"/>
                </a:solidFill>
                <a:latin typeface="Courier New"/>
              </a:rPr>
              <a:t>    </a:t>
            </a:r>
            <a:r>
              <a:rPr lang="es-CO" sz="830" b="0" i="0">
                <a:solidFill>
                  <a:srgbClr val="FFB86C"/>
                </a:solidFill>
                <a:latin typeface="Courier New"/>
              </a:rPr>
              <a:t>rdfs:domain</a:t>
            </a:r>
            <a:r>
              <a:rPr lang="es-CO" sz="830" b="0" i="0">
                <a:solidFill>
                  <a:srgbClr val="D7E1EE"/>
                </a:solidFill>
                <a:latin typeface="Courier New"/>
              </a:rPr>
              <a:t> </a:t>
            </a:r>
            <a:r>
              <a:rPr lang="es-CO" sz="830" b="0" i="0">
                <a:solidFill>
                  <a:srgbClr val="3DDC97"/>
                </a:solidFill>
                <a:latin typeface="Courier New"/>
              </a:rPr>
              <a:t>sw:Contacto</a:t>
            </a:r>
            <a:r>
              <a:rPr lang="es-CO" sz="830" b="0" i="0">
                <a:solidFill>
                  <a:srgbClr val="D7E1EE"/>
                </a:solidFill>
                <a:latin typeface="Courier New"/>
              </a:rPr>
              <a:t> </a:t>
            </a:r>
            <a:r>
              <a:rPr lang="es-CO" sz="830" b="0" i="0">
                <a:solidFill>
                  <a:srgbClr val="93A5BD"/>
                </a:solidFill>
                <a:latin typeface="Courier New"/>
              </a:rPr>
              <a:t>;</a:t>
            </a:r>
            <a:r>
              <a:rPr lang="es-CO" sz="830" b="0" i="0">
                <a:solidFill>
                  <a:srgbClr val="D7E1EE"/>
                </a:solidFill>
                <a:latin typeface="Courier New"/>
              </a:rPr>
              <a:t> </a:t>
            </a:r>
            <a:r>
              <a:rPr lang="es-CO" sz="830" b="0" i="0">
                <a:solidFill>
                  <a:srgbClr val="FFB86C"/>
                </a:solidFill>
                <a:latin typeface="Courier New"/>
              </a:rPr>
              <a:t>rdfs:range</a:t>
            </a:r>
            <a:r>
              <a:rPr lang="es-CO" sz="830" b="0" i="0">
                <a:solidFill>
                  <a:srgbClr val="D7E1EE"/>
                </a:solidFill>
                <a:latin typeface="Courier New"/>
              </a:rPr>
              <a:t> </a:t>
            </a:r>
            <a:r>
              <a:rPr lang="es-CO" sz="830" b="0" i="0">
                <a:solidFill>
                  <a:srgbClr val="FFB86C"/>
                </a:solidFill>
                <a:latin typeface="Courier New"/>
              </a:rPr>
              <a:t>xsd:string</a:t>
            </a:r>
            <a:r>
              <a:rPr lang="es-CO" sz="830" b="0" i="0">
                <a:solidFill>
                  <a:srgbClr val="D7E1EE"/>
                </a:solidFill>
                <a:latin typeface="Courier New"/>
              </a:rPr>
              <a:t> </a:t>
            </a:r>
            <a:r>
              <a:rPr lang="es-CO" sz="830" b="0" i="0">
                <a:solidFill>
                  <a:srgbClr val="93A5BD"/>
                </a:solidFill>
                <a:latin typeface="Courier New"/>
              </a:rPr>
              <a:t>.</a:t>
            </a:r>
          </a:p>
        </p:txBody>
      </p:sp>
      <p:sp>
        <p:nvSpPr>
          <p:cNvPr id="11" name="Rounded Rectangle 10"/>
          <p:cNvSpPr/>
          <p:nvPr/>
        </p:nvSpPr>
        <p:spPr>
          <a:xfrm>
            <a:off x="5623560" y="1234440"/>
            <a:ext cx="3017520" cy="2880360"/>
          </a:xfrm>
          <a:prstGeom prst="roundRect">
            <a:avLst>
              <a:gd name="adj" fmla="val 8000"/>
            </a:avLst>
          </a:prstGeom>
          <a:solidFill>
            <a:srgbClr val="070C1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769864" y="1307592"/>
            <a:ext cx="2724912" cy="182880"/>
          </a:xfrm>
          <a:prstGeom prst="rect">
            <a:avLst/>
          </a:prstGeom>
          <a:noFill/>
        </p:spPr>
        <p:txBody>
          <a:bodyPr wrap="square" lIns="0" tIns="0" rIns="0" bIns="0" anchor="ctr">
            <a:spAutoFit/>
          </a:bodyPr>
          <a:lstStyle/>
          <a:p>
            <a:pPr algn="l"/>
            <a:r>
              <a:rPr lang="es-CO" sz="950" b="1" i="0">
                <a:solidFill>
                  <a:srgbClr val="56C7F2"/>
                </a:solidFill>
                <a:latin typeface="Courier New"/>
              </a:rPr>
              <a:t>ontologia_soporte.ttl · individuos</a:t>
            </a:r>
          </a:p>
        </p:txBody>
      </p:sp>
      <p:sp>
        <p:nvSpPr>
          <p:cNvPr id="13" name="TextBox 12"/>
          <p:cNvSpPr txBox="1"/>
          <p:nvPr/>
        </p:nvSpPr>
        <p:spPr>
          <a:xfrm>
            <a:off x="5769864" y="1508760"/>
            <a:ext cx="2724912" cy="2551176"/>
          </a:xfrm>
          <a:prstGeom prst="rect">
            <a:avLst/>
          </a:prstGeom>
          <a:noFill/>
        </p:spPr>
        <p:txBody>
          <a:bodyPr wrap="square" lIns="0" tIns="0" rIns="0" bIns="0" anchor="t">
            <a:spAutoFit/>
          </a:bodyPr>
          <a:lstStyle/>
          <a:p>
            <a:pPr algn="l"/>
            <a:r>
              <a:rPr lang="es-CO" sz="900" b="0" i="0">
                <a:solidFill>
                  <a:srgbClr val="D7E1EE"/>
                </a:solidFill>
                <a:latin typeface="Courier New"/>
              </a:rPr>
              <a:t>sw:ana </a:t>
            </a:r>
            <a:r>
              <a:rPr lang="es-CO" sz="900" b="0" i="0">
                <a:solidFill>
                  <a:srgbClr val="FFB86C"/>
                </a:solidFill>
                <a:latin typeface="Courier New"/>
              </a:rPr>
              <a:t>a</a:t>
            </a:r>
            <a:r>
              <a:rPr lang="es-CO" sz="900" b="0" i="0">
                <a:solidFill>
                  <a:srgbClr val="D7E1EE"/>
                </a:solidFill>
                <a:latin typeface="Courier New"/>
              </a:rPr>
              <a:t> </a:t>
            </a:r>
            <a:r>
              <a:rPr lang="es-CO" sz="900" b="0" i="0">
                <a:solidFill>
                  <a:srgbClr val="3DDC97"/>
                </a:solidFill>
                <a:latin typeface="Courier New"/>
              </a:rPr>
              <a:t>sw:Contacto</a:t>
            </a:r>
            <a:r>
              <a:rPr lang="es-CO" sz="900" b="0" i="0">
                <a:solidFill>
                  <a:srgbClr val="D7E1EE"/>
                </a:solidFill>
                <a:latin typeface="Courier New"/>
              </a:rPr>
              <a:t> </a:t>
            </a:r>
            <a:r>
              <a:rPr lang="es-CO" sz="900" b="0" i="0">
                <a:solidFill>
                  <a:srgbClr val="93A5BD"/>
                </a:solidFill>
                <a:latin typeface="Courier New"/>
              </a:rPr>
              <a:t>;</a:t>
            </a:r>
          </a:p>
          <a:p>
            <a:pPr algn="l"/>
            <a:r>
              <a:rPr lang="es-CO" sz="900" b="0" i="0">
                <a:solidFill>
                  <a:srgbClr val="D7E1EE"/>
                </a:solidFill>
                <a:latin typeface="Courier New"/>
              </a:rPr>
              <a:t>    </a:t>
            </a:r>
            <a:r>
              <a:rPr lang="es-CO" sz="900" b="0" i="0">
                <a:solidFill>
                  <a:srgbClr val="56C7F2"/>
                </a:solidFill>
                <a:latin typeface="Courier New"/>
              </a:rPr>
              <a:t>sw:nombre</a:t>
            </a:r>
            <a:r>
              <a:rPr lang="es-CO" sz="900" b="0" i="0">
                <a:solidFill>
                  <a:srgbClr val="D7E1EE"/>
                </a:solidFill>
                <a:latin typeface="Courier New"/>
              </a:rPr>
              <a:t> </a:t>
            </a:r>
            <a:r>
              <a:rPr lang="es-CO" sz="900" b="0" i="0">
                <a:solidFill>
                  <a:srgbClr val="FFD479"/>
                </a:solidFill>
                <a:latin typeface="Courier New"/>
              </a:rPr>
              <a:t>"Ana"</a:t>
            </a:r>
            <a:r>
              <a:rPr lang="es-CO" sz="900" b="0" i="0">
                <a:solidFill>
                  <a:srgbClr val="D7E1EE"/>
                </a:solidFill>
                <a:latin typeface="Courier New"/>
              </a:rPr>
              <a:t> </a:t>
            </a:r>
            <a:r>
              <a:rPr lang="es-CO" sz="900" b="0" i="0">
                <a:solidFill>
                  <a:srgbClr val="93A5BD"/>
                </a:solidFill>
                <a:latin typeface="Courier New"/>
              </a:rPr>
              <a:t>;</a:t>
            </a:r>
          </a:p>
          <a:p>
            <a:pPr algn="l"/>
            <a:r>
              <a:rPr lang="es-CO" sz="900" b="0" i="0">
                <a:solidFill>
                  <a:srgbClr val="D7E1EE"/>
                </a:solidFill>
                <a:latin typeface="Courier New"/>
              </a:rPr>
              <a:t>    </a:t>
            </a:r>
            <a:r>
              <a:rPr lang="es-CO" sz="900" b="0" i="0">
                <a:solidFill>
                  <a:srgbClr val="56C7F2"/>
                </a:solidFill>
                <a:latin typeface="Courier New"/>
              </a:rPr>
              <a:t>sw:correo</a:t>
            </a:r>
            <a:r>
              <a:rPr lang="es-CO" sz="900" b="0" i="0">
                <a:solidFill>
                  <a:srgbClr val="D7E1EE"/>
                </a:solidFill>
                <a:latin typeface="Courier New"/>
              </a:rPr>
              <a:t> </a:t>
            </a:r>
            <a:r>
              <a:rPr lang="es-CO" sz="900" b="0" i="0">
                <a:solidFill>
                  <a:srgbClr val="FFD479"/>
                </a:solidFill>
                <a:latin typeface="Courier New"/>
              </a:rPr>
              <a:t>"ana@example.com"</a:t>
            </a:r>
            <a:r>
              <a:rPr lang="es-CO" sz="900" b="0" i="0">
                <a:solidFill>
                  <a:srgbClr val="D7E1EE"/>
                </a:solidFill>
                <a:latin typeface="Courier New"/>
              </a:rPr>
              <a:t> </a:t>
            </a:r>
            <a:r>
              <a:rPr lang="es-CO" sz="900" b="0" i="0">
                <a:solidFill>
                  <a:srgbClr val="93A5BD"/>
                </a:solidFill>
                <a:latin typeface="Courier New"/>
              </a:rPr>
              <a:t>;</a:t>
            </a:r>
          </a:p>
          <a:p>
            <a:pPr algn="l"/>
            <a:r>
              <a:rPr lang="es-CO" sz="900" b="0" i="0">
                <a:solidFill>
                  <a:srgbClr val="D7E1EE"/>
                </a:solidFill>
                <a:latin typeface="Courier New"/>
              </a:rPr>
              <a:t>    </a:t>
            </a:r>
            <a:r>
              <a:rPr lang="es-CO" sz="900" b="0" i="0">
                <a:solidFill>
                  <a:srgbClr val="56C7F2"/>
                </a:solidFill>
                <a:latin typeface="Courier New"/>
              </a:rPr>
              <a:t>sw:realiza</a:t>
            </a:r>
            <a:r>
              <a:rPr lang="es-CO" sz="900" b="0" i="0">
                <a:solidFill>
                  <a:srgbClr val="D7E1EE"/>
                </a:solidFill>
                <a:latin typeface="Courier New"/>
              </a:rPr>
              <a:t> sw:solicitud001 </a:t>
            </a:r>
            <a:r>
              <a:rPr lang="es-CO" sz="900" b="0" i="0">
                <a:solidFill>
                  <a:srgbClr val="93A5BD"/>
                </a:solidFill>
                <a:latin typeface="Courier New"/>
              </a:rPr>
              <a:t>.</a:t>
            </a:r>
          </a:p>
          <a:p>
            <a:pPr algn="l"/>
            <a:r>
              <a:rPr lang="es-CO" sz="900" b="0" i="0">
                <a:solidFill>
                  <a:srgbClr val="E8EEF6"/>
                </a:solidFill>
                <a:latin typeface="Courier New"/>
              </a:rPr>
              <a:t> </a:t>
            </a:r>
          </a:p>
          <a:p>
            <a:pPr algn="l"/>
            <a:r>
              <a:rPr lang="es-CO" sz="900" b="0" i="0">
                <a:solidFill>
                  <a:srgbClr val="D7E1EE"/>
                </a:solidFill>
                <a:latin typeface="Courier New"/>
              </a:rPr>
              <a:t>sw:solicitud001 </a:t>
            </a:r>
            <a:r>
              <a:rPr lang="es-CO" sz="900" b="0" i="0">
                <a:solidFill>
                  <a:srgbClr val="FFB86C"/>
                </a:solidFill>
                <a:latin typeface="Courier New"/>
              </a:rPr>
              <a:t>a</a:t>
            </a:r>
            <a:r>
              <a:rPr lang="es-CO" sz="900" b="0" i="0">
                <a:solidFill>
                  <a:srgbClr val="D7E1EE"/>
                </a:solidFill>
                <a:latin typeface="Courier New"/>
              </a:rPr>
              <a:t> </a:t>
            </a:r>
            <a:r>
              <a:rPr lang="es-CO" sz="900" b="0" i="0">
                <a:solidFill>
                  <a:srgbClr val="3DDC97"/>
                </a:solidFill>
                <a:latin typeface="Courier New"/>
              </a:rPr>
              <a:t>sw:Solicitud</a:t>
            </a:r>
            <a:r>
              <a:rPr lang="es-CO" sz="900" b="0" i="0">
                <a:solidFill>
                  <a:srgbClr val="D7E1EE"/>
                </a:solidFill>
                <a:latin typeface="Courier New"/>
              </a:rPr>
              <a:t> </a:t>
            </a:r>
            <a:r>
              <a:rPr lang="es-CO" sz="900" b="0" i="0">
                <a:solidFill>
                  <a:srgbClr val="93A5BD"/>
                </a:solidFill>
                <a:latin typeface="Courier New"/>
              </a:rPr>
              <a:t>;</a:t>
            </a:r>
          </a:p>
          <a:p>
            <a:pPr algn="l"/>
            <a:r>
              <a:rPr lang="es-CO" sz="900" b="0" i="0">
                <a:solidFill>
                  <a:srgbClr val="D7E1EE"/>
                </a:solidFill>
                <a:latin typeface="Courier New"/>
              </a:rPr>
              <a:t>    </a:t>
            </a:r>
            <a:r>
              <a:rPr lang="es-CO" sz="900" b="0" i="0">
                <a:solidFill>
                  <a:srgbClr val="56C7F2"/>
                </a:solidFill>
                <a:latin typeface="Courier New"/>
              </a:rPr>
              <a:t>sw:solicita</a:t>
            </a:r>
            <a:r>
              <a:rPr lang="es-CO" sz="900" b="0" i="0">
                <a:solidFill>
                  <a:srgbClr val="D7E1EE"/>
                </a:solidFill>
                <a:latin typeface="Courier New"/>
              </a:rPr>
              <a:t> sw:paginaTienda </a:t>
            </a:r>
            <a:r>
              <a:rPr lang="es-CO" sz="900" b="0" i="0">
                <a:solidFill>
                  <a:srgbClr val="93A5BD"/>
                </a:solidFill>
                <a:latin typeface="Courier New"/>
              </a:rPr>
              <a:t>.</a:t>
            </a:r>
          </a:p>
          <a:p>
            <a:pPr algn="l"/>
            <a:r>
              <a:rPr lang="es-CO" sz="900" b="0" i="0">
                <a:solidFill>
                  <a:srgbClr val="E8EEF6"/>
                </a:solidFill>
                <a:latin typeface="Courier New"/>
              </a:rPr>
              <a:t> </a:t>
            </a:r>
          </a:p>
          <a:p>
            <a:pPr algn="l"/>
            <a:r>
              <a:rPr lang="es-CO" sz="900" b="0" i="0">
                <a:solidFill>
                  <a:srgbClr val="D7E1EE"/>
                </a:solidFill>
                <a:latin typeface="Courier New"/>
              </a:rPr>
              <a:t>sw:paginaTienda</a:t>
            </a:r>
          </a:p>
          <a:p>
            <a:pPr algn="l"/>
            <a:r>
              <a:rPr lang="es-CO" sz="900" b="0" i="0">
                <a:solidFill>
                  <a:srgbClr val="D7E1EE"/>
                </a:solidFill>
                <a:latin typeface="Courier New"/>
              </a:rPr>
              <a:t>    </a:t>
            </a:r>
            <a:r>
              <a:rPr lang="es-CO" sz="900" b="0" i="0">
                <a:solidFill>
                  <a:srgbClr val="FFB86C"/>
                </a:solidFill>
                <a:latin typeface="Courier New"/>
              </a:rPr>
              <a:t>a</a:t>
            </a:r>
            <a:r>
              <a:rPr lang="es-CO" sz="900" b="0" i="0">
                <a:solidFill>
                  <a:srgbClr val="D7E1EE"/>
                </a:solidFill>
                <a:latin typeface="Courier New"/>
              </a:rPr>
              <a:t> </a:t>
            </a:r>
            <a:r>
              <a:rPr lang="es-CO" sz="900" b="0" i="0">
                <a:solidFill>
                  <a:srgbClr val="3DDC97"/>
                </a:solidFill>
                <a:latin typeface="Courier New"/>
              </a:rPr>
              <a:t>sw:DesarrolloWeb</a:t>
            </a:r>
            <a:r>
              <a:rPr lang="es-CO" sz="900" b="0" i="0">
                <a:solidFill>
                  <a:srgbClr val="D7E1EE"/>
                </a:solidFill>
                <a:latin typeface="Courier New"/>
              </a:rPr>
              <a:t> </a:t>
            </a:r>
            <a:r>
              <a:rPr lang="es-CO" sz="900" b="0" i="0">
                <a:solidFill>
                  <a:srgbClr val="93A5BD"/>
                </a:solidFill>
                <a:latin typeface="Courier New"/>
              </a:rPr>
              <a:t>.</a:t>
            </a:r>
          </a:p>
        </p:txBody>
      </p:sp>
      <p:sp>
        <p:nvSpPr>
          <p:cNvPr id="14" name="Rounded Rectangle 13"/>
          <p:cNvSpPr/>
          <p:nvPr/>
        </p:nvSpPr>
        <p:spPr>
          <a:xfrm>
            <a:off x="502920" y="4206240"/>
            <a:ext cx="8138160" cy="329184"/>
          </a:xfrm>
          <a:prstGeom prst="roundRect">
            <a:avLst>
              <a:gd name="adj" fmla="val 8000"/>
            </a:avLst>
          </a:prstGeom>
          <a:solidFill>
            <a:srgbClr val="1A243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67512" y="4206240"/>
            <a:ext cx="7863840" cy="329184"/>
          </a:xfrm>
          <a:prstGeom prst="rect">
            <a:avLst/>
          </a:prstGeom>
          <a:noFill/>
        </p:spPr>
        <p:txBody>
          <a:bodyPr wrap="square" lIns="0" tIns="0" rIns="0" bIns="0" anchor="ctr">
            <a:spAutoFit/>
          </a:bodyPr>
          <a:lstStyle/>
          <a:p>
            <a:pPr algn="l"/>
            <a:r>
              <a:rPr lang="es-CO" sz="1000" b="1" i="0">
                <a:solidFill>
                  <a:srgbClr val="3DDC97"/>
                </a:solidFill>
                <a:latin typeface="Calibri"/>
              </a:rPr>
              <a:t>Un solo archivo de texto: </a:t>
            </a:r>
            <a:r>
              <a:rPr lang="es-CO" sz="1000" b="0" i="0">
                <a:solidFill>
                  <a:srgbClr val="E8EEF6"/>
                </a:solidFill>
                <a:latin typeface="Calibri"/>
              </a:rPr>
              <a:t>arriba, el vocabulario (clases y propiedades); a la derecha, los hechos sobre individuos.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7100A"/>
        </a:solidFill>
        <a:effectLst/>
      </p:bgPr>
    </p:bg>
    <p:spTree>
      <p:nvGrpSpPr>
        <p:cNvPr id="1" name=""/>
        <p:cNvGrpSpPr/>
        <p:nvPr/>
      </p:nvGrpSpPr>
      <p:grpSpPr>
        <a:xfrm>
          <a:off x="0" y="0"/>
          <a:ext cx="0" cy="0"/>
          <a:chOff x="0" y="0"/>
          <a:chExt cx="0" cy="0"/>
        </a:xfrm>
      </p:grpSpPr>
      <p:sp>
        <p:nvSpPr>
          <p:cNvPr id="2" name="TextBox 1"/>
          <p:cNvSpPr txBox="1"/>
          <p:nvPr/>
        </p:nvSpPr>
        <p:spPr>
          <a:xfrm>
            <a:off x="6309360" y="4718304"/>
            <a:ext cx="2331720" cy="201168"/>
          </a:xfrm>
          <a:prstGeom prst="rect">
            <a:avLst/>
          </a:prstGeom>
          <a:noFill/>
        </p:spPr>
        <p:txBody>
          <a:bodyPr wrap="square" lIns="0" tIns="0" rIns="0" bIns="0" anchor="ctr">
            <a:spAutoFit/>
          </a:bodyPr>
          <a:lstStyle/>
          <a:p>
            <a:pPr algn="r"/>
            <a:r>
              <a:rPr lang="es-CO" sz="800" b="0" i="0">
                <a:solidFill>
                  <a:srgbClr val="6C7E96"/>
                </a:solidFill>
                <a:latin typeface="Arial"/>
              </a:rPr>
              <a:t>Ingeniería Web  ·  21 / 24</a:t>
            </a:r>
          </a:p>
        </p:txBody>
      </p:sp>
      <p:sp>
        <p:nvSpPr>
          <p:cNvPr id="3" name="Rounded Rectangle 2"/>
          <p:cNvSpPr/>
          <p:nvPr/>
        </p:nvSpPr>
        <p:spPr>
          <a:xfrm>
            <a:off x="502920" y="365760"/>
            <a:ext cx="1728216" cy="228600"/>
          </a:xfrm>
          <a:prstGeom prst="roundRect">
            <a:avLst>
              <a:gd name="adj" fmla="val 50000"/>
            </a:avLst>
          </a:prstGeom>
          <a:solidFill>
            <a:srgbClr val="35210F"/>
          </a:solidFill>
          <a:ln w="9525">
            <a:solidFill>
              <a:srgbClr val="FF8A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502920" y="365760"/>
            <a:ext cx="1728216" cy="228600"/>
          </a:xfrm>
          <a:prstGeom prst="rect">
            <a:avLst/>
          </a:prstGeom>
          <a:noFill/>
        </p:spPr>
        <p:txBody>
          <a:bodyPr wrap="square" lIns="0" tIns="0" rIns="0" bIns="0" anchor="ctr">
            <a:spAutoFit/>
          </a:bodyPr>
          <a:lstStyle/>
          <a:p>
            <a:pPr algn="ctr"/>
            <a:r>
              <a:rPr lang="es-CO" sz="850" b="1" i="0">
                <a:solidFill>
                  <a:srgbClr val="FF8A3D"/>
                </a:solidFill>
                <a:latin typeface="Arial"/>
              </a:rPr>
              <a:t>LABORATORIO 08</a:t>
            </a:r>
          </a:p>
        </p:txBody>
      </p:sp>
      <p:sp>
        <p:nvSpPr>
          <p:cNvPr id="5" name="Rounded Rectangle 4"/>
          <p:cNvSpPr/>
          <p:nvPr/>
        </p:nvSpPr>
        <p:spPr>
          <a:xfrm>
            <a:off x="7452360" y="384048"/>
            <a:ext cx="877824" cy="182880"/>
          </a:xfrm>
          <a:prstGeom prst="roundRect">
            <a:avLst>
              <a:gd name="adj" fmla="val 50000"/>
            </a:avLst>
          </a:prstGeom>
          <a:solidFill>
            <a:srgbClr val="132A24"/>
          </a:solidFill>
          <a:ln w="952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7452360" y="384048"/>
            <a:ext cx="877824" cy="182880"/>
          </a:xfrm>
          <a:prstGeom prst="rect">
            <a:avLst/>
          </a:prstGeom>
          <a:noFill/>
        </p:spPr>
        <p:txBody>
          <a:bodyPr wrap="square" lIns="0" tIns="0" rIns="0" bIns="0" anchor="ctr">
            <a:spAutoFit/>
          </a:bodyPr>
          <a:lstStyle/>
          <a:p>
            <a:pPr algn="ctr"/>
            <a:r>
              <a:rPr lang="es-CO" sz="700" b="1" i="0">
                <a:solidFill>
                  <a:srgbClr val="3DDC97"/>
                </a:solidFill>
                <a:latin typeface="Arial"/>
              </a:rPr>
              <a:t>30 MINUTOS</a:t>
            </a:r>
          </a:p>
        </p:txBody>
      </p:sp>
      <p:sp>
        <p:nvSpPr>
          <p:cNvPr id="7" name="TextBox 6"/>
          <p:cNvSpPr txBox="1"/>
          <p:nvPr/>
        </p:nvSpPr>
        <p:spPr>
          <a:xfrm>
            <a:off x="475488" y="640080"/>
            <a:ext cx="8138160" cy="603504"/>
          </a:xfrm>
          <a:prstGeom prst="rect">
            <a:avLst/>
          </a:prstGeom>
          <a:noFill/>
        </p:spPr>
        <p:txBody>
          <a:bodyPr wrap="square" lIns="0" tIns="0" rIns="0" bIns="0" anchor="t">
            <a:spAutoFit/>
          </a:bodyPr>
          <a:lstStyle/>
          <a:p>
            <a:pPr algn="l"/>
            <a:r>
              <a:rPr lang="es-CO" sz="1900" b="1" i="0">
                <a:solidFill>
                  <a:srgbClr val="FFFFFF"/>
                </a:solidFill>
                <a:latin typeface="Arial"/>
              </a:rPr>
              <a:t>Laboratorio 08 — Primera ontología de contactos, solicitudes y servicios</a:t>
            </a:r>
          </a:p>
        </p:txBody>
      </p:sp>
      <p:sp>
        <p:nvSpPr>
          <p:cNvPr id="8" name="Rounded Rectangle 7"/>
          <p:cNvSpPr/>
          <p:nvPr/>
        </p:nvSpPr>
        <p:spPr>
          <a:xfrm>
            <a:off x="502920" y="1280160"/>
            <a:ext cx="4434840" cy="3246120"/>
          </a:xfrm>
          <a:prstGeom prst="roundRect">
            <a:avLst>
              <a:gd name="adj" fmla="val 8000"/>
            </a:avLst>
          </a:prstGeom>
          <a:solidFill>
            <a:srgbClr val="070C14"/>
          </a:solidFill>
          <a:ln w="12700">
            <a:solidFill>
              <a:srgbClr val="FF8A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667512" y="1335024"/>
            <a:ext cx="4114800" cy="237744"/>
          </a:xfrm>
          <a:prstGeom prst="rect">
            <a:avLst/>
          </a:prstGeom>
          <a:noFill/>
        </p:spPr>
        <p:txBody>
          <a:bodyPr wrap="square" lIns="0" tIns="0" rIns="0" bIns="0" anchor="ctr">
            <a:spAutoFit/>
          </a:bodyPr>
          <a:lstStyle/>
          <a:p>
            <a:pPr algn="l"/>
            <a:r>
              <a:rPr lang="es-CO" sz="1050" b="1" i="0">
                <a:solidFill>
                  <a:srgbClr val="FF8A3D"/>
                </a:solidFill>
                <a:latin typeface="Arial"/>
              </a:rPr>
              <a:t>Actividad sobre ontologia_soporte.ttl</a:t>
            </a:r>
          </a:p>
        </p:txBody>
      </p:sp>
      <p:sp>
        <p:nvSpPr>
          <p:cNvPr id="10" name="Rounded Rectangle 9"/>
          <p:cNvSpPr/>
          <p:nvPr/>
        </p:nvSpPr>
        <p:spPr>
          <a:xfrm>
            <a:off x="667512" y="1691640"/>
            <a:ext cx="246888" cy="246888"/>
          </a:xfrm>
          <a:prstGeom prst="roundRect">
            <a:avLst>
              <a:gd name="adj" fmla="val 13333"/>
            </a:avLst>
          </a:prstGeom>
          <a:solidFill>
            <a:srgbClr val="35210F"/>
          </a:solidFill>
          <a:ln w="12700">
            <a:solidFill>
              <a:srgbClr val="FF8A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667512" y="1691640"/>
            <a:ext cx="246888" cy="246888"/>
          </a:xfrm>
          <a:prstGeom prst="rect">
            <a:avLst/>
          </a:prstGeom>
          <a:noFill/>
        </p:spPr>
        <p:txBody>
          <a:bodyPr wrap="square" lIns="0" tIns="0" rIns="0" bIns="0" anchor="ctr">
            <a:spAutoFit/>
          </a:bodyPr>
          <a:lstStyle/>
          <a:p>
            <a:pPr algn="ctr"/>
            <a:r>
              <a:rPr lang="es-CO" sz="900" b="1" i="0">
                <a:solidFill>
                  <a:srgbClr val="FF8A3D"/>
                </a:solidFill>
                <a:latin typeface="Arial"/>
              </a:rPr>
              <a:t>1</a:t>
            </a:r>
          </a:p>
        </p:txBody>
      </p:sp>
      <p:sp>
        <p:nvSpPr>
          <p:cNvPr id="12" name="TextBox 11"/>
          <p:cNvSpPr txBox="1"/>
          <p:nvPr/>
        </p:nvSpPr>
        <p:spPr>
          <a:xfrm>
            <a:off x="1005840" y="1664208"/>
            <a:ext cx="3246120" cy="329184"/>
          </a:xfrm>
          <a:prstGeom prst="rect">
            <a:avLst/>
          </a:prstGeom>
          <a:noFill/>
        </p:spPr>
        <p:txBody>
          <a:bodyPr wrap="square" lIns="0" tIns="0" rIns="0" bIns="0" anchor="ctr">
            <a:spAutoFit/>
          </a:bodyPr>
          <a:lstStyle/>
          <a:p>
            <a:pPr algn="l"/>
            <a:r>
              <a:rPr lang="es-CO" sz="980" b="0" i="0">
                <a:solidFill>
                  <a:srgbClr val="E8EEF6"/>
                </a:solidFill>
                <a:latin typeface="Calibri"/>
              </a:rPr>
              <a:t>Leer el ejemplo de Ana y explicar cada afirmación.</a:t>
            </a:r>
          </a:p>
        </p:txBody>
      </p:sp>
      <p:sp>
        <p:nvSpPr>
          <p:cNvPr id="13" name="TextBox 12"/>
          <p:cNvSpPr txBox="1"/>
          <p:nvPr/>
        </p:nvSpPr>
        <p:spPr>
          <a:xfrm>
            <a:off x="4251960" y="1664208"/>
            <a:ext cx="566928" cy="329184"/>
          </a:xfrm>
          <a:prstGeom prst="rect">
            <a:avLst/>
          </a:prstGeom>
          <a:noFill/>
        </p:spPr>
        <p:txBody>
          <a:bodyPr wrap="square" lIns="0" tIns="0" rIns="0" bIns="0" anchor="ctr">
            <a:spAutoFit/>
          </a:bodyPr>
          <a:lstStyle/>
          <a:p>
            <a:pPr algn="r"/>
            <a:r>
              <a:rPr lang="es-CO" sz="850" b="0" i="0">
                <a:solidFill>
                  <a:srgbClr val="FFB86C"/>
                </a:solidFill>
                <a:latin typeface="Courier New"/>
              </a:rPr>
              <a:t>4 min</a:t>
            </a:r>
          </a:p>
        </p:txBody>
      </p:sp>
      <p:sp>
        <p:nvSpPr>
          <p:cNvPr id="14" name="Rounded Rectangle 13"/>
          <p:cNvSpPr/>
          <p:nvPr/>
        </p:nvSpPr>
        <p:spPr>
          <a:xfrm>
            <a:off x="667512" y="2089404"/>
            <a:ext cx="246888" cy="246888"/>
          </a:xfrm>
          <a:prstGeom prst="roundRect">
            <a:avLst>
              <a:gd name="adj" fmla="val 13333"/>
            </a:avLst>
          </a:prstGeom>
          <a:solidFill>
            <a:srgbClr val="35210F"/>
          </a:solidFill>
          <a:ln w="12700">
            <a:solidFill>
              <a:srgbClr val="FF8A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67512" y="2089404"/>
            <a:ext cx="246888" cy="246888"/>
          </a:xfrm>
          <a:prstGeom prst="rect">
            <a:avLst/>
          </a:prstGeom>
          <a:noFill/>
        </p:spPr>
        <p:txBody>
          <a:bodyPr wrap="square" lIns="0" tIns="0" rIns="0" bIns="0" anchor="ctr">
            <a:spAutoFit/>
          </a:bodyPr>
          <a:lstStyle/>
          <a:p>
            <a:pPr algn="ctr"/>
            <a:r>
              <a:rPr lang="es-CO" sz="900" b="1" i="0">
                <a:solidFill>
                  <a:srgbClr val="FF8A3D"/>
                </a:solidFill>
                <a:latin typeface="Arial"/>
              </a:rPr>
              <a:t>2</a:t>
            </a:r>
          </a:p>
        </p:txBody>
      </p:sp>
      <p:sp>
        <p:nvSpPr>
          <p:cNvPr id="16" name="TextBox 15"/>
          <p:cNvSpPr txBox="1"/>
          <p:nvPr/>
        </p:nvSpPr>
        <p:spPr>
          <a:xfrm>
            <a:off x="1005840" y="2061972"/>
            <a:ext cx="3246120" cy="329184"/>
          </a:xfrm>
          <a:prstGeom prst="rect">
            <a:avLst/>
          </a:prstGeom>
          <a:noFill/>
        </p:spPr>
        <p:txBody>
          <a:bodyPr wrap="square" lIns="0" tIns="0" rIns="0" bIns="0" anchor="ctr">
            <a:spAutoFit/>
          </a:bodyPr>
          <a:lstStyle/>
          <a:p>
            <a:pPr algn="l"/>
            <a:r>
              <a:rPr lang="es-CO" sz="980" b="0" i="0">
                <a:solidFill>
                  <a:srgbClr val="E8EEF6"/>
                </a:solidFill>
                <a:latin typeface="Calibri"/>
              </a:rPr>
              <a:t>Declarar MantenimientoWeb como subclase de Servicio.</a:t>
            </a:r>
          </a:p>
        </p:txBody>
      </p:sp>
      <p:sp>
        <p:nvSpPr>
          <p:cNvPr id="17" name="TextBox 16"/>
          <p:cNvSpPr txBox="1"/>
          <p:nvPr/>
        </p:nvSpPr>
        <p:spPr>
          <a:xfrm>
            <a:off x="4251960" y="2061972"/>
            <a:ext cx="566928" cy="329184"/>
          </a:xfrm>
          <a:prstGeom prst="rect">
            <a:avLst/>
          </a:prstGeom>
          <a:noFill/>
        </p:spPr>
        <p:txBody>
          <a:bodyPr wrap="square" lIns="0" tIns="0" rIns="0" bIns="0" anchor="ctr">
            <a:spAutoFit/>
          </a:bodyPr>
          <a:lstStyle/>
          <a:p>
            <a:pPr algn="r"/>
            <a:r>
              <a:rPr lang="es-CO" sz="850" b="0" i="0">
                <a:solidFill>
                  <a:srgbClr val="FFB86C"/>
                </a:solidFill>
                <a:latin typeface="Courier New"/>
              </a:rPr>
              <a:t>4 min</a:t>
            </a:r>
          </a:p>
        </p:txBody>
      </p:sp>
      <p:sp>
        <p:nvSpPr>
          <p:cNvPr id="18" name="Rounded Rectangle 17"/>
          <p:cNvSpPr/>
          <p:nvPr/>
        </p:nvSpPr>
        <p:spPr>
          <a:xfrm>
            <a:off x="667512" y="2487168"/>
            <a:ext cx="246888" cy="246888"/>
          </a:xfrm>
          <a:prstGeom prst="roundRect">
            <a:avLst>
              <a:gd name="adj" fmla="val 13333"/>
            </a:avLst>
          </a:prstGeom>
          <a:solidFill>
            <a:srgbClr val="35210F"/>
          </a:solidFill>
          <a:ln w="12700">
            <a:solidFill>
              <a:srgbClr val="FF8A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67512" y="2487168"/>
            <a:ext cx="246888" cy="246888"/>
          </a:xfrm>
          <a:prstGeom prst="rect">
            <a:avLst/>
          </a:prstGeom>
          <a:noFill/>
        </p:spPr>
        <p:txBody>
          <a:bodyPr wrap="square" lIns="0" tIns="0" rIns="0" bIns="0" anchor="ctr">
            <a:spAutoFit/>
          </a:bodyPr>
          <a:lstStyle/>
          <a:p>
            <a:pPr algn="ctr"/>
            <a:r>
              <a:rPr lang="es-CO" sz="900" b="1" i="0">
                <a:solidFill>
                  <a:srgbClr val="FF8A3D"/>
                </a:solidFill>
                <a:latin typeface="Arial"/>
              </a:rPr>
              <a:t>3</a:t>
            </a:r>
          </a:p>
        </p:txBody>
      </p:sp>
      <p:sp>
        <p:nvSpPr>
          <p:cNvPr id="20" name="TextBox 19"/>
          <p:cNvSpPr txBox="1"/>
          <p:nvPr/>
        </p:nvSpPr>
        <p:spPr>
          <a:xfrm>
            <a:off x="1005840" y="2459736"/>
            <a:ext cx="3246120" cy="329184"/>
          </a:xfrm>
          <a:prstGeom prst="rect">
            <a:avLst/>
          </a:prstGeom>
          <a:noFill/>
        </p:spPr>
        <p:txBody>
          <a:bodyPr wrap="square" lIns="0" tIns="0" rIns="0" bIns="0" anchor="ctr">
            <a:spAutoFit/>
          </a:bodyPr>
          <a:lstStyle/>
          <a:p>
            <a:pPr algn="l"/>
            <a:r>
              <a:rPr lang="es-CO" sz="980" b="0" i="0">
                <a:solidFill>
                  <a:srgbClr val="E8EEF6"/>
                </a:solidFill>
                <a:latin typeface="Calibri"/>
              </a:rPr>
              <a:t>Describir a beatriz: Contacto, nombre y correo.</a:t>
            </a:r>
          </a:p>
        </p:txBody>
      </p:sp>
      <p:sp>
        <p:nvSpPr>
          <p:cNvPr id="21" name="TextBox 20"/>
          <p:cNvSpPr txBox="1"/>
          <p:nvPr/>
        </p:nvSpPr>
        <p:spPr>
          <a:xfrm>
            <a:off x="4251960" y="2459736"/>
            <a:ext cx="566928" cy="329184"/>
          </a:xfrm>
          <a:prstGeom prst="rect">
            <a:avLst/>
          </a:prstGeom>
          <a:noFill/>
        </p:spPr>
        <p:txBody>
          <a:bodyPr wrap="square" lIns="0" tIns="0" rIns="0" bIns="0" anchor="ctr">
            <a:spAutoFit/>
          </a:bodyPr>
          <a:lstStyle/>
          <a:p>
            <a:pPr algn="r"/>
            <a:r>
              <a:rPr lang="es-CO" sz="850" b="0" i="0">
                <a:solidFill>
                  <a:srgbClr val="FFB86C"/>
                </a:solidFill>
                <a:latin typeface="Courier New"/>
              </a:rPr>
              <a:t>4 min</a:t>
            </a:r>
          </a:p>
        </p:txBody>
      </p:sp>
      <p:sp>
        <p:nvSpPr>
          <p:cNvPr id="22" name="Rounded Rectangle 21"/>
          <p:cNvSpPr/>
          <p:nvPr/>
        </p:nvSpPr>
        <p:spPr>
          <a:xfrm>
            <a:off x="667512" y="2884932"/>
            <a:ext cx="246888" cy="246888"/>
          </a:xfrm>
          <a:prstGeom prst="roundRect">
            <a:avLst>
              <a:gd name="adj" fmla="val 13333"/>
            </a:avLst>
          </a:prstGeom>
          <a:solidFill>
            <a:srgbClr val="35210F"/>
          </a:solidFill>
          <a:ln w="12700">
            <a:solidFill>
              <a:srgbClr val="FF8A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667512" y="2884932"/>
            <a:ext cx="246888" cy="246888"/>
          </a:xfrm>
          <a:prstGeom prst="rect">
            <a:avLst/>
          </a:prstGeom>
          <a:noFill/>
        </p:spPr>
        <p:txBody>
          <a:bodyPr wrap="square" lIns="0" tIns="0" rIns="0" bIns="0" anchor="ctr">
            <a:spAutoFit/>
          </a:bodyPr>
          <a:lstStyle/>
          <a:p>
            <a:pPr algn="ctr"/>
            <a:r>
              <a:rPr lang="es-CO" sz="900" b="1" i="0">
                <a:solidFill>
                  <a:srgbClr val="FF8A3D"/>
                </a:solidFill>
                <a:latin typeface="Arial"/>
              </a:rPr>
              <a:t>4</a:t>
            </a:r>
          </a:p>
        </p:txBody>
      </p:sp>
      <p:sp>
        <p:nvSpPr>
          <p:cNvPr id="24" name="TextBox 23"/>
          <p:cNvSpPr txBox="1"/>
          <p:nvPr/>
        </p:nvSpPr>
        <p:spPr>
          <a:xfrm>
            <a:off x="1005840" y="2857500"/>
            <a:ext cx="3246120" cy="329184"/>
          </a:xfrm>
          <a:prstGeom prst="rect">
            <a:avLst/>
          </a:prstGeom>
          <a:noFill/>
        </p:spPr>
        <p:txBody>
          <a:bodyPr wrap="square" lIns="0" tIns="0" rIns="0" bIns="0" anchor="ctr">
            <a:spAutoFit/>
          </a:bodyPr>
          <a:lstStyle/>
          <a:p>
            <a:pPr algn="l"/>
            <a:r>
              <a:rPr lang="es-CO" sz="980" b="0" i="0">
                <a:solidFill>
                  <a:srgbClr val="E8EEF6"/>
                </a:solidFill>
                <a:latin typeface="Calibri"/>
              </a:rPr>
              <a:t>Crear solicitud002: beatriz la realiza y solicita actualizacionSitio.</a:t>
            </a:r>
          </a:p>
        </p:txBody>
      </p:sp>
      <p:sp>
        <p:nvSpPr>
          <p:cNvPr id="25" name="TextBox 24"/>
          <p:cNvSpPr txBox="1"/>
          <p:nvPr/>
        </p:nvSpPr>
        <p:spPr>
          <a:xfrm>
            <a:off x="4251960" y="2857500"/>
            <a:ext cx="566928" cy="329184"/>
          </a:xfrm>
          <a:prstGeom prst="rect">
            <a:avLst/>
          </a:prstGeom>
          <a:noFill/>
        </p:spPr>
        <p:txBody>
          <a:bodyPr wrap="square" lIns="0" tIns="0" rIns="0" bIns="0" anchor="ctr">
            <a:spAutoFit/>
          </a:bodyPr>
          <a:lstStyle/>
          <a:p>
            <a:pPr algn="r"/>
            <a:r>
              <a:rPr lang="es-CO" sz="850" b="0" i="0">
                <a:solidFill>
                  <a:srgbClr val="FFB86C"/>
                </a:solidFill>
                <a:latin typeface="Courier New"/>
              </a:rPr>
              <a:t>5 min</a:t>
            </a:r>
          </a:p>
        </p:txBody>
      </p:sp>
      <p:sp>
        <p:nvSpPr>
          <p:cNvPr id="26" name="Rounded Rectangle 25"/>
          <p:cNvSpPr/>
          <p:nvPr/>
        </p:nvSpPr>
        <p:spPr>
          <a:xfrm>
            <a:off x="667512" y="3282696"/>
            <a:ext cx="246888" cy="246888"/>
          </a:xfrm>
          <a:prstGeom prst="roundRect">
            <a:avLst>
              <a:gd name="adj" fmla="val 13333"/>
            </a:avLst>
          </a:prstGeom>
          <a:solidFill>
            <a:srgbClr val="35210F"/>
          </a:solidFill>
          <a:ln w="12700">
            <a:solidFill>
              <a:srgbClr val="FF8A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667512" y="3282696"/>
            <a:ext cx="246888" cy="246888"/>
          </a:xfrm>
          <a:prstGeom prst="rect">
            <a:avLst/>
          </a:prstGeom>
          <a:noFill/>
        </p:spPr>
        <p:txBody>
          <a:bodyPr wrap="square" lIns="0" tIns="0" rIns="0" bIns="0" anchor="ctr">
            <a:spAutoFit/>
          </a:bodyPr>
          <a:lstStyle/>
          <a:p>
            <a:pPr algn="ctr"/>
            <a:r>
              <a:rPr lang="es-CO" sz="900" b="1" i="0">
                <a:solidFill>
                  <a:srgbClr val="FF8A3D"/>
                </a:solidFill>
                <a:latin typeface="Arial"/>
              </a:rPr>
              <a:t>5</a:t>
            </a:r>
          </a:p>
        </p:txBody>
      </p:sp>
      <p:sp>
        <p:nvSpPr>
          <p:cNvPr id="28" name="TextBox 27"/>
          <p:cNvSpPr txBox="1"/>
          <p:nvPr/>
        </p:nvSpPr>
        <p:spPr>
          <a:xfrm>
            <a:off x="1005840" y="3255264"/>
            <a:ext cx="3246120" cy="329184"/>
          </a:xfrm>
          <a:prstGeom prst="rect">
            <a:avLst/>
          </a:prstGeom>
          <a:noFill/>
        </p:spPr>
        <p:txBody>
          <a:bodyPr wrap="square" lIns="0" tIns="0" rIns="0" bIns="0" anchor="ctr">
            <a:spAutoFit/>
          </a:bodyPr>
          <a:lstStyle/>
          <a:p>
            <a:pPr algn="l"/>
            <a:r>
              <a:rPr lang="es-CO" sz="980" b="0" i="0">
                <a:solidFill>
                  <a:srgbClr val="E8EEF6"/>
                </a:solidFill>
                <a:latin typeface="Calibri"/>
              </a:rPr>
              <a:t>Declarar actualizacionSitio como MantenimientoWeb.</a:t>
            </a:r>
          </a:p>
        </p:txBody>
      </p:sp>
      <p:sp>
        <p:nvSpPr>
          <p:cNvPr id="29" name="TextBox 28"/>
          <p:cNvSpPr txBox="1"/>
          <p:nvPr/>
        </p:nvSpPr>
        <p:spPr>
          <a:xfrm>
            <a:off x="4251960" y="3255264"/>
            <a:ext cx="566928" cy="329184"/>
          </a:xfrm>
          <a:prstGeom prst="rect">
            <a:avLst/>
          </a:prstGeom>
          <a:noFill/>
        </p:spPr>
        <p:txBody>
          <a:bodyPr wrap="square" lIns="0" tIns="0" rIns="0" bIns="0" anchor="ctr">
            <a:spAutoFit/>
          </a:bodyPr>
          <a:lstStyle/>
          <a:p>
            <a:pPr algn="r"/>
            <a:r>
              <a:rPr lang="es-CO" sz="850" b="0" i="0">
                <a:solidFill>
                  <a:srgbClr val="FFB86C"/>
                </a:solidFill>
                <a:latin typeface="Courier New"/>
              </a:rPr>
              <a:t>3 min</a:t>
            </a:r>
          </a:p>
        </p:txBody>
      </p:sp>
      <p:sp>
        <p:nvSpPr>
          <p:cNvPr id="30" name="Rounded Rectangle 29"/>
          <p:cNvSpPr/>
          <p:nvPr/>
        </p:nvSpPr>
        <p:spPr>
          <a:xfrm>
            <a:off x="667512" y="3680460"/>
            <a:ext cx="246888" cy="246888"/>
          </a:xfrm>
          <a:prstGeom prst="roundRect">
            <a:avLst>
              <a:gd name="adj" fmla="val 13333"/>
            </a:avLst>
          </a:prstGeom>
          <a:solidFill>
            <a:srgbClr val="35210F"/>
          </a:solidFill>
          <a:ln w="12700">
            <a:solidFill>
              <a:srgbClr val="FF8A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667512" y="3680460"/>
            <a:ext cx="246888" cy="246888"/>
          </a:xfrm>
          <a:prstGeom prst="rect">
            <a:avLst/>
          </a:prstGeom>
          <a:noFill/>
        </p:spPr>
        <p:txBody>
          <a:bodyPr wrap="square" lIns="0" tIns="0" rIns="0" bIns="0" anchor="ctr">
            <a:spAutoFit/>
          </a:bodyPr>
          <a:lstStyle/>
          <a:p>
            <a:pPr algn="ctr"/>
            <a:r>
              <a:rPr lang="es-CO" sz="900" b="1" i="0">
                <a:solidFill>
                  <a:srgbClr val="FF8A3D"/>
                </a:solidFill>
                <a:latin typeface="Arial"/>
              </a:rPr>
              <a:t>6</a:t>
            </a:r>
          </a:p>
        </p:txBody>
      </p:sp>
      <p:sp>
        <p:nvSpPr>
          <p:cNvPr id="32" name="TextBox 31"/>
          <p:cNvSpPr txBox="1"/>
          <p:nvPr/>
        </p:nvSpPr>
        <p:spPr>
          <a:xfrm>
            <a:off x="1005840" y="3653028"/>
            <a:ext cx="3246120" cy="329184"/>
          </a:xfrm>
          <a:prstGeom prst="rect">
            <a:avLst/>
          </a:prstGeom>
          <a:noFill/>
        </p:spPr>
        <p:txBody>
          <a:bodyPr wrap="square" lIns="0" tIns="0" rIns="0" bIns="0" anchor="ctr">
            <a:spAutoFit/>
          </a:bodyPr>
          <a:lstStyle/>
          <a:p>
            <a:pPr algn="l"/>
            <a:r>
              <a:rPr lang="es-CO" sz="980" b="0" i="0">
                <a:solidFill>
                  <a:srgbClr val="E8EEF6"/>
                </a:solidFill>
                <a:latin typeface="Calibri"/>
              </a:rPr>
              <a:t>Escribir la inferencia: ¿a qué clases pertenece?</a:t>
            </a:r>
          </a:p>
        </p:txBody>
      </p:sp>
      <p:sp>
        <p:nvSpPr>
          <p:cNvPr id="33" name="TextBox 32"/>
          <p:cNvSpPr txBox="1"/>
          <p:nvPr/>
        </p:nvSpPr>
        <p:spPr>
          <a:xfrm>
            <a:off x="4251960" y="3653028"/>
            <a:ext cx="566928" cy="329184"/>
          </a:xfrm>
          <a:prstGeom prst="rect">
            <a:avLst/>
          </a:prstGeom>
          <a:noFill/>
        </p:spPr>
        <p:txBody>
          <a:bodyPr wrap="square" lIns="0" tIns="0" rIns="0" bIns="0" anchor="ctr">
            <a:spAutoFit/>
          </a:bodyPr>
          <a:lstStyle/>
          <a:p>
            <a:pPr algn="r"/>
            <a:r>
              <a:rPr lang="es-CO" sz="850" b="0" i="0">
                <a:solidFill>
                  <a:srgbClr val="FFB86C"/>
                </a:solidFill>
                <a:latin typeface="Courier New"/>
              </a:rPr>
              <a:t>3 min</a:t>
            </a:r>
          </a:p>
        </p:txBody>
      </p:sp>
      <p:sp>
        <p:nvSpPr>
          <p:cNvPr id="34" name="Rounded Rectangle 33"/>
          <p:cNvSpPr/>
          <p:nvPr/>
        </p:nvSpPr>
        <p:spPr>
          <a:xfrm>
            <a:off x="667512" y="4078224"/>
            <a:ext cx="246888" cy="246888"/>
          </a:xfrm>
          <a:prstGeom prst="roundRect">
            <a:avLst>
              <a:gd name="adj" fmla="val 13333"/>
            </a:avLst>
          </a:prstGeom>
          <a:solidFill>
            <a:srgbClr val="35210F"/>
          </a:solidFill>
          <a:ln w="12700">
            <a:solidFill>
              <a:srgbClr val="FF8A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667512" y="4078224"/>
            <a:ext cx="246888" cy="246888"/>
          </a:xfrm>
          <a:prstGeom prst="rect">
            <a:avLst/>
          </a:prstGeom>
          <a:noFill/>
        </p:spPr>
        <p:txBody>
          <a:bodyPr wrap="square" lIns="0" tIns="0" rIns="0" bIns="0" anchor="ctr">
            <a:spAutoFit/>
          </a:bodyPr>
          <a:lstStyle/>
          <a:p>
            <a:pPr algn="ctr"/>
            <a:r>
              <a:rPr lang="es-CO" sz="900" b="1" i="0">
                <a:solidFill>
                  <a:srgbClr val="FF8A3D"/>
                </a:solidFill>
                <a:latin typeface="Arial"/>
              </a:rPr>
              <a:t>7</a:t>
            </a:r>
          </a:p>
        </p:txBody>
      </p:sp>
      <p:sp>
        <p:nvSpPr>
          <p:cNvPr id="36" name="TextBox 35"/>
          <p:cNvSpPr txBox="1"/>
          <p:nvPr/>
        </p:nvSpPr>
        <p:spPr>
          <a:xfrm>
            <a:off x="1005840" y="4050792"/>
            <a:ext cx="3246120" cy="329184"/>
          </a:xfrm>
          <a:prstGeom prst="rect">
            <a:avLst/>
          </a:prstGeom>
          <a:noFill/>
        </p:spPr>
        <p:txBody>
          <a:bodyPr wrap="square" lIns="0" tIns="0" rIns="0" bIns="0" anchor="ctr">
            <a:spAutoFit/>
          </a:bodyPr>
          <a:lstStyle/>
          <a:p>
            <a:pPr algn="l"/>
            <a:r>
              <a:rPr lang="es-CO" sz="980" b="0" i="0">
                <a:solidFill>
                  <a:srgbClr val="E8EEF6"/>
                </a:solidFill>
                <a:latin typeface="Calibri"/>
              </a:rPr>
              <a:t>Ejecutar el exportador SQLite → Turtle (diapositiva 22).</a:t>
            </a:r>
          </a:p>
        </p:txBody>
      </p:sp>
      <p:sp>
        <p:nvSpPr>
          <p:cNvPr id="37" name="TextBox 36"/>
          <p:cNvSpPr txBox="1"/>
          <p:nvPr/>
        </p:nvSpPr>
        <p:spPr>
          <a:xfrm>
            <a:off x="4251960" y="4050792"/>
            <a:ext cx="566928" cy="329184"/>
          </a:xfrm>
          <a:prstGeom prst="rect">
            <a:avLst/>
          </a:prstGeom>
          <a:noFill/>
        </p:spPr>
        <p:txBody>
          <a:bodyPr wrap="square" lIns="0" tIns="0" rIns="0" bIns="0" anchor="ctr">
            <a:spAutoFit/>
          </a:bodyPr>
          <a:lstStyle/>
          <a:p>
            <a:pPr algn="r"/>
            <a:r>
              <a:rPr lang="es-CO" sz="850" b="0" i="0">
                <a:solidFill>
                  <a:srgbClr val="FFB86C"/>
                </a:solidFill>
                <a:latin typeface="Courier New"/>
              </a:rPr>
              <a:t>7 min</a:t>
            </a:r>
          </a:p>
        </p:txBody>
      </p:sp>
      <p:sp>
        <p:nvSpPr>
          <p:cNvPr id="38" name="Rounded Rectangle 37"/>
          <p:cNvSpPr/>
          <p:nvPr/>
        </p:nvSpPr>
        <p:spPr>
          <a:xfrm>
            <a:off x="5074920" y="1280160"/>
            <a:ext cx="3566160" cy="1664208"/>
          </a:xfrm>
          <a:prstGeom prst="roundRect">
            <a:avLst>
              <a:gd name="adj" fmla="val 8000"/>
            </a:avLst>
          </a:prstGeom>
          <a:solidFill>
            <a:srgbClr val="070C14"/>
          </a:solidFill>
          <a:ln w="12700">
            <a:solidFill>
              <a:srgbClr val="FF8A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5221224" y="1353312"/>
            <a:ext cx="3273552" cy="182880"/>
          </a:xfrm>
          <a:prstGeom prst="rect">
            <a:avLst/>
          </a:prstGeom>
          <a:noFill/>
        </p:spPr>
        <p:txBody>
          <a:bodyPr wrap="square" lIns="0" tIns="0" rIns="0" bIns="0" anchor="ctr">
            <a:spAutoFit/>
          </a:bodyPr>
          <a:lstStyle/>
          <a:p>
            <a:pPr algn="l"/>
            <a:r>
              <a:rPr lang="es-CO" sz="900" b="1" i="0">
                <a:solidFill>
                  <a:srgbClr val="FF8A3D"/>
                </a:solidFill>
                <a:latin typeface="Courier New"/>
              </a:rPr>
              <a:t>plantilla · completar</a:t>
            </a:r>
          </a:p>
        </p:txBody>
      </p:sp>
      <p:sp>
        <p:nvSpPr>
          <p:cNvPr id="40" name="TextBox 39"/>
          <p:cNvSpPr txBox="1"/>
          <p:nvPr/>
        </p:nvSpPr>
        <p:spPr>
          <a:xfrm>
            <a:off x="5221224" y="1554480"/>
            <a:ext cx="3273552" cy="1335024"/>
          </a:xfrm>
          <a:prstGeom prst="rect">
            <a:avLst/>
          </a:prstGeom>
          <a:noFill/>
        </p:spPr>
        <p:txBody>
          <a:bodyPr wrap="square" lIns="0" tIns="0" rIns="0" bIns="0" anchor="t">
            <a:spAutoFit/>
          </a:bodyPr>
          <a:lstStyle/>
          <a:p>
            <a:pPr algn="l"/>
            <a:r>
              <a:rPr lang="es-CO" sz="850" b="0" i="0">
                <a:solidFill>
                  <a:srgbClr val="3DDC97"/>
                </a:solidFill>
                <a:latin typeface="Courier New"/>
              </a:rPr>
              <a:t>sw:MantenimientoWeb</a:t>
            </a:r>
            <a:r>
              <a:rPr lang="es-CO" sz="850" b="0" i="0">
                <a:solidFill>
                  <a:srgbClr val="D7E1EE"/>
                </a:solidFill>
                <a:latin typeface="Courier New"/>
              </a:rPr>
              <a:t> </a:t>
            </a:r>
            <a:r>
              <a:rPr lang="es-CO" sz="850" b="0" i="0">
                <a:solidFill>
                  <a:srgbClr val="FFB86C"/>
                </a:solidFill>
                <a:latin typeface="Courier New"/>
              </a:rPr>
              <a:t>a</a:t>
            </a:r>
            <a:r>
              <a:rPr lang="es-CO" sz="850" b="0" i="0">
                <a:solidFill>
                  <a:srgbClr val="D7E1EE"/>
                </a:solidFill>
                <a:latin typeface="Courier New"/>
              </a:rPr>
              <a:t> </a:t>
            </a:r>
            <a:r>
              <a:rPr lang="es-CO" sz="850" b="0" i="0">
                <a:solidFill>
                  <a:srgbClr val="FFB86C"/>
                </a:solidFill>
                <a:latin typeface="Courier New"/>
              </a:rPr>
              <a:t>owl:Class</a:t>
            </a:r>
            <a:r>
              <a:rPr lang="es-CO" sz="850" b="0" i="0">
                <a:solidFill>
                  <a:srgbClr val="D7E1EE"/>
                </a:solidFill>
                <a:latin typeface="Courier New"/>
              </a:rPr>
              <a:t> </a:t>
            </a:r>
            <a:r>
              <a:rPr lang="es-CO" sz="850" b="0" i="0">
                <a:solidFill>
                  <a:srgbClr val="93A5BD"/>
                </a:solidFill>
                <a:latin typeface="Courier New"/>
              </a:rPr>
              <a:t>;</a:t>
            </a:r>
          </a:p>
          <a:p>
            <a:pPr algn="l"/>
            <a:r>
              <a:rPr lang="es-CO" sz="850" b="0" i="0">
                <a:solidFill>
                  <a:srgbClr val="D7E1EE"/>
                </a:solidFill>
                <a:latin typeface="Courier New"/>
              </a:rPr>
              <a:t>    </a:t>
            </a:r>
            <a:r>
              <a:rPr lang="es-CO" sz="850" b="0" i="0">
                <a:solidFill>
                  <a:srgbClr val="FFB86C"/>
                </a:solidFill>
                <a:latin typeface="Courier New"/>
              </a:rPr>
              <a:t>rdfs:subClassOf</a:t>
            </a:r>
            <a:r>
              <a:rPr lang="es-CO" sz="850" b="0" i="0">
                <a:solidFill>
                  <a:srgbClr val="D7E1EE"/>
                </a:solidFill>
                <a:latin typeface="Courier New"/>
              </a:rPr>
              <a:t> ________ </a:t>
            </a:r>
            <a:r>
              <a:rPr lang="es-CO" sz="850" b="0" i="0">
                <a:solidFill>
                  <a:srgbClr val="93A5BD"/>
                </a:solidFill>
                <a:latin typeface="Courier New"/>
              </a:rPr>
              <a:t>.</a:t>
            </a:r>
          </a:p>
          <a:p>
            <a:pPr algn="l"/>
            <a:r>
              <a:rPr lang="es-CO" sz="850" b="0" i="0">
                <a:solidFill>
                  <a:srgbClr val="D7E1EE"/>
                </a:solidFill>
                <a:latin typeface="Courier New"/>
              </a:rPr>
              <a:t>sw:beatriz </a:t>
            </a:r>
            <a:r>
              <a:rPr lang="es-CO" sz="850" b="0" i="0">
                <a:solidFill>
                  <a:srgbClr val="FFB86C"/>
                </a:solidFill>
                <a:latin typeface="Courier New"/>
              </a:rPr>
              <a:t>a</a:t>
            </a:r>
            <a:r>
              <a:rPr lang="es-CO" sz="850" b="0" i="0">
                <a:solidFill>
                  <a:srgbClr val="D7E1EE"/>
                </a:solidFill>
                <a:latin typeface="Courier New"/>
              </a:rPr>
              <a:t> ________ </a:t>
            </a:r>
            <a:r>
              <a:rPr lang="es-CO" sz="850" b="0" i="0">
                <a:solidFill>
                  <a:srgbClr val="93A5BD"/>
                </a:solidFill>
                <a:latin typeface="Courier New"/>
              </a:rPr>
              <a:t>;</a:t>
            </a:r>
          </a:p>
          <a:p>
            <a:pPr algn="l"/>
            <a:r>
              <a:rPr lang="es-CO" sz="850" b="0" i="0">
                <a:solidFill>
                  <a:srgbClr val="D7E1EE"/>
                </a:solidFill>
                <a:latin typeface="Courier New"/>
              </a:rPr>
              <a:t>    </a:t>
            </a:r>
            <a:r>
              <a:rPr lang="es-CO" sz="850" b="0" i="0">
                <a:solidFill>
                  <a:srgbClr val="56C7F2"/>
                </a:solidFill>
                <a:latin typeface="Courier New"/>
              </a:rPr>
              <a:t>sw:nombre</a:t>
            </a:r>
            <a:r>
              <a:rPr lang="es-CO" sz="850" b="0" i="0">
                <a:solidFill>
                  <a:srgbClr val="D7E1EE"/>
                </a:solidFill>
                <a:latin typeface="Courier New"/>
              </a:rPr>
              <a:t> </a:t>
            </a:r>
            <a:r>
              <a:rPr lang="es-CO" sz="850" b="0" i="0">
                <a:solidFill>
                  <a:srgbClr val="FFD479"/>
                </a:solidFill>
                <a:latin typeface="Courier New"/>
              </a:rPr>
              <a:t>"Beatriz"</a:t>
            </a:r>
            <a:r>
              <a:rPr lang="es-CO" sz="850" b="0" i="0">
                <a:solidFill>
                  <a:srgbClr val="D7E1EE"/>
                </a:solidFill>
                <a:latin typeface="Courier New"/>
              </a:rPr>
              <a:t> </a:t>
            </a:r>
            <a:r>
              <a:rPr lang="es-CO" sz="850" b="0" i="0">
                <a:solidFill>
                  <a:srgbClr val="93A5BD"/>
                </a:solidFill>
                <a:latin typeface="Courier New"/>
              </a:rPr>
              <a:t>;</a:t>
            </a:r>
          </a:p>
          <a:p>
            <a:pPr algn="l"/>
            <a:r>
              <a:rPr lang="es-CO" sz="850" b="0" i="0">
                <a:solidFill>
                  <a:srgbClr val="D7E1EE"/>
                </a:solidFill>
                <a:latin typeface="Courier New"/>
              </a:rPr>
              <a:t>    </a:t>
            </a:r>
            <a:r>
              <a:rPr lang="es-CO" sz="850" b="0" i="0">
                <a:solidFill>
                  <a:srgbClr val="56C7F2"/>
                </a:solidFill>
                <a:latin typeface="Courier New"/>
              </a:rPr>
              <a:t>sw:realiza</a:t>
            </a:r>
            <a:r>
              <a:rPr lang="es-CO" sz="850" b="0" i="0">
                <a:solidFill>
                  <a:srgbClr val="D7E1EE"/>
                </a:solidFill>
                <a:latin typeface="Courier New"/>
              </a:rPr>
              <a:t> sw:solicitud002 </a:t>
            </a:r>
            <a:r>
              <a:rPr lang="es-CO" sz="850" b="0" i="0">
                <a:solidFill>
                  <a:srgbClr val="93A5BD"/>
                </a:solidFill>
                <a:latin typeface="Courier New"/>
              </a:rPr>
              <a:t>.</a:t>
            </a:r>
          </a:p>
        </p:txBody>
      </p:sp>
      <p:sp>
        <p:nvSpPr>
          <p:cNvPr id="41" name="Rounded Rectangle 40"/>
          <p:cNvSpPr/>
          <p:nvPr/>
        </p:nvSpPr>
        <p:spPr>
          <a:xfrm>
            <a:off x="5074920" y="3054096"/>
            <a:ext cx="3566160" cy="1472184"/>
          </a:xfrm>
          <a:prstGeom prst="roundRect">
            <a:avLst>
              <a:gd name="adj" fmla="val 8000"/>
            </a:avLst>
          </a:prstGeom>
          <a:solidFill>
            <a:srgbClr val="20160E"/>
          </a:solidFill>
          <a:ln w="12700">
            <a:solidFill>
              <a:srgbClr val="FFD47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5202936" y="3145536"/>
            <a:ext cx="3310128" cy="219456"/>
          </a:xfrm>
          <a:prstGeom prst="rect">
            <a:avLst/>
          </a:prstGeom>
          <a:noFill/>
        </p:spPr>
        <p:txBody>
          <a:bodyPr wrap="square" lIns="0" tIns="0" rIns="0" bIns="0" anchor="ctr">
            <a:spAutoFit/>
          </a:bodyPr>
          <a:lstStyle/>
          <a:p>
            <a:pPr algn="l"/>
            <a:r>
              <a:rPr lang="es-CO" sz="1100" b="1" i="0">
                <a:solidFill>
                  <a:srgbClr val="FFD479"/>
                </a:solidFill>
                <a:latin typeface="Arial"/>
              </a:rPr>
              <a:t>Entregables</a:t>
            </a:r>
          </a:p>
        </p:txBody>
      </p:sp>
      <p:sp>
        <p:nvSpPr>
          <p:cNvPr id="43" name="TextBox 42"/>
          <p:cNvSpPr txBox="1"/>
          <p:nvPr/>
        </p:nvSpPr>
        <p:spPr>
          <a:xfrm>
            <a:off x="5202936" y="3410712"/>
            <a:ext cx="3310128" cy="1060704"/>
          </a:xfrm>
          <a:prstGeom prst="rect">
            <a:avLst/>
          </a:prstGeom>
          <a:noFill/>
        </p:spPr>
        <p:txBody>
          <a:bodyPr wrap="square" lIns="0" tIns="0" rIns="0" bIns="0" anchor="t">
            <a:spAutoFit/>
          </a:bodyPr>
          <a:lstStyle/>
          <a:p>
            <a:pPr algn="l">
              <a:spcAft>
                <a:spcPts val="300"/>
              </a:spcAft>
            </a:pPr>
            <a:r>
              <a:rPr lang="es-CO" sz="980" b="1" i="0">
                <a:solidFill>
                  <a:srgbClr val="FF8A3D"/>
                </a:solidFill>
                <a:latin typeface="Calibri"/>
              </a:rPr>
              <a:t>›  </a:t>
            </a:r>
            <a:r>
              <a:rPr lang="es-CO" sz="980" b="0" i="0">
                <a:solidFill>
                  <a:srgbClr val="FFB86C"/>
                </a:solidFill>
                <a:latin typeface="Courier New"/>
              </a:rPr>
              <a:t>ontologia_soporte.ttl</a:t>
            </a:r>
            <a:r>
              <a:rPr lang="es-CO" sz="980" b="0" i="0">
                <a:solidFill>
                  <a:srgbClr val="E8EEF6"/>
                </a:solidFill>
                <a:latin typeface="Calibri"/>
              </a:rPr>
              <a:t> ampliado</a:t>
            </a:r>
          </a:p>
          <a:p>
            <a:pPr algn="l">
              <a:spcAft>
                <a:spcPts val="300"/>
              </a:spcAft>
            </a:pPr>
            <a:r>
              <a:rPr lang="es-CO" sz="980" b="1" i="0">
                <a:solidFill>
                  <a:srgbClr val="FF8A3D"/>
                </a:solidFill>
                <a:latin typeface="Calibri"/>
              </a:rPr>
              <a:t>›  </a:t>
            </a:r>
            <a:r>
              <a:rPr lang="es-CO" sz="980" b="0" i="0">
                <a:solidFill>
                  <a:srgbClr val="FFB86C"/>
                </a:solidFill>
                <a:latin typeface="Courier New"/>
              </a:rPr>
              <a:t>data/contactos.ttl</a:t>
            </a:r>
            <a:r>
              <a:rPr lang="es-CO" sz="980" b="0" i="0">
                <a:solidFill>
                  <a:srgbClr val="E8EEF6"/>
                </a:solidFill>
                <a:latin typeface="Calibri"/>
              </a:rPr>
              <a:t> generado</a:t>
            </a:r>
          </a:p>
          <a:p>
            <a:pPr algn="l">
              <a:spcAft>
                <a:spcPts val="300"/>
              </a:spcAft>
            </a:pPr>
            <a:r>
              <a:rPr lang="es-CO" sz="980" b="1" i="0">
                <a:solidFill>
                  <a:srgbClr val="FF8A3D"/>
                </a:solidFill>
                <a:latin typeface="Calibri"/>
              </a:rPr>
              <a:t>›  </a:t>
            </a:r>
            <a:r>
              <a:rPr lang="es-CO" sz="980" b="0" i="0">
                <a:solidFill>
                  <a:srgbClr val="E8EEF6"/>
                </a:solidFill>
                <a:latin typeface="Calibri"/>
              </a:rPr>
              <a:t>Inferencia escrita y una diferencia entre tabla y ontología</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7100A"/>
        </a:solidFill>
        <a:effectLst/>
      </p:bgPr>
    </p:bg>
    <p:spTree>
      <p:nvGrpSpPr>
        <p:cNvPr id="1" name=""/>
        <p:cNvGrpSpPr/>
        <p:nvPr/>
      </p:nvGrpSpPr>
      <p:grpSpPr>
        <a:xfrm>
          <a:off x="0" y="0"/>
          <a:ext cx="0" cy="0"/>
          <a:chOff x="0" y="0"/>
          <a:chExt cx="0" cy="0"/>
        </a:xfrm>
      </p:grpSpPr>
      <p:sp>
        <p:nvSpPr>
          <p:cNvPr id="2" name="TextBox 1"/>
          <p:cNvSpPr txBox="1"/>
          <p:nvPr/>
        </p:nvSpPr>
        <p:spPr>
          <a:xfrm>
            <a:off x="6309360" y="4718304"/>
            <a:ext cx="2331720" cy="201168"/>
          </a:xfrm>
          <a:prstGeom prst="rect">
            <a:avLst/>
          </a:prstGeom>
          <a:noFill/>
        </p:spPr>
        <p:txBody>
          <a:bodyPr wrap="square" lIns="0" tIns="0" rIns="0" bIns="0" anchor="ctr">
            <a:spAutoFit/>
          </a:bodyPr>
          <a:lstStyle/>
          <a:p>
            <a:pPr algn="r"/>
            <a:r>
              <a:rPr lang="es-CO" sz="800" b="0" i="0">
                <a:solidFill>
                  <a:srgbClr val="6C7E96"/>
                </a:solidFill>
                <a:latin typeface="Arial"/>
              </a:rPr>
              <a:t>Ingeniería Web  ·  22 / 24</a:t>
            </a:r>
          </a:p>
        </p:txBody>
      </p:sp>
      <p:sp>
        <p:nvSpPr>
          <p:cNvPr id="3" name="Rounded Rectangle 2"/>
          <p:cNvSpPr/>
          <p:nvPr/>
        </p:nvSpPr>
        <p:spPr>
          <a:xfrm>
            <a:off x="502920" y="365760"/>
            <a:ext cx="2331720" cy="228600"/>
          </a:xfrm>
          <a:prstGeom prst="roundRect">
            <a:avLst>
              <a:gd name="adj" fmla="val 50000"/>
            </a:avLst>
          </a:prstGeom>
          <a:solidFill>
            <a:srgbClr val="35210F"/>
          </a:solidFill>
          <a:ln w="9525">
            <a:solidFill>
              <a:srgbClr val="FF8A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502920" y="365760"/>
            <a:ext cx="2331720" cy="228600"/>
          </a:xfrm>
          <a:prstGeom prst="rect">
            <a:avLst/>
          </a:prstGeom>
          <a:noFill/>
        </p:spPr>
        <p:txBody>
          <a:bodyPr wrap="square" lIns="0" tIns="0" rIns="0" bIns="0" anchor="ctr">
            <a:spAutoFit/>
          </a:bodyPr>
          <a:lstStyle/>
          <a:p>
            <a:pPr algn="ctr"/>
            <a:r>
              <a:rPr lang="es-CO" sz="850" b="1" i="0">
                <a:solidFill>
                  <a:srgbClr val="FF8A3D"/>
                </a:solidFill>
                <a:latin typeface="Arial"/>
              </a:rPr>
              <a:t>LABORATORIO 08 · EXPORTACIÓN</a:t>
            </a:r>
          </a:p>
        </p:txBody>
      </p:sp>
      <p:sp>
        <p:nvSpPr>
          <p:cNvPr id="5" name="Título"/>
          <p:cNvSpPr txBox="1"/>
          <p:nvPr/>
        </p:nvSpPr>
        <p:spPr>
          <a:xfrm>
            <a:off x="475488" y="658368"/>
            <a:ext cx="8138160" cy="438912"/>
          </a:xfrm>
          <a:prstGeom prst="rect">
            <a:avLst/>
          </a:prstGeom>
          <a:noFill/>
        </p:spPr>
        <p:txBody>
          <a:bodyPr wrap="square" lIns="0" tIns="0" rIns="0" bIns="0" anchor="ctr">
            <a:spAutoFit/>
          </a:bodyPr>
          <a:lstStyle/>
          <a:p>
            <a:pPr algn="l"/>
            <a:r>
              <a:rPr lang="es-CO" sz="2600" b="1" i="0">
                <a:solidFill>
                  <a:srgbClr val="FFFFFF"/>
                </a:solidFill>
                <a:latin typeface="Arial"/>
              </a:rPr>
              <a:t>Exportación de contactos de SQLite a Turtle</a:t>
            </a:r>
          </a:p>
        </p:txBody>
      </p:sp>
      <p:sp>
        <p:nvSpPr>
          <p:cNvPr id="6" name="Rounded Rectangle 5"/>
          <p:cNvSpPr/>
          <p:nvPr/>
        </p:nvSpPr>
        <p:spPr>
          <a:xfrm>
            <a:off x="502920" y="1188720"/>
            <a:ext cx="1417320" cy="182880"/>
          </a:xfrm>
          <a:prstGeom prst="roundRect">
            <a:avLst>
              <a:gd name="adj" fmla="val 50000"/>
            </a:avLst>
          </a:prstGeom>
          <a:solidFill>
            <a:srgbClr val="35210F"/>
          </a:solidFill>
          <a:ln w="9525">
            <a:solidFill>
              <a:srgbClr val="FF8A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502920" y="1188720"/>
            <a:ext cx="1417320" cy="182880"/>
          </a:xfrm>
          <a:prstGeom prst="rect">
            <a:avLst/>
          </a:prstGeom>
          <a:noFill/>
        </p:spPr>
        <p:txBody>
          <a:bodyPr wrap="square" lIns="0" tIns="0" rIns="0" bIns="0" anchor="ctr">
            <a:spAutoFit/>
          </a:bodyPr>
          <a:lstStyle/>
          <a:p>
            <a:pPr algn="ctr"/>
            <a:r>
              <a:rPr lang="es-CO" sz="700" b="1" i="0">
                <a:solidFill>
                  <a:srgbClr val="FF8A3D"/>
                </a:solidFill>
                <a:latin typeface="Arial"/>
              </a:rPr>
              <a:t>EJEMPLO ILUSTRATIVO</a:t>
            </a:r>
          </a:p>
        </p:txBody>
      </p:sp>
      <p:sp>
        <p:nvSpPr>
          <p:cNvPr id="8" name="Rounded Rectangle 7"/>
          <p:cNvSpPr/>
          <p:nvPr/>
        </p:nvSpPr>
        <p:spPr>
          <a:xfrm>
            <a:off x="502920" y="1426464"/>
            <a:ext cx="4754880" cy="3090672"/>
          </a:xfrm>
          <a:prstGeom prst="roundRect">
            <a:avLst>
              <a:gd name="adj" fmla="val 8000"/>
            </a:avLst>
          </a:prstGeom>
          <a:solidFill>
            <a:srgbClr val="070C1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649224" y="1499616"/>
            <a:ext cx="4462272" cy="182880"/>
          </a:xfrm>
          <a:prstGeom prst="rect">
            <a:avLst/>
          </a:prstGeom>
          <a:noFill/>
        </p:spPr>
        <p:txBody>
          <a:bodyPr wrap="square" lIns="0" tIns="0" rIns="0" bIns="0" anchor="ctr">
            <a:spAutoFit/>
          </a:bodyPr>
          <a:lstStyle/>
          <a:p>
            <a:pPr algn="l"/>
            <a:r>
              <a:rPr lang="es-CO" sz="880" b="1" i="0">
                <a:solidFill>
                  <a:srgbClr val="FF8A3D"/>
                </a:solidFill>
                <a:latin typeface="Courier New"/>
              </a:rPr>
              <a:t>scripts/exportar_turtle.js</a:t>
            </a:r>
          </a:p>
        </p:txBody>
      </p:sp>
      <p:sp>
        <p:nvSpPr>
          <p:cNvPr id="10" name="TextBox 9"/>
          <p:cNvSpPr txBox="1"/>
          <p:nvPr/>
        </p:nvSpPr>
        <p:spPr>
          <a:xfrm>
            <a:off x="649224" y="1700784"/>
            <a:ext cx="4462272" cy="2761488"/>
          </a:xfrm>
          <a:prstGeom prst="rect">
            <a:avLst/>
          </a:prstGeom>
          <a:noFill/>
        </p:spPr>
        <p:txBody>
          <a:bodyPr wrap="square" lIns="0" tIns="0" rIns="0" bIns="0" anchor="t">
            <a:spAutoFit/>
          </a:bodyPr>
          <a:lstStyle/>
          <a:p>
            <a:pPr algn="l"/>
            <a:r>
              <a:rPr lang="es-CO" sz="830" b="0" i="0">
                <a:solidFill>
                  <a:srgbClr val="FFB86C"/>
                </a:solidFill>
                <a:latin typeface="Courier New"/>
              </a:rPr>
              <a:t>const</a:t>
            </a:r>
            <a:r>
              <a:rPr lang="es-CO" sz="830" b="0" i="0">
                <a:solidFill>
                  <a:srgbClr val="D7E1EE"/>
                </a:solidFill>
                <a:latin typeface="Courier New"/>
              </a:rPr>
              <a:t> fs </a:t>
            </a:r>
            <a:r>
              <a:rPr lang="es-CO" sz="830" b="0" i="0">
                <a:solidFill>
                  <a:srgbClr val="93A5BD"/>
                </a:solidFill>
                <a:latin typeface="Courier New"/>
              </a:rPr>
              <a:t>=</a:t>
            </a:r>
            <a:r>
              <a:rPr lang="es-CO" sz="830" b="0" i="0">
                <a:solidFill>
                  <a:srgbClr val="D7E1EE"/>
                </a:solidFill>
                <a:latin typeface="Courier New"/>
              </a:rPr>
              <a:t> </a:t>
            </a:r>
            <a:r>
              <a:rPr lang="es-CO" sz="830" b="0" i="0">
                <a:solidFill>
                  <a:srgbClr val="FFB86C"/>
                </a:solidFill>
                <a:latin typeface="Courier New"/>
              </a:rPr>
              <a:t>require</a:t>
            </a:r>
            <a:r>
              <a:rPr lang="es-CO" sz="830" b="0" i="0">
                <a:solidFill>
                  <a:srgbClr val="93A5BD"/>
                </a:solidFill>
                <a:latin typeface="Courier New"/>
              </a:rPr>
              <a:t>(</a:t>
            </a:r>
            <a:r>
              <a:rPr lang="es-CO" sz="830" b="0" i="0">
                <a:solidFill>
                  <a:srgbClr val="FFD479"/>
                </a:solidFill>
                <a:latin typeface="Courier New"/>
              </a:rPr>
              <a:t>'fs'</a:t>
            </a:r>
            <a:r>
              <a:rPr lang="es-CO" sz="830" b="0" i="0">
                <a:solidFill>
                  <a:srgbClr val="93A5BD"/>
                </a:solidFill>
                <a:latin typeface="Courier New"/>
              </a:rPr>
              <a:t>);</a:t>
            </a:r>
          </a:p>
          <a:p>
            <a:pPr algn="l"/>
            <a:r>
              <a:rPr lang="es-CO" sz="830" b="0" i="0">
                <a:solidFill>
                  <a:srgbClr val="FFB86C"/>
                </a:solidFill>
                <a:latin typeface="Courier New"/>
              </a:rPr>
              <a:t>const</a:t>
            </a:r>
            <a:r>
              <a:rPr lang="es-CO" sz="830" b="0" i="0">
                <a:solidFill>
                  <a:srgbClr val="D7E1EE"/>
                </a:solidFill>
                <a:latin typeface="Courier New"/>
              </a:rPr>
              <a:t> </a:t>
            </a:r>
            <a:r>
              <a:rPr lang="es-CO" sz="830" b="0" i="0">
                <a:solidFill>
                  <a:srgbClr val="93A5BD"/>
                </a:solidFill>
                <a:latin typeface="Courier New"/>
              </a:rPr>
              <a:t>{</a:t>
            </a:r>
            <a:r>
              <a:rPr lang="es-CO" sz="830" b="0" i="0">
                <a:solidFill>
                  <a:srgbClr val="D7E1EE"/>
                </a:solidFill>
                <a:latin typeface="Courier New"/>
              </a:rPr>
              <a:t> DatabaseSync </a:t>
            </a:r>
            <a:r>
              <a:rPr lang="es-CO" sz="830" b="0" i="0">
                <a:solidFill>
                  <a:srgbClr val="93A5BD"/>
                </a:solidFill>
                <a:latin typeface="Courier New"/>
              </a:rPr>
              <a:t>}</a:t>
            </a:r>
            <a:r>
              <a:rPr lang="es-CO" sz="830" b="0" i="0">
                <a:solidFill>
                  <a:srgbClr val="D7E1EE"/>
                </a:solidFill>
                <a:latin typeface="Courier New"/>
              </a:rPr>
              <a:t> </a:t>
            </a:r>
            <a:r>
              <a:rPr lang="es-CO" sz="830" b="0" i="0">
                <a:solidFill>
                  <a:srgbClr val="93A5BD"/>
                </a:solidFill>
                <a:latin typeface="Courier New"/>
              </a:rPr>
              <a:t>=</a:t>
            </a:r>
            <a:r>
              <a:rPr lang="es-CO" sz="830" b="0" i="0">
                <a:solidFill>
                  <a:srgbClr val="D7E1EE"/>
                </a:solidFill>
                <a:latin typeface="Courier New"/>
              </a:rPr>
              <a:t> </a:t>
            </a:r>
            <a:r>
              <a:rPr lang="es-CO" sz="830" b="0" i="0">
                <a:solidFill>
                  <a:srgbClr val="FFB86C"/>
                </a:solidFill>
                <a:latin typeface="Courier New"/>
              </a:rPr>
              <a:t>require</a:t>
            </a:r>
            <a:r>
              <a:rPr lang="es-CO" sz="830" b="0" i="0">
                <a:solidFill>
                  <a:srgbClr val="93A5BD"/>
                </a:solidFill>
                <a:latin typeface="Courier New"/>
              </a:rPr>
              <a:t>(</a:t>
            </a:r>
            <a:r>
              <a:rPr lang="es-CO" sz="830" b="0" i="0">
                <a:solidFill>
                  <a:srgbClr val="FFD479"/>
                </a:solidFill>
                <a:latin typeface="Courier New"/>
              </a:rPr>
              <a:t>'node:sqlite'</a:t>
            </a:r>
            <a:r>
              <a:rPr lang="es-CO" sz="830" b="0" i="0">
                <a:solidFill>
                  <a:srgbClr val="93A5BD"/>
                </a:solidFill>
                <a:latin typeface="Courier New"/>
              </a:rPr>
              <a:t>);</a:t>
            </a:r>
          </a:p>
          <a:p>
            <a:pPr algn="l"/>
            <a:r>
              <a:rPr lang="es-CO" sz="830" b="0" i="0">
                <a:solidFill>
                  <a:srgbClr val="E8EEF6"/>
                </a:solidFill>
                <a:latin typeface="Courier New"/>
              </a:rPr>
              <a:t> </a:t>
            </a:r>
          </a:p>
          <a:p>
            <a:pPr algn="l"/>
            <a:r>
              <a:rPr lang="es-CO" sz="830" b="0" i="0">
                <a:solidFill>
                  <a:srgbClr val="FFB86C"/>
                </a:solidFill>
                <a:latin typeface="Courier New"/>
              </a:rPr>
              <a:t>const</a:t>
            </a:r>
            <a:r>
              <a:rPr lang="es-CO" sz="830" b="0" i="0">
                <a:solidFill>
                  <a:srgbClr val="D7E1EE"/>
                </a:solidFill>
                <a:latin typeface="Courier New"/>
              </a:rPr>
              <a:t> db </a:t>
            </a:r>
            <a:r>
              <a:rPr lang="es-CO" sz="830" b="0" i="0">
                <a:solidFill>
                  <a:srgbClr val="93A5BD"/>
                </a:solidFill>
                <a:latin typeface="Courier New"/>
              </a:rPr>
              <a:t>=</a:t>
            </a:r>
            <a:r>
              <a:rPr lang="es-CO" sz="830" b="0" i="0">
                <a:solidFill>
                  <a:srgbClr val="D7E1EE"/>
                </a:solidFill>
                <a:latin typeface="Courier New"/>
              </a:rPr>
              <a:t> </a:t>
            </a:r>
            <a:r>
              <a:rPr lang="es-CO" sz="830" b="0" i="0">
                <a:solidFill>
                  <a:srgbClr val="FFB86C"/>
                </a:solidFill>
                <a:latin typeface="Courier New"/>
              </a:rPr>
              <a:t>new</a:t>
            </a:r>
            <a:r>
              <a:rPr lang="es-CO" sz="830" b="0" i="0">
                <a:solidFill>
                  <a:srgbClr val="D7E1EE"/>
                </a:solidFill>
                <a:latin typeface="Courier New"/>
              </a:rPr>
              <a:t> DatabaseSync</a:t>
            </a:r>
            <a:r>
              <a:rPr lang="es-CO" sz="830" b="0" i="0">
                <a:solidFill>
                  <a:srgbClr val="93A5BD"/>
                </a:solidFill>
                <a:latin typeface="Courier New"/>
              </a:rPr>
              <a:t>(</a:t>
            </a:r>
            <a:r>
              <a:rPr lang="es-CO" sz="830" b="0" i="0">
                <a:solidFill>
                  <a:srgbClr val="FFD479"/>
                </a:solidFill>
                <a:latin typeface="Courier New"/>
              </a:rPr>
              <a:t>'data/contactos.db'</a:t>
            </a:r>
            <a:r>
              <a:rPr lang="es-CO" sz="830" b="0" i="0">
                <a:solidFill>
                  <a:srgbClr val="93A5BD"/>
                </a:solidFill>
                <a:latin typeface="Courier New"/>
              </a:rPr>
              <a:t>);</a:t>
            </a:r>
          </a:p>
          <a:p>
            <a:pPr algn="l"/>
            <a:r>
              <a:rPr lang="es-CO" sz="830" b="0" i="0">
                <a:solidFill>
                  <a:srgbClr val="FFB86C"/>
                </a:solidFill>
                <a:latin typeface="Courier New"/>
              </a:rPr>
              <a:t>const</a:t>
            </a:r>
            <a:r>
              <a:rPr lang="es-CO" sz="830" b="0" i="0">
                <a:solidFill>
                  <a:srgbClr val="D7E1EE"/>
                </a:solidFill>
                <a:latin typeface="Courier New"/>
              </a:rPr>
              <a:t> filas </a:t>
            </a:r>
            <a:r>
              <a:rPr lang="es-CO" sz="830" b="0" i="0">
                <a:solidFill>
                  <a:srgbClr val="93A5BD"/>
                </a:solidFill>
                <a:latin typeface="Courier New"/>
              </a:rPr>
              <a:t>=</a:t>
            </a:r>
            <a:r>
              <a:rPr lang="es-CO" sz="830" b="0" i="0">
                <a:solidFill>
                  <a:srgbClr val="D7E1EE"/>
                </a:solidFill>
                <a:latin typeface="Courier New"/>
              </a:rPr>
              <a:t> db</a:t>
            </a:r>
            <a:r>
              <a:rPr lang="es-CO" sz="830" b="0" i="0">
                <a:solidFill>
                  <a:srgbClr val="93A5BD"/>
                </a:solidFill>
                <a:latin typeface="Courier New"/>
              </a:rPr>
              <a:t>.</a:t>
            </a:r>
            <a:r>
              <a:rPr lang="es-CO" sz="830" b="0" i="0">
                <a:solidFill>
                  <a:srgbClr val="D7E1EE"/>
                </a:solidFill>
                <a:latin typeface="Courier New"/>
              </a:rPr>
              <a:t>prepare</a:t>
            </a:r>
            <a:r>
              <a:rPr lang="es-CO" sz="830" b="0" i="0">
                <a:solidFill>
                  <a:srgbClr val="93A5BD"/>
                </a:solidFill>
                <a:latin typeface="Courier New"/>
              </a:rPr>
              <a:t>(</a:t>
            </a:r>
            <a:r>
              <a:rPr lang="es-CO" sz="830" b="0" i="0">
                <a:solidFill>
                  <a:srgbClr val="FFD479"/>
                </a:solidFill>
                <a:latin typeface="Courier New"/>
              </a:rPr>
              <a:t>`SELECT id, nombre,</a:t>
            </a:r>
          </a:p>
          <a:p>
            <a:pPr algn="l"/>
            <a:r>
              <a:rPr lang="es-CO" sz="830" b="0" i="0">
                <a:solidFill>
                  <a:srgbClr val="FFD479"/>
                </a:solidFill>
                <a:latin typeface="Courier New"/>
              </a:rPr>
              <a:t>  correo FROM contactos ORDER BY id`</a:t>
            </a:r>
            <a:r>
              <a:rPr lang="es-CO" sz="830" b="0" i="0">
                <a:solidFill>
                  <a:srgbClr val="93A5BD"/>
                </a:solidFill>
                <a:latin typeface="Courier New"/>
              </a:rPr>
              <a:t>).</a:t>
            </a:r>
            <a:r>
              <a:rPr lang="es-CO" sz="830" b="0" i="0">
                <a:solidFill>
                  <a:srgbClr val="D7E1EE"/>
                </a:solidFill>
                <a:latin typeface="Courier New"/>
              </a:rPr>
              <a:t>all</a:t>
            </a:r>
            <a:r>
              <a:rPr lang="es-CO" sz="830" b="0" i="0">
                <a:solidFill>
                  <a:srgbClr val="93A5BD"/>
                </a:solidFill>
                <a:latin typeface="Courier New"/>
              </a:rPr>
              <a:t>();</a:t>
            </a:r>
          </a:p>
          <a:p>
            <a:pPr algn="l"/>
            <a:r>
              <a:rPr lang="es-CO" sz="830" b="0" i="0">
                <a:solidFill>
                  <a:srgbClr val="FFB86C"/>
                </a:solidFill>
                <a:latin typeface="Courier New"/>
              </a:rPr>
              <a:t>const</a:t>
            </a:r>
            <a:r>
              <a:rPr lang="es-CO" sz="830" b="0" i="0">
                <a:solidFill>
                  <a:srgbClr val="D7E1EE"/>
                </a:solidFill>
                <a:latin typeface="Courier New"/>
              </a:rPr>
              <a:t> lit </a:t>
            </a:r>
            <a:r>
              <a:rPr lang="es-CO" sz="830" b="0" i="0">
                <a:solidFill>
                  <a:srgbClr val="93A5BD"/>
                </a:solidFill>
                <a:latin typeface="Courier New"/>
              </a:rPr>
              <a:t>=</a:t>
            </a:r>
            <a:r>
              <a:rPr lang="es-CO" sz="830" b="0" i="0">
                <a:solidFill>
                  <a:srgbClr val="D7E1EE"/>
                </a:solidFill>
                <a:latin typeface="Courier New"/>
              </a:rPr>
              <a:t> </a:t>
            </a:r>
            <a:r>
              <a:rPr lang="es-CO" sz="830" b="0" i="0">
                <a:solidFill>
                  <a:srgbClr val="93A5BD"/>
                </a:solidFill>
                <a:latin typeface="Courier New"/>
              </a:rPr>
              <a:t>(</a:t>
            </a:r>
            <a:r>
              <a:rPr lang="es-CO" sz="830" b="0" i="0">
                <a:solidFill>
                  <a:srgbClr val="D7E1EE"/>
                </a:solidFill>
                <a:latin typeface="Courier New"/>
              </a:rPr>
              <a:t>v</a:t>
            </a:r>
            <a:r>
              <a:rPr lang="es-CO" sz="830" b="0" i="0">
                <a:solidFill>
                  <a:srgbClr val="93A5BD"/>
                </a:solidFill>
                <a:latin typeface="Courier New"/>
              </a:rPr>
              <a:t>)</a:t>
            </a:r>
            <a:r>
              <a:rPr lang="es-CO" sz="830" b="0" i="0">
                <a:solidFill>
                  <a:srgbClr val="D7E1EE"/>
                </a:solidFill>
                <a:latin typeface="Courier New"/>
              </a:rPr>
              <a:t> </a:t>
            </a:r>
            <a:r>
              <a:rPr lang="es-CO" sz="830" b="0" i="0">
                <a:solidFill>
                  <a:srgbClr val="93A5BD"/>
                </a:solidFill>
                <a:latin typeface="Courier New"/>
              </a:rPr>
              <a:t>=&gt;</a:t>
            </a:r>
            <a:r>
              <a:rPr lang="es-CO" sz="830" b="0" i="0">
                <a:solidFill>
                  <a:srgbClr val="D7E1EE"/>
                </a:solidFill>
                <a:latin typeface="Courier New"/>
              </a:rPr>
              <a:t> JSON</a:t>
            </a:r>
            <a:r>
              <a:rPr lang="es-CO" sz="830" b="0" i="0">
                <a:solidFill>
                  <a:srgbClr val="93A5BD"/>
                </a:solidFill>
                <a:latin typeface="Courier New"/>
              </a:rPr>
              <a:t>.</a:t>
            </a:r>
            <a:r>
              <a:rPr lang="es-CO" sz="830" b="0" i="0">
                <a:solidFill>
                  <a:srgbClr val="D7E1EE"/>
                </a:solidFill>
                <a:latin typeface="Courier New"/>
              </a:rPr>
              <a:t>stringify</a:t>
            </a:r>
            <a:r>
              <a:rPr lang="es-CO" sz="830" b="0" i="0">
                <a:solidFill>
                  <a:srgbClr val="93A5BD"/>
                </a:solidFill>
                <a:latin typeface="Courier New"/>
              </a:rPr>
              <a:t>(</a:t>
            </a:r>
            <a:r>
              <a:rPr lang="es-CO" sz="830" b="0" i="0">
                <a:solidFill>
                  <a:srgbClr val="D7E1EE"/>
                </a:solidFill>
                <a:latin typeface="Courier New"/>
              </a:rPr>
              <a:t>String</a:t>
            </a:r>
            <a:r>
              <a:rPr lang="es-CO" sz="830" b="0" i="0">
                <a:solidFill>
                  <a:srgbClr val="93A5BD"/>
                </a:solidFill>
                <a:latin typeface="Courier New"/>
              </a:rPr>
              <a:t>(</a:t>
            </a:r>
            <a:r>
              <a:rPr lang="es-CO" sz="830" b="0" i="0">
                <a:solidFill>
                  <a:srgbClr val="D7E1EE"/>
                </a:solidFill>
                <a:latin typeface="Courier New"/>
              </a:rPr>
              <a:t>v</a:t>
            </a:r>
            <a:r>
              <a:rPr lang="es-CO" sz="830" b="0" i="0">
                <a:solidFill>
                  <a:srgbClr val="93A5BD"/>
                </a:solidFill>
                <a:latin typeface="Courier New"/>
              </a:rPr>
              <a:t>));</a:t>
            </a:r>
          </a:p>
          <a:p>
            <a:pPr algn="l"/>
            <a:r>
              <a:rPr lang="es-CO" sz="830" b="0" i="0">
                <a:solidFill>
                  <a:srgbClr val="E8EEF6"/>
                </a:solidFill>
                <a:latin typeface="Courier New"/>
              </a:rPr>
              <a:t> </a:t>
            </a:r>
          </a:p>
          <a:p>
            <a:pPr algn="l"/>
            <a:r>
              <a:rPr lang="es-CO" sz="830" b="0" i="0">
                <a:solidFill>
                  <a:srgbClr val="FFB86C"/>
                </a:solidFill>
                <a:latin typeface="Courier New"/>
              </a:rPr>
              <a:t>const</a:t>
            </a:r>
            <a:r>
              <a:rPr lang="es-CO" sz="830" b="0" i="0">
                <a:solidFill>
                  <a:srgbClr val="D7E1EE"/>
                </a:solidFill>
                <a:latin typeface="Courier New"/>
              </a:rPr>
              <a:t> SW </a:t>
            </a:r>
            <a:r>
              <a:rPr lang="es-CO" sz="830" b="0" i="0">
                <a:solidFill>
                  <a:srgbClr val="93A5BD"/>
                </a:solidFill>
                <a:latin typeface="Courier New"/>
              </a:rPr>
              <a:t>=</a:t>
            </a:r>
            <a:r>
              <a:rPr lang="es-CO" sz="830" b="0" i="0">
                <a:solidFill>
                  <a:srgbClr val="D7E1EE"/>
                </a:solidFill>
                <a:latin typeface="Courier New"/>
              </a:rPr>
              <a:t> </a:t>
            </a:r>
            <a:r>
              <a:rPr lang="es-CO" sz="830" b="0" i="0">
                <a:solidFill>
                  <a:srgbClr val="FFD479"/>
                </a:solidFill>
                <a:latin typeface="Courier New"/>
              </a:rPr>
              <a:t>'http://example.org/soporte-web#'</a:t>
            </a:r>
            <a:r>
              <a:rPr lang="es-CO" sz="830" b="0" i="0">
                <a:solidFill>
                  <a:srgbClr val="93A5BD"/>
                </a:solidFill>
                <a:latin typeface="Courier New"/>
              </a:rPr>
              <a:t>;</a:t>
            </a:r>
          </a:p>
          <a:p>
            <a:pPr algn="l"/>
            <a:r>
              <a:rPr lang="es-CO" sz="830" b="0" i="0">
                <a:solidFill>
                  <a:srgbClr val="FFB86C"/>
                </a:solidFill>
                <a:latin typeface="Courier New"/>
              </a:rPr>
              <a:t>let</a:t>
            </a:r>
            <a:r>
              <a:rPr lang="es-CO" sz="830" b="0" i="0">
                <a:solidFill>
                  <a:srgbClr val="D7E1EE"/>
                </a:solidFill>
                <a:latin typeface="Courier New"/>
              </a:rPr>
              <a:t> ttl </a:t>
            </a:r>
            <a:r>
              <a:rPr lang="es-CO" sz="830" b="0" i="0">
                <a:solidFill>
                  <a:srgbClr val="93A5BD"/>
                </a:solidFill>
                <a:latin typeface="Courier New"/>
              </a:rPr>
              <a:t>=</a:t>
            </a:r>
            <a:r>
              <a:rPr lang="es-CO" sz="830" b="0" i="0">
                <a:solidFill>
                  <a:srgbClr val="D7E1EE"/>
                </a:solidFill>
                <a:latin typeface="Courier New"/>
              </a:rPr>
              <a:t> </a:t>
            </a:r>
            <a:r>
              <a:rPr lang="es-CO" sz="830" b="0" i="0">
                <a:solidFill>
                  <a:srgbClr val="FFD479"/>
                </a:solidFill>
                <a:latin typeface="Courier New"/>
              </a:rPr>
              <a:t>`@prefix sw: &lt;${SW}&gt; .\n\n`</a:t>
            </a:r>
            <a:r>
              <a:rPr lang="es-CO" sz="830" b="0" i="0">
                <a:solidFill>
                  <a:srgbClr val="93A5BD"/>
                </a:solidFill>
                <a:latin typeface="Courier New"/>
              </a:rPr>
              <a:t>;</a:t>
            </a:r>
          </a:p>
          <a:p>
            <a:pPr algn="l"/>
            <a:r>
              <a:rPr lang="es-CO" sz="830" b="0" i="0">
                <a:solidFill>
                  <a:srgbClr val="FFB86C"/>
                </a:solidFill>
                <a:latin typeface="Courier New"/>
              </a:rPr>
              <a:t>for</a:t>
            </a:r>
            <a:r>
              <a:rPr lang="es-CO" sz="830" b="0" i="0">
                <a:solidFill>
                  <a:srgbClr val="D7E1EE"/>
                </a:solidFill>
                <a:latin typeface="Courier New"/>
              </a:rPr>
              <a:t> </a:t>
            </a:r>
            <a:r>
              <a:rPr lang="es-CO" sz="830" b="0" i="0">
                <a:solidFill>
                  <a:srgbClr val="93A5BD"/>
                </a:solidFill>
                <a:latin typeface="Courier New"/>
              </a:rPr>
              <a:t>(</a:t>
            </a:r>
            <a:r>
              <a:rPr lang="es-CO" sz="830" b="0" i="0">
                <a:solidFill>
                  <a:srgbClr val="FFB86C"/>
                </a:solidFill>
                <a:latin typeface="Courier New"/>
              </a:rPr>
              <a:t>const</a:t>
            </a:r>
            <a:r>
              <a:rPr lang="es-CO" sz="830" b="0" i="0">
                <a:solidFill>
                  <a:srgbClr val="D7E1EE"/>
                </a:solidFill>
                <a:latin typeface="Courier New"/>
              </a:rPr>
              <a:t> c </a:t>
            </a:r>
            <a:r>
              <a:rPr lang="es-CO" sz="830" b="0" i="0">
                <a:solidFill>
                  <a:srgbClr val="FFB86C"/>
                </a:solidFill>
                <a:latin typeface="Courier New"/>
              </a:rPr>
              <a:t>of</a:t>
            </a:r>
            <a:r>
              <a:rPr lang="es-CO" sz="830" b="0" i="0">
                <a:solidFill>
                  <a:srgbClr val="D7E1EE"/>
                </a:solidFill>
                <a:latin typeface="Courier New"/>
              </a:rPr>
              <a:t> filas</a:t>
            </a:r>
            <a:r>
              <a:rPr lang="es-CO" sz="830" b="0" i="0">
                <a:solidFill>
                  <a:srgbClr val="93A5BD"/>
                </a:solidFill>
                <a:latin typeface="Courier New"/>
              </a:rPr>
              <a:t>)</a:t>
            </a:r>
            <a:r>
              <a:rPr lang="es-CO" sz="830" b="0" i="0">
                <a:solidFill>
                  <a:srgbClr val="D7E1EE"/>
                </a:solidFill>
                <a:latin typeface="Courier New"/>
              </a:rPr>
              <a:t> </a:t>
            </a:r>
            <a:r>
              <a:rPr lang="es-CO" sz="830" b="0" i="0">
                <a:solidFill>
                  <a:srgbClr val="93A5BD"/>
                </a:solidFill>
                <a:latin typeface="Courier New"/>
              </a:rPr>
              <a:t>{</a:t>
            </a:r>
          </a:p>
          <a:p>
            <a:pPr algn="l"/>
            <a:r>
              <a:rPr lang="es-CO" sz="830" b="0" i="0">
                <a:solidFill>
                  <a:srgbClr val="D7E1EE"/>
                </a:solidFill>
                <a:latin typeface="Courier New"/>
              </a:rPr>
              <a:t>  ttl </a:t>
            </a:r>
            <a:r>
              <a:rPr lang="es-CO" sz="830" b="0" i="0">
                <a:solidFill>
                  <a:srgbClr val="93A5BD"/>
                </a:solidFill>
                <a:latin typeface="Courier New"/>
              </a:rPr>
              <a:t>+=</a:t>
            </a:r>
            <a:r>
              <a:rPr lang="es-CO" sz="830" b="0" i="0">
                <a:solidFill>
                  <a:srgbClr val="D7E1EE"/>
                </a:solidFill>
                <a:latin typeface="Courier New"/>
              </a:rPr>
              <a:t> </a:t>
            </a:r>
            <a:r>
              <a:rPr lang="es-CO" sz="830" b="0" i="0">
                <a:solidFill>
                  <a:srgbClr val="FFD479"/>
                </a:solidFill>
                <a:latin typeface="Courier New"/>
              </a:rPr>
              <a:t>`sw:contacto${c.id} a sw:Contacto ;\n`</a:t>
            </a:r>
            <a:r>
              <a:rPr lang="es-CO" sz="830" b="0" i="0">
                <a:solidFill>
                  <a:srgbClr val="D7E1EE"/>
                </a:solidFill>
                <a:latin typeface="Courier New"/>
              </a:rPr>
              <a:t> </a:t>
            </a:r>
            <a:r>
              <a:rPr lang="es-CO" sz="830" b="0" i="0">
                <a:solidFill>
                  <a:srgbClr val="93A5BD"/>
                </a:solidFill>
                <a:latin typeface="Courier New"/>
              </a:rPr>
              <a:t>+</a:t>
            </a:r>
          </a:p>
          <a:p>
            <a:pPr algn="l"/>
            <a:r>
              <a:rPr lang="es-CO" sz="830" b="0" i="0">
                <a:solidFill>
                  <a:srgbClr val="D7E1EE"/>
                </a:solidFill>
                <a:latin typeface="Courier New"/>
              </a:rPr>
              <a:t>    </a:t>
            </a:r>
            <a:r>
              <a:rPr lang="es-CO" sz="830" b="0" i="0">
                <a:solidFill>
                  <a:srgbClr val="FFD479"/>
                </a:solidFill>
                <a:latin typeface="Courier New"/>
              </a:rPr>
              <a:t>`    sw:nombre ${lit(c.nombre)} ;\n`</a:t>
            </a:r>
            <a:r>
              <a:rPr lang="es-CO" sz="830" b="0" i="0">
                <a:solidFill>
                  <a:srgbClr val="D7E1EE"/>
                </a:solidFill>
                <a:latin typeface="Courier New"/>
              </a:rPr>
              <a:t> </a:t>
            </a:r>
            <a:r>
              <a:rPr lang="es-CO" sz="830" b="0" i="0">
                <a:solidFill>
                  <a:srgbClr val="93A5BD"/>
                </a:solidFill>
                <a:latin typeface="Courier New"/>
              </a:rPr>
              <a:t>+</a:t>
            </a:r>
          </a:p>
          <a:p>
            <a:pPr algn="l"/>
            <a:r>
              <a:rPr lang="es-CO" sz="830" b="0" i="0">
                <a:solidFill>
                  <a:srgbClr val="D7E1EE"/>
                </a:solidFill>
                <a:latin typeface="Courier New"/>
              </a:rPr>
              <a:t>    </a:t>
            </a:r>
            <a:r>
              <a:rPr lang="es-CO" sz="830" b="0" i="0">
                <a:solidFill>
                  <a:srgbClr val="FFD479"/>
                </a:solidFill>
                <a:latin typeface="Courier New"/>
              </a:rPr>
              <a:t>`    sw:correo ${lit(c.correo)} .\n\n`</a:t>
            </a:r>
            <a:r>
              <a:rPr lang="es-CO" sz="830" b="0" i="0">
                <a:solidFill>
                  <a:srgbClr val="93A5BD"/>
                </a:solidFill>
                <a:latin typeface="Courier New"/>
              </a:rPr>
              <a:t>;</a:t>
            </a:r>
          </a:p>
          <a:p>
            <a:pPr algn="l"/>
            <a:r>
              <a:rPr lang="es-CO" sz="830" b="0" i="0">
                <a:solidFill>
                  <a:srgbClr val="93A5BD"/>
                </a:solidFill>
                <a:latin typeface="Courier New"/>
              </a:rPr>
              <a:t>}</a:t>
            </a:r>
          </a:p>
          <a:p>
            <a:pPr algn="l"/>
            <a:r>
              <a:rPr lang="es-CO" sz="830" b="0" i="0">
                <a:solidFill>
                  <a:srgbClr val="D7E1EE"/>
                </a:solidFill>
                <a:latin typeface="Courier New"/>
              </a:rPr>
              <a:t>fs</a:t>
            </a:r>
            <a:r>
              <a:rPr lang="es-CO" sz="830" b="0" i="0">
                <a:solidFill>
                  <a:srgbClr val="93A5BD"/>
                </a:solidFill>
                <a:latin typeface="Courier New"/>
              </a:rPr>
              <a:t>.</a:t>
            </a:r>
            <a:r>
              <a:rPr lang="es-CO" sz="830" b="0" i="0">
                <a:solidFill>
                  <a:srgbClr val="D7E1EE"/>
                </a:solidFill>
                <a:latin typeface="Courier New"/>
              </a:rPr>
              <a:t>writeFileSync</a:t>
            </a:r>
            <a:r>
              <a:rPr lang="es-CO" sz="830" b="0" i="0">
                <a:solidFill>
                  <a:srgbClr val="93A5BD"/>
                </a:solidFill>
                <a:latin typeface="Courier New"/>
              </a:rPr>
              <a:t>(</a:t>
            </a:r>
            <a:r>
              <a:rPr lang="es-CO" sz="830" b="0" i="0">
                <a:solidFill>
                  <a:srgbClr val="FFD479"/>
                </a:solidFill>
                <a:latin typeface="Courier New"/>
              </a:rPr>
              <a:t>'data/contactos.ttl'</a:t>
            </a:r>
            <a:r>
              <a:rPr lang="es-CO" sz="830" b="0" i="0">
                <a:solidFill>
                  <a:srgbClr val="93A5BD"/>
                </a:solidFill>
                <a:latin typeface="Courier New"/>
              </a:rPr>
              <a:t>,</a:t>
            </a:r>
            <a:r>
              <a:rPr lang="es-CO" sz="830" b="0" i="0">
                <a:solidFill>
                  <a:srgbClr val="D7E1EE"/>
                </a:solidFill>
                <a:latin typeface="Courier New"/>
              </a:rPr>
              <a:t> ttl</a:t>
            </a:r>
            <a:r>
              <a:rPr lang="es-CO" sz="830" b="0" i="0">
                <a:solidFill>
                  <a:srgbClr val="93A5BD"/>
                </a:solidFill>
                <a:latin typeface="Courier New"/>
              </a:rPr>
              <a:t>);</a:t>
            </a:r>
          </a:p>
          <a:p>
            <a:pPr algn="l"/>
            <a:r>
              <a:rPr lang="es-CO" sz="830" b="0" i="0">
                <a:solidFill>
                  <a:srgbClr val="D7E1EE"/>
                </a:solidFill>
                <a:latin typeface="Courier New"/>
              </a:rPr>
              <a:t>db</a:t>
            </a:r>
            <a:r>
              <a:rPr lang="es-CO" sz="830" b="0" i="0">
                <a:solidFill>
                  <a:srgbClr val="93A5BD"/>
                </a:solidFill>
                <a:latin typeface="Courier New"/>
              </a:rPr>
              <a:t>.</a:t>
            </a:r>
            <a:r>
              <a:rPr lang="es-CO" sz="830" b="0" i="0">
                <a:solidFill>
                  <a:srgbClr val="D7E1EE"/>
                </a:solidFill>
                <a:latin typeface="Courier New"/>
              </a:rPr>
              <a:t>close</a:t>
            </a:r>
            <a:r>
              <a:rPr lang="es-CO" sz="830" b="0" i="0">
                <a:solidFill>
                  <a:srgbClr val="93A5BD"/>
                </a:solidFill>
                <a:latin typeface="Courier New"/>
              </a:rPr>
              <a:t>();</a:t>
            </a:r>
          </a:p>
        </p:txBody>
      </p:sp>
      <p:sp>
        <p:nvSpPr>
          <p:cNvPr id="11" name="Rounded Rectangle 10"/>
          <p:cNvSpPr/>
          <p:nvPr/>
        </p:nvSpPr>
        <p:spPr>
          <a:xfrm>
            <a:off x="5440680" y="1426464"/>
            <a:ext cx="868680" cy="310896"/>
          </a:xfrm>
          <a:prstGeom prst="roundRect">
            <a:avLst>
              <a:gd name="adj" fmla="val 13333"/>
            </a:avLst>
          </a:prstGeom>
          <a:solidFill>
            <a:srgbClr val="1A2434"/>
          </a:solidFill>
          <a:ln w="12700">
            <a:solidFill>
              <a:srgbClr val="FFD47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477256" y="1426464"/>
            <a:ext cx="795528" cy="310896"/>
          </a:xfrm>
          <a:prstGeom prst="rect">
            <a:avLst/>
          </a:prstGeom>
          <a:noFill/>
        </p:spPr>
        <p:txBody>
          <a:bodyPr wrap="square" lIns="0" tIns="0" rIns="0" bIns="0" anchor="ctr">
            <a:spAutoFit/>
          </a:bodyPr>
          <a:lstStyle/>
          <a:p>
            <a:pPr algn="ctr"/>
            <a:r>
              <a:rPr lang="es-CO" sz="650" b="1" i="0">
                <a:solidFill>
                  <a:srgbClr val="FFD479"/>
                </a:solidFill>
                <a:latin typeface="Courier New"/>
              </a:rPr>
              <a:t>contactos.db</a:t>
            </a:r>
          </a:p>
        </p:txBody>
      </p:sp>
      <p:cxnSp>
        <p:nvCxnSpPr>
          <p:cNvPr id="13" name="Connector 12"/>
          <p:cNvCxnSpPr/>
          <p:nvPr/>
        </p:nvCxnSpPr>
        <p:spPr>
          <a:xfrm>
            <a:off x="6318504" y="1581912"/>
            <a:ext cx="118872" cy="0"/>
          </a:xfrm>
          <a:prstGeom prst="line">
            <a:avLst/>
          </a:prstGeom>
          <a:ln w="15875">
            <a:solidFill>
              <a:srgbClr val="93A5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446520" y="1426464"/>
            <a:ext cx="1143000" cy="310896"/>
          </a:xfrm>
          <a:prstGeom prst="roundRect">
            <a:avLst>
              <a:gd name="adj" fmla="val 13333"/>
            </a:avLst>
          </a:prstGeom>
          <a:solidFill>
            <a:srgbClr val="1A2434"/>
          </a:solidFill>
          <a:ln w="12700">
            <a:solidFill>
              <a:srgbClr val="FF8A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483096" y="1426464"/>
            <a:ext cx="1069848" cy="310896"/>
          </a:xfrm>
          <a:prstGeom prst="rect">
            <a:avLst/>
          </a:prstGeom>
          <a:noFill/>
        </p:spPr>
        <p:txBody>
          <a:bodyPr wrap="square" lIns="0" tIns="0" rIns="0" bIns="0" anchor="ctr">
            <a:spAutoFit/>
          </a:bodyPr>
          <a:lstStyle/>
          <a:p>
            <a:pPr algn="ctr"/>
            <a:r>
              <a:rPr lang="es-CO" sz="650" b="1" i="0">
                <a:solidFill>
                  <a:srgbClr val="FF8A3D"/>
                </a:solidFill>
                <a:latin typeface="Courier New"/>
              </a:rPr>
              <a:t>exportar_turtle.js</a:t>
            </a:r>
          </a:p>
        </p:txBody>
      </p:sp>
      <p:cxnSp>
        <p:nvCxnSpPr>
          <p:cNvPr id="16" name="Connector 15"/>
          <p:cNvCxnSpPr/>
          <p:nvPr/>
        </p:nvCxnSpPr>
        <p:spPr>
          <a:xfrm>
            <a:off x="7598664" y="1581912"/>
            <a:ext cx="118872" cy="0"/>
          </a:xfrm>
          <a:prstGeom prst="line">
            <a:avLst/>
          </a:prstGeom>
          <a:ln w="15875">
            <a:solidFill>
              <a:srgbClr val="93A5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726680" y="1426464"/>
            <a:ext cx="868680" cy="310896"/>
          </a:xfrm>
          <a:prstGeom prst="roundRect">
            <a:avLst>
              <a:gd name="adj" fmla="val 13333"/>
            </a:avLst>
          </a:prstGeom>
          <a:solidFill>
            <a:srgbClr val="1A243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763256" y="1426464"/>
            <a:ext cx="795528" cy="310896"/>
          </a:xfrm>
          <a:prstGeom prst="rect">
            <a:avLst/>
          </a:prstGeom>
          <a:noFill/>
        </p:spPr>
        <p:txBody>
          <a:bodyPr wrap="square" lIns="0" tIns="0" rIns="0" bIns="0" anchor="ctr">
            <a:spAutoFit/>
          </a:bodyPr>
          <a:lstStyle/>
          <a:p>
            <a:pPr algn="ctr"/>
            <a:r>
              <a:rPr lang="es-CO" sz="650" b="1" i="0">
                <a:solidFill>
                  <a:srgbClr val="3DDC97"/>
                </a:solidFill>
                <a:latin typeface="Courier New"/>
              </a:rPr>
              <a:t>contactos.ttl</a:t>
            </a:r>
          </a:p>
        </p:txBody>
      </p:sp>
      <p:sp>
        <p:nvSpPr>
          <p:cNvPr id="19" name="Rounded Rectangle 18"/>
          <p:cNvSpPr/>
          <p:nvPr/>
        </p:nvSpPr>
        <p:spPr>
          <a:xfrm>
            <a:off x="5440680" y="1847088"/>
            <a:ext cx="3200400" cy="1261872"/>
          </a:xfrm>
          <a:prstGeom prst="roundRect">
            <a:avLst>
              <a:gd name="adj" fmla="val 8000"/>
            </a:avLst>
          </a:prstGeom>
          <a:solidFill>
            <a:srgbClr val="070C1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5586984" y="1920240"/>
            <a:ext cx="2907792" cy="182880"/>
          </a:xfrm>
          <a:prstGeom prst="rect">
            <a:avLst/>
          </a:prstGeom>
          <a:noFill/>
        </p:spPr>
        <p:txBody>
          <a:bodyPr wrap="square" lIns="0" tIns="0" rIns="0" bIns="0" anchor="ctr">
            <a:spAutoFit/>
          </a:bodyPr>
          <a:lstStyle/>
          <a:p>
            <a:pPr algn="l"/>
            <a:r>
              <a:rPr lang="es-CO" sz="780" b="1" i="0">
                <a:solidFill>
                  <a:srgbClr val="3DDC97"/>
                </a:solidFill>
                <a:latin typeface="Courier New"/>
              </a:rPr>
              <a:t>data/contactos.ttl · resultado</a:t>
            </a:r>
          </a:p>
        </p:txBody>
      </p:sp>
      <p:sp>
        <p:nvSpPr>
          <p:cNvPr id="21" name="TextBox 20"/>
          <p:cNvSpPr txBox="1"/>
          <p:nvPr/>
        </p:nvSpPr>
        <p:spPr>
          <a:xfrm>
            <a:off x="5586984" y="2121408"/>
            <a:ext cx="2907792" cy="932688"/>
          </a:xfrm>
          <a:prstGeom prst="rect">
            <a:avLst/>
          </a:prstGeom>
          <a:noFill/>
        </p:spPr>
        <p:txBody>
          <a:bodyPr wrap="square" lIns="0" tIns="0" rIns="0" bIns="0" anchor="t">
            <a:spAutoFit/>
          </a:bodyPr>
          <a:lstStyle/>
          <a:p>
            <a:pPr algn="l"/>
            <a:r>
              <a:rPr lang="es-CO" sz="730" b="0" i="0">
                <a:solidFill>
                  <a:srgbClr val="FFB86C"/>
                </a:solidFill>
                <a:latin typeface="Courier New"/>
              </a:rPr>
              <a:t>@prefix</a:t>
            </a:r>
            <a:r>
              <a:rPr lang="es-CO" sz="730" b="0" i="0">
                <a:solidFill>
                  <a:srgbClr val="D7E1EE"/>
                </a:solidFill>
                <a:latin typeface="Courier New"/>
              </a:rPr>
              <a:t> </a:t>
            </a:r>
            <a:r>
              <a:rPr lang="es-CO" sz="730" b="0" i="0">
                <a:solidFill>
                  <a:srgbClr val="56C7F2"/>
                </a:solidFill>
                <a:latin typeface="Courier New"/>
              </a:rPr>
              <a:t>sw:</a:t>
            </a:r>
            <a:r>
              <a:rPr lang="es-CO" sz="730" b="0" i="0">
                <a:solidFill>
                  <a:srgbClr val="D7E1EE"/>
                </a:solidFill>
                <a:latin typeface="Courier New"/>
              </a:rPr>
              <a:t> </a:t>
            </a:r>
            <a:r>
              <a:rPr lang="es-CO" sz="730" b="0" i="0">
                <a:solidFill>
                  <a:srgbClr val="93A5BD"/>
                </a:solidFill>
                <a:latin typeface="Courier New"/>
              </a:rPr>
              <a:t>&lt;http://example.org/soporte-web#&gt;</a:t>
            </a:r>
            <a:r>
              <a:rPr lang="es-CO" sz="730" b="0" i="0">
                <a:solidFill>
                  <a:srgbClr val="D7E1EE"/>
                </a:solidFill>
                <a:latin typeface="Courier New"/>
              </a:rPr>
              <a:t> </a:t>
            </a:r>
            <a:r>
              <a:rPr lang="es-CO" sz="730" b="0" i="0">
                <a:solidFill>
                  <a:srgbClr val="93A5BD"/>
                </a:solidFill>
                <a:latin typeface="Courier New"/>
              </a:rPr>
              <a:t>.</a:t>
            </a:r>
          </a:p>
          <a:p>
            <a:pPr algn="l"/>
            <a:r>
              <a:rPr lang="es-CO" sz="730" b="0" i="0">
                <a:solidFill>
                  <a:srgbClr val="E8EEF6"/>
                </a:solidFill>
                <a:latin typeface="Courier New"/>
              </a:rPr>
              <a:t> </a:t>
            </a:r>
          </a:p>
          <a:p>
            <a:pPr algn="l"/>
            <a:r>
              <a:rPr lang="es-CO" sz="730" b="0" i="0">
                <a:solidFill>
                  <a:srgbClr val="D7E1EE"/>
                </a:solidFill>
                <a:latin typeface="Courier New"/>
              </a:rPr>
              <a:t>sw:contacto1 </a:t>
            </a:r>
            <a:r>
              <a:rPr lang="es-CO" sz="730" b="0" i="0">
                <a:solidFill>
                  <a:srgbClr val="FFB86C"/>
                </a:solidFill>
                <a:latin typeface="Courier New"/>
              </a:rPr>
              <a:t>a</a:t>
            </a:r>
            <a:r>
              <a:rPr lang="es-CO" sz="730" b="0" i="0">
                <a:solidFill>
                  <a:srgbClr val="D7E1EE"/>
                </a:solidFill>
                <a:latin typeface="Courier New"/>
              </a:rPr>
              <a:t> </a:t>
            </a:r>
            <a:r>
              <a:rPr lang="es-CO" sz="730" b="0" i="0">
                <a:solidFill>
                  <a:srgbClr val="3DDC97"/>
                </a:solidFill>
                <a:latin typeface="Courier New"/>
              </a:rPr>
              <a:t>sw:Contacto</a:t>
            </a:r>
            <a:r>
              <a:rPr lang="es-CO" sz="730" b="0" i="0">
                <a:solidFill>
                  <a:srgbClr val="D7E1EE"/>
                </a:solidFill>
                <a:latin typeface="Courier New"/>
              </a:rPr>
              <a:t> </a:t>
            </a:r>
            <a:r>
              <a:rPr lang="es-CO" sz="730" b="0" i="0">
                <a:solidFill>
                  <a:srgbClr val="93A5BD"/>
                </a:solidFill>
                <a:latin typeface="Courier New"/>
              </a:rPr>
              <a:t>;</a:t>
            </a:r>
          </a:p>
          <a:p>
            <a:pPr algn="l"/>
            <a:r>
              <a:rPr lang="es-CO" sz="730" b="0" i="0">
                <a:solidFill>
                  <a:srgbClr val="D7E1EE"/>
                </a:solidFill>
                <a:latin typeface="Courier New"/>
              </a:rPr>
              <a:t>    </a:t>
            </a:r>
            <a:r>
              <a:rPr lang="es-CO" sz="730" b="0" i="0">
                <a:solidFill>
                  <a:srgbClr val="56C7F2"/>
                </a:solidFill>
                <a:latin typeface="Courier New"/>
              </a:rPr>
              <a:t>sw:nombre</a:t>
            </a:r>
            <a:r>
              <a:rPr lang="es-CO" sz="730" b="0" i="0">
                <a:solidFill>
                  <a:srgbClr val="D7E1EE"/>
                </a:solidFill>
                <a:latin typeface="Courier New"/>
              </a:rPr>
              <a:t> </a:t>
            </a:r>
            <a:r>
              <a:rPr lang="es-CO" sz="730" b="0" i="0">
                <a:solidFill>
                  <a:srgbClr val="FFD479"/>
                </a:solidFill>
                <a:latin typeface="Courier New"/>
              </a:rPr>
              <a:t>"Ana"</a:t>
            </a:r>
            <a:r>
              <a:rPr lang="es-CO" sz="730" b="0" i="0">
                <a:solidFill>
                  <a:srgbClr val="D7E1EE"/>
                </a:solidFill>
                <a:latin typeface="Courier New"/>
              </a:rPr>
              <a:t> </a:t>
            </a:r>
            <a:r>
              <a:rPr lang="es-CO" sz="730" b="0" i="0">
                <a:solidFill>
                  <a:srgbClr val="93A5BD"/>
                </a:solidFill>
                <a:latin typeface="Courier New"/>
              </a:rPr>
              <a:t>;</a:t>
            </a:r>
          </a:p>
          <a:p>
            <a:pPr algn="l"/>
            <a:r>
              <a:rPr lang="es-CO" sz="730" b="0" i="0">
                <a:solidFill>
                  <a:srgbClr val="D7E1EE"/>
                </a:solidFill>
                <a:latin typeface="Courier New"/>
              </a:rPr>
              <a:t>    </a:t>
            </a:r>
            <a:r>
              <a:rPr lang="es-CO" sz="730" b="0" i="0">
                <a:solidFill>
                  <a:srgbClr val="56C7F2"/>
                </a:solidFill>
                <a:latin typeface="Courier New"/>
              </a:rPr>
              <a:t>sw:correo</a:t>
            </a:r>
            <a:r>
              <a:rPr lang="es-CO" sz="730" b="0" i="0">
                <a:solidFill>
                  <a:srgbClr val="D7E1EE"/>
                </a:solidFill>
                <a:latin typeface="Courier New"/>
              </a:rPr>
              <a:t> </a:t>
            </a:r>
            <a:r>
              <a:rPr lang="es-CO" sz="730" b="0" i="0">
                <a:solidFill>
                  <a:srgbClr val="FFD479"/>
                </a:solidFill>
                <a:latin typeface="Courier New"/>
              </a:rPr>
              <a:t>"ana@example.com"</a:t>
            </a:r>
            <a:r>
              <a:rPr lang="es-CO" sz="730" b="0" i="0">
                <a:solidFill>
                  <a:srgbClr val="D7E1EE"/>
                </a:solidFill>
                <a:latin typeface="Courier New"/>
              </a:rPr>
              <a:t> </a:t>
            </a:r>
            <a:r>
              <a:rPr lang="es-CO" sz="730" b="0" i="0">
                <a:solidFill>
                  <a:srgbClr val="93A5BD"/>
                </a:solidFill>
                <a:latin typeface="Courier New"/>
              </a:rPr>
              <a:t>.</a:t>
            </a:r>
          </a:p>
        </p:txBody>
      </p:sp>
      <p:sp>
        <p:nvSpPr>
          <p:cNvPr id="22" name="Rounded Rectangle 21"/>
          <p:cNvSpPr/>
          <p:nvPr/>
        </p:nvSpPr>
        <p:spPr>
          <a:xfrm>
            <a:off x="5440680" y="3218688"/>
            <a:ext cx="3200400" cy="1298448"/>
          </a:xfrm>
          <a:prstGeom prst="roundRect">
            <a:avLst>
              <a:gd name="adj" fmla="val 8000"/>
            </a:avLst>
          </a:prstGeom>
          <a:solidFill>
            <a:srgbClr val="20160E"/>
          </a:solidFill>
          <a:ln w="12700">
            <a:solidFill>
              <a:srgbClr val="FFD47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5568696" y="3310128"/>
            <a:ext cx="2944368" cy="219456"/>
          </a:xfrm>
          <a:prstGeom prst="rect">
            <a:avLst/>
          </a:prstGeom>
          <a:noFill/>
        </p:spPr>
        <p:txBody>
          <a:bodyPr wrap="square" lIns="0" tIns="0" rIns="0" bIns="0" anchor="ctr">
            <a:spAutoFit/>
          </a:bodyPr>
          <a:lstStyle/>
          <a:p>
            <a:pPr algn="l"/>
            <a:r>
              <a:rPr lang="es-CO" sz="1100" b="1" i="0">
                <a:solidFill>
                  <a:srgbClr val="FFD479"/>
                </a:solidFill>
                <a:latin typeface="Arial"/>
              </a:rPr>
              <a:t>Qué hace y qué no</a:t>
            </a:r>
          </a:p>
        </p:txBody>
      </p:sp>
      <p:sp>
        <p:nvSpPr>
          <p:cNvPr id="24" name="TextBox 23"/>
          <p:cNvSpPr txBox="1"/>
          <p:nvPr/>
        </p:nvSpPr>
        <p:spPr>
          <a:xfrm>
            <a:off x="5568696" y="3575304"/>
            <a:ext cx="2944368" cy="886968"/>
          </a:xfrm>
          <a:prstGeom prst="rect">
            <a:avLst/>
          </a:prstGeom>
          <a:noFill/>
        </p:spPr>
        <p:txBody>
          <a:bodyPr wrap="square" lIns="0" tIns="0" rIns="0" bIns="0" anchor="t">
            <a:spAutoFit/>
          </a:bodyPr>
          <a:lstStyle/>
          <a:p>
            <a:pPr algn="l">
              <a:spcAft>
                <a:spcPts val="200"/>
              </a:spcAft>
            </a:pPr>
            <a:r>
              <a:rPr lang="es-CO" sz="980" b="1" i="0">
                <a:solidFill>
                  <a:srgbClr val="FF8A3D"/>
                </a:solidFill>
                <a:latin typeface="Calibri"/>
              </a:rPr>
              <a:t>›  </a:t>
            </a:r>
            <a:r>
              <a:rPr lang="es-CO" sz="980" b="0" i="0">
                <a:solidFill>
                  <a:srgbClr val="E8EEF6"/>
                </a:solidFill>
                <a:latin typeface="Calibri"/>
              </a:rPr>
              <a:t>Lee la tabla y escribe texto Turtle.</a:t>
            </a:r>
          </a:p>
          <a:p>
            <a:pPr algn="l">
              <a:spcAft>
                <a:spcPts val="200"/>
              </a:spcAft>
            </a:pPr>
            <a:r>
              <a:rPr lang="es-CO" sz="980" b="1" i="0">
                <a:solidFill>
                  <a:srgbClr val="FF8A3D"/>
                </a:solidFill>
                <a:latin typeface="Calibri"/>
              </a:rPr>
              <a:t>›  </a:t>
            </a:r>
            <a:r>
              <a:rPr lang="es-CO" sz="980" b="0" i="0">
                <a:solidFill>
                  <a:srgbClr val="E8EEF6"/>
                </a:solidFill>
                <a:latin typeface="Calibri"/>
              </a:rPr>
              <a:t>No modifica ni reemplaza contactos.db.</a:t>
            </a:r>
          </a:p>
          <a:p>
            <a:pPr algn="l">
              <a:spcAft>
                <a:spcPts val="200"/>
              </a:spcAft>
            </a:pPr>
            <a:r>
              <a:rPr lang="es-CO" sz="980" b="1" i="0">
                <a:solidFill>
                  <a:srgbClr val="FF8A3D"/>
                </a:solidFill>
                <a:latin typeface="Calibri"/>
              </a:rPr>
              <a:t>›  </a:t>
            </a:r>
            <a:r>
              <a:rPr lang="es-CO" sz="980" b="0" i="0">
                <a:solidFill>
                  <a:srgbClr val="E8EEF6"/>
                </a:solidFill>
                <a:latin typeface="Calibri"/>
              </a:rPr>
              <a:t>No ejecuta un razonador OWL.</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A101B"/>
        </a:solidFill>
        <a:effectLst/>
      </p:bgPr>
    </p:bg>
    <p:spTree>
      <p:nvGrpSpPr>
        <p:cNvPr id="1" name=""/>
        <p:cNvGrpSpPr/>
        <p:nvPr/>
      </p:nvGrpSpPr>
      <p:grpSpPr>
        <a:xfrm>
          <a:off x="0" y="0"/>
          <a:ext cx="0" cy="0"/>
          <a:chOff x="0" y="0"/>
          <a:chExt cx="0" cy="0"/>
        </a:xfrm>
      </p:grpSpPr>
      <p:sp>
        <p:nvSpPr>
          <p:cNvPr id="2" name="TextBox 1"/>
          <p:cNvSpPr txBox="1"/>
          <p:nvPr/>
        </p:nvSpPr>
        <p:spPr>
          <a:xfrm>
            <a:off x="6309360" y="4718304"/>
            <a:ext cx="2331720" cy="201168"/>
          </a:xfrm>
          <a:prstGeom prst="rect">
            <a:avLst/>
          </a:prstGeom>
          <a:noFill/>
        </p:spPr>
        <p:txBody>
          <a:bodyPr wrap="square" lIns="0" tIns="0" rIns="0" bIns="0" anchor="ctr">
            <a:spAutoFit/>
          </a:bodyPr>
          <a:lstStyle/>
          <a:p>
            <a:pPr algn="r"/>
            <a:r>
              <a:rPr lang="es-CO" sz="800" b="0" i="0">
                <a:solidFill>
                  <a:srgbClr val="6C7E96"/>
                </a:solidFill>
                <a:latin typeface="Arial"/>
              </a:rPr>
              <a:t>Ingeniería Web  ·  23 / 24</a:t>
            </a:r>
          </a:p>
        </p:txBody>
      </p:sp>
      <p:sp>
        <p:nvSpPr>
          <p:cNvPr id="3" name="Rounded Rectangle 2"/>
          <p:cNvSpPr/>
          <p:nvPr/>
        </p:nvSpPr>
        <p:spPr>
          <a:xfrm>
            <a:off x="502920" y="365760"/>
            <a:ext cx="1435608" cy="228600"/>
          </a:xfrm>
          <a:prstGeom prst="roundRect">
            <a:avLst>
              <a:gd name="adj" fmla="val 50000"/>
            </a:avLst>
          </a:prstGeom>
          <a:solidFill>
            <a:srgbClr val="132A24"/>
          </a:solidFill>
          <a:ln w="952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502920" y="365760"/>
            <a:ext cx="1435608" cy="228600"/>
          </a:xfrm>
          <a:prstGeom prst="rect">
            <a:avLst/>
          </a:prstGeom>
          <a:noFill/>
        </p:spPr>
        <p:txBody>
          <a:bodyPr wrap="square" lIns="0" tIns="0" rIns="0" bIns="0" anchor="ctr">
            <a:spAutoFit/>
          </a:bodyPr>
          <a:lstStyle/>
          <a:p>
            <a:pPr algn="ctr"/>
            <a:r>
              <a:rPr lang="es-CO" sz="850" b="1" i="0">
                <a:solidFill>
                  <a:srgbClr val="3DDC97"/>
                </a:solidFill>
                <a:latin typeface="Arial"/>
              </a:rPr>
              <a:t>COMPARACIÓN</a:t>
            </a:r>
          </a:p>
        </p:txBody>
      </p:sp>
      <p:sp>
        <p:nvSpPr>
          <p:cNvPr id="5" name="Título"/>
          <p:cNvSpPr txBox="1"/>
          <p:nvPr/>
        </p:nvSpPr>
        <p:spPr>
          <a:xfrm>
            <a:off x="475488" y="658368"/>
            <a:ext cx="8138160" cy="438912"/>
          </a:xfrm>
          <a:prstGeom prst="rect">
            <a:avLst/>
          </a:prstGeom>
          <a:noFill/>
        </p:spPr>
        <p:txBody>
          <a:bodyPr wrap="square" lIns="0" tIns="0" rIns="0" bIns="0" anchor="ctr">
            <a:spAutoFit/>
          </a:bodyPr>
          <a:lstStyle/>
          <a:p>
            <a:pPr algn="l"/>
            <a:r>
              <a:rPr lang="es-CO" sz="2600" b="1" i="0">
                <a:solidFill>
                  <a:srgbClr val="FFFFFF"/>
                </a:solidFill>
                <a:latin typeface="Arial"/>
              </a:rPr>
              <a:t>Tres formas de trabajar con los mismos contactos</a:t>
            </a:r>
          </a:p>
        </p:txBody>
      </p:sp>
      <p:graphicFrame>
        <p:nvGraphicFramePr>
          <p:cNvPr id="6" name="Table 5"/>
          <p:cNvGraphicFramePr>
            <a:graphicFrameLocks noGrp="1"/>
          </p:cNvGraphicFramePr>
          <p:nvPr/>
        </p:nvGraphicFramePr>
        <p:xfrm>
          <a:off x="502920" y="1234440"/>
          <a:ext cx="8138160" cy="1956816"/>
        </p:xfrm>
        <a:graphic>
          <a:graphicData uri="http://schemas.openxmlformats.org/drawingml/2006/table">
            <a:tbl>
              <a:tblPr>
                <a:tableStyleId>{2D5ABB26-0587-4C30-8999-92F81FD0307C}</a:tableStyleId>
              </a:tblPr>
              <a:tblGrid>
                <a:gridCol w="132588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gridCol w="2514600">
                  <a:extLst>
                    <a:ext uri="{9D8B030D-6E8A-4147-A177-3AD203B41FA5}">
                      <a16:colId xmlns:a16="http://schemas.microsoft.com/office/drawing/2014/main" val="20003"/>
                    </a:ext>
                  </a:extLst>
                </a:gridCol>
              </a:tblGrid>
              <a:tr h="310896">
                <a:tc>
                  <a:txBody>
                    <a:bodyPr/>
                    <a:lstStyle/>
                    <a:p>
                      <a:r>
                        <a:rPr lang="es-CO" sz="950" b="1" i="0">
                          <a:solidFill>
                            <a:srgbClr val="3DDC97"/>
                          </a:solidFill>
                          <a:latin typeface="Arial"/>
                        </a:rPr>
                        <a:t>Criterio</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3233A"/>
                    </a:solidFill>
                  </a:tcPr>
                </a:tc>
                <a:tc>
                  <a:txBody>
                    <a:bodyPr/>
                    <a:lstStyle/>
                    <a:p>
                      <a:r>
                        <a:rPr lang="es-CO" sz="950" b="1" i="0">
                          <a:solidFill>
                            <a:srgbClr val="3DDC97"/>
                          </a:solidFill>
                          <a:latin typeface="Arial"/>
                        </a:rPr>
                        <a:t>Tabla SQLite</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3233A"/>
                    </a:solidFill>
                  </a:tcPr>
                </a:tc>
                <a:tc>
                  <a:txBody>
                    <a:bodyPr/>
                    <a:lstStyle/>
                    <a:p>
                      <a:r>
                        <a:rPr lang="es-CO" sz="950" b="1" i="0">
                          <a:solidFill>
                            <a:srgbClr val="3DDC97"/>
                          </a:solidFill>
                          <a:latin typeface="Arial"/>
                        </a:rPr>
                        <a:t>JSON de la API</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3233A"/>
                    </a:solidFill>
                  </a:tcPr>
                </a:tc>
                <a:tc>
                  <a:txBody>
                    <a:bodyPr/>
                    <a:lstStyle/>
                    <a:p>
                      <a:r>
                        <a:rPr lang="es-CO" sz="950" b="1" i="0">
                          <a:solidFill>
                            <a:srgbClr val="3DDC97"/>
                          </a:solidFill>
                          <a:latin typeface="Arial"/>
                        </a:rPr>
                        <a:t>Ontología (RDF/OWL)</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3233A"/>
                    </a:solidFill>
                  </a:tcPr>
                </a:tc>
                <a:extLst>
                  <a:ext uri="{0D108BD9-81ED-4DB2-BD59-A6C34878D82A}">
                    <a16:rowId xmlns:a16="http://schemas.microsoft.com/office/drawing/2014/main" val="10000"/>
                  </a:ext>
                </a:extLst>
              </a:tr>
              <a:tr h="329184">
                <a:tc>
                  <a:txBody>
                    <a:bodyPr/>
                    <a:lstStyle/>
                    <a:p>
                      <a:r>
                        <a:rPr lang="es-CO" sz="950" b="1" i="0">
                          <a:solidFill>
                            <a:srgbClr val="3DDC97"/>
                          </a:solidFill>
                          <a:latin typeface="Arial"/>
                        </a:rPr>
                        <a:t>Propósito</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A2434"/>
                    </a:solidFill>
                  </a:tcPr>
                </a:tc>
                <a:tc>
                  <a:txBody>
                    <a:bodyPr/>
                    <a:lstStyle/>
                    <a:p>
                      <a:r>
                        <a:rPr lang="es-CO" sz="950" b="0" i="0">
                          <a:solidFill>
                            <a:srgbClr val="E8EEF6"/>
                          </a:solidFill>
                          <a:latin typeface="Calibri"/>
                        </a:rPr>
                        <a:t>Guardar y consultar registros</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A2434"/>
                    </a:solidFill>
                  </a:tcPr>
                </a:tc>
                <a:tc>
                  <a:txBody>
                    <a:bodyPr/>
                    <a:lstStyle/>
                    <a:p>
                      <a:r>
                        <a:rPr lang="es-CO" sz="950" b="0" i="0">
                          <a:solidFill>
                            <a:srgbClr val="E8EEF6"/>
                          </a:solidFill>
                          <a:latin typeface="Calibri"/>
                        </a:rPr>
                        <a:t>Intercambiar datos entre programas</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A2434"/>
                    </a:solidFill>
                  </a:tcPr>
                </a:tc>
                <a:tc>
                  <a:txBody>
                    <a:bodyPr/>
                    <a:lstStyle/>
                    <a:p>
                      <a:r>
                        <a:rPr lang="es-CO" sz="950" b="0" i="0">
                          <a:solidFill>
                            <a:srgbClr val="E8EEF6"/>
                          </a:solidFill>
                          <a:latin typeface="Calibri"/>
                        </a:rPr>
                        <a:t>Declarar significado y relaciones</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A2434"/>
                    </a:solidFill>
                  </a:tcPr>
                </a:tc>
                <a:extLst>
                  <a:ext uri="{0D108BD9-81ED-4DB2-BD59-A6C34878D82A}">
                    <a16:rowId xmlns:a16="http://schemas.microsoft.com/office/drawing/2014/main" val="10001"/>
                  </a:ext>
                </a:extLst>
              </a:tr>
              <a:tr h="329184">
                <a:tc>
                  <a:txBody>
                    <a:bodyPr/>
                    <a:lstStyle/>
                    <a:p>
                      <a:r>
                        <a:rPr lang="es-CO" sz="950" b="1" i="0">
                          <a:solidFill>
                            <a:srgbClr val="3DDC97"/>
                          </a:solidFill>
                          <a:latin typeface="Arial"/>
                        </a:rPr>
                        <a:t>Unidad</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41E2D"/>
                    </a:solidFill>
                  </a:tcPr>
                </a:tc>
                <a:tc>
                  <a:txBody>
                    <a:bodyPr/>
                    <a:lstStyle/>
                    <a:p>
                      <a:r>
                        <a:rPr lang="es-CO" sz="950" b="0" i="0">
                          <a:solidFill>
                            <a:srgbClr val="E8EEF6"/>
                          </a:solidFill>
                          <a:latin typeface="Calibri"/>
                        </a:rPr>
                        <a:t>Fila con columnas</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41E2D"/>
                    </a:solidFill>
                  </a:tcPr>
                </a:tc>
                <a:tc>
                  <a:txBody>
                    <a:bodyPr/>
                    <a:lstStyle/>
                    <a:p>
                      <a:r>
                        <a:rPr lang="es-CO" sz="950" b="0" i="0">
                          <a:solidFill>
                            <a:srgbClr val="E8EEF6"/>
                          </a:solidFill>
                          <a:latin typeface="Calibri"/>
                        </a:rPr>
                        <a:t>Objeto con claves</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41E2D"/>
                    </a:solidFill>
                  </a:tcPr>
                </a:tc>
                <a:tc>
                  <a:txBody>
                    <a:bodyPr/>
                    <a:lstStyle/>
                    <a:p>
                      <a:r>
                        <a:rPr lang="es-CO" sz="950" b="0" i="0">
                          <a:solidFill>
                            <a:srgbClr val="E8EEF6"/>
                          </a:solidFill>
                          <a:latin typeface="Calibri"/>
                        </a:rPr>
                        <a:t>Afirmación sujeto–predicado–objeto</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41E2D"/>
                    </a:solidFill>
                  </a:tcPr>
                </a:tc>
                <a:extLst>
                  <a:ext uri="{0D108BD9-81ED-4DB2-BD59-A6C34878D82A}">
                    <a16:rowId xmlns:a16="http://schemas.microsoft.com/office/drawing/2014/main" val="10002"/>
                  </a:ext>
                </a:extLst>
              </a:tr>
              <a:tr h="329184">
                <a:tc>
                  <a:txBody>
                    <a:bodyPr/>
                    <a:lstStyle/>
                    <a:p>
                      <a:r>
                        <a:rPr lang="es-CO" sz="950" b="1" i="0">
                          <a:solidFill>
                            <a:srgbClr val="3DDC97"/>
                          </a:solidFill>
                          <a:latin typeface="Arial"/>
                        </a:rPr>
                        <a:t>Significado</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A2434"/>
                    </a:solidFill>
                  </a:tcPr>
                </a:tc>
                <a:tc>
                  <a:txBody>
                    <a:bodyPr/>
                    <a:lstStyle/>
                    <a:p>
                      <a:r>
                        <a:rPr lang="es-CO" sz="950" b="0" i="0">
                          <a:solidFill>
                            <a:srgbClr val="E8EEF6"/>
                          </a:solidFill>
                          <a:latin typeface="Calibri"/>
                        </a:rPr>
                        <a:t>Implícito en columnas y código</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A2434"/>
                    </a:solidFill>
                  </a:tcPr>
                </a:tc>
                <a:tc>
                  <a:txBody>
                    <a:bodyPr/>
                    <a:lstStyle/>
                    <a:p>
                      <a:r>
                        <a:rPr lang="es-CO" sz="950" b="0" i="0">
                          <a:solidFill>
                            <a:srgbClr val="E8EEF6"/>
                          </a:solidFill>
                          <a:latin typeface="Calibri"/>
                        </a:rPr>
                        <a:t>Implícito en claves acordadas</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A2434"/>
                    </a:solidFill>
                  </a:tcPr>
                </a:tc>
                <a:tc>
                  <a:txBody>
                    <a:bodyPr/>
                    <a:lstStyle/>
                    <a:p>
                      <a:r>
                        <a:rPr lang="es-CO" sz="950" b="0" i="0">
                          <a:solidFill>
                            <a:srgbClr val="E8EEF6"/>
                          </a:solidFill>
                          <a:latin typeface="Calibri"/>
                        </a:rPr>
                        <a:t>Explícito: clases y propiedades</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A2434"/>
                    </a:solidFill>
                  </a:tcPr>
                </a:tc>
                <a:extLst>
                  <a:ext uri="{0D108BD9-81ED-4DB2-BD59-A6C34878D82A}">
                    <a16:rowId xmlns:a16="http://schemas.microsoft.com/office/drawing/2014/main" val="10003"/>
                  </a:ext>
                </a:extLst>
              </a:tr>
              <a:tr h="329184">
                <a:tc>
                  <a:txBody>
                    <a:bodyPr/>
                    <a:lstStyle/>
                    <a:p>
                      <a:r>
                        <a:rPr lang="es-CO" sz="950" b="1" i="0">
                          <a:solidFill>
                            <a:srgbClr val="3DDC97"/>
                          </a:solidFill>
                          <a:latin typeface="Arial"/>
                        </a:rPr>
                        <a:t>Identificador</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41E2D"/>
                    </a:solidFill>
                  </a:tcPr>
                </a:tc>
                <a:tc>
                  <a:txBody>
                    <a:bodyPr/>
                    <a:lstStyle/>
                    <a:p>
                      <a:r>
                        <a:rPr lang="es-CO" sz="950" b="0" i="0">
                          <a:solidFill>
                            <a:srgbClr val="E8EEF6"/>
                          </a:solidFill>
                          <a:latin typeface="Calibri"/>
                        </a:rPr>
                        <a:t>id local (1, 2…)</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41E2D"/>
                    </a:solidFill>
                  </a:tcPr>
                </a:tc>
                <a:tc>
                  <a:txBody>
                    <a:bodyPr/>
                    <a:lstStyle/>
                    <a:p>
                      <a:r>
                        <a:rPr lang="es-CO" sz="950" b="0" i="0">
                          <a:solidFill>
                            <a:srgbClr val="E8EEF6"/>
                          </a:solidFill>
                          <a:latin typeface="Calibri"/>
                        </a:rPr>
                        <a:t>id local dentro del texto</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41E2D"/>
                    </a:solidFill>
                  </a:tcPr>
                </a:tc>
                <a:tc>
                  <a:txBody>
                    <a:bodyPr/>
                    <a:lstStyle/>
                    <a:p>
                      <a:r>
                        <a:rPr lang="es-CO" sz="950" b="0" i="0">
                          <a:solidFill>
                            <a:srgbClr val="E8EEF6"/>
                          </a:solidFill>
                          <a:latin typeface="Calibri"/>
                        </a:rPr>
                        <a:t>IRI global (sw:ana)</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41E2D"/>
                    </a:solidFill>
                  </a:tcPr>
                </a:tc>
                <a:extLst>
                  <a:ext uri="{0D108BD9-81ED-4DB2-BD59-A6C34878D82A}">
                    <a16:rowId xmlns:a16="http://schemas.microsoft.com/office/drawing/2014/main" val="10004"/>
                  </a:ext>
                </a:extLst>
              </a:tr>
              <a:tr h="329184">
                <a:tc>
                  <a:txBody>
                    <a:bodyPr/>
                    <a:lstStyle/>
                    <a:p>
                      <a:r>
                        <a:rPr lang="es-CO" sz="950" b="1" i="0">
                          <a:solidFill>
                            <a:srgbClr val="3DDC97"/>
                          </a:solidFill>
                          <a:latin typeface="Arial"/>
                        </a:rPr>
                        <a:t>Inferencia</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A2434"/>
                    </a:solidFill>
                  </a:tcPr>
                </a:tc>
                <a:tc>
                  <a:txBody>
                    <a:bodyPr/>
                    <a:lstStyle/>
                    <a:p>
                      <a:r>
                        <a:rPr lang="es-CO" sz="950" b="0" i="0">
                          <a:solidFill>
                            <a:srgbClr val="E8EEF6"/>
                          </a:solidFill>
                          <a:latin typeface="Calibri"/>
                        </a:rPr>
                        <a:t>Solo la que programe una consulta</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A2434"/>
                    </a:solidFill>
                  </a:tcPr>
                </a:tc>
                <a:tc>
                  <a:txBody>
                    <a:bodyPr/>
                    <a:lstStyle/>
                    <a:p>
                      <a:r>
                        <a:rPr lang="es-CO" sz="950" b="0" i="0">
                          <a:solidFill>
                            <a:srgbClr val="E8EEF6"/>
                          </a:solidFill>
                          <a:latin typeface="Calibri"/>
                        </a:rPr>
                        <a:t>No</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A2434"/>
                    </a:solidFill>
                  </a:tcPr>
                </a:tc>
                <a:tc>
                  <a:txBody>
                    <a:bodyPr/>
                    <a:lstStyle/>
                    <a:p>
                      <a:r>
                        <a:rPr lang="es-CO" sz="950" b="0" i="0">
                          <a:solidFill>
                            <a:srgbClr val="E8EEF6"/>
                          </a:solidFill>
                          <a:latin typeface="Calibri"/>
                        </a:rPr>
                        <a:t>Sí, según RDFS y OWL</a:t>
                      </a:r>
                    </a:p>
                  </a:txBody>
                  <a:tcPr marR="73152" marT="27432" marB="27432" anchor="ctr">
                    <a:lnL w="9525">
                      <a:solidFill>
                        <a:srgbClr val="2B3B52"/>
                      </a:solidFill>
                    </a:lnL>
                    <a:lnR w="9525">
                      <a:solidFill>
                        <a:srgbClr val="2B3B52"/>
                      </a:solidFill>
                    </a:lnR>
                    <a:lnT w="9525">
                      <a:solidFill>
                        <a:srgbClr val="2B3B52"/>
                      </a:solidFill>
                    </a:lnT>
                    <a:lnB w="9525">
                      <a:solidFill>
                        <a:srgbClr val="2B3B52"/>
                      </a:solidFill>
                    </a:lnB>
                    <a:solidFill>
                      <a:srgbClr val="1A2434"/>
                    </a:solidFill>
                  </a:tcPr>
                </a:tc>
                <a:extLst>
                  <a:ext uri="{0D108BD9-81ED-4DB2-BD59-A6C34878D82A}">
                    <a16:rowId xmlns:a16="http://schemas.microsoft.com/office/drawing/2014/main" val="10005"/>
                  </a:ext>
                </a:extLst>
              </a:tr>
            </a:tbl>
          </a:graphicData>
        </a:graphic>
      </p:graphicFrame>
      <p:sp>
        <p:nvSpPr>
          <p:cNvPr id="7" name="TextBox 6"/>
          <p:cNvSpPr txBox="1"/>
          <p:nvPr/>
        </p:nvSpPr>
        <p:spPr>
          <a:xfrm>
            <a:off x="502920" y="3346704"/>
            <a:ext cx="8138160" cy="219456"/>
          </a:xfrm>
          <a:prstGeom prst="rect">
            <a:avLst/>
          </a:prstGeom>
          <a:noFill/>
        </p:spPr>
        <p:txBody>
          <a:bodyPr wrap="square" lIns="0" tIns="0" rIns="0" bIns="0" anchor="ctr">
            <a:spAutoFit/>
          </a:bodyPr>
          <a:lstStyle/>
          <a:p>
            <a:pPr algn="l"/>
            <a:r>
              <a:rPr lang="es-CO" sz="950" b="1" i="0">
                <a:solidFill>
                  <a:srgbClr val="6C7E96"/>
                </a:solidFill>
                <a:latin typeface="Arial"/>
              </a:rPr>
              <a:t>Preguntas de cierre</a:t>
            </a:r>
          </a:p>
        </p:txBody>
      </p:sp>
      <p:sp>
        <p:nvSpPr>
          <p:cNvPr id="8" name="Rounded Rectangle 7"/>
          <p:cNvSpPr/>
          <p:nvPr/>
        </p:nvSpPr>
        <p:spPr>
          <a:xfrm>
            <a:off x="502920" y="3602736"/>
            <a:ext cx="2633472" cy="914400"/>
          </a:xfrm>
          <a:prstGeom prst="roundRect">
            <a:avLst>
              <a:gd name="adj" fmla="val 8000"/>
            </a:avLst>
          </a:prstGeom>
          <a:solidFill>
            <a:srgbClr val="1A2434"/>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ounded Rectangle 8"/>
          <p:cNvSpPr/>
          <p:nvPr/>
        </p:nvSpPr>
        <p:spPr>
          <a:xfrm>
            <a:off x="612648" y="3712464"/>
            <a:ext cx="274320" cy="274320"/>
          </a:xfrm>
          <a:prstGeom prst="roundRect">
            <a:avLst>
              <a:gd name="adj" fmla="val 13333"/>
            </a:avLst>
          </a:prstGeom>
          <a:solidFill>
            <a:srgbClr val="0F2533"/>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12648" y="3712464"/>
            <a:ext cx="274320" cy="274320"/>
          </a:xfrm>
          <a:prstGeom prst="rect">
            <a:avLst/>
          </a:prstGeom>
          <a:noFill/>
        </p:spPr>
        <p:txBody>
          <a:bodyPr wrap="square" lIns="0" tIns="0" rIns="0" bIns="0" anchor="ctr">
            <a:spAutoFit/>
          </a:bodyPr>
          <a:lstStyle/>
          <a:p>
            <a:pPr algn="ctr"/>
            <a:r>
              <a:rPr lang="es-CO" sz="900" b="1" i="0">
                <a:solidFill>
                  <a:srgbClr val="56C7F2"/>
                </a:solidFill>
                <a:latin typeface="Arial"/>
              </a:rPr>
              <a:t>01</a:t>
            </a:r>
          </a:p>
        </p:txBody>
      </p:sp>
      <p:sp>
        <p:nvSpPr>
          <p:cNvPr id="11" name="TextBox 10"/>
          <p:cNvSpPr txBox="1"/>
          <p:nvPr/>
        </p:nvSpPr>
        <p:spPr>
          <a:xfrm>
            <a:off x="978408" y="3639312"/>
            <a:ext cx="2066544" cy="841248"/>
          </a:xfrm>
          <a:prstGeom prst="rect">
            <a:avLst/>
          </a:prstGeom>
          <a:noFill/>
        </p:spPr>
        <p:txBody>
          <a:bodyPr wrap="square" lIns="0" tIns="0" rIns="0" bIns="0" anchor="ctr">
            <a:spAutoFit/>
          </a:bodyPr>
          <a:lstStyle/>
          <a:p>
            <a:pPr algn="l"/>
            <a:r>
              <a:rPr lang="es-CO" sz="980" b="0" i="0">
                <a:solidFill>
                  <a:srgbClr val="E8EEF6"/>
                </a:solidFill>
                <a:latin typeface="Calibri"/>
              </a:rPr>
              <a:t>¿Por qué la regla de 10 caracteres va en el modelo y no en la ontología?</a:t>
            </a:r>
          </a:p>
        </p:txBody>
      </p:sp>
      <p:sp>
        <p:nvSpPr>
          <p:cNvPr id="12" name="Rounded Rectangle 11"/>
          <p:cNvSpPr/>
          <p:nvPr/>
        </p:nvSpPr>
        <p:spPr>
          <a:xfrm>
            <a:off x="3255264" y="3602736"/>
            <a:ext cx="2633472" cy="914400"/>
          </a:xfrm>
          <a:prstGeom prst="roundRect">
            <a:avLst>
              <a:gd name="adj" fmla="val 8000"/>
            </a:avLst>
          </a:prstGeom>
          <a:solidFill>
            <a:srgbClr val="1A2434"/>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ounded Rectangle 12"/>
          <p:cNvSpPr/>
          <p:nvPr/>
        </p:nvSpPr>
        <p:spPr>
          <a:xfrm>
            <a:off x="3364992" y="3712464"/>
            <a:ext cx="274320" cy="274320"/>
          </a:xfrm>
          <a:prstGeom prst="roundRect">
            <a:avLst>
              <a:gd name="adj" fmla="val 13333"/>
            </a:avLst>
          </a:prstGeom>
          <a:solidFill>
            <a:srgbClr val="0F2533"/>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3364992" y="3712464"/>
            <a:ext cx="274320" cy="274320"/>
          </a:xfrm>
          <a:prstGeom prst="rect">
            <a:avLst/>
          </a:prstGeom>
          <a:noFill/>
        </p:spPr>
        <p:txBody>
          <a:bodyPr wrap="square" lIns="0" tIns="0" rIns="0" bIns="0" anchor="ctr">
            <a:spAutoFit/>
          </a:bodyPr>
          <a:lstStyle/>
          <a:p>
            <a:pPr algn="ctr"/>
            <a:r>
              <a:rPr lang="es-CO" sz="900" b="1" i="0">
                <a:solidFill>
                  <a:srgbClr val="56C7F2"/>
                </a:solidFill>
                <a:latin typeface="Arial"/>
              </a:rPr>
              <a:t>02</a:t>
            </a:r>
          </a:p>
        </p:txBody>
      </p:sp>
      <p:sp>
        <p:nvSpPr>
          <p:cNvPr id="15" name="TextBox 14"/>
          <p:cNvSpPr txBox="1"/>
          <p:nvPr/>
        </p:nvSpPr>
        <p:spPr>
          <a:xfrm>
            <a:off x="3730752" y="3639312"/>
            <a:ext cx="2066544" cy="841248"/>
          </a:xfrm>
          <a:prstGeom prst="rect">
            <a:avLst/>
          </a:prstGeom>
          <a:noFill/>
        </p:spPr>
        <p:txBody>
          <a:bodyPr wrap="square" lIns="0" tIns="0" rIns="0" bIns="0" anchor="ctr">
            <a:spAutoFit/>
          </a:bodyPr>
          <a:lstStyle/>
          <a:p>
            <a:pPr algn="l"/>
            <a:r>
              <a:rPr lang="es-CO" sz="980" b="0" i="0">
                <a:solidFill>
                  <a:srgbClr val="E8EEF6"/>
                </a:solidFill>
                <a:latin typeface="Calibri"/>
              </a:rPr>
              <a:t>¿sw:contacto1 y sw:ana son el mismo individuo para RDF?</a:t>
            </a:r>
          </a:p>
        </p:txBody>
      </p:sp>
      <p:sp>
        <p:nvSpPr>
          <p:cNvPr id="16" name="Rounded Rectangle 15"/>
          <p:cNvSpPr/>
          <p:nvPr/>
        </p:nvSpPr>
        <p:spPr>
          <a:xfrm>
            <a:off x="6007608" y="3602736"/>
            <a:ext cx="2633472" cy="914400"/>
          </a:xfrm>
          <a:prstGeom prst="roundRect">
            <a:avLst>
              <a:gd name="adj" fmla="val 8000"/>
            </a:avLst>
          </a:prstGeom>
          <a:solidFill>
            <a:srgbClr val="1A2434"/>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ounded Rectangle 16"/>
          <p:cNvSpPr/>
          <p:nvPr/>
        </p:nvSpPr>
        <p:spPr>
          <a:xfrm>
            <a:off x="6117336" y="3712464"/>
            <a:ext cx="274320" cy="274320"/>
          </a:xfrm>
          <a:prstGeom prst="roundRect">
            <a:avLst>
              <a:gd name="adj" fmla="val 13333"/>
            </a:avLst>
          </a:prstGeom>
          <a:solidFill>
            <a:srgbClr val="0F2533"/>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117336" y="3712464"/>
            <a:ext cx="274320" cy="274320"/>
          </a:xfrm>
          <a:prstGeom prst="rect">
            <a:avLst/>
          </a:prstGeom>
          <a:noFill/>
        </p:spPr>
        <p:txBody>
          <a:bodyPr wrap="square" lIns="0" tIns="0" rIns="0" bIns="0" anchor="ctr">
            <a:spAutoFit/>
          </a:bodyPr>
          <a:lstStyle/>
          <a:p>
            <a:pPr algn="ctr"/>
            <a:r>
              <a:rPr lang="es-CO" sz="900" b="1" i="0">
                <a:solidFill>
                  <a:srgbClr val="56C7F2"/>
                </a:solidFill>
                <a:latin typeface="Arial"/>
              </a:rPr>
              <a:t>03</a:t>
            </a:r>
          </a:p>
        </p:txBody>
      </p:sp>
      <p:sp>
        <p:nvSpPr>
          <p:cNvPr id="19" name="TextBox 18"/>
          <p:cNvSpPr txBox="1"/>
          <p:nvPr/>
        </p:nvSpPr>
        <p:spPr>
          <a:xfrm>
            <a:off x="6483096" y="3639312"/>
            <a:ext cx="2066544" cy="841248"/>
          </a:xfrm>
          <a:prstGeom prst="rect">
            <a:avLst/>
          </a:prstGeom>
          <a:noFill/>
        </p:spPr>
        <p:txBody>
          <a:bodyPr wrap="square" lIns="0" tIns="0" rIns="0" bIns="0" anchor="ctr">
            <a:spAutoFit/>
          </a:bodyPr>
          <a:lstStyle/>
          <a:p>
            <a:pPr algn="l"/>
            <a:r>
              <a:rPr lang="es-CO" sz="980" b="0" i="0">
                <a:solidFill>
                  <a:srgbClr val="E8EEF6"/>
                </a:solidFill>
                <a:latin typeface="Calibri"/>
              </a:rPr>
              <a:t>Agregar MantenimientoWeb a la ontología, ¿obliga a cambiar el controlador?</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A101B"/>
        </a:solidFill>
        <a:effectLst/>
      </p:bgPr>
    </p:bg>
    <p:spTree>
      <p:nvGrpSpPr>
        <p:cNvPr id="1" name=""/>
        <p:cNvGrpSpPr/>
        <p:nvPr/>
      </p:nvGrpSpPr>
      <p:grpSpPr>
        <a:xfrm>
          <a:off x="0" y="0"/>
          <a:ext cx="0" cy="0"/>
          <a:chOff x="0" y="0"/>
          <a:chExt cx="0" cy="0"/>
        </a:xfrm>
      </p:grpSpPr>
      <p:sp>
        <p:nvSpPr>
          <p:cNvPr id="2" name="TextBox 1"/>
          <p:cNvSpPr txBox="1"/>
          <p:nvPr/>
        </p:nvSpPr>
        <p:spPr>
          <a:xfrm>
            <a:off x="6309360" y="4718304"/>
            <a:ext cx="2331720" cy="201168"/>
          </a:xfrm>
          <a:prstGeom prst="rect">
            <a:avLst/>
          </a:prstGeom>
          <a:noFill/>
        </p:spPr>
        <p:txBody>
          <a:bodyPr wrap="square" lIns="0" tIns="0" rIns="0" bIns="0" anchor="ctr">
            <a:spAutoFit/>
          </a:bodyPr>
          <a:lstStyle/>
          <a:p>
            <a:pPr algn="r"/>
            <a:r>
              <a:rPr lang="es-CO" sz="800" b="0" i="0">
                <a:solidFill>
                  <a:srgbClr val="6C7E96"/>
                </a:solidFill>
                <a:latin typeface="Arial"/>
              </a:rPr>
              <a:t>Ingeniería Web  ·  24 / 24</a:t>
            </a:r>
          </a:p>
        </p:txBody>
      </p:sp>
      <p:sp>
        <p:nvSpPr>
          <p:cNvPr id="3" name="Rounded Rectangle 2"/>
          <p:cNvSpPr/>
          <p:nvPr/>
        </p:nvSpPr>
        <p:spPr>
          <a:xfrm>
            <a:off x="502920" y="365760"/>
            <a:ext cx="960120" cy="228600"/>
          </a:xfrm>
          <a:prstGeom prst="roundRect">
            <a:avLst>
              <a:gd name="adj" fmla="val 50000"/>
            </a:avLst>
          </a:prstGeom>
          <a:solidFill>
            <a:srgbClr val="132A24"/>
          </a:solidFill>
          <a:ln w="952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502920" y="365760"/>
            <a:ext cx="960120" cy="228600"/>
          </a:xfrm>
          <a:prstGeom prst="rect">
            <a:avLst/>
          </a:prstGeom>
          <a:noFill/>
        </p:spPr>
        <p:txBody>
          <a:bodyPr wrap="square" lIns="0" tIns="0" rIns="0" bIns="0" anchor="ctr">
            <a:spAutoFit/>
          </a:bodyPr>
          <a:lstStyle/>
          <a:p>
            <a:pPr algn="ctr"/>
            <a:r>
              <a:rPr lang="es-CO" sz="850" b="1" i="0">
                <a:solidFill>
                  <a:srgbClr val="3DDC97"/>
                </a:solidFill>
                <a:latin typeface="Arial"/>
              </a:rPr>
              <a:t>CIERRE</a:t>
            </a:r>
          </a:p>
        </p:txBody>
      </p:sp>
      <p:sp>
        <p:nvSpPr>
          <p:cNvPr id="5" name="Título"/>
          <p:cNvSpPr txBox="1"/>
          <p:nvPr/>
        </p:nvSpPr>
        <p:spPr>
          <a:xfrm>
            <a:off x="475488" y="658368"/>
            <a:ext cx="8138160" cy="438912"/>
          </a:xfrm>
          <a:prstGeom prst="rect">
            <a:avLst/>
          </a:prstGeom>
          <a:noFill/>
        </p:spPr>
        <p:txBody>
          <a:bodyPr wrap="square" lIns="0" tIns="0" rIns="0" bIns="0" anchor="ctr">
            <a:spAutoFit/>
          </a:bodyPr>
          <a:lstStyle/>
          <a:p>
            <a:pPr algn="l"/>
            <a:r>
              <a:rPr lang="es-CO" sz="2600" b="1" i="0">
                <a:solidFill>
                  <a:srgbClr val="FFFFFF"/>
                </a:solidFill>
                <a:latin typeface="Arial"/>
              </a:rPr>
              <a:t>Conclusiones, siguiente tema y referencias</a:t>
            </a:r>
          </a:p>
        </p:txBody>
      </p:sp>
      <p:sp>
        <p:nvSpPr>
          <p:cNvPr id="6" name="Rounded Rectangle 5"/>
          <p:cNvSpPr/>
          <p:nvPr/>
        </p:nvSpPr>
        <p:spPr>
          <a:xfrm>
            <a:off x="502920" y="1234440"/>
            <a:ext cx="1947672" cy="841248"/>
          </a:xfrm>
          <a:prstGeom prst="roundRect">
            <a:avLst>
              <a:gd name="adj" fmla="val 8000"/>
            </a:avLst>
          </a:prstGeom>
          <a:solidFill>
            <a:srgbClr val="1A2434"/>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612648" y="1289304"/>
            <a:ext cx="1737360" cy="201168"/>
          </a:xfrm>
          <a:prstGeom prst="rect">
            <a:avLst/>
          </a:prstGeom>
          <a:noFill/>
        </p:spPr>
        <p:txBody>
          <a:bodyPr wrap="square" lIns="0" tIns="0" rIns="0" bIns="0" anchor="ctr">
            <a:spAutoFit/>
          </a:bodyPr>
          <a:lstStyle/>
          <a:p>
            <a:pPr algn="l"/>
            <a:r>
              <a:rPr lang="es-CO" sz="1050" b="1" i="0">
                <a:solidFill>
                  <a:srgbClr val="56C7F2"/>
                </a:solidFill>
                <a:latin typeface="Arial"/>
              </a:rPr>
              <a:t>Capas</a:t>
            </a:r>
          </a:p>
        </p:txBody>
      </p:sp>
      <p:sp>
        <p:nvSpPr>
          <p:cNvPr id="8" name="TextBox 7"/>
          <p:cNvSpPr txBox="1"/>
          <p:nvPr/>
        </p:nvSpPr>
        <p:spPr>
          <a:xfrm>
            <a:off x="612648" y="1517904"/>
            <a:ext cx="1755648" cy="512064"/>
          </a:xfrm>
          <a:prstGeom prst="rect">
            <a:avLst/>
          </a:prstGeom>
          <a:noFill/>
        </p:spPr>
        <p:txBody>
          <a:bodyPr wrap="square" lIns="0" tIns="0" rIns="0" bIns="0" anchor="t">
            <a:spAutoFit/>
          </a:bodyPr>
          <a:lstStyle/>
          <a:p>
            <a:pPr algn="l"/>
            <a:r>
              <a:rPr lang="es-CO" sz="950" b="0" i="0">
                <a:solidFill>
                  <a:srgbClr val="E8EEF6"/>
                </a:solidFill>
                <a:latin typeface="Calibri"/>
              </a:rPr>
              <a:t>Separan presentación, negocio y datos.</a:t>
            </a:r>
          </a:p>
        </p:txBody>
      </p:sp>
      <p:sp>
        <p:nvSpPr>
          <p:cNvPr id="9" name="Rounded Rectangle 8"/>
          <p:cNvSpPr/>
          <p:nvPr/>
        </p:nvSpPr>
        <p:spPr>
          <a:xfrm>
            <a:off x="2569464" y="1234440"/>
            <a:ext cx="1947672" cy="841248"/>
          </a:xfrm>
          <a:prstGeom prst="roundRect">
            <a:avLst>
              <a:gd name="adj" fmla="val 8000"/>
            </a:avLst>
          </a:prstGeom>
          <a:solidFill>
            <a:srgbClr val="1A243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2679192" y="1289304"/>
            <a:ext cx="1737360" cy="201168"/>
          </a:xfrm>
          <a:prstGeom prst="rect">
            <a:avLst/>
          </a:prstGeom>
          <a:noFill/>
        </p:spPr>
        <p:txBody>
          <a:bodyPr wrap="square" lIns="0" tIns="0" rIns="0" bIns="0" anchor="ctr">
            <a:spAutoFit/>
          </a:bodyPr>
          <a:lstStyle/>
          <a:p>
            <a:pPr algn="l"/>
            <a:r>
              <a:rPr lang="es-CO" sz="1050" b="1" i="0">
                <a:solidFill>
                  <a:srgbClr val="3DDC97"/>
                </a:solidFill>
                <a:latin typeface="Arial"/>
              </a:rPr>
              <a:t>MVC</a:t>
            </a:r>
          </a:p>
        </p:txBody>
      </p:sp>
      <p:sp>
        <p:nvSpPr>
          <p:cNvPr id="11" name="TextBox 10"/>
          <p:cNvSpPr txBox="1"/>
          <p:nvPr/>
        </p:nvSpPr>
        <p:spPr>
          <a:xfrm>
            <a:off x="2679192" y="1517904"/>
            <a:ext cx="1755648" cy="512064"/>
          </a:xfrm>
          <a:prstGeom prst="rect">
            <a:avLst/>
          </a:prstGeom>
          <a:noFill/>
        </p:spPr>
        <p:txBody>
          <a:bodyPr wrap="square" lIns="0" tIns="0" rIns="0" bIns="0" anchor="t">
            <a:spAutoFit/>
          </a:bodyPr>
          <a:lstStyle/>
          <a:p>
            <a:pPr algn="l"/>
            <a:r>
              <a:rPr lang="es-CO" sz="950" b="0" i="0">
                <a:solidFill>
                  <a:srgbClr val="E8EEF6"/>
                </a:solidFill>
                <a:latin typeface="Calibri"/>
              </a:rPr>
              <a:t>Controlador coordina, modelo decide, vista presenta.</a:t>
            </a:r>
          </a:p>
        </p:txBody>
      </p:sp>
      <p:sp>
        <p:nvSpPr>
          <p:cNvPr id="12" name="Rounded Rectangle 11"/>
          <p:cNvSpPr/>
          <p:nvPr/>
        </p:nvSpPr>
        <p:spPr>
          <a:xfrm>
            <a:off x="4636008" y="1234440"/>
            <a:ext cx="1947672" cy="841248"/>
          </a:xfrm>
          <a:prstGeom prst="roundRect">
            <a:avLst>
              <a:gd name="adj" fmla="val 8000"/>
            </a:avLst>
          </a:prstGeom>
          <a:solidFill>
            <a:srgbClr val="1A243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4745736" y="1289304"/>
            <a:ext cx="1737360" cy="201168"/>
          </a:xfrm>
          <a:prstGeom prst="rect">
            <a:avLst/>
          </a:prstGeom>
          <a:noFill/>
        </p:spPr>
        <p:txBody>
          <a:bodyPr wrap="square" lIns="0" tIns="0" rIns="0" bIns="0" anchor="ctr">
            <a:spAutoFit/>
          </a:bodyPr>
          <a:lstStyle/>
          <a:p>
            <a:pPr algn="l"/>
            <a:r>
              <a:rPr lang="es-CO" sz="1050" b="1" i="0">
                <a:solidFill>
                  <a:srgbClr val="3DDC97"/>
                </a:solidFill>
                <a:latin typeface="Arial"/>
              </a:rPr>
              <a:t>Ontología</a:t>
            </a:r>
          </a:p>
        </p:txBody>
      </p:sp>
      <p:sp>
        <p:nvSpPr>
          <p:cNvPr id="14" name="TextBox 13"/>
          <p:cNvSpPr txBox="1"/>
          <p:nvPr/>
        </p:nvSpPr>
        <p:spPr>
          <a:xfrm>
            <a:off x="4745736" y="1517904"/>
            <a:ext cx="1755648" cy="512064"/>
          </a:xfrm>
          <a:prstGeom prst="rect">
            <a:avLst/>
          </a:prstGeom>
          <a:noFill/>
        </p:spPr>
        <p:txBody>
          <a:bodyPr wrap="square" lIns="0" tIns="0" rIns="0" bIns="0" anchor="t">
            <a:spAutoFit/>
          </a:bodyPr>
          <a:lstStyle/>
          <a:p>
            <a:pPr algn="l"/>
            <a:r>
              <a:rPr lang="es-CO" sz="950" b="0" i="0">
                <a:solidFill>
                  <a:srgbClr val="E8EEF6"/>
                </a:solidFill>
                <a:latin typeface="Calibri"/>
              </a:rPr>
              <a:t>Clases, individuos y propiedades con significado explícito.</a:t>
            </a:r>
          </a:p>
        </p:txBody>
      </p:sp>
      <p:sp>
        <p:nvSpPr>
          <p:cNvPr id="15" name="Rounded Rectangle 14"/>
          <p:cNvSpPr/>
          <p:nvPr/>
        </p:nvSpPr>
        <p:spPr>
          <a:xfrm>
            <a:off x="6702552" y="1234440"/>
            <a:ext cx="1947672" cy="841248"/>
          </a:xfrm>
          <a:prstGeom prst="roundRect">
            <a:avLst>
              <a:gd name="adj" fmla="val 8000"/>
            </a:avLst>
          </a:prstGeom>
          <a:solidFill>
            <a:srgbClr val="1A2434"/>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812280" y="1289304"/>
            <a:ext cx="1737360" cy="201168"/>
          </a:xfrm>
          <a:prstGeom prst="rect">
            <a:avLst/>
          </a:prstGeom>
          <a:noFill/>
        </p:spPr>
        <p:txBody>
          <a:bodyPr wrap="square" lIns="0" tIns="0" rIns="0" bIns="0" anchor="ctr">
            <a:spAutoFit/>
          </a:bodyPr>
          <a:lstStyle/>
          <a:p>
            <a:pPr algn="l"/>
            <a:r>
              <a:rPr lang="es-CO" sz="1050" b="1" i="0">
                <a:solidFill>
                  <a:srgbClr val="56C7F2"/>
                </a:solidFill>
                <a:latin typeface="Arial"/>
              </a:rPr>
              <a:t>Turtle</a:t>
            </a:r>
          </a:p>
        </p:txBody>
      </p:sp>
      <p:sp>
        <p:nvSpPr>
          <p:cNvPr id="17" name="TextBox 16"/>
          <p:cNvSpPr txBox="1"/>
          <p:nvPr/>
        </p:nvSpPr>
        <p:spPr>
          <a:xfrm>
            <a:off x="6812280" y="1517904"/>
            <a:ext cx="1755648" cy="512064"/>
          </a:xfrm>
          <a:prstGeom prst="rect">
            <a:avLst/>
          </a:prstGeom>
          <a:noFill/>
        </p:spPr>
        <p:txBody>
          <a:bodyPr wrap="square" lIns="0" tIns="0" rIns="0" bIns="0" anchor="t">
            <a:spAutoFit/>
          </a:bodyPr>
          <a:lstStyle/>
          <a:p>
            <a:pPr algn="l"/>
            <a:r>
              <a:rPr lang="es-CO" sz="950" b="0" i="0">
                <a:solidFill>
                  <a:srgbClr val="E8EEF6"/>
                </a:solidFill>
                <a:latin typeface="Calibri"/>
              </a:rPr>
              <a:t>Afirmaciones RDF legibles; la subclase permite inferir.</a:t>
            </a:r>
          </a:p>
        </p:txBody>
      </p:sp>
      <p:sp>
        <p:nvSpPr>
          <p:cNvPr id="18" name="Rounded Rectangle 17"/>
          <p:cNvSpPr/>
          <p:nvPr/>
        </p:nvSpPr>
        <p:spPr>
          <a:xfrm>
            <a:off x="502920" y="2185416"/>
            <a:ext cx="8138160" cy="457200"/>
          </a:xfrm>
          <a:prstGeom prst="roundRect">
            <a:avLst>
              <a:gd name="adj" fmla="val 8000"/>
            </a:avLst>
          </a:prstGeom>
          <a:solidFill>
            <a:srgbClr val="1A2434"/>
          </a:solidFill>
          <a:ln w="12700">
            <a:solidFill>
              <a:srgbClr val="FFD47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67512" y="2185416"/>
            <a:ext cx="7863840" cy="457200"/>
          </a:xfrm>
          <a:prstGeom prst="rect">
            <a:avLst/>
          </a:prstGeom>
          <a:noFill/>
        </p:spPr>
        <p:txBody>
          <a:bodyPr wrap="square" lIns="0" tIns="0" rIns="0" bIns="0" anchor="ctr">
            <a:spAutoFit/>
          </a:bodyPr>
          <a:lstStyle/>
          <a:p>
            <a:pPr algn="l"/>
            <a:r>
              <a:rPr lang="es-CO" sz="1050" b="1" i="0">
                <a:solidFill>
                  <a:srgbClr val="FFD479"/>
                </a:solidFill>
                <a:latin typeface="Calibri"/>
              </a:rPr>
              <a:t>Siguiente tema: </a:t>
            </a:r>
            <a:r>
              <a:rPr lang="es-CO" sz="1050" b="0" i="0">
                <a:solidFill>
                  <a:srgbClr val="E8EEF6"/>
                </a:solidFill>
                <a:latin typeface="Calibri"/>
              </a:rPr>
              <a:t>fundamentos de ingeniería ontológica y metodología NeOn; especificación de requisitos de la ontología.</a:t>
            </a:r>
          </a:p>
        </p:txBody>
      </p:sp>
      <p:sp>
        <p:nvSpPr>
          <p:cNvPr id="20" name="Rounded Rectangle 19"/>
          <p:cNvSpPr/>
          <p:nvPr/>
        </p:nvSpPr>
        <p:spPr>
          <a:xfrm>
            <a:off x="502920" y="2752344"/>
            <a:ext cx="8138160" cy="1764792"/>
          </a:xfrm>
          <a:prstGeom prst="roundRect">
            <a:avLst>
              <a:gd name="adj" fmla="val 8000"/>
            </a:avLst>
          </a:prstGeom>
          <a:solidFill>
            <a:srgbClr val="070C1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67512" y="2798064"/>
            <a:ext cx="7772400" cy="201168"/>
          </a:xfrm>
          <a:prstGeom prst="rect">
            <a:avLst/>
          </a:prstGeom>
          <a:noFill/>
        </p:spPr>
        <p:txBody>
          <a:bodyPr wrap="square" lIns="0" tIns="0" rIns="0" bIns="0" anchor="ctr">
            <a:spAutoFit/>
          </a:bodyPr>
          <a:lstStyle/>
          <a:p>
            <a:pPr algn="l"/>
            <a:r>
              <a:rPr lang="es-CO" sz="950" b="1" i="0">
                <a:solidFill>
                  <a:srgbClr val="93A5BD"/>
                </a:solidFill>
                <a:latin typeface="Arial"/>
              </a:rPr>
              <a:t>Referencias de consulta</a:t>
            </a:r>
          </a:p>
        </p:txBody>
      </p:sp>
      <p:sp>
        <p:nvSpPr>
          <p:cNvPr id="22" name="TextBox 21"/>
          <p:cNvSpPr txBox="1"/>
          <p:nvPr/>
        </p:nvSpPr>
        <p:spPr>
          <a:xfrm>
            <a:off x="667512" y="3035808"/>
            <a:ext cx="7818120" cy="1444752"/>
          </a:xfrm>
          <a:prstGeom prst="rect">
            <a:avLst/>
          </a:prstGeom>
          <a:noFill/>
        </p:spPr>
        <p:txBody>
          <a:bodyPr wrap="square" lIns="0" tIns="0" rIns="0" bIns="0" anchor="t">
            <a:spAutoFit/>
          </a:bodyPr>
          <a:lstStyle/>
          <a:p>
            <a:pPr algn="l">
              <a:spcAft>
                <a:spcPts val="150"/>
              </a:spcAft>
            </a:pPr>
            <a:r>
              <a:rPr lang="es-CO" sz="850" b="1" i="0">
                <a:solidFill>
                  <a:srgbClr val="E8EEF6"/>
                </a:solidFill>
                <a:latin typeface="Calibri"/>
              </a:rPr>
              <a:t>Microsoft Learn. </a:t>
            </a:r>
            <a:r>
              <a:rPr lang="es-CO" sz="850" b="0" i="0">
                <a:solidFill>
                  <a:srgbClr val="93A5BD"/>
                </a:solidFill>
                <a:latin typeface="Calibri"/>
              </a:rPr>
              <a:t>Common web application architectures · N-tier architecture style. learn.microsoft.com</a:t>
            </a:r>
          </a:p>
          <a:p>
            <a:pPr algn="l">
              <a:spcAft>
                <a:spcPts val="150"/>
              </a:spcAft>
            </a:pPr>
            <a:r>
              <a:rPr lang="es-CO" sz="850" b="1" i="0">
                <a:solidFill>
                  <a:srgbClr val="E8EEF6"/>
                </a:solidFill>
                <a:latin typeface="Calibri"/>
              </a:rPr>
              <a:t>MDN Web Docs. </a:t>
            </a:r>
            <a:r>
              <a:rPr lang="es-CO" sz="850" b="0" i="0">
                <a:solidFill>
                  <a:srgbClr val="93A5BD"/>
                </a:solidFill>
                <a:latin typeface="Calibri"/>
              </a:rPr>
              <a:t>MVC (glosario). developer.mozilla.org/en-US/docs/Glossary/MVC</a:t>
            </a:r>
          </a:p>
          <a:p>
            <a:pPr algn="l">
              <a:spcAft>
                <a:spcPts val="150"/>
              </a:spcAft>
            </a:pPr>
            <a:r>
              <a:rPr lang="es-CO" sz="850" b="1" i="0">
                <a:solidFill>
                  <a:srgbClr val="E8EEF6"/>
                </a:solidFill>
                <a:latin typeface="Calibri"/>
              </a:rPr>
              <a:t>W3C (2014). </a:t>
            </a:r>
            <a:r>
              <a:rPr lang="es-CO" sz="850" b="0" i="0">
                <a:solidFill>
                  <a:srgbClr val="93A5BD"/>
                </a:solidFill>
                <a:latin typeface="Calibri"/>
              </a:rPr>
              <a:t>RDF 1.1 Concepts · RDF Schema 1.1 · RDF 1.1 Turtle. w3.org/TR/rdf11-concepts · /rdf-schema · /turtle</a:t>
            </a:r>
          </a:p>
          <a:p>
            <a:pPr algn="l">
              <a:spcAft>
                <a:spcPts val="150"/>
              </a:spcAft>
            </a:pPr>
            <a:r>
              <a:rPr lang="es-CO" sz="850" b="1" i="0">
                <a:solidFill>
                  <a:srgbClr val="E8EEF6"/>
                </a:solidFill>
                <a:latin typeface="Calibri"/>
              </a:rPr>
              <a:t>W3C (2012). </a:t>
            </a:r>
            <a:r>
              <a:rPr lang="es-CO" sz="850" b="0" i="0">
                <a:solidFill>
                  <a:srgbClr val="93A5BD"/>
                </a:solidFill>
                <a:latin typeface="Calibri"/>
              </a:rPr>
              <a:t>OWL 2 Web Ontology Language Primer (2.ª ed.). w3.org/TR/owl2-primer</a:t>
            </a:r>
          </a:p>
          <a:p>
            <a:pPr algn="l">
              <a:spcAft>
                <a:spcPts val="150"/>
              </a:spcAft>
            </a:pPr>
            <a:r>
              <a:rPr lang="es-CO" sz="850" b="1" i="0">
                <a:solidFill>
                  <a:srgbClr val="E8EEF6"/>
                </a:solidFill>
                <a:latin typeface="Calibri"/>
              </a:rPr>
              <a:t>Node.js v24. </a:t>
            </a:r>
            <a:r>
              <a:rPr lang="es-CO" sz="850" b="0" i="0">
                <a:solidFill>
                  <a:srgbClr val="93A5BD"/>
                </a:solidFill>
                <a:latin typeface="Calibri"/>
              </a:rPr>
              <a:t>SQLite. nodejs.org/docs/latest-v24.x/api/sqlite.html</a:t>
            </a:r>
          </a:p>
          <a:p>
            <a:pPr algn="l">
              <a:spcAft>
                <a:spcPts val="150"/>
              </a:spcAft>
            </a:pPr>
            <a:r>
              <a:rPr lang="es-CO" sz="850" b="1" i="0">
                <a:solidFill>
                  <a:srgbClr val="E8EEF6"/>
                </a:solidFill>
                <a:latin typeface="Calibri"/>
              </a:rPr>
              <a:t>Gruber, T. R. (1993). </a:t>
            </a:r>
            <a:r>
              <a:rPr lang="es-CO" sz="850" b="0" i="0">
                <a:solidFill>
                  <a:srgbClr val="93A5BD"/>
                </a:solidFill>
                <a:latin typeface="Calibri"/>
              </a:rPr>
              <a:t>A translation approach to portable ontology specifications. Knowledge Acquisition, 5(2).</a:t>
            </a:r>
          </a:p>
          <a:p>
            <a:pPr algn="l">
              <a:spcAft>
                <a:spcPts val="150"/>
              </a:spcAft>
            </a:pPr>
            <a:r>
              <a:rPr lang="es-CO" sz="850" b="1" i="0">
                <a:solidFill>
                  <a:srgbClr val="E8EEF6"/>
                </a:solidFill>
                <a:latin typeface="Calibri"/>
              </a:rPr>
              <a:t>Bibliografía del curso: </a:t>
            </a:r>
            <a:r>
              <a:rPr lang="es-CO" sz="850" b="0" i="0">
                <a:solidFill>
                  <a:srgbClr val="93A5BD"/>
                </a:solidFill>
                <a:latin typeface="Calibri"/>
              </a:rPr>
              <a:t>García, F. J. Web semántica y ontologías · Guzmán Luna, J. A. et al. Metodologías y métodos para la construcción de ontologías.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3422</TotalTime>
  <Words>12057</Words>
  <Application>Microsoft Office PowerPoint</Application>
  <PresentationFormat>Presentación en pantalla (16:9)</PresentationFormat>
  <Paragraphs>1145</Paragraphs>
  <Slides>24</Slides>
  <Notes>24</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24</vt:i4>
      </vt:variant>
    </vt:vector>
  </HeadingPairs>
  <TitlesOfParts>
    <vt:vector size="28" baseType="lpstr">
      <vt:lpstr>Arial</vt:lpstr>
      <vt:lpstr>Calibri</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Universidad Cooperativa de Colombia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Arquitectura web e introducción a las ontologías</dc:title>
  <dc:subject>Ingenieria Web - Sesion 03</dc:subject>
  <dc:creator>Luis Miguel Gómez Meneses</dc:creator>
  <cp:lastModifiedBy>LUIS MIGUEL GOMEZ MENESES</cp:lastModifiedBy>
  <cp:revision>12</cp:revision>
  <dcterms:created xsi:type="dcterms:W3CDTF">2026-09-06T16:56:37Z</dcterms:created>
  <dcterms:modified xsi:type="dcterms:W3CDTF">2026-10-05T01:44:59Z</dcterms:modified>
</cp:coreProperties>
</file>