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snapToObjects="1">
      <p:cViewPr varScale="1">
        <p:scale>
          <a:sx n="87" d="100"/>
          <a:sy n="87" d="100"/>
        </p:scale>
        <p:origin x="9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Apertura. Hoy veremos por qué una metodología organiza las decisiones que normalmente tomamos mientras programamos. La segunda parte conecta OOHDM con una aplicación ejecutable.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 los cuatro objetivos. Aclare que el panorama compara varias propuestas, pero OOHDM será el único método trabajado en detalle.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Diferencie metodología, lenguaje y herramienta. Use los ejemplos del curso: OOHDM organiza, HTML expresa una interfaz y Node.js ejecuta el servidor.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Conecte con los laboratorios 04 y 05. Allí implementamos y validamos. Hoy haremos explícitas las decisiones sobre información, navegación e interfaz.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WSDM desde los grupos de usuarios y SOHDM desde los escenarios. Pida un ejemplo cotidiano de cada enfoque.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HDM se concentra en representar información y conexiones. RMM agrega un orden de trabajo y parte de entidades y relaciones.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EORM trata los enlaces como objetos. OOWS integra objetos, navegación y presentación, con posibilidades de generación de la aplicación.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 la tabla por énfasis, no como categorías excluyentes. Una metodología puede aparecer en varias filas.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Aclare la diferencia entre diseñar la aplicación y organizar el trabajo del equipo. Scrum o Kanban no reemplazan OOHDM.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 las cuatro actividades de OOHDM. El proceso puede regresar a una actividad anterior cuando aparece una inconsistencia.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el diseño conceptual preguntamos qué información existe. Una clase conceptual todavía no es una tabla de SQLite.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el diseño navegacional preguntamos qué percibe el usuario y cómo se desplaza. Destaque nodo, enlace y estructura de acceso.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interfaz abstracta define información, controles y respuestas. Los colores y tipografías pertenecen a la presentación visual posterior.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implementación materializa los modelos con HTML, CSS, rutas HTTP, Node.js y SQLite. OOHDM no obliga a usar clases de JavaScript.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 el caso de soporte. Lea las reglas y construya con el grupo la relación Cliente 1 a 0 o muchas Solicitudes.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Siga el recorrido de izquierda a derecha. El identificador del cliente se conserva cuando el auxiliar abre Nueva solicitud.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Muestre que el usuario solo escribe la descripción. El servidor asigna fecha y estado, y cliente_id representa la relación.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diapositiva prepara la demostración. Pida al grupo que identifique qué elemento visible corresponde a cada actividad de OOHDM.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Abra PowerShell en demo-oohdm, ejecute npm start y abra localhost:3000. La advertencia experimental de SQLite no detiene la aplicación.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Realice las cinco acciones sin abrir todavía el código. Pregunte qué decisión de OOHDM se observa en cada pantalla.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el recorrido técnico del POST. El navegador envía, Node valida e inserta, y SQLite persiste. Relacione esto con el laboratorio 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Abra datos/soporte.db en DB Browser. Muestre ambas tablas y compare clientes.id con solicitudes.cliente_id.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Trabajo breve por equipos. Circule y compruebe que no confundan nodos con clases. Cierre con dos propuestas en el tablero.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OOHDM separa contenido, recorrido, interfaz e implementación. La separación permite justificar por qué existe cada ruta, campo y tabla.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581B66-32BE-49B9-9526-B2BC05D51967}"/>
              </a:ext>
            </a:extLst>
          </p:cNvPr>
          <p:cNvSpPr>
            <a:spLocks noGrp="1"/>
          </p:cNvSpPr>
          <p:nvPr/>
        </p:nvSpPr>
        <p:spPr>
          <a:xfrm>
            <a:off x="502920" y="566928"/>
            <a:ext cx="1362456" cy="246888"/>
          </a:xfrm>
          <a:prstGeom prst="roundRect">
            <a:avLst>
              <a:gd name="adj" fmla="val 44444"/>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CB8C5F0E-9BC2-49D8-A09F-93220A8631F2}"/>
              </a:ext>
            </a:extLst>
          </p:cNvPr>
          <p:cNvSpPr>
            <a:spLocks noGrp="1"/>
          </p:cNvSpPr>
          <p:nvPr/>
        </p:nvSpPr>
        <p:spPr>
          <a:xfrm>
            <a:off x="502920" y="566928"/>
            <a:ext cx="1362456" cy="246888"/>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INGENIERÍA WEB</a:t>
            </a:r>
            <a:endParaRPr sz="850"/>
          </a:p>
        </p:txBody>
      </p:sp>
      <p:sp>
        <p:nvSpPr>
          <p:cNvPr id="4" name="Text 2">
            <a:extLst>
              <a:ext uri="{FF2B5EF4-FFF2-40B4-BE49-F238E27FC236}">
                <a16:creationId xmlns:a16="http://schemas.microsoft.com/office/drawing/2014/main" id="{5357FDD2-3F2B-420B-A39F-8E1664F102DB}"/>
              </a:ext>
            </a:extLst>
          </p:cNvPr>
          <p:cNvSpPr>
            <a:spLocks noGrp="1"/>
          </p:cNvSpPr>
          <p:nvPr/>
        </p:nvSpPr>
        <p:spPr>
          <a:xfrm>
            <a:off x="502920" y="960120"/>
            <a:ext cx="4937760" cy="1097280"/>
          </a:xfrm>
          <a:prstGeom prst="rect">
            <a:avLst/>
          </a:prstGeom>
          <a:noFill/>
        </p:spPr>
        <p:txBody>
          <a:bodyPr wrap="square" lIns="0" tIns="0" rIns="0" bIns="0" anchor="t"/>
          <a:lstStyle/>
          <a:p>
            <a:pPr marL="0" indent="0">
              <a:lnSpc>
                <a:spcPct val="100000"/>
              </a:lnSpc>
              <a:buNone/>
            </a:pPr>
            <a:r>
              <a:rPr sz="3200" b="1">
                <a:solidFill>
                  <a:srgbClr val="FFFFFF"/>
                </a:solidFill>
                <a:latin typeface="Arial"/>
                <a:ea typeface="Arial"/>
                <a:cs typeface="Arial"/>
              </a:rPr>
              <a:t>Metodologías de</a:t>
            </a:r>
            <a:endParaRPr sz="3200"/>
          </a:p>
          <a:p>
            <a:pPr marL="0" indent="0">
              <a:lnSpc>
                <a:spcPct val="100000"/>
              </a:lnSpc>
              <a:buNone/>
            </a:pPr>
            <a:r>
              <a:rPr sz="3200" b="1">
                <a:solidFill>
                  <a:srgbClr val="FFFFFF"/>
                </a:solidFill>
                <a:latin typeface="Arial"/>
                <a:ea typeface="Arial"/>
                <a:cs typeface="Arial"/>
              </a:rPr>
              <a:t>desarrollo web</a:t>
            </a:r>
            <a:endParaRPr sz="3200"/>
          </a:p>
        </p:txBody>
      </p:sp>
      <p:sp>
        <p:nvSpPr>
          <p:cNvPr id="5" name="Text 3">
            <a:extLst>
              <a:ext uri="{FF2B5EF4-FFF2-40B4-BE49-F238E27FC236}">
                <a16:creationId xmlns:a16="http://schemas.microsoft.com/office/drawing/2014/main" id="{B3A705BC-917B-499B-8462-610B3C5D1D43}"/>
              </a:ext>
            </a:extLst>
          </p:cNvPr>
          <p:cNvSpPr>
            <a:spLocks noGrp="1"/>
          </p:cNvSpPr>
          <p:nvPr/>
        </p:nvSpPr>
        <p:spPr>
          <a:xfrm>
            <a:off x="502920" y="2121408"/>
            <a:ext cx="4937760" cy="292608"/>
          </a:xfrm>
          <a:prstGeom prst="rect">
            <a:avLst/>
          </a:prstGeom>
          <a:noFill/>
        </p:spPr>
        <p:txBody>
          <a:bodyPr wrap="square" lIns="0" tIns="0" rIns="0" bIns="0" anchor="ctr"/>
          <a:lstStyle/>
          <a:p>
            <a:pPr marL="0" indent="0">
              <a:buNone/>
            </a:pPr>
            <a:r>
              <a:rPr sz="1500" b="1">
                <a:solidFill>
                  <a:srgbClr val="3DDC97"/>
                </a:solidFill>
                <a:latin typeface="Arial"/>
                <a:ea typeface="Arial"/>
                <a:cs typeface="Arial"/>
              </a:rPr>
              <a:t>Panorama de propuestas y un ejemplo con OOHDM</a:t>
            </a:r>
            <a:endParaRPr sz="1500"/>
          </a:p>
        </p:txBody>
      </p:sp>
      <p:sp>
        <p:nvSpPr>
          <p:cNvPr id="6" name="Text 4">
            <a:extLst>
              <a:ext uri="{FF2B5EF4-FFF2-40B4-BE49-F238E27FC236}">
                <a16:creationId xmlns:a16="http://schemas.microsoft.com/office/drawing/2014/main" id="{DC6DBE2D-1214-486D-B233-26A5C87CBA59}"/>
              </a:ext>
            </a:extLst>
          </p:cNvPr>
          <p:cNvSpPr>
            <a:spLocks noGrp="1"/>
          </p:cNvSpPr>
          <p:nvPr/>
        </p:nvSpPr>
        <p:spPr>
          <a:xfrm>
            <a:off x="502920" y="2651760"/>
            <a:ext cx="4937760" cy="640080"/>
          </a:xfrm>
          <a:prstGeom prst="rect">
            <a:avLst/>
          </a:prstGeom>
          <a:noFill/>
        </p:spPr>
        <p:txBody>
          <a:bodyPr wrap="square" lIns="0" tIns="0" rIns="0" bIns="0" anchor="t"/>
          <a:lstStyle/>
          <a:p>
            <a:pPr marL="0" indent="0">
              <a:lnSpc>
                <a:spcPct val="115000"/>
              </a:lnSpc>
              <a:buNone/>
            </a:pPr>
            <a:r>
              <a:rPr sz="1050" b="1">
                <a:solidFill>
                  <a:srgbClr val="E8EEF6"/>
                </a:solidFill>
                <a:latin typeface="Calibri"/>
                <a:ea typeface="Calibri"/>
                <a:cs typeface="Calibri"/>
              </a:rPr>
              <a:t>Luis Miguel Gómez Meneses</a:t>
            </a:r>
            <a:endParaRPr sz="1050"/>
          </a:p>
          <a:p>
            <a:pPr marL="0" indent="0">
              <a:lnSpc>
                <a:spcPct val="115000"/>
              </a:lnSpc>
              <a:buNone/>
            </a:pPr>
            <a:r>
              <a:rPr sz="1050" b="1">
                <a:solidFill>
                  <a:srgbClr val="E8EEF6"/>
                </a:solidFill>
                <a:latin typeface="Calibri"/>
                <a:ea typeface="Calibri"/>
                <a:cs typeface="Calibri"/>
              </a:rPr>
              <a:t>Programa de Ingeniería de Software · Semestre VIII</a:t>
            </a:r>
            <a:endParaRPr sz="1050"/>
          </a:p>
          <a:p>
            <a:pPr marL="0" indent="0">
              <a:lnSpc>
                <a:spcPct val="115000"/>
              </a:lnSpc>
              <a:buNone/>
            </a:pPr>
            <a:r>
              <a:rPr sz="1050" b="1">
                <a:solidFill>
                  <a:srgbClr val="E8EEF6"/>
                </a:solidFill>
                <a:latin typeface="Calibri"/>
                <a:ea typeface="Calibri"/>
                <a:cs typeface="Calibri"/>
              </a:rPr>
              <a:t>Universidad Cooperativa de Colombia</a:t>
            </a:r>
            <a:endParaRPr sz="1050"/>
          </a:p>
        </p:txBody>
      </p:sp>
      <p:sp>
        <p:nvSpPr>
          <p:cNvPr id="7" name="Shape 5">
            <a:extLst>
              <a:ext uri="{FF2B5EF4-FFF2-40B4-BE49-F238E27FC236}">
                <a16:creationId xmlns:a16="http://schemas.microsoft.com/office/drawing/2014/main" id="{018DCE2E-CD00-4BB9-BAAC-5DB17C3CA741}"/>
              </a:ext>
            </a:extLst>
          </p:cNvPr>
          <p:cNvSpPr>
            <a:spLocks noGrp="1"/>
          </p:cNvSpPr>
          <p:nvPr/>
        </p:nvSpPr>
        <p:spPr>
          <a:xfrm>
            <a:off x="502920" y="3474720"/>
            <a:ext cx="4663440" cy="841248"/>
          </a:xfrm>
          <a:prstGeom prst="roundRect">
            <a:avLst>
              <a:gd name="adj" fmla="val 4348"/>
            </a:avLst>
          </a:prstGeom>
          <a:solidFill>
            <a:srgbClr val="070C14"/>
          </a:solidFill>
          <a:ln w="12700">
            <a:solidFill>
              <a:srgbClr val="2B3B52"/>
            </a:solidFill>
            <a:prstDash val="solid"/>
          </a:ln>
        </p:spPr>
        <p:txBody>
          <a:bodyPr/>
          <a:lstStyle/>
          <a:p>
            <a:endParaRPr/>
          </a:p>
        </p:txBody>
      </p:sp>
      <p:sp>
        <p:nvSpPr>
          <p:cNvPr id="8" name="Text 6">
            <a:extLst>
              <a:ext uri="{FF2B5EF4-FFF2-40B4-BE49-F238E27FC236}">
                <a16:creationId xmlns:a16="http://schemas.microsoft.com/office/drawing/2014/main" id="{5A882CD9-7876-4B00-9FA7-B192054943A6}"/>
              </a:ext>
            </a:extLst>
          </p:cNvPr>
          <p:cNvSpPr>
            <a:spLocks noGrp="1"/>
          </p:cNvSpPr>
          <p:nvPr/>
        </p:nvSpPr>
        <p:spPr>
          <a:xfrm>
            <a:off x="649224" y="3547872"/>
            <a:ext cx="4370832" cy="182880"/>
          </a:xfrm>
          <a:prstGeom prst="rect">
            <a:avLst/>
          </a:prstGeom>
          <a:noFill/>
        </p:spPr>
        <p:txBody>
          <a:bodyPr wrap="square" lIns="0" tIns="0" rIns="0" bIns="0" anchor="ctr"/>
          <a:lstStyle/>
          <a:p>
            <a:pPr marL="0" indent="0">
              <a:buNone/>
            </a:pPr>
            <a:r>
              <a:rPr sz="850" b="1">
                <a:solidFill>
                  <a:srgbClr val="FF8A3D"/>
                </a:solidFill>
                <a:latin typeface="Courier New"/>
                <a:ea typeface="Courier New"/>
                <a:cs typeface="Courier New"/>
              </a:rPr>
              <a:t>las cuatro actividades de OOHDM</a:t>
            </a:r>
            <a:endParaRPr sz="850"/>
          </a:p>
        </p:txBody>
      </p:sp>
      <p:sp>
        <p:nvSpPr>
          <p:cNvPr id="9" name="Text 7">
            <a:extLst>
              <a:ext uri="{FF2B5EF4-FFF2-40B4-BE49-F238E27FC236}">
                <a16:creationId xmlns:a16="http://schemas.microsoft.com/office/drawing/2014/main" id="{54E8A1F7-E7D1-4EA7-996B-08FF4330A469}"/>
              </a:ext>
            </a:extLst>
          </p:cNvPr>
          <p:cNvSpPr>
            <a:spLocks noGrp="1"/>
          </p:cNvSpPr>
          <p:nvPr/>
        </p:nvSpPr>
        <p:spPr>
          <a:xfrm>
            <a:off x="649224" y="3767328"/>
            <a:ext cx="4370832" cy="475488"/>
          </a:xfrm>
          <a:prstGeom prst="rect">
            <a:avLst/>
          </a:prstGeom>
          <a:noFill/>
        </p:spPr>
        <p:txBody>
          <a:bodyPr wrap="square" lIns="0" tIns="0" rIns="0" bIns="0" anchor="t"/>
          <a:lstStyle/>
          <a:p>
            <a:pPr marL="0" indent="0">
              <a:lnSpc>
                <a:spcPct val="125000"/>
              </a:lnSpc>
              <a:buNone/>
            </a:pPr>
            <a:r>
              <a:rPr sz="850">
                <a:solidFill>
                  <a:srgbClr val="3DDC97"/>
                </a:solidFill>
                <a:latin typeface="Courier New"/>
                <a:ea typeface="Courier New"/>
                <a:cs typeface="Courier New"/>
              </a:rPr>
              <a:t>diseño conceptual</a:t>
            </a:r>
            <a:endParaRPr sz="850"/>
          </a:p>
          <a:p>
            <a:pPr marL="0" indent="0">
              <a:lnSpc>
                <a:spcPct val="125000"/>
              </a:lnSpc>
              <a:buNone/>
            </a:pPr>
            <a:r>
              <a:rPr sz="850">
                <a:solidFill>
                  <a:srgbClr val="93A5BD"/>
                </a:solidFill>
                <a:latin typeface="Courier New"/>
                <a:ea typeface="Courier New"/>
                <a:cs typeface="Courier New"/>
              </a:rPr>
              <a:t>  →  diseño navegacional  →  interfaz abstracta  →  implementación</a:t>
            </a:r>
            <a:endParaRPr sz="850"/>
          </a:p>
        </p:txBody>
      </p:sp>
      <p:sp>
        <p:nvSpPr>
          <p:cNvPr id="10" name="Shape 8">
            <a:extLst>
              <a:ext uri="{FF2B5EF4-FFF2-40B4-BE49-F238E27FC236}">
                <a16:creationId xmlns:a16="http://schemas.microsoft.com/office/drawing/2014/main" id="{39AEA1DE-B27D-4175-89CA-F1C8004E1349}"/>
              </a:ext>
            </a:extLst>
          </p:cNvPr>
          <p:cNvSpPr>
            <a:spLocks noGrp="1"/>
          </p:cNvSpPr>
          <p:nvPr/>
        </p:nvSpPr>
        <p:spPr>
          <a:xfrm>
            <a:off x="6446520" y="1234440"/>
            <a:ext cx="1188720" cy="640080"/>
          </a:xfrm>
          <a:prstGeom prst="line">
            <a:avLst/>
          </a:prstGeom>
          <a:noFill/>
          <a:ln w="15875">
            <a:solidFill>
              <a:srgbClr val="2B3B52"/>
            </a:solidFill>
            <a:prstDash val="solid"/>
          </a:ln>
        </p:spPr>
        <p:txBody>
          <a:bodyPr/>
          <a:lstStyle/>
          <a:p>
            <a:endParaRPr/>
          </a:p>
        </p:txBody>
      </p:sp>
      <p:sp>
        <p:nvSpPr>
          <p:cNvPr id="11" name="Shape 9">
            <a:extLst>
              <a:ext uri="{FF2B5EF4-FFF2-40B4-BE49-F238E27FC236}">
                <a16:creationId xmlns:a16="http://schemas.microsoft.com/office/drawing/2014/main" id="{ECC02F03-D385-4597-A167-8912A14BA972}"/>
              </a:ext>
            </a:extLst>
          </p:cNvPr>
          <p:cNvSpPr>
            <a:spLocks noGrp="1"/>
          </p:cNvSpPr>
          <p:nvPr/>
        </p:nvSpPr>
        <p:spPr>
          <a:xfrm flipH="1">
            <a:off x="6720840" y="1874520"/>
            <a:ext cx="914400" cy="822960"/>
          </a:xfrm>
          <a:prstGeom prst="line">
            <a:avLst/>
          </a:prstGeom>
          <a:noFill/>
          <a:ln w="15875">
            <a:solidFill>
              <a:srgbClr val="2B3B52"/>
            </a:solidFill>
            <a:prstDash val="solid"/>
          </a:ln>
        </p:spPr>
        <p:txBody>
          <a:bodyPr/>
          <a:lstStyle/>
          <a:p>
            <a:endParaRPr/>
          </a:p>
        </p:txBody>
      </p:sp>
      <p:sp>
        <p:nvSpPr>
          <p:cNvPr id="12" name="Shape 10">
            <a:extLst>
              <a:ext uri="{FF2B5EF4-FFF2-40B4-BE49-F238E27FC236}">
                <a16:creationId xmlns:a16="http://schemas.microsoft.com/office/drawing/2014/main" id="{C7795386-5802-4749-9CF5-73FF02842ED7}"/>
              </a:ext>
            </a:extLst>
          </p:cNvPr>
          <p:cNvSpPr>
            <a:spLocks noGrp="1"/>
          </p:cNvSpPr>
          <p:nvPr/>
        </p:nvSpPr>
        <p:spPr>
          <a:xfrm>
            <a:off x="6720840" y="2697480"/>
            <a:ext cx="1188720" cy="640080"/>
          </a:xfrm>
          <a:prstGeom prst="line">
            <a:avLst/>
          </a:prstGeom>
          <a:noFill/>
          <a:ln w="15875">
            <a:solidFill>
              <a:srgbClr val="2B3B52"/>
            </a:solidFill>
            <a:prstDash val="solid"/>
          </a:ln>
        </p:spPr>
        <p:txBody>
          <a:bodyPr/>
          <a:lstStyle/>
          <a:p>
            <a:endParaRPr/>
          </a:p>
        </p:txBody>
      </p:sp>
      <p:sp>
        <p:nvSpPr>
          <p:cNvPr id="13" name="Shape 11">
            <a:extLst>
              <a:ext uri="{FF2B5EF4-FFF2-40B4-BE49-F238E27FC236}">
                <a16:creationId xmlns:a16="http://schemas.microsoft.com/office/drawing/2014/main" id="{37FFF8AD-FF3F-4244-8F7A-A6A064F64E4F}"/>
              </a:ext>
            </a:extLst>
          </p:cNvPr>
          <p:cNvSpPr>
            <a:spLocks noGrp="1"/>
          </p:cNvSpPr>
          <p:nvPr/>
        </p:nvSpPr>
        <p:spPr>
          <a:xfrm flipH="1">
            <a:off x="6492240" y="3337560"/>
            <a:ext cx="1417320" cy="457200"/>
          </a:xfrm>
          <a:prstGeom prst="line">
            <a:avLst/>
          </a:prstGeom>
          <a:noFill/>
          <a:ln w="15875">
            <a:solidFill>
              <a:srgbClr val="2B3B52"/>
            </a:solidFill>
            <a:prstDash val="solid"/>
          </a:ln>
        </p:spPr>
        <p:txBody>
          <a:bodyPr/>
          <a:lstStyle/>
          <a:p>
            <a:endParaRPr/>
          </a:p>
        </p:txBody>
      </p:sp>
      <p:sp>
        <p:nvSpPr>
          <p:cNvPr id="14" name="Shape 12">
            <a:extLst>
              <a:ext uri="{FF2B5EF4-FFF2-40B4-BE49-F238E27FC236}">
                <a16:creationId xmlns:a16="http://schemas.microsoft.com/office/drawing/2014/main" id="{48A03ABD-6224-4C0C-82AE-62FDC5C94A7B}"/>
              </a:ext>
            </a:extLst>
          </p:cNvPr>
          <p:cNvSpPr>
            <a:spLocks noGrp="1"/>
          </p:cNvSpPr>
          <p:nvPr/>
        </p:nvSpPr>
        <p:spPr>
          <a:xfrm>
            <a:off x="6377940" y="1165860"/>
            <a:ext cx="137160" cy="137160"/>
          </a:xfrm>
          <a:prstGeom prst="ellipse">
            <a:avLst/>
          </a:prstGeom>
          <a:solidFill>
            <a:srgbClr val="3DDC97"/>
          </a:solidFill>
          <a:ln w="12700">
            <a:solidFill>
              <a:srgbClr val="3DDC97"/>
            </a:solidFill>
            <a:prstDash val="solid"/>
          </a:ln>
        </p:spPr>
        <p:txBody>
          <a:bodyPr/>
          <a:lstStyle/>
          <a:p>
            <a:endParaRPr/>
          </a:p>
        </p:txBody>
      </p:sp>
      <p:sp>
        <p:nvSpPr>
          <p:cNvPr id="15" name="Shape 13">
            <a:extLst>
              <a:ext uri="{FF2B5EF4-FFF2-40B4-BE49-F238E27FC236}">
                <a16:creationId xmlns:a16="http://schemas.microsoft.com/office/drawing/2014/main" id="{F195CA5A-A576-49F3-B741-00E4B61CC36A}"/>
              </a:ext>
            </a:extLst>
          </p:cNvPr>
          <p:cNvSpPr>
            <a:spLocks noGrp="1"/>
          </p:cNvSpPr>
          <p:nvPr/>
        </p:nvSpPr>
        <p:spPr>
          <a:xfrm>
            <a:off x="7566660" y="1805940"/>
            <a:ext cx="137160" cy="137160"/>
          </a:xfrm>
          <a:prstGeom prst="ellipse">
            <a:avLst/>
          </a:prstGeom>
          <a:solidFill>
            <a:srgbClr val="3DDC97"/>
          </a:solidFill>
          <a:ln w="12700">
            <a:solidFill>
              <a:srgbClr val="3DDC97"/>
            </a:solidFill>
            <a:prstDash val="solid"/>
          </a:ln>
        </p:spPr>
        <p:txBody>
          <a:bodyPr/>
          <a:lstStyle/>
          <a:p>
            <a:endParaRPr/>
          </a:p>
        </p:txBody>
      </p:sp>
      <p:sp>
        <p:nvSpPr>
          <p:cNvPr id="16" name="Shape 14">
            <a:extLst>
              <a:ext uri="{FF2B5EF4-FFF2-40B4-BE49-F238E27FC236}">
                <a16:creationId xmlns:a16="http://schemas.microsoft.com/office/drawing/2014/main" id="{0797C2C9-CC18-4931-966D-5254DD2ABB2B}"/>
              </a:ext>
            </a:extLst>
          </p:cNvPr>
          <p:cNvSpPr>
            <a:spLocks noGrp="1"/>
          </p:cNvSpPr>
          <p:nvPr/>
        </p:nvSpPr>
        <p:spPr>
          <a:xfrm>
            <a:off x="6652260" y="2628900"/>
            <a:ext cx="137160" cy="137160"/>
          </a:xfrm>
          <a:prstGeom prst="ellipse">
            <a:avLst/>
          </a:prstGeom>
          <a:solidFill>
            <a:srgbClr val="3DDC97"/>
          </a:solidFill>
          <a:ln w="12700">
            <a:solidFill>
              <a:srgbClr val="3DDC97"/>
            </a:solidFill>
            <a:prstDash val="solid"/>
          </a:ln>
        </p:spPr>
        <p:txBody>
          <a:bodyPr/>
          <a:lstStyle/>
          <a:p>
            <a:endParaRPr/>
          </a:p>
        </p:txBody>
      </p:sp>
      <p:sp>
        <p:nvSpPr>
          <p:cNvPr id="17" name="Shape 15">
            <a:extLst>
              <a:ext uri="{FF2B5EF4-FFF2-40B4-BE49-F238E27FC236}">
                <a16:creationId xmlns:a16="http://schemas.microsoft.com/office/drawing/2014/main" id="{262B90F1-1C9E-45F6-91F9-35FCCBBA05DE}"/>
              </a:ext>
            </a:extLst>
          </p:cNvPr>
          <p:cNvSpPr>
            <a:spLocks noGrp="1"/>
          </p:cNvSpPr>
          <p:nvPr/>
        </p:nvSpPr>
        <p:spPr>
          <a:xfrm>
            <a:off x="7840980" y="3268980"/>
            <a:ext cx="137160" cy="137160"/>
          </a:xfrm>
          <a:prstGeom prst="ellipse">
            <a:avLst/>
          </a:prstGeom>
          <a:solidFill>
            <a:srgbClr val="3DDC97"/>
          </a:solidFill>
          <a:ln w="12700">
            <a:solidFill>
              <a:srgbClr val="3DDC97"/>
            </a:solidFill>
            <a:prstDash val="solid"/>
          </a:ln>
        </p:spPr>
        <p:txBody>
          <a:bodyPr/>
          <a:lstStyle/>
          <a:p>
            <a:endParaRPr/>
          </a:p>
        </p:txBody>
      </p:sp>
      <p:sp>
        <p:nvSpPr>
          <p:cNvPr id="18" name="Shape 16">
            <a:extLst>
              <a:ext uri="{FF2B5EF4-FFF2-40B4-BE49-F238E27FC236}">
                <a16:creationId xmlns:a16="http://schemas.microsoft.com/office/drawing/2014/main" id="{42CF9523-900B-4567-8767-2651DA9EBEE1}"/>
              </a:ext>
            </a:extLst>
          </p:cNvPr>
          <p:cNvSpPr>
            <a:spLocks noGrp="1"/>
          </p:cNvSpPr>
          <p:nvPr/>
        </p:nvSpPr>
        <p:spPr>
          <a:xfrm>
            <a:off x="6423660" y="3726180"/>
            <a:ext cx="137160" cy="137160"/>
          </a:xfrm>
          <a:prstGeom prst="ellipse">
            <a:avLst/>
          </a:prstGeom>
          <a:solidFill>
            <a:srgbClr val="3DDC97"/>
          </a:solidFill>
          <a:ln w="12700">
            <a:solidFill>
              <a:srgbClr val="3DDC97"/>
            </a:solidFill>
            <a:prstDash val="solid"/>
          </a:ln>
        </p:spPr>
        <p:txBody>
          <a:bodyPr/>
          <a:lstStyle/>
          <a:p>
            <a:endParaRPr/>
          </a:p>
        </p:txBody>
      </p:sp>
      <p:sp>
        <p:nvSpPr>
          <p:cNvPr id="19" name="Text 17">
            <a:extLst>
              <a:ext uri="{FF2B5EF4-FFF2-40B4-BE49-F238E27FC236}">
                <a16:creationId xmlns:a16="http://schemas.microsoft.com/office/drawing/2014/main" id="{6A22BF21-720F-40F0-9C63-073AA8BC9D7B}"/>
              </a:ext>
            </a:extLst>
          </p:cNvPr>
          <p:cNvSpPr>
            <a:spLocks noGrp="1"/>
          </p:cNvSpPr>
          <p:nvPr/>
        </p:nvSpPr>
        <p:spPr>
          <a:xfrm>
            <a:off x="6035040" y="4069080"/>
            <a:ext cx="2606040" cy="411480"/>
          </a:xfrm>
          <a:prstGeom prst="rect">
            <a:avLst/>
          </a:prstGeom>
          <a:noFill/>
        </p:spPr>
        <p:txBody>
          <a:bodyPr wrap="square" lIns="0" tIns="0" rIns="0" bIns="0" anchor="t"/>
          <a:lstStyle/>
          <a:p>
            <a:pPr marL="0" indent="0" algn="r">
              <a:lnSpc>
                <a:spcPct val="110000"/>
              </a:lnSpc>
              <a:buNone/>
            </a:pPr>
            <a:r>
              <a:rPr sz="850">
                <a:solidFill>
                  <a:srgbClr val="6C7E96"/>
                </a:solidFill>
                <a:latin typeface="Calibri"/>
                <a:ea typeface="Calibri"/>
                <a:cs typeface="Calibri"/>
              </a:rPr>
              <a:t>nodos y enlaces: la estructura que estas</a:t>
            </a:r>
            <a:endParaRPr sz="850"/>
          </a:p>
          <a:p>
            <a:pPr marL="0" indent="0" algn="r">
              <a:lnSpc>
                <a:spcPct val="110000"/>
              </a:lnSpc>
              <a:buNone/>
            </a:pPr>
            <a:r>
              <a:rPr sz="850">
                <a:solidFill>
                  <a:srgbClr val="6C7E96"/>
                </a:solidFill>
                <a:latin typeface="Calibri"/>
                <a:ea typeface="Calibri"/>
                <a:cs typeface="Calibri"/>
              </a:rPr>
              <a:t>metodologías se propusieron diseñar</a:t>
            </a:r>
            <a:endParaRPr sz="850"/>
          </a:p>
        </p:txBody>
      </p:sp>
      <p:sp>
        <p:nvSpPr>
          <p:cNvPr id="20" name="Text 18">
            <a:extLst>
              <a:ext uri="{FF2B5EF4-FFF2-40B4-BE49-F238E27FC236}">
                <a16:creationId xmlns:a16="http://schemas.microsoft.com/office/drawing/2014/main" id="{72D98A2B-F117-43B5-9BDF-D19CEDA5F76D}"/>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01 / 24</a:t>
            </a:r>
            <a:endParaRPr sz="800"/>
          </a:p>
        </p:txBody>
      </p:sp>
    </p:spTree>
    <p:extLst>
      <p:ext uri="{BB962C8B-B14F-4D97-AF65-F5344CB8AC3E}">
        <p14:creationId xmlns:p14="http://schemas.microsoft.com/office/powerpoint/2010/main" val="180454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7BA69F-F705-4D7B-8F7D-8961AEE950AF}"/>
              </a:ext>
            </a:extLst>
          </p:cNvPr>
          <p:cNvSpPr>
            <a:spLocks noGrp="1"/>
          </p:cNvSpPr>
          <p:nvPr/>
        </p:nvSpPr>
        <p:spPr>
          <a:xfrm>
            <a:off x="502920" y="365760"/>
            <a:ext cx="97383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93812630-6E8C-430F-BA30-B0B45BD8DA26}"/>
              </a:ext>
            </a:extLst>
          </p:cNvPr>
          <p:cNvSpPr>
            <a:spLocks noGrp="1"/>
          </p:cNvSpPr>
          <p:nvPr/>
        </p:nvSpPr>
        <p:spPr>
          <a:xfrm>
            <a:off x="502920" y="365760"/>
            <a:ext cx="97383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OBJETIVOS</a:t>
            </a:r>
            <a:endParaRPr sz="850"/>
          </a:p>
        </p:txBody>
      </p:sp>
      <p:sp>
        <p:nvSpPr>
          <p:cNvPr id="4" name="Text 2">
            <a:extLst>
              <a:ext uri="{FF2B5EF4-FFF2-40B4-BE49-F238E27FC236}">
                <a16:creationId xmlns:a16="http://schemas.microsoft.com/office/drawing/2014/main" id="{56291B1A-C105-4B99-8A7C-E8F5E0E5E19A}"/>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Objetivos y recorrido de la clase</a:t>
            </a:r>
            <a:endParaRPr sz="2300"/>
          </a:p>
        </p:txBody>
      </p:sp>
      <p:sp>
        <p:nvSpPr>
          <p:cNvPr id="5" name="Text 3">
            <a:extLst>
              <a:ext uri="{FF2B5EF4-FFF2-40B4-BE49-F238E27FC236}">
                <a16:creationId xmlns:a16="http://schemas.microsoft.com/office/drawing/2014/main" id="{3794ED23-DAFE-4419-865D-5455E2A21512}"/>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02 / 24</a:t>
            </a:r>
            <a:endParaRPr sz="800"/>
          </a:p>
        </p:txBody>
      </p:sp>
      <p:sp>
        <p:nvSpPr>
          <p:cNvPr id="6" name="Text 4">
            <a:extLst>
              <a:ext uri="{FF2B5EF4-FFF2-40B4-BE49-F238E27FC236}">
                <a16:creationId xmlns:a16="http://schemas.microsoft.com/office/drawing/2014/main" id="{E63689E2-9E2D-4F84-B187-58F17DBEBA93}"/>
              </a:ext>
            </a:extLst>
          </p:cNvPr>
          <p:cNvSpPr>
            <a:spLocks noGrp="1"/>
          </p:cNvSpPr>
          <p:nvPr/>
        </p:nvSpPr>
        <p:spPr>
          <a:xfrm>
            <a:off x="502920" y="1078992"/>
            <a:ext cx="8138160" cy="237744"/>
          </a:xfrm>
          <a:prstGeom prst="rect">
            <a:avLst/>
          </a:prstGeom>
          <a:noFill/>
        </p:spPr>
        <p:txBody>
          <a:bodyPr wrap="square" lIns="0" tIns="0" rIns="0" bIns="0" anchor="ctr"/>
          <a:lstStyle/>
          <a:p>
            <a:pPr marL="0" indent="0">
              <a:buNone/>
            </a:pPr>
            <a:r>
              <a:rPr sz="1050">
                <a:solidFill>
                  <a:srgbClr val="93A5BD"/>
                </a:solidFill>
                <a:latin typeface="Calibri"/>
                <a:ea typeface="Calibri"/>
                <a:cs typeface="Calibri"/>
              </a:rPr>
              <a:t>Al finalizar la sesión, el estudiante será capaz de:</a:t>
            </a:r>
            <a:endParaRPr sz="1050"/>
          </a:p>
        </p:txBody>
      </p:sp>
      <p:sp>
        <p:nvSpPr>
          <p:cNvPr id="7" name="Shape 5">
            <a:extLst>
              <a:ext uri="{FF2B5EF4-FFF2-40B4-BE49-F238E27FC236}">
                <a16:creationId xmlns:a16="http://schemas.microsoft.com/office/drawing/2014/main" id="{87BA0D49-F4D9-4E22-AFB3-E51BCA243C33}"/>
              </a:ext>
            </a:extLst>
          </p:cNvPr>
          <p:cNvSpPr>
            <a:spLocks noGrp="1"/>
          </p:cNvSpPr>
          <p:nvPr/>
        </p:nvSpPr>
        <p:spPr>
          <a:xfrm>
            <a:off x="502920" y="1417320"/>
            <a:ext cx="3931920" cy="932688"/>
          </a:xfrm>
          <a:prstGeom prst="roundRect">
            <a:avLst>
              <a:gd name="adj" fmla="val 4902"/>
            </a:avLst>
          </a:prstGeom>
          <a:solidFill>
            <a:srgbClr val="1A2434"/>
          </a:solidFill>
          <a:ln w="12700">
            <a:solidFill>
              <a:srgbClr val="3DDC97"/>
            </a:solidFill>
            <a:prstDash val="solid"/>
          </a:ln>
        </p:spPr>
        <p:txBody>
          <a:bodyPr/>
          <a:lstStyle/>
          <a:p>
            <a:endParaRPr/>
          </a:p>
        </p:txBody>
      </p:sp>
      <p:sp>
        <p:nvSpPr>
          <p:cNvPr id="8" name="Shape 6">
            <a:extLst>
              <a:ext uri="{FF2B5EF4-FFF2-40B4-BE49-F238E27FC236}">
                <a16:creationId xmlns:a16="http://schemas.microsoft.com/office/drawing/2014/main" id="{5010CDAD-9A57-408C-8F56-C4A81BEB725D}"/>
              </a:ext>
            </a:extLst>
          </p:cNvPr>
          <p:cNvSpPr>
            <a:spLocks noGrp="1"/>
          </p:cNvSpPr>
          <p:nvPr/>
        </p:nvSpPr>
        <p:spPr>
          <a:xfrm>
            <a:off x="722376" y="1682496"/>
            <a:ext cx="402336" cy="402336"/>
          </a:xfrm>
          <a:prstGeom prst="ellipse">
            <a:avLst/>
          </a:prstGeom>
          <a:solidFill>
            <a:srgbClr val="132A24"/>
          </a:solidFill>
          <a:ln w="12700">
            <a:solidFill>
              <a:srgbClr val="3DDC97"/>
            </a:solidFill>
            <a:prstDash val="solid"/>
          </a:ln>
        </p:spPr>
        <p:txBody>
          <a:bodyPr/>
          <a:lstStyle/>
          <a:p>
            <a:endParaRPr/>
          </a:p>
        </p:txBody>
      </p:sp>
      <p:sp>
        <p:nvSpPr>
          <p:cNvPr id="9" name="Text 7">
            <a:extLst>
              <a:ext uri="{FF2B5EF4-FFF2-40B4-BE49-F238E27FC236}">
                <a16:creationId xmlns:a16="http://schemas.microsoft.com/office/drawing/2014/main" id="{32A3DED9-D271-46B0-8DF1-96855CD26DBB}"/>
              </a:ext>
            </a:extLst>
          </p:cNvPr>
          <p:cNvSpPr>
            <a:spLocks noGrp="1"/>
          </p:cNvSpPr>
          <p:nvPr/>
        </p:nvSpPr>
        <p:spPr>
          <a:xfrm>
            <a:off x="722376" y="1682496"/>
            <a:ext cx="402336" cy="402336"/>
          </a:xfrm>
          <a:prstGeom prst="rect">
            <a:avLst/>
          </a:prstGeom>
          <a:noFill/>
        </p:spPr>
        <p:txBody>
          <a:bodyPr wrap="square" lIns="0" tIns="0" rIns="0" bIns="0" anchor="ctr"/>
          <a:lstStyle/>
          <a:p>
            <a:pPr marL="0" indent="0" algn="ctr">
              <a:buNone/>
            </a:pPr>
            <a:r>
              <a:rPr sz="1100" b="1">
                <a:solidFill>
                  <a:srgbClr val="3DDC97"/>
                </a:solidFill>
                <a:latin typeface="Arial"/>
                <a:ea typeface="Arial"/>
                <a:cs typeface="Arial"/>
              </a:rPr>
              <a:t>01</a:t>
            </a:r>
            <a:endParaRPr sz="1100"/>
          </a:p>
        </p:txBody>
      </p:sp>
      <p:sp>
        <p:nvSpPr>
          <p:cNvPr id="10" name="Text 8">
            <a:extLst>
              <a:ext uri="{FF2B5EF4-FFF2-40B4-BE49-F238E27FC236}">
                <a16:creationId xmlns:a16="http://schemas.microsoft.com/office/drawing/2014/main" id="{3335516E-54C1-47B6-8F0F-2B2A0EB2ECEF}"/>
              </a:ext>
            </a:extLst>
          </p:cNvPr>
          <p:cNvSpPr>
            <a:spLocks noGrp="1"/>
          </p:cNvSpPr>
          <p:nvPr/>
        </p:nvSpPr>
        <p:spPr>
          <a:xfrm>
            <a:off x="1271016" y="1417320"/>
            <a:ext cx="2944368" cy="932688"/>
          </a:xfrm>
          <a:prstGeom prst="rect">
            <a:avLst/>
          </a:prstGeom>
          <a:noFill/>
        </p:spPr>
        <p:txBody>
          <a:bodyPr wrap="square" lIns="0" tIns="0" rIns="0" bIns="0" anchor="ctr"/>
          <a:lstStyle/>
          <a:p>
            <a:pPr marL="0" indent="0">
              <a:lnSpc>
                <a:spcPct val="112000"/>
              </a:lnSpc>
              <a:buNone/>
            </a:pPr>
            <a:r>
              <a:rPr sz="1000">
                <a:solidFill>
                  <a:srgbClr val="E8EEF6"/>
                </a:solidFill>
                <a:latin typeface="Calibri"/>
                <a:ea typeface="Calibri"/>
                <a:cs typeface="Calibri"/>
              </a:rPr>
              <a:t>Explicar para qué sirve una metodología de desarrollo web y qué decisiones organiza.</a:t>
            </a:r>
            <a:endParaRPr sz="1000"/>
          </a:p>
        </p:txBody>
      </p:sp>
      <p:sp>
        <p:nvSpPr>
          <p:cNvPr id="11" name="Shape 9">
            <a:extLst>
              <a:ext uri="{FF2B5EF4-FFF2-40B4-BE49-F238E27FC236}">
                <a16:creationId xmlns:a16="http://schemas.microsoft.com/office/drawing/2014/main" id="{D00F8B82-8D98-4491-956B-7FBBAFAE56DD}"/>
              </a:ext>
            </a:extLst>
          </p:cNvPr>
          <p:cNvSpPr>
            <a:spLocks noGrp="1"/>
          </p:cNvSpPr>
          <p:nvPr/>
        </p:nvSpPr>
        <p:spPr>
          <a:xfrm>
            <a:off x="4709160" y="1417320"/>
            <a:ext cx="3931920" cy="932688"/>
          </a:xfrm>
          <a:prstGeom prst="roundRect">
            <a:avLst>
              <a:gd name="adj" fmla="val 4902"/>
            </a:avLst>
          </a:prstGeom>
          <a:solidFill>
            <a:srgbClr val="1A2434"/>
          </a:solidFill>
          <a:ln w="12700">
            <a:solidFill>
              <a:srgbClr val="56C7F2"/>
            </a:solidFill>
            <a:prstDash val="solid"/>
          </a:ln>
        </p:spPr>
        <p:txBody>
          <a:bodyPr/>
          <a:lstStyle/>
          <a:p>
            <a:endParaRPr/>
          </a:p>
        </p:txBody>
      </p:sp>
      <p:sp>
        <p:nvSpPr>
          <p:cNvPr id="12" name="Shape 10">
            <a:extLst>
              <a:ext uri="{FF2B5EF4-FFF2-40B4-BE49-F238E27FC236}">
                <a16:creationId xmlns:a16="http://schemas.microsoft.com/office/drawing/2014/main" id="{1E2361C6-5182-434D-AF42-C729CD930AA0}"/>
              </a:ext>
            </a:extLst>
          </p:cNvPr>
          <p:cNvSpPr>
            <a:spLocks noGrp="1"/>
          </p:cNvSpPr>
          <p:nvPr/>
        </p:nvSpPr>
        <p:spPr>
          <a:xfrm>
            <a:off x="4928616" y="1682496"/>
            <a:ext cx="402336" cy="402336"/>
          </a:xfrm>
          <a:prstGeom prst="ellipse">
            <a:avLst/>
          </a:prstGeom>
          <a:solidFill>
            <a:srgbClr val="132A24"/>
          </a:solidFill>
          <a:ln w="12700">
            <a:solidFill>
              <a:srgbClr val="56C7F2"/>
            </a:solidFill>
            <a:prstDash val="solid"/>
          </a:ln>
        </p:spPr>
        <p:txBody>
          <a:bodyPr/>
          <a:lstStyle/>
          <a:p>
            <a:endParaRPr/>
          </a:p>
        </p:txBody>
      </p:sp>
      <p:sp>
        <p:nvSpPr>
          <p:cNvPr id="13" name="Text 11">
            <a:extLst>
              <a:ext uri="{FF2B5EF4-FFF2-40B4-BE49-F238E27FC236}">
                <a16:creationId xmlns:a16="http://schemas.microsoft.com/office/drawing/2014/main" id="{9AAC4C7B-EEE5-46ED-9492-B9AE3FAF1109}"/>
              </a:ext>
            </a:extLst>
          </p:cNvPr>
          <p:cNvSpPr>
            <a:spLocks noGrp="1"/>
          </p:cNvSpPr>
          <p:nvPr/>
        </p:nvSpPr>
        <p:spPr>
          <a:xfrm>
            <a:off x="4928616" y="1682496"/>
            <a:ext cx="402336" cy="402336"/>
          </a:xfrm>
          <a:prstGeom prst="rect">
            <a:avLst/>
          </a:prstGeom>
          <a:noFill/>
        </p:spPr>
        <p:txBody>
          <a:bodyPr wrap="square" lIns="0" tIns="0" rIns="0" bIns="0" anchor="ctr"/>
          <a:lstStyle/>
          <a:p>
            <a:pPr marL="0" indent="0" algn="ctr">
              <a:buNone/>
            </a:pPr>
            <a:r>
              <a:rPr sz="1100" b="1">
                <a:solidFill>
                  <a:srgbClr val="56C7F2"/>
                </a:solidFill>
                <a:latin typeface="Arial"/>
                <a:ea typeface="Arial"/>
                <a:cs typeface="Arial"/>
              </a:rPr>
              <a:t>02</a:t>
            </a:r>
            <a:endParaRPr sz="1100"/>
          </a:p>
        </p:txBody>
      </p:sp>
      <p:sp>
        <p:nvSpPr>
          <p:cNvPr id="14" name="Text 12">
            <a:extLst>
              <a:ext uri="{FF2B5EF4-FFF2-40B4-BE49-F238E27FC236}">
                <a16:creationId xmlns:a16="http://schemas.microsoft.com/office/drawing/2014/main" id="{BBD2C72D-6ECB-4E06-AC9E-84146AB4B1BB}"/>
              </a:ext>
            </a:extLst>
          </p:cNvPr>
          <p:cNvSpPr>
            <a:spLocks noGrp="1"/>
          </p:cNvSpPr>
          <p:nvPr/>
        </p:nvSpPr>
        <p:spPr>
          <a:xfrm>
            <a:off x="5477256" y="1417320"/>
            <a:ext cx="2944368" cy="932688"/>
          </a:xfrm>
          <a:prstGeom prst="rect">
            <a:avLst/>
          </a:prstGeom>
          <a:noFill/>
        </p:spPr>
        <p:txBody>
          <a:bodyPr wrap="square" lIns="0" tIns="0" rIns="0" bIns="0" anchor="ctr"/>
          <a:lstStyle/>
          <a:p>
            <a:pPr marL="0" indent="0">
              <a:lnSpc>
                <a:spcPct val="112000"/>
              </a:lnSpc>
              <a:buNone/>
            </a:pPr>
            <a:r>
              <a:rPr sz="1000">
                <a:solidFill>
                  <a:srgbClr val="E8EEF6"/>
                </a:solidFill>
                <a:latin typeface="Calibri"/>
                <a:ea typeface="Calibri"/>
                <a:cs typeface="Calibri"/>
              </a:rPr>
              <a:t>Reconocer las diferencias entre las propuestas que define el programa del curso.</a:t>
            </a:r>
            <a:endParaRPr sz="1000"/>
          </a:p>
        </p:txBody>
      </p:sp>
      <p:sp>
        <p:nvSpPr>
          <p:cNvPr id="15" name="Shape 13">
            <a:extLst>
              <a:ext uri="{FF2B5EF4-FFF2-40B4-BE49-F238E27FC236}">
                <a16:creationId xmlns:a16="http://schemas.microsoft.com/office/drawing/2014/main" id="{C3914E09-BEA5-4D89-8E12-34EBF23B208F}"/>
              </a:ext>
            </a:extLst>
          </p:cNvPr>
          <p:cNvSpPr>
            <a:spLocks noGrp="1"/>
          </p:cNvSpPr>
          <p:nvPr/>
        </p:nvSpPr>
        <p:spPr>
          <a:xfrm>
            <a:off x="502920" y="2441448"/>
            <a:ext cx="3931920" cy="932688"/>
          </a:xfrm>
          <a:prstGeom prst="roundRect">
            <a:avLst>
              <a:gd name="adj" fmla="val 4902"/>
            </a:avLst>
          </a:prstGeom>
          <a:solidFill>
            <a:srgbClr val="1A2434"/>
          </a:solidFill>
          <a:ln w="12700">
            <a:solidFill>
              <a:srgbClr val="3DDC97"/>
            </a:solidFill>
            <a:prstDash val="solid"/>
          </a:ln>
        </p:spPr>
        <p:txBody>
          <a:bodyPr/>
          <a:lstStyle/>
          <a:p>
            <a:endParaRPr/>
          </a:p>
        </p:txBody>
      </p:sp>
      <p:sp>
        <p:nvSpPr>
          <p:cNvPr id="16" name="Shape 14">
            <a:extLst>
              <a:ext uri="{FF2B5EF4-FFF2-40B4-BE49-F238E27FC236}">
                <a16:creationId xmlns:a16="http://schemas.microsoft.com/office/drawing/2014/main" id="{BB4CE611-EF93-4B00-B847-FB824622E066}"/>
              </a:ext>
            </a:extLst>
          </p:cNvPr>
          <p:cNvSpPr>
            <a:spLocks noGrp="1"/>
          </p:cNvSpPr>
          <p:nvPr/>
        </p:nvSpPr>
        <p:spPr>
          <a:xfrm>
            <a:off x="722376" y="2706624"/>
            <a:ext cx="402336" cy="402336"/>
          </a:xfrm>
          <a:prstGeom prst="ellipse">
            <a:avLst/>
          </a:prstGeom>
          <a:solidFill>
            <a:srgbClr val="132A24"/>
          </a:solidFill>
          <a:ln w="12700">
            <a:solidFill>
              <a:srgbClr val="3DDC97"/>
            </a:solidFill>
            <a:prstDash val="solid"/>
          </a:ln>
        </p:spPr>
        <p:txBody>
          <a:bodyPr/>
          <a:lstStyle/>
          <a:p>
            <a:endParaRPr/>
          </a:p>
        </p:txBody>
      </p:sp>
      <p:sp>
        <p:nvSpPr>
          <p:cNvPr id="17" name="Text 15">
            <a:extLst>
              <a:ext uri="{FF2B5EF4-FFF2-40B4-BE49-F238E27FC236}">
                <a16:creationId xmlns:a16="http://schemas.microsoft.com/office/drawing/2014/main" id="{E3CA0FE3-4D0D-4148-96F4-52643368908C}"/>
              </a:ext>
            </a:extLst>
          </p:cNvPr>
          <p:cNvSpPr>
            <a:spLocks noGrp="1"/>
          </p:cNvSpPr>
          <p:nvPr/>
        </p:nvSpPr>
        <p:spPr>
          <a:xfrm>
            <a:off x="722376" y="2706624"/>
            <a:ext cx="402336" cy="402336"/>
          </a:xfrm>
          <a:prstGeom prst="rect">
            <a:avLst/>
          </a:prstGeom>
          <a:noFill/>
        </p:spPr>
        <p:txBody>
          <a:bodyPr wrap="square" lIns="0" tIns="0" rIns="0" bIns="0" anchor="ctr"/>
          <a:lstStyle/>
          <a:p>
            <a:pPr marL="0" indent="0" algn="ctr">
              <a:buNone/>
            </a:pPr>
            <a:r>
              <a:rPr sz="1100" b="1">
                <a:solidFill>
                  <a:srgbClr val="3DDC97"/>
                </a:solidFill>
                <a:latin typeface="Arial"/>
                <a:ea typeface="Arial"/>
                <a:cs typeface="Arial"/>
              </a:rPr>
              <a:t>03</a:t>
            </a:r>
            <a:endParaRPr sz="1100"/>
          </a:p>
        </p:txBody>
      </p:sp>
      <p:sp>
        <p:nvSpPr>
          <p:cNvPr id="18" name="Text 16">
            <a:extLst>
              <a:ext uri="{FF2B5EF4-FFF2-40B4-BE49-F238E27FC236}">
                <a16:creationId xmlns:a16="http://schemas.microsoft.com/office/drawing/2014/main" id="{3EA61C5A-05E0-460C-B39C-E737C8019665}"/>
              </a:ext>
            </a:extLst>
          </p:cNvPr>
          <p:cNvSpPr>
            <a:spLocks noGrp="1"/>
          </p:cNvSpPr>
          <p:nvPr/>
        </p:nvSpPr>
        <p:spPr>
          <a:xfrm>
            <a:off x="1271016" y="2441448"/>
            <a:ext cx="2944368" cy="932688"/>
          </a:xfrm>
          <a:prstGeom prst="rect">
            <a:avLst/>
          </a:prstGeom>
          <a:noFill/>
        </p:spPr>
        <p:txBody>
          <a:bodyPr wrap="square" lIns="0" tIns="0" rIns="0" bIns="0" anchor="ctr"/>
          <a:lstStyle/>
          <a:p>
            <a:pPr marL="0" indent="0">
              <a:lnSpc>
                <a:spcPct val="112000"/>
              </a:lnSpc>
              <a:buNone/>
            </a:pPr>
            <a:r>
              <a:rPr sz="1000">
                <a:solidFill>
                  <a:srgbClr val="E8EEF6"/>
                </a:solidFill>
                <a:latin typeface="Calibri"/>
                <a:ea typeface="Calibri"/>
                <a:cs typeface="Calibri"/>
              </a:rPr>
              <a:t>Distinguir el diseño de datos, la navegación, la interfaz y la implementación.</a:t>
            </a:r>
            <a:endParaRPr sz="1000"/>
          </a:p>
        </p:txBody>
      </p:sp>
      <p:sp>
        <p:nvSpPr>
          <p:cNvPr id="19" name="Shape 17">
            <a:extLst>
              <a:ext uri="{FF2B5EF4-FFF2-40B4-BE49-F238E27FC236}">
                <a16:creationId xmlns:a16="http://schemas.microsoft.com/office/drawing/2014/main" id="{0B110399-8B53-49AF-B32D-9C9AF1C75DDD}"/>
              </a:ext>
            </a:extLst>
          </p:cNvPr>
          <p:cNvSpPr>
            <a:spLocks noGrp="1"/>
          </p:cNvSpPr>
          <p:nvPr/>
        </p:nvSpPr>
        <p:spPr>
          <a:xfrm>
            <a:off x="4709160" y="2441448"/>
            <a:ext cx="3931920" cy="932688"/>
          </a:xfrm>
          <a:prstGeom prst="roundRect">
            <a:avLst>
              <a:gd name="adj" fmla="val 4902"/>
            </a:avLst>
          </a:prstGeom>
          <a:solidFill>
            <a:srgbClr val="1A2434"/>
          </a:solidFill>
          <a:ln w="12700">
            <a:solidFill>
              <a:srgbClr val="56C7F2"/>
            </a:solidFill>
            <a:prstDash val="solid"/>
          </a:ln>
        </p:spPr>
        <p:txBody>
          <a:bodyPr/>
          <a:lstStyle/>
          <a:p>
            <a:endParaRPr/>
          </a:p>
        </p:txBody>
      </p:sp>
      <p:sp>
        <p:nvSpPr>
          <p:cNvPr id="20" name="Shape 18">
            <a:extLst>
              <a:ext uri="{FF2B5EF4-FFF2-40B4-BE49-F238E27FC236}">
                <a16:creationId xmlns:a16="http://schemas.microsoft.com/office/drawing/2014/main" id="{8C42B257-B040-402F-A296-083CAA58CE30}"/>
              </a:ext>
            </a:extLst>
          </p:cNvPr>
          <p:cNvSpPr>
            <a:spLocks noGrp="1"/>
          </p:cNvSpPr>
          <p:nvPr/>
        </p:nvSpPr>
        <p:spPr>
          <a:xfrm>
            <a:off x="4928616" y="2706624"/>
            <a:ext cx="402336" cy="402336"/>
          </a:xfrm>
          <a:prstGeom prst="ellipse">
            <a:avLst/>
          </a:prstGeom>
          <a:solidFill>
            <a:srgbClr val="132A24"/>
          </a:solidFill>
          <a:ln w="12700">
            <a:solidFill>
              <a:srgbClr val="56C7F2"/>
            </a:solidFill>
            <a:prstDash val="solid"/>
          </a:ln>
        </p:spPr>
        <p:txBody>
          <a:bodyPr/>
          <a:lstStyle/>
          <a:p>
            <a:endParaRPr/>
          </a:p>
        </p:txBody>
      </p:sp>
      <p:sp>
        <p:nvSpPr>
          <p:cNvPr id="21" name="Text 19">
            <a:extLst>
              <a:ext uri="{FF2B5EF4-FFF2-40B4-BE49-F238E27FC236}">
                <a16:creationId xmlns:a16="http://schemas.microsoft.com/office/drawing/2014/main" id="{26CDCCE2-2D32-4F88-9DA2-B2F12D4862B9}"/>
              </a:ext>
            </a:extLst>
          </p:cNvPr>
          <p:cNvSpPr>
            <a:spLocks noGrp="1"/>
          </p:cNvSpPr>
          <p:nvPr/>
        </p:nvSpPr>
        <p:spPr>
          <a:xfrm>
            <a:off x="4928616" y="2706624"/>
            <a:ext cx="402336" cy="402336"/>
          </a:xfrm>
          <a:prstGeom prst="rect">
            <a:avLst/>
          </a:prstGeom>
          <a:noFill/>
        </p:spPr>
        <p:txBody>
          <a:bodyPr wrap="square" lIns="0" tIns="0" rIns="0" bIns="0" anchor="ctr"/>
          <a:lstStyle/>
          <a:p>
            <a:pPr marL="0" indent="0" algn="ctr">
              <a:buNone/>
            </a:pPr>
            <a:r>
              <a:rPr sz="1100" b="1">
                <a:solidFill>
                  <a:srgbClr val="56C7F2"/>
                </a:solidFill>
                <a:latin typeface="Arial"/>
                <a:ea typeface="Arial"/>
                <a:cs typeface="Arial"/>
              </a:rPr>
              <a:t>04</a:t>
            </a:r>
            <a:endParaRPr sz="1100"/>
          </a:p>
        </p:txBody>
      </p:sp>
      <p:sp>
        <p:nvSpPr>
          <p:cNvPr id="22" name="Text 20">
            <a:extLst>
              <a:ext uri="{FF2B5EF4-FFF2-40B4-BE49-F238E27FC236}">
                <a16:creationId xmlns:a16="http://schemas.microsoft.com/office/drawing/2014/main" id="{530AF0BB-6D20-4B8E-AFEB-BF2D2D756A2C}"/>
              </a:ext>
            </a:extLst>
          </p:cNvPr>
          <p:cNvSpPr>
            <a:spLocks noGrp="1"/>
          </p:cNvSpPr>
          <p:nvPr/>
        </p:nvSpPr>
        <p:spPr>
          <a:xfrm>
            <a:off x="5477256" y="2441448"/>
            <a:ext cx="2944368" cy="932688"/>
          </a:xfrm>
          <a:prstGeom prst="rect">
            <a:avLst/>
          </a:prstGeom>
          <a:noFill/>
        </p:spPr>
        <p:txBody>
          <a:bodyPr wrap="square" lIns="0" tIns="0" rIns="0" bIns="0" anchor="ctr"/>
          <a:lstStyle/>
          <a:p>
            <a:pPr marL="0" indent="0">
              <a:lnSpc>
                <a:spcPct val="112000"/>
              </a:lnSpc>
              <a:buNone/>
            </a:pPr>
            <a:r>
              <a:rPr sz="1000">
                <a:solidFill>
                  <a:srgbClr val="E8EEF6"/>
                </a:solidFill>
                <a:latin typeface="Calibri"/>
                <a:ea typeface="Calibri"/>
                <a:cs typeface="Calibri"/>
              </a:rPr>
              <a:t>Interpretar un ejemplo sencillo organizado con las cuatro actividades de OOHDM.</a:t>
            </a:r>
            <a:endParaRPr sz="1000"/>
          </a:p>
        </p:txBody>
      </p:sp>
      <p:sp>
        <p:nvSpPr>
          <p:cNvPr id="23" name="Text 21">
            <a:extLst>
              <a:ext uri="{FF2B5EF4-FFF2-40B4-BE49-F238E27FC236}">
                <a16:creationId xmlns:a16="http://schemas.microsoft.com/office/drawing/2014/main" id="{B863C8A4-E2D9-4BA9-A477-1AAC2BA8D501}"/>
              </a:ext>
            </a:extLst>
          </p:cNvPr>
          <p:cNvSpPr>
            <a:spLocks noGrp="1"/>
          </p:cNvSpPr>
          <p:nvPr/>
        </p:nvSpPr>
        <p:spPr>
          <a:xfrm>
            <a:off x="502920" y="3584448"/>
            <a:ext cx="8138160" cy="182880"/>
          </a:xfrm>
          <a:prstGeom prst="rect">
            <a:avLst/>
          </a:prstGeom>
          <a:noFill/>
        </p:spPr>
        <p:txBody>
          <a:bodyPr wrap="square" lIns="0" tIns="0" rIns="0" bIns="0" anchor="ctr"/>
          <a:lstStyle/>
          <a:p>
            <a:pPr marL="0" indent="0">
              <a:buNone/>
            </a:pPr>
            <a:r>
              <a:rPr sz="850" b="1">
                <a:solidFill>
                  <a:srgbClr val="6C7E96"/>
                </a:solidFill>
                <a:latin typeface="Arial"/>
                <a:ea typeface="Arial"/>
                <a:cs typeface="Arial"/>
              </a:rPr>
              <a:t>Recorrido de la clase</a:t>
            </a:r>
            <a:endParaRPr sz="850"/>
          </a:p>
        </p:txBody>
      </p:sp>
      <p:sp>
        <p:nvSpPr>
          <p:cNvPr id="24" name="Shape 22">
            <a:extLst>
              <a:ext uri="{FF2B5EF4-FFF2-40B4-BE49-F238E27FC236}">
                <a16:creationId xmlns:a16="http://schemas.microsoft.com/office/drawing/2014/main" id="{6E1131CA-E130-497F-AFDC-C7D29EA76893}"/>
              </a:ext>
            </a:extLst>
          </p:cNvPr>
          <p:cNvSpPr>
            <a:spLocks noGrp="1"/>
          </p:cNvSpPr>
          <p:nvPr/>
        </p:nvSpPr>
        <p:spPr>
          <a:xfrm>
            <a:off x="502920" y="3840480"/>
            <a:ext cx="1508760" cy="329184"/>
          </a:xfrm>
          <a:prstGeom prst="roundRect">
            <a:avLst>
              <a:gd name="adj" fmla="val 33333"/>
            </a:avLst>
          </a:prstGeom>
          <a:solidFill>
            <a:srgbClr val="1A2434"/>
          </a:solidFill>
          <a:ln w="12700">
            <a:solidFill>
              <a:srgbClr val="2B3B52"/>
            </a:solidFill>
            <a:prstDash val="solid"/>
          </a:ln>
        </p:spPr>
        <p:txBody>
          <a:bodyPr/>
          <a:lstStyle/>
          <a:p>
            <a:endParaRPr/>
          </a:p>
        </p:txBody>
      </p:sp>
      <p:sp>
        <p:nvSpPr>
          <p:cNvPr id="25" name="Text 23">
            <a:extLst>
              <a:ext uri="{FF2B5EF4-FFF2-40B4-BE49-F238E27FC236}">
                <a16:creationId xmlns:a16="http://schemas.microsoft.com/office/drawing/2014/main" id="{BFF1829C-D558-42FD-BC27-637F9EABFC0D}"/>
              </a:ext>
            </a:extLst>
          </p:cNvPr>
          <p:cNvSpPr>
            <a:spLocks noGrp="1"/>
          </p:cNvSpPr>
          <p:nvPr/>
        </p:nvSpPr>
        <p:spPr>
          <a:xfrm>
            <a:off x="539496" y="3840480"/>
            <a:ext cx="1435608" cy="329184"/>
          </a:xfrm>
          <a:prstGeom prst="rect">
            <a:avLst/>
          </a:prstGeom>
          <a:noFill/>
        </p:spPr>
        <p:txBody>
          <a:bodyPr wrap="square" lIns="0" tIns="0" rIns="0" bIns="0" anchor="ctr"/>
          <a:lstStyle/>
          <a:p>
            <a:pPr marL="0" indent="0" algn="ctr">
              <a:buNone/>
            </a:pPr>
            <a:r>
              <a:rPr sz="800" b="1">
                <a:solidFill>
                  <a:srgbClr val="E8EEF6"/>
                </a:solidFill>
                <a:latin typeface="Arial"/>
                <a:ea typeface="Arial"/>
                <a:cs typeface="Arial"/>
              </a:rPr>
              <a:t>Panorama</a:t>
            </a:r>
            <a:endParaRPr sz="800"/>
          </a:p>
        </p:txBody>
      </p:sp>
      <p:sp>
        <p:nvSpPr>
          <p:cNvPr id="26" name="Shape 24">
            <a:extLst>
              <a:ext uri="{FF2B5EF4-FFF2-40B4-BE49-F238E27FC236}">
                <a16:creationId xmlns:a16="http://schemas.microsoft.com/office/drawing/2014/main" id="{ED63A1B5-6027-4C89-879E-2F4FFCD0559E}"/>
              </a:ext>
            </a:extLst>
          </p:cNvPr>
          <p:cNvSpPr>
            <a:spLocks noGrp="1"/>
          </p:cNvSpPr>
          <p:nvPr/>
        </p:nvSpPr>
        <p:spPr>
          <a:xfrm>
            <a:off x="2157984" y="3840480"/>
            <a:ext cx="1508760" cy="329184"/>
          </a:xfrm>
          <a:prstGeom prst="roundRect">
            <a:avLst>
              <a:gd name="adj" fmla="val 33333"/>
            </a:avLst>
          </a:prstGeom>
          <a:solidFill>
            <a:srgbClr val="1A2434"/>
          </a:solidFill>
          <a:ln w="12700">
            <a:solidFill>
              <a:srgbClr val="2B3B52"/>
            </a:solidFill>
            <a:prstDash val="solid"/>
          </a:ln>
        </p:spPr>
        <p:txBody>
          <a:bodyPr/>
          <a:lstStyle/>
          <a:p>
            <a:endParaRPr/>
          </a:p>
        </p:txBody>
      </p:sp>
      <p:sp>
        <p:nvSpPr>
          <p:cNvPr id="27" name="Text 25">
            <a:extLst>
              <a:ext uri="{FF2B5EF4-FFF2-40B4-BE49-F238E27FC236}">
                <a16:creationId xmlns:a16="http://schemas.microsoft.com/office/drawing/2014/main" id="{0A2AF434-B506-48C9-9D41-9E4507A12A17}"/>
              </a:ext>
            </a:extLst>
          </p:cNvPr>
          <p:cNvSpPr>
            <a:spLocks noGrp="1"/>
          </p:cNvSpPr>
          <p:nvPr/>
        </p:nvSpPr>
        <p:spPr>
          <a:xfrm>
            <a:off x="2194560" y="3840480"/>
            <a:ext cx="1435608" cy="329184"/>
          </a:xfrm>
          <a:prstGeom prst="rect">
            <a:avLst/>
          </a:prstGeom>
          <a:noFill/>
        </p:spPr>
        <p:txBody>
          <a:bodyPr wrap="square" lIns="0" tIns="0" rIns="0" bIns="0" anchor="ctr"/>
          <a:lstStyle/>
          <a:p>
            <a:pPr marL="0" indent="0" algn="ctr">
              <a:buNone/>
            </a:pPr>
            <a:r>
              <a:rPr sz="800" b="1">
                <a:solidFill>
                  <a:srgbClr val="E8EEF6"/>
                </a:solidFill>
                <a:latin typeface="Arial"/>
                <a:ea typeface="Arial"/>
                <a:cs typeface="Arial"/>
              </a:rPr>
              <a:t>Comparación</a:t>
            </a:r>
            <a:endParaRPr sz="800"/>
          </a:p>
        </p:txBody>
      </p:sp>
      <p:sp>
        <p:nvSpPr>
          <p:cNvPr id="28" name="Shape 26">
            <a:extLst>
              <a:ext uri="{FF2B5EF4-FFF2-40B4-BE49-F238E27FC236}">
                <a16:creationId xmlns:a16="http://schemas.microsoft.com/office/drawing/2014/main" id="{D8E87DAE-FD1A-4C9E-AEAA-45B39CEC38CC}"/>
              </a:ext>
            </a:extLst>
          </p:cNvPr>
          <p:cNvSpPr>
            <a:spLocks noGrp="1"/>
          </p:cNvSpPr>
          <p:nvPr/>
        </p:nvSpPr>
        <p:spPr>
          <a:xfrm>
            <a:off x="3813048" y="3840480"/>
            <a:ext cx="1508760" cy="329184"/>
          </a:xfrm>
          <a:prstGeom prst="roundRect">
            <a:avLst>
              <a:gd name="adj" fmla="val 33333"/>
            </a:avLst>
          </a:prstGeom>
          <a:solidFill>
            <a:srgbClr val="1A2434"/>
          </a:solidFill>
          <a:ln w="12700">
            <a:solidFill>
              <a:srgbClr val="3DDC97"/>
            </a:solidFill>
            <a:prstDash val="solid"/>
          </a:ln>
        </p:spPr>
        <p:txBody>
          <a:bodyPr/>
          <a:lstStyle/>
          <a:p>
            <a:endParaRPr/>
          </a:p>
        </p:txBody>
      </p:sp>
      <p:sp>
        <p:nvSpPr>
          <p:cNvPr id="29" name="Text 27">
            <a:extLst>
              <a:ext uri="{FF2B5EF4-FFF2-40B4-BE49-F238E27FC236}">
                <a16:creationId xmlns:a16="http://schemas.microsoft.com/office/drawing/2014/main" id="{A337C300-BDAF-40BB-8DF8-4DAC5D238382}"/>
              </a:ext>
            </a:extLst>
          </p:cNvPr>
          <p:cNvSpPr>
            <a:spLocks noGrp="1"/>
          </p:cNvSpPr>
          <p:nvPr/>
        </p:nvSpPr>
        <p:spPr>
          <a:xfrm>
            <a:off x="3849624" y="3840480"/>
            <a:ext cx="1435608" cy="329184"/>
          </a:xfrm>
          <a:prstGeom prst="rect">
            <a:avLst/>
          </a:prstGeom>
          <a:noFill/>
        </p:spPr>
        <p:txBody>
          <a:bodyPr wrap="square" lIns="0" tIns="0" rIns="0" bIns="0" anchor="ctr"/>
          <a:lstStyle/>
          <a:p>
            <a:pPr marL="0" indent="0" algn="ctr">
              <a:buNone/>
            </a:pPr>
            <a:r>
              <a:rPr sz="800" b="1">
                <a:solidFill>
                  <a:srgbClr val="3DDC97"/>
                </a:solidFill>
                <a:latin typeface="Arial"/>
                <a:ea typeface="Arial"/>
                <a:cs typeface="Arial"/>
              </a:rPr>
              <a:t>OOHDM</a:t>
            </a:r>
            <a:endParaRPr sz="800"/>
          </a:p>
        </p:txBody>
      </p:sp>
      <p:sp>
        <p:nvSpPr>
          <p:cNvPr id="30" name="Shape 28">
            <a:extLst>
              <a:ext uri="{FF2B5EF4-FFF2-40B4-BE49-F238E27FC236}">
                <a16:creationId xmlns:a16="http://schemas.microsoft.com/office/drawing/2014/main" id="{841D874E-DF8E-4FF3-AF2C-AF90FD65CC0C}"/>
              </a:ext>
            </a:extLst>
          </p:cNvPr>
          <p:cNvSpPr>
            <a:spLocks noGrp="1"/>
          </p:cNvSpPr>
          <p:nvPr/>
        </p:nvSpPr>
        <p:spPr>
          <a:xfrm>
            <a:off x="5468112" y="3840480"/>
            <a:ext cx="1508760" cy="329184"/>
          </a:xfrm>
          <a:prstGeom prst="roundRect">
            <a:avLst>
              <a:gd name="adj" fmla="val 33333"/>
            </a:avLst>
          </a:prstGeom>
          <a:solidFill>
            <a:srgbClr val="1A2434"/>
          </a:solidFill>
          <a:ln w="12700">
            <a:solidFill>
              <a:srgbClr val="3DDC97"/>
            </a:solidFill>
            <a:prstDash val="solid"/>
          </a:ln>
        </p:spPr>
        <p:txBody>
          <a:bodyPr/>
          <a:lstStyle/>
          <a:p>
            <a:endParaRPr/>
          </a:p>
        </p:txBody>
      </p:sp>
      <p:sp>
        <p:nvSpPr>
          <p:cNvPr id="31" name="Text 29">
            <a:extLst>
              <a:ext uri="{FF2B5EF4-FFF2-40B4-BE49-F238E27FC236}">
                <a16:creationId xmlns:a16="http://schemas.microsoft.com/office/drawing/2014/main" id="{EFB39203-EC7E-4679-82D6-6F3D20ECAE08}"/>
              </a:ext>
            </a:extLst>
          </p:cNvPr>
          <p:cNvSpPr>
            <a:spLocks noGrp="1"/>
          </p:cNvSpPr>
          <p:nvPr/>
        </p:nvSpPr>
        <p:spPr>
          <a:xfrm>
            <a:off x="5504688" y="3840480"/>
            <a:ext cx="1435608" cy="329184"/>
          </a:xfrm>
          <a:prstGeom prst="rect">
            <a:avLst/>
          </a:prstGeom>
          <a:noFill/>
        </p:spPr>
        <p:txBody>
          <a:bodyPr wrap="square" lIns="0" tIns="0" rIns="0" bIns="0" anchor="ctr"/>
          <a:lstStyle/>
          <a:p>
            <a:pPr marL="0" indent="0" algn="ctr">
              <a:buNone/>
            </a:pPr>
            <a:r>
              <a:rPr sz="800" b="1">
                <a:solidFill>
                  <a:srgbClr val="3DDC97"/>
                </a:solidFill>
                <a:latin typeface="Arial"/>
                <a:ea typeface="Arial"/>
                <a:cs typeface="Arial"/>
              </a:rPr>
              <a:t>Cuatro actividades</a:t>
            </a:r>
            <a:endParaRPr sz="800"/>
          </a:p>
        </p:txBody>
      </p:sp>
      <p:sp>
        <p:nvSpPr>
          <p:cNvPr id="32" name="Shape 30">
            <a:extLst>
              <a:ext uri="{FF2B5EF4-FFF2-40B4-BE49-F238E27FC236}">
                <a16:creationId xmlns:a16="http://schemas.microsoft.com/office/drawing/2014/main" id="{501A8B1E-84BC-408B-9B08-9F0AD77272E9}"/>
              </a:ext>
            </a:extLst>
          </p:cNvPr>
          <p:cNvSpPr>
            <a:spLocks noGrp="1"/>
          </p:cNvSpPr>
          <p:nvPr/>
        </p:nvSpPr>
        <p:spPr>
          <a:xfrm>
            <a:off x="7123176" y="3840480"/>
            <a:ext cx="1508760" cy="329184"/>
          </a:xfrm>
          <a:prstGeom prst="roundRect">
            <a:avLst>
              <a:gd name="adj" fmla="val 33333"/>
            </a:avLst>
          </a:prstGeom>
          <a:solidFill>
            <a:srgbClr val="1A2434"/>
          </a:solidFill>
          <a:ln w="12700">
            <a:solidFill>
              <a:srgbClr val="3DDC97"/>
            </a:solidFill>
            <a:prstDash val="solid"/>
          </a:ln>
        </p:spPr>
        <p:txBody>
          <a:bodyPr/>
          <a:lstStyle/>
          <a:p>
            <a:endParaRPr/>
          </a:p>
        </p:txBody>
      </p:sp>
      <p:sp>
        <p:nvSpPr>
          <p:cNvPr id="33" name="Text 31">
            <a:extLst>
              <a:ext uri="{FF2B5EF4-FFF2-40B4-BE49-F238E27FC236}">
                <a16:creationId xmlns:a16="http://schemas.microsoft.com/office/drawing/2014/main" id="{638B1FE0-BB31-43D4-A43A-4A828B0F5B23}"/>
              </a:ext>
            </a:extLst>
          </p:cNvPr>
          <p:cNvSpPr>
            <a:spLocks noGrp="1"/>
          </p:cNvSpPr>
          <p:nvPr/>
        </p:nvSpPr>
        <p:spPr>
          <a:xfrm>
            <a:off x="7159752" y="3840480"/>
            <a:ext cx="1435608" cy="329184"/>
          </a:xfrm>
          <a:prstGeom prst="rect">
            <a:avLst/>
          </a:prstGeom>
          <a:noFill/>
        </p:spPr>
        <p:txBody>
          <a:bodyPr wrap="square" lIns="0" tIns="0" rIns="0" bIns="0" anchor="ctr"/>
          <a:lstStyle/>
          <a:p>
            <a:pPr marL="0" indent="0" algn="ctr">
              <a:buNone/>
            </a:pPr>
            <a:r>
              <a:rPr sz="800" b="1">
                <a:solidFill>
                  <a:srgbClr val="3DDC97"/>
                </a:solidFill>
                <a:latin typeface="Arial"/>
                <a:ea typeface="Arial"/>
                <a:cs typeface="Arial"/>
              </a:rPr>
              <a:t>Ejemplo</a:t>
            </a:r>
            <a:endParaRPr sz="800"/>
          </a:p>
        </p:txBody>
      </p:sp>
      <p:sp>
        <p:nvSpPr>
          <p:cNvPr id="34" name="Text 32">
            <a:extLst>
              <a:ext uri="{FF2B5EF4-FFF2-40B4-BE49-F238E27FC236}">
                <a16:creationId xmlns:a16="http://schemas.microsoft.com/office/drawing/2014/main" id="{DBBBAFBF-9C71-41D0-AC13-8A8F6C1C3165}"/>
              </a:ext>
            </a:extLst>
          </p:cNvPr>
          <p:cNvSpPr>
            <a:spLocks noGrp="1"/>
          </p:cNvSpPr>
          <p:nvPr/>
        </p:nvSpPr>
        <p:spPr>
          <a:xfrm>
            <a:off x="521208" y="4315968"/>
            <a:ext cx="8101584" cy="365760"/>
          </a:xfrm>
          <a:prstGeom prst="rect">
            <a:avLst/>
          </a:prstGeom>
          <a:noFill/>
        </p:spPr>
        <p:txBody>
          <a:bodyPr wrap="square" lIns="0" tIns="0" rIns="0" bIns="0" anchor="t"/>
          <a:lstStyle/>
          <a:p>
            <a:pPr marL="0" indent="0">
              <a:lnSpc>
                <a:spcPct val="110000"/>
              </a:lnSpc>
              <a:buNone/>
            </a:pPr>
            <a:r>
              <a:rPr sz="950">
                <a:solidFill>
                  <a:srgbClr val="93A5BD"/>
                </a:solidFill>
                <a:latin typeface="Calibri"/>
                <a:ea typeface="Calibri"/>
                <a:cs typeface="Calibri"/>
              </a:rPr>
              <a:t>La clase desarrolla el panorama completo y usa OOHDM como ejemplo detallado, no como única propuesta.</a:t>
            </a:r>
            <a:endParaRPr sz="950"/>
          </a:p>
        </p:txBody>
      </p:sp>
    </p:spTree>
    <p:extLst>
      <p:ext uri="{BB962C8B-B14F-4D97-AF65-F5344CB8AC3E}">
        <p14:creationId xmlns:p14="http://schemas.microsoft.com/office/powerpoint/2010/main" val="1976748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F3E40F-3337-4BFE-AD98-05096482364E}"/>
              </a:ext>
            </a:extLst>
          </p:cNvPr>
          <p:cNvSpPr>
            <a:spLocks noGrp="1"/>
          </p:cNvSpPr>
          <p:nvPr/>
        </p:nvSpPr>
        <p:spPr>
          <a:xfrm>
            <a:off x="502920" y="365760"/>
            <a:ext cx="896112"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E2962D59-FB6E-4837-927F-680E86EB3825}"/>
              </a:ext>
            </a:extLst>
          </p:cNvPr>
          <p:cNvSpPr>
            <a:spLocks noGrp="1"/>
          </p:cNvSpPr>
          <p:nvPr/>
        </p:nvSpPr>
        <p:spPr>
          <a:xfrm>
            <a:off x="502920" y="365760"/>
            <a:ext cx="896112"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CONCEPTO</a:t>
            </a:r>
            <a:endParaRPr sz="850"/>
          </a:p>
        </p:txBody>
      </p:sp>
      <p:sp>
        <p:nvSpPr>
          <p:cNvPr id="4" name="Text 2">
            <a:extLst>
              <a:ext uri="{FF2B5EF4-FFF2-40B4-BE49-F238E27FC236}">
                <a16:creationId xmlns:a16="http://schemas.microsoft.com/office/drawing/2014/main" id="{302D6EB2-6046-40C3-BFCC-D5A9FABA03B6}"/>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¿Qué es una metodología de desarrollo web?</a:t>
            </a:r>
            <a:endParaRPr sz="2300"/>
          </a:p>
        </p:txBody>
      </p:sp>
      <p:sp>
        <p:nvSpPr>
          <p:cNvPr id="5" name="Text 3">
            <a:extLst>
              <a:ext uri="{FF2B5EF4-FFF2-40B4-BE49-F238E27FC236}">
                <a16:creationId xmlns:a16="http://schemas.microsoft.com/office/drawing/2014/main" id="{E38174C0-4870-4338-A5D0-E56A6DE7BA52}"/>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03 / 24</a:t>
            </a:r>
            <a:endParaRPr sz="800"/>
          </a:p>
        </p:txBody>
      </p:sp>
      <p:sp>
        <p:nvSpPr>
          <p:cNvPr id="6" name="Shape 4">
            <a:extLst>
              <a:ext uri="{FF2B5EF4-FFF2-40B4-BE49-F238E27FC236}">
                <a16:creationId xmlns:a16="http://schemas.microsoft.com/office/drawing/2014/main" id="{B755CF50-257A-44B3-9561-7BD2AA2C42A3}"/>
              </a:ext>
            </a:extLst>
          </p:cNvPr>
          <p:cNvSpPr>
            <a:spLocks noGrp="1"/>
          </p:cNvSpPr>
          <p:nvPr/>
        </p:nvSpPr>
        <p:spPr>
          <a:xfrm>
            <a:off x="502920" y="1188720"/>
            <a:ext cx="8138160" cy="731520"/>
          </a:xfrm>
          <a:prstGeom prst="roundRect">
            <a:avLst>
              <a:gd name="adj" fmla="val 6250"/>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42FA941D-8DCF-4538-BAB5-D856A30030E4}"/>
              </a:ext>
            </a:extLst>
          </p:cNvPr>
          <p:cNvSpPr>
            <a:spLocks noGrp="1"/>
          </p:cNvSpPr>
          <p:nvPr/>
        </p:nvSpPr>
        <p:spPr>
          <a:xfrm>
            <a:off x="731520" y="1280160"/>
            <a:ext cx="7680960" cy="201168"/>
          </a:xfrm>
          <a:prstGeom prst="rect">
            <a:avLst/>
          </a:prstGeom>
          <a:noFill/>
        </p:spPr>
        <p:txBody>
          <a:bodyPr wrap="square" lIns="0" tIns="0" rIns="0" bIns="0" anchor="ctr"/>
          <a:lstStyle/>
          <a:p>
            <a:pPr marL="0" indent="0">
              <a:buNone/>
            </a:pPr>
            <a:r>
              <a:rPr sz="1150" b="1">
                <a:solidFill>
                  <a:srgbClr val="3DDC97"/>
                </a:solidFill>
                <a:latin typeface="Arial"/>
                <a:ea typeface="Arial"/>
                <a:cs typeface="Arial"/>
              </a:rPr>
              <a:t>Definición operativa</a:t>
            </a:r>
            <a:endParaRPr sz="1150"/>
          </a:p>
        </p:txBody>
      </p:sp>
      <p:sp>
        <p:nvSpPr>
          <p:cNvPr id="8" name="Text 6">
            <a:extLst>
              <a:ext uri="{FF2B5EF4-FFF2-40B4-BE49-F238E27FC236}">
                <a16:creationId xmlns:a16="http://schemas.microsoft.com/office/drawing/2014/main" id="{6D1744BB-E400-42D8-9380-417A16E8DC1F}"/>
              </a:ext>
            </a:extLst>
          </p:cNvPr>
          <p:cNvSpPr>
            <a:spLocks noGrp="1"/>
          </p:cNvSpPr>
          <p:nvPr/>
        </p:nvSpPr>
        <p:spPr>
          <a:xfrm>
            <a:off x="731520" y="1517904"/>
            <a:ext cx="7680960" cy="329184"/>
          </a:xfrm>
          <a:prstGeom prst="rect">
            <a:avLst/>
          </a:prstGeom>
          <a:noFill/>
        </p:spPr>
        <p:txBody>
          <a:bodyPr wrap="square" lIns="0" tIns="0" rIns="0" bIns="0" anchor="t"/>
          <a:lstStyle/>
          <a:p>
            <a:pPr marL="0" indent="0">
              <a:lnSpc>
                <a:spcPct val="110000"/>
              </a:lnSpc>
              <a:buNone/>
            </a:pPr>
            <a:r>
              <a:rPr sz="1050">
                <a:solidFill>
                  <a:srgbClr val="E8EEF6"/>
                </a:solidFill>
                <a:latin typeface="Calibri"/>
                <a:ea typeface="Calibri"/>
                <a:cs typeface="Calibri"/>
              </a:rPr>
              <a:t>Conjunto ordenado de actividades, modelos y criterios de decisión que guía la construcción de una aplicación web: establece qué se decide primero, con qué representación queda registrada esa decisión y cómo se comprueba que el resultado la respeta.</a:t>
            </a:r>
            <a:endParaRPr sz="1050"/>
          </a:p>
        </p:txBody>
      </p:sp>
      <p:sp>
        <p:nvSpPr>
          <p:cNvPr id="9" name="Shape 7">
            <a:extLst>
              <a:ext uri="{FF2B5EF4-FFF2-40B4-BE49-F238E27FC236}">
                <a16:creationId xmlns:a16="http://schemas.microsoft.com/office/drawing/2014/main" id="{3AC63587-A02E-4175-AF33-DB7B51D7E996}"/>
              </a:ext>
            </a:extLst>
          </p:cNvPr>
          <p:cNvSpPr>
            <a:spLocks noGrp="1"/>
          </p:cNvSpPr>
          <p:nvPr/>
        </p:nvSpPr>
        <p:spPr>
          <a:xfrm>
            <a:off x="502920" y="2084832"/>
            <a:ext cx="2615184" cy="1664208"/>
          </a:xfrm>
          <a:prstGeom prst="roundRect">
            <a:avLst>
              <a:gd name="adj" fmla="val 2747"/>
            </a:avLst>
          </a:prstGeom>
          <a:solidFill>
            <a:srgbClr val="1A2434"/>
          </a:solidFill>
          <a:ln w="12700">
            <a:solidFill>
              <a:srgbClr val="3DDC97"/>
            </a:solidFill>
            <a:prstDash val="solid"/>
          </a:ln>
        </p:spPr>
        <p:txBody>
          <a:bodyPr/>
          <a:lstStyle/>
          <a:p>
            <a:endParaRPr/>
          </a:p>
        </p:txBody>
      </p:sp>
      <p:sp>
        <p:nvSpPr>
          <p:cNvPr id="10" name="Text 8">
            <a:extLst>
              <a:ext uri="{FF2B5EF4-FFF2-40B4-BE49-F238E27FC236}">
                <a16:creationId xmlns:a16="http://schemas.microsoft.com/office/drawing/2014/main" id="{73FF00F4-F81F-4365-8C21-B25FC31FBF05}"/>
              </a:ext>
            </a:extLst>
          </p:cNvPr>
          <p:cNvSpPr>
            <a:spLocks noGrp="1"/>
          </p:cNvSpPr>
          <p:nvPr/>
        </p:nvSpPr>
        <p:spPr>
          <a:xfrm>
            <a:off x="649224" y="2203704"/>
            <a:ext cx="2322576" cy="237744"/>
          </a:xfrm>
          <a:prstGeom prst="rect">
            <a:avLst/>
          </a:prstGeom>
          <a:noFill/>
        </p:spPr>
        <p:txBody>
          <a:bodyPr wrap="square" lIns="0" tIns="0" rIns="0" bIns="0" anchor="ctr"/>
          <a:lstStyle/>
          <a:p>
            <a:pPr marL="0" indent="0">
              <a:buNone/>
            </a:pPr>
            <a:r>
              <a:rPr sz="1200" b="1">
                <a:solidFill>
                  <a:srgbClr val="3DDC97"/>
                </a:solidFill>
                <a:latin typeface="Arial"/>
                <a:ea typeface="Arial"/>
                <a:cs typeface="Arial"/>
              </a:rPr>
              <a:t>Metodología</a:t>
            </a:r>
            <a:endParaRPr sz="1200"/>
          </a:p>
        </p:txBody>
      </p:sp>
      <p:sp>
        <p:nvSpPr>
          <p:cNvPr id="11" name="Text 9">
            <a:extLst>
              <a:ext uri="{FF2B5EF4-FFF2-40B4-BE49-F238E27FC236}">
                <a16:creationId xmlns:a16="http://schemas.microsoft.com/office/drawing/2014/main" id="{7D32DA3A-C946-4234-8E34-7F6A8890FBD4}"/>
              </a:ext>
            </a:extLst>
          </p:cNvPr>
          <p:cNvSpPr>
            <a:spLocks noGrp="1"/>
          </p:cNvSpPr>
          <p:nvPr/>
        </p:nvSpPr>
        <p:spPr>
          <a:xfrm>
            <a:off x="649224" y="2478024"/>
            <a:ext cx="2322576" cy="1161288"/>
          </a:xfrm>
          <a:prstGeom prst="rect">
            <a:avLst/>
          </a:prstGeom>
          <a:noFill/>
        </p:spPr>
        <p:txBody>
          <a:bodyPr wrap="square" lIns="0" tIns="0" rIns="0" bIns="0" anchor="t"/>
          <a:lstStyle/>
          <a:p>
            <a:pPr marL="0" indent="0">
              <a:lnSpc>
                <a:spcPct val="112000"/>
              </a:lnSpc>
              <a:buNone/>
            </a:pPr>
            <a:r>
              <a:rPr sz="950">
                <a:solidFill>
                  <a:srgbClr val="E8EEF6"/>
                </a:solidFill>
                <a:latin typeface="Calibri"/>
                <a:ea typeface="Calibri"/>
                <a:cs typeface="Calibri"/>
              </a:rPr>
              <a:t>Ordena decisiones y productos de trabajo. Responde a «en qué orden decido y qué documento».</a:t>
            </a:r>
            <a:endParaRPr sz="950"/>
          </a:p>
          <a:p>
            <a:pPr marL="0" indent="0">
              <a:lnSpc>
                <a:spcPct val="112000"/>
              </a:lnSpc>
              <a:buNone/>
            </a:pPr>
            <a:endParaRPr sz="950"/>
          </a:p>
          <a:p>
            <a:pPr marL="0" indent="0">
              <a:lnSpc>
                <a:spcPct val="112000"/>
              </a:lnSpc>
              <a:buNone/>
            </a:pPr>
            <a:r>
              <a:rPr sz="950">
                <a:solidFill>
                  <a:srgbClr val="E8EEF6"/>
                </a:solidFill>
                <a:latin typeface="Calibri"/>
                <a:ea typeface="Calibri"/>
                <a:cs typeface="Calibri"/>
              </a:rPr>
              <a:t>Ejemplo: OOHDM pide describir el contenido antes de definir el recorrido del usuario.</a:t>
            </a:r>
            <a:endParaRPr sz="950"/>
          </a:p>
        </p:txBody>
      </p:sp>
      <p:sp>
        <p:nvSpPr>
          <p:cNvPr id="12" name="Shape 10">
            <a:extLst>
              <a:ext uri="{FF2B5EF4-FFF2-40B4-BE49-F238E27FC236}">
                <a16:creationId xmlns:a16="http://schemas.microsoft.com/office/drawing/2014/main" id="{22E63112-FD6D-4604-94EC-CE54F5925816}"/>
              </a:ext>
            </a:extLst>
          </p:cNvPr>
          <p:cNvSpPr>
            <a:spLocks noGrp="1"/>
          </p:cNvSpPr>
          <p:nvPr/>
        </p:nvSpPr>
        <p:spPr>
          <a:xfrm>
            <a:off x="3264408" y="2084832"/>
            <a:ext cx="2615184" cy="1664208"/>
          </a:xfrm>
          <a:prstGeom prst="roundRect">
            <a:avLst>
              <a:gd name="adj" fmla="val 2747"/>
            </a:avLst>
          </a:prstGeom>
          <a:solidFill>
            <a:srgbClr val="1A2434"/>
          </a:solidFill>
          <a:ln w="12700">
            <a:solidFill>
              <a:srgbClr val="56C7F2"/>
            </a:solidFill>
            <a:prstDash val="solid"/>
          </a:ln>
        </p:spPr>
        <p:txBody>
          <a:bodyPr/>
          <a:lstStyle/>
          <a:p>
            <a:endParaRPr/>
          </a:p>
        </p:txBody>
      </p:sp>
      <p:sp>
        <p:nvSpPr>
          <p:cNvPr id="13" name="Text 11">
            <a:extLst>
              <a:ext uri="{FF2B5EF4-FFF2-40B4-BE49-F238E27FC236}">
                <a16:creationId xmlns:a16="http://schemas.microsoft.com/office/drawing/2014/main" id="{85A6D505-E47D-4B83-BA88-8529AD5236CC}"/>
              </a:ext>
            </a:extLst>
          </p:cNvPr>
          <p:cNvSpPr>
            <a:spLocks noGrp="1"/>
          </p:cNvSpPr>
          <p:nvPr/>
        </p:nvSpPr>
        <p:spPr>
          <a:xfrm>
            <a:off x="3410712" y="2203704"/>
            <a:ext cx="2322576" cy="237744"/>
          </a:xfrm>
          <a:prstGeom prst="rect">
            <a:avLst/>
          </a:prstGeom>
          <a:noFill/>
        </p:spPr>
        <p:txBody>
          <a:bodyPr wrap="square" lIns="0" tIns="0" rIns="0" bIns="0" anchor="ctr"/>
          <a:lstStyle/>
          <a:p>
            <a:pPr marL="0" indent="0">
              <a:buNone/>
            </a:pPr>
            <a:r>
              <a:rPr sz="1200" b="1">
                <a:solidFill>
                  <a:srgbClr val="56C7F2"/>
                </a:solidFill>
                <a:latin typeface="Arial"/>
                <a:ea typeface="Arial"/>
                <a:cs typeface="Arial"/>
              </a:rPr>
              <a:t>Lenguaje</a:t>
            </a:r>
            <a:endParaRPr sz="1200"/>
          </a:p>
        </p:txBody>
      </p:sp>
      <p:sp>
        <p:nvSpPr>
          <p:cNvPr id="14" name="Text 12">
            <a:extLst>
              <a:ext uri="{FF2B5EF4-FFF2-40B4-BE49-F238E27FC236}">
                <a16:creationId xmlns:a16="http://schemas.microsoft.com/office/drawing/2014/main" id="{449E98C7-3F97-47EC-98DD-BCB5A9FDF607}"/>
              </a:ext>
            </a:extLst>
          </p:cNvPr>
          <p:cNvSpPr>
            <a:spLocks noGrp="1"/>
          </p:cNvSpPr>
          <p:nvPr/>
        </p:nvSpPr>
        <p:spPr>
          <a:xfrm>
            <a:off x="3410712" y="2478024"/>
            <a:ext cx="2322576" cy="1161288"/>
          </a:xfrm>
          <a:prstGeom prst="rect">
            <a:avLst/>
          </a:prstGeom>
          <a:noFill/>
        </p:spPr>
        <p:txBody>
          <a:bodyPr wrap="square" lIns="0" tIns="0" rIns="0" bIns="0" anchor="t"/>
          <a:lstStyle/>
          <a:p>
            <a:pPr marL="0" indent="0">
              <a:lnSpc>
                <a:spcPct val="112000"/>
              </a:lnSpc>
              <a:buNone/>
            </a:pPr>
            <a:r>
              <a:rPr sz="950" dirty="0" err="1">
                <a:solidFill>
                  <a:srgbClr val="E8EEF6"/>
                </a:solidFill>
                <a:latin typeface="Calibri"/>
                <a:ea typeface="Calibri"/>
                <a:cs typeface="Calibri"/>
              </a:rPr>
              <a:t>Expresa</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una</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solución</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ya</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decidida</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Responde</a:t>
            </a:r>
            <a:r>
              <a:rPr sz="950" dirty="0">
                <a:solidFill>
                  <a:srgbClr val="E8EEF6"/>
                </a:solidFill>
                <a:latin typeface="Calibri"/>
                <a:ea typeface="Calibri"/>
                <a:cs typeface="Calibri"/>
              </a:rPr>
              <a:t> a «con </a:t>
            </a:r>
            <a:r>
              <a:rPr sz="950" dirty="0" err="1">
                <a:solidFill>
                  <a:srgbClr val="E8EEF6"/>
                </a:solidFill>
                <a:latin typeface="Calibri"/>
                <a:ea typeface="Calibri"/>
                <a:cs typeface="Calibri"/>
              </a:rPr>
              <a:t>qué</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sintaxis</a:t>
            </a:r>
            <a:r>
              <a:rPr sz="950" dirty="0">
                <a:solidFill>
                  <a:srgbClr val="E8EEF6"/>
                </a:solidFill>
                <a:latin typeface="Calibri"/>
                <a:ea typeface="Calibri"/>
                <a:cs typeface="Calibri"/>
              </a:rPr>
              <a:t> lo </a:t>
            </a:r>
            <a:r>
              <a:rPr sz="950" dirty="0" err="1">
                <a:solidFill>
                  <a:srgbClr val="E8EEF6"/>
                </a:solidFill>
                <a:latin typeface="Calibri"/>
                <a:ea typeface="Calibri"/>
                <a:cs typeface="Calibri"/>
              </a:rPr>
              <a:t>escribo</a:t>
            </a:r>
            <a:r>
              <a:rPr sz="950" dirty="0">
                <a:solidFill>
                  <a:srgbClr val="E8EEF6"/>
                </a:solidFill>
                <a:latin typeface="Calibri"/>
                <a:ea typeface="Calibri"/>
                <a:cs typeface="Calibri"/>
              </a:rPr>
              <a:t>».</a:t>
            </a:r>
            <a:endParaRPr sz="950" dirty="0"/>
          </a:p>
          <a:p>
            <a:pPr marL="0" indent="0">
              <a:lnSpc>
                <a:spcPct val="112000"/>
              </a:lnSpc>
              <a:buNone/>
            </a:pPr>
            <a:endParaRPr sz="950" dirty="0"/>
          </a:p>
          <a:p>
            <a:pPr marL="0" indent="0">
              <a:lnSpc>
                <a:spcPct val="112000"/>
              </a:lnSpc>
              <a:buNone/>
            </a:pPr>
            <a:r>
              <a:rPr sz="950" dirty="0" err="1">
                <a:solidFill>
                  <a:srgbClr val="E8EEF6"/>
                </a:solidFill>
                <a:latin typeface="Calibri"/>
                <a:ea typeface="Calibri"/>
                <a:cs typeface="Calibri"/>
              </a:rPr>
              <a:t>Ejemplo</a:t>
            </a:r>
            <a:r>
              <a:rPr sz="950" dirty="0">
                <a:solidFill>
                  <a:srgbClr val="E8EEF6"/>
                </a:solidFill>
                <a:latin typeface="Calibri"/>
                <a:ea typeface="Calibri"/>
                <a:cs typeface="Calibri"/>
              </a:rPr>
              <a:t>: SQL y JavaScript. </a:t>
            </a:r>
            <a:r>
              <a:rPr sz="950" dirty="0" err="1">
                <a:solidFill>
                  <a:srgbClr val="E8EEF6"/>
                </a:solidFill>
                <a:latin typeface="Calibri"/>
                <a:ea typeface="Calibri"/>
                <a:cs typeface="Calibri"/>
              </a:rPr>
              <a:t>Ninguno</a:t>
            </a:r>
            <a:r>
              <a:rPr sz="950" dirty="0">
                <a:solidFill>
                  <a:srgbClr val="E8EEF6"/>
                </a:solidFill>
                <a:latin typeface="Calibri"/>
                <a:ea typeface="Calibri"/>
                <a:cs typeface="Calibri"/>
              </a:rPr>
              <a:t> indica </a:t>
            </a:r>
            <a:r>
              <a:rPr sz="950" dirty="0" err="1">
                <a:solidFill>
                  <a:srgbClr val="E8EEF6"/>
                </a:solidFill>
                <a:latin typeface="Calibri"/>
                <a:ea typeface="Calibri"/>
                <a:cs typeface="Calibri"/>
              </a:rPr>
              <a:t>qué</a:t>
            </a:r>
            <a:r>
              <a:rPr sz="950" dirty="0">
                <a:solidFill>
                  <a:srgbClr val="E8EEF6"/>
                </a:solidFill>
                <a:latin typeface="Calibri"/>
                <a:ea typeface="Calibri"/>
                <a:cs typeface="Calibri"/>
              </a:rPr>
              <a:t> </a:t>
            </a:r>
            <a:r>
              <a:rPr sz="950" dirty="0" err="1">
                <a:solidFill>
                  <a:srgbClr val="E8EEF6"/>
                </a:solidFill>
                <a:latin typeface="Calibri"/>
                <a:ea typeface="Calibri"/>
                <a:cs typeface="Calibri"/>
              </a:rPr>
              <a:t>modelar</a:t>
            </a:r>
            <a:r>
              <a:rPr sz="950" dirty="0">
                <a:solidFill>
                  <a:srgbClr val="E8EEF6"/>
                </a:solidFill>
                <a:latin typeface="Calibri"/>
                <a:ea typeface="Calibri"/>
                <a:cs typeface="Calibri"/>
              </a:rPr>
              <a:t> primero.</a:t>
            </a:r>
            <a:endParaRPr sz="950" dirty="0"/>
          </a:p>
        </p:txBody>
      </p:sp>
      <p:sp>
        <p:nvSpPr>
          <p:cNvPr id="15" name="Shape 13">
            <a:extLst>
              <a:ext uri="{FF2B5EF4-FFF2-40B4-BE49-F238E27FC236}">
                <a16:creationId xmlns:a16="http://schemas.microsoft.com/office/drawing/2014/main" id="{F4C5D35B-918C-4353-880A-B2972920B6F4}"/>
              </a:ext>
            </a:extLst>
          </p:cNvPr>
          <p:cNvSpPr>
            <a:spLocks noGrp="1"/>
          </p:cNvSpPr>
          <p:nvPr/>
        </p:nvSpPr>
        <p:spPr>
          <a:xfrm>
            <a:off x="6025896" y="2084832"/>
            <a:ext cx="2615184" cy="1664208"/>
          </a:xfrm>
          <a:prstGeom prst="roundRect">
            <a:avLst>
              <a:gd name="adj" fmla="val 2747"/>
            </a:avLst>
          </a:prstGeom>
          <a:solidFill>
            <a:srgbClr val="1A2434"/>
          </a:solidFill>
          <a:ln w="12700">
            <a:solidFill>
              <a:srgbClr val="FFB86C"/>
            </a:solidFill>
            <a:prstDash val="solid"/>
          </a:ln>
        </p:spPr>
        <p:txBody>
          <a:bodyPr/>
          <a:lstStyle/>
          <a:p>
            <a:endParaRPr/>
          </a:p>
        </p:txBody>
      </p:sp>
      <p:sp>
        <p:nvSpPr>
          <p:cNvPr id="16" name="Text 14">
            <a:extLst>
              <a:ext uri="{FF2B5EF4-FFF2-40B4-BE49-F238E27FC236}">
                <a16:creationId xmlns:a16="http://schemas.microsoft.com/office/drawing/2014/main" id="{4A2F0405-92DF-4C89-B851-3807A3A4ED3A}"/>
              </a:ext>
            </a:extLst>
          </p:cNvPr>
          <p:cNvSpPr>
            <a:spLocks noGrp="1"/>
          </p:cNvSpPr>
          <p:nvPr/>
        </p:nvSpPr>
        <p:spPr>
          <a:xfrm>
            <a:off x="6172200" y="2203704"/>
            <a:ext cx="2322576" cy="237744"/>
          </a:xfrm>
          <a:prstGeom prst="rect">
            <a:avLst/>
          </a:prstGeom>
          <a:noFill/>
        </p:spPr>
        <p:txBody>
          <a:bodyPr wrap="square" lIns="0" tIns="0" rIns="0" bIns="0" anchor="ctr"/>
          <a:lstStyle/>
          <a:p>
            <a:pPr marL="0" indent="0">
              <a:buNone/>
            </a:pPr>
            <a:r>
              <a:rPr sz="1200" b="1">
                <a:solidFill>
                  <a:srgbClr val="FFB86C"/>
                </a:solidFill>
                <a:latin typeface="Arial"/>
                <a:ea typeface="Arial"/>
                <a:cs typeface="Arial"/>
              </a:rPr>
              <a:t>Herramienta</a:t>
            </a:r>
            <a:endParaRPr sz="1200"/>
          </a:p>
        </p:txBody>
      </p:sp>
      <p:sp>
        <p:nvSpPr>
          <p:cNvPr id="17" name="Text 15">
            <a:extLst>
              <a:ext uri="{FF2B5EF4-FFF2-40B4-BE49-F238E27FC236}">
                <a16:creationId xmlns:a16="http://schemas.microsoft.com/office/drawing/2014/main" id="{BA664D37-7E60-45D1-A47B-04D2A79DCFE4}"/>
              </a:ext>
            </a:extLst>
          </p:cNvPr>
          <p:cNvSpPr>
            <a:spLocks noGrp="1"/>
          </p:cNvSpPr>
          <p:nvPr/>
        </p:nvSpPr>
        <p:spPr>
          <a:xfrm>
            <a:off x="6172200" y="2478024"/>
            <a:ext cx="2322576" cy="1161288"/>
          </a:xfrm>
          <a:prstGeom prst="rect">
            <a:avLst/>
          </a:prstGeom>
          <a:noFill/>
        </p:spPr>
        <p:txBody>
          <a:bodyPr wrap="square" lIns="0" tIns="0" rIns="0" bIns="0" anchor="t"/>
          <a:lstStyle/>
          <a:p>
            <a:pPr marL="0" indent="0">
              <a:lnSpc>
                <a:spcPct val="112000"/>
              </a:lnSpc>
              <a:buNone/>
            </a:pPr>
            <a:r>
              <a:rPr sz="950">
                <a:solidFill>
                  <a:srgbClr val="E8EEF6"/>
                </a:solidFill>
                <a:latin typeface="Calibri"/>
                <a:ea typeface="Calibri"/>
                <a:cs typeface="Calibri"/>
              </a:rPr>
              <a:t>Ejecuta o soporta el trabajo. Responde a «con qué lo construyo y lo corro».</a:t>
            </a:r>
            <a:endParaRPr sz="950"/>
          </a:p>
          <a:p>
            <a:pPr marL="0" indent="0">
              <a:lnSpc>
                <a:spcPct val="112000"/>
              </a:lnSpc>
              <a:buNone/>
            </a:pPr>
            <a:endParaRPr sz="950"/>
          </a:p>
          <a:p>
            <a:pPr marL="0" indent="0">
              <a:lnSpc>
                <a:spcPct val="112000"/>
              </a:lnSpc>
              <a:buNone/>
            </a:pPr>
            <a:r>
              <a:rPr sz="950">
                <a:solidFill>
                  <a:srgbClr val="E8EEF6"/>
                </a:solidFill>
                <a:latin typeface="Calibri"/>
                <a:ea typeface="Calibri"/>
                <a:cs typeface="Calibri"/>
              </a:rPr>
              <a:t>Ejemplo: Node.js, SQLite, VS Code, Git.</a:t>
            </a:r>
            <a:endParaRPr sz="950"/>
          </a:p>
        </p:txBody>
      </p:sp>
      <p:sp>
        <p:nvSpPr>
          <p:cNvPr id="18" name="Text 16">
            <a:extLst>
              <a:ext uri="{FF2B5EF4-FFF2-40B4-BE49-F238E27FC236}">
                <a16:creationId xmlns:a16="http://schemas.microsoft.com/office/drawing/2014/main" id="{3A81E8F1-E04A-4A1F-A58B-392895F294BE}"/>
              </a:ext>
            </a:extLst>
          </p:cNvPr>
          <p:cNvSpPr>
            <a:spLocks noGrp="1"/>
          </p:cNvSpPr>
          <p:nvPr/>
        </p:nvSpPr>
        <p:spPr>
          <a:xfrm>
            <a:off x="521208" y="3913632"/>
            <a:ext cx="8101584" cy="365760"/>
          </a:xfrm>
          <a:prstGeom prst="rect">
            <a:avLst/>
          </a:prstGeom>
          <a:noFill/>
        </p:spPr>
        <p:txBody>
          <a:bodyPr wrap="square" lIns="0" tIns="0" rIns="0" bIns="0" anchor="t"/>
          <a:lstStyle/>
          <a:p>
            <a:pPr marL="0" indent="0">
              <a:lnSpc>
                <a:spcPct val="110000"/>
              </a:lnSpc>
              <a:buNone/>
            </a:pPr>
            <a:r>
              <a:rPr sz="950">
                <a:solidFill>
                  <a:srgbClr val="93A5BD"/>
                </a:solidFill>
                <a:latin typeface="Calibri"/>
                <a:ea typeface="Calibri"/>
                <a:cs typeface="Calibri"/>
              </a:rPr>
              <a:t>Cambiar de herramienta no cambia las decisiones de diseño. Cambiar de metodología sí cambia el orden en que se toman y los modelos que quedan documentados.</a:t>
            </a:r>
            <a:endParaRPr sz="950"/>
          </a:p>
        </p:txBody>
      </p:sp>
    </p:spTree>
    <p:extLst>
      <p:ext uri="{BB962C8B-B14F-4D97-AF65-F5344CB8AC3E}">
        <p14:creationId xmlns:p14="http://schemas.microsoft.com/office/powerpoint/2010/main" val="722155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BACB30C-AC2E-4316-8F33-21447F137AA8}"/>
              </a:ext>
            </a:extLst>
          </p:cNvPr>
          <p:cNvSpPr>
            <a:spLocks noGrp="1"/>
          </p:cNvSpPr>
          <p:nvPr/>
        </p:nvSpPr>
        <p:spPr>
          <a:xfrm>
            <a:off x="502920" y="365760"/>
            <a:ext cx="896112"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5CFC6DFE-FB64-4750-ABB7-4DADF043DF40}"/>
              </a:ext>
            </a:extLst>
          </p:cNvPr>
          <p:cNvSpPr>
            <a:spLocks noGrp="1"/>
          </p:cNvSpPr>
          <p:nvPr/>
        </p:nvSpPr>
        <p:spPr>
          <a:xfrm>
            <a:off x="502920" y="365760"/>
            <a:ext cx="896112"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ENCUADRE</a:t>
            </a:r>
            <a:endParaRPr sz="850"/>
          </a:p>
        </p:txBody>
      </p:sp>
      <p:sp>
        <p:nvSpPr>
          <p:cNvPr id="4" name="Text 2">
            <a:extLst>
              <a:ext uri="{FF2B5EF4-FFF2-40B4-BE49-F238E27FC236}">
                <a16:creationId xmlns:a16="http://schemas.microsoft.com/office/drawing/2014/main" id="{A8BF41C6-C3C4-496A-A602-6685B08C9850}"/>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¿Qué decisiones necesitamos organizar?</a:t>
            </a:r>
            <a:endParaRPr sz="2300"/>
          </a:p>
        </p:txBody>
      </p:sp>
      <p:sp>
        <p:nvSpPr>
          <p:cNvPr id="5" name="Text 3">
            <a:extLst>
              <a:ext uri="{FF2B5EF4-FFF2-40B4-BE49-F238E27FC236}">
                <a16:creationId xmlns:a16="http://schemas.microsoft.com/office/drawing/2014/main" id="{2CE16254-BBCE-4308-B968-180F8688D74A}"/>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04 / 24</a:t>
            </a:r>
            <a:endParaRPr sz="800"/>
          </a:p>
        </p:txBody>
      </p:sp>
      <p:sp>
        <p:nvSpPr>
          <p:cNvPr id="6" name="Shape 4">
            <a:extLst>
              <a:ext uri="{FF2B5EF4-FFF2-40B4-BE49-F238E27FC236}">
                <a16:creationId xmlns:a16="http://schemas.microsoft.com/office/drawing/2014/main" id="{8E06F4A6-A304-4D7B-B4B1-57F254A609A6}"/>
              </a:ext>
            </a:extLst>
          </p:cNvPr>
          <p:cNvSpPr>
            <a:spLocks noGrp="1"/>
          </p:cNvSpPr>
          <p:nvPr/>
        </p:nvSpPr>
        <p:spPr>
          <a:xfrm>
            <a:off x="502920" y="1207008"/>
            <a:ext cx="2615184" cy="987552"/>
          </a:xfrm>
          <a:prstGeom prst="roundRect">
            <a:avLst>
              <a:gd name="adj" fmla="val 4630"/>
            </a:avLst>
          </a:prstGeom>
          <a:solidFill>
            <a:srgbClr val="1A2434"/>
          </a:solidFill>
          <a:ln w="12700">
            <a:solidFill>
              <a:srgbClr val="3DDC97"/>
            </a:solidFill>
            <a:prstDash val="solid"/>
          </a:ln>
        </p:spPr>
        <p:txBody>
          <a:bodyPr/>
          <a:lstStyle/>
          <a:p>
            <a:endParaRPr sz="1200"/>
          </a:p>
        </p:txBody>
      </p:sp>
      <p:sp>
        <p:nvSpPr>
          <p:cNvPr id="7" name="Text 5">
            <a:extLst>
              <a:ext uri="{FF2B5EF4-FFF2-40B4-BE49-F238E27FC236}">
                <a16:creationId xmlns:a16="http://schemas.microsoft.com/office/drawing/2014/main" id="{A2A13914-2857-44BF-AC28-E746CFA488B4}"/>
              </a:ext>
            </a:extLst>
          </p:cNvPr>
          <p:cNvSpPr>
            <a:spLocks noGrp="1"/>
          </p:cNvSpPr>
          <p:nvPr/>
        </p:nvSpPr>
        <p:spPr>
          <a:xfrm>
            <a:off x="649224" y="1325880"/>
            <a:ext cx="2322576" cy="237744"/>
          </a:xfrm>
          <a:prstGeom prst="rect">
            <a:avLst/>
          </a:prstGeom>
          <a:noFill/>
        </p:spPr>
        <p:txBody>
          <a:bodyPr wrap="square" lIns="0" tIns="0" rIns="0" bIns="0" anchor="ctr"/>
          <a:lstStyle/>
          <a:p>
            <a:pPr marL="0" indent="0">
              <a:buNone/>
            </a:pPr>
            <a:r>
              <a:rPr sz="1200" b="1">
                <a:solidFill>
                  <a:srgbClr val="3DDC97"/>
                </a:solidFill>
                <a:latin typeface="Arial"/>
                <a:ea typeface="Arial"/>
                <a:cs typeface="Arial"/>
              </a:rPr>
              <a:t>Requisitos</a:t>
            </a:r>
            <a:endParaRPr sz="1200"/>
          </a:p>
        </p:txBody>
      </p:sp>
      <p:sp>
        <p:nvSpPr>
          <p:cNvPr id="8" name="Text 6">
            <a:extLst>
              <a:ext uri="{FF2B5EF4-FFF2-40B4-BE49-F238E27FC236}">
                <a16:creationId xmlns:a16="http://schemas.microsoft.com/office/drawing/2014/main" id="{9531FF5B-A546-410B-A532-C6283264F307}"/>
              </a:ext>
            </a:extLst>
          </p:cNvPr>
          <p:cNvSpPr>
            <a:spLocks noGrp="1"/>
          </p:cNvSpPr>
          <p:nvPr/>
        </p:nvSpPr>
        <p:spPr>
          <a:xfrm>
            <a:off x="576072" y="1599429"/>
            <a:ext cx="2468880" cy="484632"/>
          </a:xfrm>
          <a:prstGeom prst="rect">
            <a:avLst/>
          </a:prstGeom>
          <a:noFill/>
        </p:spPr>
        <p:txBody>
          <a:bodyPr wrap="square" lIns="0" tIns="0" rIns="0" bIns="0" anchor="t"/>
          <a:lstStyle/>
          <a:p>
            <a:pPr marL="0" indent="0">
              <a:lnSpc>
                <a:spcPct val="112000"/>
              </a:lnSpc>
              <a:buNone/>
            </a:pP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debe</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permitir</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hacer</a:t>
            </a:r>
            <a:r>
              <a:rPr sz="1200" dirty="0">
                <a:solidFill>
                  <a:srgbClr val="E8EEF6"/>
                </a:solidFill>
                <a:latin typeface="Calibri"/>
                <a:ea typeface="Calibri"/>
                <a:cs typeface="Calibri"/>
              </a:rPr>
              <a:t> la </a:t>
            </a:r>
            <a:r>
              <a:rPr sz="1200" dirty="0" err="1">
                <a:solidFill>
                  <a:srgbClr val="E8EEF6"/>
                </a:solidFill>
                <a:latin typeface="Calibri"/>
                <a:ea typeface="Calibri"/>
                <a:cs typeface="Calibri"/>
              </a:rPr>
              <a:t>aplicación</a:t>
            </a:r>
            <a:r>
              <a:rPr sz="1200" dirty="0">
                <a:solidFill>
                  <a:srgbClr val="E8EEF6"/>
                </a:solidFill>
                <a:latin typeface="Calibri"/>
                <a:ea typeface="Calibri"/>
                <a:cs typeface="Calibri"/>
              </a:rPr>
              <a:t>, para </a:t>
            </a:r>
            <a:r>
              <a:rPr sz="1200" dirty="0" err="1">
                <a:solidFill>
                  <a:srgbClr val="E8EEF6"/>
                </a:solidFill>
                <a:latin typeface="Calibri"/>
                <a:ea typeface="Calibri"/>
                <a:cs typeface="Calibri"/>
              </a:rPr>
              <a:t>quién</a:t>
            </a:r>
            <a:r>
              <a:rPr sz="1200" dirty="0">
                <a:solidFill>
                  <a:srgbClr val="E8EEF6"/>
                </a:solidFill>
                <a:latin typeface="Calibri"/>
                <a:ea typeface="Calibri"/>
                <a:cs typeface="Calibri"/>
              </a:rPr>
              <a:t> y con </a:t>
            </a: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reglas</a:t>
            </a:r>
            <a:r>
              <a:rPr sz="1200" dirty="0">
                <a:solidFill>
                  <a:srgbClr val="E8EEF6"/>
                </a:solidFill>
                <a:latin typeface="Calibri"/>
                <a:ea typeface="Calibri"/>
                <a:cs typeface="Calibri"/>
              </a:rPr>
              <a:t>.</a:t>
            </a:r>
            <a:endParaRPr sz="1200" dirty="0"/>
          </a:p>
        </p:txBody>
      </p:sp>
      <p:sp>
        <p:nvSpPr>
          <p:cNvPr id="9" name="Shape 7">
            <a:extLst>
              <a:ext uri="{FF2B5EF4-FFF2-40B4-BE49-F238E27FC236}">
                <a16:creationId xmlns:a16="http://schemas.microsoft.com/office/drawing/2014/main" id="{8D93A979-E715-4F26-A7D1-612B20EF774C}"/>
              </a:ext>
            </a:extLst>
          </p:cNvPr>
          <p:cNvSpPr>
            <a:spLocks noGrp="1"/>
          </p:cNvSpPr>
          <p:nvPr/>
        </p:nvSpPr>
        <p:spPr>
          <a:xfrm>
            <a:off x="3264408" y="1207008"/>
            <a:ext cx="2615184" cy="987552"/>
          </a:xfrm>
          <a:prstGeom prst="roundRect">
            <a:avLst>
              <a:gd name="adj" fmla="val 4630"/>
            </a:avLst>
          </a:prstGeom>
          <a:solidFill>
            <a:srgbClr val="1A2434"/>
          </a:solidFill>
          <a:ln w="12700">
            <a:solidFill>
              <a:srgbClr val="56C7F2"/>
            </a:solidFill>
            <a:prstDash val="solid"/>
          </a:ln>
        </p:spPr>
        <p:txBody>
          <a:bodyPr/>
          <a:lstStyle/>
          <a:p>
            <a:endParaRPr sz="1200"/>
          </a:p>
        </p:txBody>
      </p:sp>
      <p:sp>
        <p:nvSpPr>
          <p:cNvPr id="10" name="Text 8">
            <a:extLst>
              <a:ext uri="{FF2B5EF4-FFF2-40B4-BE49-F238E27FC236}">
                <a16:creationId xmlns:a16="http://schemas.microsoft.com/office/drawing/2014/main" id="{0F787C0D-A16B-421B-A3B5-E9557163FF92}"/>
              </a:ext>
            </a:extLst>
          </p:cNvPr>
          <p:cNvSpPr>
            <a:spLocks noGrp="1"/>
          </p:cNvSpPr>
          <p:nvPr/>
        </p:nvSpPr>
        <p:spPr>
          <a:xfrm>
            <a:off x="3410712" y="1325880"/>
            <a:ext cx="2322576" cy="237744"/>
          </a:xfrm>
          <a:prstGeom prst="rect">
            <a:avLst/>
          </a:prstGeom>
          <a:noFill/>
        </p:spPr>
        <p:txBody>
          <a:bodyPr wrap="square" lIns="0" tIns="0" rIns="0" bIns="0" anchor="ctr"/>
          <a:lstStyle/>
          <a:p>
            <a:pPr marL="0" indent="0">
              <a:buNone/>
            </a:pPr>
            <a:r>
              <a:rPr sz="1200" b="1">
                <a:solidFill>
                  <a:srgbClr val="56C7F2"/>
                </a:solidFill>
                <a:latin typeface="Arial"/>
                <a:ea typeface="Arial"/>
                <a:cs typeface="Arial"/>
              </a:rPr>
              <a:t>Información</a:t>
            </a:r>
            <a:endParaRPr sz="1200"/>
          </a:p>
        </p:txBody>
      </p:sp>
      <p:sp>
        <p:nvSpPr>
          <p:cNvPr id="11" name="Text 9">
            <a:extLst>
              <a:ext uri="{FF2B5EF4-FFF2-40B4-BE49-F238E27FC236}">
                <a16:creationId xmlns:a16="http://schemas.microsoft.com/office/drawing/2014/main" id="{B3D7B900-69FD-4871-885C-259E670EB49B}"/>
              </a:ext>
            </a:extLst>
          </p:cNvPr>
          <p:cNvSpPr>
            <a:spLocks noGrp="1"/>
          </p:cNvSpPr>
          <p:nvPr/>
        </p:nvSpPr>
        <p:spPr>
          <a:xfrm>
            <a:off x="3337560" y="1600200"/>
            <a:ext cx="2468880" cy="484632"/>
          </a:xfrm>
          <a:prstGeom prst="rect">
            <a:avLst/>
          </a:prstGeom>
          <a:noFill/>
        </p:spPr>
        <p:txBody>
          <a:bodyPr wrap="square" lIns="0" tIns="0" rIns="0" bIns="0" anchor="t"/>
          <a:lstStyle/>
          <a:p>
            <a:pPr marL="0" indent="0">
              <a:lnSpc>
                <a:spcPct val="112000"/>
              </a:lnSpc>
              <a:buNone/>
            </a:pP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datos</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existen</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cómo</a:t>
            </a:r>
            <a:r>
              <a:rPr sz="1200" dirty="0">
                <a:solidFill>
                  <a:srgbClr val="E8EEF6"/>
                </a:solidFill>
                <a:latin typeface="Calibri"/>
                <a:ea typeface="Calibri"/>
                <a:cs typeface="Calibri"/>
              </a:rPr>
              <a:t> se </a:t>
            </a:r>
            <a:r>
              <a:rPr sz="1200" dirty="0" err="1">
                <a:solidFill>
                  <a:srgbClr val="E8EEF6"/>
                </a:solidFill>
                <a:latin typeface="Calibri"/>
                <a:ea typeface="Calibri"/>
                <a:cs typeface="Calibri"/>
              </a:rPr>
              <a:t>relacionan</a:t>
            </a:r>
            <a:r>
              <a:rPr sz="1200" dirty="0">
                <a:solidFill>
                  <a:srgbClr val="E8EEF6"/>
                </a:solidFill>
                <a:latin typeface="Calibri"/>
                <a:ea typeface="Calibri"/>
                <a:cs typeface="Calibri"/>
              </a:rPr>
              <a:t> y </a:t>
            </a: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restricciones</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cumplen</a:t>
            </a:r>
            <a:r>
              <a:rPr sz="1200" dirty="0">
                <a:solidFill>
                  <a:srgbClr val="E8EEF6"/>
                </a:solidFill>
                <a:latin typeface="Calibri"/>
                <a:ea typeface="Calibri"/>
                <a:cs typeface="Calibri"/>
              </a:rPr>
              <a:t>.</a:t>
            </a:r>
            <a:endParaRPr sz="1200" dirty="0"/>
          </a:p>
        </p:txBody>
      </p:sp>
      <p:sp>
        <p:nvSpPr>
          <p:cNvPr id="12" name="Shape 10">
            <a:extLst>
              <a:ext uri="{FF2B5EF4-FFF2-40B4-BE49-F238E27FC236}">
                <a16:creationId xmlns:a16="http://schemas.microsoft.com/office/drawing/2014/main" id="{81089828-C901-45CE-8878-86B2ADE7F3E7}"/>
              </a:ext>
            </a:extLst>
          </p:cNvPr>
          <p:cNvSpPr>
            <a:spLocks noGrp="1"/>
          </p:cNvSpPr>
          <p:nvPr/>
        </p:nvSpPr>
        <p:spPr>
          <a:xfrm>
            <a:off x="6025896" y="1207008"/>
            <a:ext cx="2615184" cy="987552"/>
          </a:xfrm>
          <a:prstGeom prst="roundRect">
            <a:avLst>
              <a:gd name="adj" fmla="val 4630"/>
            </a:avLst>
          </a:prstGeom>
          <a:solidFill>
            <a:srgbClr val="1A2434"/>
          </a:solidFill>
          <a:ln w="12700">
            <a:solidFill>
              <a:srgbClr val="3DDC97"/>
            </a:solidFill>
            <a:prstDash val="solid"/>
          </a:ln>
        </p:spPr>
        <p:txBody>
          <a:bodyPr/>
          <a:lstStyle/>
          <a:p>
            <a:endParaRPr sz="1200"/>
          </a:p>
        </p:txBody>
      </p:sp>
      <p:sp>
        <p:nvSpPr>
          <p:cNvPr id="13" name="Text 11">
            <a:extLst>
              <a:ext uri="{FF2B5EF4-FFF2-40B4-BE49-F238E27FC236}">
                <a16:creationId xmlns:a16="http://schemas.microsoft.com/office/drawing/2014/main" id="{EE4FCD65-DB87-419F-B9E8-1CD3F30E5BEA}"/>
              </a:ext>
            </a:extLst>
          </p:cNvPr>
          <p:cNvSpPr>
            <a:spLocks noGrp="1"/>
          </p:cNvSpPr>
          <p:nvPr/>
        </p:nvSpPr>
        <p:spPr>
          <a:xfrm>
            <a:off x="6172200" y="1325880"/>
            <a:ext cx="2322576" cy="237744"/>
          </a:xfrm>
          <a:prstGeom prst="rect">
            <a:avLst/>
          </a:prstGeom>
          <a:noFill/>
        </p:spPr>
        <p:txBody>
          <a:bodyPr wrap="square" lIns="0" tIns="0" rIns="0" bIns="0" anchor="ctr"/>
          <a:lstStyle/>
          <a:p>
            <a:pPr marL="0" indent="0">
              <a:buNone/>
            </a:pPr>
            <a:r>
              <a:rPr sz="1200" b="1">
                <a:solidFill>
                  <a:srgbClr val="3DDC97"/>
                </a:solidFill>
                <a:latin typeface="Arial"/>
                <a:ea typeface="Arial"/>
                <a:cs typeface="Arial"/>
              </a:rPr>
              <a:t>Navegación</a:t>
            </a:r>
            <a:endParaRPr sz="1200"/>
          </a:p>
        </p:txBody>
      </p:sp>
      <p:sp>
        <p:nvSpPr>
          <p:cNvPr id="14" name="Text 12">
            <a:extLst>
              <a:ext uri="{FF2B5EF4-FFF2-40B4-BE49-F238E27FC236}">
                <a16:creationId xmlns:a16="http://schemas.microsoft.com/office/drawing/2014/main" id="{83E0DB0F-B5CB-459F-A31C-73163423E2CE}"/>
              </a:ext>
            </a:extLst>
          </p:cNvPr>
          <p:cNvSpPr>
            <a:spLocks noGrp="1"/>
          </p:cNvSpPr>
          <p:nvPr/>
        </p:nvSpPr>
        <p:spPr>
          <a:xfrm>
            <a:off x="6172200" y="1612429"/>
            <a:ext cx="2395728" cy="484632"/>
          </a:xfrm>
          <a:prstGeom prst="rect">
            <a:avLst/>
          </a:prstGeom>
          <a:noFill/>
        </p:spPr>
        <p:txBody>
          <a:bodyPr wrap="square" lIns="0" tIns="0" rIns="0" bIns="0" anchor="t"/>
          <a:lstStyle/>
          <a:p>
            <a:pPr marL="0" indent="0">
              <a:lnSpc>
                <a:spcPct val="112000"/>
              </a:lnSpc>
              <a:buNone/>
            </a:pP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ve</a:t>
            </a:r>
            <a:r>
              <a:rPr sz="1200" dirty="0">
                <a:solidFill>
                  <a:srgbClr val="E8EEF6"/>
                </a:solidFill>
                <a:latin typeface="Calibri"/>
                <a:ea typeface="Calibri"/>
                <a:cs typeface="Calibri"/>
              </a:rPr>
              <a:t> el </a:t>
            </a:r>
            <a:r>
              <a:rPr sz="1200" dirty="0" err="1">
                <a:solidFill>
                  <a:srgbClr val="E8EEF6"/>
                </a:solidFill>
                <a:latin typeface="Calibri"/>
                <a:ea typeface="Calibri"/>
                <a:cs typeface="Calibri"/>
              </a:rPr>
              <a:t>usuario</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en</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cada</a:t>
            </a:r>
            <a:r>
              <a:rPr sz="1200" dirty="0">
                <a:solidFill>
                  <a:srgbClr val="E8EEF6"/>
                </a:solidFill>
                <a:latin typeface="Calibri"/>
                <a:ea typeface="Calibri"/>
                <a:cs typeface="Calibri"/>
              </a:rPr>
              <a:t> punto y </a:t>
            </a:r>
            <a:r>
              <a:rPr sz="1200" dirty="0" err="1">
                <a:solidFill>
                  <a:srgbClr val="E8EEF6"/>
                </a:solidFill>
                <a:latin typeface="Calibri"/>
                <a:ea typeface="Calibri"/>
                <a:cs typeface="Calibri"/>
              </a:rPr>
              <a:t>cómo</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llega</a:t>
            </a:r>
            <a:r>
              <a:rPr sz="1200" dirty="0">
                <a:solidFill>
                  <a:srgbClr val="E8EEF6"/>
                </a:solidFill>
                <a:latin typeface="Calibri"/>
                <a:ea typeface="Calibri"/>
                <a:cs typeface="Calibri"/>
              </a:rPr>
              <a:t> al </a:t>
            </a:r>
            <a:r>
              <a:rPr sz="1200" dirty="0" err="1">
                <a:solidFill>
                  <a:srgbClr val="E8EEF6"/>
                </a:solidFill>
                <a:latin typeface="Calibri"/>
                <a:ea typeface="Calibri"/>
                <a:cs typeface="Calibri"/>
              </a:rPr>
              <a:t>siguiente</a:t>
            </a:r>
            <a:r>
              <a:rPr sz="1200" dirty="0">
                <a:solidFill>
                  <a:srgbClr val="E8EEF6"/>
                </a:solidFill>
                <a:latin typeface="Calibri"/>
                <a:ea typeface="Calibri"/>
                <a:cs typeface="Calibri"/>
              </a:rPr>
              <a:t>.</a:t>
            </a:r>
            <a:endParaRPr sz="1200" dirty="0"/>
          </a:p>
        </p:txBody>
      </p:sp>
      <p:sp>
        <p:nvSpPr>
          <p:cNvPr id="15" name="Shape 13">
            <a:extLst>
              <a:ext uri="{FF2B5EF4-FFF2-40B4-BE49-F238E27FC236}">
                <a16:creationId xmlns:a16="http://schemas.microsoft.com/office/drawing/2014/main" id="{1338CB52-97DF-4DC1-A668-12DC465446B8}"/>
              </a:ext>
            </a:extLst>
          </p:cNvPr>
          <p:cNvSpPr>
            <a:spLocks noGrp="1"/>
          </p:cNvSpPr>
          <p:nvPr/>
        </p:nvSpPr>
        <p:spPr>
          <a:xfrm>
            <a:off x="502920" y="2304288"/>
            <a:ext cx="2615184" cy="987552"/>
          </a:xfrm>
          <a:prstGeom prst="roundRect">
            <a:avLst>
              <a:gd name="adj" fmla="val 4630"/>
            </a:avLst>
          </a:prstGeom>
          <a:solidFill>
            <a:srgbClr val="1A2434"/>
          </a:solidFill>
          <a:ln w="12700">
            <a:solidFill>
              <a:srgbClr val="56C7F2"/>
            </a:solidFill>
            <a:prstDash val="solid"/>
          </a:ln>
        </p:spPr>
        <p:txBody>
          <a:bodyPr/>
          <a:lstStyle/>
          <a:p>
            <a:endParaRPr sz="1200"/>
          </a:p>
        </p:txBody>
      </p:sp>
      <p:sp>
        <p:nvSpPr>
          <p:cNvPr id="16" name="Text 14">
            <a:extLst>
              <a:ext uri="{FF2B5EF4-FFF2-40B4-BE49-F238E27FC236}">
                <a16:creationId xmlns:a16="http://schemas.microsoft.com/office/drawing/2014/main" id="{07D035DD-12D3-4333-9109-9846F8E5D6F2}"/>
              </a:ext>
            </a:extLst>
          </p:cNvPr>
          <p:cNvSpPr>
            <a:spLocks noGrp="1"/>
          </p:cNvSpPr>
          <p:nvPr/>
        </p:nvSpPr>
        <p:spPr>
          <a:xfrm>
            <a:off x="649224" y="2423160"/>
            <a:ext cx="2322576" cy="237744"/>
          </a:xfrm>
          <a:prstGeom prst="rect">
            <a:avLst/>
          </a:prstGeom>
          <a:noFill/>
        </p:spPr>
        <p:txBody>
          <a:bodyPr wrap="square" lIns="0" tIns="0" rIns="0" bIns="0" anchor="ctr"/>
          <a:lstStyle/>
          <a:p>
            <a:pPr marL="0" indent="0">
              <a:buNone/>
            </a:pPr>
            <a:r>
              <a:rPr sz="1200" b="1">
                <a:solidFill>
                  <a:srgbClr val="56C7F2"/>
                </a:solidFill>
                <a:latin typeface="Arial"/>
                <a:ea typeface="Arial"/>
                <a:cs typeface="Arial"/>
              </a:rPr>
              <a:t>Interfaces</a:t>
            </a:r>
            <a:endParaRPr sz="1200"/>
          </a:p>
        </p:txBody>
      </p:sp>
      <p:sp>
        <p:nvSpPr>
          <p:cNvPr id="17" name="Text 15">
            <a:extLst>
              <a:ext uri="{FF2B5EF4-FFF2-40B4-BE49-F238E27FC236}">
                <a16:creationId xmlns:a16="http://schemas.microsoft.com/office/drawing/2014/main" id="{989183FE-E3D8-4DAC-9520-5D3CEBCD5E9A}"/>
              </a:ext>
            </a:extLst>
          </p:cNvPr>
          <p:cNvSpPr>
            <a:spLocks noGrp="1"/>
          </p:cNvSpPr>
          <p:nvPr/>
        </p:nvSpPr>
        <p:spPr>
          <a:xfrm>
            <a:off x="649224" y="2697480"/>
            <a:ext cx="2322576" cy="484632"/>
          </a:xfrm>
          <a:prstGeom prst="rect">
            <a:avLst/>
          </a:prstGeom>
          <a:noFill/>
        </p:spPr>
        <p:txBody>
          <a:bodyPr wrap="square" lIns="0" tIns="0" rIns="0" bIns="0" anchor="t"/>
          <a:lstStyle/>
          <a:p>
            <a:pPr marL="0" indent="0">
              <a:lnSpc>
                <a:spcPct val="112000"/>
              </a:lnSpc>
              <a:buNone/>
            </a:pP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elementos</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aparecen</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en</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pantalla</a:t>
            </a:r>
            <a:r>
              <a:rPr sz="1200" dirty="0">
                <a:solidFill>
                  <a:srgbClr val="E8EEF6"/>
                </a:solidFill>
                <a:latin typeface="Calibri"/>
                <a:ea typeface="Calibri"/>
                <a:cs typeface="Calibri"/>
              </a:rPr>
              <a:t> y </a:t>
            </a:r>
            <a:r>
              <a:rPr sz="1200" dirty="0" err="1">
                <a:solidFill>
                  <a:srgbClr val="E8EEF6"/>
                </a:solidFill>
                <a:latin typeface="Calibri"/>
                <a:ea typeface="Calibri"/>
                <a:cs typeface="Calibri"/>
              </a:rPr>
              <a:t>qué</a:t>
            </a:r>
            <a:r>
              <a:rPr sz="1200" dirty="0">
                <a:solidFill>
                  <a:srgbClr val="E8EEF6"/>
                </a:solidFill>
                <a:latin typeface="Calibri"/>
                <a:ea typeface="Calibri"/>
                <a:cs typeface="Calibri"/>
              </a:rPr>
              <a:t> </a:t>
            </a:r>
            <a:r>
              <a:rPr sz="1200" dirty="0" err="1">
                <a:solidFill>
                  <a:srgbClr val="E8EEF6"/>
                </a:solidFill>
                <a:latin typeface="Calibri"/>
                <a:ea typeface="Calibri"/>
                <a:cs typeface="Calibri"/>
              </a:rPr>
              <a:t>ocurre</a:t>
            </a:r>
            <a:r>
              <a:rPr sz="1200" dirty="0">
                <a:solidFill>
                  <a:srgbClr val="E8EEF6"/>
                </a:solidFill>
                <a:latin typeface="Calibri"/>
                <a:ea typeface="Calibri"/>
                <a:cs typeface="Calibri"/>
              </a:rPr>
              <a:t> al </a:t>
            </a:r>
            <a:r>
              <a:rPr sz="1200" dirty="0" err="1">
                <a:solidFill>
                  <a:srgbClr val="E8EEF6"/>
                </a:solidFill>
                <a:latin typeface="Calibri"/>
                <a:ea typeface="Calibri"/>
                <a:cs typeface="Calibri"/>
              </a:rPr>
              <a:t>activarlos</a:t>
            </a:r>
            <a:r>
              <a:rPr sz="1200" dirty="0">
                <a:solidFill>
                  <a:srgbClr val="E8EEF6"/>
                </a:solidFill>
                <a:latin typeface="Calibri"/>
                <a:ea typeface="Calibri"/>
                <a:cs typeface="Calibri"/>
              </a:rPr>
              <a:t>.</a:t>
            </a:r>
            <a:endParaRPr sz="1200" dirty="0"/>
          </a:p>
        </p:txBody>
      </p:sp>
      <p:sp>
        <p:nvSpPr>
          <p:cNvPr id="18" name="Shape 16">
            <a:extLst>
              <a:ext uri="{FF2B5EF4-FFF2-40B4-BE49-F238E27FC236}">
                <a16:creationId xmlns:a16="http://schemas.microsoft.com/office/drawing/2014/main" id="{9470543F-9DE2-40AA-9BCA-AACBB04B781B}"/>
              </a:ext>
            </a:extLst>
          </p:cNvPr>
          <p:cNvSpPr>
            <a:spLocks noGrp="1"/>
          </p:cNvSpPr>
          <p:nvPr/>
        </p:nvSpPr>
        <p:spPr>
          <a:xfrm>
            <a:off x="3264408" y="2304288"/>
            <a:ext cx="2615184" cy="987552"/>
          </a:xfrm>
          <a:prstGeom prst="roundRect">
            <a:avLst>
              <a:gd name="adj" fmla="val 4630"/>
            </a:avLst>
          </a:prstGeom>
          <a:solidFill>
            <a:srgbClr val="1A2434"/>
          </a:solidFill>
          <a:ln w="12700">
            <a:solidFill>
              <a:srgbClr val="FFB86C"/>
            </a:solidFill>
            <a:prstDash val="solid"/>
          </a:ln>
        </p:spPr>
        <p:txBody>
          <a:bodyPr/>
          <a:lstStyle/>
          <a:p>
            <a:endParaRPr sz="1200"/>
          </a:p>
        </p:txBody>
      </p:sp>
      <p:sp>
        <p:nvSpPr>
          <p:cNvPr id="19" name="Text 17">
            <a:extLst>
              <a:ext uri="{FF2B5EF4-FFF2-40B4-BE49-F238E27FC236}">
                <a16:creationId xmlns:a16="http://schemas.microsoft.com/office/drawing/2014/main" id="{8561BF42-22BB-429F-A1C3-BB2309E8D15A}"/>
              </a:ext>
            </a:extLst>
          </p:cNvPr>
          <p:cNvSpPr>
            <a:spLocks noGrp="1"/>
          </p:cNvSpPr>
          <p:nvPr/>
        </p:nvSpPr>
        <p:spPr>
          <a:xfrm>
            <a:off x="3410712" y="2423160"/>
            <a:ext cx="2322576" cy="237744"/>
          </a:xfrm>
          <a:prstGeom prst="rect">
            <a:avLst/>
          </a:prstGeom>
          <a:noFill/>
        </p:spPr>
        <p:txBody>
          <a:bodyPr wrap="square" lIns="0" tIns="0" rIns="0" bIns="0" anchor="ctr"/>
          <a:lstStyle/>
          <a:p>
            <a:pPr marL="0" indent="0">
              <a:buNone/>
            </a:pPr>
            <a:r>
              <a:rPr sz="1200" b="1">
                <a:solidFill>
                  <a:srgbClr val="FFB86C"/>
                </a:solidFill>
                <a:latin typeface="Arial"/>
                <a:ea typeface="Arial"/>
                <a:cs typeface="Arial"/>
              </a:rPr>
              <a:t>Implementación</a:t>
            </a:r>
            <a:endParaRPr sz="1200"/>
          </a:p>
        </p:txBody>
      </p:sp>
      <p:sp>
        <p:nvSpPr>
          <p:cNvPr id="20" name="Text 18">
            <a:extLst>
              <a:ext uri="{FF2B5EF4-FFF2-40B4-BE49-F238E27FC236}">
                <a16:creationId xmlns:a16="http://schemas.microsoft.com/office/drawing/2014/main" id="{81159608-F7DF-455F-BDFC-59E0076FB8A6}"/>
              </a:ext>
            </a:extLst>
          </p:cNvPr>
          <p:cNvSpPr>
            <a:spLocks noGrp="1"/>
          </p:cNvSpPr>
          <p:nvPr/>
        </p:nvSpPr>
        <p:spPr>
          <a:xfrm>
            <a:off x="3410712" y="2697480"/>
            <a:ext cx="2322576" cy="484632"/>
          </a:xfrm>
          <a:prstGeom prst="rect">
            <a:avLst/>
          </a:prstGeom>
          <a:noFill/>
        </p:spPr>
        <p:txBody>
          <a:bodyPr wrap="square" lIns="0" tIns="0" rIns="0" bIns="0" anchor="t"/>
          <a:lstStyle/>
          <a:p>
            <a:pPr marL="0" indent="0">
              <a:lnSpc>
                <a:spcPct val="112000"/>
              </a:lnSpc>
              <a:buNone/>
            </a:pPr>
            <a:r>
              <a:rPr sz="1200">
                <a:solidFill>
                  <a:srgbClr val="E8EEF6"/>
                </a:solidFill>
                <a:latin typeface="Calibri"/>
                <a:ea typeface="Calibri"/>
                <a:cs typeface="Calibri"/>
              </a:rPr>
              <a:t>Con qué tecnología se materializa cada decisión anterior.</a:t>
            </a:r>
            <a:endParaRPr sz="1200"/>
          </a:p>
        </p:txBody>
      </p:sp>
      <p:sp>
        <p:nvSpPr>
          <p:cNvPr id="21" name="Shape 19">
            <a:extLst>
              <a:ext uri="{FF2B5EF4-FFF2-40B4-BE49-F238E27FC236}">
                <a16:creationId xmlns:a16="http://schemas.microsoft.com/office/drawing/2014/main" id="{576C6084-7905-48DC-A2CE-85451D545737}"/>
              </a:ext>
            </a:extLst>
          </p:cNvPr>
          <p:cNvSpPr>
            <a:spLocks noGrp="1"/>
          </p:cNvSpPr>
          <p:nvPr/>
        </p:nvSpPr>
        <p:spPr>
          <a:xfrm>
            <a:off x="6025896" y="2304288"/>
            <a:ext cx="2615184" cy="987552"/>
          </a:xfrm>
          <a:prstGeom prst="roundRect">
            <a:avLst>
              <a:gd name="adj" fmla="val 4630"/>
            </a:avLst>
          </a:prstGeom>
          <a:solidFill>
            <a:srgbClr val="1A2434"/>
          </a:solidFill>
          <a:ln w="12700">
            <a:solidFill>
              <a:srgbClr val="FFB86C"/>
            </a:solidFill>
            <a:prstDash val="solid"/>
          </a:ln>
        </p:spPr>
        <p:txBody>
          <a:bodyPr/>
          <a:lstStyle/>
          <a:p>
            <a:endParaRPr sz="1200"/>
          </a:p>
        </p:txBody>
      </p:sp>
      <p:sp>
        <p:nvSpPr>
          <p:cNvPr id="22" name="Text 20">
            <a:extLst>
              <a:ext uri="{FF2B5EF4-FFF2-40B4-BE49-F238E27FC236}">
                <a16:creationId xmlns:a16="http://schemas.microsoft.com/office/drawing/2014/main" id="{A7E077C5-105F-4083-BB84-383857D02BB0}"/>
              </a:ext>
            </a:extLst>
          </p:cNvPr>
          <p:cNvSpPr>
            <a:spLocks noGrp="1"/>
          </p:cNvSpPr>
          <p:nvPr/>
        </p:nvSpPr>
        <p:spPr>
          <a:xfrm>
            <a:off x="6172200" y="2423160"/>
            <a:ext cx="2322576" cy="237744"/>
          </a:xfrm>
          <a:prstGeom prst="rect">
            <a:avLst/>
          </a:prstGeom>
          <a:noFill/>
        </p:spPr>
        <p:txBody>
          <a:bodyPr wrap="square" lIns="0" tIns="0" rIns="0" bIns="0" anchor="ctr"/>
          <a:lstStyle/>
          <a:p>
            <a:pPr marL="0" indent="0">
              <a:buNone/>
            </a:pPr>
            <a:r>
              <a:rPr sz="1200" b="1">
                <a:solidFill>
                  <a:srgbClr val="FFB86C"/>
                </a:solidFill>
                <a:latin typeface="Arial"/>
                <a:ea typeface="Arial"/>
                <a:cs typeface="Arial"/>
              </a:rPr>
              <a:t>Validación</a:t>
            </a:r>
            <a:endParaRPr sz="1200"/>
          </a:p>
        </p:txBody>
      </p:sp>
      <p:sp>
        <p:nvSpPr>
          <p:cNvPr id="23" name="Text 21">
            <a:extLst>
              <a:ext uri="{FF2B5EF4-FFF2-40B4-BE49-F238E27FC236}">
                <a16:creationId xmlns:a16="http://schemas.microsoft.com/office/drawing/2014/main" id="{C865980D-4645-47DF-97DC-BD090D48F033}"/>
              </a:ext>
            </a:extLst>
          </p:cNvPr>
          <p:cNvSpPr>
            <a:spLocks noGrp="1"/>
          </p:cNvSpPr>
          <p:nvPr/>
        </p:nvSpPr>
        <p:spPr>
          <a:xfrm>
            <a:off x="6172200" y="2697480"/>
            <a:ext cx="2322576" cy="484632"/>
          </a:xfrm>
          <a:prstGeom prst="rect">
            <a:avLst/>
          </a:prstGeom>
          <a:noFill/>
        </p:spPr>
        <p:txBody>
          <a:bodyPr wrap="square" lIns="0" tIns="0" rIns="0" bIns="0" anchor="t"/>
          <a:lstStyle/>
          <a:p>
            <a:pPr marL="0" indent="0">
              <a:lnSpc>
                <a:spcPct val="112000"/>
              </a:lnSpc>
              <a:buNone/>
            </a:pPr>
            <a:r>
              <a:rPr sz="1200">
                <a:solidFill>
                  <a:srgbClr val="E8EEF6"/>
                </a:solidFill>
                <a:latin typeface="Calibri"/>
                <a:ea typeface="Calibri"/>
                <a:cs typeface="Calibri"/>
              </a:rPr>
              <a:t>Cómo se comprueba que los datos y el recorrido son correctos.</a:t>
            </a:r>
            <a:endParaRPr sz="1200"/>
          </a:p>
        </p:txBody>
      </p:sp>
      <p:sp>
        <p:nvSpPr>
          <p:cNvPr id="24" name="Shape 22">
            <a:extLst>
              <a:ext uri="{FF2B5EF4-FFF2-40B4-BE49-F238E27FC236}">
                <a16:creationId xmlns:a16="http://schemas.microsoft.com/office/drawing/2014/main" id="{F03E5C86-9731-4BA7-B991-47BE348F07BB}"/>
              </a:ext>
            </a:extLst>
          </p:cNvPr>
          <p:cNvSpPr>
            <a:spLocks noGrp="1"/>
          </p:cNvSpPr>
          <p:nvPr/>
        </p:nvSpPr>
        <p:spPr>
          <a:xfrm>
            <a:off x="502920" y="3419856"/>
            <a:ext cx="8138160" cy="969264"/>
          </a:xfrm>
          <a:prstGeom prst="roundRect">
            <a:avLst>
              <a:gd name="adj" fmla="val 4717"/>
            </a:avLst>
          </a:prstGeom>
          <a:solidFill>
            <a:srgbClr val="1A2434"/>
          </a:solidFill>
          <a:ln w="12700">
            <a:solidFill>
              <a:srgbClr val="56C7F2"/>
            </a:solidFill>
            <a:prstDash val="solid"/>
          </a:ln>
        </p:spPr>
        <p:txBody>
          <a:bodyPr/>
          <a:lstStyle/>
          <a:p>
            <a:endParaRPr sz="1200"/>
          </a:p>
        </p:txBody>
      </p:sp>
      <p:sp>
        <p:nvSpPr>
          <p:cNvPr id="25" name="Text 23">
            <a:extLst>
              <a:ext uri="{FF2B5EF4-FFF2-40B4-BE49-F238E27FC236}">
                <a16:creationId xmlns:a16="http://schemas.microsoft.com/office/drawing/2014/main" id="{52311068-7FD7-45DA-87F0-FEBA4050E2FF}"/>
              </a:ext>
            </a:extLst>
          </p:cNvPr>
          <p:cNvSpPr>
            <a:spLocks noGrp="1"/>
          </p:cNvSpPr>
          <p:nvPr/>
        </p:nvSpPr>
        <p:spPr>
          <a:xfrm>
            <a:off x="731520" y="3511296"/>
            <a:ext cx="7680960" cy="201168"/>
          </a:xfrm>
          <a:prstGeom prst="rect">
            <a:avLst/>
          </a:prstGeom>
          <a:noFill/>
        </p:spPr>
        <p:txBody>
          <a:bodyPr wrap="square" lIns="0" tIns="0" rIns="0" bIns="0" anchor="ctr"/>
          <a:lstStyle/>
          <a:p>
            <a:pPr marL="0" indent="0">
              <a:buNone/>
            </a:pPr>
            <a:r>
              <a:rPr sz="1200" b="1">
                <a:solidFill>
                  <a:srgbClr val="56C7F2"/>
                </a:solidFill>
                <a:latin typeface="Arial"/>
                <a:ea typeface="Arial"/>
                <a:cs typeface="Arial"/>
              </a:rPr>
              <a:t>Conexión con lo que ya programaron</a:t>
            </a:r>
            <a:endParaRPr sz="1200"/>
          </a:p>
        </p:txBody>
      </p:sp>
      <p:sp>
        <p:nvSpPr>
          <p:cNvPr id="26" name="Text 24">
            <a:extLst>
              <a:ext uri="{FF2B5EF4-FFF2-40B4-BE49-F238E27FC236}">
                <a16:creationId xmlns:a16="http://schemas.microsoft.com/office/drawing/2014/main" id="{153D3A0F-3968-452F-8E03-F307D95BD36E}"/>
              </a:ext>
            </a:extLst>
          </p:cNvPr>
          <p:cNvSpPr>
            <a:spLocks noGrp="1"/>
          </p:cNvSpPr>
          <p:nvPr/>
        </p:nvSpPr>
        <p:spPr>
          <a:xfrm>
            <a:off x="731520" y="3749040"/>
            <a:ext cx="7680960" cy="566928"/>
          </a:xfrm>
          <a:prstGeom prst="rect">
            <a:avLst/>
          </a:prstGeom>
          <a:noFill/>
        </p:spPr>
        <p:txBody>
          <a:bodyPr wrap="square" lIns="0" tIns="0" rIns="0" bIns="0" anchor="t"/>
          <a:lstStyle/>
          <a:p>
            <a:pPr marL="0" indent="0">
              <a:lnSpc>
                <a:spcPct val="110000"/>
              </a:lnSpc>
              <a:buNone/>
            </a:pPr>
            <a:r>
              <a:rPr sz="1200">
                <a:solidFill>
                  <a:srgbClr val="E8EEF6"/>
                </a:solidFill>
                <a:latin typeface="Calibri"/>
                <a:ea typeface="Calibri"/>
                <a:cs typeface="Calibri"/>
              </a:rPr>
              <a:t>En las sesiones anteriores resolvieron implementación y validación: un formulario que envía una petición POST, un servidor que lee el cuerpo, valida y ejecuta una inserción en SQLite. Las decisiones de información y de navegación se tomaron de forma implícita. Una metodología las vuelve explícitas y las documenta antes de escribir el código.</a:t>
            </a:r>
            <a:endParaRPr sz="1200"/>
          </a:p>
        </p:txBody>
      </p:sp>
    </p:spTree>
    <p:extLst>
      <p:ext uri="{BB962C8B-B14F-4D97-AF65-F5344CB8AC3E}">
        <p14:creationId xmlns:p14="http://schemas.microsoft.com/office/powerpoint/2010/main" val="1856760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1762BF-CBD8-44BC-AAFA-827D5C669AE0}"/>
              </a:ext>
            </a:extLst>
          </p:cNvPr>
          <p:cNvSpPr>
            <a:spLocks noGrp="1"/>
          </p:cNvSpPr>
          <p:nvPr/>
        </p:nvSpPr>
        <p:spPr>
          <a:xfrm>
            <a:off x="502920" y="365760"/>
            <a:ext cx="136245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AB7D238D-72BC-4097-BFB4-E186D47A7F24}"/>
              </a:ext>
            </a:extLst>
          </p:cNvPr>
          <p:cNvSpPr>
            <a:spLocks noGrp="1"/>
          </p:cNvSpPr>
          <p:nvPr/>
        </p:nvSpPr>
        <p:spPr>
          <a:xfrm>
            <a:off x="502920" y="365760"/>
            <a:ext cx="136245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PANORAMA 1 / 5</a:t>
            </a:r>
            <a:endParaRPr sz="850"/>
          </a:p>
        </p:txBody>
      </p:sp>
      <p:sp>
        <p:nvSpPr>
          <p:cNvPr id="4" name="Text 2">
            <a:extLst>
              <a:ext uri="{FF2B5EF4-FFF2-40B4-BE49-F238E27FC236}">
                <a16:creationId xmlns:a16="http://schemas.microsoft.com/office/drawing/2014/main" id="{35E6C1BD-7F87-4BE5-B04E-93DAE58BEEC5}"/>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WSDM y SOHDM: usuarios y escenarios</a:t>
            </a:r>
            <a:endParaRPr sz="2300"/>
          </a:p>
        </p:txBody>
      </p:sp>
      <p:sp>
        <p:nvSpPr>
          <p:cNvPr id="5" name="Text 3">
            <a:extLst>
              <a:ext uri="{FF2B5EF4-FFF2-40B4-BE49-F238E27FC236}">
                <a16:creationId xmlns:a16="http://schemas.microsoft.com/office/drawing/2014/main" id="{D6A28F58-43C5-4A82-A277-F69B6A27966B}"/>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05 / 24</a:t>
            </a:r>
            <a:endParaRPr sz="800"/>
          </a:p>
        </p:txBody>
      </p:sp>
      <p:sp>
        <p:nvSpPr>
          <p:cNvPr id="6" name="Shape 4">
            <a:extLst>
              <a:ext uri="{FF2B5EF4-FFF2-40B4-BE49-F238E27FC236}">
                <a16:creationId xmlns:a16="http://schemas.microsoft.com/office/drawing/2014/main" id="{CD158D67-E273-474D-BB62-0410D792B637}"/>
              </a:ext>
            </a:extLst>
          </p:cNvPr>
          <p:cNvSpPr>
            <a:spLocks noGrp="1"/>
          </p:cNvSpPr>
          <p:nvPr/>
        </p:nvSpPr>
        <p:spPr>
          <a:xfrm>
            <a:off x="502920" y="1207008"/>
            <a:ext cx="4059936" cy="2216810"/>
          </a:xfrm>
          <a:prstGeom prst="roundRect">
            <a:avLst>
              <a:gd name="adj" fmla="val 2381"/>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11AC018B-7E9F-49B6-BFAD-54D4D04A3BF0}"/>
              </a:ext>
            </a:extLst>
          </p:cNvPr>
          <p:cNvSpPr>
            <a:spLocks noGrp="1"/>
          </p:cNvSpPr>
          <p:nvPr/>
        </p:nvSpPr>
        <p:spPr>
          <a:xfrm>
            <a:off x="649224" y="1325880"/>
            <a:ext cx="3639312" cy="237744"/>
          </a:xfrm>
          <a:prstGeom prst="rect">
            <a:avLst/>
          </a:prstGeom>
          <a:noFill/>
        </p:spPr>
        <p:txBody>
          <a:bodyPr wrap="square" lIns="0" tIns="0" rIns="0" bIns="0" anchor="ctr"/>
          <a:lstStyle/>
          <a:p>
            <a:r>
              <a:rPr sz="1200" b="1">
                <a:solidFill>
                  <a:srgbClr val="3DDC97"/>
                </a:solidFill>
                <a:latin typeface="Arial"/>
                <a:ea typeface="Arial"/>
                <a:cs typeface="Arial"/>
              </a:rPr>
              <a:t>WSDM · </a:t>
            </a:r>
            <a:r>
              <a:rPr sz="1200" b="1">
                <a:solidFill>
                  <a:srgbClr val="3DDC97"/>
                </a:solidFill>
              </a:rPr>
              <a:t>Método de Diseño de Sitios Web</a:t>
            </a:r>
            <a:r>
              <a:rPr sz="1200">
                <a:solidFill>
                  <a:srgbClr val="3DDC97"/>
                </a:solidFill>
              </a:rPr>
              <a:t>.</a:t>
            </a:r>
          </a:p>
        </p:txBody>
      </p:sp>
      <p:sp>
        <p:nvSpPr>
          <p:cNvPr id="8" name="Text 6">
            <a:extLst>
              <a:ext uri="{FF2B5EF4-FFF2-40B4-BE49-F238E27FC236}">
                <a16:creationId xmlns:a16="http://schemas.microsoft.com/office/drawing/2014/main" id="{F2CF95BD-CC50-4976-9719-281A9E33BF8C}"/>
              </a:ext>
            </a:extLst>
          </p:cNvPr>
          <p:cNvSpPr>
            <a:spLocks noGrp="1"/>
          </p:cNvSpPr>
          <p:nvPr/>
        </p:nvSpPr>
        <p:spPr>
          <a:xfrm>
            <a:off x="649224" y="1581912"/>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De Troyer y Leune · 1998 · Vrije Universiteit Brussel</a:t>
            </a:r>
            <a:endParaRPr sz="850"/>
          </a:p>
        </p:txBody>
      </p:sp>
      <p:sp>
        <p:nvSpPr>
          <p:cNvPr id="9" name="Text 7">
            <a:extLst>
              <a:ext uri="{FF2B5EF4-FFF2-40B4-BE49-F238E27FC236}">
                <a16:creationId xmlns:a16="http://schemas.microsoft.com/office/drawing/2014/main" id="{BDC41E3B-9F55-4A95-8C59-F869B10AA4A4}"/>
              </a:ext>
            </a:extLst>
          </p:cNvPr>
          <p:cNvSpPr>
            <a:spLocks noGrp="1"/>
          </p:cNvSpPr>
          <p:nvPr/>
        </p:nvSpPr>
        <p:spPr>
          <a:xfrm>
            <a:off x="649224" y="1801368"/>
            <a:ext cx="3785616" cy="1216152"/>
          </a:xfrm>
          <a:prstGeom prst="rect">
            <a:avLst/>
          </a:prstGeom>
          <a:noFill/>
        </p:spPr>
        <p:txBody>
          <a:bodyPr wrap="square" lIns="0" tIns="0" rIns="0" bIns="0" anchor="t"/>
          <a:lstStyle/>
          <a:p>
            <a:r>
              <a:rPr sz="1200" dirty="0" err="1">
                <a:solidFill>
                  <a:schemeClr val="bg1"/>
                </a:solidFill>
              </a:rPr>
              <a:t>Énfasis</a:t>
            </a:r>
            <a:r>
              <a:rPr sz="1200" dirty="0">
                <a:solidFill>
                  <a:schemeClr val="bg1"/>
                </a:solidFill>
              </a:rPr>
              <a:t> : </a:t>
            </a:r>
            <a:r>
              <a:rPr sz="1200" dirty="0" err="1">
                <a:solidFill>
                  <a:schemeClr val="bg1"/>
                </a:solidFill>
              </a:rPr>
              <a:t>Identificar</a:t>
            </a:r>
            <a:r>
              <a:rPr sz="1200" dirty="0">
                <a:solidFill>
                  <a:schemeClr val="bg1"/>
                </a:solidFill>
              </a:rPr>
              <a:t> </a:t>
            </a:r>
            <a:r>
              <a:rPr sz="1200" dirty="0" err="1">
                <a:solidFill>
                  <a:schemeClr val="bg1"/>
                </a:solidFill>
              </a:rPr>
              <a:t>grupos</a:t>
            </a:r>
            <a:r>
              <a:rPr sz="1200" dirty="0">
                <a:solidFill>
                  <a:schemeClr val="bg1"/>
                </a:solidFill>
              </a:rPr>
              <a:t> de </a:t>
            </a:r>
            <a:r>
              <a:rPr sz="1200" dirty="0" err="1">
                <a:solidFill>
                  <a:schemeClr val="bg1"/>
                </a:solidFill>
              </a:rPr>
              <a:t>usuarios</a:t>
            </a:r>
            <a:r>
              <a:rPr sz="1200" dirty="0">
                <a:solidFill>
                  <a:schemeClr val="bg1"/>
                </a:solidFill>
              </a:rPr>
              <a:t> y sus </a:t>
            </a:r>
            <a:r>
              <a:rPr sz="1200" dirty="0" err="1">
                <a:solidFill>
                  <a:schemeClr val="bg1"/>
                </a:solidFill>
              </a:rPr>
              <a:t>necesidades</a:t>
            </a:r>
            <a:r>
              <a:rPr sz="1200" dirty="0">
                <a:solidFill>
                  <a:schemeClr val="bg1"/>
                </a:solidFill>
              </a:rPr>
              <a:t>.</a:t>
            </a:r>
          </a:p>
          <a:p>
            <a:endParaRPr sz="1200" dirty="0">
              <a:solidFill>
                <a:schemeClr val="bg1"/>
              </a:solidFill>
            </a:endParaRPr>
          </a:p>
          <a:p>
            <a:r>
              <a:rPr sz="1200" dirty="0" err="1">
                <a:solidFill>
                  <a:schemeClr val="bg1"/>
                </a:solidFill>
              </a:rPr>
              <a:t>Pregunta</a:t>
            </a:r>
            <a:r>
              <a:rPr sz="1200" dirty="0">
                <a:solidFill>
                  <a:schemeClr val="bg1"/>
                </a:solidFill>
              </a:rPr>
              <a:t>: ¿</a:t>
            </a:r>
            <a:r>
              <a:rPr sz="1200" dirty="0" err="1">
                <a:solidFill>
                  <a:schemeClr val="bg1"/>
                </a:solidFill>
              </a:rPr>
              <a:t>Quién</a:t>
            </a:r>
            <a:r>
              <a:rPr sz="1200" dirty="0">
                <a:solidFill>
                  <a:schemeClr val="bg1"/>
                </a:solidFill>
              </a:rPr>
              <a:t> </a:t>
            </a:r>
            <a:r>
              <a:rPr sz="1200" dirty="0" err="1">
                <a:solidFill>
                  <a:schemeClr val="bg1"/>
                </a:solidFill>
              </a:rPr>
              <a:t>utilizará</a:t>
            </a:r>
            <a:r>
              <a:rPr sz="1200" dirty="0">
                <a:solidFill>
                  <a:schemeClr val="bg1"/>
                </a:solidFill>
              </a:rPr>
              <a:t> el </a:t>
            </a:r>
            <a:r>
              <a:rPr sz="1200" dirty="0" err="1">
                <a:solidFill>
                  <a:schemeClr val="bg1"/>
                </a:solidFill>
              </a:rPr>
              <a:t>servicio</a:t>
            </a:r>
            <a:r>
              <a:rPr sz="1200" dirty="0">
                <a:solidFill>
                  <a:schemeClr val="bg1"/>
                </a:solidFill>
              </a:rPr>
              <a:t> web y </a:t>
            </a:r>
            <a:r>
              <a:rPr sz="1200" dirty="0" err="1">
                <a:solidFill>
                  <a:schemeClr val="bg1"/>
                </a:solidFill>
              </a:rPr>
              <a:t>que</a:t>
            </a:r>
            <a:r>
              <a:rPr sz="1200" dirty="0">
                <a:solidFill>
                  <a:schemeClr val="bg1"/>
                </a:solidFill>
              </a:rPr>
              <a:t> </a:t>
            </a:r>
            <a:r>
              <a:rPr sz="1200" dirty="0" err="1">
                <a:solidFill>
                  <a:schemeClr val="bg1"/>
                </a:solidFill>
              </a:rPr>
              <a:t>necesita</a:t>
            </a:r>
            <a:r>
              <a:rPr sz="1200" dirty="0">
                <a:solidFill>
                  <a:schemeClr val="bg1"/>
                </a:solidFill>
              </a:rPr>
              <a:t> </a:t>
            </a:r>
            <a:r>
              <a:rPr sz="1200" dirty="0" err="1">
                <a:solidFill>
                  <a:schemeClr val="bg1"/>
                </a:solidFill>
              </a:rPr>
              <a:t>obtener</a:t>
            </a:r>
            <a:r>
              <a:rPr sz="1200" dirty="0">
                <a:solidFill>
                  <a:schemeClr val="bg1"/>
                </a:solidFill>
              </a:rPr>
              <a:t>?</a:t>
            </a:r>
          </a:p>
          <a:p>
            <a:endParaRPr sz="1200" dirty="0">
              <a:solidFill>
                <a:schemeClr val="bg1"/>
              </a:solidFill>
            </a:endParaRPr>
          </a:p>
          <a:p>
            <a:r>
              <a:rPr sz="1200" dirty="0" err="1">
                <a:solidFill>
                  <a:schemeClr val="bg1"/>
                </a:solidFill>
              </a:rPr>
              <a:t>Resultado</a:t>
            </a:r>
            <a:r>
              <a:rPr sz="1200" dirty="0">
                <a:solidFill>
                  <a:schemeClr val="bg1"/>
                </a:solidFill>
              </a:rPr>
              <a:t>: Un </a:t>
            </a:r>
            <a:r>
              <a:rPr sz="1200" dirty="0" err="1">
                <a:solidFill>
                  <a:schemeClr val="bg1"/>
                </a:solidFill>
              </a:rPr>
              <a:t>diseño</a:t>
            </a:r>
            <a:r>
              <a:rPr sz="1200" dirty="0">
                <a:solidFill>
                  <a:schemeClr val="bg1"/>
                </a:solidFill>
              </a:rPr>
              <a:t> </a:t>
            </a:r>
            <a:r>
              <a:rPr sz="1200" dirty="0" err="1">
                <a:solidFill>
                  <a:schemeClr val="bg1"/>
                </a:solidFill>
              </a:rPr>
              <a:t>organizado</a:t>
            </a:r>
            <a:r>
              <a:rPr sz="1200" dirty="0">
                <a:solidFill>
                  <a:schemeClr val="bg1"/>
                </a:solidFill>
              </a:rPr>
              <a:t> </a:t>
            </a:r>
            <a:r>
              <a:rPr sz="1200" dirty="0" err="1">
                <a:solidFill>
                  <a:schemeClr val="bg1"/>
                </a:solidFill>
              </a:rPr>
              <a:t>según</a:t>
            </a:r>
            <a:r>
              <a:rPr sz="1200" dirty="0">
                <a:solidFill>
                  <a:schemeClr val="bg1"/>
                </a:solidFill>
              </a:rPr>
              <a:t> la </a:t>
            </a:r>
            <a:r>
              <a:rPr sz="1200" dirty="0" err="1">
                <a:solidFill>
                  <a:schemeClr val="bg1"/>
                </a:solidFill>
              </a:rPr>
              <a:t>necesidades</a:t>
            </a:r>
            <a:r>
              <a:rPr sz="1200" dirty="0">
                <a:solidFill>
                  <a:schemeClr val="bg1"/>
                </a:solidFill>
              </a:rPr>
              <a:t> de </a:t>
            </a:r>
            <a:r>
              <a:rPr sz="1200" dirty="0" err="1">
                <a:solidFill>
                  <a:schemeClr val="bg1"/>
                </a:solidFill>
              </a:rPr>
              <a:t>los</a:t>
            </a:r>
            <a:r>
              <a:rPr sz="1200" dirty="0">
                <a:solidFill>
                  <a:schemeClr val="bg1"/>
                </a:solidFill>
              </a:rPr>
              <a:t> </a:t>
            </a:r>
            <a:r>
              <a:rPr sz="1200" dirty="0" err="1">
                <a:solidFill>
                  <a:schemeClr val="bg1"/>
                </a:solidFill>
              </a:rPr>
              <a:t>usuarios</a:t>
            </a:r>
            <a:endParaRPr sz="1200" dirty="0">
              <a:solidFill>
                <a:schemeClr val="bg1"/>
              </a:solidFill>
            </a:endParaRPr>
          </a:p>
          <a:p>
            <a:endParaRPr sz="1200" dirty="0">
              <a:solidFill>
                <a:schemeClr val="bg1"/>
              </a:solidFill>
            </a:endParaRPr>
          </a:p>
        </p:txBody>
      </p:sp>
      <p:sp>
        <p:nvSpPr>
          <p:cNvPr id="10" name="Shape 8">
            <a:extLst>
              <a:ext uri="{FF2B5EF4-FFF2-40B4-BE49-F238E27FC236}">
                <a16:creationId xmlns:a16="http://schemas.microsoft.com/office/drawing/2014/main" id="{42170F2E-44A5-4357-894F-C9C966786958}"/>
              </a:ext>
            </a:extLst>
          </p:cNvPr>
          <p:cNvSpPr>
            <a:spLocks noGrp="1"/>
          </p:cNvSpPr>
          <p:nvPr/>
        </p:nvSpPr>
        <p:spPr>
          <a:xfrm>
            <a:off x="4709160" y="1207007"/>
            <a:ext cx="3931920" cy="2216811"/>
          </a:xfrm>
          <a:prstGeom prst="roundRect">
            <a:avLst>
              <a:gd name="adj" fmla="val 2381"/>
            </a:avLst>
          </a:prstGeom>
          <a:solidFill>
            <a:srgbClr val="1A2434"/>
          </a:solidFill>
          <a:ln w="12700">
            <a:solidFill>
              <a:srgbClr val="56C7F2"/>
            </a:solidFill>
            <a:prstDash val="solid"/>
          </a:ln>
        </p:spPr>
        <p:txBody>
          <a:bodyPr/>
          <a:lstStyle/>
          <a:p>
            <a:endParaRPr/>
          </a:p>
        </p:txBody>
      </p:sp>
      <p:sp>
        <p:nvSpPr>
          <p:cNvPr id="11" name="Text 9">
            <a:extLst>
              <a:ext uri="{FF2B5EF4-FFF2-40B4-BE49-F238E27FC236}">
                <a16:creationId xmlns:a16="http://schemas.microsoft.com/office/drawing/2014/main" id="{59ECF673-D715-4629-AC1E-3B33DBC8B5A3}"/>
              </a:ext>
            </a:extLst>
          </p:cNvPr>
          <p:cNvSpPr>
            <a:spLocks noGrp="1"/>
          </p:cNvSpPr>
          <p:nvPr/>
        </p:nvSpPr>
        <p:spPr>
          <a:xfrm>
            <a:off x="4855464" y="1325880"/>
            <a:ext cx="3785616" cy="237744"/>
          </a:xfrm>
          <a:prstGeom prst="rect">
            <a:avLst/>
          </a:prstGeom>
          <a:noFill/>
        </p:spPr>
        <p:txBody>
          <a:bodyPr wrap="square" lIns="0" tIns="0" rIns="0" bIns="0" anchor="ctr"/>
          <a:lstStyle/>
          <a:p>
            <a:pPr marL="0" indent="0">
              <a:buNone/>
            </a:pPr>
            <a:r>
              <a:rPr sz="1200" b="1">
                <a:solidFill>
                  <a:srgbClr val="56C7F2"/>
                </a:solidFill>
                <a:latin typeface="Arial"/>
                <a:ea typeface="Arial"/>
                <a:cs typeface="Arial"/>
              </a:rPr>
              <a:t>SOHDM · Diseño hipermedia basado en escenarios</a:t>
            </a:r>
            <a:endParaRPr sz="1200"/>
          </a:p>
        </p:txBody>
      </p:sp>
      <p:sp>
        <p:nvSpPr>
          <p:cNvPr id="12" name="Text 10">
            <a:extLst>
              <a:ext uri="{FF2B5EF4-FFF2-40B4-BE49-F238E27FC236}">
                <a16:creationId xmlns:a16="http://schemas.microsoft.com/office/drawing/2014/main" id="{F944E2F8-C6E0-4539-BE44-F6A33169FE8E}"/>
              </a:ext>
            </a:extLst>
          </p:cNvPr>
          <p:cNvSpPr>
            <a:spLocks noGrp="1"/>
          </p:cNvSpPr>
          <p:nvPr/>
        </p:nvSpPr>
        <p:spPr>
          <a:xfrm>
            <a:off x="4855464" y="1581912"/>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Scenario-based Object-oriented Hypermedia Design Methodology</a:t>
            </a:r>
            <a:endParaRPr sz="850"/>
          </a:p>
        </p:txBody>
      </p:sp>
      <p:sp>
        <p:nvSpPr>
          <p:cNvPr id="13" name="Text 11">
            <a:extLst>
              <a:ext uri="{FF2B5EF4-FFF2-40B4-BE49-F238E27FC236}">
                <a16:creationId xmlns:a16="http://schemas.microsoft.com/office/drawing/2014/main" id="{825A47F3-675E-47F3-BFB2-6869D9B98B91}"/>
              </a:ext>
            </a:extLst>
          </p:cNvPr>
          <p:cNvSpPr>
            <a:spLocks noGrp="1"/>
          </p:cNvSpPr>
          <p:nvPr/>
        </p:nvSpPr>
        <p:spPr>
          <a:xfrm>
            <a:off x="4855464" y="1801368"/>
            <a:ext cx="3639312" cy="1216152"/>
          </a:xfrm>
          <a:prstGeom prst="rect">
            <a:avLst/>
          </a:prstGeom>
          <a:noFill/>
        </p:spPr>
        <p:txBody>
          <a:bodyPr wrap="square" lIns="0" tIns="0" rIns="0" bIns="0" anchor="t"/>
          <a:lstStyle/>
          <a:p>
            <a:r>
              <a:rPr sz="1200">
                <a:solidFill>
                  <a:schemeClr val="bg1"/>
                </a:solidFill>
              </a:rPr>
              <a:t>Énfasis: Los escenarios de uso: situaciones que describen cómo interactúa el usuario con la aplicación para realizar una tarea.</a:t>
            </a:r>
          </a:p>
          <a:p>
            <a:endParaRPr sz="1200">
              <a:solidFill>
                <a:schemeClr val="bg1"/>
              </a:solidFill>
            </a:endParaRPr>
          </a:p>
          <a:p>
            <a:r>
              <a:rPr sz="1200">
                <a:solidFill>
                  <a:schemeClr val="bg1"/>
                </a:solidFill>
              </a:rPr>
              <a:t>Pregunta: ¿Qué pasos sigue el usuario y cómo responde la aplicación para completar una tarea?.</a:t>
            </a:r>
          </a:p>
          <a:p>
            <a:endParaRPr sz="1200">
              <a:solidFill>
                <a:schemeClr val="bg1"/>
              </a:solidFill>
            </a:endParaRPr>
          </a:p>
          <a:p>
            <a:r>
              <a:rPr sz="1200">
                <a:solidFill>
                  <a:schemeClr val="bg1"/>
                </a:solidFill>
              </a:rPr>
              <a:t>Resultado: Diseño a partir de escenarios analizados</a:t>
            </a:r>
          </a:p>
        </p:txBody>
      </p:sp>
      <p:sp>
        <p:nvSpPr>
          <p:cNvPr id="14" name="Shape 12">
            <a:extLst>
              <a:ext uri="{FF2B5EF4-FFF2-40B4-BE49-F238E27FC236}">
                <a16:creationId xmlns:a16="http://schemas.microsoft.com/office/drawing/2014/main" id="{5A7B38CC-685F-4228-A190-5254E13E6430}"/>
              </a:ext>
            </a:extLst>
          </p:cNvPr>
          <p:cNvSpPr>
            <a:spLocks noGrp="1"/>
          </p:cNvSpPr>
          <p:nvPr/>
        </p:nvSpPr>
        <p:spPr>
          <a:xfrm>
            <a:off x="475488" y="3543023"/>
            <a:ext cx="8138160" cy="1056077"/>
          </a:xfrm>
          <a:prstGeom prst="roundRect">
            <a:avLst>
              <a:gd name="adj" fmla="val 5102"/>
            </a:avLst>
          </a:prstGeom>
          <a:solidFill>
            <a:srgbClr val="1A2434"/>
          </a:solidFill>
          <a:ln w="12700">
            <a:solidFill>
              <a:srgbClr val="FFB86C"/>
            </a:solidFill>
            <a:prstDash val="solid"/>
          </a:ln>
        </p:spPr>
        <p:txBody>
          <a:bodyPr/>
          <a:lstStyle/>
          <a:p>
            <a:endParaRPr/>
          </a:p>
        </p:txBody>
      </p:sp>
      <p:sp>
        <p:nvSpPr>
          <p:cNvPr id="16" name="Text 14">
            <a:extLst>
              <a:ext uri="{FF2B5EF4-FFF2-40B4-BE49-F238E27FC236}">
                <a16:creationId xmlns:a16="http://schemas.microsoft.com/office/drawing/2014/main" id="{5E724390-BEAF-4218-8D64-5603C562A98E}"/>
              </a:ext>
            </a:extLst>
          </p:cNvPr>
          <p:cNvSpPr>
            <a:spLocks noGrp="1"/>
          </p:cNvSpPr>
          <p:nvPr/>
        </p:nvSpPr>
        <p:spPr>
          <a:xfrm>
            <a:off x="594360" y="3659469"/>
            <a:ext cx="7680960" cy="493776"/>
          </a:xfrm>
          <a:prstGeom prst="rect">
            <a:avLst/>
          </a:prstGeom>
          <a:noFill/>
        </p:spPr>
        <p:txBody>
          <a:bodyPr wrap="square" lIns="0" tIns="0" rIns="0" bIns="0" anchor="t"/>
          <a:lstStyle/>
          <a:p>
            <a:r>
              <a:rPr sz="1200" b="1">
                <a:solidFill>
                  <a:schemeClr val="bg1"/>
                </a:solidFill>
              </a:rPr>
              <a:t>WSDM:</a:t>
            </a:r>
            <a:r>
              <a:rPr sz="1200">
                <a:solidFill>
                  <a:schemeClr val="bg1"/>
                </a:solidFill>
              </a:rPr>
              <a:t> ¿Quién usará el sitio y qué necesita encontrar o hacer?</a:t>
            </a:r>
          </a:p>
          <a:p>
            <a:r>
              <a:rPr sz="1200">
                <a:solidFill>
                  <a:schemeClr val="bg1"/>
                </a:solidFill>
              </a:rPr>
              <a:t>Ejemplo: un aspirante necesita consultar los programas de una universidad y conocer los requisitos de inscripción.</a:t>
            </a:r>
          </a:p>
          <a:p>
            <a:r>
              <a:rPr sz="1200" b="1">
                <a:solidFill>
                  <a:schemeClr val="bg1"/>
                </a:solidFill>
              </a:rPr>
              <a:t>SOHDM:</a:t>
            </a:r>
            <a:r>
              <a:rPr sz="1200">
                <a:solidFill>
                  <a:schemeClr val="bg1"/>
                </a:solidFill>
              </a:rPr>
              <a:t> ¿Qué pasos sigue el usuario y cómo responde el sistema para completar una tarea?</a:t>
            </a:r>
          </a:p>
          <a:p>
            <a:r>
              <a:rPr sz="1200">
                <a:solidFill>
                  <a:schemeClr val="bg1"/>
                </a:solidFill>
              </a:rPr>
              <a:t>Ejemplo: el aspirante selecciona un programa, completa el formulario y envía su inscripción; el sistema valida los datos y muestra la confirmación.</a:t>
            </a:r>
          </a:p>
        </p:txBody>
      </p:sp>
    </p:spTree>
    <p:extLst>
      <p:ext uri="{BB962C8B-B14F-4D97-AF65-F5344CB8AC3E}">
        <p14:creationId xmlns:p14="http://schemas.microsoft.com/office/powerpoint/2010/main" val="1365419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293DFF0-F01C-4AD8-B553-68D74B656EBD}"/>
              </a:ext>
            </a:extLst>
          </p:cNvPr>
          <p:cNvSpPr>
            <a:spLocks noGrp="1"/>
          </p:cNvSpPr>
          <p:nvPr/>
        </p:nvSpPr>
        <p:spPr>
          <a:xfrm>
            <a:off x="502920" y="365760"/>
            <a:ext cx="136245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C5ED2DD7-387D-4D03-9975-6715120A7C46}"/>
              </a:ext>
            </a:extLst>
          </p:cNvPr>
          <p:cNvSpPr>
            <a:spLocks noGrp="1"/>
          </p:cNvSpPr>
          <p:nvPr/>
        </p:nvSpPr>
        <p:spPr>
          <a:xfrm>
            <a:off x="502920" y="365760"/>
            <a:ext cx="136245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PANORAMA 1 / 5</a:t>
            </a:r>
            <a:endParaRPr sz="850"/>
          </a:p>
        </p:txBody>
      </p:sp>
      <p:sp>
        <p:nvSpPr>
          <p:cNvPr id="4" name="Text 2">
            <a:extLst>
              <a:ext uri="{FF2B5EF4-FFF2-40B4-BE49-F238E27FC236}">
                <a16:creationId xmlns:a16="http://schemas.microsoft.com/office/drawing/2014/main" id="{2A4D3013-F368-43EA-B46F-EF2BB2BEF7AD}"/>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dirty="0">
                <a:solidFill>
                  <a:srgbClr val="FFFFFF"/>
                </a:solidFill>
                <a:latin typeface="Arial"/>
                <a:ea typeface="Arial"/>
                <a:cs typeface="Arial"/>
              </a:rPr>
              <a:t>HDM las </a:t>
            </a:r>
            <a:r>
              <a:rPr sz="2300" b="1" dirty="0" err="1">
                <a:solidFill>
                  <a:srgbClr val="FFFFFF"/>
                </a:solidFill>
                <a:latin typeface="Arial"/>
                <a:ea typeface="Arial"/>
                <a:cs typeface="Arial"/>
              </a:rPr>
              <a:t>primeras</a:t>
            </a:r>
            <a:r>
              <a:rPr sz="2300" b="1" dirty="0">
                <a:solidFill>
                  <a:srgbClr val="FFFFFF"/>
                </a:solidFill>
                <a:latin typeface="Arial"/>
                <a:ea typeface="Arial"/>
                <a:cs typeface="Arial"/>
              </a:rPr>
              <a:t> </a:t>
            </a:r>
            <a:r>
              <a:rPr sz="2300" b="1" dirty="0" err="1">
                <a:solidFill>
                  <a:srgbClr val="FFFFFF"/>
                </a:solidFill>
                <a:latin typeface="Arial"/>
                <a:ea typeface="Arial"/>
                <a:cs typeface="Arial"/>
              </a:rPr>
              <a:t>propuestas</a:t>
            </a:r>
            <a:endParaRPr sz="2300" dirty="0"/>
          </a:p>
        </p:txBody>
      </p:sp>
      <p:sp>
        <p:nvSpPr>
          <p:cNvPr id="5" name="Text 3">
            <a:extLst>
              <a:ext uri="{FF2B5EF4-FFF2-40B4-BE49-F238E27FC236}">
                <a16:creationId xmlns:a16="http://schemas.microsoft.com/office/drawing/2014/main" id="{AB1AF619-741C-4ACB-B7BD-DC4259E1C735}"/>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06 / 24</a:t>
            </a:r>
            <a:endParaRPr sz="800"/>
          </a:p>
        </p:txBody>
      </p:sp>
      <p:sp>
        <p:nvSpPr>
          <p:cNvPr id="6" name="Shape 4">
            <a:extLst>
              <a:ext uri="{FF2B5EF4-FFF2-40B4-BE49-F238E27FC236}">
                <a16:creationId xmlns:a16="http://schemas.microsoft.com/office/drawing/2014/main" id="{7DDEC508-E06E-4581-BC45-FBF7A3902685}"/>
              </a:ext>
            </a:extLst>
          </p:cNvPr>
          <p:cNvSpPr>
            <a:spLocks noGrp="1"/>
          </p:cNvSpPr>
          <p:nvPr/>
        </p:nvSpPr>
        <p:spPr>
          <a:xfrm>
            <a:off x="502920" y="1170432"/>
            <a:ext cx="8138160" cy="566928"/>
          </a:xfrm>
          <a:prstGeom prst="roundRect">
            <a:avLst>
              <a:gd name="adj" fmla="val 8065"/>
            </a:avLst>
          </a:prstGeom>
          <a:solidFill>
            <a:srgbClr val="1A2434"/>
          </a:solidFill>
          <a:ln w="12700">
            <a:solidFill>
              <a:srgbClr val="56C7F2"/>
            </a:solidFill>
            <a:prstDash val="solid"/>
          </a:ln>
        </p:spPr>
        <p:txBody>
          <a:bodyPr/>
          <a:lstStyle/>
          <a:p>
            <a:endParaRPr/>
          </a:p>
        </p:txBody>
      </p:sp>
      <p:sp>
        <p:nvSpPr>
          <p:cNvPr id="7" name="Text 5">
            <a:extLst>
              <a:ext uri="{FF2B5EF4-FFF2-40B4-BE49-F238E27FC236}">
                <a16:creationId xmlns:a16="http://schemas.microsoft.com/office/drawing/2014/main" id="{DBE11C34-842A-4256-B574-FFC065974082}"/>
              </a:ext>
            </a:extLst>
          </p:cNvPr>
          <p:cNvSpPr>
            <a:spLocks noGrp="1"/>
          </p:cNvSpPr>
          <p:nvPr/>
        </p:nvSpPr>
        <p:spPr>
          <a:xfrm>
            <a:off x="731520" y="1261872"/>
            <a:ext cx="7680960" cy="402336"/>
          </a:xfrm>
          <a:prstGeom prst="rect">
            <a:avLst/>
          </a:prstGeom>
          <a:noFill/>
        </p:spPr>
        <p:txBody>
          <a:bodyPr wrap="square" lIns="0" tIns="0" rIns="0" bIns="0" anchor="t"/>
          <a:lstStyle/>
          <a:p>
            <a:r>
              <a:rPr sz="1000">
                <a:solidFill>
                  <a:schemeClr val="bg1"/>
                </a:solidFill>
                <a:latin typeface="Calibri"/>
                <a:ea typeface="Calibri"/>
                <a:cs typeface="Calibri"/>
              </a:rPr>
              <a:t>Término previo — hipermedia: </a:t>
            </a:r>
            <a:r>
              <a:rPr sz="1000">
                <a:solidFill>
                  <a:schemeClr val="bg1"/>
                </a:solidFill>
              </a:rPr>
              <a:t>Información que combina texto, imágenes u otros medios conectados mediante enlaces.</a:t>
            </a:r>
            <a:r>
              <a:rPr sz="1000">
                <a:solidFill>
                  <a:schemeClr val="bg1"/>
                </a:solidFill>
                <a:latin typeface="Calibri"/>
                <a:ea typeface="Calibri"/>
                <a:cs typeface="Calibri"/>
              </a:rPr>
              <a:t> La web es su realización más extendida.</a:t>
            </a:r>
            <a:endParaRPr sz="1000">
              <a:solidFill>
                <a:schemeClr val="bg1"/>
              </a:solidFill>
            </a:endParaRPr>
          </a:p>
        </p:txBody>
      </p:sp>
      <p:sp>
        <p:nvSpPr>
          <p:cNvPr id="8" name="Shape 6">
            <a:extLst>
              <a:ext uri="{FF2B5EF4-FFF2-40B4-BE49-F238E27FC236}">
                <a16:creationId xmlns:a16="http://schemas.microsoft.com/office/drawing/2014/main" id="{EABC1B89-061C-4B37-AB00-8B956144EA6B}"/>
              </a:ext>
            </a:extLst>
          </p:cNvPr>
          <p:cNvSpPr>
            <a:spLocks noGrp="1"/>
          </p:cNvSpPr>
          <p:nvPr/>
        </p:nvSpPr>
        <p:spPr>
          <a:xfrm>
            <a:off x="502920" y="1810512"/>
            <a:ext cx="8138160" cy="2001012"/>
          </a:xfrm>
          <a:prstGeom prst="roundRect">
            <a:avLst>
              <a:gd name="adj" fmla="val 2688"/>
            </a:avLst>
          </a:prstGeom>
          <a:solidFill>
            <a:srgbClr val="1A2434"/>
          </a:solidFill>
          <a:ln w="12700">
            <a:solidFill>
              <a:srgbClr val="3DDC97"/>
            </a:solidFill>
            <a:prstDash val="solid"/>
          </a:ln>
        </p:spPr>
        <p:txBody>
          <a:bodyPr/>
          <a:lstStyle/>
          <a:p>
            <a:endParaRPr/>
          </a:p>
        </p:txBody>
      </p:sp>
      <p:sp>
        <p:nvSpPr>
          <p:cNvPr id="9" name="Text 7">
            <a:extLst>
              <a:ext uri="{FF2B5EF4-FFF2-40B4-BE49-F238E27FC236}">
                <a16:creationId xmlns:a16="http://schemas.microsoft.com/office/drawing/2014/main" id="{49C72E29-9FB2-4557-A59F-3B0F0C4CD366}"/>
              </a:ext>
            </a:extLst>
          </p:cNvPr>
          <p:cNvSpPr>
            <a:spLocks noGrp="1"/>
          </p:cNvSpPr>
          <p:nvPr/>
        </p:nvSpPr>
        <p:spPr>
          <a:xfrm>
            <a:off x="649224" y="2002536"/>
            <a:ext cx="3639312" cy="237744"/>
          </a:xfrm>
          <a:prstGeom prst="rect">
            <a:avLst/>
          </a:prstGeom>
          <a:noFill/>
        </p:spPr>
        <p:txBody>
          <a:bodyPr wrap="square" lIns="0" tIns="0" rIns="0" bIns="0" anchor="ctr"/>
          <a:lstStyle/>
          <a:p>
            <a:r>
              <a:rPr sz="1200" b="1">
                <a:solidFill>
                  <a:srgbClr val="3DDC97"/>
                </a:solidFill>
                <a:latin typeface="Arial"/>
                <a:ea typeface="Arial"/>
                <a:cs typeface="Arial"/>
              </a:rPr>
              <a:t>HDM · Modelo de Diseño de Hipermedia.</a:t>
            </a:r>
          </a:p>
        </p:txBody>
      </p:sp>
      <p:sp>
        <p:nvSpPr>
          <p:cNvPr id="10" name="Text 8">
            <a:extLst>
              <a:ext uri="{FF2B5EF4-FFF2-40B4-BE49-F238E27FC236}">
                <a16:creationId xmlns:a16="http://schemas.microsoft.com/office/drawing/2014/main" id="{F9C89987-D32B-4D11-A508-1D95BE246E87}"/>
              </a:ext>
            </a:extLst>
          </p:cNvPr>
          <p:cNvSpPr>
            <a:spLocks noGrp="1"/>
          </p:cNvSpPr>
          <p:nvPr/>
        </p:nvSpPr>
        <p:spPr>
          <a:xfrm>
            <a:off x="649224" y="2258568"/>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Garzotto, Paolini y Schwabe · 1993</a:t>
            </a:r>
            <a:endParaRPr sz="850"/>
          </a:p>
        </p:txBody>
      </p:sp>
      <p:sp>
        <p:nvSpPr>
          <p:cNvPr id="16" name="Shape 14">
            <a:extLst>
              <a:ext uri="{FF2B5EF4-FFF2-40B4-BE49-F238E27FC236}">
                <a16:creationId xmlns:a16="http://schemas.microsoft.com/office/drawing/2014/main" id="{AB084371-885D-444D-9437-34775B475D29}"/>
              </a:ext>
            </a:extLst>
          </p:cNvPr>
          <p:cNvSpPr>
            <a:spLocks noGrp="1"/>
          </p:cNvSpPr>
          <p:nvPr/>
        </p:nvSpPr>
        <p:spPr>
          <a:xfrm>
            <a:off x="475488" y="3944112"/>
            <a:ext cx="8138160" cy="786384"/>
          </a:xfrm>
          <a:prstGeom prst="roundRect">
            <a:avLst>
              <a:gd name="adj" fmla="val 5814"/>
            </a:avLst>
          </a:prstGeom>
          <a:solidFill>
            <a:srgbClr val="1A2434"/>
          </a:solidFill>
          <a:ln w="12700">
            <a:solidFill>
              <a:srgbClr val="FFB86C"/>
            </a:solidFill>
            <a:prstDash val="solid"/>
          </a:ln>
        </p:spPr>
        <p:txBody>
          <a:bodyPr/>
          <a:lstStyle/>
          <a:p>
            <a:endParaRPr/>
          </a:p>
        </p:txBody>
      </p:sp>
      <p:sp>
        <p:nvSpPr>
          <p:cNvPr id="17" name="Text 15">
            <a:extLst>
              <a:ext uri="{FF2B5EF4-FFF2-40B4-BE49-F238E27FC236}">
                <a16:creationId xmlns:a16="http://schemas.microsoft.com/office/drawing/2014/main" id="{F803BB2E-7612-4168-8073-74FA439A9C30}"/>
              </a:ext>
            </a:extLst>
          </p:cNvPr>
          <p:cNvSpPr>
            <a:spLocks noGrp="1"/>
          </p:cNvSpPr>
          <p:nvPr/>
        </p:nvSpPr>
        <p:spPr>
          <a:xfrm>
            <a:off x="731520" y="3976116"/>
            <a:ext cx="7680960" cy="201168"/>
          </a:xfrm>
          <a:prstGeom prst="rect">
            <a:avLst/>
          </a:prstGeom>
          <a:noFill/>
        </p:spPr>
        <p:txBody>
          <a:bodyPr wrap="square" lIns="0" tIns="0" rIns="0" bIns="0" anchor="ctr"/>
          <a:lstStyle/>
          <a:p>
            <a:pPr marL="0" indent="0">
              <a:buNone/>
            </a:pPr>
            <a:r>
              <a:rPr sz="1150" b="1">
                <a:solidFill>
                  <a:srgbClr val="FFB86C"/>
                </a:solidFill>
                <a:latin typeface="Arial"/>
                <a:ea typeface="Arial"/>
                <a:cs typeface="Arial"/>
              </a:rPr>
              <a:t>Diferencia que conviene fijar</a:t>
            </a:r>
            <a:endParaRPr sz="1150"/>
          </a:p>
        </p:txBody>
      </p:sp>
      <p:sp>
        <p:nvSpPr>
          <p:cNvPr id="18" name="Text 16">
            <a:extLst>
              <a:ext uri="{FF2B5EF4-FFF2-40B4-BE49-F238E27FC236}">
                <a16:creationId xmlns:a16="http://schemas.microsoft.com/office/drawing/2014/main" id="{2B3E5603-FF36-4B67-82AE-71B68F4982EE}"/>
              </a:ext>
            </a:extLst>
          </p:cNvPr>
          <p:cNvSpPr>
            <a:spLocks noGrp="1"/>
          </p:cNvSpPr>
          <p:nvPr/>
        </p:nvSpPr>
        <p:spPr>
          <a:xfrm>
            <a:off x="704088" y="4267962"/>
            <a:ext cx="7680960" cy="384048"/>
          </a:xfrm>
          <a:prstGeom prst="rect">
            <a:avLst/>
          </a:prstGeom>
          <a:noFill/>
        </p:spPr>
        <p:txBody>
          <a:bodyPr wrap="square" lIns="0" tIns="0" rIns="0" bIns="0" anchor="t"/>
          <a:lstStyle/>
          <a:p>
            <a:pPr marL="0" indent="0">
              <a:lnSpc>
                <a:spcPct val="110000"/>
              </a:lnSpc>
              <a:buNone/>
            </a:pPr>
            <a:r>
              <a:rPr sz="1050">
                <a:solidFill>
                  <a:srgbClr val="E8EEF6"/>
                </a:solidFill>
                <a:latin typeface="Calibri"/>
                <a:ea typeface="Calibri"/>
                <a:cs typeface="Calibri"/>
              </a:rPr>
              <a:t>HDM responde «qué representar» y deja libre el proceso. </a:t>
            </a:r>
            <a:endParaRPr sz="1050"/>
          </a:p>
        </p:txBody>
      </p:sp>
      <p:sp>
        <p:nvSpPr>
          <p:cNvPr id="20" name="Text 7">
            <a:extLst>
              <a:ext uri="{FF2B5EF4-FFF2-40B4-BE49-F238E27FC236}">
                <a16:creationId xmlns:a16="http://schemas.microsoft.com/office/drawing/2014/main" id="{3CCEDFCB-FFB2-F5E3-6A07-867F77C90F67}"/>
              </a:ext>
            </a:extLst>
          </p:cNvPr>
          <p:cNvSpPr>
            <a:spLocks noGrp="1"/>
          </p:cNvSpPr>
          <p:nvPr/>
        </p:nvSpPr>
        <p:spPr>
          <a:xfrm>
            <a:off x="649224" y="2409444"/>
            <a:ext cx="7735824" cy="1216152"/>
          </a:xfrm>
          <a:prstGeom prst="rect">
            <a:avLst/>
          </a:prstGeom>
          <a:noFill/>
        </p:spPr>
        <p:txBody>
          <a:bodyPr wrap="square" lIns="0" tIns="0" rIns="0" bIns="0" anchor="t"/>
          <a:lstStyle/>
          <a:p>
            <a:r>
              <a:rPr sz="1200" dirty="0" err="1">
                <a:solidFill>
                  <a:schemeClr val="bg1"/>
                </a:solidFill>
              </a:rPr>
              <a:t>Énfasis</a:t>
            </a:r>
            <a:r>
              <a:rPr sz="1200" dirty="0">
                <a:solidFill>
                  <a:schemeClr val="bg1"/>
                </a:solidFill>
              </a:rPr>
              <a:t> : La </a:t>
            </a:r>
            <a:r>
              <a:rPr sz="1200" dirty="0" err="1">
                <a:solidFill>
                  <a:schemeClr val="bg1"/>
                </a:solidFill>
              </a:rPr>
              <a:t>organización</a:t>
            </a:r>
            <a:r>
              <a:rPr sz="1200" dirty="0">
                <a:solidFill>
                  <a:schemeClr val="bg1"/>
                </a:solidFill>
              </a:rPr>
              <a:t> de la </a:t>
            </a:r>
            <a:r>
              <a:rPr sz="1200" dirty="0" err="1">
                <a:solidFill>
                  <a:schemeClr val="bg1"/>
                </a:solidFill>
              </a:rPr>
              <a:t>información</a:t>
            </a:r>
            <a:r>
              <a:rPr sz="1200" dirty="0">
                <a:solidFill>
                  <a:schemeClr val="bg1"/>
                </a:solidFill>
              </a:rPr>
              <a:t> y las </a:t>
            </a:r>
            <a:r>
              <a:rPr sz="1200" dirty="0" err="1">
                <a:solidFill>
                  <a:schemeClr val="bg1"/>
                </a:solidFill>
              </a:rPr>
              <a:t>conexiones</a:t>
            </a:r>
            <a:r>
              <a:rPr sz="1200" dirty="0">
                <a:solidFill>
                  <a:schemeClr val="bg1"/>
                </a:solidFill>
              </a:rPr>
              <a:t> entre </a:t>
            </a:r>
            <a:r>
              <a:rPr sz="1200" dirty="0" err="1">
                <a:solidFill>
                  <a:schemeClr val="bg1"/>
                </a:solidFill>
              </a:rPr>
              <a:t>los</a:t>
            </a:r>
            <a:r>
              <a:rPr sz="1200" dirty="0">
                <a:solidFill>
                  <a:schemeClr val="bg1"/>
                </a:solidFill>
              </a:rPr>
              <a:t> </a:t>
            </a:r>
            <a:r>
              <a:rPr sz="1200" dirty="0" err="1">
                <a:solidFill>
                  <a:schemeClr val="bg1"/>
                </a:solidFill>
              </a:rPr>
              <a:t>contenidos</a:t>
            </a:r>
            <a:r>
              <a:rPr sz="1200" dirty="0">
                <a:solidFill>
                  <a:schemeClr val="bg1"/>
                </a:solidFill>
              </a:rPr>
              <a:t>.</a:t>
            </a:r>
          </a:p>
          <a:p>
            <a:endParaRPr sz="1200" dirty="0">
              <a:solidFill>
                <a:schemeClr val="bg1"/>
              </a:solidFill>
            </a:endParaRPr>
          </a:p>
          <a:p>
            <a:r>
              <a:rPr sz="1200" dirty="0" err="1">
                <a:solidFill>
                  <a:schemeClr val="bg1"/>
                </a:solidFill>
              </a:rPr>
              <a:t>Pregunta</a:t>
            </a:r>
            <a:r>
              <a:rPr sz="1200" dirty="0">
                <a:solidFill>
                  <a:schemeClr val="bg1"/>
                </a:solidFill>
              </a:rPr>
              <a:t>: ¿</a:t>
            </a:r>
            <a:r>
              <a:rPr sz="1200" dirty="0" err="1">
                <a:solidFill>
                  <a:schemeClr val="bg1"/>
                </a:solidFill>
              </a:rPr>
              <a:t>Qué</a:t>
            </a:r>
            <a:r>
              <a:rPr sz="1200" dirty="0">
                <a:solidFill>
                  <a:schemeClr val="bg1"/>
                </a:solidFill>
              </a:rPr>
              <a:t> </a:t>
            </a:r>
            <a:r>
              <a:rPr sz="1200" dirty="0" err="1">
                <a:solidFill>
                  <a:schemeClr val="bg1"/>
                </a:solidFill>
              </a:rPr>
              <a:t>información</a:t>
            </a:r>
            <a:r>
              <a:rPr sz="1200" dirty="0">
                <a:solidFill>
                  <a:schemeClr val="bg1"/>
                </a:solidFill>
              </a:rPr>
              <a:t> </a:t>
            </a:r>
            <a:r>
              <a:rPr sz="1200" dirty="0" err="1">
                <a:solidFill>
                  <a:schemeClr val="bg1"/>
                </a:solidFill>
              </a:rPr>
              <a:t>tendrá</a:t>
            </a:r>
            <a:r>
              <a:rPr sz="1200" dirty="0">
                <a:solidFill>
                  <a:schemeClr val="bg1"/>
                </a:solidFill>
              </a:rPr>
              <a:t> la </a:t>
            </a:r>
            <a:r>
              <a:rPr sz="1200" dirty="0" err="1">
                <a:solidFill>
                  <a:schemeClr val="bg1"/>
                </a:solidFill>
              </a:rPr>
              <a:t>aplicación</a:t>
            </a:r>
            <a:r>
              <a:rPr sz="1200" dirty="0">
                <a:solidFill>
                  <a:schemeClr val="bg1"/>
                </a:solidFill>
              </a:rPr>
              <a:t> y </a:t>
            </a:r>
            <a:r>
              <a:rPr sz="1200" dirty="0" err="1">
                <a:solidFill>
                  <a:schemeClr val="bg1"/>
                </a:solidFill>
              </a:rPr>
              <a:t>cómo</a:t>
            </a:r>
            <a:r>
              <a:rPr sz="1200" dirty="0">
                <a:solidFill>
                  <a:schemeClr val="bg1"/>
                </a:solidFill>
              </a:rPr>
              <a:t> se </a:t>
            </a:r>
            <a:r>
              <a:rPr sz="1200" dirty="0" err="1">
                <a:solidFill>
                  <a:schemeClr val="bg1"/>
                </a:solidFill>
              </a:rPr>
              <a:t>conectarán</a:t>
            </a:r>
            <a:r>
              <a:rPr sz="1200" dirty="0">
                <a:solidFill>
                  <a:schemeClr val="bg1"/>
                </a:solidFill>
              </a:rPr>
              <a:t> sus </a:t>
            </a:r>
            <a:r>
              <a:rPr sz="1200" dirty="0" err="1">
                <a:solidFill>
                  <a:schemeClr val="bg1"/>
                </a:solidFill>
              </a:rPr>
              <a:t>contenidos</a:t>
            </a:r>
            <a:r>
              <a:rPr sz="1200" dirty="0">
                <a:solidFill>
                  <a:schemeClr val="bg1"/>
                </a:solidFill>
              </a:rPr>
              <a:t> para </a:t>
            </a:r>
            <a:r>
              <a:rPr sz="1200" dirty="0" err="1">
                <a:solidFill>
                  <a:schemeClr val="bg1"/>
                </a:solidFill>
              </a:rPr>
              <a:t>navegar</a:t>
            </a:r>
            <a:r>
              <a:rPr sz="1200" dirty="0">
                <a:solidFill>
                  <a:schemeClr val="bg1"/>
                </a:solidFill>
              </a:rPr>
              <a:t> entre </a:t>
            </a:r>
            <a:r>
              <a:rPr sz="1200" dirty="0" err="1">
                <a:solidFill>
                  <a:schemeClr val="bg1"/>
                </a:solidFill>
              </a:rPr>
              <a:t>ellos</a:t>
            </a:r>
            <a:r>
              <a:rPr sz="1200" dirty="0">
                <a:solidFill>
                  <a:schemeClr val="bg1"/>
                </a:solidFill>
              </a:rPr>
              <a:t>?.</a:t>
            </a:r>
          </a:p>
          <a:p>
            <a:endParaRPr sz="1200" dirty="0">
              <a:solidFill>
                <a:schemeClr val="bg1"/>
              </a:solidFill>
            </a:endParaRPr>
          </a:p>
          <a:p>
            <a:r>
              <a:rPr sz="1200" dirty="0" err="1">
                <a:solidFill>
                  <a:schemeClr val="bg1"/>
                </a:solidFill>
              </a:rPr>
              <a:t>Resultado</a:t>
            </a:r>
            <a:r>
              <a:rPr sz="1200" dirty="0">
                <a:solidFill>
                  <a:schemeClr val="bg1"/>
                </a:solidFill>
              </a:rPr>
              <a:t>: Un </a:t>
            </a:r>
            <a:r>
              <a:rPr sz="1200" dirty="0" err="1">
                <a:solidFill>
                  <a:schemeClr val="bg1"/>
                </a:solidFill>
              </a:rPr>
              <a:t>modelo</a:t>
            </a:r>
            <a:r>
              <a:rPr sz="1200" dirty="0">
                <a:solidFill>
                  <a:schemeClr val="bg1"/>
                </a:solidFill>
              </a:rPr>
              <a:t> </a:t>
            </a:r>
            <a:r>
              <a:rPr sz="1200" dirty="0" err="1">
                <a:solidFill>
                  <a:schemeClr val="bg1"/>
                </a:solidFill>
              </a:rPr>
              <a:t>que</a:t>
            </a:r>
            <a:r>
              <a:rPr sz="1200" dirty="0">
                <a:solidFill>
                  <a:schemeClr val="bg1"/>
                </a:solidFill>
              </a:rPr>
              <a:t> </a:t>
            </a:r>
            <a:r>
              <a:rPr sz="1200" dirty="0" err="1">
                <a:solidFill>
                  <a:schemeClr val="bg1"/>
                </a:solidFill>
              </a:rPr>
              <a:t>representa</a:t>
            </a:r>
            <a:r>
              <a:rPr sz="1200" dirty="0">
                <a:solidFill>
                  <a:schemeClr val="bg1"/>
                </a:solidFill>
              </a:rPr>
              <a:t> </a:t>
            </a:r>
            <a:r>
              <a:rPr sz="1200" dirty="0" err="1">
                <a:solidFill>
                  <a:schemeClr val="bg1"/>
                </a:solidFill>
              </a:rPr>
              <a:t>los</a:t>
            </a:r>
            <a:r>
              <a:rPr sz="1200" dirty="0">
                <a:solidFill>
                  <a:schemeClr val="bg1"/>
                </a:solidFill>
              </a:rPr>
              <a:t> </a:t>
            </a:r>
            <a:r>
              <a:rPr sz="1200" dirty="0" err="1">
                <a:solidFill>
                  <a:schemeClr val="bg1"/>
                </a:solidFill>
              </a:rPr>
              <a:t>contenidos</a:t>
            </a:r>
            <a:r>
              <a:rPr sz="1200" dirty="0">
                <a:solidFill>
                  <a:schemeClr val="bg1"/>
                </a:solidFill>
              </a:rPr>
              <a:t>, </a:t>
            </a:r>
            <a:r>
              <a:rPr sz="1200" dirty="0" err="1">
                <a:solidFill>
                  <a:schemeClr val="bg1"/>
                </a:solidFill>
              </a:rPr>
              <a:t>su</a:t>
            </a:r>
            <a:r>
              <a:rPr sz="1200" dirty="0">
                <a:solidFill>
                  <a:schemeClr val="bg1"/>
                </a:solidFill>
              </a:rPr>
              <a:t> </a:t>
            </a:r>
            <a:r>
              <a:rPr sz="1200" dirty="0" err="1">
                <a:solidFill>
                  <a:schemeClr val="bg1"/>
                </a:solidFill>
              </a:rPr>
              <a:t>estructura</a:t>
            </a:r>
            <a:r>
              <a:rPr sz="1200" dirty="0">
                <a:solidFill>
                  <a:schemeClr val="bg1"/>
                </a:solidFill>
              </a:rPr>
              <a:t> y </a:t>
            </a:r>
            <a:r>
              <a:rPr sz="1200" dirty="0" err="1">
                <a:solidFill>
                  <a:schemeClr val="bg1"/>
                </a:solidFill>
              </a:rPr>
              <a:t>los</a:t>
            </a:r>
            <a:r>
              <a:rPr sz="1200" dirty="0">
                <a:solidFill>
                  <a:schemeClr val="bg1"/>
                </a:solidFill>
              </a:rPr>
              <a:t> enlaces de </a:t>
            </a:r>
            <a:r>
              <a:rPr sz="1200" dirty="0" err="1">
                <a:solidFill>
                  <a:schemeClr val="bg1"/>
                </a:solidFill>
              </a:rPr>
              <a:t>navegación</a:t>
            </a:r>
            <a:r>
              <a:rPr sz="1200" dirty="0">
                <a:solidFill>
                  <a:schemeClr val="bg1"/>
                </a:solidFill>
              </a:rPr>
              <a:t>.</a:t>
            </a:r>
          </a:p>
        </p:txBody>
      </p:sp>
    </p:spTree>
    <p:extLst>
      <p:ext uri="{BB962C8B-B14F-4D97-AF65-F5344CB8AC3E}">
        <p14:creationId xmlns:p14="http://schemas.microsoft.com/office/powerpoint/2010/main" val="1869638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FBF2C2-FA85-401F-ACCC-341886516168}"/>
              </a:ext>
            </a:extLst>
          </p:cNvPr>
          <p:cNvSpPr>
            <a:spLocks noGrp="1"/>
          </p:cNvSpPr>
          <p:nvPr/>
        </p:nvSpPr>
        <p:spPr>
          <a:xfrm>
            <a:off x="502920" y="365760"/>
            <a:ext cx="136245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7EF75B45-6C5E-44E4-8597-7C9BF8B0BB6E}"/>
              </a:ext>
            </a:extLst>
          </p:cNvPr>
          <p:cNvSpPr>
            <a:spLocks noGrp="1"/>
          </p:cNvSpPr>
          <p:nvPr/>
        </p:nvSpPr>
        <p:spPr>
          <a:xfrm>
            <a:off x="502920" y="365760"/>
            <a:ext cx="136245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PANORAMA 2 / 5</a:t>
            </a:r>
            <a:endParaRPr sz="850"/>
          </a:p>
        </p:txBody>
      </p:sp>
      <p:sp>
        <p:nvSpPr>
          <p:cNvPr id="4" name="Text 2">
            <a:extLst>
              <a:ext uri="{FF2B5EF4-FFF2-40B4-BE49-F238E27FC236}">
                <a16:creationId xmlns:a16="http://schemas.microsoft.com/office/drawing/2014/main" id="{A7D62C2E-FE3D-428C-A2D4-4752379EC55A}"/>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EORM y OOWS: el enfoque orientado a objetos</a:t>
            </a:r>
            <a:endParaRPr sz="2300"/>
          </a:p>
        </p:txBody>
      </p:sp>
      <p:sp>
        <p:nvSpPr>
          <p:cNvPr id="5" name="Text 3">
            <a:extLst>
              <a:ext uri="{FF2B5EF4-FFF2-40B4-BE49-F238E27FC236}">
                <a16:creationId xmlns:a16="http://schemas.microsoft.com/office/drawing/2014/main" id="{1581E767-D57D-46BA-9C2E-1553E67814C1}"/>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07 / 24</a:t>
            </a:r>
            <a:endParaRPr sz="800"/>
          </a:p>
        </p:txBody>
      </p:sp>
      <p:sp>
        <p:nvSpPr>
          <p:cNvPr id="6" name="Shape 4">
            <a:extLst>
              <a:ext uri="{FF2B5EF4-FFF2-40B4-BE49-F238E27FC236}">
                <a16:creationId xmlns:a16="http://schemas.microsoft.com/office/drawing/2014/main" id="{89838586-21F2-4F71-A6DE-F5717066BD07}"/>
              </a:ext>
            </a:extLst>
          </p:cNvPr>
          <p:cNvSpPr>
            <a:spLocks noGrp="1"/>
          </p:cNvSpPr>
          <p:nvPr/>
        </p:nvSpPr>
        <p:spPr>
          <a:xfrm>
            <a:off x="502920" y="1207007"/>
            <a:ext cx="3931920" cy="2125817"/>
          </a:xfrm>
          <a:prstGeom prst="roundRect">
            <a:avLst>
              <a:gd name="adj" fmla="val 2381"/>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7AB78FF9-9052-4E40-953E-C9BB87C56692}"/>
              </a:ext>
            </a:extLst>
          </p:cNvPr>
          <p:cNvSpPr>
            <a:spLocks noGrp="1"/>
          </p:cNvSpPr>
          <p:nvPr/>
        </p:nvSpPr>
        <p:spPr>
          <a:xfrm>
            <a:off x="649224" y="1325880"/>
            <a:ext cx="3639312" cy="237744"/>
          </a:xfrm>
          <a:prstGeom prst="rect">
            <a:avLst/>
          </a:prstGeom>
          <a:noFill/>
        </p:spPr>
        <p:txBody>
          <a:bodyPr wrap="square" lIns="0" tIns="0" rIns="0" bIns="0" anchor="ctr"/>
          <a:lstStyle/>
          <a:p>
            <a:r>
              <a:rPr sz="1200" b="1">
                <a:solidFill>
                  <a:srgbClr val="3DDC97"/>
                </a:solidFill>
                <a:latin typeface="Arial"/>
                <a:ea typeface="Arial"/>
                <a:cs typeface="Arial"/>
              </a:rPr>
              <a:t>EORM · Metodología de Relaciones de Objetos Mejorada.</a:t>
            </a:r>
          </a:p>
        </p:txBody>
      </p:sp>
      <p:sp>
        <p:nvSpPr>
          <p:cNvPr id="8" name="Text 6">
            <a:extLst>
              <a:ext uri="{FF2B5EF4-FFF2-40B4-BE49-F238E27FC236}">
                <a16:creationId xmlns:a16="http://schemas.microsoft.com/office/drawing/2014/main" id="{65F7DF8E-D4E7-49E6-941B-95CB4B57EEB5}"/>
              </a:ext>
            </a:extLst>
          </p:cNvPr>
          <p:cNvSpPr>
            <a:spLocks noGrp="1"/>
          </p:cNvSpPr>
          <p:nvPr/>
        </p:nvSpPr>
        <p:spPr>
          <a:xfrm>
            <a:off x="649224" y="1581912"/>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Lange · 1994-1996</a:t>
            </a:r>
            <a:endParaRPr sz="850"/>
          </a:p>
        </p:txBody>
      </p:sp>
      <p:sp>
        <p:nvSpPr>
          <p:cNvPr id="9" name="Text 7">
            <a:extLst>
              <a:ext uri="{FF2B5EF4-FFF2-40B4-BE49-F238E27FC236}">
                <a16:creationId xmlns:a16="http://schemas.microsoft.com/office/drawing/2014/main" id="{5264D29C-5CC6-43E9-B2F2-467B292EB2BA}"/>
              </a:ext>
            </a:extLst>
          </p:cNvPr>
          <p:cNvSpPr>
            <a:spLocks noGrp="1"/>
          </p:cNvSpPr>
          <p:nvPr/>
        </p:nvSpPr>
        <p:spPr>
          <a:xfrm>
            <a:off x="649224" y="1801368"/>
            <a:ext cx="3639312" cy="1216152"/>
          </a:xfrm>
          <a:prstGeom prst="rect">
            <a:avLst/>
          </a:prstGeom>
          <a:noFill/>
        </p:spPr>
        <p:txBody>
          <a:bodyPr wrap="square" lIns="0" tIns="0" rIns="0" bIns="0" anchor="t"/>
          <a:lstStyle/>
          <a:p>
            <a:r>
              <a:rPr sz="1200">
                <a:solidFill>
                  <a:schemeClr val="bg1"/>
                </a:solidFill>
                <a:latin typeface="+mj-lt"/>
                <a:ea typeface="+mj-lt"/>
                <a:cs typeface="+mj-lt"/>
              </a:rPr>
              <a:t>Primera propuesta hipermedia construida sobre el paradigma de objetos. Organiza la aplicación mediante objetos y relaciones. Su característica distintiva es representar los enlaces como objetos con propiedades y comportamiento.</a:t>
            </a:r>
          </a:p>
          <a:p>
            <a:r>
              <a:rPr sz="1200">
                <a:solidFill>
                  <a:schemeClr val="bg1"/>
                </a:solidFill>
                <a:latin typeface="+mj-lt"/>
                <a:ea typeface="+mj-lt"/>
                <a:cs typeface="+mj-lt"/>
              </a:rPr>
              <a:t>Ejemplo: modelar el enlace «Ver solicitudes del cliente», definiendo su origen, destino y comportamiento de navegación.</a:t>
            </a:r>
          </a:p>
        </p:txBody>
      </p:sp>
      <p:sp>
        <p:nvSpPr>
          <p:cNvPr id="10" name="Shape 8">
            <a:extLst>
              <a:ext uri="{FF2B5EF4-FFF2-40B4-BE49-F238E27FC236}">
                <a16:creationId xmlns:a16="http://schemas.microsoft.com/office/drawing/2014/main" id="{0FB51E19-F4D3-480F-B009-9882376B61F0}"/>
              </a:ext>
            </a:extLst>
          </p:cNvPr>
          <p:cNvSpPr>
            <a:spLocks noGrp="1"/>
          </p:cNvSpPr>
          <p:nvPr/>
        </p:nvSpPr>
        <p:spPr>
          <a:xfrm>
            <a:off x="4709160" y="1207008"/>
            <a:ext cx="3931920" cy="2125816"/>
          </a:xfrm>
          <a:prstGeom prst="roundRect">
            <a:avLst>
              <a:gd name="adj" fmla="val 2381"/>
            </a:avLst>
          </a:prstGeom>
          <a:solidFill>
            <a:srgbClr val="1A2434"/>
          </a:solidFill>
          <a:ln w="12700">
            <a:solidFill>
              <a:srgbClr val="56C7F2"/>
            </a:solidFill>
            <a:prstDash val="solid"/>
          </a:ln>
        </p:spPr>
        <p:txBody>
          <a:bodyPr/>
          <a:lstStyle/>
          <a:p>
            <a:endParaRPr/>
          </a:p>
        </p:txBody>
      </p:sp>
      <p:sp>
        <p:nvSpPr>
          <p:cNvPr id="11" name="Text 9">
            <a:extLst>
              <a:ext uri="{FF2B5EF4-FFF2-40B4-BE49-F238E27FC236}">
                <a16:creationId xmlns:a16="http://schemas.microsoft.com/office/drawing/2014/main" id="{88870347-2A84-4A2E-9215-2B11C23E28FD}"/>
              </a:ext>
            </a:extLst>
          </p:cNvPr>
          <p:cNvSpPr>
            <a:spLocks noGrp="1"/>
          </p:cNvSpPr>
          <p:nvPr/>
        </p:nvSpPr>
        <p:spPr>
          <a:xfrm>
            <a:off x="4855464" y="1325880"/>
            <a:ext cx="3639312" cy="237744"/>
          </a:xfrm>
          <a:prstGeom prst="rect">
            <a:avLst/>
          </a:prstGeom>
          <a:noFill/>
        </p:spPr>
        <p:txBody>
          <a:bodyPr wrap="square" lIns="0" tIns="0" rIns="0" bIns="0" anchor="ctr"/>
          <a:lstStyle/>
          <a:p>
            <a:r>
              <a:rPr sz="1200" b="1">
                <a:solidFill>
                  <a:srgbClr val="56C7F2"/>
                </a:solidFill>
                <a:latin typeface="Arial"/>
                <a:ea typeface="Arial"/>
                <a:cs typeface="Arial"/>
              </a:rPr>
              <a:t>OOWS · Soluciones Web Orientadas a Objetos</a:t>
            </a:r>
            <a:r>
              <a:rPr sz="1200">
                <a:solidFill>
                  <a:srgbClr val="56C7F2"/>
                </a:solidFill>
                <a:latin typeface="Arial"/>
                <a:ea typeface="Arial"/>
                <a:cs typeface="Arial"/>
              </a:rPr>
              <a:t>.</a:t>
            </a:r>
          </a:p>
        </p:txBody>
      </p:sp>
      <p:sp>
        <p:nvSpPr>
          <p:cNvPr id="12" name="Text 10">
            <a:extLst>
              <a:ext uri="{FF2B5EF4-FFF2-40B4-BE49-F238E27FC236}">
                <a16:creationId xmlns:a16="http://schemas.microsoft.com/office/drawing/2014/main" id="{0B525AE4-9F6A-496F-980A-B5D6FE1C7637}"/>
              </a:ext>
            </a:extLst>
          </p:cNvPr>
          <p:cNvSpPr>
            <a:spLocks noGrp="1"/>
          </p:cNvSpPr>
          <p:nvPr/>
        </p:nvSpPr>
        <p:spPr>
          <a:xfrm>
            <a:off x="4855464" y="1581912"/>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Pastor, Fons, Pelechano y otros · desde 2000</a:t>
            </a:r>
            <a:endParaRPr sz="850"/>
          </a:p>
        </p:txBody>
      </p:sp>
      <p:sp>
        <p:nvSpPr>
          <p:cNvPr id="13" name="Text 11">
            <a:extLst>
              <a:ext uri="{FF2B5EF4-FFF2-40B4-BE49-F238E27FC236}">
                <a16:creationId xmlns:a16="http://schemas.microsoft.com/office/drawing/2014/main" id="{E82EC267-E105-4807-9C5F-593A4D7F020C}"/>
              </a:ext>
            </a:extLst>
          </p:cNvPr>
          <p:cNvSpPr>
            <a:spLocks noGrp="1"/>
          </p:cNvSpPr>
          <p:nvPr/>
        </p:nvSpPr>
        <p:spPr>
          <a:xfrm>
            <a:off x="4855464" y="1939630"/>
            <a:ext cx="3639312" cy="1216152"/>
          </a:xfrm>
          <a:prstGeom prst="rect">
            <a:avLst/>
          </a:prstGeom>
          <a:noFill/>
        </p:spPr>
        <p:txBody>
          <a:bodyPr wrap="square" lIns="0" tIns="0" rIns="0" bIns="0" anchor="t"/>
          <a:lstStyle/>
          <a:p>
            <a:pPr marL="0" indent="0">
              <a:lnSpc>
                <a:spcPct val="112000"/>
              </a:lnSpc>
              <a:buNone/>
            </a:pPr>
            <a:r>
              <a:rPr sz="1200">
                <a:solidFill>
                  <a:schemeClr val="bg1"/>
                </a:solidFill>
                <a:latin typeface="Calibri"/>
                <a:ea typeface="Calibri"/>
                <a:cs typeface="Calibri"/>
              </a:rPr>
              <a:t>Combina el modelado orientado a objetos con el diseño de la navegación y la presentación. Sus modelos sirven de base para generar la aplicación mediante herramientas.</a:t>
            </a:r>
          </a:p>
          <a:p>
            <a:r>
              <a:rPr sz="1200">
                <a:solidFill>
                  <a:schemeClr val="bg1"/>
                </a:solidFill>
              </a:rPr>
              <a:t>Ejemplo: representar Cliente y Solicitud, definir cómo el auxiliar pasa de la lista de clientes a sus solicitudes y cómo se muestra esa información.</a:t>
            </a:r>
          </a:p>
        </p:txBody>
      </p:sp>
      <p:sp>
        <p:nvSpPr>
          <p:cNvPr id="14" name="Shape 12">
            <a:extLst>
              <a:ext uri="{FF2B5EF4-FFF2-40B4-BE49-F238E27FC236}">
                <a16:creationId xmlns:a16="http://schemas.microsoft.com/office/drawing/2014/main" id="{5526065B-79B7-45FA-BEC7-27D4F6FE6AD6}"/>
              </a:ext>
            </a:extLst>
          </p:cNvPr>
          <p:cNvSpPr>
            <a:spLocks noGrp="1"/>
          </p:cNvSpPr>
          <p:nvPr/>
        </p:nvSpPr>
        <p:spPr>
          <a:xfrm>
            <a:off x="502920" y="3424265"/>
            <a:ext cx="8138160" cy="969264"/>
          </a:xfrm>
          <a:prstGeom prst="roundRect">
            <a:avLst>
              <a:gd name="adj" fmla="val 4717"/>
            </a:avLst>
          </a:prstGeom>
          <a:solidFill>
            <a:srgbClr val="1A2434"/>
          </a:solidFill>
          <a:ln w="12700">
            <a:solidFill>
              <a:srgbClr val="FFB86C"/>
            </a:solidFill>
            <a:prstDash val="solid"/>
          </a:ln>
        </p:spPr>
        <p:txBody>
          <a:bodyPr/>
          <a:lstStyle/>
          <a:p>
            <a:endParaRPr/>
          </a:p>
        </p:txBody>
      </p:sp>
      <p:sp>
        <p:nvSpPr>
          <p:cNvPr id="15" name="Text 13">
            <a:extLst>
              <a:ext uri="{FF2B5EF4-FFF2-40B4-BE49-F238E27FC236}">
                <a16:creationId xmlns:a16="http://schemas.microsoft.com/office/drawing/2014/main" id="{51E2FF32-F590-47C9-863D-D022A24688E4}"/>
              </a:ext>
            </a:extLst>
          </p:cNvPr>
          <p:cNvSpPr>
            <a:spLocks noGrp="1"/>
          </p:cNvSpPr>
          <p:nvPr/>
        </p:nvSpPr>
        <p:spPr>
          <a:xfrm>
            <a:off x="731520" y="3515705"/>
            <a:ext cx="7680960" cy="201168"/>
          </a:xfrm>
          <a:prstGeom prst="rect">
            <a:avLst/>
          </a:prstGeom>
          <a:noFill/>
        </p:spPr>
        <p:txBody>
          <a:bodyPr wrap="square" lIns="0" tIns="0" rIns="0" bIns="0" anchor="ctr"/>
          <a:lstStyle/>
          <a:p>
            <a:pPr marL="0" indent="0">
              <a:buNone/>
            </a:pPr>
            <a:r>
              <a:rPr sz="1150" b="1">
                <a:solidFill>
                  <a:srgbClr val="FFB86C"/>
                </a:solidFill>
                <a:latin typeface="Arial"/>
                <a:ea typeface="Arial"/>
                <a:cs typeface="Arial"/>
              </a:rPr>
              <a:t>Qué aporta el enfoque orientado a objetos</a:t>
            </a:r>
            <a:endParaRPr sz="1150"/>
          </a:p>
        </p:txBody>
      </p:sp>
      <p:sp>
        <p:nvSpPr>
          <p:cNvPr id="16" name="Text 14">
            <a:extLst>
              <a:ext uri="{FF2B5EF4-FFF2-40B4-BE49-F238E27FC236}">
                <a16:creationId xmlns:a16="http://schemas.microsoft.com/office/drawing/2014/main" id="{31BCEB10-30EB-4CE6-A4D2-B617ACD1A2D1}"/>
              </a:ext>
            </a:extLst>
          </p:cNvPr>
          <p:cNvSpPr>
            <a:spLocks noGrp="1"/>
          </p:cNvSpPr>
          <p:nvPr/>
        </p:nvSpPr>
        <p:spPr>
          <a:xfrm>
            <a:off x="731520" y="3753449"/>
            <a:ext cx="7680960" cy="566928"/>
          </a:xfrm>
          <a:prstGeom prst="rect">
            <a:avLst/>
          </a:prstGeom>
          <a:noFill/>
        </p:spPr>
        <p:txBody>
          <a:bodyPr wrap="square" lIns="0" tIns="0" rIns="0" bIns="0" anchor="t"/>
          <a:lstStyle/>
          <a:p>
            <a:r>
              <a:rPr sz="1200">
                <a:solidFill>
                  <a:schemeClr val="bg1"/>
                </a:solidFill>
              </a:rPr>
              <a:t>Permite organizar el diseño mediante clases, atributos, operaciones y relaciones. Por ejemplo, Cliente y Solicitud representan conceptos del sistema antes de decidir cómo programarlos.</a:t>
            </a:r>
          </a:p>
        </p:txBody>
      </p:sp>
      <p:sp>
        <p:nvSpPr>
          <p:cNvPr id="17" name="Text 15">
            <a:extLst>
              <a:ext uri="{FF2B5EF4-FFF2-40B4-BE49-F238E27FC236}">
                <a16:creationId xmlns:a16="http://schemas.microsoft.com/office/drawing/2014/main" id="{C5D77CD2-9ECD-4A6D-8BCF-2A6E04276931}"/>
              </a:ext>
            </a:extLst>
          </p:cNvPr>
          <p:cNvSpPr>
            <a:spLocks noGrp="1"/>
          </p:cNvSpPr>
          <p:nvPr/>
        </p:nvSpPr>
        <p:spPr>
          <a:xfrm>
            <a:off x="521208" y="4484969"/>
            <a:ext cx="8101584" cy="365760"/>
          </a:xfrm>
          <a:prstGeom prst="rect">
            <a:avLst/>
          </a:prstGeom>
          <a:noFill/>
        </p:spPr>
        <p:txBody>
          <a:bodyPr wrap="square" lIns="0" tIns="0" rIns="0" bIns="0" anchor="t"/>
          <a:lstStyle/>
          <a:p>
            <a:pPr marL="0" indent="0">
              <a:lnSpc>
                <a:spcPct val="110000"/>
              </a:lnSpc>
              <a:buNone/>
            </a:pPr>
            <a:r>
              <a:rPr sz="950">
                <a:solidFill>
                  <a:srgbClr val="93A5BD"/>
                </a:solidFill>
                <a:latin typeface="Calibri"/>
                <a:ea typeface="Calibri"/>
                <a:cs typeface="Calibri"/>
              </a:rPr>
              <a:t>EORM llega hasta el diseño; OOWS define un proceso completo con generación automática a partir de los modelos.</a:t>
            </a:r>
            <a:endParaRPr sz="950"/>
          </a:p>
        </p:txBody>
      </p:sp>
    </p:spTree>
    <p:extLst>
      <p:ext uri="{BB962C8B-B14F-4D97-AF65-F5344CB8AC3E}">
        <p14:creationId xmlns:p14="http://schemas.microsoft.com/office/powerpoint/2010/main" val="1765497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293D038-4E40-4AE5-B234-6347DA7123BD}"/>
              </a:ext>
            </a:extLst>
          </p:cNvPr>
          <p:cNvSpPr>
            <a:spLocks noGrp="1"/>
          </p:cNvSpPr>
          <p:nvPr/>
        </p:nvSpPr>
        <p:spPr>
          <a:xfrm>
            <a:off x="502920" y="365760"/>
            <a:ext cx="896112"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5A0A7A2D-865B-4FA1-A463-527CB1B48975}"/>
              </a:ext>
            </a:extLst>
          </p:cNvPr>
          <p:cNvSpPr>
            <a:spLocks noGrp="1"/>
          </p:cNvSpPr>
          <p:nvPr/>
        </p:nvSpPr>
        <p:spPr>
          <a:xfrm>
            <a:off x="502920" y="365760"/>
            <a:ext cx="896112"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SÍNTESIS</a:t>
            </a:r>
            <a:endParaRPr sz="850"/>
          </a:p>
        </p:txBody>
      </p:sp>
      <p:sp>
        <p:nvSpPr>
          <p:cNvPr id="4" name="Text 2">
            <a:extLst>
              <a:ext uri="{FF2B5EF4-FFF2-40B4-BE49-F238E27FC236}">
                <a16:creationId xmlns:a16="http://schemas.microsoft.com/office/drawing/2014/main" id="{ACACC52B-7AE5-4BCD-A979-354F6ACC7C67}"/>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Comparación de propuestas por énfasis</a:t>
            </a:r>
            <a:endParaRPr sz="2300"/>
          </a:p>
        </p:txBody>
      </p:sp>
      <p:sp>
        <p:nvSpPr>
          <p:cNvPr id="5" name="Text 3">
            <a:extLst>
              <a:ext uri="{FF2B5EF4-FFF2-40B4-BE49-F238E27FC236}">
                <a16:creationId xmlns:a16="http://schemas.microsoft.com/office/drawing/2014/main" id="{63812404-7BB7-4CAB-AA26-B5515A64BDAD}"/>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08 / 24</a:t>
            </a:r>
            <a:endParaRPr sz="800"/>
          </a:p>
        </p:txBody>
      </p:sp>
      <p:sp>
        <p:nvSpPr>
          <p:cNvPr id="6" name="Text 4">
            <a:extLst>
              <a:ext uri="{FF2B5EF4-FFF2-40B4-BE49-F238E27FC236}">
                <a16:creationId xmlns:a16="http://schemas.microsoft.com/office/drawing/2014/main" id="{2FE55D81-DADC-4D9C-B5F4-5BA33B0ABF20}"/>
              </a:ext>
            </a:extLst>
          </p:cNvPr>
          <p:cNvSpPr>
            <a:spLocks noGrp="1"/>
          </p:cNvSpPr>
          <p:nvPr/>
        </p:nvSpPr>
        <p:spPr>
          <a:xfrm>
            <a:off x="658368" y="1170432"/>
            <a:ext cx="1645920" cy="201168"/>
          </a:xfrm>
          <a:prstGeom prst="rect">
            <a:avLst/>
          </a:prstGeom>
          <a:noFill/>
        </p:spPr>
        <p:txBody>
          <a:bodyPr wrap="square" lIns="0" tIns="0" rIns="0" bIns="0" anchor="ctr"/>
          <a:lstStyle/>
          <a:p>
            <a:pPr marL="0" indent="0">
              <a:buNone/>
            </a:pPr>
            <a:r>
              <a:rPr sz="900" b="1">
                <a:solidFill>
                  <a:srgbClr val="3DDC97"/>
                </a:solidFill>
                <a:latin typeface="Arial"/>
                <a:ea typeface="Arial"/>
                <a:cs typeface="Arial"/>
              </a:rPr>
              <a:t>Énfasis principal</a:t>
            </a:r>
            <a:endParaRPr sz="900"/>
          </a:p>
        </p:txBody>
      </p:sp>
      <p:sp>
        <p:nvSpPr>
          <p:cNvPr id="7" name="Text 5">
            <a:extLst>
              <a:ext uri="{FF2B5EF4-FFF2-40B4-BE49-F238E27FC236}">
                <a16:creationId xmlns:a16="http://schemas.microsoft.com/office/drawing/2014/main" id="{06BD7366-923E-41C8-9BFF-990B28714C1F}"/>
              </a:ext>
            </a:extLst>
          </p:cNvPr>
          <p:cNvSpPr>
            <a:spLocks noGrp="1"/>
          </p:cNvSpPr>
          <p:nvPr/>
        </p:nvSpPr>
        <p:spPr>
          <a:xfrm>
            <a:off x="2395728" y="1170432"/>
            <a:ext cx="2788920" cy="201168"/>
          </a:xfrm>
          <a:prstGeom prst="rect">
            <a:avLst/>
          </a:prstGeom>
          <a:noFill/>
        </p:spPr>
        <p:txBody>
          <a:bodyPr wrap="square" lIns="0" tIns="0" rIns="0" bIns="0" anchor="ctr"/>
          <a:lstStyle/>
          <a:p>
            <a:pPr marL="0" indent="0">
              <a:buNone/>
            </a:pPr>
            <a:r>
              <a:rPr sz="900" b="1">
                <a:solidFill>
                  <a:srgbClr val="3DDC97"/>
                </a:solidFill>
                <a:latin typeface="Arial"/>
                <a:ea typeface="Arial"/>
                <a:cs typeface="Arial"/>
              </a:rPr>
              <a:t>Propuestas</a:t>
            </a:r>
            <a:endParaRPr sz="900"/>
          </a:p>
        </p:txBody>
      </p:sp>
      <p:sp>
        <p:nvSpPr>
          <p:cNvPr id="8" name="Text 6">
            <a:extLst>
              <a:ext uri="{FF2B5EF4-FFF2-40B4-BE49-F238E27FC236}">
                <a16:creationId xmlns:a16="http://schemas.microsoft.com/office/drawing/2014/main" id="{5D77EE6B-D3F1-4047-A3E7-8B36CB0C3716}"/>
              </a:ext>
            </a:extLst>
          </p:cNvPr>
          <p:cNvSpPr>
            <a:spLocks noGrp="1"/>
          </p:cNvSpPr>
          <p:nvPr/>
        </p:nvSpPr>
        <p:spPr>
          <a:xfrm>
            <a:off x="5303520" y="1170432"/>
            <a:ext cx="3200400" cy="201168"/>
          </a:xfrm>
          <a:prstGeom prst="rect">
            <a:avLst/>
          </a:prstGeom>
          <a:noFill/>
        </p:spPr>
        <p:txBody>
          <a:bodyPr wrap="square" lIns="0" tIns="0" rIns="0" bIns="0" anchor="ctr"/>
          <a:lstStyle/>
          <a:p>
            <a:pPr marL="0" indent="0">
              <a:buNone/>
            </a:pPr>
            <a:r>
              <a:rPr sz="900" b="1">
                <a:solidFill>
                  <a:srgbClr val="3DDC97"/>
                </a:solidFill>
                <a:latin typeface="Arial"/>
                <a:ea typeface="Arial"/>
                <a:cs typeface="Arial"/>
              </a:rPr>
              <a:t>¿Qué pregunta atiende?</a:t>
            </a:r>
            <a:endParaRPr sz="900"/>
          </a:p>
        </p:txBody>
      </p:sp>
      <p:sp>
        <p:nvSpPr>
          <p:cNvPr id="9" name="Shape 7">
            <a:extLst>
              <a:ext uri="{FF2B5EF4-FFF2-40B4-BE49-F238E27FC236}">
                <a16:creationId xmlns:a16="http://schemas.microsoft.com/office/drawing/2014/main" id="{BACCFF69-1B12-4E45-849E-A93F4F0880F7}"/>
              </a:ext>
            </a:extLst>
          </p:cNvPr>
          <p:cNvSpPr>
            <a:spLocks noGrp="1"/>
          </p:cNvSpPr>
          <p:nvPr/>
        </p:nvSpPr>
        <p:spPr>
          <a:xfrm>
            <a:off x="502920" y="1426464"/>
            <a:ext cx="8138160" cy="365760"/>
          </a:xfrm>
          <a:prstGeom prst="roundRect">
            <a:avLst>
              <a:gd name="adj" fmla="val 15000"/>
            </a:avLst>
          </a:prstGeom>
          <a:solidFill>
            <a:srgbClr val="1A2434"/>
          </a:solidFill>
          <a:ln w="12700">
            <a:solidFill>
              <a:srgbClr val="2B3B52"/>
            </a:solidFill>
            <a:prstDash val="solid"/>
          </a:ln>
        </p:spPr>
        <p:txBody>
          <a:bodyPr/>
          <a:lstStyle/>
          <a:p>
            <a:endParaRPr/>
          </a:p>
        </p:txBody>
      </p:sp>
      <p:sp>
        <p:nvSpPr>
          <p:cNvPr id="10" name="Text 8">
            <a:extLst>
              <a:ext uri="{FF2B5EF4-FFF2-40B4-BE49-F238E27FC236}">
                <a16:creationId xmlns:a16="http://schemas.microsoft.com/office/drawing/2014/main" id="{CDB0B083-78DF-4CE1-9671-78BDF7519752}"/>
              </a:ext>
            </a:extLst>
          </p:cNvPr>
          <p:cNvSpPr>
            <a:spLocks noGrp="1"/>
          </p:cNvSpPr>
          <p:nvPr/>
        </p:nvSpPr>
        <p:spPr>
          <a:xfrm>
            <a:off x="658368" y="1426464"/>
            <a:ext cx="1645920" cy="365760"/>
          </a:xfrm>
          <a:prstGeom prst="rect">
            <a:avLst/>
          </a:prstGeom>
          <a:noFill/>
        </p:spPr>
        <p:txBody>
          <a:bodyPr wrap="square" lIns="0" tIns="0" rIns="0" bIns="0" anchor="ctr"/>
          <a:lstStyle/>
          <a:p>
            <a:pPr marL="0" indent="0">
              <a:buNone/>
            </a:pPr>
            <a:r>
              <a:rPr sz="950" b="1">
                <a:solidFill>
                  <a:srgbClr val="56C7F2"/>
                </a:solidFill>
                <a:latin typeface="Arial"/>
                <a:ea typeface="Arial"/>
                <a:cs typeface="Arial"/>
              </a:rPr>
              <a:t>Información</a:t>
            </a:r>
            <a:endParaRPr sz="950"/>
          </a:p>
        </p:txBody>
      </p:sp>
      <p:sp>
        <p:nvSpPr>
          <p:cNvPr id="11" name="Text 9">
            <a:extLst>
              <a:ext uri="{FF2B5EF4-FFF2-40B4-BE49-F238E27FC236}">
                <a16:creationId xmlns:a16="http://schemas.microsoft.com/office/drawing/2014/main" id="{85EC5020-53C0-409B-9763-F597459D9AB9}"/>
              </a:ext>
            </a:extLst>
          </p:cNvPr>
          <p:cNvSpPr>
            <a:spLocks noGrp="1"/>
          </p:cNvSpPr>
          <p:nvPr/>
        </p:nvSpPr>
        <p:spPr>
          <a:xfrm>
            <a:off x="2395728" y="1426464"/>
            <a:ext cx="2788920" cy="365760"/>
          </a:xfrm>
          <a:prstGeom prst="rect">
            <a:avLst/>
          </a:prstGeom>
          <a:noFill/>
        </p:spPr>
        <p:txBody>
          <a:bodyPr wrap="square" lIns="0" tIns="0" rIns="0" bIns="0" anchor="ctr"/>
          <a:lstStyle/>
          <a:p>
            <a:pPr marL="0" indent="0">
              <a:buNone/>
            </a:pPr>
            <a:r>
              <a:rPr sz="900" dirty="0">
                <a:solidFill>
                  <a:srgbClr val="E8EEF6"/>
                </a:solidFill>
                <a:latin typeface="Courier New"/>
                <a:ea typeface="Courier New"/>
                <a:cs typeface="Courier New"/>
              </a:rPr>
              <a:t>HDM</a:t>
            </a:r>
            <a:endParaRPr sz="900" dirty="0"/>
          </a:p>
        </p:txBody>
      </p:sp>
      <p:sp>
        <p:nvSpPr>
          <p:cNvPr id="12" name="Text 10">
            <a:extLst>
              <a:ext uri="{FF2B5EF4-FFF2-40B4-BE49-F238E27FC236}">
                <a16:creationId xmlns:a16="http://schemas.microsoft.com/office/drawing/2014/main" id="{5D39E212-FCF4-4A60-BD5D-B71AD8693716}"/>
              </a:ext>
            </a:extLst>
          </p:cNvPr>
          <p:cNvSpPr>
            <a:spLocks noGrp="1"/>
          </p:cNvSpPr>
          <p:nvPr/>
        </p:nvSpPr>
        <p:spPr>
          <a:xfrm>
            <a:off x="5303520" y="1426464"/>
            <a:ext cx="3200400" cy="365760"/>
          </a:xfrm>
          <a:prstGeom prst="rect">
            <a:avLst/>
          </a:prstGeom>
          <a:noFill/>
        </p:spPr>
        <p:txBody>
          <a:bodyPr wrap="square" lIns="0" tIns="0" rIns="0" bIns="0" anchor="ctr"/>
          <a:lstStyle/>
          <a:p>
            <a:pPr marL="0" indent="0">
              <a:buNone/>
            </a:pPr>
            <a:r>
              <a:rPr sz="950">
                <a:solidFill>
                  <a:srgbClr val="93A5BD"/>
                </a:solidFill>
                <a:latin typeface="Calibri"/>
                <a:ea typeface="Calibri"/>
                <a:cs typeface="Calibri"/>
              </a:rPr>
              <a:t>¿Qué contenido existe y cómo se relaciona?</a:t>
            </a:r>
            <a:endParaRPr sz="950"/>
          </a:p>
        </p:txBody>
      </p:sp>
      <p:sp>
        <p:nvSpPr>
          <p:cNvPr id="13" name="Shape 11">
            <a:extLst>
              <a:ext uri="{FF2B5EF4-FFF2-40B4-BE49-F238E27FC236}">
                <a16:creationId xmlns:a16="http://schemas.microsoft.com/office/drawing/2014/main" id="{C46F38D3-ACEB-4A3E-80E4-1822EC7C576C}"/>
              </a:ext>
            </a:extLst>
          </p:cNvPr>
          <p:cNvSpPr>
            <a:spLocks noGrp="1"/>
          </p:cNvSpPr>
          <p:nvPr/>
        </p:nvSpPr>
        <p:spPr>
          <a:xfrm>
            <a:off x="502920" y="1819656"/>
            <a:ext cx="8138160" cy="365760"/>
          </a:xfrm>
          <a:prstGeom prst="roundRect">
            <a:avLst>
              <a:gd name="adj" fmla="val 15000"/>
            </a:avLst>
          </a:prstGeom>
          <a:solidFill>
            <a:srgbClr val="1A2434"/>
          </a:solidFill>
          <a:ln w="12700">
            <a:solidFill>
              <a:srgbClr val="2B3B52"/>
            </a:solidFill>
            <a:prstDash val="solid"/>
          </a:ln>
        </p:spPr>
        <p:txBody>
          <a:bodyPr/>
          <a:lstStyle/>
          <a:p>
            <a:endParaRPr/>
          </a:p>
        </p:txBody>
      </p:sp>
      <p:sp>
        <p:nvSpPr>
          <p:cNvPr id="14" name="Text 12">
            <a:extLst>
              <a:ext uri="{FF2B5EF4-FFF2-40B4-BE49-F238E27FC236}">
                <a16:creationId xmlns:a16="http://schemas.microsoft.com/office/drawing/2014/main" id="{20D9057C-FE83-4816-AC06-74123073C871}"/>
              </a:ext>
            </a:extLst>
          </p:cNvPr>
          <p:cNvSpPr>
            <a:spLocks noGrp="1"/>
          </p:cNvSpPr>
          <p:nvPr/>
        </p:nvSpPr>
        <p:spPr>
          <a:xfrm>
            <a:off x="658368" y="1819656"/>
            <a:ext cx="1645920" cy="365760"/>
          </a:xfrm>
          <a:prstGeom prst="rect">
            <a:avLst/>
          </a:prstGeom>
          <a:noFill/>
        </p:spPr>
        <p:txBody>
          <a:bodyPr wrap="square" lIns="0" tIns="0" rIns="0" bIns="0" anchor="ctr"/>
          <a:lstStyle/>
          <a:p>
            <a:pPr marL="0" indent="0">
              <a:buNone/>
            </a:pPr>
            <a:r>
              <a:rPr sz="950" b="1">
                <a:solidFill>
                  <a:srgbClr val="3DDC97"/>
                </a:solidFill>
                <a:latin typeface="Arial"/>
                <a:ea typeface="Arial"/>
                <a:cs typeface="Arial"/>
              </a:rPr>
              <a:t>Navegación</a:t>
            </a:r>
            <a:endParaRPr sz="950"/>
          </a:p>
        </p:txBody>
      </p:sp>
      <p:sp>
        <p:nvSpPr>
          <p:cNvPr id="15" name="Text 13">
            <a:extLst>
              <a:ext uri="{FF2B5EF4-FFF2-40B4-BE49-F238E27FC236}">
                <a16:creationId xmlns:a16="http://schemas.microsoft.com/office/drawing/2014/main" id="{527D4BFE-307A-4DD9-BDCA-6680B6B47246}"/>
              </a:ext>
            </a:extLst>
          </p:cNvPr>
          <p:cNvSpPr>
            <a:spLocks noGrp="1"/>
          </p:cNvSpPr>
          <p:nvPr/>
        </p:nvSpPr>
        <p:spPr>
          <a:xfrm>
            <a:off x="2395728" y="1819656"/>
            <a:ext cx="2788920" cy="365760"/>
          </a:xfrm>
          <a:prstGeom prst="rect">
            <a:avLst/>
          </a:prstGeom>
          <a:noFill/>
        </p:spPr>
        <p:txBody>
          <a:bodyPr wrap="square" lIns="0" tIns="0" rIns="0" bIns="0" anchor="ctr"/>
          <a:lstStyle/>
          <a:p>
            <a:pPr marL="0" indent="0">
              <a:buNone/>
            </a:pPr>
            <a:r>
              <a:rPr sz="900" dirty="0">
                <a:solidFill>
                  <a:srgbClr val="E8EEF6"/>
                </a:solidFill>
                <a:latin typeface="Courier New"/>
                <a:ea typeface="Courier New"/>
                <a:cs typeface="Courier New"/>
              </a:rPr>
              <a:t>HDM · SOHDM · OOHDM</a:t>
            </a:r>
            <a:endParaRPr sz="900" dirty="0"/>
          </a:p>
        </p:txBody>
      </p:sp>
      <p:sp>
        <p:nvSpPr>
          <p:cNvPr id="16" name="Text 14">
            <a:extLst>
              <a:ext uri="{FF2B5EF4-FFF2-40B4-BE49-F238E27FC236}">
                <a16:creationId xmlns:a16="http://schemas.microsoft.com/office/drawing/2014/main" id="{F1CD791D-1FC3-4F41-853A-67BD3B7A128F}"/>
              </a:ext>
            </a:extLst>
          </p:cNvPr>
          <p:cNvSpPr>
            <a:spLocks noGrp="1"/>
          </p:cNvSpPr>
          <p:nvPr/>
        </p:nvSpPr>
        <p:spPr>
          <a:xfrm>
            <a:off x="5303520" y="1819656"/>
            <a:ext cx="3200400" cy="365760"/>
          </a:xfrm>
          <a:prstGeom prst="rect">
            <a:avLst/>
          </a:prstGeom>
          <a:noFill/>
        </p:spPr>
        <p:txBody>
          <a:bodyPr wrap="square" lIns="0" tIns="0" rIns="0" bIns="0" anchor="ctr"/>
          <a:lstStyle/>
          <a:p>
            <a:pPr marL="0" indent="0">
              <a:buNone/>
            </a:pPr>
            <a:r>
              <a:rPr sz="950">
                <a:solidFill>
                  <a:srgbClr val="93A5BD"/>
                </a:solidFill>
                <a:latin typeface="Calibri"/>
                <a:ea typeface="Calibri"/>
                <a:cs typeface="Calibri"/>
              </a:rPr>
              <a:t>¿Cómo recorre el usuario ese contenido?</a:t>
            </a:r>
            <a:endParaRPr sz="950"/>
          </a:p>
        </p:txBody>
      </p:sp>
      <p:sp>
        <p:nvSpPr>
          <p:cNvPr id="17" name="Shape 15">
            <a:extLst>
              <a:ext uri="{FF2B5EF4-FFF2-40B4-BE49-F238E27FC236}">
                <a16:creationId xmlns:a16="http://schemas.microsoft.com/office/drawing/2014/main" id="{C3E1D4C9-B84B-4DC4-9A68-F57B6EC6C6AB}"/>
              </a:ext>
            </a:extLst>
          </p:cNvPr>
          <p:cNvSpPr>
            <a:spLocks noGrp="1"/>
          </p:cNvSpPr>
          <p:nvPr/>
        </p:nvSpPr>
        <p:spPr>
          <a:xfrm>
            <a:off x="502920" y="2212848"/>
            <a:ext cx="8138160" cy="365760"/>
          </a:xfrm>
          <a:prstGeom prst="roundRect">
            <a:avLst>
              <a:gd name="adj" fmla="val 15000"/>
            </a:avLst>
          </a:prstGeom>
          <a:solidFill>
            <a:srgbClr val="1A2434"/>
          </a:solidFill>
          <a:ln w="12700">
            <a:solidFill>
              <a:srgbClr val="2B3B52"/>
            </a:solidFill>
            <a:prstDash val="solid"/>
          </a:ln>
        </p:spPr>
        <p:txBody>
          <a:bodyPr/>
          <a:lstStyle/>
          <a:p>
            <a:endParaRPr/>
          </a:p>
        </p:txBody>
      </p:sp>
      <p:sp>
        <p:nvSpPr>
          <p:cNvPr id="18" name="Text 16">
            <a:extLst>
              <a:ext uri="{FF2B5EF4-FFF2-40B4-BE49-F238E27FC236}">
                <a16:creationId xmlns:a16="http://schemas.microsoft.com/office/drawing/2014/main" id="{D8F5BF4F-EEFB-435D-BD60-87385264E8F8}"/>
              </a:ext>
            </a:extLst>
          </p:cNvPr>
          <p:cNvSpPr>
            <a:spLocks noGrp="1"/>
          </p:cNvSpPr>
          <p:nvPr/>
        </p:nvSpPr>
        <p:spPr>
          <a:xfrm>
            <a:off x="658368" y="2212848"/>
            <a:ext cx="1645920" cy="365760"/>
          </a:xfrm>
          <a:prstGeom prst="rect">
            <a:avLst/>
          </a:prstGeom>
          <a:noFill/>
        </p:spPr>
        <p:txBody>
          <a:bodyPr wrap="square" lIns="0" tIns="0" rIns="0" bIns="0" anchor="ctr"/>
          <a:lstStyle/>
          <a:p>
            <a:pPr marL="0" indent="0">
              <a:buNone/>
            </a:pPr>
            <a:r>
              <a:rPr sz="950" b="1">
                <a:solidFill>
                  <a:srgbClr val="56C7F2"/>
                </a:solidFill>
                <a:latin typeface="Arial"/>
                <a:ea typeface="Arial"/>
                <a:cs typeface="Arial"/>
              </a:rPr>
              <a:t>Usuarios</a:t>
            </a:r>
            <a:endParaRPr sz="950"/>
          </a:p>
        </p:txBody>
      </p:sp>
      <p:sp>
        <p:nvSpPr>
          <p:cNvPr id="19" name="Text 17">
            <a:extLst>
              <a:ext uri="{FF2B5EF4-FFF2-40B4-BE49-F238E27FC236}">
                <a16:creationId xmlns:a16="http://schemas.microsoft.com/office/drawing/2014/main" id="{95E007E0-F100-4E8D-AD32-238464DDBA3B}"/>
              </a:ext>
            </a:extLst>
          </p:cNvPr>
          <p:cNvSpPr>
            <a:spLocks noGrp="1"/>
          </p:cNvSpPr>
          <p:nvPr/>
        </p:nvSpPr>
        <p:spPr>
          <a:xfrm>
            <a:off x="2395728" y="2212848"/>
            <a:ext cx="2788920" cy="365760"/>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WSDM</a:t>
            </a:r>
            <a:endParaRPr sz="900"/>
          </a:p>
        </p:txBody>
      </p:sp>
      <p:sp>
        <p:nvSpPr>
          <p:cNvPr id="20" name="Text 18">
            <a:extLst>
              <a:ext uri="{FF2B5EF4-FFF2-40B4-BE49-F238E27FC236}">
                <a16:creationId xmlns:a16="http://schemas.microsoft.com/office/drawing/2014/main" id="{973E872B-A0A6-458A-B45E-6A8EBC51F9A8}"/>
              </a:ext>
            </a:extLst>
          </p:cNvPr>
          <p:cNvSpPr>
            <a:spLocks noGrp="1"/>
          </p:cNvSpPr>
          <p:nvPr/>
        </p:nvSpPr>
        <p:spPr>
          <a:xfrm>
            <a:off x="5303520" y="2212848"/>
            <a:ext cx="3200400" cy="365760"/>
          </a:xfrm>
          <a:prstGeom prst="rect">
            <a:avLst/>
          </a:prstGeom>
          <a:noFill/>
        </p:spPr>
        <p:txBody>
          <a:bodyPr wrap="square" lIns="0" tIns="0" rIns="0" bIns="0" anchor="ctr"/>
          <a:lstStyle/>
          <a:p>
            <a:pPr marL="0" indent="0">
              <a:buNone/>
            </a:pPr>
            <a:r>
              <a:rPr sz="950">
                <a:solidFill>
                  <a:srgbClr val="93A5BD"/>
                </a:solidFill>
                <a:latin typeface="Calibri"/>
                <a:ea typeface="Calibri"/>
                <a:cs typeface="Calibri"/>
              </a:rPr>
              <a:t>¿Para qué audiencias se diseña el sitio?</a:t>
            </a:r>
            <a:endParaRPr sz="950"/>
          </a:p>
        </p:txBody>
      </p:sp>
      <p:sp>
        <p:nvSpPr>
          <p:cNvPr id="21" name="Shape 19">
            <a:extLst>
              <a:ext uri="{FF2B5EF4-FFF2-40B4-BE49-F238E27FC236}">
                <a16:creationId xmlns:a16="http://schemas.microsoft.com/office/drawing/2014/main" id="{6B2D6D79-6C61-4574-8FB3-6914696230A3}"/>
              </a:ext>
            </a:extLst>
          </p:cNvPr>
          <p:cNvSpPr>
            <a:spLocks noGrp="1"/>
          </p:cNvSpPr>
          <p:nvPr/>
        </p:nvSpPr>
        <p:spPr>
          <a:xfrm>
            <a:off x="502920" y="2606040"/>
            <a:ext cx="8138160" cy="365760"/>
          </a:xfrm>
          <a:prstGeom prst="roundRect">
            <a:avLst>
              <a:gd name="adj" fmla="val 15000"/>
            </a:avLst>
          </a:prstGeom>
          <a:solidFill>
            <a:srgbClr val="1A2434"/>
          </a:solidFill>
          <a:ln w="12700">
            <a:solidFill>
              <a:srgbClr val="2B3B52"/>
            </a:solidFill>
            <a:prstDash val="solid"/>
          </a:ln>
        </p:spPr>
        <p:txBody>
          <a:bodyPr/>
          <a:lstStyle/>
          <a:p>
            <a:endParaRPr/>
          </a:p>
        </p:txBody>
      </p:sp>
      <p:sp>
        <p:nvSpPr>
          <p:cNvPr id="22" name="Text 20">
            <a:extLst>
              <a:ext uri="{FF2B5EF4-FFF2-40B4-BE49-F238E27FC236}">
                <a16:creationId xmlns:a16="http://schemas.microsoft.com/office/drawing/2014/main" id="{08E743FE-3F9F-43C4-9FC4-755F9454A19E}"/>
              </a:ext>
            </a:extLst>
          </p:cNvPr>
          <p:cNvSpPr>
            <a:spLocks noGrp="1"/>
          </p:cNvSpPr>
          <p:nvPr/>
        </p:nvSpPr>
        <p:spPr>
          <a:xfrm>
            <a:off x="658368" y="2606040"/>
            <a:ext cx="1645920" cy="365760"/>
          </a:xfrm>
          <a:prstGeom prst="rect">
            <a:avLst/>
          </a:prstGeom>
          <a:noFill/>
        </p:spPr>
        <p:txBody>
          <a:bodyPr wrap="square" lIns="0" tIns="0" rIns="0" bIns="0" anchor="ctr"/>
          <a:lstStyle/>
          <a:p>
            <a:pPr marL="0" indent="0">
              <a:buNone/>
            </a:pPr>
            <a:r>
              <a:rPr sz="950" b="1">
                <a:solidFill>
                  <a:srgbClr val="FFB86C"/>
                </a:solidFill>
                <a:latin typeface="Arial"/>
                <a:ea typeface="Arial"/>
                <a:cs typeface="Arial"/>
              </a:rPr>
              <a:t>Escenarios</a:t>
            </a:r>
            <a:endParaRPr sz="950"/>
          </a:p>
        </p:txBody>
      </p:sp>
      <p:sp>
        <p:nvSpPr>
          <p:cNvPr id="23" name="Text 21">
            <a:extLst>
              <a:ext uri="{FF2B5EF4-FFF2-40B4-BE49-F238E27FC236}">
                <a16:creationId xmlns:a16="http://schemas.microsoft.com/office/drawing/2014/main" id="{E74AF197-F8B1-48C1-A87F-166C25EC2401}"/>
              </a:ext>
            </a:extLst>
          </p:cNvPr>
          <p:cNvSpPr>
            <a:spLocks noGrp="1"/>
          </p:cNvSpPr>
          <p:nvPr/>
        </p:nvSpPr>
        <p:spPr>
          <a:xfrm>
            <a:off x="2395728" y="2606040"/>
            <a:ext cx="2788920" cy="365760"/>
          </a:xfrm>
          <a:prstGeom prst="rect">
            <a:avLst/>
          </a:prstGeom>
          <a:noFill/>
        </p:spPr>
        <p:txBody>
          <a:bodyPr wrap="square" lIns="0" tIns="0" rIns="0" bIns="0" anchor="ctr"/>
          <a:lstStyle/>
          <a:p>
            <a:pPr marL="0" indent="0">
              <a:buNone/>
            </a:pPr>
            <a:r>
              <a:rPr sz="900" dirty="0">
                <a:solidFill>
                  <a:srgbClr val="E8EEF6"/>
                </a:solidFill>
                <a:latin typeface="Courier New"/>
                <a:ea typeface="Courier New"/>
                <a:cs typeface="Courier New"/>
              </a:rPr>
              <a:t>SOHDM · HFPM</a:t>
            </a:r>
            <a:endParaRPr sz="900" dirty="0"/>
          </a:p>
        </p:txBody>
      </p:sp>
      <p:sp>
        <p:nvSpPr>
          <p:cNvPr id="24" name="Text 22">
            <a:extLst>
              <a:ext uri="{FF2B5EF4-FFF2-40B4-BE49-F238E27FC236}">
                <a16:creationId xmlns:a16="http://schemas.microsoft.com/office/drawing/2014/main" id="{15990AD5-95AD-433E-A999-D403610E3CA4}"/>
              </a:ext>
            </a:extLst>
          </p:cNvPr>
          <p:cNvSpPr>
            <a:spLocks noGrp="1"/>
          </p:cNvSpPr>
          <p:nvPr/>
        </p:nvSpPr>
        <p:spPr>
          <a:xfrm>
            <a:off x="5303520" y="2606040"/>
            <a:ext cx="3200400" cy="365760"/>
          </a:xfrm>
          <a:prstGeom prst="rect">
            <a:avLst/>
          </a:prstGeom>
          <a:noFill/>
        </p:spPr>
        <p:txBody>
          <a:bodyPr wrap="square" lIns="0" tIns="0" rIns="0" bIns="0" anchor="ctr"/>
          <a:lstStyle/>
          <a:p>
            <a:pPr marL="0" indent="0">
              <a:buNone/>
            </a:pPr>
            <a:r>
              <a:rPr sz="950">
                <a:solidFill>
                  <a:srgbClr val="93A5BD"/>
                </a:solidFill>
                <a:latin typeface="Calibri"/>
                <a:ea typeface="Calibri"/>
                <a:cs typeface="Calibri"/>
              </a:rPr>
              <a:t>¿Qué ocurre paso a paso ante un evento?</a:t>
            </a:r>
            <a:endParaRPr sz="950"/>
          </a:p>
        </p:txBody>
      </p:sp>
      <p:sp>
        <p:nvSpPr>
          <p:cNvPr id="25" name="Shape 23">
            <a:extLst>
              <a:ext uri="{FF2B5EF4-FFF2-40B4-BE49-F238E27FC236}">
                <a16:creationId xmlns:a16="http://schemas.microsoft.com/office/drawing/2014/main" id="{1E80D71F-FA95-463C-8E36-049783ED967A}"/>
              </a:ext>
            </a:extLst>
          </p:cNvPr>
          <p:cNvSpPr>
            <a:spLocks noGrp="1"/>
          </p:cNvSpPr>
          <p:nvPr/>
        </p:nvSpPr>
        <p:spPr>
          <a:xfrm>
            <a:off x="502920" y="2999232"/>
            <a:ext cx="8138160" cy="365760"/>
          </a:xfrm>
          <a:prstGeom prst="roundRect">
            <a:avLst>
              <a:gd name="adj" fmla="val 15000"/>
            </a:avLst>
          </a:prstGeom>
          <a:solidFill>
            <a:srgbClr val="1A2434"/>
          </a:solidFill>
          <a:ln w="12700">
            <a:solidFill>
              <a:srgbClr val="2B3B52"/>
            </a:solidFill>
            <a:prstDash val="solid"/>
          </a:ln>
        </p:spPr>
        <p:txBody>
          <a:bodyPr/>
          <a:lstStyle/>
          <a:p>
            <a:endParaRPr/>
          </a:p>
        </p:txBody>
      </p:sp>
      <p:sp>
        <p:nvSpPr>
          <p:cNvPr id="26" name="Text 24">
            <a:extLst>
              <a:ext uri="{FF2B5EF4-FFF2-40B4-BE49-F238E27FC236}">
                <a16:creationId xmlns:a16="http://schemas.microsoft.com/office/drawing/2014/main" id="{C8E42BE1-9D3E-4BC8-9CAF-AFB37D40EFDF}"/>
              </a:ext>
            </a:extLst>
          </p:cNvPr>
          <p:cNvSpPr>
            <a:spLocks noGrp="1"/>
          </p:cNvSpPr>
          <p:nvPr/>
        </p:nvSpPr>
        <p:spPr>
          <a:xfrm>
            <a:off x="658368" y="2999232"/>
            <a:ext cx="1645920" cy="365760"/>
          </a:xfrm>
          <a:prstGeom prst="rect">
            <a:avLst/>
          </a:prstGeom>
          <a:noFill/>
        </p:spPr>
        <p:txBody>
          <a:bodyPr wrap="square" lIns="0" tIns="0" rIns="0" bIns="0" anchor="ctr"/>
          <a:lstStyle/>
          <a:p>
            <a:pPr marL="0" indent="0">
              <a:buNone/>
            </a:pPr>
            <a:r>
              <a:rPr sz="950" b="1">
                <a:solidFill>
                  <a:srgbClr val="3DDC97"/>
                </a:solidFill>
                <a:latin typeface="Arial"/>
                <a:ea typeface="Arial"/>
                <a:cs typeface="Arial"/>
              </a:rPr>
              <a:t>Objetos</a:t>
            </a:r>
            <a:endParaRPr sz="950"/>
          </a:p>
        </p:txBody>
      </p:sp>
      <p:sp>
        <p:nvSpPr>
          <p:cNvPr id="27" name="Text 25">
            <a:extLst>
              <a:ext uri="{FF2B5EF4-FFF2-40B4-BE49-F238E27FC236}">
                <a16:creationId xmlns:a16="http://schemas.microsoft.com/office/drawing/2014/main" id="{6BF81F47-C5CB-4C38-A83F-A462878F6B87}"/>
              </a:ext>
            </a:extLst>
          </p:cNvPr>
          <p:cNvSpPr>
            <a:spLocks noGrp="1"/>
          </p:cNvSpPr>
          <p:nvPr/>
        </p:nvSpPr>
        <p:spPr>
          <a:xfrm>
            <a:off x="2395728" y="2999232"/>
            <a:ext cx="2788920" cy="365760"/>
          </a:xfrm>
          <a:prstGeom prst="rect">
            <a:avLst/>
          </a:prstGeom>
          <a:noFill/>
        </p:spPr>
        <p:txBody>
          <a:bodyPr wrap="square" lIns="0" tIns="0" rIns="0" bIns="0" anchor="ctr"/>
          <a:lstStyle/>
          <a:p>
            <a:pPr marL="0" indent="0">
              <a:buNone/>
            </a:pPr>
            <a:r>
              <a:rPr sz="900" dirty="0">
                <a:solidFill>
                  <a:srgbClr val="E8EEF6"/>
                </a:solidFill>
                <a:latin typeface="Courier New"/>
                <a:ea typeface="Courier New"/>
                <a:cs typeface="Courier New"/>
              </a:rPr>
              <a:t>OOWS · OOHDM</a:t>
            </a:r>
            <a:endParaRPr sz="900" dirty="0"/>
          </a:p>
        </p:txBody>
      </p:sp>
      <p:sp>
        <p:nvSpPr>
          <p:cNvPr id="28" name="Text 26">
            <a:extLst>
              <a:ext uri="{FF2B5EF4-FFF2-40B4-BE49-F238E27FC236}">
                <a16:creationId xmlns:a16="http://schemas.microsoft.com/office/drawing/2014/main" id="{F8D02E7D-895A-49AF-9E8B-834276EBECEA}"/>
              </a:ext>
            </a:extLst>
          </p:cNvPr>
          <p:cNvSpPr>
            <a:spLocks noGrp="1"/>
          </p:cNvSpPr>
          <p:nvPr/>
        </p:nvSpPr>
        <p:spPr>
          <a:xfrm>
            <a:off x="5303520" y="2999232"/>
            <a:ext cx="3200400" cy="365760"/>
          </a:xfrm>
          <a:prstGeom prst="rect">
            <a:avLst/>
          </a:prstGeom>
          <a:noFill/>
        </p:spPr>
        <p:txBody>
          <a:bodyPr wrap="square" lIns="0" tIns="0" rIns="0" bIns="0" anchor="ctr"/>
          <a:lstStyle/>
          <a:p>
            <a:pPr marL="0" indent="0">
              <a:buNone/>
            </a:pPr>
            <a:r>
              <a:rPr sz="950">
                <a:solidFill>
                  <a:srgbClr val="93A5BD"/>
                </a:solidFill>
                <a:latin typeface="Calibri"/>
                <a:ea typeface="Calibri"/>
                <a:cs typeface="Calibri"/>
              </a:rPr>
              <a:t>¿Con qué clases y relaciones se estructura el diseño?</a:t>
            </a:r>
            <a:endParaRPr sz="950"/>
          </a:p>
        </p:txBody>
      </p:sp>
      <p:sp>
        <p:nvSpPr>
          <p:cNvPr id="29" name="Shape 27">
            <a:extLst>
              <a:ext uri="{FF2B5EF4-FFF2-40B4-BE49-F238E27FC236}">
                <a16:creationId xmlns:a16="http://schemas.microsoft.com/office/drawing/2014/main" id="{59F03C6D-79F0-49F5-8172-C06C3982C987}"/>
              </a:ext>
            </a:extLst>
          </p:cNvPr>
          <p:cNvSpPr>
            <a:spLocks noGrp="1"/>
          </p:cNvSpPr>
          <p:nvPr/>
        </p:nvSpPr>
        <p:spPr>
          <a:xfrm>
            <a:off x="502920" y="3392424"/>
            <a:ext cx="8138160" cy="365760"/>
          </a:xfrm>
          <a:prstGeom prst="roundRect">
            <a:avLst>
              <a:gd name="adj" fmla="val 15000"/>
            </a:avLst>
          </a:prstGeom>
          <a:solidFill>
            <a:srgbClr val="1A2434"/>
          </a:solidFill>
          <a:ln w="12700">
            <a:solidFill>
              <a:srgbClr val="2B3B52"/>
            </a:solidFill>
            <a:prstDash val="solid"/>
          </a:ln>
        </p:spPr>
        <p:txBody>
          <a:bodyPr/>
          <a:lstStyle/>
          <a:p>
            <a:endParaRPr/>
          </a:p>
        </p:txBody>
      </p:sp>
      <p:sp>
        <p:nvSpPr>
          <p:cNvPr id="30" name="Text 28">
            <a:extLst>
              <a:ext uri="{FF2B5EF4-FFF2-40B4-BE49-F238E27FC236}">
                <a16:creationId xmlns:a16="http://schemas.microsoft.com/office/drawing/2014/main" id="{C7AA642D-D274-4C43-9B48-09F9EE2254C1}"/>
              </a:ext>
            </a:extLst>
          </p:cNvPr>
          <p:cNvSpPr>
            <a:spLocks noGrp="1"/>
          </p:cNvSpPr>
          <p:nvPr/>
        </p:nvSpPr>
        <p:spPr>
          <a:xfrm>
            <a:off x="658368" y="3392424"/>
            <a:ext cx="1645920" cy="365760"/>
          </a:xfrm>
          <a:prstGeom prst="rect">
            <a:avLst/>
          </a:prstGeom>
          <a:noFill/>
        </p:spPr>
        <p:txBody>
          <a:bodyPr wrap="square" lIns="0" tIns="0" rIns="0" bIns="0" anchor="ctr"/>
          <a:lstStyle/>
          <a:p>
            <a:pPr marL="0" indent="0">
              <a:buNone/>
            </a:pPr>
            <a:r>
              <a:rPr sz="950" b="1">
                <a:solidFill>
                  <a:srgbClr val="FFB86C"/>
                </a:solidFill>
                <a:latin typeface="Arial"/>
                <a:ea typeface="Arial"/>
                <a:cs typeface="Arial"/>
              </a:rPr>
              <a:t>Proceso y notación</a:t>
            </a:r>
            <a:endParaRPr sz="950"/>
          </a:p>
        </p:txBody>
      </p:sp>
      <p:sp>
        <p:nvSpPr>
          <p:cNvPr id="31" name="Text 29">
            <a:extLst>
              <a:ext uri="{FF2B5EF4-FFF2-40B4-BE49-F238E27FC236}">
                <a16:creationId xmlns:a16="http://schemas.microsoft.com/office/drawing/2014/main" id="{1E6CEEBC-1073-45E7-A65D-CA80560D2C68}"/>
              </a:ext>
            </a:extLst>
          </p:cNvPr>
          <p:cNvSpPr>
            <a:spLocks noGrp="1"/>
          </p:cNvSpPr>
          <p:nvPr/>
        </p:nvSpPr>
        <p:spPr>
          <a:xfrm>
            <a:off x="2395728" y="3392424"/>
            <a:ext cx="2788920" cy="365760"/>
          </a:xfrm>
          <a:prstGeom prst="rect">
            <a:avLst/>
          </a:prstGeom>
          <a:noFill/>
        </p:spPr>
        <p:txBody>
          <a:bodyPr wrap="square" lIns="0" tIns="0" rIns="0" bIns="0" anchor="ctr"/>
          <a:lstStyle/>
          <a:p>
            <a:pPr marL="0" indent="0">
              <a:buNone/>
            </a:pPr>
            <a:r>
              <a:rPr sz="900" dirty="0">
                <a:solidFill>
                  <a:srgbClr val="E8EEF6"/>
                </a:solidFill>
                <a:latin typeface="Courier New"/>
                <a:ea typeface="Courier New"/>
                <a:cs typeface="Courier New"/>
              </a:rPr>
              <a:t>HFPM · OOWS · WAE</a:t>
            </a:r>
            <a:endParaRPr sz="900" dirty="0"/>
          </a:p>
        </p:txBody>
      </p:sp>
      <p:sp>
        <p:nvSpPr>
          <p:cNvPr id="32" name="Text 30">
            <a:extLst>
              <a:ext uri="{FF2B5EF4-FFF2-40B4-BE49-F238E27FC236}">
                <a16:creationId xmlns:a16="http://schemas.microsoft.com/office/drawing/2014/main" id="{64541ACB-43B1-4AC9-912D-956D14F57BBD}"/>
              </a:ext>
            </a:extLst>
          </p:cNvPr>
          <p:cNvSpPr>
            <a:spLocks noGrp="1"/>
          </p:cNvSpPr>
          <p:nvPr/>
        </p:nvSpPr>
        <p:spPr>
          <a:xfrm>
            <a:off x="5303520" y="3392424"/>
            <a:ext cx="3200400" cy="365760"/>
          </a:xfrm>
          <a:prstGeom prst="rect">
            <a:avLst/>
          </a:prstGeom>
          <a:noFill/>
        </p:spPr>
        <p:txBody>
          <a:bodyPr wrap="square" lIns="0" tIns="0" rIns="0" bIns="0" anchor="ctr"/>
          <a:lstStyle/>
          <a:p>
            <a:pPr marL="0" indent="0">
              <a:buNone/>
            </a:pPr>
            <a:r>
              <a:rPr sz="950">
                <a:solidFill>
                  <a:srgbClr val="93A5BD"/>
                </a:solidFill>
                <a:latin typeface="Calibri"/>
                <a:ea typeface="Calibri"/>
                <a:cs typeface="Calibri"/>
              </a:rPr>
              <a:t>¿Cómo se organiza y se representa el trabajo?</a:t>
            </a:r>
            <a:endParaRPr sz="950"/>
          </a:p>
        </p:txBody>
      </p:sp>
      <p:sp>
        <p:nvSpPr>
          <p:cNvPr id="33" name="Shape 31">
            <a:extLst>
              <a:ext uri="{FF2B5EF4-FFF2-40B4-BE49-F238E27FC236}">
                <a16:creationId xmlns:a16="http://schemas.microsoft.com/office/drawing/2014/main" id="{9E62B3D4-5093-4461-8BCD-5C74E4EC2AC9}"/>
              </a:ext>
            </a:extLst>
          </p:cNvPr>
          <p:cNvSpPr>
            <a:spLocks noGrp="1"/>
          </p:cNvSpPr>
          <p:nvPr/>
        </p:nvSpPr>
        <p:spPr>
          <a:xfrm>
            <a:off x="502920" y="3840480"/>
            <a:ext cx="8138160" cy="768096"/>
          </a:xfrm>
          <a:prstGeom prst="roundRect">
            <a:avLst>
              <a:gd name="adj" fmla="val 5952"/>
            </a:avLst>
          </a:prstGeom>
          <a:solidFill>
            <a:srgbClr val="1A2434"/>
          </a:solidFill>
          <a:ln w="12700">
            <a:solidFill>
              <a:srgbClr val="3DDC97"/>
            </a:solidFill>
            <a:prstDash val="solid"/>
          </a:ln>
        </p:spPr>
        <p:txBody>
          <a:bodyPr/>
          <a:lstStyle/>
          <a:p>
            <a:endParaRPr/>
          </a:p>
        </p:txBody>
      </p:sp>
      <p:sp>
        <p:nvSpPr>
          <p:cNvPr id="34" name="Text 32">
            <a:extLst>
              <a:ext uri="{FF2B5EF4-FFF2-40B4-BE49-F238E27FC236}">
                <a16:creationId xmlns:a16="http://schemas.microsoft.com/office/drawing/2014/main" id="{240B7458-5F1B-4908-BB6B-B829E1C2E69B}"/>
              </a:ext>
            </a:extLst>
          </p:cNvPr>
          <p:cNvSpPr>
            <a:spLocks noGrp="1"/>
          </p:cNvSpPr>
          <p:nvPr/>
        </p:nvSpPr>
        <p:spPr>
          <a:xfrm>
            <a:off x="731520" y="3931920"/>
            <a:ext cx="7680960" cy="201168"/>
          </a:xfrm>
          <a:prstGeom prst="rect">
            <a:avLst/>
          </a:prstGeom>
          <a:noFill/>
        </p:spPr>
        <p:txBody>
          <a:bodyPr wrap="square" lIns="0" tIns="0" rIns="0" bIns="0" anchor="ctr"/>
          <a:lstStyle/>
          <a:p>
            <a:pPr marL="0" indent="0">
              <a:buNone/>
            </a:pPr>
            <a:r>
              <a:rPr sz="1150" b="1">
                <a:solidFill>
                  <a:srgbClr val="3DDC97"/>
                </a:solidFill>
                <a:latin typeface="Arial"/>
                <a:ea typeface="Arial"/>
                <a:cs typeface="Arial"/>
              </a:rPr>
              <a:t>Cómo leer la tabla</a:t>
            </a:r>
            <a:endParaRPr sz="1150"/>
          </a:p>
        </p:txBody>
      </p:sp>
      <p:sp>
        <p:nvSpPr>
          <p:cNvPr id="35" name="Text 33">
            <a:extLst>
              <a:ext uri="{FF2B5EF4-FFF2-40B4-BE49-F238E27FC236}">
                <a16:creationId xmlns:a16="http://schemas.microsoft.com/office/drawing/2014/main" id="{93490C1B-2FE2-4E6D-9B4F-657C7FD0C90A}"/>
              </a:ext>
            </a:extLst>
          </p:cNvPr>
          <p:cNvSpPr>
            <a:spLocks noGrp="1"/>
          </p:cNvSpPr>
          <p:nvPr/>
        </p:nvSpPr>
        <p:spPr>
          <a:xfrm>
            <a:off x="731520" y="4169664"/>
            <a:ext cx="7680960" cy="365760"/>
          </a:xfrm>
          <a:prstGeom prst="rect">
            <a:avLst/>
          </a:prstGeom>
          <a:noFill/>
        </p:spPr>
        <p:txBody>
          <a:bodyPr wrap="square" lIns="0" tIns="0" rIns="0" bIns="0" anchor="t"/>
          <a:lstStyle/>
          <a:p>
            <a:pPr marL="0" indent="0">
              <a:lnSpc>
                <a:spcPct val="110000"/>
              </a:lnSpc>
              <a:buNone/>
            </a:pPr>
            <a:r>
              <a:rPr sz="1000">
                <a:solidFill>
                  <a:srgbClr val="E8EEF6"/>
                </a:solidFill>
                <a:latin typeface="Calibri"/>
                <a:ea typeface="Calibri"/>
                <a:cs typeface="Calibri"/>
              </a:rPr>
              <a:t>Las categorías no son excluyentes: casi todas las propuestas tocan varios aspectos y la fila indica el énfasis que la literatura destaca. OOHDM aparece en navegación y en objetos, y separa con claridad las cuatro decisiones: es el ejemplo que desarrollamos a continuación.</a:t>
            </a:r>
            <a:endParaRPr sz="1000"/>
          </a:p>
        </p:txBody>
      </p:sp>
    </p:spTree>
    <p:extLst>
      <p:ext uri="{BB962C8B-B14F-4D97-AF65-F5344CB8AC3E}">
        <p14:creationId xmlns:p14="http://schemas.microsoft.com/office/powerpoint/2010/main" val="20716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22DF0E-8652-4888-85DC-67AFD5CD33F7}"/>
              </a:ext>
            </a:extLst>
          </p:cNvPr>
          <p:cNvSpPr>
            <a:spLocks noGrp="1"/>
          </p:cNvSpPr>
          <p:nvPr/>
        </p:nvSpPr>
        <p:spPr>
          <a:xfrm>
            <a:off x="502920" y="365760"/>
            <a:ext cx="97383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14F4EBD0-9D7C-4AE8-8A6C-555FEA77BFF4}"/>
              </a:ext>
            </a:extLst>
          </p:cNvPr>
          <p:cNvSpPr>
            <a:spLocks noGrp="1"/>
          </p:cNvSpPr>
          <p:nvPr/>
        </p:nvSpPr>
        <p:spPr>
          <a:xfrm>
            <a:off x="502920" y="365760"/>
            <a:ext cx="97383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PRECISIÓN</a:t>
            </a:r>
            <a:endParaRPr sz="850"/>
          </a:p>
        </p:txBody>
      </p:sp>
      <p:sp>
        <p:nvSpPr>
          <p:cNvPr id="4" name="Text 2">
            <a:extLst>
              <a:ext uri="{FF2B5EF4-FFF2-40B4-BE49-F238E27FC236}">
                <a16:creationId xmlns:a16="http://schemas.microsoft.com/office/drawing/2014/main" id="{64EFB958-FC99-42CE-89AD-28BAE776B24F}"/>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Métodos de diseño y organización del trabajo</a:t>
            </a:r>
            <a:endParaRPr sz="2300"/>
          </a:p>
        </p:txBody>
      </p:sp>
      <p:sp>
        <p:nvSpPr>
          <p:cNvPr id="5" name="Text 3">
            <a:extLst>
              <a:ext uri="{FF2B5EF4-FFF2-40B4-BE49-F238E27FC236}">
                <a16:creationId xmlns:a16="http://schemas.microsoft.com/office/drawing/2014/main" id="{59C5FF25-ED85-467C-B518-463046CCCB2D}"/>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09 / 24</a:t>
            </a:r>
            <a:endParaRPr sz="800"/>
          </a:p>
        </p:txBody>
      </p:sp>
      <p:sp>
        <p:nvSpPr>
          <p:cNvPr id="6" name="Shape 4">
            <a:extLst>
              <a:ext uri="{FF2B5EF4-FFF2-40B4-BE49-F238E27FC236}">
                <a16:creationId xmlns:a16="http://schemas.microsoft.com/office/drawing/2014/main" id="{A9CEB94E-C2F8-410B-B6DC-AEDF87C748B7}"/>
              </a:ext>
            </a:extLst>
          </p:cNvPr>
          <p:cNvSpPr>
            <a:spLocks noGrp="1"/>
          </p:cNvSpPr>
          <p:nvPr/>
        </p:nvSpPr>
        <p:spPr>
          <a:xfrm>
            <a:off x="502920" y="1207008"/>
            <a:ext cx="3931920" cy="2139696"/>
          </a:xfrm>
          <a:prstGeom prst="roundRect">
            <a:avLst>
              <a:gd name="adj" fmla="val 2137"/>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A5E66128-3E20-4627-B9D6-0EFC7A9ABC8F}"/>
              </a:ext>
            </a:extLst>
          </p:cNvPr>
          <p:cNvSpPr>
            <a:spLocks noGrp="1"/>
          </p:cNvSpPr>
          <p:nvPr/>
        </p:nvSpPr>
        <p:spPr>
          <a:xfrm>
            <a:off x="649224" y="1325880"/>
            <a:ext cx="3639312" cy="237744"/>
          </a:xfrm>
          <a:prstGeom prst="rect">
            <a:avLst/>
          </a:prstGeom>
          <a:noFill/>
        </p:spPr>
        <p:txBody>
          <a:bodyPr wrap="square" lIns="0" tIns="0" rIns="0" bIns="0" anchor="ctr"/>
          <a:lstStyle/>
          <a:p>
            <a:pPr marL="0" indent="0">
              <a:buNone/>
            </a:pPr>
            <a:r>
              <a:rPr sz="1200" b="1">
                <a:solidFill>
                  <a:srgbClr val="3DDC97"/>
                </a:solidFill>
                <a:latin typeface="Arial"/>
                <a:ea typeface="Arial"/>
                <a:cs typeface="Arial"/>
              </a:rPr>
              <a:t>Métodos de diseño web</a:t>
            </a:r>
            <a:endParaRPr sz="1200"/>
          </a:p>
        </p:txBody>
      </p:sp>
      <p:sp>
        <p:nvSpPr>
          <p:cNvPr id="8" name="Text 6">
            <a:extLst>
              <a:ext uri="{FF2B5EF4-FFF2-40B4-BE49-F238E27FC236}">
                <a16:creationId xmlns:a16="http://schemas.microsoft.com/office/drawing/2014/main" id="{E17C9F1B-AB53-4277-83D4-BECE8CB58197}"/>
              </a:ext>
            </a:extLst>
          </p:cNvPr>
          <p:cNvSpPr>
            <a:spLocks noGrp="1"/>
          </p:cNvSpPr>
          <p:nvPr/>
        </p:nvSpPr>
        <p:spPr>
          <a:xfrm>
            <a:off x="649224" y="1581912"/>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HDM · RMM · EORM · WSDM · SOHDM · OOWS · OOHDM</a:t>
            </a:r>
            <a:endParaRPr sz="850"/>
          </a:p>
        </p:txBody>
      </p:sp>
      <p:sp>
        <p:nvSpPr>
          <p:cNvPr id="9" name="Text 7">
            <a:extLst>
              <a:ext uri="{FF2B5EF4-FFF2-40B4-BE49-F238E27FC236}">
                <a16:creationId xmlns:a16="http://schemas.microsoft.com/office/drawing/2014/main" id="{C3989C46-DB3C-419A-9BAC-A3FCB5D57444}"/>
              </a:ext>
            </a:extLst>
          </p:cNvPr>
          <p:cNvSpPr>
            <a:spLocks noGrp="1"/>
          </p:cNvSpPr>
          <p:nvPr/>
        </p:nvSpPr>
        <p:spPr>
          <a:xfrm>
            <a:off x="649224" y="1801368"/>
            <a:ext cx="3639312" cy="1435608"/>
          </a:xfrm>
          <a:prstGeom prst="rect">
            <a:avLst/>
          </a:prstGeom>
          <a:noFill/>
        </p:spPr>
        <p:txBody>
          <a:bodyPr wrap="square" lIns="0" tIns="0" rIns="0" bIns="0" anchor="t"/>
          <a:lstStyle/>
          <a:p>
            <a:r>
              <a:rPr sz="1200">
                <a:solidFill>
                  <a:schemeClr val="bg1"/>
                </a:solidFill>
              </a:rPr>
              <a:t>Define qué información tendrá, cómo navegará el usuario y cómo serán las pantallas.</a:t>
            </a:r>
          </a:p>
          <a:p>
            <a:endParaRPr sz="1200">
              <a:solidFill>
                <a:schemeClr val="bg1"/>
              </a:solidFill>
            </a:endParaRPr>
          </a:p>
          <a:p>
            <a:r>
              <a:rPr sz="1200">
                <a:solidFill>
                  <a:schemeClr val="bg1"/>
                </a:solidFill>
              </a:rPr>
              <a:t>Utilizar OOHDM para diseñar clientes, solicitudes y el recorrido para registrar una solicitud.</a:t>
            </a:r>
          </a:p>
        </p:txBody>
      </p:sp>
      <p:sp>
        <p:nvSpPr>
          <p:cNvPr id="10" name="Shape 8">
            <a:extLst>
              <a:ext uri="{FF2B5EF4-FFF2-40B4-BE49-F238E27FC236}">
                <a16:creationId xmlns:a16="http://schemas.microsoft.com/office/drawing/2014/main" id="{F6A8F1D7-B7AE-433E-822B-1BA7690F6148}"/>
              </a:ext>
            </a:extLst>
          </p:cNvPr>
          <p:cNvSpPr>
            <a:spLocks noGrp="1"/>
          </p:cNvSpPr>
          <p:nvPr/>
        </p:nvSpPr>
        <p:spPr>
          <a:xfrm>
            <a:off x="4709160" y="1207008"/>
            <a:ext cx="3931920" cy="2139696"/>
          </a:xfrm>
          <a:prstGeom prst="roundRect">
            <a:avLst>
              <a:gd name="adj" fmla="val 2137"/>
            </a:avLst>
          </a:prstGeom>
          <a:solidFill>
            <a:srgbClr val="1A2434"/>
          </a:solidFill>
          <a:ln w="12700">
            <a:solidFill>
              <a:srgbClr val="56C7F2"/>
            </a:solidFill>
            <a:prstDash val="solid"/>
          </a:ln>
        </p:spPr>
        <p:txBody>
          <a:bodyPr/>
          <a:lstStyle/>
          <a:p>
            <a:endParaRPr/>
          </a:p>
        </p:txBody>
      </p:sp>
      <p:sp>
        <p:nvSpPr>
          <p:cNvPr id="11" name="Text 9">
            <a:extLst>
              <a:ext uri="{FF2B5EF4-FFF2-40B4-BE49-F238E27FC236}">
                <a16:creationId xmlns:a16="http://schemas.microsoft.com/office/drawing/2014/main" id="{103DA147-4E82-4CA4-9320-34C29D84B04B}"/>
              </a:ext>
            </a:extLst>
          </p:cNvPr>
          <p:cNvSpPr>
            <a:spLocks noGrp="1"/>
          </p:cNvSpPr>
          <p:nvPr/>
        </p:nvSpPr>
        <p:spPr>
          <a:xfrm>
            <a:off x="4855464" y="1325880"/>
            <a:ext cx="3639312" cy="237744"/>
          </a:xfrm>
          <a:prstGeom prst="rect">
            <a:avLst/>
          </a:prstGeom>
          <a:noFill/>
        </p:spPr>
        <p:txBody>
          <a:bodyPr wrap="square" lIns="0" tIns="0" rIns="0" bIns="0" anchor="ctr"/>
          <a:lstStyle/>
          <a:p>
            <a:pPr marL="0" indent="0">
              <a:buNone/>
            </a:pPr>
            <a:r>
              <a:rPr sz="1200" b="1">
                <a:solidFill>
                  <a:srgbClr val="56C7F2"/>
                </a:solidFill>
                <a:latin typeface="Arial"/>
                <a:ea typeface="Arial"/>
                <a:cs typeface="Arial"/>
              </a:rPr>
              <a:t>Marcos de organización del trabajo</a:t>
            </a:r>
            <a:endParaRPr sz="1200"/>
          </a:p>
        </p:txBody>
      </p:sp>
      <p:sp>
        <p:nvSpPr>
          <p:cNvPr id="12" name="Text 10">
            <a:extLst>
              <a:ext uri="{FF2B5EF4-FFF2-40B4-BE49-F238E27FC236}">
                <a16:creationId xmlns:a16="http://schemas.microsoft.com/office/drawing/2014/main" id="{B6403B29-3A94-4F73-9361-C2C26418040B}"/>
              </a:ext>
            </a:extLst>
          </p:cNvPr>
          <p:cNvSpPr>
            <a:spLocks noGrp="1"/>
          </p:cNvSpPr>
          <p:nvPr/>
        </p:nvSpPr>
        <p:spPr>
          <a:xfrm>
            <a:off x="4855464" y="1581912"/>
            <a:ext cx="363931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Scrum · Kanban</a:t>
            </a:r>
            <a:endParaRPr sz="850"/>
          </a:p>
        </p:txBody>
      </p:sp>
      <p:sp>
        <p:nvSpPr>
          <p:cNvPr id="13" name="Text 11">
            <a:extLst>
              <a:ext uri="{FF2B5EF4-FFF2-40B4-BE49-F238E27FC236}">
                <a16:creationId xmlns:a16="http://schemas.microsoft.com/office/drawing/2014/main" id="{188F513E-5D6A-4986-B4C5-3B1A04C90457}"/>
              </a:ext>
            </a:extLst>
          </p:cNvPr>
          <p:cNvSpPr>
            <a:spLocks noGrp="1"/>
          </p:cNvSpPr>
          <p:nvPr/>
        </p:nvSpPr>
        <p:spPr>
          <a:xfrm>
            <a:off x="4855464" y="1820799"/>
            <a:ext cx="3639312" cy="1435608"/>
          </a:xfrm>
          <a:prstGeom prst="rect">
            <a:avLst/>
          </a:prstGeom>
          <a:noFill/>
        </p:spPr>
        <p:txBody>
          <a:bodyPr wrap="square" lIns="0" tIns="0" rIns="0" bIns="0" anchor="t"/>
          <a:lstStyle/>
          <a:p>
            <a:pPr marL="0" indent="0">
              <a:lnSpc>
                <a:spcPct val="100000"/>
              </a:lnSpc>
              <a:buNone/>
            </a:pPr>
            <a:r>
              <a:rPr sz="1200">
                <a:solidFill>
                  <a:srgbClr val="E8EEF6"/>
                </a:solidFill>
                <a:latin typeface="Calibri"/>
                <a:ea typeface="Calibri"/>
                <a:cs typeface="Calibri"/>
              </a:rPr>
              <a:t>Ayuda al equipo a coordinar las tareas, establecer prioridades y revisar el avance. Scrum y Kanban apoyan esta organización.</a:t>
            </a:r>
          </a:p>
          <a:p>
            <a:pPr marL="0" indent="0">
              <a:lnSpc>
                <a:spcPct val="100000"/>
              </a:lnSpc>
              <a:buNone/>
            </a:pPr>
            <a:endParaRPr sz="1200">
              <a:solidFill>
                <a:srgbClr val="E8EEF6"/>
              </a:solidFill>
              <a:latin typeface="Calibri"/>
              <a:ea typeface="Calibri"/>
              <a:cs typeface="Calibri"/>
            </a:endParaRPr>
          </a:p>
          <a:p>
            <a:pPr marL="0" indent="0">
              <a:lnSpc>
                <a:spcPct val="100000"/>
              </a:lnSpc>
              <a:buNone/>
            </a:pPr>
            <a:r>
              <a:rPr sz="1200">
                <a:solidFill>
                  <a:srgbClr val="E8EEF6"/>
                </a:solidFill>
                <a:latin typeface="Calibri"/>
                <a:ea typeface="Calibri"/>
                <a:cs typeface="Calibri"/>
              </a:rPr>
              <a:t>Ejemplo: organizar las tareas de crear el formulario, programar el servidor y comprobar el registro.</a:t>
            </a:r>
            <a:endParaRPr sz="1200"/>
          </a:p>
        </p:txBody>
      </p:sp>
    </p:spTree>
    <p:extLst>
      <p:ext uri="{BB962C8B-B14F-4D97-AF65-F5344CB8AC3E}">
        <p14:creationId xmlns:p14="http://schemas.microsoft.com/office/powerpoint/2010/main" val="549230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D28F767-F14C-459F-AD91-E106E0C2E501}"/>
              </a:ext>
            </a:extLst>
          </p:cNvPr>
          <p:cNvSpPr>
            <a:spLocks noGrp="1"/>
          </p:cNvSpPr>
          <p:nvPr/>
        </p:nvSpPr>
        <p:spPr>
          <a:xfrm>
            <a:off x="502920" y="365760"/>
            <a:ext cx="662940"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5CAF5A59-F884-4784-A54C-0ED053BFDF6B}"/>
              </a:ext>
            </a:extLst>
          </p:cNvPr>
          <p:cNvSpPr>
            <a:spLocks noGrp="1"/>
          </p:cNvSpPr>
          <p:nvPr/>
        </p:nvSpPr>
        <p:spPr>
          <a:xfrm>
            <a:off x="502920" y="365760"/>
            <a:ext cx="662940"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OOHDM</a:t>
            </a:r>
            <a:endParaRPr sz="850"/>
          </a:p>
        </p:txBody>
      </p:sp>
      <p:sp>
        <p:nvSpPr>
          <p:cNvPr id="4" name="Text 2">
            <a:extLst>
              <a:ext uri="{FF2B5EF4-FFF2-40B4-BE49-F238E27FC236}">
                <a16:creationId xmlns:a16="http://schemas.microsoft.com/office/drawing/2014/main" id="{D891D720-BDA5-494B-9969-F8D0C5112081}"/>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¿Qué es OOHDM?</a:t>
            </a:r>
            <a:endParaRPr sz="2300"/>
          </a:p>
        </p:txBody>
      </p:sp>
      <p:sp>
        <p:nvSpPr>
          <p:cNvPr id="5" name="Text 3">
            <a:extLst>
              <a:ext uri="{FF2B5EF4-FFF2-40B4-BE49-F238E27FC236}">
                <a16:creationId xmlns:a16="http://schemas.microsoft.com/office/drawing/2014/main" id="{CBB22C9D-8E7B-4D4B-A581-7DEB18577248}"/>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10 / 24</a:t>
            </a:r>
            <a:endParaRPr sz="800"/>
          </a:p>
        </p:txBody>
      </p:sp>
      <p:sp>
        <p:nvSpPr>
          <p:cNvPr id="6" name="Shape 4">
            <a:extLst>
              <a:ext uri="{FF2B5EF4-FFF2-40B4-BE49-F238E27FC236}">
                <a16:creationId xmlns:a16="http://schemas.microsoft.com/office/drawing/2014/main" id="{1571D8EB-CC33-4DBE-8955-DCD96F2670B7}"/>
              </a:ext>
            </a:extLst>
          </p:cNvPr>
          <p:cNvSpPr>
            <a:spLocks noGrp="1"/>
          </p:cNvSpPr>
          <p:nvPr/>
        </p:nvSpPr>
        <p:spPr>
          <a:xfrm>
            <a:off x="502920" y="1152144"/>
            <a:ext cx="8138160" cy="640080"/>
          </a:xfrm>
          <a:prstGeom prst="roundRect">
            <a:avLst>
              <a:gd name="adj" fmla="val 7143"/>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A9D916BF-C4A8-43FD-9BDD-D919DA46CE5F}"/>
              </a:ext>
            </a:extLst>
          </p:cNvPr>
          <p:cNvSpPr>
            <a:spLocks noGrp="1"/>
          </p:cNvSpPr>
          <p:nvPr/>
        </p:nvSpPr>
        <p:spPr>
          <a:xfrm>
            <a:off x="731520" y="1224534"/>
            <a:ext cx="7680960" cy="475488"/>
          </a:xfrm>
          <a:prstGeom prst="rect">
            <a:avLst/>
          </a:prstGeom>
          <a:noFill/>
        </p:spPr>
        <p:txBody>
          <a:bodyPr wrap="square" lIns="0" tIns="0" rIns="0" bIns="0" anchor="t"/>
          <a:lstStyle/>
          <a:p>
            <a:pPr marL="0" indent="0">
              <a:lnSpc>
                <a:spcPct val="110000"/>
              </a:lnSpc>
              <a:buNone/>
            </a:pPr>
            <a:r>
              <a:rPr sz="1100">
                <a:solidFill>
                  <a:srgbClr val="E8EEF6"/>
                </a:solidFill>
                <a:latin typeface="Calibri"/>
                <a:ea typeface="Calibri"/>
                <a:cs typeface="Calibri"/>
              </a:rPr>
              <a:t>OOHDM — Object-Oriented Hypermedia Design Method (Schwabe y Rossi, 1995-1998). Método basado en modelos que separa el diseño de una aplicación hipermedia en cuatro actividades, cada una con su propio modelo y su propia pregunta. Su propósito es tomar una decisión a la vez y dejarla documentada.</a:t>
            </a:r>
            <a:endParaRPr sz="1100"/>
          </a:p>
        </p:txBody>
      </p:sp>
      <p:sp>
        <p:nvSpPr>
          <p:cNvPr id="8" name="Shape 6">
            <a:extLst>
              <a:ext uri="{FF2B5EF4-FFF2-40B4-BE49-F238E27FC236}">
                <a16:creationId xmlns:a16="http://schemas.microsoft.com/office/drawing/2014/main" id="{43359117-763F-4102-AB2B-AD47F64F52FF}"/>
              </a:ext>
            </a:extLst>
          </p:cNvPr>
          <p:cNvSpPr>
            <a:spLocks noGrp="1"/>
          </p:cNvSpPr>
          <p:nvPr/>
        </p:nvSpPr>
        <p:spPr>
          <a:xfrm>
            <a:off x="502920" y="2029968"/>
            <a:ext cx="1298448" cy="786384"/>
          </a:xfrm>
          <a:prstGeom prst="roundRect">
            <a:avLst>
              <a:gd name="adj" fmla="val 6977"/>
            </a:avLst>
          </a:prstGeom>
          <a:solidFill>
            <a:srgbClr val="070C14"/>
          </a:solidFill>
          <a:ln w="12700">
            <a:solidFill>
              <a:srgbClr val="2B3B52"/>
            </a:solidFill>
            <a:prstDash val="solid"/>
          </a:ln>
        </p:spPr>
        <p:txBody>
          <a:bodyPr/>
          <a:lstStyle/>
          <a:p>
            <a:endParaRPr/>
          </a:p>
        </p:txBody>
      </p:sp>
      <p:sp>
        <p:nvSpPr>
          <p:cNvPr id="9" name="Text 7">
            <a:extLst>
              <a:ext uri="{FF2B5EF4-FFF2-40B4-BE49-F238E27FC236}">
                <a16:creationId xmlns:a16="http://schemas.microsoft.com/office/drawing/2014/main" id="{4132E72F-F876-432F-84F3-7F55885E8DF6}"/>
              </a:ext>
            </a:extLst>
          </p:cNvPr>
          <p:cNvSpPr>
            <a:spLocks noGrp="1"/>
          </p:cNvSpPr>
          <p:nvPr/>
        </p:nvSpPr>
        <p:spPr>
          <a:xfrm>
            <a:off x="502920" y="2029968"/>
            <a:ext cx="1298448" cy="786384"/>
          </a:xfrm>
          <a:prstGeom prst="rect">
            <a:avLst/>
          </a:prstGeom>
          <a:noFill/>
        </p:spPr>
        <p:txBody>
          <a:bodyPr wrap="square" lIns="0" tIns="0" rIns="0" bIns="0" anchor="ctr"/>
          <a:lstStyle/>
          <a:p>
            <a:pPr marL="0" indent="0" algn="ctr">
              <a:buNone/>
            </a:pPr>
            <a:r>
              <a:rPr sz="900" b="1">
                <a:solidFill>
                  <a:srgbClr val="6C7E96"/>
                </a:solidFill>
                <a:latin typeface="Arial"/>
                <a:ea typeface="Arial"/>
                <a:cs typeface="Arial"/>
              </a:rPr>
              <a:t>Requisitos</a:t>
            </a:r>
            <a:endParaRPr sz="900"/>
          </a:p>
          <a:p>
            <a:pPr marL="0" indent="0" algn="ctr">
              <a:buNone/>
            </a:pPr>
            <a:r>
              <a:rPr sz="900" b="1">
                <a:solidFill>
                  <a:srgbClr val="6C7E96"/>
                </a:solidFill>
                <a:latin typeface="Arial"/>
                <a:ea typeface="Arial"/>
                <a:cs typeface="Arial"/>
              </a:rPr>
              <a:t>(insumo)</a:t>
            </a:r>
            <a:endParaRPr sz="900"/>
          </a:p>
        </p:txBody>
      </p:sp>
      <p:sp>
        <p:nvSpPr>
          <p:cNvPr id="10" name="Shape 8">
            <a:extLst>
              <a:ext uri="{FF2B5EF4-FFF2-40B4-BE49-F238E27FC236}">
                <a16:creationId xmlns:a16="http://schemas.microsoft.com/office/drawing/2014/main" id="{7D768C4B-F879-401D-8BEC-7BAD46175B1F}"/>
              </a:ext>
            </a:extLst>
          </p:cNvPr>
          <p:cNvSpPr>
            <a:spLocks noGrp="1"/>
          </p:cNvSpPr>
          <p:nvPr/>
        </p:nvSpPr>
        <p:spPr>
          <a:xfrm>
            <a:off x="1874520" y="2423160"/>
            <a:ext cx="128016" cy="0"/>
          </a:xfrm>
          <a:prstGeom prst="line">
            <a:avLst/>
          </a:prstGeom>
          <a:noFill/>
          <a:ln w="15875">
            <a:solidFill>
              <a:srgbClr val="6C7E96"/>
            </a:solidFill>
            <a:prstDash val="solid"/>
            <a:tailEnd type="triangle"/>
          </a:ln>
        </p:spPr>
        <p:txBody>
          <a:bodyPr/>
          <a:lstStyle/>
          <a:p>
            <a:endParaRPr/>
          </a:p>
        </p:txBody>
      </p:sp>
      <p:sp>
        <p:nvSpPr>
          <p:cNvPr id="11" name="Shape 9">
            <a:extLst>
              <a:ext uri="{FF2B5EF4-FFF2-40B4-BE49-F238E27FC236}">
                <a16:creationId xmlns:a16="http://schemas.microsoft.com/office/drawing/2014/main" id="{85CAAFCC-E853-4D5B-86F2-05972D4877CC}"/>
              </a:ext>
            </a:extLst>
          </p:cNvPr>
          <p:cNvSpPr>
            <a:spLocks noGrp="1"/>
          </p:cNvSpPr>
          <p:nvPr/>
        </p:nvSpPr>
        <p:spPr>
          <a:xfrm>
            <a:off x="2121408" y="2029968"/>
            <a:ext cx="1481328" cy="786384"/>
          </a:xfrm>
          <a:prstGeom prst="roundRect">
            <a:avLst>
              <a:gd name="adj" fmla="val 6977"/>
            </a:avLst>
          </a:prstGeom>
          <a:solidFill>
            <a:srgbClr val="1A2434"/>
          </a:solidFill>
          <a:ln w="12700">
            <a:solidFill>
              <a:srgbClr val="3DDC97"/>
            </a:solidFill>
            <a:prstDash val="solid"/>
          </a:ln>
        </p:spPr>
        <p:txBody>
          <a:bodyPr/>
          <a:lstStyle/>
          <a:p>
            <a:endParaRPr/>
          </a:p>
        </p:txBody>
      </p:sp>
      <p:sp>
        <p:nvSpPr>
          <p:cNvPr id="12" name="Text 10">
            <a:extLst>
              <a:ext uri="{FF2B5EF4-FFF2-40B4-BE49-F238E27FC236}">
                <a16:creationId xmlns:a16="http://schemas.microsoft.com/office/drawing/2014/main" id="{AC52D3C6-2D52-4944-A71F-48CAE46490D8}"/>
              </a:ext>
            </a:extLst>
          </p:cNvPr>
          <p:cNvSpPr>
            <a:spLocks noGrp="1"/>
          </p:cNvSpPr>
          <p:nvPr/>
        </p:nvSpPr>
        <p:spPr>
          <a:xfrm>
            <a:off x="2212848" y="2084832"/>
            <a:ext cx="1298448" cy="274320"/>
          </a:xfrm>
          <a:prstGeom prst="rect">
            <a:avLst/>
          </a:prstGeom>
          <a:noFill/>
        </p:spPr>
        <p:txBody>
          <a:bodyPr wrap="square" lIns="0" tIns="0" rIns="0" bIns="0" anchor="ctr"/>
          <a:lstStyle/>
          <a:p>
            <a:pPr marL="0" indent="0">
              <a:buNone/>
            </a:pPr>
            <a:r>
              <a:rPr sz="1100" b="1" dirty="0">
                <a:solidFill>
                  <a:srgbClr val="3DDC97"/>
                </a:solidFill>
                <a:latin typeface="Arial"/>
                <a:ea typeface="Arial"/>
                <a:cs typeface="Arial"/>
              </a:rPr>
              <a:t>1 · </a:t>
            </a:r>
            <a:r>
              <a:rPr sz="1100" b="1" dirty="0" err="1">
                <a:solidFill>
                  <a:srgbClr val="3DDC97"/>
                </a:solidFill>
                <a:latin typeface="Arial"/>
                <a:ea typeface="Arial"/>
                <a:cs typeface="Arial"/>
              </a:rPr>
              <a:t>Diseño</a:t>
            </a:r>
            <a:r>
              <a:rPr sz="1100" b="1" dirty="0">
                <a:solidFill>
                  <a:srgbClr val="3DDC97"/>
                </a:solidFill>
                <a:latin typeface="Arial"/>
                <a:ea typeface="Arial"/>
                <a:cs typeface="Arial"/>
              </a:rPr>
              <a:t> conceptual</a:t>
            </a:r>
            <a:endParaRPr sz="1100" dirty="0"/>
          </a:p>
        </p:txBody>
      </p:sp>
      <p:sp>
        <p:nvSpPr>
          <p:cNvPr id="13" name="Text 11">
            <a:extLst>
              <a:ext uri="{FF2B5EF4-FFF2-40B4-BE49-F238E27FC236}">
                <a16:creationId xmlns:a16="http://schemas.microsoft.com/office/drawing/2014/main" id="{4EEA1135-782F-4581-B5DE-C04133E76718}"/>
              </a:ext>
            </a:extLst>
          </p:cNvPr>
          <p:cNvSpPr>
            <a:spLocks noGrp="1"/>
          </p:cNvSpPr>
          <p:nvPr/>
        </p:nvSpPr>
        <p:spPr>
          <a:xfrm>
            <a:off x="2212848" y="2377440"/>
            <a:ext cx="1298448" cy="420624"/>
          </a:xfrm>
          <a:prstGeom prst="rect">
            <a:avLst/>
          </a:prstGeom>
          <a:noFill/>
        </p:spPr>
        <p:txBody>
          <a:bodyPr wrap="square" lIns="0" tIns="0" rIns="0" bIns="0" anchor="t"/>
          <a:lstStyle/>
          <a:p>
            <a:pPr marL="0" indent="0">
              <a:lnSpc>
                <a:spcPct val="105000"/>
              </a:lnSpc>
              <a:buNone/>
            </a:pPr>
            <a:r>
              <a:rPr sz="1100">
                <a:solidFill>
                  <a:srgbClr val="E8EEF6"/>
                </a:solidFill>
                <a:latin typeface="Calibri"/>
                <a:ea typeface="Calibri"/>
                <a:cs typeface="Calibri"/>
              </a:rPr>
              <a:t>¿Qué información existe en el dominio?</a:t>
            </a:r>
            <a:endParaRPr sz="1100"/>
          </a:p>
        </p:txBody>
      </p:sp>
      <p:sp>
        <p:nvSpPr>
          <p:cNvPr id="14" name="Shape 12">
            <a:extLst>
              <a:ext uri="{FF2B5EF4-FFF2-40B4-BE49-F238E27FC236}">
                <a16:creationId xmlns:a16="http://schemas.microsoft.com/office/drawing/2014/main" id="{EDFD794D-DF7C-421E-AD56-E0B4CE570714}"/>
              </a:ext>
            </a:extLst>
          </p:cNvPr>
          <p:cNvSpPr>
            <a:spLocks noGrp="1"/>
          </p:cNvSpPr>
          <p:nvPr/>
        </p:nvSpPr>
        <p:spPr>
          <a:xfrm>
            <a:off x="3639312" y="2423160"/>
            <a:ext cx="128016" cy="0"/>
          </a:xfrm>
          <a:prstGeom prst="line">
            <a:avLst/>
          </a:prstGeom>
          <a:noFill/>
          <a:ln w="15875">
            <a:solidFill>
              <a:srgbClr val="3DDC97"/>
            </a:solidFill>
            <a:prstDash val="solid"/>
            <a:tailEnd type="triangle"/>
          </a:ln>
        </p:spPr>
        <p:txBody>
          <a:bodyPr/>
          <a:lstStyle/>
          <a:p>
            <a:endParaRPr/>
          </a:p>
        </p:txBody>
      </p:sp>
      <p:sp>
        <p:nvSpPr>
          <p:cNvPr id="15" name="Shape 13">
            <a:extLst>
              <a:ext uri="{FF2B5EF4-FFF2-40B4-BE49-F238E27FC236}">
                <a16:creationId xmlns:a16="http://schemas.microsoft.com/office/drawing/2014/main" id="{9AA4495B-866F-49B0-AFFE-B6EF7276710B}"/>
              </a:ext>
            </a:extLst>
          </p:cNvPr>
          <p:cNvSpPr>
            <a:spLocks noGrp="1"/>
          </p:cNvSpPr>
          <p:nvPr/>
        </p:nvSpPr>
        <p:spPr>
          <a:xfrm>
            <a:off x="3785616" y="2029968"/>
            <a:ext cx="1481328" cy="786384"/>
          </a:xfrm>
          <a:prstGeom prst="roundRect">
            <a:avLst>
              <a:gd name="adj" fmla="val 6977"/>
            </a:avLst>
          </a:prstGeom>
          <a:solidFill>
            <a:srgbClr val="1A2434"/>
          </a:solidFill>
          <a:ln w="12700">
            <a:solidFill>
              <a:srgbClr val="56C7F2"/>
            </a:solidFill>
            <a:prstDash val="solid"/>
          </a:ln>
        </p:spPr>
        <p:txBody>
          <a:bodyPr/>
          <a:lstStyle/>
          <a:p>
            <a:endParaRPr/>
          </a:p>
        </p:txBody>
      </p:sp>
      <p:sp>
        <p:nvSpPr>
          <p:cNvPr id="16" name="Text 14">
            <a:extLst>
              <a:ext uri="{FF2B5EF4-FFF2-40B4-BE49-F238E27FC236}">
                <a16:creationId xmlns:a16="http://schemas.microsoft.com/office/drawing/2014/main" id="{0C35762B-6AB6-481A-83BC-C9FFE1C47930}"/>
              </a:ext>
            </a:extLst>
          </p:cNvPr>
          <p:cNvSpPr>
            <a:spLocks noGrp="1"/>
          </p:cNvSpPr>
          <p:nvPr/>
        </p:nvSpPr>
        <p:spPr>
          <a:xfrm>
            <a:off x="3877056" y="2084832"/>
            <a:ext cx="1298448" cy="274320"/>
          </a:xfrm>
          <a:prstGeom prst="rect">
            <a:avLst/>
          </a:prstGeom>
          <a:noFill/>
        </p:spPr>
        <p:txBody>
          <a:bodyPr wrap="square" lIns="0" tIns="0" rIns="0" bIns="0" anchor="ctr"/>
          <a:lstStyle/>
          <a:p>
            <a:pPr marL="0" indent="0">
              <a:buNone/>
            </a:pPr>
            <a:r>
              <a:rPr sz="1100" b="1">
                <a:solidFill>
                  <a:srgbClr val="56C7F2"/>
                </a:solidFill>
                <a:latin typeface="Arial"/>
                <a:ea typeface="Arial"/>
                <a:cs typeface="Arial"/>
              </a:rPr>
              <a:t>2 · Diseño navegacional</a:t>
            </a:r>
            <a:endParaRPr sz="1100"/>
          </a:p>
        </p:txBody>
      </p:sp>
      <p:sp>
        <p:nvSpPr>
          <p:cNvPr id="17" name="Text 15">
            <a:extLst>
              <a:ext uri="{FF2B5EF4-FFF2-40B4-BE49-F238E27FC236}">
                <a16:creationId xmlns:a16="http://schemas.microsoft.com/office/drawing/2014/main" id="{41B98509-3556-472C-AB44-7835CC39FD7F}"/>
              </a:ext>
            </a:extLst>
          </p:cNvPr>
          <p:cNvSpPr>
            <a:spLocks noGrp="1"/>
          </p:cNvSpPr>
          <p:nvPr/>
        </p:nvSpPr>
        <p:spPr>
          <a:xfrm>
            <a:off x="3858768" y="2395728"/>
            <a:ext cx="1298448" cy="420624"/>
          </a:xfrm>
          <a:prstGeom prst="rect">
            <a:avLst/>
          </a:prstGeom>
          <a:noFill/>
        </p:spPr>
        <p:txBody>
          <a:bodyPr wrap="square" lIns="0" tIns="0" rIns="0" bIns="0" anchor="t"/>
          <a:lstStyle/>
          <a:p>
            <a:pPr marL="0" indent="0">
              <a:lnSpc>
                <a:spcPct val="105000"/>
              </a:lnSpc>
              <a:buNone/>
            </a:pPr>
            <a:r>
              <a:rPr sz="1100" dirty="0">
                <a:solidFill>
                  <a:srgbClr val="E8EEF6"/>
                </a:solidFill>
                <a:latin typeface="Calibri"/>
                <a:ea typeface="Calibri"/>
                <a:cs typeface="Calibri"/>
              </a:rPr>
              <a:t>¿</a:t>
            </a:r>
            <a:r>
              <a:rPr sz="1100" dirty="0" err="1">
                <a:solidFill>
                  <a:srgbClr val="E8EEF6"/>
                </a:solidFill>
                <a:latin typeface="Calibri"/>
                <a:ea typeface="Calibri"/>
                <a:cs typeface="Calibri"/>
              </a:rPr>
              <a:t>Qué</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ve</a:t>
            </a:r>
            <a:r>
              <a:rPr sz="1100" dirty="0">
                <a:solidFill>
                  <a:srgbClr val="E8EEF6"/>
                </a:solidFill>
                <a:latin typeface="Calibri"/>
                <a:ea typeface="Calibri"/>
                <a:cs typeface="Calibri"/>
              </a:rPr>
              <a:t> el </a:t>
            </a:r>
            <a:r>
              <a:rPr sz="1100" dirty="0" err="1">
                <a:solidFill>
                  <a:srgbClr val="E8EEF6"/>
                </a:solidFill>
                <a:latin typeface="Calibri"/>
                <a:ea typeface="Calibri"/>
                <a:cs typeface="Calibri"/>
              </a:rPr>
              <a:t>usuario</a:t>
            </a:r>
            <a:r>
              <a:rPr sz="1100" dirty="0">
                <a:solidFill>
                  <a:srgbClr val="E8EEF6"/>
                </a:solidFill>
                <a:latin typeface="Calibri"/>
                <a:ea typeface="Calibri"/>
                <a:cs typeface="Calibri"/>
              </a:rPr>
              <a:t> y </a:t>
            </a:r>
            <a:r>
              <a:rPr sz="1100" dirty="0" err="1">
                <a:solidFill>
                  <a:srgbClr val="E8EEF6"/>
                </a:solidFill>
                <a:latin typeface="Calibri"/>
                <a:ea typeface="Calibri"/>
                <a:cs typeface="Calibri"/>
              </a:rPr>
              <a:t>cómo</a:t>
            </a:r>
            <a:r>
              <a:rPr sz="1100" dirty="0">
                <a:solidFill>
                  <a:srgbClr val="E8EEF6"/>
                </a:solidFill>
                <a:latin typeface="Calibri"/>
                <a:ea typeface="Calibri"/>
                <a:cs typeface="Calibri"/>
              </a:rPr>
              <a:t> la </a:t>
            </a:r>
            <a:r>
              <a:rPr sz="1100" dirty="0" err="1">
                <a:solidFill>
                  <a:srgbClr val="E8EEF6"/>
                </a:solidFill>
                <a:latin typeface="Calibri"/>
                <a:ea typeface="Calibri"/>
                <a:cs typeface="Calibri"/>
              </a:rPr>
              <a:t>recorre</a:t>
            </a:r>
            <a:r>
              <a:rPr sz="1100" dirty="0">
                <a:solidFill>
                  <a:srgbClr val="E8EEF6"/>
                </a:solidFill>
                <a:latin typeface="Calibri"/>
                <a:ea typeface="Calibri"/>
                <a:cs typeface="Calibri"/>
              </a:rPr>
              <a:t>?</a:t>
            </a:r>
            <a:endParaRPr sz="1100" dirty="0"/>
          </a:p>
        </p:txBody>
      </p:sp>
      <p:sp>
        <p:nvSpPr>
          <p:cNvPr id="18" name="Shape 16">
            <a:extLst>
              <a:ext uri="{FF2B5EF4-FFF2-40B4-BE49-F238E27FC236}">
                <a16:creationId xmlns:a16="http://schemas.microsoft.com/office/drawing/2014/main" id="{B89B3941-30A5-4C8E-8B68-CFB19C9FB986}"/>
              </a:ext>
            </a:extLst>
          </p:cNvPr>
          <p:cNvSpPr>
            <a:spLocks noGrp="1"/>
          </p:cNvSpPr>
          <p:nvPr/>
        </p:nvSpPr>
        <p:spPr>
          <a:xfrm>
            <a:off x="5303520" y="2423160"/>
            <a:ext cx="128016" cy="0"/>
          </a:xfrm>
          <a:prstGeom prst="line">
            <a:avLst/>
          </a:prstGeom>
          <a:noFill/>
          <a:ln w="15875">
            <a:solidFill>
              <a:srgbClr val="56C7F2"/>
            </a:solidFill>
            <a:prstDash val="solid"/>
            <a:tailEnd type="triangle"/>
          </a:ln>
        </p:spPr>
        <p:txBody>
          <a:bodyPr/>
          <a:lstStyle/>
          <a:p>
            <a:endParaRPr/>
          </a:p>
        </p:txBody>
      </p:sp>
      <p:sp>
        <p:nvSpPr>
          <p:cNvPr id="19" name="Shape 17">
            <a:extLst>
              <a:ext uri="{FF2B5EF4-FFF2-40B4-BE49-F238E27FC236}">
                <a16:creationId xmlns:a16="http://schemas.microsoft.com/office/drawing/2014/main" id="{0CCCB3D5-1832-43FF-A95A-8C7688C6F44B}"/>
              </a:ext>
            </a:extLst>
          </p:cNvPr>
          <p:cNvSpPr>
            <a:spLocks noGrp="1"/>
          </p:cNvSpPr>
          <p:nvPr/>
        </p:nvSpPr>
        <p:spPr>
          <a:xfrm>
            <a:off x="5449824" y="2029968"/>
            <a:ext cx="1481328" cy="786384"/>
          </a:xfrm>
          <a:prstGeom prst="roundRect">
            <a:avLst>
              <a:gd name="adj" fmla="val 6977"/>
            </a:avLst>
          </a:prstGeom>
          <a:solidFill>
            <a:srgbClr val="1A2434"/>
          </a:solidFill>
          <a:ln w="12700">
            <a:solidFill>
              <a:srgbClr val="FFB86C"/>
            </a:solidFill>
            <a:prstDash val="solid"/>
          </a:ln>
        </p:spPr>
        <p:txBody>
          <a:bodyPr/>
          <a:lstStyle/>
          <a:p>
            <a:endParaRPr/>
          </a:p>
        </p:txBody>
      </p:sp>
      <p:sp>
        <p:nvSpPr>
          <p:cNvPr id="20" name="Text 18">
            <a:extLst>
              <a:ext uri="{FF2B5EF4-FFF2-40B4-BE49-F238E27FC236}">
                <a16:creationId xmlns:a16="http://schemas.microsoft.com/office/drawing/2014/main" id="{A6D23286-60E6-4E8B-B6F6-C28AC30A0D8F}"/>
              </a:ext>
            </a:extLst>
          </p:cNvPr>
          <p:cNvSpPr>
            <a:spLocks noGrp="1"/>
          </p:cNvSpPr>
          <p:nvPr/>
        </p:nvSpPr>
        <p:spPr>
          <a:xfrm>
            <a:off x="5541264" y="2084832"/>
            <a:ext cx="1298448" cy="274320"/>
          </a:xfrm>
          <a:prstGeom prst="rect">
            <a:avLst/>
          </a:prstGeom>
          <a:noFill/>
        </p:spPr>
        <p:txBody>
          <a:bodyPr wrap="square" lIns="0" tIns="0" rIns="0" bIns="0" anchor="ctr"/>
          <a:lstStyle/>
          <a:p>
            <a:pPr marL="0" indent="0">
              <a:buNone/>
            </a:pPr>
            <a:r>
              <a:rPr sz="1100" b="1">
                <a:solidFill>
                  <a:srgbClr val="FFB86C"/>
                </a:solidFill>
                <a:latin typeface="Arial"/>
                <a:ea typeface="Arial"/>
                <a:cs typeface="Arial"/>
              </a:rPr>
              <a:t>3 · Interfaz abstracta</a:t>
            </a:r>
            <a:endParaRPr sz="1100"/>
          </a:p>
        </p:txBody>
      </p:sp>
      <p:sp>
        <p:nvSpPr>
          <p:cNvPr id="21" name="Text 19">
            <a:extLst>
              <a:ext uri="{FF2B5EF4-FFF2-40B4-BE49-F238E27FC236}">
                <a16:creationId xmlns:a16="http://schemas.microsoft.com/office/drawing/2014/main" id="{E60677EE-BBB7-405A-8698-B1A66FB6CC0E}"/>
              </a:ext>
            </a:extLst>
          </p:cNvPr>
          <p:cNvSpPr>
            <a:spLocks noGrp="1"/>
          </p:cNvSpPr>
          <p:nvPr/>
        </p:nvSpPr>
        <p:spPr>
          <a:xfrm>
            <a:off x="5541264" y="2404872"/>
            <a:ext cx="1298448" cy="420624"/>
          </a:xfrm>
          <a:prstGeom prst="rect">
            <a:avLst/>
          </a:prstGeom>
          <a:noFill/>
        </p:spPr>
        <p:txBody>
          <a:bodyPr wrap="square" lIns="0" tIns="0" rIns="0" bIns="0" anchor="t"/>
          <a:lstStyle/>
          <a:p>
            <a:pPr marL="0" indent="0">
              <a:lnSpc>
                <a:spcPct val="105000"/>
              </a:lnSpc>
              <a:buNone/>
            </a:pPr>
            <a:r>
              <a:rPr sz="1100">
                <a:solidFill>
                  <a:srgbClr val="E8EEF6"/>
                </a:solidFill>
                <a:latin typeface="Calibri"/>
                <a:ea typeface="Calibri"/>
                <a:cs typeface="Calibri"/>
              </a:rPr>
              <a:t>¿Qué elementos hay y cómo reaccionan?</a:t>
            </a:r>
            <a:endParaRPr sz="1100"/>
          </a:p>
        </p:txBody>
      </p:sp>
      <p:sp>
        <p:nvSpPr>
          <p:cNvPr id="22" name="Shape 20">
            <a:extLst>
              <a:ext uri="{FF2B5EF4-FFF2-40B4-BE49-F238E27FC236}">
                <a16:creationId xmlns:a16="http://schemas.microsoft.com/office/drawing/2014/main" id="{FD36C246-3A10-4CC4-BEFF-D718B9B3805B}"/>
              </a:ext>
            </a:extLst>
          </p:cNvPr>
          <p:cNvSpPr>
            <a:spLocks noGrp="1"/>
          </p:cNvSpPr>
          <p:nvPr/>
        </p:nvSpPr>
        <p:spPr>
          <a:xfrm>
            <a:off x="6967728" y="2423160"/>
            <a:ext cx="128016" cy="0"/>
          </a:xfrm>
          <a:prstGeom prst="line">
            <a:avLst/>
          </a:prstGeom>
          <a:noFill/>
          <a:ln w="15875">
            <a:solidFill>
              <a:srgbClr val="FFB86C"/>
            </a:solidFill>
            <a:prstDash val="solid"/>
            <a:tailEnd type="triangle"/>
          </a:ln>
        </p:spPr>
        <p:txBody>
          <a:bodyPr/>
          <a:lstStyle/>
          <a:p>
            <a:endParaRPr/>
          </a:p>
        </p:txBody>
      </p:sp>
      <p:sp>
        <p:nvSpPr>
          <p:cNvPr id="23" name="Shape 21">
            <a:extLst>
              <a:ext uri="{FF2B5EF4-FFF2-40B4-BE49-F238E27FC236}">
                <a16:creationId xmlns:a16="http://schemas.microsoft.com/office/drawing/2014/main" id="{DF4EE0A1-5D1A-41F2-AE86-8A07144977F5}"/>
              </a:ext>
            </a:extLst>
          </p:cNvPr>
          <p:cNvSpPr>
            <a:spLocks noGrp="1"/>
          </p:cNvSpPr>
          <p:nvPr/>
        </p:nvSpPr>
        <p:spPr>
          <a:xfrm>
            <a:off x="7114032" y="2029968"/>
            <a:ext cx="1481328" cy="786384"/>
          </a:xfrm>
          <a:prstGeom prst="roundRect">
            <a:avLst>
              <a:gd name="adj" fmla="val 6977"/>
            </a:avLst>
          </a:prstGeom>
          <a:solidFill>
            <a:srgbClr val="1A2434"/>
          </a:solidFill>
          <a:ln w="12700">
            <a:solidFill>
              <a:srgbClr val="3DDC97"/>
            </a:solidFill>
            <a:prstDash val="solid"/>
          </a:ln>
        </p:spPr>
        <p:txBody>
          <a:bodyPr/>
          <a:lstStyle/>
          <a:p>
            <a:endParaRPr/>
          </a:p>
        </p:txBody>
      </p:sp>
      <p:sp>
        <p:nvSpPr>
          <p:cNvPr id="24" name="Text 22">
            <a:extLst>
              <a:ext uri="{FF2B5EF4-FFF2-40B4-BE49-F238E27FC236}">
                <a16:creationId xmlns:a16="http://schemas.microsoft.com/office/drawing/2014/main" id="{5D0B5118-7F95-4C95-AA15-3B7DE79AF4B6}"/>
              </a:ext>
            </a:extLst>
          </p:cNvPr>
          <p:cNvSpPr>
            <a:spLocks noGrp="1"/>
          </p:cNvSpPr>
          <p:nvPr/>
        </p:nvSpPr>
        <p:spPr>
          <a:xfrm>
            <a:off x="7205472" y="2084832"/>
            <a:ext cx="1298448" cy="274320"/>
          </a:xfrm>
          <a:prstGeom prst="rect">
            <a:avLst/>
          </a:prstGeom>
          <a:noFill/>
        </p:spPr>
        <p:txBody>
          <a:bodyPr wrap="square" lIns="0" tIns="0" rIns="0" bIns="0" anchor="ctr"/>
          <a:lstStyle/>
          <a:p>
            <a:pPr marL="0" indent="0">
              <a:buNone/>
            </a:pPr>
            <a:r>
              <a:rPr sz="1100" b="1">
                <a:solidFill>
                  <a:srgbClr val="3DDC97"/>
                </a:solidFill>
                <a:latin typeface="Arial"/>
                <a:ea typeface="Arial"/>
                <a:cs typeface="Arial"/>
              </a:rPr>
              <a:t>4 · Implementación</a:t>
            </a:r>
            <a:endParaRPr sz="1100"/>
          </a:p>
        </p:txBody>
      </p:sp>
      <p:sp>
        <p:nvSpPr>
          <p:cNvPr id="25" name="Text 23">
            <a:extLst>
              <a:ext uri="{FF2B5EF4-FFF2-40B4-BE49-F238E27FC236}">
                <a16:creationId xmlns:a16="http://schemas.microsoft.com/office/drawing/2014/main" id="{34F06DF6-6677-484D-A920-9E84E79A7AC3}"/>
              </a:ext>
            </a:extLst>
          </p:cNvPr>
          <p:cNvSpPr>
            <a:spLocks noGrp="1"/>
          </p:cNvSpPr>
          <p:nvPr/>
        </p:nvSpPr>
        <p:spPr>
          <a:xfrm>
            <a:off x="7205472" y="2340864"/>
            <a:ext cx="1298448" cy="420624"/>
          </a:xfrm>
          <a:prstGeom prst="rect">
            <a:avLst/>
          </a:prstGeom>
          <a:noFill/>
        </p:spPr>
        <p:txBody>
          <a:bodyPr wrap="square" lIns="0" tIns="0" rIns="0" bIns="0" anchor="t"/>
          <a:lstStyle/>
          <a:p>
            <a:pPr marL="0" indent="0">
              <a:lnSpc>
                <a:spcPct val="105000"/>
              </a:lnSpc>
              <a:buNone/>
            </a:pPr>
            <a:r>
              <a:rPr sz="1100">
                <a:solidFill>
                  <a:srgbClr val="E8EEF6"/>
                </a:solidFill>
                <a:latin typeface="Calibri"/>
                <a:ea typeface="Calibri"/>
                <a:cs typeface="Calibri"/>
              </a:rPr>
              <a:t>¿Con qué tecnología se materializa?</a:t>
            </a:r>
            <a:endParaRPr sz="1100"/>
          </a:p>
        </p:txBody>
      </p:sp>
      <p:sp>
        <p:nvSpPr>
          <p:cNvPr id="26" name="Shape 24">
            <a:extLst>
              <a:ext uri="{FF2B5EF4-FFF2-40B4-BE49-F238E27FC236}">
                <a16:creationId xmlns:a16="http://schemas.microsoft.com/office/drawing/2014/main" id="{B00F595E-06B3-4FE4-BE88-8E3B43DA3FDC}"/>
              </a:ext>
            </a:extLst>
          </p:cNvPr>
          <p:cNvSpPr>
            <a:spLocks noGrp="1"/>
          </p:cNvSpPr>
          <p:nvPr/>
        </p:nvSpPr>
        <p:spPr>
          <a:xfrm>
            <a:off x="2121408" y="2926080"/>
            <a:ext cx="5138928" cy="0"/>
          </a:xfrm>
          <a:prstGeom prst="line">
            <a:avLst/>
          </a:prstGeom>
          <a:noFill/>
          <a:ln w="12700">
            <a:solidFill>
              <a:srgbClr val="6C7E96"/>
            </a:solidFill>
            <a:prstDash val="dash"/>
            <a:headEnd type="triangle"/>
          </a:ln>
        </p:spPr>
        <p:txBody>
          <a:bodyPr/>
          <a:lstStyle/>
          <a:p>
            <a:endParaRPr/>
          </a:p>
        </p:txBody>
      </p:sp>
      <p:sp>
        <p:nvSpPr>
          <p:cNvPr id="27" name="Text 25">
            <a:extLst>
              <a:ext uri="{FF2B5EF4-FFF2-40B4-BE49-F238E27FC236}">
                <a16:creationId xmlns:a16="http://schemas.microsoft.com/office/drawing/2014/main" id="{E4E818A5-5D88-46EE-AC1E-8CEFF62D38EA}"/>
              </a:ext>
            </a:extLst>
          </p:cNvPr>
          <p:cNvSpPr>
            <a:spLocks noGrp="1"/>
          </p:cNvSpPr>
          <p:nvPr/>
        </p:nvSpPr>
        <p:spPr>
          <a:xfrm>
            <a:off x="2121408" y="2962656"/>
            <a:ext cx="5138928" cy="182880"/>
          </a:xfrm>
          <a:prstGeom prst="rect">
            <a:avLst/>
          </a:prstGeom>
          <a:noFill/>
        </p:spPr>
        <p:txBody>
          <a:bodyPr wrap="square" lIns="0" tIns="0" rIns="0" bIns="0" anchor="ctr"/>
          <a:lstStyle/>
          <a:p>
            <a:pPr marL="0" indent="0" algn="ctr">
              <a:buNone/>
            </a:pPr>
            <a:r>
              <a:rPr sz="800" i="1">
                <a:solidFill>
                  <a:srgbClr val="6C7E96"/>
                </a:solidFill>
                <a:latin typeface="Calibri"/>
                <a:ea typeface="Calibri"/>
                <a:cs typeface="Calibri"/>
              </a:rPr>
              <a:t>revisión iterativa e incremental</a:t>
            </a:r>
            <a:endParaRPr sz="800"/>
          </a:p>
        </p:txBody>
      </p:sp>
      <p:sp>
        <p:nvSpPr>
          <p:cNvPr id="28" name="Shape 26">
            <a:extLst>
              <a:ext uri="{FF2B5EF4-FFF2-40B4-BE49-F238E27FC236}">
                <a16:creationId xmlns:a16="http://schemas.microsoft.com/office/drawing/2014/main" id="{D00ECA9F-75FF-4AAD-A6F1-4787876D2D00}"/>
              </a:ext>
            </a:extLst>
          </p:cNvPr>
          <p:cNvSpPr>
            <a:spLocks noGrp="1"/>
          </p:cNvSpPr>
          <p:nvPr/>
        </p:nvSpPr>
        <p:spPr>
          <a:xfrm>
            <a:off x="502920" y="3310128"/>
            <a:ext cx="8138160" cy="1005840"/>
          </a:xfrm>
          <a:prstGeom prst="roundRect">
            <a:avLst>
              <a:gd name="adj" fmla="val 4545"/>
            </a:avLst>
          </a:prstGeom>
          <a:solidFill>
            <a:srgbClr val="1A2434"/>
          </a:solidFill>
          <a:ln w="12700">
            <a:solidFill>
              <a:srgbClr val="56C7F2"/>
            </a:solidFill>
            <a:prstDash val="solid"/>
          </a:ln>
        </p:spPr>
        <p:txBody>
          <a:bodyPr/>
          <a:lstStyle/>
          <a:p>
            <a:endParaRPr/>
          </a:p>
        </p:txBody>
      </p:sp>
      <p:sp>
        <p:nvSpPr>
          <p:cNvPr id="29" name="Text 27">
            <a:extLst>
              <a:ext uri="{FF2B5EF4-FFF2-40B4-BE49-F238E27FC236}">
                <a16:creationId xmlns:a16="http://schemas.microsoft.com/office/drawing/2014/main" id="{2D6C0365-23AD-4283-ACB6-4DA989867238}"/>
              </a:ext>
            </a:extLst>
          </p:cNvPr>
          <p:cNvSpPr>
            <a:spLocks noGrp="1"/>
          </p:cNvSpPr>
          <p:nvPr/>
        </p:nvSpPr>
        <p:spPr>
          <a:xfrm>
            <a:off x="731520" y="3401568"/>
            <a:ext cx="7680960" cy="201168"/>
          </a:xfrm>
          <a:prstGeom prst="rect">
            <a:avLst/>
          </a:prstGeom>
          <a:noFill/>
        </p:spPr>
        <p:txBody>
          <a:bodyPr wrap="square" lIns="0" tIns="0" rIns="0" bIns="0" anchor="ctr"/>
          <a:lstStyle/>
          <a:p>
            <a:pPr marL="0" indent="0">
              <a:buNone/>
            </a:pPr>
            <a:r>
              <a:rPr sz="1150" b="1">
                <a:solidFill>
                  <a:srgbClr val="56C7F2"/>
                </a:solidFill>
                <a:latin typeface="Arial"/>
                <a:ea typeface="Arial"/>
                <a:cs typeface="Arial"/>
              </a:rPr>
              <a:t>Por qué separar las cuatro decisiones</a:t>
            </a:r>
            <a:endParaRPr sz="1150"/>
          </a:p>
        </p:txBody>
      </p:sp>
      <p:sp>
        <p:nvSpPr>
          <p:cNvPr id="30" name="Text 28">
            <a:extLst>
              <a:ext uri="{FF2B5EF4-FFF2-40B4-BE49-F238E27FC236}">
                <a16:creationId xmlns:a16="http://schemas.microsoft.com/office/drawing/2014/main" id="{F58F8527-5A28-430F-9A4C-B30DE65CB21A}"/>
              </a:ext>
            </a:extLst>
          </p:cNvPr>
          <p:cNvSpPr>
            <a:spLocks noGrp="1"/>
          </p:cNvSpPr>
          <p:nvPr/>
        </p:nvSpPr>
        <p:spPr>
          <a:xfrm>
            <a:off x="731520" y="3639312"/>
            <a:ext cx="7680960" cy="603504"/>
          </a:xfrm>
          <a:prstGeom prst="rect">
            <a:avLst/>
          </a:prstGeom>
          <a:noFill/>
        </p:spPr>
        <p:txBody>
          <a:bodyPr wrap="square" lIns="0" tIns="0" rIns="0" bIns="0" anchor="t"/>
          <a:lstStyle/>
          <a:p>
            <a:pPr marL="0" indent="0">
              <a:lnSpc>
                <a:spcPct val="110000"/>
              </a:lnSpc>
              <a:buNone/>
            </a:pPr>
            <a:r>
              <a:rPr sz="1100" dirty="0">
                <a:solidFill>
                  <a:srgbClr val="E8EEF6"/>
                </a:solidFill>
                <a:latin typeface="Calibri"/>
                <a:ea typeface="Calibri"/>
                <a:cs typeface="Calibri"/>
              </a:rPr>
              <a:t>Cada </a:t>
            </a:r>
            <a:r>
              <a:rPr sz="1100" dirty="0" err="1">
                <a:solidFill>
                  <a:srgbClr val="E8EEF6"/>
                </a:solidFill>
                <a:latin typeface="Calibri"/>
                <a:ea typeface="Calibri"/>
                <a:cs typeface="Calibri"/>
              </a:rPr>
              <a:t>actividad</a:t>
            </a:r>
            <a:r>
              <a:rPr sz="1100" dirty="0">
                <a:solidFill>
                  <a:srgbClr val="E8EEF6"/>
                </a:solidFill>
                <a:latin typeface="Calibri"/>
                <a:ea typeface="Calibri"/>
                <a:cs typeface="Calibri"/>
              </a:rPr>
              <a:t> produce un </a:t>
            </a:r>
            <a:r>
              <a:rPr sz="1100" dirty="0" err="1">
                <a:solidFill>
                  <a:srgbClr val="E8EEF6"/>
                </a:solidFill>
                <a:latin typeface="Calibri"/>
                <a:ea typeface="Calibri"/>
                <a:cs typeface="Calibri"/>
              </a:rPr>
              <a:t>modelo</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distinto</a:t>
            </a:r>
            <a:r>
              <a:rPr sz="1100" dirty="0">
                <a:solidFill>
                  <a:srgbClr val="E8EEF6"/>
                </a:solidFill>
                <a:latin typeface="Calibri"/>
                <a:ea typeface="Calibri"/>
                <a:cs typeface="Calibri"/>
              </a:rPr>
              <a:t> y </a:t>
            </a:r>
            <a:r>
              <a:rPr sz="1100" dirty="0" err="1">
                <a:solidFill>
                  <a:srgbClr val="E8EEF6"/>
                </a:solidFill>
                <a:latin typeface="Calibri"/>
                <a:ea typeface="Calibri"/>
                <a:cs typeface="Calibri"/>
              </a:rPr>
              <a:t>atiende</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una</a:t>
            </a:r>
            <a:r>
              <a:rPr sz="1100" dirty="0">
                <a:solidFill>
                  <a:srgbClr val="E8EEF6"/>
                </a:solidFill>
                <a:latin typeface="Calibri"/>
                <a:ea typeface="Calibri"/>
                <a:cs typeface="Calibri"/>
              </a:rPr>
              <a:t> sola </a:t>
            </a:r>
            <a:r>
              <a:rPr sz="1100" dirty="0" err="1">
                <a:solidFill>
                  <a:srgbClr val="E8EEF6"/>
                </a:solidFill>
                <a:latin typeface="Calibri"/>
                <a:ea typeface="Calibri"/>
                <a:cs typeface="Calibri"/>
              </a:rPr>
              <a:t>preocupación</a:t>
            </a:r>
            <a:r>
              <a:rPr sz="1100" dirty="0">
                <a:solidFill>
                  <a:srgbClr val="E8EEF6"/>
                </a:solidFill>
                <a:latin typeface="Calibri"/>
                <a:ea typeface="Calibri"/>
                <a:cs typeface="Calibri"/>
              </a:rPr>
              <a:t>, de modo </a:t>
            </a:r>
            <a:r>
              <a:rPr sz="1100" dirty="0" err="1">
                <a:solidFill>
                  <a:srgbClr val="E8EEF6"/>
                </a:solidFill>
                <a:latin typeface="Calibri"/>
                <a:ea typeface="Calibri"/>
                <a:cs typeface="Calibri"/>
              </a:rPr>
              <a:t>que</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una</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decisión</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puede</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revisarse</a:t>
            </a:r>
            <a:r>
              <a:rPr sz="1100" dirty="0">
                <a:solidFill>
                  <a:srgbClr val="E8EEF6"/>
                </a:solidFill>
                <a:latin typeface="Calibri"/>
                <a:ea typeface="Calibri"/>
                <a:cs typeface="Calibri"/>
              </a:rPr>
              <a:t> sin </a:t>
            </a:r>
            <a:r>
              <a:rPr sz="1100" dirty="0" err="1">
                <a:solidFill>
                  <a:srgbClr val="E8EEF6"/>
                </a:solidFill>
                <a:latin typeface="Calibri"/>
                <a:ea typeface="Calibri"/>
                <a:cs typeface="Calibri"/>
              </a:rPr>
              <a:t>rehacer</a:t>
            </a:r>
            <a:r>
              <a:rPr sz="1100" dirty="0">
                <a:solidFill>
                  <a:srgbClr val="E8EEF6"/>
                </a:solidFill>
                <a:latin typeface="Calibri"/>
                <a:ea typeface="Calibri"/>
                <a:cs typeface="Calibri"/>
              </a:rPr>
              <a:t> las </a:t>
            </a:r>
            <a:r>
              <a:rPr sz="1100" dirty="0" err="1">
                <a:solidFill>
                  <a:srgbClr val="E8EEF6"/>
                </a:solidFill>
                <a:latin typeface="Calibri"/>
                <a:ea typeface="Calibri"/>
                <a:cs typeface="Calibri"/>
              </a:rPr>
              <a:t>demás</a:t>
            </a:r>
            <a:r>
              <a:rPr sz="1100" dirty="0">
                <a:solidFill>
                  <a:srgbClr val="E8EEF6"/>
                </a:solidFill>
                <a:latin typeface="Calibri"/>
                <a:ea typeface="Calibri"/>
                <a:cs typeface="Calibri"/>
              </a:rPr>
              <a:t>. El </a:t>
            </a:r>
            <a:r>
              <a:rPr sz="1100" dirty="0" err="1">
                <a:solidFill>
                  <a:srgbClr val="E8EEF6"/>
                </a:solidFill>
                <a:latin typeface="Calibri"/>
                <a:ea typeface="Calibri"/>
                <a:cs typeface="Calibri"/>
              </a:rPr>
              <a:t>proceso</a:t>
            </a:r>
            <a:r>
              <a:rPr sz="1100" dirty="0">
                <a:solidFill>
                  <a:srgbClr val="E8EEF6"/>
                </a:solidFill>
                <a:latin typeface="Calibri"/>
                <a:ea typeface="Calibri"/>
                <a:cs typeface="Calibri"/>
              </a:rPr>
              <a:t> no es </a:t>
            </a:r>
            <a:r>
              <a:rPr sz="1100" dirty="0" err="1">
                <a:solidFill>
                  <a:srgbClr val="E8EEF6"/>
                </a:solidFill>
                <a:latin typeface="Calibri"/>
                <a:ea typeface="Calibri"/>
                <a:cs typeface="Calibri"/>
              </a:rPr>
              <a:t>una</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cascada</a:t>
            </a:r>
            <a:r>
              <a:rPr sz="1100" dirty="0">
                <a:solidFill>
                  <a:srgbClr val="E8EEF6"/>
                </a:solidFill>
                <a:latin typeface="Calibri"/>
                <a:ea typeface="Calibri"/>
                <a:cs typeface="Calibri"/>
              </a:rPr>
              <a:t>: se </a:t>
            </a:r>
            <a:r>
              <a:rPr sz="1100" dirty="0" err="1">
                <a:solidFill>
                  <a:srgbClr val="E8EEF6"/>
                </a:solidFill>
                <a:latin typeface="Calibri"/>
                <a:ea typeface="Calibri"/>
                <a:cs typeface="Calibri"/>
              </a:rPr>
              <a:t>recorre</a:t>
            </a:r>
            <a:r>
              <a:rPr sz="1100" dirty="0">
                <a:solidFill>
                  <a:srgbClr val="E8EEF6"/>
                </a:solidFill>
                <a:latin typeface="Calibri"/>
                <a:ea typeface="Calibri"/>
                <a:cs typeface="Calibri"/>
              </a:rPr>
              <a:t> de forma </a:t>
            </a:r>
            <a:r>
              <a:rPr sz="1100" dirty="0" err="1">
                <a:solidFill>
                  <a:srgbClr val="E8EEF6"/>
                </a:solidFill>
                <a:latin typeface="Calibri"/>
                <a:ea typeface="Calibri"/>
                <a:cs typeface="Calibri"/>
              </a:rPr>
              <a:t>iterativa</a:t>
            </a:r>
            <a:r>
              <a:rPr sz="1100" dirty="0">
                <a:solidFill>
                  <a:srgbClr val="E8EEF6"/>
                </a:solidFill>
                <a:latin typeface="Calibri"/>
                <a:ea typeface="Calibri"/>
                <a:cs typeface="Calibri"/>
              </a:rPr>
              <a:t> e incremental, y es normal </a:t>
            </a:r>
            <a:r>
              <a:rPr sz="1100" dirty="0" err="1">
                <a:solidFill>
                  <a:srgbClr val="E8EEF6"/>
                </a:solidFill>
                <a:latin typeface="Calibri"/>
                <a:ea typeface="Calibri"/>
                <a:cs typeface="Calibri"/>
              </a:rPr>
              <a:t>volver</a:t>
            </a:r>
            <a:r>
              <a:rPr sz="1100" dirty="0">
                <a:solidFill>
                  <a:srgbClr val="E8EEF6"/>
                </a:solidFill>
                <a:latin typeface="Calibri"/>
                <a:ea typeface="Calibri"/>
                <a:cs typeface="Calibri"/>
              </a:rPr>
              <a:t> al </a:t>
            </a:r>
            <a:r>
              <a:rPr sz="1100" dirty="0" err="1">
                <a:solidFill>
                  <a:srgbClr val="E8EEF6"/>
                </a:solidFill>
                <a:latin typeface="Calibri"/>
                <a:ea typeface="Calibri"/>
                <a:cs typeface="Calibri"/>
              </a:rPr>
              <a:t>modelo</a:t>
            </a:r>
            <a:r>
              <a:rPr sz="1100" dirty="0">
                <a:solidFill>
                  <a:srgbClr val="E8EEF6"/>
                </a:solidFill>
                <a:latin typeface="Calibri"/>
                <a:ea typeface="Calibri"/>
                <a:cs typeface="Calibri"/>
              </a:rPr>
              <a:t> conceptual </a:t>
            </a:r>
            <a:r>
              <a:rPr sz="1100" dirty="0" err="1">
                <a:solidFill>
                  <a:srgbClr val="E8EEF6"/>
                </a:solidFill>
                <a:latin typeface="Calibri"/>
                <a:ea typeface="Calibri"/>
                <a:cs typeface="Calibri"/>
              </a:rPr>
              <a:t>después</a:t>
            </a:r>
            <a:r>
              <a:rPr sz="1100" dirty="0">
                <a:solidFill>
                  <a:srgbClr val="E8EEF6"/>
                </a:solidFill>
                <a:latin typeface="Calibri"/>
                <a:ea typeface="Calibri"/>
                <a:cs typeface="Calibri"/>
              </a:rPr>
              <a:t> de </a:t>
            </a:r>
            <a:r>
              <a:rPr sz="1100" dirty="0" err="1">
                <a:solidFill>
                  <a:srgbClr val="E8EEF6"/>
                </a:solidFill>
                <a:latin typeface="Calibri"/>
                <a:ea typeface="Calibri"/>
                <a:cs typeface="Calibri"/>
              </a:rPr>
              <a:t>dibujar</a:t>
            </a:r>
            <a:r>
              <a:rPr sz="1100" dirty="0">
                <a:solidFill>
                  <a:srgbClr val="E8EEF6"/>
                </a:solidFill>
                <a:latin typeface="Calibri"/>
                <a:ea typeface="Calibri"/>
                <a:cs typeface="Calibri"/>
              </a:rPr>
              <a:t> la </a:t>
            </a:r>
            <a:r>
              <a:rPr sz="1100" dirty="0" err="1">
                <a:solidFill>
                  <a:srgbClr val="E8EEF6"/>
                </a:solidFill>
                <a:latin typeface="Calibri"/>
                <a:ea typeface="Calibri"/>
                <a:cs typeface="Calibri"/>
              </a:rPr>
              <a:t>navegación</a:t>
            </a:r>
            <a:r>
              <a:rPr sz="1100" dirty="0">
                <a:solidFill>
                  <a:srgbClr val="E8EEF6"/>
                </a:solidFill>
                <a:latin typeface="Calibri"/>
                <a:ea typeface="Calibri"/>
                <a:cs typeface="Calibri"/>
              </a:rPr>
              <a:t>. Los </a:t>
            </a:r>
            <a:r>
              <a:rPr sz="1100" dirty="0" err="1">
                <a:solidFill>
                  <a:srgbClr val="E8EEF6"/>
                </a:solidFill>
                <a:latin typeface="Calibri"/>
                <a:ea typeface="Calibri"/>
                <a:cs typeface="Calibri"/>
              </a:rPr>
              <a:t>requisitos</a:t>
            </a:r>
            <a:r>
              <a:rPr sz="1100" dirty="0">
                <a:solidFill>
                  <a:srgbClr val="E8EEF6"/>
                </a:solidFill>
                <a:latin typeface="Calibri"/>
                <a:ea typeface="Calibri"/>
                <a:cs typeface="Calibri"/>
              </a:rPr>
              <a:t> son el </a:t>
            </a:r>
            <a:r>
              <a:rPr sz="1100" dirty="0" err="1">
                <a:solidFill>
                  <a:srgbClr val="E8EEF6"/>
                </a:solidFill>
                <a:latin typeface="Calibri"/>
                <a:ea typeface="Calibri"/>
                <a:cs typeface="Calibri"/>
              </a:rPr>
              <a:t>insumo</a:t>
            </a:r>
            <a:r>
              <a:rPr sz="1100" dirty="0">
                <a:solidFill>
                  <a:srgbClr val="E8EEF6"/>
                </a:solidFill>
                <a:latin typeface="Calibri"/>
                <a:ea typeface="Calibri"/>
                <a:cs typeface="Calibri"/>
              </a:rPr>
              <a:t> del </a:t>
            </a:r>
            <a:r>
              <a:rPr sz="1100" dirty="0" err="1">
                <a:solidFill>
                  <a:srgbClr val="E8EEF6"/>
                </a:solidFill>
                <a:latin typeface="Calibri"/>
                <a:ea typeface="Calibri"/>
                <a:cs typeface="Calibri"/>
              </a:rPr>
              <a:t>proceso</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aquí</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llegan</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ya</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recogidos</a:t>
            </a:r>
            <a:r>
              <a:rPr sz="1100" dirty="0">
                <a:solidFill>
                  <a:srgbClr val="E8EEF6"/>
                </a:solidFill>
                <a:latin typeface="Calibri"/>
                <a:ea typeface="Calibri"/>
                <a:cs typeface="Calibri"/>
              </a:rPr>
              <a:t> y se </a:t>
            </a:r>
            <a:r>
              <a:rPr sz="1100" dirty="0" err="1">
                <a:solidFill>
                  <a:srgbClr val="E8EEF6"/>
                </a:solidFill>
                <a:latin typeface="Calibri"/>
                <a:ea typeface="Calibri"/>
                <a:cs typeface="Calibri"/>
              </a:rPr>
              <a:t>usan</a:t>
            </a:r>
            <a:r>
              <a:rPr sz="1100" dirty="0">
                <a:solidFill>
                  <a:srgbClr val="E8EEF6"/>
                </a:solidFill>
                <a:latin typeface="Calibri"/>
                <a:ea typeface="Calibri"/>
                <a:cs typeface="Calibri"/>
              </a:rPr>
              <a:t> para </a:t>
            </a:r>
            <a:r>
              <a:rPr sz="1100" dirty="0" err="1">
                <a:solidFill>
                  <a:srgbClr val="E8EEF6"/>
                </a:solidFill>
                <a:latin typeface="Calibri"/>
                <a:ea typeface="Calibri"/>
                <a:cs typeface="Calibri"/>
              </a:rPr>
              <a:t>alimentar</a:t>
            </a:r>
            <a:r>
              <a:rPr sz="1100" dirty="0">
                <a:solidFill>
                  <a:srgbClr val="E8EEF6"/>
                </a:solidFill>
                <a:latin typeface="Calibri"/>
                <a:ea typeface="Calibri"/>
                <a:cs typeface="Calibri"/>
              </a:rPr>
              <a:t> la </a:t>
            </a:r>
            <a:r>
              <a:rPr sz="1100" dirty="0" err="1">
                <a:solidFill>
                  <a:srgbClr val="E8EEF6"/>
                </a:solidFill>
                <a:latin typeface="Calibri"/>
                <a:ea typeface="Calibri"/>
                <a:cs typeface="Calibri"/>
              </a:rPr>
              <a:t>primera</a:t>
            </a:r>
            <a:r>
              <a:rPr sz="1100" dirty="0">
                <a:solidFill>
                  <a:srgbClr val="E8EEF6"/>
                </a:solidFill>
                <a:latin typeface="Calibri"/>
                <a:ea typeface="Calibri"/>
                <a:cs typeface="Calibri"/>
              </a:rPr>
              <a:t> </a:t>
            </a:r>
            <a:r>
              <a:rPr sz="1100" dirty="0" err="1">
                <a:solidFill>
                  <a:srgbClr val="E8EEF6"/>
                </a:solidFill>
                <a:latin typeface="Calibri"/>
                <a:ea typeface="Calibri"/>
                <a:cs typeface="Calibri"/>
              </a:rPr>
              <a:t>actividad</a:t>
            </a:r>
            <a:r>
              <a:rPr sz="1100" dirty="0">
                <a:solidFill>
                  <a:srgbClr val="E8EEF6"/>
                </a:solidFill>
                <a:latin typeface="Calibri"/>
                <a:ea typeface="Calibri"/>
                <a:cs typeface="Calibri"/>
              </a:rPr>
              <a:t>.</a:t>
            </a:r>
            <a:endParaRPr sz="1100" dirty="0"/>
          </a:p>
        </p:txBody>
      </p:sp>
    </p:spTree>
    <p:extLst>
      <p:ext uri="{BB962C8B-B14F-4D97-AF65-F5344CB8AC3E}">
        <p14:creationId xmlns:p14="http://schemas.microsoft.com/office/powerpoint/2010/main" val="1509024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88E30B-5A1C-4DC2-9B73-1B3C75A7E46A}"/>
              </a:ext>
            </a:extLst>
          </p:cNvPr>
          <p:cNvSpPr>
            <a:spLocks noGrp="1"/>
          </p:cNvSpPr>
          <p:nvPr/>
        </p:nvSpPr>
        <p:spPr>
          <a:xfrm>
            <a:off x="502920" y="365760"/>
            <a:ext cx="175107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5267838B-0C74-42C5-A275-46DCD3B5DC27}"/>
              </a:ext>
            </a:extLst>
          </p:cNvPr>
          <p:cNvSpPr>
            <a:spLocks noGrp="1"/>
          </p:cNvSpPr>
          <p:nvPr/>
        </p:nvSpPr>
        <p:spPr>
          <a:xfrm>
            <a:off x="502920" y="365760"/>
            <a:ext cx="175107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OOHDM · ACTIVIDAD 1</a:t>
            </a:r>
            <a:endParaRPr sz="850"/>
          </a:p>
        </p:txBody>
      </p:sp>
      <p:sp>
        <p:nvSpPr>
          <p:cNvPr id="4" name="Text 2">
            <a:extLst>
              <a:ext uri="{FF2B5EF4-FFF2-40B4-BE49-F238E27FC236}">
                <a16:creationId xmlns:a16="http://schemas.microsoft.com/office/drawing/2014/main" id="{CB9038E4-4903-4D2B-A37B-59B3D4D77F8C}"/>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Diseño conceptual</a:t>
            </a:r>
            <a:endParaRPr sz="2300"/>
          </a:p>
        </p:txBody>
      </p:sp>
      <p:sp>
        <p:nvSpPr>
          <p:cNvPr id="5" name="Text 3">
            <a:extLst>
              <a:ext uri="{FF2B5EF4-FFF2-40B4-BE49-F238E27FC236}">
                <a16:creationId xmlns:a16="http://schemas.microsoft.com/office/drawing/2014/main" id="{05A5F41F-8DFC-404F-BF43-0DD70AAB50C0}"/>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11 / 24</a:t>
            </a:r>
            <a:endParaRPr sz="800"/>
          </a:p>
        </p:txBody>
      </p:sp>
      <p:sp>
        <p:nvSpPr>
          <p:cNvPr id="6" name="Text 4">
            <a:extLst>
              <a:ext uri="{FF2B5EF4-FFF2-40B4-BE49-F238E27FC236}">
                <a16:creationId xmlns:a16="http://schemas.microsoft.com/office/drawing/2014/main" id="{9DE0EC73-8674-4DEF-BC10-BDC6CCBEA6E3}"/>
              </a:ext>
            </a:extLst>
          </p:cNvPr>
          <p:cNvSpPr>
            <a:spLocks noGrp="1"/>
          </p:cNvSpPr>
          <p:nvPr/>
        </p:nvSpPr>
        <p:spPr>
          <a:xfrm>
            <a:off x="521208" y="1115568"/>
            <a:ext cx="8101584" cy="274320"/>
          </a:xfrm>
          <a:prstGeom prst="rect">
            <a:avLst/>
          </a:prstGeom>
          <a:noFill/>
        </p:spPr>
        <p:txBody>
          <a:bodyPr wrap="square" lIns="0" tIns="0" rIns="0" bIns="0" anchor="ctr"/>
          <a:lstStyle/>
          <a:p>
            <a:pPr marL="0" indent="0">
              <a:buNone/>
            </a:pPr>
            <a:r>
              <a:rPr sz="1000">
                <a:solidFill>
                  <a:srgbClr val="93A5BD"/>
                </a:solidFill>
                <a:latin typeface="Calibri"/>
                <a:ea typeface="Calibri"/>
                <a:cs typeface="Calibri"/>
              </a:rPr>
              <a:t>Qué representa: la información del dominio y sus reglas, con independencia de las pantallas y del almacenamiento. Producto: un modelo de clases.</a:t>
            </a:r>
            <a:endParaRPr sz="1000"/>
          </a:p>
        </p:txBody>
      </p:sp>
      <p:sp>
        <p:nvSpPr>
          <p:cNvPr id="7" name="Shape 5">
            <a:extLst>
              <a:ext uri="{FF2B5EF4-FFF2-40B4-BE49-F238E27FC236}">
                <a16:creationId xmlns:a16="http://schemas.microsoft.com/office/drawing/2014/main" id="{660CDAD8-3168-48FB-AF39-443D6004810F}"/>
              </a:ext>
            </a:extLst>
          </p:cNvPr>
          <p:cNvSpPr>
            <a:spLocks noGrp="1"/>
          </p:cNvSpPr>
          <p:nvPr/>
        </p:nvSpPr>
        <p:spPr>
          <a:xfrm>
            <a:off x="502920" y="1463040"/>
            <a:ext cx="4069080" cy="530352"/>
          </a:xfrm>
          <a:prstGeom prst="roundRect">
            <a:avLst>
              <a:gd name="adj" fmla="val 10345"/>
            </a:avLst>
          </a:prstGeom>
          <a:solidFill>
            <a:srgbClr val="1A2434"/>
          </a:solidFill>
          <a:ln w="12700">
            <a:solidFill>
              <a:srgbClr val="3DDC97"/>
            </a:solidFill>
            <a:prstDash val="solid"/>
          </a:ln>
        </p:spPr>
        <p:txBody>
          <a:bodyPr/>
          <a:lstStyle/>
          <a:p>
            <a:endParaRPr/>
          </a:p>
        </p:txBody>
      </p:sp>
      <p:sp>
        <p:nvSpPr>
          <p:cNvPr id="8" name="Text 6">
            <a:extLst>
              <a:ext uri="{FF2B5EF4-FFF2-40B4-BE49-F238E27FC236}">
                <a16:creationId xmlns:a16="http://schemas.microsoft.com/office/drawing/2014/main" id="{F3F1649E-ADE1-485F-BA9F-95022E98DFE1}"/>
              </a:ext>
            </a:extLst>
          </p:cNvPr>
          <p:cNvSpPr>
            <a:spLocks noGrp="1"/>
          </p:cNvSpPr>
          <p:nvPr/>
        </p:nvSpPr>
        <p:spPr>
          <a:xfrm>
            <a:off x="630936" y="1463040"/>
            <a:ext cx="932688" cy="530352"/>
          </a:xfrm>
          <a:prstGeom prst="rect">
            <a:avLst/>
          </a:prstGeom>
          <a:noFill/>
        </p:spPr>
        <p:txBody>
          <a:bodyPr wrap="square" lIns="0" tIns="0" rIns="0" bIns="0" anchor="ctr"/>
          <a:lstStyle/>
          <a:p>
            <a:pPr marL="0" indent="0">
              <a:buNone/>
            </a:pPr>
            <a:r>
              <a:rPr sz="1000" b="1">
                <a:solidFill>
                  <a:srgbClr val="3DDC97"/>
                </a:solidFill>
                <a:latin typeface="Arial"/>
                <a:ea typeface="Arial"/>
                <a:cs typeface="Arial"/>
              </a:rPr>
              <a:t>Clase</a:t>
            </a:r>
            <a:endParaRPr sz="1000"/>
          </a:p>
        </p:txBody>
      </p:sp>
      <p:sp>
        <p:nvSpPr>
          <p:cNvPr id="9" name="Text 7">
            <a:extLst>
              <a:ext uri="{FF2B5EF4-FFF2-40B4-BE49-F238E27FC236}">
                <a16:creationId xmlns:a16="http://schemas.microsoft.com/office/drawing/2014/main" id="{2BBC559D-0A5A-4E00-836C-82EDFDC7A00B}"/>
              </a:ext>
            </a:extLst>
          </p:cNvPr>
          <p:cNvSpPr>
            <a:spLocks noGrp="1"/>
          </p:cNvSpPr>
          <p:nvPr/>
        </p:nvSpPr>
        <p:spPr>
          <a:xfrm>
            <a:off x="1618488" y="1463040"/>
            <a:ext cx="2825496" cy="530352"/>
          </a:xfrm>
          <a:prstGeom prst="rect">
            <a:avLst/>
          </a:prstGeom>
          <a:noFill/>
        </p:spPr>
        <p:txBody>
          <a:bodyPr wrap="square" lIns="0" tIns="0" rIns="0" bIns="0" anchor="ctr"/>
          <a:lstStyle/>
          <a:p>
            <a:pPr marL="0" indent="0">
              <a:lnSpc>
                <a:spcPct val="105000"/>
              </a:lnSpc>
              <a:buNone/>
            </a:pPr>
            <a:r>
              <a:rPr sz="900">
                <a:solidFill>
                  <a:srgbClr val="E8EEF6"/>
                </a:solidFill>
                <a:latin typeface="Calibri"/>
                <a:ea typeface="Calibri"/>
                <a:cs typeface="Calibri"/>
              </a:rPr>
              <a:t>Tipo de cosa del dominio del que se guarda información: Cliente, Solicitud.</a:t>
            </a:r>
            <a:endParaRPr sz="900"/>
          </a:p>
        </p:txBody>
      </p:sp>
      <p:sp>
        <p:nvSpPr>
          <p:cNvPr id="10" name="Shape 8">
            <a:extLst>
              <a:ext uri="{FF2B5EF4-FFF2-40B4-BE49-F238E27FC236}">
                <a16:creationId xmlns:a16="http://schemas.microsoft.com/office/drawing/2014/main" id="{1E1D7BDB-18A8-4236-AC16-086C51BBADFD}"/>
              </a:ext>
            </a:extLst>
          </p:cNvPr>
          <p:cNvSpPr>
            <a:spLocks noGrp="1"/>
          </p:cNvSpPr>
          <p:nvPr/>
        </p:nvSpPr>
        <p:spPr>
          <a:xfrm>
            <a:off x="502920" y="2066544"/>
            <a:ext cx="4069080" cy="530352"/>
          </a:xfrm>
          <a:prstGeom prst="roundRect">
            <a:avLst>
              <a:gd name="adj" fmla="val 10345"/>
            </a:avLst>
          </a:prstGeom>
          <a:solidFill>
            <a:srgbClr val="1A2434"/>
          </a:solidFill>
          <a:ln w="12700">
            <a:solidFill>
              <a:srgbClr val="56C7F2"/>
            </a:solidFill>
            <a:prstDash val="solid"/>
          </a:ln>
        </p:spPr>
        <p:txBody>
          <a:bodyPr/>
          <a:lstStyle/>
          <a:p>
            <a:endParaRPr/>
          </a:p>
        </p:txBody>
      </p:sp>
      <p:sp>
        <p:nvSpPr>
          <p:cNvPr id="11" name="Text 9">
            <a:extLst>
              <a:ext uri="{FF2B5EF4-FFF2-40B4-BE49-F238E27FC236}">
                <a16:creationId xmlns:a16="http://schemas.microsoft.com/office/drawing/2014/main" id="{8DF57C45-44A2-4ABB-B569-08C8AEAF3ED1}"/>
              </a:ext>
            </a:extLst>
          </p:cNvPr>
          <p:cNvSpPr>
            <a:spLocks noGrp="1"/>
          </p:cNvSpPr>
          <p:nvPr/>
        </p:nvSpPr>
        <p:spPr>
          <a:xfrm>
            <a:off x="630936" y="2066544"/>
            <a:ext cx="932688" cy="530352"/>
          </a:xfrm>
          <a:prstGeom prst="rect">
            <a:avLst/>
          </a:prstGeom>
          <a:noFill/>
        </p:spPr>
        <p:txBody>
          <a:bodyPr wrap="square" lIns="0" tIns="0" rIns="0" bIns="0" anchor="ctr"/>
          <a:lstStyle/>
          <a:p>
            <a:pPr marL="0" indent="0">
              <a:buNone/>
            </a:pPr>
            <a:r>
              <a:rPr sz="1000" b="1">
                <a:solidFill>
                  <a:srgbClr val="56C7F2"/>
                </a:solidFill>
                <a:latin typeface="Arial"/>
                <a:ea typeface="Arial"/>
                <a:cs typeface="Arial"/>
              </a:rPr>
              <a:t>Atributo</a:t>
            </a:r>
            <a:endParaRPr sz="1000"/>
          </a:p>
        </p:txBody>
      </p:sp>
      <p:sp>
        <p:nvSpPr>
          <p:cNvPr id="12" name="Text 10">
            <a:extLst>
              <a:ext uri="{FF2B5EF4-FFF2-40B4-BE49-F238E27FC236}">
                <a16:creationId xmlns:a16="http://schemas.microsoft.com/office/drawing/2014/main" id="{8E3536C6-634A-4035-9112-139EE755DD99}"/>
              </a:ext>
            </a:extLst>
          </p:cNvPr>
          <p:cNvSpPr>
            <a:spLocks noGrp="1"/>
          </p:cNvSpPr>
          <p:nvPr/>
        </p:nvSpPr>
        <p:spPr>
          <a:xfrm>
            <a:off x="1618488" y="2066544"/>
            <a:ext cx="2825496" cy="530352"/>
          </a:xfrm>
          <a:prstGeom prst="rect">
            <a:avLst/>
          </a:prstGeom>
          <a:noFill/>
        </p:spPr>
        <p:txBody>
          <a:bodyPr wrap="square" lIns="0" tIns="0" rIns="0" bIns="0" anchor="ctr"/>
          <a:lstStyle/>
          <a:p>
            <a:pPr marL="0" indent="0">
              <a:lnSpc>
                <a:spcPct val="105000"/>
              </a:lnSpc>
              <a:buNone/>
            </a:pPr>
            <a:r>
              <a:rPr sz="900">
                <a:solidFill>
                  <a:srgbClr val="E8EEF6"/>
                </a:solidFill>
                <a:latin typeface="Calibri"/>
                <a:ea typeface="Calibri"/>
                <a:cs typeface="Calibri"/>
              </a:rPr>
              <a:t>Dato que describe a la clase: nombre, correo, descripción, fecha, estado.</a:t>
            </a:r>
            <a:endParaRPr sz="900"/>
          </a:p>
        </p:txBody>
      </p:sp>
      <p:sp>
        <p:nvSpPr>
          <p:cNvPr id="13" name="Shape 11">
            <a:extLst>
              <a:ext uri="{FF2B5EF4-FFF2-40B4-BE49-F238E27FC236}">
                <a16:creationId xmlns:a16="http://schemas.microsoft.com/office/drawing/2014/main" id="{3C9786C4-7D65-440A-886D-55AC7E8487ED}"/>
              </a:ext>
            </a:extLst>
          </p:cNvPr>
          <p:cNvSpPr>
            <a:spLocks noGrp="1"/>
          </p:cNvSpPr>
          <p:nvPr/>
        </p:nvSpPr>
        <p:spPr>
          <a:xfrm>
            <a:off x="502920" y="2670048"/>
            <a:ext cx="4069080" cy="530352"/>
          </a:xfrm>
          <a:prstGeom prst="roundRect">
            <a:avLst>
              <a:gd name="adj" fmla="val 10345"/>
            </a:avLst>
          </a:prstGeom>
          <a:solidFill>
            <a:srgbClr val="1A2434"/>
          </a:solidFill>
          <a:ln w="12700">
            <a:solidFill>
              <a:srgbClr val="3DDC97"/>
            </a:solidFill>
            <a:prstDash val="solid"/>
          </a:ln>
        </p:spPr>
        <p:txBody>
          <a:bodyPr/>
          <a:lstStyle/>
          <a:p>
            <a:endParaRPr/>
          </a:p>
        </p:txBody>
      </p:sp>
      <p:sp>
        <p:nvSpPr>
          <p:cNvPr id="14" name="Text 12">
            <a:extLst>
              <a:ext uri="{FF2B5EF4-FFF2-40B4-BE49-F238E27FC236}">
                <a16:creationId xmlns:a16="http://schemas.microsoft.com/office/drawing/2014/main" id="{10049071-0159-446A-B5BB-3E1B6B7ED6D9}"/>
              </a:ext>
            </a:extLst>
          </p:cNvPr>
          <p:cNvSpPr>
            <a:spLocks noGrp="1"/>
          </p:cNvSpPr>
          <p:nvPr/>
        </p:nvSpPr>
        <p:spPr>
          <a:xfrm>
            <a:off x="630936" y="2670048"/>
            <a:ext cx="932688" cy="530352"/>
          </a:xfrm>
          <a:prstGeom prst="rect">
            <a:avLst/>
          </a:prstGeom>
          <a:noFill/>
        </p:spPr>
        <p:txBody>
          <a:bodyPr wrap="square" lIns="0" tIns="0" rIns="0" bIns="0" anchor="ctr"/>
          <a:lstStyle/>
          <a:p>
            <a:pPr marL="0" indent="0">
              <a:buNone/>
            </a:pPr>
            <a:r>
              <a:rPr sz="1000" b="1">
                <a:solidFill>
                  <a:srgbClr val="3DDC97"/>
                </a:solidFill>
                <a:latin typeface="Arial"/>
                <a:ea typeface="Arial"/>
                <a:cs typeface="Arial"/>
              </a:rPr>
              <a:t>Relación</a:t>
            </a:r>
            <a:endParaRPr sz="1000"/>
          </a:p>
        </p:txBody>
      </p:sp>
      <p:sp>
        <p:nvSpPr>
          <p:cNvPr id="15" name="Text 13">
            <a:extLst>
              <a:ext uri="{FF2B5EF4-FFF2-40B4-BE49-F238E27FC236}">
                <a16:creationId xmlns:a16="http://schemas.microsoft.com/office/drawing/2014/main" id="{6B19665D-B6B5-476C-A615-C48275F576D9}"/>
              </a:ext>
            </a:extLst>
          </p:cNvPr>
          <p:cNvSpPr>
            <a:spLocks noGrp="1"/>
          </p:cNvSpPr>
          <p:nvPr/>
        </p:nvSpPr>
        <p:spPr>
          <a:xfrm>
            <a:off x="1618488" y="2670048"/>
            <a:ext cx="2825496" cy="530352"/>
          </a:xfrm>
          <a:prstGeom prst="rect">
            <a:avLst/>
          </a:prstGeom>
          <a:noFill/>
        </p:spPr>
        <p:txBody>
          <a:bodyPr wrap="square" lIns="0" tIns="0" rIns="0" bIns="0" anchor="ctr"/>
          <a:lstStyle/>
          <a:p>
            <a:pPr marL="0" indent="0">
              <a:lnSpc>
                <a:spcPct val="105000"/>
              </a:lnSpc>
              <a:buNone/>
            </a:pPr>
            <a:r>
              <a:rPr sz="900">
                <a:solidFill>
                  <a:srgbClr val="E8EEF6"/>
                </a:solidFill>
                <a:latin typeface="Calibri"/>
                <a:ea typeface="Calibri"/>
                <a:cs typeface="Calibri"/>
              </a:rPr>
              <a:t>Vínculo con significado entre dos clases: una solicitud pertenece a un cliente.</a:t>
            </a:r>
            <a:endParaRPr sz="900"/>
          </a:p>
        </p:txBody>
      </p:sp>
      <p:sp>
        <p:nvSpPr>
          <p:cNvPr id="16" name="Shape 14">
            <a:extLst>
              <a:ext uri="{FF2B5EF4-FFF2-40B4-BE49-F238E27FC236}">
                <a16:creationId xmlns:a16="http://schemas.microsoft.com/office/drawing/2014/main" id="{2384D6D6-C557-4EA9-911C-8DBA51479C3B}"/>
              </a:ext>
            </a:extLst>
          </p:cNvPr>
          <p:cNvSpPr>
            <a:spLocks noGrp="1"/>
          </p:cNvSpPr>
          <p:nvPr/>
        </p:nvSpPr>
        <p:spPr>
          <a:xfrm>
            <a:off x="502920" y="3273552"/>
            <a:ext cx="4069080" cy="530352"/>
          </a:xfrm>
          <a:prstGeom prst="roundRect">
            <a:avLst>
              <a:gd name="adj" fmla="val 10345"/>
            </a:avLst>
          </a:prstGeom>
          <a:solidFill>
            <a:srgbClr val="1A2434"/>
          </a:solidFill>
          <a:ln w="12700">
            <a:solidFill>
              <a:srgbClr val="56C7F2"/>
            </a:solidFill>
            <a:prstDash val="solid"/>
          </a:ln>
        </p:spPr>
        <p:txBody>
          <a:bodyPr/>
          <a:lstStyle/>
          <a:p>
            <a:endParaRPr/>
          </a:p>
        </p:txBody>
      </p:sp>
      <p:sp>
        <p:nvSpPr>
          <p:cNvPr id="17" name="Text 15">
            <a:extLst>
              <a:ext uri="{FF2B5EF4-FFF2-40B4-BE49-F238E27FC236}">
                <a16:creationId xmlns:a16="http://schemas.microsoft.com/office/drawing/2014/main" id="{01F4C227-0201-48E5-8172-5428E0FFB933}"/>
              </a:ext>
            </a:extLst>
          </p:cNvPr>
          <p:cNvSpPr>
            <a:spLocks noGrp="1"/>
          </p:cNvSpPr>
          <p:nvPr/>
        </p:nvSpPr>
        <p:spPr>
          <a:xfrm>
            <a:off x="630936" y="3273552"/>
            <a:ext cx="932688" cy="530352"/>
          </a:xfrm>
          <a:prstGeom prst="rect">
            <a:avLst/>
          </a:prstGeom>
          <a:noFill/>
        </p:spPr>
        <p:txBody>
          <a:bodyPr wrap="square" lIns="0" tIns="0" rIns="0" bIns="0" anchor="ctr"/>
          <a:lstStyle/>
          <a:p>
            <a:pPr marL="0" indent="0">
              <a:buNone/>
            </a:pPr>
            <a:r>
              <a:rPr sz="1000" b="1">
                <a:solidFill>
                  <a:srgbClr val="56C7F2"/>
                </a:solidFill>
                <a:latin typeface="Arial"/>
                <a:ea typeface="Arial"/>
                <a:cs typeface="Arial"/>
              </a:rPr>
              <a:t>Cardinalidad</a:t>
            </a:r>
            <a:endParaRPr sz="1000"/>
          </a:p>
        </p:txBody>
      </p:sp>
      <p:sp>
        <p:nvSpPr>
          <p:cNvPr id="18" name="Text 16">
            <a:extLst>
              <a:ext uri="{FF2B5EF4-FFF2-40B4-BE49-F238E27FC236}">
                <a16:creationId xmlns:a16="http://schemas.microsoft.com/office/drawing/2014/main" id="{6C356DC0-D741-421B-ACF1-DE9812EC92C4}"/>
              </a:ext>
            </a:extLst>
          </p:cNvPr>
          <p:cNvSpPr>
            <a:spLocks noGrp="1"/>
          </p:cNvSpPr>
          <p:nvPr/>
        </p:nvSpPr>
        <p:spPr>
          <a:xfrm>
            <a:off x="1618488" y="3273552"/>
            <a:ext cx="2825496" cy="530352"/>
          </a:xfrm>
          <a:prstGeom prst="rect">
            <a:avLst/>
          </a:prstGeom>
          <a:noFill/>
        </p:spPr>
        <p:txBody>
          <a:bodyPr wrap="square" lIns="0" tIns="0" rIns="0" bIns="0" anchor="ctr"/>
          <a:lstStyle/>
          <a:p>
            <a:pPr marL="0" indent="0">
              <a:lnSpc>
                <a:spcPct val="105000"/>
              </a:lnSpc>
              <a:buNone/>
            </a:pPr>
            <a:r>
              <a:rPr sz="900">
                <a:solidFill>
                  <a:srgbClr val="E8EEF6"/>
                </a:solidFill>
                <a:latin typeface="Calibri"/>
                <a:ea typeface="Calibri"/>
                <a:cs typeface="Calibri"/>
              </a:rPr>
              <a:t>Cuántas instancias participan en la relación: 1 en un lado, 0 o muchas en el otro.</a:t>
            </a:r>
            <a:endParaRPr sz="900"/>
          </a:p>
        </p:txBody>
      </p:sp>
      <p:sp>
        <p:nvSpPr>
          <p:cNvPr id="19" name="Shape 17">
            <a:extLst>
              <a:ext uri="{FF2B5EF4-FFF2-40B4-BE49-F238E27FC236}">
                <a16:creationId xmlns:a16="http://schemas.microsoft.com/office/drawing/2014/main" id="{9CE1083F-1ECB-4845-8D9B-C6A186BAC32A}"/>
              </a:ext>
            </a:extLst>
          </p:cNvPr>
          <p:cNvSpPr>
            <a:spLocks noGrp="1"/>
          </p:cNvSpPr>
          <p:nvPr/>
        </p:nvSpPr>
        <p:spPr>
          <a:xfrm>
            <a:off x="4846320" y="1463040"/>
            <a:ext cx="3794760" cy="2340864"/>
          </a:xfrm>
          <a:prstGeom prst="roundRect">
            <a:avLst>
              <a:gd name="adj" fmla="val 1563"/>
            </a:avLst>
          </a:prstGeom>
          <a:solidFill>
            <a:srgbClr val="070C14"/>
          </a:solidFill>
          <a:ln w="12700">
            <a:solidFill>
              <a:srgbClr val="2B3B52"/>
            </a:solidFill>
            <a:prstDash val="solid"/>
          </a:ln>
        </p:spPr>
        <p:txBody>
          <a:bodyPr/>
          <a:lstStyle/>
          <a:p>
            <a:endParaRPr/>
          </a:p>
        </p:txBody>
      </p:sp>
      <p:sp>
        <p:nvSpPr>
          <p:cNvPr id="20" name="Text 18">
            <a:extLst>
              <a:ext uri="{FF2B5EF4-FFF2-40B4-BE49-F238E27FC236}">
                <a16:creationId xmlns:a16="http://schemas.microsoft.com/office/drawing/2014/main" id="{843093DC-EC9E-49BB-BC3E-A6C2EFDBB0E4}"/>
              </a:ext>
            </a:extLst>
          </p:cNvPr>
          <p:cNvSpPr>
            <a:spLocks noGrp="1"/>
          </p:cNvSpPr>
          <p:nvPr/>
        </p:nvSpPr>
        <p:spPr>
          <a:xfrm>
            <a:off x="4992624" y="1536192"/>
            <a:ext cx="3502152" cy="182880"/>
          </a:xfrm>
          <a:prstGeom prst="rect">
            <a:avLst/>
          </a:prstGeom>
          <a:noFill/>
        </p:spPr>
        <p:txBody>
          <a:bodyPr wrap="square" lIns="0" tIns="0" rIns="0" bIns="0" anchor="ctr"/>
          <a:lstStyle/>
          <a:p>
            <a:pPr marL="0" indent="0">
              <a:buNone/>
            </a:pPr>
            <a:r>
              <a:rPr sz="850" b="1">
                <a:solidFill>
                  <a:srgbClr val="FF8A3D"/>
                </a:solidFill>
                <a:latin typeface="Courier New"/>
                <a:ea typeface="Courier New"/>
                <a:cs typeface="Courier New"/>
              </a:rPr>
              <a:t>decisiones que toma esta actividad</a:t>
            </a:r>
            <a:endParaRPr sz="850"/>
          </a:p>
        </p:txBody>
      </p:sp>
      <p:sp>
        <p:nvSpPr>
          <p:cNvPr id="21" name="Text 19">
            <a:extLst>
              <a:ext uri="{FF2B5EF4-FFF2-40B4-BE49-F238E27FC236}">
                <a16:creationId xmlns:a16="http://schemas.microsoft.com/office/drawing/2014/main" id="{4924AD28-2347-45FE-B4E5-45996BF25642}"/>
              </a:ext>
            </a:extLst>
          </p:cNvPr>
          <p:cNvSpPr>
            <a:spLocks noGrp="1"/>
          </p:cNvSpPr>
          <p:nvPr/>
        </p:nvSpPr>
        <p:spPr>
          <a:xfrm>
            <a:off x="4992624" y="1755648"/>
            <a:ext cx="3502152" cy="1975104"/>
          </a:xfrm>
          <a:prstGeom prst="rect">
            <a:avLst/>
          </a:prstGeom>
          <a:noFill/>
        </p:spPr>
        <p:txBody>
          <a:bodyPr wrap="square" lIns="0" tIns="0" rIns="0" bIns="0" anchor="t"/>
          <a:lstStyle/>
          <a:p>
            <a:pPr marL="0" indent="0">
              <a:lnSpc>
                <a:spcPct val="125000"/>
              </a:lnSpc>
              <a:buNone/>
            </a:pPr>
            <a:r>
              <a:rPr sz="1000" dirty="0">
                <a:solidFill>
                  <a:srgbClr val="3DDC97"/>
                </a:solidFill>
                <a:latin typeface="Courier New"/>
                <a:ea typeface="Courier New"/>
                <a:cs typeface="Courier New"/>
              </a:rPr>
              <a:t>¿</a:t>
            </a:r>
            <a:r>
              <a:rPr sz="1000" dirty="0" err="1">
                <a:solidFill>
                  <a:srgbClr val="3DDC97"/>
                </a:solidFill>
                <a:latin typeface="Courier New"/>
                <a:ea typeface="Courier New"/>
                <a:cs typeface="Courier New"/>
              </a:rPr>
              <a:t>qué</a:t>
            </a: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clases</a:t>
            </a: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existen</a:t>
            </a:r>
            <a:r>
              <a:rPr sz="1000" dirty="0">
                <a:solidFill>
                  <a:srgbClr val="3DDC97"/>
                </a:solidFill>
                <a:latin typeface="Courier New"/>
                <a:ea typeface="Courier New"/>
                <a:cs typeface="Courier New"/>
              </a:rPr>
              <a:t>?</a:t>
            </a:r>
            <a:endParaRPr sz="1000" dirty="0"/>
          </a:p>
          <a:p>
            <a:pPr marL="0" indent="0">
              <a:lnSpc>
                <a:spcPct val="125000"/>
              </a:lnSpc>
              <a:buNone/>
            </a:pPr>
            <a:r>
              <a:rPr sz="1000" dirty="0">
                <a:solidFill>
                  <a:srgbClr val="E8EEF6"/>
                </a:solidFill>
                <a:latin typeface="Courier New"/>
                <a:ea typeface="Courier New"/>
                <a:cs typeface="Courier New"/>
              </a:rPr>
              <a:t>   </a:t>
            </a:r>
            <a:r>
              <a:rPr sz="1000" dirty="0" err="1">
                <a:solidFill>
                  <a:srgbClr val="E8EEF6"/>
                </a:solidFill>
                <a:latin typeface="Courier New"/>
                <a:ea typeface="Courier New"/>
                <a:cs typeface="Courier New"/>
              </a:rPr>
              <a:t>Cliente</a:t>
            </a:r>
            <a:r>
              <a:rPr sz="1000" dirty="0">
                <a:solidFill>
                  <a:srgbClr val="E8EEF6"/>
                </a:solidFill>
                <a:latin typeface="Courier New"/>
                <a:ea typeface="Courier New"/>
                <a:cs typeface="Courier New"/>
              </a:rPr>
              <a:t>, </a:t>
            </a:r>
            <a:r>
              <a:rPr sz="1000" dirty="0" err="1">
                <a:solidFill>
                  <a:srgbClr val="E8EEF6"/>
                </a:solidFill>
                <a:latin typeface="Courier New"/>
                <a:ea typeface="Courier New"/>
                <a:cs typeface="Courier New"/>
              </a:rPr>
              <a:t>Solicitud</a:t>
            </a:r>
            <a:endParaRPr sz="1000" dirty="0"/>
          </a:p>
          <a:p>
            <a:pPr marL="0" indent="0">
              <a:lnSpc>
                <a:spcPct val="125000"/>
              </a:lnSpc>
              <a:buNone/>
            </a:pPr>
            <a:r>
              <a:rPr sz="1000" dirty="0">
                <a:solidFill>
                  <a:srgbClr val="3DDC97"/>
                </a:solidFill>
                <a:latin typeface="Courier New"/>
                <a:ea typeface="Courier New"/>
                <a:cs typeface="Courier New"/>
              </a:rPr>
              <a:t>¿</a:t>
            </a:r>
            <a:r>
              <a:rPr sz="1000" dirty="0" err="1">
                <a:solidFill>
                  <a:srgbClr val="3DDC97"/>
                </a:solidFill>
                <a:latin typeface="Courier New"/>
                <a:ea typeface="Courier New"/>
                <a:cs typeface="Courier New"/>
              </a:rPr>
              <a:t>qué</a:t>
            </a: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atributos</a:t>
            </a:r>
            <a:r>
              <a:rPr sz="1000" dirty="0">
                <a:solidFill>
                  <a:srgbClr val="3DDC97"/>
                </a:solidFill>
                <a:latin typeface="Courier New"/>
                <a:ea typeface="Courier New"/>
                <a:cs typeface="Courier New"/>
              </a:rPr>
              <a:t> las </a:t>
            </a:r>
            <a:r>
              <a:rPr sz="1000" dirty="0" err="1">
                <a:solidFill>
                  <a:srgbClr val="3DDC97"/>
                </a:solidFill>
                <a:latin typeface="Courier New"/>
                <a:ea typeface="Courier New"/>
                <a:cs typeface="Courier New"/>
              </a:rPr>
              <a:t>describen</a:t>
            </a:r>
            <a:r>
              <a:rPr sz="1000" dirty="0">
                <a:solidFill>
                  <a:srgbClr val="3DDC97"/>
                </a:solidFill>
                <a:latin typeface="Courier New"/>
                <a:ea typeface="Courier New"/>
                <a:cs typeface="Courier New"/>
              </a:rPr>
              <a:t>?</a:t>
            </a:r>
            <a:endParaRPr sz="1000" dirty="0"/>
          </a:p>
          <a:p>
            <a:pPr marL="0" indent="0">
              <a:lnSpc>
                <a:spcPct val="125000"/>
              </a:lnSpc>
              <a:buNone/>
            </a:pPr>
            <a:r>
              <a:rPr sz="1000" dirty="0">
                <a:solidFill>
                  <a:srgbClr val="93A5BD"/>
                </a:solidFill>
                <a:latin typeface="Courier New"/>
                <a:ea typeface="Courier New"/>
                <a:cs typeface="Courier New"/>
              </a:rPr>
              <a:t>   y ¿</a:t>
            </a:r>
            <a:r>
              <a:rPr sz="1000" dirty="0" err="1">
                <a:solidFill>
                  <a:srgbClr val="93A5BD"/>
                </a:solidFill>
                <a:latin typeface="Courier New"/>
                <a:ea typeface="Courier New"/>
                <a:cs typeface="Courier New"/>
              </a:rPr>
              <a:t>cuáles</a:t>
            </a:r>
            <a:r>
              <a:rPr sz="1000" dirty="0">
                <a:solidFill>
                  <a:srgbClr val="93A5BD"/>
                </a:solidFill>
                <a:latin typeface="Courier New"/>
                <a:ea typeface="Courier New"/>
                <a:cs typeface="Courier New"/>
              </a:rPr>
              <a:t> son </a:t>
            </a:r>
            <a:r>
              <a:rPr sz="1000" dirty="0" err="1">
                <a:solidFill>
                  <a:srgbClr val="93A5BD"/>
                </a:solidFill>
                <a:latin typeface="Courier New"/>
                <a:ea typeface="Courier New"/>
                <a:cs typeface="Courier New"/>
              </a:rPr>
              <a:t>obligatorios</a:t>
            </a:r>
            <a:r>
              <a:rPr sz="1000" dirty="0">
                <a:solidFill>
                  <a:srgbClr val="93A5BD"/>
                </a:solidFill>
                <a:latin typeface="Courier New"/>
                <a:ea typeface="Courier New"/>
                <a:cs typeface="Courier New"/>
              </a:rPr>
              <a:t>?</a:t>
            </a:r>
            <a:endParaRPr sz="1000" dirty="0"/>
          </a:p>
          <a:p>
            <a:pPr marL="0" indent="0">
              <a:lnSpc>
                <a:spcPct val="125000"/>
              </a:lnSpc>
              <a:buNone/>
            </a:pPr>
            <a:r>
              <a:rPr sz="1000" dirty="0">
                <a:solidFill>
                  <a:srgbClr val="3DDC97"/>
                </a:solidFill>
                <a:latin typeface="Courier New"/>
                <a:ea typeface="Courier New"/>
                <a:cs typeface="Courier New"/>
              </a:rPr>
              <a:t>¿</a:t>
            </a:r>
            <a:r>
              <a:rPr sz="1000" dirty="0" err="1">
                <a:solidFill>
                  <a:srgbClr val="3DDC97"/>
                </a:solidFill>
                <a:latin typeface="Courier New"/>
                <a:ea typeface="Courier New"/>
                <a:cs typeface="Courier New"/>
              </a:rPr>
              <a:t>cómo</a:t>
            </a:r>
            <a:r>
              <a:rPr sz="1000" dirty="0">
                <a:solidFill>
                  <a:srgbClr val="3DDC97"/>
                </a:solidFill>
                <a:latin typeface="Courier New"/>
                <a:ea typeface="Courier New"/>
                <a:cs typeface="Courier New"/>
              </a:rPr>
              <a:t> se </a:t>
            </a:r>
            <a:r>
              <a:rPr sz="1000" dirty="0" err="1">
                <a:solidFill>
                  <a:srgbClr val="3DDC97"/>
                </a:solidFill>
                <a:latin typeface="Courier New"/>
                <a:ea typeface="Courier New"/>
                <a:cs typeface="Courier New"/>
              </a:rPr>
              <a:t>relacionan</a:t>
            </a:r>
            <a:r>
              <a:rPr sz="1000" dirty="0">
                <a:solidFill>
                  <a:srgbClr val="3DDC97"/>
                </a:solidFill>
                <a:latin typeface="Courier New"/>
                <a:ea typeface="Courier New"/>
                <a:cs typeface="Courier New"/>
              </a:rPr>
              <a:t>?</a:t>
            </a:r>
            <a:endParaRPr sz="1000" dirty="0"/>
          </a:p>
          <a:p>
            <a:pPr marL="0" indent="0">
              <a:lnSpc>
                <a:spcPct val="125000"/>
              </a:lnSpc>
              <a:buNone/>
            </a:pPr>
            <a:r>
              <a:rPr sz="1000" dirty="0">
                <a:solidFill>
                  <a:srgbClr val="E8EEF6"/>
                </a:solidFill>
                <a:latin typeface="Courier New"/>
                <a:ea typeface="Courier New"/>
                <a:cs typeface="Courier New"/>
              </a:rPr>
              <a:t>   </a:t>
            </a:r>
            <a:r>
              <a:rPr sz="1000" dirty="0" err="1">
                <a:solidFill>
                  <a:srgbClr val="E8EEF6"/>
                </a:solidFill>
                <a:latin typeface="Courier New"/>
                <a:ea typeface="Courier New"/>
                <a:cs typeface="Courier New"/>
              </a:rPr>
              <a:t>Cliente</a:t>
            </a:r>
            <a:r>
              <a:rPr sz="1000" dirty="0">
                <a:solidFill>
                  <a:srgbClr val="E8EEF6"/>
                </a:solidFill>
                <a:latin typeface="Courier New"/>
                <a:ea typeface="Courier New"/>
                <a:cs typeface="Courier New"/>
              </a:rPr>
              <a:t> 1 --- 0..* </a:t>
            </a:r>
            <a:r>
              <a:rPr sz="1000" dirty="0" err="1">
                <a:solidFill>
                  <a:srgbClr val="E8EEF6"/>
                </a:solidFill>
                <a:latin typeface="Courier New"/>
                <a:ea typeface="Courier New"/>
                <a:cs typeface="Courier New"/>
              </a:rPr>
              <a:t>Solicitud</a:t>
            </a:r>
            <a:endParaRPr sz="1000" dirty="0"/>
          </a:p>
          <a:p>
            <a:pPr marL="0" indent="0">
              <a:lnSpc>
                <a:spcPct val="125000"/>
              </a:lnSpc>
              <a:buNone/>
            </a:pPr>
            <a:r>
              <a:rPr sz="1000" dirty="0">
                <a:solidFill>
                  <a:srgbClr val="3DDC97"/>
                </a:solidFill>
                <a:latin typeface="Courier New"/>
                <a:ea typeface="Courier New"/>
                <a:cs typeface="Courier New"/>
              </a:rPr>
              <a:t>¿</a:t>
            </a:r>
            <a:r>
              <a:rPr sz="1000" dirty="0" err="1">
                <a:solidFill>
                  <a:srgbClr val="3DDC97"/>
                </a:solidFill>
                <a:latin typeface="Courier New"/>
                <a:ea typeface="Courier New"/>
                <a:cs typeface="Courier New"/>
              </a:rPr>
              <a:t>qué</a:t>
            </a: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reglas</a:t>
            </a:r>
            <a:r>
              <a:rPr sz="1000" dirty="0">
                <a:solidFill>
                  <a:srgbClr val="3DDC97"/>
                </a:solidFill>
                <a:latin typeface="Courier New"/>
                <a:ea typeface="Courier New"/>
                <a:cs typeface="Courier New"/>
              </a:rPr>
              <a:t> del </a:t>
            </a:r>
            <a:r>
              <a:rPr sz="1000" dirty="0" err="1">
                <a:solidFill>
                  <a:srgbClr val="3DDC97"/>
                </a:solidFill>
                <a:latin typeface="Courier New"/>
                <a:ea typeface="Courier New"/>
                <a:cs typeface="Courier New"/>
              </a:rPr>
              <a:t>dominio</a:t>
            </a:r>
            <a:endParaRPr sz="1000" dirty="0"/>
          </a:p>
          <a:p>
            <a:pPr marL="0" indent="0">
              <a:lnSpc>
                <a:spcPct val="125000"/>
              </a:lnSpc>
              <a:buNone/>
            </a:pP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deben</a:t>
            </a: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cumplirse</a:t>
            </a:r>
            <a:r>
              <a:rPr sz="1000" dirty="0">
                <a:solidFill>
                  <a:srgbClr val="3DDC97"/>
                </a:solidFill>
                <a:latin typeface="Courier New"/>
                <a:ea typeface="Courier New"/>
                <a:cs typeface="Courier New"/>
              </a:rPr>
              <a:t> </a:t>
            </a:r>
            <a:r>
              <a:rPr sz="1000" dirty="0" err="1">
                <a:solidFill>
                  <a:srgbClr val="3DDC97"/>
                </a:solidFill>
                <a:latin typeface="Courier New"/>
                <a:ea typeface="Courier New"/>
                <a:cs typeface="Courier New"/>
              </a:rPr>
              <a:t>siempre</a:t>
            </a:r>
            <a:r>
              <a:rPr sz="1000" dirty="0">
                <a:solidFill>
                  <a:srgbClr val="3DDC97"/>
                </a:solidFill>
                <a:latin typeface="Courier New"/>
                <a:ea typeface="Courier New"/>
                <a:cs typeface="Courier New"/>
              </a:rPr>
              <a:t>?</a:t>
            </a:r>
            <a:endParaRPr sz="1000" dirty="0"/>
          </a:p>
          <a:p>
            <a:pPr marL="0" indent="0">
              <a:lnSpc>
                <a:spcPct val="125000"/>
              </a:lnSpc>
              <a:buNone/>
            </a:pPr>
            <a:r>
              <a:rPr sz="1000" dirty="0">
                <a:solidFill>
                  <a:srgbClr val="E8EEF6"/>
                </a:solidFill>
                <a:latin typeface="Courier New"/>
                <a:ea typeface="Courier New"/>
                <a:cs typeface="Courier New"/>
              </a:rPr>
              <a:t>   la </a:t>
            </a:r>
            <a:r>
              <a:rPr sz="1000" dirty="0" err="1">
                <a:solidFill>
                  <a:srgbClr val="E8EEF6"/>
                </a:solidFill>
                <a:latin typeface="Courier New"/>
                <a:ea typeface="Courier New"/>
                <a:cs typeface="Courier New"/>
              </a:rPr>
              <a:t>descripción</a:t>
            </a:r>
            <a:r>
              <a:rPr sz="1000" dirty="0">
                <a:solidFill>
                  <a:srgbClr val="E8EEF6"/>
                </a:solidFill>
                <a:latin typeface="Courier New"/>
                <a:ea typeface="Courier New"/>
                <a:cs typeface="Courier New"/>
              </a:rPr>
              <a:t> es </a:t>
            </a:r>
            <a:r>
              <a:rPr sz="1000" dirty="0" err="1">
                <a:solidFill>
                  <a:srgbClr val="E8EEF6"/>
                </a:solidFill>
                <a:latin typeface="Courier New"/>
                <a:ea typeface="Courier New"/>
                <a:cs typeface="Courier New"/>
              </a:rPr>
              <a:t>obligatoria</a:t>
            </a:r>
            <a:endParaRPr sz="1000" dirty="0"/>
          </a:p>
          <a:p>
            <a:pPr marL="0" indent="0">
              <a:lnSpc>
                <a:spcPct val="125000"/>
              </a:lnSpc>
              <a:buNone/>
            </a:pPr>
            <a:r>
              <a:rPr sz="1000" dirty="0">
                <a:solidFill>
                  <a:srgbClr val="E8EEF6"/>
                </a:solidFill>
                <a:latin typeface="Courier New"/>
                <a:ea typeface="Courier New"/>
                <a:cs typeface="Courier New"/>
              </a:rPr>
              <a:t>   el </a:t>
            </a:r>
            <a:r>
              <a:rPr sz="1000" dirty="0" err="1">
                <a:solidFill>
                  <a:srgbClr val="E8EEF6"/>
                </a:solidFill>
                <a:latin typeface="Courier New"/>
                <a:ea typeface="Courier New"/>
                <a:cs typeface="Courier New"/>
              </a:rPr>
              <a:t>estado</a:t>
            </a:r>
            <a:r>
              <a:rPr sz="1000" dirty="0">
                <a:solidFill>
                  <a:srgbClr val="E8EEF6"/>
                </a:solidFill>
                <a:latin typeface="Courier New"/>
                <a:ea typeface="Courier New"/>
                <a:cs typeface="Courier New"/>
              </a:rPr>
              <a:t> </a:t>
            </a:r>
            <a:r>
              <a:rPr sz="1000" dirty="0" err="1">
                <a:solidFill>
                  <a:srgbClr val="E8EEF6"/>
                </a:solidFill>
                <a:latin typeface="Courier New"/>
                <a:ea typeface="Courier New"/>
                <a:cs typeface="Courier New"/>
              </a:rPr>
              <a:t>inicial</a:t>
            </a:r>
            <a:r>
              <a:rPr sz="1000" dirty="0">
                <a:solidFill>
                  <a:srgbClr val="E8EEF6"/>
                </a:solidFill>
                <a:latin typeface="Courier New"/>
                <a:ea typeface="Courier New"/>
                <a:cs typeface="Courier New"/>
              </a:rPr>
              <a:t> es </a:t>
            </a:r>
            <a:r>
              <a:rPr sz="1000" dirty="0" err="1">
                <a:solidFill>
                  <a:srgbClr val="E8EEF6"/>
                </a:solidFill>
                <a:latin typeface="Courier New"/>
                <a:ea typeface="Courier New"/>
                <a:cs typeface="Courier New"/>
              </a:rPr>
              <a:t>Pendiente</a:t>
            </a:r>
            <a:endParaRPr sz="1000" dirty="0"/>
          </a:p>
        </p:txBody>
      </p:sp>
      <p:sp>
        <p:nvSpPr>
          <p:cNvPr id="22" name="Shape 20">
            <a:extLst>
              <a:ext uri="{FF2B5EF4-FFF2-40B4-BE49-F238E27FC236}">
                <a16:creationId xmlns:a16="http://schemas.microsoft.com/office/drawing/2014/main" id="{B03FD0CB-F485-45D3-93E7-6EE340995AA8}"/>
              </a:ext>
            </a:extLst>
          </p:cNvPr>
          <p:cNvSpPr>
            <a:spLocks noGrp="1"/>
          </p:cNvSpPr>
          <p:nvPr/>
        </p:nvSpPr>
        <p:spPr>
          <a:xfrm>
            <a:off x="502920" y="3931920"/>
            <a:ext cx="8138160" cy="676656"/>
          </a:xfrm>
          <a:prstGeom prst="roundRect">
            <a:avLst>
              <a:gd name="adj" fmla="val 6757"/>
            </a:avLst>
          </a:prstGeom>
          <a:solidFill>
            <a:srgbClr val="1A2434"/>
          </a:solidFill>
          <a:ln w="12700">
            <a:solidFill>
              <a:srgbClr val="FFB86C"/>
            </a:solidFill>
            <a:prstDash val="solid"/>
          </a:ln>
        </p:spPr>
        <p:txBody>
          <a:bodyPr/>
          <a:lstStyle/>
          <a:p>
            <a:endParaRPr/>
          </a:p>
        </p:txBody>
      </p:sp>
      <p:sp>
        <p:nvSpPr>
          <p:cNvPr id="23" name="Text 21">
            <a:extLst>
              <a:ext uri="{FF2B5EF4-FFF2-40B4-BE49-F238E27FC236}">
                <a16:creationId xmlns:a16="http://schemas.microsoft.com/office/drawing/2014/main" id="{F1E9B550-7DFE-49BE-BB69-C87F34434AA8}"/>
              </a:ext>
            </a:extLst>
          </p:cNvPr>
          <p:cNvSpPr>
            <a:spLocks noGrp="1"/>
          </p:cNvSpPr>
          <p:nvPr/>
        </p:nvSpPr>
        <p:spPr>
          <a:xfrm>
            <a:off x="731520" y="4023360"/>
            <a:ext cx="7680960" cy="201168"/>
          </a:xfrm>
          <a:prstGeom prst="rect">
            <a:avLst/>
          </a:prstGeom>
          <a:noFill/>
        </p:spPr>
        <p:txBody>
          <a:bodyPr wrap="square" lIns="0" tIns="0" rIns="0" bIns="0" anchor="ctr"/>
          <a:lstStyle/>
          <a:p>
            <a:pPr marL="0" indent="0">
              <a:buNone/>
            </a:pPr>
            <a:r>
              <a:rPr sz="1150" b="1">
                <a:solidFill>
                  <a:srgbClr val="FFB86C"/>
                </a:solidFill>
                <a:latin typeface="Arial"/>
                <a:ea typeface="Arial"/>
                <a:cs typeface="Arial"/>
              </a:rPr>
              <a:t>Una clase no es automáticamente una tabla</a:t>
            </a:r>
            <a:endParaRPr sz="1150"/>
          </a:p>
        </p:txBody>
      </p:sp>
      <p:sp>
        <p:nvSpPr>
          <p:cNvPr id="24" name="Text 22">
            <a:extLst>
              <a:ext uri="{FF2B5EF4-FFF2-40B4-BE49-F238E27FC236}">
                <a16:creationId xmlns:a16="http://schemas.microsoft.com/office/drawing/2014/main" id="{008ADC68-24F3-4240-BBBA-C01DE37B233C}"/>
              </a:ext>
            </a:extLst>
          </p:cNvPr>
          <p:cNvSpPr>
            <a:spLocks noGrp="1"/>
          </p:cNvSpPr>
          <p:nvPr/>
        </p:nvSpPr>
        <p:spPr>
          <a:xfrm>
            <a:off x="731520" y="4261104"/>
            <a:ext cx="7680960" cy="274320"/>
          </a:xfrm>
          <a:prstGeom prst="rect">
            <a:avLst/>
          </a:prstGeom>
          <a:noFill/>
        </p:spPr>
        <p:txBody>
          <a:bodyPr wrap="square" lIns="0" tIns="0" rIns="0" bIns="0" anchor="t"/>
          <a:lstStyle/>
          <a:p>
            <a:pPr marL="0" indent="0">
              <a:lnSpc>
                <a:spcPct val="110000"/>
              </a:lnSpc>
              <a:buNone/>
            </a:pPr>
            <a:r>
              <a:rPr sz="1000">
                <a:solidFill>
                  <a:srgbClr val="E8EEF6"/>
                </a:solidFill>
                <a:latin typeface="Calibri"/>
                <a:ea typeface="Calibri"/>
                <a:cs typeface="Calibri"/>
              </a:rPr>
              <a:t>El modelo conceptual describe el dominio; decidir tablas, columnas y tipos es una decisión de implementación que llega en la cuarta actividad. Una clase puede terminar en dos tablas, o dos clases en una sola.</a:t>
            </a:r>
            <a:endParaRPr sz="1000"/>
          </a:p>
        </p:txBody>
      </p:sp>
    </p:spTree>
    <p:extLst>
      <p:ext uri="{BB962C8B-B14F-4D97-AF65-F5344CB8AC3E}">
        <p14:creationId xmlns:p14="http://schemas.microsoft.com/office/powerpoint/2010/main" val="1353137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C312DB3-0300-4FF4-B29E-B93AE30703E4}"/>
              </a:ext>
            </a:extLst>
          </p:cNvPr>
          <p:cNvSpPr>
            <a:spLocks noGrp="1"/>
          </p:cNvSpPr>
          <p:nvPr/>
        </p:nvSpPr>
        <p:spPr>
          <a:xfrm>
            <a:off x="502920" y="365760"/>
            <a:ext cx="175107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F9EA7D7F-D1C7-47C0-9A0C-6895228770B9}"/>
              </a:ext>
            </a:extLst>
          </p:cNvPr>
          <p:cNvSpPr>
            <a:spLocks noGrp="1"/>
          </p:cNvSpPr>
          <p:nvPr/>
        </p:nvSpPr>
        <p:spPr>
          <a:xfrm>
            <a:off x="502920" y="365760"/>
            <a:ext cx="175107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OOHDM · ACTIVIDAD 2</a:t>
            </a:r>
            <a:endParaRPr sz="850"/>
          </a:p>
        </p:txBody>
      </p:sp>
      <p:sp>
        <p:nvSpPr>
          <p:cNvPr id="4" name="Text 2">
            <a:extLst>
              <a:ext uri="{FF2B5EF4-FFF2-40B4-BE49-F238E27FC236}">
                <a16:creationId xmlns:a16="http://schemas.microsoft.com/office/drawing/2014/main" id="{63CD350C-B707-44C0-8A19-B5D0F49239DC}"/>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Diseño navegacional</a:t>
            </a:r>
            <a:endParaRPr sz="2300"/>
          </a:p>
        </p:txBody>
      </p:sp>
      <p:sp>
        <p:nvSpPr>
          <p:cNvPr id="5" name="Text 3">
            <a:extLst>
              <a:ext uri="{FF2B5EF4-FFF2-40B4-BE49-F238E27FC236}">
                <a16:creationId xmlns:a16="http://schemas.microsoft.com/office/drawing/2014/main" id="{576C311A-537E-4BE6-9548-CB5C7AD2B921}"/>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12 / 24</a:t>
            </a:r>
            <a:endParaRPr sz="800"/>
          </a:p>
        </p:txBody>
      </p:sp>
      <p:sp>
        <p:nvSpPr>
          <p:cNvPr id="6" name="Text 4">
            <a:extLst>
              <a:ext uri="{FF2B5EF4-FFF2-40B4-BE49-F238E27FC236}">
                <a16:creationId xmlns:a16="http://schemas.microsoft.com/office/drawing/2014/main" id="{098BBD3C-2211-40C0-883E-D09206AA14AA}"/>
              </a:ext>
            </a:extLst>
          </p:cNvPr>
          <p:cNvSpPr>
            <a:spLocks noGrp="1"/>
          </p:cNvSpPr>
          <p:nvPr/>
        </p:nvSpPr>
        <p:spPr>
          <a:xfrm>
            <a:off x="521208" y="1115568"/>
            <a:ext cx="8101584" cy="274320"/>
          </a:xfrm>
          <a:prstGeom prst="rect">
            <a:avLst/>
          </a:prstGeom>
          <a:noFill/>
        </p:spPr>
        <p:txBody>
          <a:bodyPr wrap="square" lIns="0" tIns="0" rIns="0" bIns="0" anchor="ctr"/>
          <a:lstStyle/>
          <a:p>
            <a:pPr marL="0" indent="0">
              <a:buNone/>
            </a:pPr>
            <a:r>
              <a:rPr sz="1000">
                <a:solidFill>
                  <a:srgbClr val="93A5BD"/>
                </a:solidFill>
                <a:latin typeface="Calibri"/>
                <a:ea typeface="Calibri"/>
                <a:cs typeface="Calibri"/>
              </a:rPr>
              <a:t>Qué representa: la vista que el usuario recibe del modelo conceptual y el camino que sigue para completar su tarea. Producto: un esquema de nodos, enlaces y estructuras de acceso.</a:t>
            </a:r>
            <a:endParaRPr sz="1000"/>
          </a:p>
        </p:txBody>
      </p:sp>
      <p:sp>
        <p:nvSpPr>
          <p:cNvPr id="7" name="Shape 5">
            <a:extLst>
              <a:ext uri="{FF2B5EF4-FFF2-40B4-BE49-F238E27FC236}">
                <a16:creationId xmlns:a16="http://schemas.microsoft.com/office/drawing/2014/main" id="{3DE35F49-99AD-4541-94B1-CF9E2C3BF10C}"/>
              </a:ext>
            </a:extLst>
          </p:cNvPr>
          <p:cNvSpPr>
            <a:spLocks noGrp="1"/>
          </p:cNvSpPr>
          <p:nvPr/>
        </p:nvSpPr>
        <p:spPr>
          <a:xfrm>
            <a:off x="502920" y="1463040"/>
            <a:ext cx="2615184" cy="1133856"/>
          </a:xfrm>
          <a:prstGeom prst="roundRect">
            <a:avLst>
              <a:gd name="adj" fmla="val 4032"/>
            </a:avLst>
          </a:prstGeom>
          <a:solidFill>
            <a:srgbClr val="1A2434"/>
          </a:solidFill>
          <a:ln w="12700">
            <a:solidFill>
              <a:srgbClr val="3DDC97"/>
            </a:solidFill>
            <a:prstDash val="solid"/>
          </a:ln>
        </p:spPr>
        <p:txBody>
          <a:bodyPr/>
          <a:lstStyle/>
          <a:p>
            <a:endParaRPr/>
          </a:p>
        </p:txBody>
      </p:sp>
      <p:sp>
        <p:nvSpPr>
          <p:cNvPr id="8" name="Text 6">
            <a:extLst>
              <a:ext uri="{FF2B5EF4-FFF2-40B4-BE49-F238E27FC236}">
                <a16:creationId xmlns:a16="http://schemas.microsoft.com/office/drawing/2014/main" id="{86E049B2-CF15-47D5-9CD2-5AC78F403472}"/>
              </a:ext>
            </a:extLst>
          </p:cNvPr>
          <p:cNvSpPr>
            <a:spLocks noGrp="1"/>
          </p:cNvSpPr>
          <p:nvPr/>
        </p:nvSpPr>
        <p:spPr>
          <a:xfrm>
            <a:off x="649224" y="1581912"/>
            <a:ext cx="2322576" cy="237744"/>
          </a:xfrm>
          <a:prstGeom prst="rect">
            <a:avLst/>
          </a:prstGeom>
          <a:noFill/>
        </p:spPr>
        <p:txBody>
          <a:bodyPr wrap="square" lIns="0" tIns="0" rIns="0" bIns="0" anchor="ctr"/>
          <a:lstStyle/>
          <a:p>
            <a:pPr marL="0" indent="0">
              <a:buNone/>
            </a:pPr>
            <a:r>
              <a:rPr sz="1100" b="1">
                <a:solidFill>
                  <a:srgbClr val="3DDC97"/>
                </a:solidFill>
                <a:latin typeface="Arial"/>
                <a:ea typeface="Arial"/>
                <a:cs typeface="Arial"/>
              </a:rPr>
              <a:t>Nodo</a:t>
            </a:r>
            <a:endParaRPr sz="1100"/>
          </a:p>
        </p:txBody>
      </p:sp>
      <p:sp>
        <p:nvSpPr>
          <p:cNvPr id="9" name="Text 7">
            <a:extLst>
              <a:ext uri="{FF2B5EF4-FFF2-40B4-BE49-F238E27FC236}">
                <a16:creationId xmlns:a16="http://schemas.microsoft.com/office/drawing/2014/main" id="{F75FAC61-09B6-4C51-B8E5-0556A20C3DA9}"/>
              </a:ext>
            </a:extLst>
          </p:cNvPr>
          <p:cNvSpPr>
            <a:spLocks noGrp="1"/>
          </p:cNvSpPr>
          <p:nvPr/>
        </p:nvSpPr>
        <p:spPr>
          <a:xfrm>
            <a:off x="649224" y="1856232"/>
            <a:ext cx="2322576" cy="630936"/>
          </a:xfrm>
          <a:prstGeom prst="rect">
            <a:avLst/>
          </a:prstGeom>
          <a:noFill/>
        </p:spPr>
        <p:txBody>
          <a:bodyPr wrap="square" lIns="0" tIns="0" rIns="0" bIns="0" anchor="t"/>
          <a:lstStyle/>
          <a:p>
            <a:pPr marL="0" indent="0">
              <a:lnSpc>
                <a:spcPct val="112000"/>
              </a:lnSpc>
              <a:buNone/>
            </a:pPr>
            <a:r>
              <a:rPr sz="900">
                <a:solidFill>
                  <a:srgbClr val="E8EEF6"/>
                </a:solidFill>
                <a:latin typeface="Calibri"/>
                <a:ea typeface="Calibri"/>
                <a:cs typeface="Calibri"/>
              </a:rPr>
              <a:t>Unidad de información que el usuario percibe como una sola vista. No coincide necesariamente con una clase: puede combinar datos de varias.</a:t>
            </a:r>
            <a:endParaRPr sz="900"/>
          </a:p>
        </p:txBody>
      </p:sp>
      <p:sp>
        <p:nvSpPr>
          <p:cNvPr id="10" name="Shape 8">
            <a:extLst>
              <a:ext uri="{FF2B5EF4-FFF2-40B4-BE49-F238E27FC236}">
                <a16:creationId xmlns:a16="http://schemas.microsoft.com/office/drawing/2014/main" id="{80C81C83-4626-410C-AFCE-139E8983EFF9}"/>
              </a:ext>
            </a:extLst>
          </p:cNvPr>
          <p:cNvSpPr>
            <a:spLocks noGrp="1"/>
          </p:cNvSpPr>
          <p:nvPr/>
        </p:nvSpPr>
        <p:spPr>
          <a:xfrm>
            <a:off x="3264408" y="1463040"/>
            <a:ext cx="2615184" cy="1133856"/>
          </a:xfrm>
          <a:prstGeom prst="roundRect">
            <a:avLst>
              <a:gd name="adj" fmla="val 4032"/>
            </a:avLst>
          </a:prstGeom>
          <a:solidFill>
            <a:srgbClr val="1A2434"/>
          </a:solidFill>
          <a:ln w="12700">
            <a:solidFill>
              <a:srgbClr val="56C7F2"/>
            </a:solidFill>
            <a:prstDash val="solid"/>
          </a:ln>
        </p:spPr>
        <p:txBody>
          <a:bodyPr/>
          <a:lstStyle/>
          <a:p>
            <a:endParaRPr/>
          </a:p>
        </p:txBody>
      </p:sp>
      <p:sp>
        <p:nvSpPr>
          <p:cNvPr id="11" name="Text 9">
            <a:extLst>
              <a:ext uri="{FF2B5EF4-FFF2-40B4-BE49-F238E27FC236}">
                <a16:creationId xmlns:a16="http://schemas.microsoft.com/office/drawing/2014/main" id="{52BFD9A1-E79C-44E7-82F8-614A66E482F3}"/>
              </a:ext>
            </a:extLst>
          </p:cNvPr>
          <p:cNvSpPr>
            <a:spLocks noGrp="1"/>
          </p:cNvSpPr>
          <p:nvPr/>
        </p:nvSpPr>
        <p:spPr>
          <a:xfrm>
            <a:off x="3410712" y="1581912"/>
            <a:ext cx="2322576" cy="237744"/>
          </a:xfrm>
          <a:prstGeom prst="rect">
            <a:avLst/>
          </a:prstGeom>
          <a:noFill/>
        </p:spPr>
        <p:txBody>
          <a:bodyPr wrap="square" lIns="0" tIns="0" rIns="0" bIns="0" anchor="ctr"/>
          <a:lstStyle/>
          <a:p>
            <a:pPr marL="0" indent="0">
              <a:buNone/>
            </a:pPr>
            <a:r>
              <a:rPr sz="1100" b="1">
                <a:solidFill>
                  <a:srgbClr val="56C7F2"/>
                </a:solidFill>
                <a:latin typeface="Arial"/>
                <a:ea typeface="Arial"/>
                <a:cs typeface="Arial"/>
              </a:rPr>
              <a:t>Enlace</a:t>
            </a:r>
            <a:endParaRPr sz="1100"/>
          </a:p>
        </p:txBody>
      </p:sp>
      <p:sp>
        <p:nvSpPr>
          <p:cNvPr id="12" name="Text 10">
            <a:extLst>
              <a:ext uri="{FF2B5EF4-FFF2-40B4-BE49-F238E27FC236}">
                <a16:creationId xmlns:a16="http://schemas.microsoft.com/office/drawing/2014/main" id="{4FEACA62-0E1D-4634-9DD0-F84CF9781A6C}"/>
              </a:ext>
            </a:extLst>
          </p:cNvPr>
          <p:cNvSpPr>
            <a:spLocks noGrp="1"/>
          </p:cNvSpPr>
          <p:nvPr/>
        </p:nvSpPr>
        <p:spPr>
          <a:xfrm>
            <a:off x="3410712" y="1856232"/>
            <a:ext cx="2322576" cy="630936"/>
          </a:xfrm>
          <a:prstGeom prst="rect">
            <a:avLst/>
          </a:prstGeom>
          <a:noFill/>
        </p:spPr>
        <p:txBody>
          <a:bodyPr wrap="square" lIns="0" tIns="0" rIns="0" bIns="0" anchor="t"/>
          <a:lstStyle/>
          <a:p>
            <a:pPr marL="0" indent="0">
              <a:lnSpc>
                <a:spcPct val="112000"/>
              </a:lnSpc>
              <a:buNone/>
            </a:pPr>
            <a:r>
              <a:rPr sz="900">
                <a:solidFill>
                  <a:srgbClr val="E8EEF6"/>
                </a:solidFill>
                <a:latin typeface="Calibri"/>
                <a:ea typeface="Calibri"/>
                <a:cs typeface="Calibri"/>
              </a:rPr>
              <a:t>Paso posible de un nodo a otro, con un significado: «ver el detalle», «crear una solicitud para este cliente».</a:t>
            </a:r>
            <a:endParaRPr sz="900"/>
          </a:p>
        </p:txBody>
      </p:sp>
      <p:sp>
        <p:nvSpPr>
          <p:cNvPr id="13" name="Shape 11">
            <a:extLst>
              <a:ext uri="{FF2B5EF4-FFF2-40B4-BE49-F238E27FC236}">
                <a16:creationId xmlns:a16="http://schemas.microsoft.com/office/drawing/2014/main" id="{888C51F6-F295-489B-8750-13AC7D83D507}"/>
              </a:ext>
            </a:extLst>
          </p:cNvPr>
          <p:cNvSpPr>
            <a:spLocks noGrp="1"/>
          </p:cNvSpPr>
          <p:nvPr/>
        </p:nvSpPr>
        <p:spPr>
          <a:xfrm>
            <a:off x="6025896" y="1463040"/>
            <a:ext cx="2615184" cy="1133856"/>
          </a:xfrm>
          <a:prstGeom prst="roundRect">
            <a:avLst>
              <a:gd name="adj" fmla="val 4032"/>
            </a:avLst>
          </a:prstGeom>
          <a:solidFill>
            <a:srgbClr val="1A2434"/>
          </a:solidFill>
          <a:ln w="12700">
            <a:solidFill>
              <a:srgbClr val="FFB86C"/>
            </a:solidFill>
            <a:prstDash val="solid"/>
          </a:ln>
        </p:spPr>
        <p:txBody>
          <a:bodyPr/>
          <a:lstStyle/>
          <a:p>
            <a:endParaRPr/>
          </a:p>
        </p:txBody>
      </p:sp>
      <p:sp>
        <p:nvSpPr>
          <p:cNvPr id="14" name="Text 12">
            <a:extLst>
              <a:ext uri="{FF2B5EF4-FFF2-40B4-BE49-F238E27FC236}">
                <a16:creationId xmlns:a16="http://schemas.microsoft.com/office/drawing/2014/main" id="{48BA98D9-DC5B-4F08-972D-0E4F5E05E704}"/>
              </a:ext>
            </a:extLst>
          </p:cNvPr>
          <p:cNvSpPr>
            <a:spLocks noGrp="1"/>
          </p:cNvSpPr>
          <p:nvPr/>
        </p:nvSpPr>
        <p:spPr>
          <a:xfrm>
            <a:off x="6172200" y="1581912"/>
            <a:ext cx="2322576" cy="237744"/>
          </a:xfrm>
          <a:prstGeom prst="rect">
            <a:avLst/>
          </a:prstGeom>
          <a:noFill/>
        </p:spPr>
        <p:txBody>
          <a:bodyPr wrap="square" lIns="0" tIns="0" rIns="0" bIns="0" anchor="ctr"/>
          <a:lstStyle/>
          <a:p>
            <a:pPr marL="0" indent="0">
              <a:buNone/>
            </a:pPr>
            <a:r>
              <a:rPr sz="1100" b="1">
                <a:solidFill>
                  <a:srgbClr val="FFB86C"/>
                </a:solidFill>
                <a:latin typeface="Arial"/>
                <a:ea typeface="Arial"/>
                <a:cs typeface="Arial"/>
              </a:rPr>
              <a:t>Estructura de acceso</a:t>
            </a:r>
            <a:endParaRPr sz="1100"/>
          </a:p>
        </p:txBody>
      </p:sp>
      <p:sp>
        <p:nvSpPr>
          <p:cNvPr id="15" name="Text 13">
            <a:extLst>
              <a:ext uri="{FF2B5EF4-FFF2-40B4-BE49-F238E27FC236}">
                <a16:creationId xmlns:a16="http://schemas.microsoft.com/office/drawing/2014/main" id="{00331B5D-E591-400D-8F3E-3C354D557A1C}"/>
              </a:ext>
            </a:extLst>
          </p:cNvPr>
          <p:cNvSpPr>
            <a:spLocks noGrp="1"/>
          </p:cNvSpPr>
          <p:nvPr/>
        </p:nvSpPr>
        <p:spPr>
          <a:xfrm>
            <a:off x="6172200" y="1856232"/>
            <a:ext cx="2322576" cy="630936"/>
          </a:xfrm>
          <a:prstGeom prst="rect">
            <a:avLst/>
          </a:prstGeom>
          <a:noFill/>
        </p:spPr>
        <p:txBody>
          <a:bodyPr wrap="square" lIns="0" tIns="0" rIns="0" bIns="0" anchor="t"/>
          <a:lstStyle/>
          <a:p>
            <a:pPr marL="0" indent="0">
              <a:lnSpc>
                <a:spcPct val="112000"/>
              </a:lnSpc>
              <a:buNone/>
            </a:pPr>
            <a:r>
              <a:rPr sz="900">
                <a:solidFill>
                  <a:srgbClr val="E8EEF6"/>
                </a:solidFill>
                <a:latin typeface="Calibri"/>
                <a:ea typeface="Calibri"/>
                <a:cs typeface="Calibri"/>
              </a:rPr>
              <a:t>Punto de entrada que permite encontrar un nodo: un índice, un listado, un buscador, un recorrido guiado.</a:t>
            </a:r>
            <a:endParaRPr sz="900"/>
          </a:p>
        </p:txBody>
      </p:sp>
      <p:sp>
        <p:nvSpPr>
          <p:cNvPr id="16" name="Text 14">
            <a:extLst>
              <a:ext uri="{FF2B5EF4-FFF2-40B4-BE49-F238E27FC236}">
                <a16:creationId xmlns:a16="http://schemas.microsoft.com/office/drawing/2014/main" id="{4CFE51CA-0C7A-444D-BE85-80232FE5F4AC}"/>
              </a:ext>
            </a:extLst>
          </p:cNvPr>
          <p:cNvSpPr>
            <a:spLocks noGrp="1"/>
          </p:cNvSpPr>
          <p:nvPr/>
        </p:nvSpPr>
        <p:spPr>
          <a:xfrm>
            <a:off x="502920" y="2743200"/>
            <a:ext cx="8138160" cy="182880"/>
          </a:xfrm>
          <a:prstGeom prst="rect">
            <a:avLst/>
          </a:prstGeom>
          <a:noFill/>
        </p:spPr>
        <p:txBody>
          <a:bodyPr wrap="square" lIns="0" tIns="0" rIns="0" bIns="0" anchor="ctr"/>
          <a:lstStyle/>
          <a:p>
            <a:pPr marL="0" indent="0">
              <a:buNone/>
            </a:pPr>
            <a:r>
              <a:rPr sz="850" b="1">
                <a:solidFill>
                  <a:srgbClr val="6C7E96"/>
                </a:solidFill>
                <a:latin typeface="Arial"/>
                <a:ea typeface="Arial"/>
                <a:cs typeface="Arial"/>
              </a:rPr>
              <a:t>Esquema navegacional del ejemplo de hoy</a:t>
            </a:r>
            <a:endParaRPr sz="850"/>
          </a:p>
        </p:txBody>
      </p:sp>
      <p:sp>
        <p:nvSpPr>
          <p:cNvPr id="17" name="Shape 15">
            <a:extLst>
              <a:ext uri="{FF2B5EF4-FFF2-40B4-BE49-F238E27FC236}">
                <a16:creationId xmlns:a16="http://schemas.microsoft.com/office/drawing/2014/main" id="{F5276C8D-51A8-4F33-96AB-515461CCEEF6}"/>
              </a:ext>
            </a:extLst>
          </p:cNvPr>
          <p:cNvSpPr>
            <a:spLocks noGrp="1"/>
          </p:cNvSpPr>
          <p:nvPr/>
        </p:nvSpPr>
        <p:spPr>
          <a:xfrm>
            <a:off x="502920" y="2980944"/>
            <a:ext cx="1874520" cy="420624"/>
          </a:xfrm>
          <a:prstGeom prst="roundRect">
            <a:avLst>
              <a:gd name="adj" fmla="val 21739"/>
            </a:avLst>
          </a:prstGeom>
          <a:solidFill>
            <a:srgbClr val="1A2434"/>
          </a:solidFill>
          <a:ln w="12700">
            <a:solidFill>
              <a:srgbClr val="FFB86C"/>
            </a:solidFill>
            <a:prstDash val="solid"/>
          </a:ln>
        </p:spPr>
        <p:txBody>
          <a:bodyPr/>
          <a:lstStyle/>
          <a:p>
            <a:endParaRPr/>
          </a:p>
        </p:txBody>
      </p:sp>
      <p:sp>
        <p:nvSpPr>
          <p:cNvPr id="18" name="Text 16">
            <a:extLst>
              <a:ext uri="{FF2B5EF4-FFF2-40B4-BE49-F238E27FC236}">
                <a16:creationId xmlns:a16="http://schemas.microsoft.com/office/drawing/2014/main" id="{9F209C04-282A-478B-968F-41820FFD5CB3}"/>
              </a:ext>
            </a:extLst>
          </p:cNvPr>
          <p:cNvSpPr>
            <a:spLocks noGrp="1"/>
          </p:cNvSpPr>
          <p:nvPr/>
        </p:nvSpPr>
        <p:spPr>
          <a:xfrm>
            <a:off x="502920" y="2980944"/>
            <a:ext cx="1874520" cy="420624"/>
          </a:xfrm>
          <a:prstGeom prst="rect">
            <a:avLst/>
          </a:prstGeom>
          <a:noFill/>
        </p:spPr>
        <p:txBody>
          <a:bodyPr wrap="square" lIns="0" tIns="0" rIns="0" bIns="0" anchor="ctr"/>
          <a:lstStyle/>
          <a:p>
            <a:pPr marL="0" indent="0" algn="ctr">
              <a:buNone/>
            </a:pPr>
            <a:r>
              <a:rPr sz="900" b="1">
                <a:solidFill>
                  <a:srgbClr val="FFB86C"/>
                </a:solidFill>
                <a:latin typeface="Arial"/>
                <a:ea typeface="Arial"/>
                <a:cs typeface="Arial"/>
              </a:rPr>
              <a:t>Índice de clientes</a:t>
            </a:r>
            <a:endParaRPr sz="900"/>
          </a:p>
        </p:txBody>
      </p:sp>
      <p:sp>
        <p:nvSpPr>
          <p:cNvPr id="19" name="Shape 17">
            <a:extLst>
              <a:ext uri="{FF2B5EF4-FFF2-40B4-BE49-F238E27FC236}">
                <a16:creationId xmlns:a16="http://schemas.microsoft.com/office/drawing/2014/main" id="{15289913-C765-4589-A61D-EE8AFB15BEA6}"/>
              </a:ext>
            </a:extLst>
          </p:cNvPr>
          <p:cNvSpPr>
            <a:spLocks noGrp="1"/>
          </p:cNvSpPr>
          <p:nvPr/>
        </p:nvSpPr>
        <p:spPr>
          <a:xfrm>
            <a:off x="2423160" y="3191256"/>
            <a:ext cx="128016" cy="0"/>
          </a:xfrm>
          <a:prstGeom prst="line">
            <a:avLst/>
          </a:prstGeom>
          <a:noFill/>
          <a:ln w="15875">
            <a:solidFill>
              <a:srgbClr val="6C7E96"/>
            </a:solidFill>
            <a:prstDash val="solid"/>
            <a:tailEnd type="triangle"/>
          </a:ln>
        </p:spPr>
        <p:txBody>
          <a:bodyPr/>
          <a:lstStyle/>
          <a:p>
            <a:endParaRPr/>
          </a:p>
        </p:txBody>
      </p:sp>
      <p:sp>
        <p:nvSpPr>
          <p:cNvPr id="20" name="Shape 18">
            <a:extLst>
              <a:ext uri="{FF2B5EF4-FFF2-40B4-BE49-F238E27FC236}">
                <a16:creationId xmlns:a16="http://schemas.microsoft.com/office/drawing/2014/main" id="{13FCE05C-6479-4054-AD48-53F0E5B00644}"/>
              </a:ext>
            </a:extLst>
          </p:cNvPr>
          <p:cNvSpPr>
            <a:spLocks noGrp="1"/>
          </p:cNvSpPr>
          <p:nvPr/>
        </p:nvSpPr>
        <p:spPr>
          <a:xfrm>
            <a:off x="2587752" y="2980944"/>
            <a:ext cx="1874520" cy="420624"/>
          </a:xfrm>
          <a:prstGeom prst="roundRect">
            <a:avLst>
              <a:gd name="adj" fmla="val 21739"/>
            </a:avLst>
          </a:prstGeom>
          <a:solidFill>
            <a:srgbClr val="1A2434"/>
          </a:solidFill>
          <a:ln w="12700">
            <a:solidFill>
              <a:srgbClr val="3DDC97"/>
            </a:solidFill>
            <a:prstDash val="solid"/>
          </a:ln>
        </p:spPr>
        <p:txBody>
          <a:bodyPr/>
          <a:lstStyle/>
          <a:p>
            <a:endParaRPr/>
          </a:p>
        </p:txBody>
      </p:sp>
      <p:sp>
        <p:nvSpPr>
          <p:cNvPr id="21" name="Text 19">
            <a:extLst>
              <a:ext uri="{FF2B5EF4-FFF2-40B4-BE49-F238E27FC236}">
                <a16:creationId xmlns:a16="http://schemas.microsoft.com/office/drawing/2014/main" id="{B042AD94-3E3F-4F27-B1CD-39C65559E70B}"/>
              </a:ext>
            </a:extLst>
          </p:cNvPr>
          <p:cNvSpPr>
            <a:spLocks noGrp="1"/>
          </p:cNvSpPr>
          <p:nvPr/>
        </p:nvSpPr>
        <p:spPr>
          <a:xfrm>
            <a:off x="2587752" y="2980944"/>
            <a:ext cx="1874520" cy="420624"/>
          </a:xfrm>
          <a:prstGeom prst="rect">
            <a:avLst/>
          </a:prstGeom>
          <a:noFill/>
        </p:spPr>
        <p:txBody>
          <a:bodyPr wrap="square" lIns="0" tIns="0" rIns="0" bIns="0" anchor="ctr"/>
          <a:lstStyle/>
          <a:p>
            <a:pPr marL="0" indent="0" algn="ctr">
              <a:buNone/>
            </a:pPr>
            <a:r>
              <a:rPr sz="900" b="1">
                <a:solidFill>
                  <a:srgbClr val="3DDC97"/>
                </a:solidFill>
                <a:latin typeface="Arial"/>
                <a:ea typeface="Arial"/>
                <a:cs typeface="Arial"/>
              </a:rPr>
              <a:t>Detalle del cliente</a:t>
            </a:r>
            <a:endParaRPr sz="900"/>
          </a:p>
        </p:txBody>
      </p:sp>
      <p:sp>
        <p:nvSpPr>
          <p:cNvPr id="22" name="Shape 20">
            <a:extLst>
              <a:ext uri="{FF2B5EF4-FFF2-40B4-BE49-F238E27FC236}">
                <a16:creationId xmlns:a16="http://schemas.microsoft.com/office/drawing/2014/main" id="{FF0215A7-38C6-4C56-B530-883AE037AA49}"/>
              </a:ext>
            </a:extLst>
          </p:cNvPr>
          <p:cNvSpPr>
            <a:spLocks noGrp="1"/>
          </p:cNvSpPr>
          <p:nvPr/>
        </p:nvSpPr>
        <p:spPr>
          <a:xfrm>
            <a:off x="4507992" y="3191256"/>
            <a:ext cx="128016" cy="0"/>
          </a:xfrm>
          <a:prstGeom prst="line">
            <a:avLst/>
          </a:prstGeom>
          <a:noFill/>
          <a:ln w="15875">
            <a:solidFill>
              <a:srgbClr val="6C7E96"/>
            </a:solidFill>
            <a:prstDash val="solid"/>
            <a:tailEnd type="triangle"/>
          </a:ln>
        </p:spPr>
        <p:txBody>
          <a:bodyPr/>
          <a:lstStyle/>
          <a:p>
            <a:endParaRPr/>
          </a:p>
        </p:txBody>
      </p:sp>
      <p:sp>
        <p:nvSpPr>
          <p:cNvPr id="23" name="Shape 21">
            <a:extLst>
              <a:ext uri="{FF2B5EF4-FFF2-40B4-BE49-F238E27FC236}">
                <a16:creationId xmlns:a16="http://schemas.microsoft.com/office/drawing/2014/main" id="{3844B98F-6653-4510-B89D-6C2596A75E5C}"/>
              </a:ext>
            </a:extLst>
          </p:cNvPr>
          <p:cNvSpPr>
            <a:spLocks noGrp="1"/>
          </p:cNvSpPr>
          <p:nvPr/>
        </p:nvSpPr>
        <p:spPr>
          <a:xfrm>
            <a:off x="4672584" y="2980944"/>
            <a:ext cx="1874520" cy="420624"/>
          </a:xfrm>
          <a:prstGeom prst="roundRect">
            <a:avLst>
              <a:gd name="adj" fmla="val 21739"/>
            </a:avLst>
          </a:prstGeom>
          <a:solidFill>
            <a:srgbClr val="1A2434"/>
          </a:solidFill>
          <a:ln w="12700">
            <a:solidFill>
              <a:srgbClr val="56C7F2"/>
            </a:solidFill>
            <a:prstDash val="solid"/>
          </a:ln>
        </p:spPr>
        <p:txBody>
          <a:bodyPr/>
          <a:lstStyle/>
          <a:p>
            <a:endParaRPr/>
          </a:p>
        </p:txBody>
      </p:sp>
      <p:sp>
        <p:nvSpPr>
          <p:cNvPr id="24" name="Text 22">
            <a:extLst>
              <a:ext uri="{FF2B5EF4-FFF2-40B4-BE49-F238E27FC236}">
                <a16:creationId xmlns:a16="http://schemas.microsoft.com/office/drawing/2014/main" id="{BB7C93B6-A0C2-4597-9218-C17AC2BEA182}"/>
              </a:ext>
            </a:extLst>
          </p:cNvPr>
          <p:cNvSpPr>
            <a:spLocks noGrp="1"/>
          </p:cNvSpPr>
          <p:nvPr/>
        </p:nvSpPr>
        <p:spPr>
          <a:xfrm>
            <a:off x="4672584" y="2980944"/>
            <a:ext cx="1874520" cy="420624"/>
          </a:xfrm>
          <a:prstGeom prst="rect">
            <a:avLst/>
          </a:prstGeom>
          <a:noFill/>
        </p:spPr>
        <p:txBody>
          <a:bodyPr wrap="square" lIns="0" tIns="0" rIns="0" bIns="0" anchor="ctr"/>
          <a:lstStyle/>
          <a:p>
            <a:pPr marL="0" indent="0" algn="ctr">
              <a:buNone/>
            </a:pPr>
            <a:r>
              <a:rPr sz="900" b="1">
                <a:solidFill>
                  <a:srgbClr val="56C7F2"/>
                </a:solidFill>
                <a:latin typeface="Arial"/>
                <a:ea typeface="Arial"/>
                <a:cs typeface="Arial"/>
              </a:rPr>
              <a:t>Nueva solicitud</a:t>
            </a:r>
            <a:endParaRPr sz="900"/>
          </a:p>
        </p:txBody>
      </p:sp>
      <p:sp>
        <p:nvSpPr>
          <p:cNvPr id="25" name="Shape 23">
            <a:extLst>
              <a:ext uri="{FF2B5EF4-FFF2-40B4-BE49-F238E27FC236}">
                <a16:creationId xmlns:a16="http://schemas.microsoft.com/office/drawing/2014/main" id="{43CEFF5A-AEA4-4A87-AF96-349BD99AEB4A}"/>
              </a:ext>
            </a:extLst>
          </p:cNvPr>
          <p:cNvSpPr>
            <a:spLocks noGrp="1"/>
          </p:cNvSpPr>
          <p:nvPr/>
        </p:nvSpPr>
        <p:spPr>
          <a:xfrm>
            <a:off x="6592824" y="3191256"/>
            <a:ext cx="128016" cy="0"/>
          </a:xfrm>
          <a:prstGeom prst="line">
            <a:avLst/>
          </a:prstGeom>
          <a:noFill/>
          <a:ln w="15875">
            <a:solidFill>
              <a:srgbClr val="6C7E96"/>
            </a:solidFill>
            <a:prstDash val="solid"/>
            <a:tailEnd type="triangle"/>
          </a:ln>
        </p:spPr>
        <p:txBody>
          <a:bodyPr/>
          <a:lstStyle/>
          <a:p>
            <a:endParaRPr/>
          </a:p>
        </p:txBody>
      </p:sp>
      <p:sp>
        <p:nvSpPr>
          <p:cNvPr id="26" name="Shape 24">
            <a:extLst>
              <a:ext uri="{FF2B5EF4-FFF2-40B4-BE49-F238E27FC236}">
                <a16:creationId xmlns:a16="http://schemas.microsoft.com/office/drawing/2014/main" id="{6019FC75-1640-4AF7-88BA-4A8204711C0F}"/>
              </a:ext>
            </a:extLst>
          </p:cNvPr>
          <p:cNvSpPr>
            <a:spLocks noGrp="1"/>
          </p:cNvSpPr>
          <p:nvPr/>
        </p:nvSpPr>
        <p:spPr>
          <a:xfrm>
            <a:off x="6757416" y="2980944"/>
            <a:ext cx="1874520" cy="420624"/>
          </a:xfrm>
          <a:prstGeom prst="roundRect">
            <a:avLst>
              <a:gd name="adj" fmla="val 21739"/>
            </a:avLst>
          </a:prstGeom>
          <a:solidFill>
            <a:srgbClr val="1A2434"/>
          </a:solidFill>
          <a:ln w="12700">
            <a:solidFill>
              <a:srgbClr val="3DDC97"/>
            </a:solidFill>
            <a:prstDash val="solid"/>
          </a:ln>
        </p:spPr>
        <p:txBody>
          <a:bodyPr/>
          <a:lstStyle/>
          <a:p>
            <a:endParaRPr/>
          </a:p>
        </p:txBody>
      </p:sp>
      <p:sp>
        <p:nvSpPr>
          <p:cNvPr id="27" name="Text 25">
            <a:extLst>
              <a:ext uri="{FF2B5EF4-FFF2-40B4-BE49-F238E27FC236}">
                <a16:creationId xmlns:a16="http://schemas.microsoft.com/office/drawing/2014/main" id="{9B1F9761-3FF3-4653-99D2-4519A11019ED}"/>
              </a:ext>
            </a:extLst>
          </p:cNvPr>
          <p:cNvSpPr>
            <a:spLocks noGrp="1"/>
          </p:cNvSpPr>
          <p:nvPr/>
        </p:nvSpPr>
        <p:spPr>
          <a:xfrm>
            <a:off x="6757416" y="2980944"/>
            <a:ext cx="1874520" cy="420624"/>
          </a:xfrm>
          <a:prstGeom prst="rect">
            <a:avLst/>
          </a:prstGeom>
          <a:noFill/>
        </p:spPr>
        <p:txBody>
          <a:bodyPr wrap="square" lIns="0" tIns="0" rIns="0" bIns="0" anchor="ctr"/>
          <a:lstStyle/>
          <a:p>
            <a:pPr marL="0" indent="0" algn="ctr">
              <a:buNone/>
            </a:pPr>
            <a:r>
              <a:rPr sz="900" b="1">
                <a:solidFill>
                  <a:srgbClr val="3DDC97"/>
                </a:solidFill>
                <a:latin typeface="Arial"/>
                <a:ea typeface="Arial"/>
                <a:cs typeface="Arial"/>
              </a:rPr>
              <a:t>Confirmación</a:t>
            </a:r>
            <a:endParaRPr sz="900"/>
          </a:p>
        </p:txBody>
      </p:sp>
      <p:sp>
        <p:nvSpPr>
          <p:cNvPr id="28" name="Text 26">
            <a:extLst>
              <a:ext uri="{FF2B5EF4-FFF2-40B4-BE49-F238E27FC236}">
                <a16:creationId xmlns:a16="http://schemas.microsoft.com/office/drawing/2014/main" id="{FEA204CE-A9C7-4B79-8D76-FC5B23EEC7B2}"/>
              </a:ext>
            </a:extLst>
          </p:cNvPr>
          <p:cNvSpPr>
            <a:spLocks noGrp="1"/>
          </p:cNvSpPr>
          <p:nvPr/>
        </p:nvSpPr>
        <p:spPr>
          <a:xfrm>
            <a:off x="502920" y="3438144"/>
            <a:ext cx="1874520" cy="164592"/>
          </a:xfrm>
          <a:prstGeom prst="rect">
            <a:avLst/>
          </a:prstGeom>
          <a:noFill/>
        </p:spPr>
        <p:txBody>
          <a:bodyPr wrap="square" lIns="0" tIns="0" rIns="0" bIns="0" anchor="ctr"/>
          <a:lstStyle/>
          <a:p>
            <a:pPr marL="0" indent="0" algn="ctr">
              <a:buNone/>
            </a:pPr>
            <a:r>
              <a:rPr sz="750" i="1">
                <a:solidFill>
                  <a:srgbClr val="6C7E96"/>
                </a:solidFill>
                <a:latin typeface="Calibri"/>
                <a:ea typeface="Calibri"/>
                <a:cs typeface="Calibri"/>
              </a:rPr>
              <a:t>estructura de acceso</a:t>
            </a:r>
            <a:endParaRPr sz="750"/>
          </a:p>
        </p:txBody>
      </p:sp>
      <p:sp>
        <p:nvSpPr>
          <p:cNvPr id="29" name="Text 27">
            <a:extLst>
              <a:ext uri="{FF2B5EF4-FFF2-40B4-BE49-F238E27FC236}">
                <a16:creationId xmlns:a16="http://schemas.microsoft.com/office/drawing/2014/main" id="{AE78438E-4A09-40BB-AA2E-3591A36E32AC}"/>
              </a:ext>
            </a:extLst>
          </p:cNvPr>
          <p:cNvSpPr>
            <a:spLocks noGrp="1"/>
          </p:cNvSpPr>
          <p:nvPr/>
        </p:nvSpPr>
        <p:spPr>
          <a:xfrm>
            <a:off x="2587752" y="3438144"/>
            <a:ext cx="4114800" cy="164592"/>
          </a:xfrm>
          <a:prstGeom prst="rect">
            <a:avLst/>
          </a:prstGeom>
          <a:noFill/>
        </p:spPr>
        <p:txBody>
          <a:bodyPr wrap="square" lIns="0" tIns="0" rIns="0" bIns="0" anchor="ctr"/>
          <a:lstStyle/>
          <a:p>
            <a:pPr marL="0" indent="0" algn="ctr">
              <a:buNone/>
            </a:pPr>
            <a:r>
              <a:rPr sz="750" i="1">
                <a:solidFill>
                  <a:srgbClr val="6C7E96"/>
                </a:solidFill>
                <a:latin typeface="Calibri"/>
                <a:ea typeface="Calibri"/>
                <a:cs typeface="Calibri"/>
              </a:rPr>
              <a:t>nodos y enlaces con significado</a:t>
            </a:r>
            <a:endParaRPr sz="750"/>
          </a:p>
        </p:txBody>
      </p:sp>
      <p:sp>
        <p:nvSpPr>
          <p:cNvPr id="30" name="Shape 28">
            <a:extLst>
              <a:ext uri="{FF2B5EF4-FFF2-40B4-BE49-F238E27FC236}">
                <a16:creationId xmlns:a16="http://schemas.microsoft.com/office/drawing/2014/main" id="{7747FECF-722B-47F6-84A2-89504EDB6F5F}"/>
              </a:ext>
            </a:extLst>
          </p:cNvPr>
          <p:cNvSpPr>
            <a:spLocks noGrp="1"/>
          </p:cNvSpPr>
          <p:nvPr/>
        </p:nvSpPr>
        <p:spPr>
          <a:xfrm>
            <a:off x="502920" y="3712464"/>
            <a:ext cx="8138160" cy="896112"/>
          </a:xfrm>
          <a:prstGeom prst="roundRect">
            <a:avLst>
              <a:gd name="adj" fmla="val 5102"/>
            </a:avLst>
          </a:prstGeom>
          <a:solidFill>
            <a:srgbClr val="1A2434"/>
          </a:solidFill>
          <a:ln w="12700">
            <a:solidFill>
              <a:srgbClr val="56C7F2"/>
            </a:solidFill>
            <a:prstDash val="solid"/>
          </a:ln>
        </p:spPr>
        <p:txBody>
          <a:bodyPr/>
          <a:lstStyle/>
          <a:p>
            <a:endParaRPr/>
          </a:p>
        </p:txBody>
      </p:sp>
      <p:sp>
        <p:nvSpPr>
          <p:cNvPr id="31" name="Text 29">
            <a:extLst>
              <a:ext uri="{FF2B5EF4-FFF2-40B4-BE49-F238E27FC236}">
                <a16:creationId xmlns:a16="http://schemas.microsoft.com/office/drawing/2014/main" id="{0049D0D8-7A10-4627-9731-9006CACC4737}"/>
              </a:ext>
            </a:extLst>
          </p:cNvPr>
          <p:cNvSpPr>
            <a:spLocks noGrp="1"/>
          </p:cNvSpPr>
          <p:nvPr/>
        </p:nvSpPr>
        <p:spPr>
          <a:xfrm>
            <a:off x="731520" y="3803904"/>
            <a:ext cx="7680960" cy="201168"/>
          </a:xfrm>
          <a:prstGeom prst="rect">
            <a:avLst/>
          </a:prstGeom>
          <a:noFill/>
        </p:spPr>
        <p:txBody>
          <a:bodyPr wrap="square" lIns="0" tIns="0" rIns="0" bIns="0" anchor="ctr"/>
          <a:lstStyle/>
          <a:p>
            <a:pPr marL="0" indent="0">
              <a:buNone/>
            </a:pPr>
            <a:r>
              <a:rPr sz="1150" b="1">
                <a:solidFill>
                  <a:srgbClr val="56C7F2"/>
                </a:solidFill>
                <a:latin typeface="Arial"/>
                <a:ea typeface="Arial"/>
                <a:cs typeface="Arial"/>
              </a:rPr>
              <a:t>Va más allá de dibujar un menú</a:t>
            </a:r>
            <a:endParaRPr sz="1150"/>
          </a:p>
        </p:txBody>
      </p:sp>
      <p:sp>
        <p:nvSpPr>
          <p:cNvPr id="32" name="Text 30">
            <a:extLst>
              <a:ext uri="{FF2B5EF4-FFF2-40B4-BE49-F238E27FC236}">
                <a16:creationId xmlns:a16="http://schemas.microsoft.com/office/drawing/2014/main" id="{74A260DF-FF8C-4352-B9D5-E6942FB5C9F2}"/>
              </a:ext>
            </a:extLst>
          </p:cNvPr>
          <p:cNvSpPr>
            <a:spLocks noGrp="1"/>
          </p:cNvSpPr>
          <p:nvPr/>
        </p:nvSpPr>
        <p:spPr>
          <a:xfrm>
            <a:off x="731520" y="4041648"/>
            <a:ext cx="7680960" cy="493776"/>
          </a:xfrm>
          <a:prstGeom prst="rect">
            <a:avLst/>
          </a:prstGeom>
          <a:noFill/>
        </p:spPr>
        <p:txBody>
          <a:bodyPr wrap="square" lIns="0" tIns="0" rIns="0" bIns="0" anchor="t"/>
          <a:lstStyle/>
          <a:p>
            <a:pPr marL="0" indent="0">
              <a:lnSpc>
                <a:spcPct val="110000"/>
              </a:lnSpc>
              <a:buNone/>
            </a:pPr>
            <a:r>
              <a:rPr sz="1050">
                <a:solidFill>
                  <a:srgbClr val="E8EEF6"/>
                </a:solidFill>
                <a:latin typeface="Calibri"/>
                <a:ea typeface="Calibri"/>
                <a:cs typeface="Calibri"/>
              </a:rPr>
              <a:t>Un menú enumera destinos. El diseño navegacional decide, para cada punto del recorrido, qué datos se muestran, qué enlaces salen de ahí y qué contexto se conserva al seguirlos: cuando el auxiliar abre «Nueva solicitud» desde el detalle de un cliente, la aplicación debe recordar de qué cliente se trata. Ese contexto es una decisión de navegación, no de maquetación.</a:t>
            </a:r>
            <a:endParaRPr sz="1050"/>
          </a:p>
        </p:txBody>
      </p:sp>
    </p:spTree>
    <p:extLst>
      <p:ext uri="{BB962C8B-B14F-4D97-AF65-F5344CB8AC3E}">
        <p14:creationId xmlns:p14="http://schemas.microsoft.com/office/powerpoint/2010/main" val="2129145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5FF9F55-08F0-4D9D-9759-7CCE296237A5}"/>
              </a:ext>
            </a:extLst>
          </p:cNvPr>
          <p:cNvSpPr>
            <a:spLocks noGrp="1"/>
          </p:cNvSpPr>
          <p:nvPr/>
        </p:nvSpPr>
        <p:spPr>
          <a:xfrm>
            <a:off x="502920" y="365760"/>
            <a:ext cx="175107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D1B8411B-9FF7-40F3-92DC-37E194F32536}"/>
              </a:ext>
            </a:extLst>
          </p:cNvPr>
          <p:cNvSpPr>
            <a:spLocks noGrp="1"/>
          </p:cNvSpPr>
          <p:nvPr/>
        </p:nvSpPr>
        <p:spPr>
          <a:xfrm>
            <a:off x="502920" y="365760"/>
            <a:ext cx="175107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OOHDM · ACTIVIDAD 3</a:t>
            </a:r>
            <a:endParaRPr sz="850"/>
          </a:p>
        </p:txBody>
      </p:sp>
      <p:sp>
        <p:nvSpPr>
          <p:cNvPr id="4" name="Text 2">
            <a:extLst>
              <a:ext uri="{FF2B5EF4-FFF2-40B4-BE49-F238E27FC236}">
                <a16:creationId xmlns:a16="http://schemas.microsoft.com/office/drawing/2014/main" id="{57E0B2AA-DDE0-4257-A51F-764A377D005D}"/>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Diseño de interfaz abstracta</a:t>
            </a:r>
            <a:endParaRPr sz="2300"/>
          </a:p>
        </p:txBody>
      </p:sp>
      <p:sp>
        <p:nvSpPr>
          <p:cNvPr id="5" name="Text 3">
            <a:extLst>
              <a:ext uri="{FF2B5EF4-FFF2-40B4-BE49-F238E27FC236}">
                <a16:creationId xmlns:a16="http://schemas.microsoft.com/office/drawing/2014/main" id="{D945589A-89D6-47AB-AB4A-96DFEF74C2AD}"/>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13 / 24</a:t>
            </a:r>
            <a:endParaRPr sz="800"/>
          </a:p>
        </p:txBody>
      </p:sp>
      <p:sp>
        <p:nvSpPr>
          <p:cNvPr id="6" name="Text 4">
            <a:extLst>
              <a:ext uri="{FF2B5EF4-FFF2-40B4-BE49-F238E27FC236}">
                <a16:creationId xmlns:a16="http://schemas.microsoft.com/office/drawing/2014/main" id="{A50C7886-F1CC-4C36-B5F4-8F2A8765E9A6}"/>
              </a:ext>
            </a:extLst>
          </p:cNvPr>
          <p:cNvSpPr>
            <a:spLocks noGrp="1"/>
          </p:cNvSpPr>
          <p:nvPr/>
        </p:nvSpPr>
        <p:spPr>
          <a:xfrm>
            <a:off x="521208" y="1115568"/>
            <a:ext cx="8101584" cy="274320"/>
          </a:xfrm>
          <a:prstGeom prst="rect">
            <a:avLst/>
          </a:prstGeom>
          <a:noFill/>
        </p:spPr>
        <p:txBody>
          <a:bodyPr wrap="square" lIns="0" tIns="0" rIns="0" bIns="0" anchor="ctr"/>
          <a:lstStyle/>
          <a:p>
            <a:pPr marL="0" indent="0">
              <a:buNone/>
            </a:pPr>
            <a:r>
              <a:rPr sz="1000">
                <a:solidFill>
                  <a:srgbClr val="93A5BD"/>
                </a:solidFill>
                <a:latin typeface="Calibri"/>
                <a:ea typeface="Calibri"/>
                <a:cs typeface="Calibri"/>
              </a:rPr>
              <a:t>Qué representa: los objetos de interfaz que el usuario percibe en cada nodo y su comportamiento ante los eventos. Producto: una especificación de elementos, controles y respuestas.</a:t>
            </a:r>
            <a:endParaRPr sz="1000"/>
          </a:p>
        </p:txBody>
      </p:sp>
      <p:sp>
        <p:nvSpPr>
          <p:cNvPr id="7" name="Shape 5">
            <a:extLst>
              <a:ext uri="{FF2B5EF4-FFF2-40B4-BE49-F238E27FC236}">
                <a16:creationId xmlns:a16="http://schemas.microsoft.com/office/drawing/2014/main" id="{B9E07A34-D1E5-42A2-B944-4819C310417F}"/>
              </a:ext>
            </a:extLst>
          </p:cNvPr>
          <p:cNvSpPr>
            <a:spLocks noGrp="1"/>
          </p:cNvSpPr>
          <p:nvPr/>
        </p:nvSpPr>
        <p:spPr>
          <a:xfrm>
            <a:off x="502920" y="1463040"/>
            <a:ext cx="2615184" cy="1737360"/>
          </a:xfrm>
          <a:prstGeom prst="roundRect">
            <a:avLst>
              <a:gd name="adj" fmla="val 2632"/>
            </a:avLst>
          </a:prstGeom>
          <a:solidFill>
            <a:srgbClr val="1A2434"/>
          </a:solidFill>
          <a:ln w="12700">
            <a:solidFill>
              <a:srgbClr val="3DDC97"/>
            </a:solidFill>
            <a:prstDash val="solid"/>
          </a:ln>
        </p:spPr>
        <p:txBody>
          <a:bodyPr/>
          <a:lstStyle/>
          <a:p>
            <a:endParaRPr/>
          </a:p>
        </p:txBody>
      </p:sp>
      <p:sp>
        <p:nvSpPr>
          <p:cNvPr id="8" name="Text 6">
            <a:extLst>
              <a:ext uri="{FF2B5EF4-FFF2-40B4-BE49-F238E27FC236}">
                <a16:creationId xmlns:a16="http://schemas.microsoft.com/office/drawing/2014/main" id="{1CF5D9B6-204E-4B06-9533-0AE94F7B95AC}"/>
              </a:ext>
            </a:extLst>
          </p:cNvPr>
          <p:cNvSpPr>
            <a:spLocks noGrp="1"/>
          </p:cNvSpPr>
          <p:nvPr/>
        </p:nvSpPr>
        <p:spPr>
          <a:xfrm>
            <a:off x="649224" y="1581912"/>
            <a:ext cx="2322576" cy="237744"/>
          </a:xfrm>
          <a:prstGeom prst="rect">
            <a:avLst/>
          </a:prstGeom>
          <a:noFill/>
        </p:spPr>
        <p:txBody>
          <a:bodyPr wrap="square" lIns="0" tIns="0" rIns="0" bIns="0" anchor="ctr"/>
          <a:lstStyle/>
          <a:p>
            <a:pPr marL="0" indent="0">
              <a:buNone/>
            </a:pPr>
            <a:r>
              <a:rPr sz="1100" b="1">
                <a:solidFill>
                  <a:srgbClr val="3DDC97"/>
                </a:solidFill>
                <a:latin typeface="Arial"/>
                <a:ea typeface="Arial"/>
                <a:cs typeface="Arial"/>
              </a:rPr>
              <a:t>Información visible</a:t>
            </a:r>
            <a:endParaRPr sz="1100"/>
          </a:p>
        </p:txBody>
      </p:sp>
      <p:sp>
        <p:nvSpPr>
          <p:cNvPr id="9" name="Text 7">
            <a:extLst>
              <a:ext uri="{FF2B5EF4-FFF2-40B4-BE49-F238E27FC236}">
                <a16:creationId xmlns:a16="http://schemas.microsoft.com/office/drawing/2014/main" id="{06AFD297-B4D6-40BF-8F5B-CE7F8899CCF3}"/>
              </a:ext>
            </a:extLst>
          </p:cNvPr>
          <p:cNvSpPr>
            <a:spLocks noGrp="1"/>
          </p:cNvSpPr>
          <p:nvPr/>
        </p:nvSpPr>
        <p:spPr>
          <a:xfrm>
            <a:off x="649224" y="1856232"/>
            <a:ext cx="2322576" cy="1234440"/>
          </a:xfrm>
          <a:prstGeom prst="rect">
            <a:avLst/>
          </a:prstGeom>
          <a:noFill/>
        </p:spPr>
        <p:txBody>
          <a:bodyPr wrap="square" lIns="0" tIns="0" rIns="0" bIns="0" anchor="t"/>
          <a:lstStyle/>
          <a:p>
            <a:pPr marL="0" indent="0">
              <a:lnSpc>
                <a:spcPct val="112000"/>
              </a:lnSpc>
              <a:buNone/>
            </a:pPr>
            <a:r>
              <a:rPr sz="900">
                <a:solidFill>
                  <a:srgbClr val="E8EEF6"/>
                </a:solidFill>
                <a:latin typeface="Calibri"/>
                <a:ea typeface="Calibri"/>
                <a:cs typeface="Calibri"/>
              </a:rPr>
              <a:t>Qué datos del nodo se perciben y cuáles quedan ocultos.</a:t>
            </a:r>
            <a:endParaRPr sz="900"/>
          </a:p>
          <a:p>
            <a:pPr marL="0" indent="0">
              <a:lnSpc>
                <a:spcPct val="112000"/>
              </a:lnSpc>
              <a:buNone/>
            </a:pPr>
            <a:endParaRPr sz="900"/>
          </a:p>
          <a:p>
            <a:pPr marL="0" indent="0">
              <a:lnSpc>
                <a:spcPct val="112000"/>
              </a:lnSpc>
              <a:buNone/>
            </a:pPr>
            <a:r>
              <a:rPr sz="900">
                <a:solidFill>
                  <a:srgbClr val="E8EEF6"/>
                </a:solidFill>
                <a:latin typeface="Calibri"/>
                <a:ea typeface="Calibri"/>
                <a:cs typeface="Calibri"/>
              </a:rPr>
              <a:t>Ejemplo: en «Nueva solicitud» se ve el cliente seleccionado; no se ve su correo.</a:t>
            </a:r>
            <a:endParaRPr sz="900"/>
          </a:p>
        </p:txBody>
      </p:sp>
      <p:sp>
        <p:nvSpPr>
          <p:cNvPr id="10" name="Shape 8">
            <a:extLst>
              <a:ext uri="{FF2B5EF4-FFF2-40B4-BE49-F238E27FC236}">
                <a16:creationId xmlns:a16="http://schemas.microsoft.com/office/drawing/2014/main" id="{69BB251C-2149-4C65-9C63-CFA90A69A302}"/>
              </a:ext>
            </a:extLst>
          </p:cNvPr>
          <p:cNvSpPr>
            <a:spLocks noGrp="1"/>
          </p:cNvSpPr>
          <p:nvPr/>
        </p:nvSpPr>
        <p:spPr>
          <a:xfrm>
            <a:off x="3264408" y="1463040"/>
            <a:ext cx="2615184" cy="1737360"/>
          </a:xfrm>
          <a:prstGeom prst="roundRect">
            <a:avLst>
              <a:gd name="adj" fmla="val 2632"/>
            </a:avLst>
          </a:prstGeom>
          <a:solidFill>
            <a:srgbClr val="1A2434"/>
          </a:solidFill>
          <a:ln w="12700">
            <a:solidFill>
              <a:srgbClr val="56C7F2"/>
            </a:solidFill>
            <a:prstDash val="solid"/>
          </a:ln>
        </p:spPr>
        <p:txBody>
          <a:bodyPr/>
          <a:lstStyle/>
          <a:p>
            <a:endParaRPr/>
          </a:p>
        </p:txBody>
      </p:sp>
      <p:sp>
        <p:nvSpPr>
          <p:cNvPr id="11" name="Text 9">
            <a:extLst>
              <a:ext uri="{FF2B5EF4-FFF2-40B4-BE49-F238E27FC236}">
                <a16:creationId xmlns:a16="http://schemas.microsoft.com/office/drawing/2014/main" id="{DF91812D-00EA-42D7-B9FB-11D36DC0F3B6}"/>
              </a:ext>
            </a:extLst>
          </p:cNvPr>
          <p:cNvSpPr>
            <a:spLocks noGrp="1"/>
          </p:cNvSpPr>
          <p:nvPr/>
        </p:nvSpPr>
        <p:spPr>
          <a:xfrm>
            <a:off x="3410712" y="1581912"/>
            <a:ext cx="2322576" cy="237744"/>
          </a:xfrm>
          <a:prstGeom prst="rect">
            <a:avLst/>
          </a:prstGeom>
          <a:noFill/>
        </p:spPr>
        <p:txBody>
          <a:bodyPr wrap="square" lIns="0" tIns="0" rIns="0" bIns="0" anchor="ctr"/>
          <a:lstStyle/>
          <a:p>
            <a:pPr marL="0" indent="0">
              <a:buNone/>
            </a:pPr>
            <a:r>
              <a:rPr sz="1100" b="1">
                <a:solidFill>
                  <a:srgbClr val="56C7F2"/>
                </a:solidFill>
                <a:latin typeface="Arial"/>
                <a:ea typeface="Arial"/>
                <a:cs typeface="Arial"/>
              </a:rPr>
              <a:t>Controles</a:t>
            </a:r>
            <a:endParaRPr sz="1100"/>
          </a:p>
        </p:txBody>
      </p:sp>
      <p:sp>
        <p:nvSpPr>
          <p:cNvPr id="12" name="Text 10">
            <a:extLst>
              <a:ext uri="{FF2B5EF4-FFF2-40B4-BE49-F238E27FC236}">
                <a16:creationId xmlns:a16="http://schemas.microsoft.com/office/drawing/2014/main" id="{41620F11-FAB5-441A-BBD5-60CCA710DFE2}"/>
              </a:ext>
            </a:extLst>
          </p:cNvPr>
          <p:cNvSpPr>
            <a:spLocks noGrp="1"/>
          </p:cNvSpPr>
          <p:nvPr/>
        </p:nvSpPr>
        <p:spPr>
          <a:xfrm>
            <a:off x="3410712" y="1856232"/>
            <a:ext cx="2322576" cy="1234440"/>
          </a:xfrm>
          <a:prstGeom prst="rect">
            <a:avLst/>
          </a:prstGeom>
          <a:noFill/>
        </p:spPr>
        <p:txBody>
          <a:bodyPr wrap="square" lIns="0" tIns="0" rIns="0" bIns="0" anchor="t"/>
          <a:lstStyle/>
          <a:p>
            <a:pPr marL="0" indent="0">
              <a:lnSpc>
                <a:spcPct val="112000"/>
              </a:lnSpc>
              <a:buNone/>
            </a:pPr>
            <a:r>
              <a:rPr sz="900">
                <a:solidFill>
                  <a:srgbClr val="E8EEF6"/>
                </a:solidFill>
                <a:latin typeface="Calibri"/>
                <a:ea typeface="Calibri"/>
                <a:cs typeface="Calibri"/>
              </a:rPr>
              <a:t>Qué elementos permiten actuar: campos, listas, botones, enlaces.</a:t>
            </a:r>
            <a:endParaRPr sz="900"/>
          </a:p>
          <a:p>
            <a:pPr marL="0" indent="0">
              <a:lnSpc>
                <a:spcPct val="112000"/>
              </a:lnSpc>
              <a:buNone/>
            </a:pPr>
            <a:endParaRPr sz="900"/>
          </a:p>
          <a:p>
            <a:pPr marL="0" indent="0">
              <a:lnSpc>
                <a:spcPct val="112000"/>
              </a:lnSpc>
              <a:buNone/>
            </a:pPr>
            <a:r>
              <a:rPr sz="900">
                <a:solidFill>
                  <a:srgbClr val="E8EEF6"/>
                </a:solidFill>
                <a:latin typeface="Calibri"/>
                <a:ea typeface="Calibri"/>
                <a:cs typeface="Calibri"/>
              </a:rPr>
              <a:t>Ejemplo: un campo de texto obligatorio y un botón de registro.</a:t>
            </a:r>
            <a:endParaRPr sz="900"/>
          </a:p>
        </p:txBody>
      </p:sp>
      <p:sp>
        <p:nvSpPr>
          <p:cNvPr id="13" name="Shape 11">
            <a:extLst>
              <a:ext uri="{FF2B5EF4-FFF2-40B4-BE49-F238E27FC236}">
                <a16:creationId xmlns:a16="http://schemas.microsoft.com/office/drawing/2014/main" id="{6F568607-3A9E-44B3-A1B3-338110D61724}"/>
              </a:ext>
            </a:extLst>
          </p:cNvPr>
          <p:cNvSpPr>
            <a:spLocks noGrp="1"/>
          </p:cNvSpPr>
          <p:nvPr/>
        </p:nvSpPr>
        <p:spPr>
          <a:xfrm>
            <a:off x="6025896" y="1463040"/>
            <a:ext cx="2615184" cy="1737360"/>
          </a:xfrm>
          <a:prstGeom prst="roundRect">
            <a:avLst>
              <a:gd name="adj" fmla="val 2632"/>
            </a:avLst>
          </a:prstGeom>
          <a:solidFill>
            <a:srgbClr val="1A2434"/>
          </a:solidFill>
          <a:ln w="12700">
            <a:solidFill>
              <a:srgbClr val="FFB86C"/>
            </a:solidFill>
            <a:prstDash val="solid"/>
          </a:ln>
        </p:spPr>
        <p:txBody>
          <a:bodyPr/>
          <a:lstStyle/>
          <a:p>
            <a:endParaRPr/>
          </a:p>
        </p:txBody>
      </p:sp>
      <p:sp>
        <p:nvSpPr>
          <p:cNvPr id="14" name="Text 12">
            <a:extLst>
              <a:ext uri="{FF2B5EF4-FFF2-40B4-BE49-F238E27FC236}">
                <a16:creationId xmlns:a16="http://schemas.microsoft.com/office/drawing/2014/main" id="{7D5E356A-F919-4263-90EE-39A4723A5767}"/>
              </a:ext>
            </a:extLst>
          </p:cNvPr>
          <p:cNvSpPr>
            <a:spLocks noGrp="1"/>
          </p:cNvSpPr>
          <p:nvPr/>
        </p:nvSpPr>
        <p:spPr>
          <a:xfrm>
            <a:off x="6172200" y="1581912"/>
            <a:ext cx="2322576" cy="237744"/>
          </a:xfrm>
          <a:prstGeom prst="rect">
            <a:avLst/>
          </a:prstGeom>
          <a:noFill/>
        </p:spPr>
        <p:txBody>
          <a:bodyPr wrap="square" lIns="0" tIns="0" rIns="0" bIns="0" anchor="ctr"/>
          <a:lstStyle/>
          <a:p>
            <a:pPr marL="0" indent="0">
              <a:buNone/>
            </a:pPr>
            <a:r>
              <a:rPr sz="1100" b="1">
                <a:solidFill>
                  <a:srgbClr val="FFB86C"/>
                </a:solidFill>
                <a:latin typeface="Arial"/>
                <a:ea typeface="Arial"/>
                <a:cs typeface="Arial"/>
              </a:rPr>
              <a:t>Comportamiento</a:t>
            </a:r>
            <a:endParaRPr sz="1100"/>
          </a:p>
        </p:txBody>
      </p:sp>
      <p:sp>
        <p:nvSpPr>
          <p:cNvPr id="15" name="Text 13">
            <a:extLst>
              <a:ext uri="{FF2B5EF4-FFF2-40B4-BE49-F238E27FC236}">
                <a16:creationId xmlns:a16="http://schemas.microsoft.com/office/drawing/2014/main" id="{1B1C5495-3857-4BF8-8003-6BDD1EC7BF57}"/>
              </a:ext>
            </a:extLst>
          </p:cNvPr>
          <p:cNvSpPr>
            <a:spLocks noGrp="1"/>
          </p:cNvSpPr>
          <p:nvPr/>
        </p:nvSpPr>
        <p:spPr>
          <a:xfrm>
            <a:off x="6172200" y="1856232"/>
            <a:ext cx="2322576" cy="1234440"/>
          </a:xfrm>
          <a:prstGeom prst="rect">
            <a:avLst/>
          </a:prstGeom>
          <a:noFill/>
        </p:spPr>
        <p:txBody>
          <a:bodyPr wrap="square" lIns="0" tIns="0" rIns="0" bIns="0" anchor="t"/>
          <a:lstStyle/>
          <a:p>
            <a:pPr marL="0" indent="0">
              <a:lnSpc>
                <a:spcPct val="112000"/>
              </a:lnSpc>
              <a:buNone/>
            </a:pPr>
            <a:r>
              <a:rPr sz="900">
                <a:solidFill>
                  <a:srgbClr val="E8EEF6"/>
                </a:solidFill>
                <a:latin typeface="Calibri"/>
                <a:ea typeface="Calibri"/>
                <a:cs typeface="Calibri"/>
              </a:rPr>
              <a:t>Qué ocurre ante cada acción del usuario y qué se le responde.</a:t>
            </a:r>
            <a:endParaRPr sz="900"/>
          </a:p>
          <a:p>
            <a:pPr marL="0" indent="0">
              <a:lnSpc>
                <a:spcPct val="112000"/>
              </a:lnSpc>
              <a:buNone/>
            </a:pPr>
            <a:endParaRPr sz="900"/>
          </a:p>
          <a:p>
            <a:pPr marL="0" indent="0">
              <a:lnSpc>
                <a:spcPct val="112000"/>
              </a:lnSpc>
              <a:buNone/>
            </a:pPr>
            <a:r>
              <a:rPr sz="900">
                <a:solidFill>
                  <a:srgbClr val="E8EEF6"/>
                </a:solidFill>
                <a:latin typeface="Calibri"/>
                <a:ea typeface="Calibri"/>
                <a:cs typeface="Calibri"/>
              </a:rPr>
              <a:t>Ejemplo: al registrar, la aplicación responde con el identificador generado o con el error.</a:t>
            </a:r>
            <a:endParaRPr sz="900"/>
          </a:p>
        </p:txBody>
      </p:sp>
      <p:sp>
        <p:nvSpPr>
          <p:cNvPr id="16" name="Shape 14">
            <a:extLst>
              <a:ext uri="{FF2B5EF4-FFF2-40B4-BE49-F238E27FC236}">
                <a16:creationId xmlns:a16="http://schemas.microsoft.com/office/drawing/2014/main" id="{FCD8D6CD-A5A5-4A7E-B018-E451F93F108B}"/>
              </a:ext>
            </a:extLst>
          </p:cNvPr>
          <p:cNvSpPr>
            <a:spLocks noGrp="1"/>
          </p:cNvSpPr>
          <p:nvPr/>
        </p:nvSpPr>
        <p:spPr>
          <a:xfrm>
            <a:off x="502920" y="3364992"/>
            <a:ext cx="8138160" cy="1024128"/>
          </a:xfrm>
          <a:prstGeom prst="roundRect">
            <a:avLst>
              <a:gd name="adj" fmla="val 4464"/>
            </a:avLst>
          </a:prstGeom>
          <a:solidFill>
            <a:srgbClr val="1A2434"/>
          </a:solidFill>
          <a:ln w="12700">
            <a:solidFill>
              <a:srgbClr val="56C7F2"/>
            </a:solidFill>
            <a:prstDash val="solid"/>
          </a:ln>
        </p:spPr>
        <p:txBody>
          <a:bodyPr/>
          <a:lstStyle/>
          <a:p>
            <a:endParaRPr/>
          </a:p>
        </p:txBody>
      </p:sp>
      <p:sp>
        <p:nvSpPr>
          <p:cNvPr id="17" name="Text 15">
            <a:extLst>
              <a:ext uri="{FF2B5EF4-FFF2-40B4-BE49-F238E27FC236}">
                <a16:creationId xmlns:a16="http://schemas.microsoft.com/office/drawing/2014/main" id="{52993972-F297-4476-9BCD-23EE2C7D842B}"/>
              </a:ext>
            </a:extLst>
          </p:cNvPr>
          <p:cNvSpPr>
            <a:spLocks noGrp="1"/>
          </p:cNvSpPr>
          <p:nvPr/>
        </p:nvSpPr>
        <p:spPr>
          <a:xfrm>
            <a:off x="731520" y="3456432"/>
            <a:ext cx="7680960" cy="201168"/>
          </a:xfrm>
          <a:prstGeom prst="rect">
            <a:avLst/>
          </a:prstGeom>
          <a:noFill/>
        </p:spPr>
        <p:txBody>
          <a:bodyPr wrap="square" lIns="0" tIns="0" rIns="0" bIns="0" anchor="ctr"/>
          <a:lstStyle/>
          <a:p>
            <a:pPr marL="0" indent="0">
              <a:buNone/>
            </a:pPr>
            <a:r>
              <a:rPr sz="1150" b="1">
                <a:solidFill>
                  <a:srgbClr val="56C7F2"/>
                </a:solidFill>
                <a:latin typeface="Arial"/>
                <a:ea typeface="Arial"/>
                <a:cs typeface="Arial"/>
              </a:rPr>
              <a:t>Interfaz abstracta no es diseño visual</a:t>
            </a:r>
            <a:endParaRPr sz="1150"/>
          </a:p>
        </p:txBody>
      </p:sp>
      <p:sp>
        <p:nvSpPr>
          <p:cNvPr id="18" name="Text 16">
            <a:extLst>
              <a:ext uri="{FF2B5EF4-FFF2-40B4-BE49-F238E27FC236}">
                <a16:creationId xmlns:a16="http://schemas.microsoft.com/office/drawing/2014/main" id="{A2AE0061-CEFE-4414-9B25-BBB9905A4254}"/>
              </a:ext>
            </a:extLst>
          </p:cNvPr>
          <p:cNvSpPr>
            <a:spLocks noGrp="1"/>
          </p:cNvSpPr>
          <p:nvPr/>
        </p:nvSpPr>
        <p:spPr>
          <a:xfrm>
            <a:off x="731520" y="3694176"/>
            <a:ext cx="7680960" cy="621792"/>
          </a:xfrm>
          <a:prstGeom prst="rect">
            <a:avLst/>
          </a:prstGeom>
          <a:noFill/>
        </p:spPr>
        <p:txBody>
          <a:bodyPr wrap="square" lIns="0" tIns="0" rIns="0" bIns="0" anchor="t"/>
          <a:lstStyle/>
          <a:p>
            <a:pPr marL="0" indent="0">
              <a:lnSpc>
                <a:spcPct val="110000"/>
              </a:lnSpc>
              <a:buNone/>
            </a:pPr>
            <a:r>
              <a:rPr sz="1050">
                <a:solidFill>
                  <a:srgbClr val="E8EEF6"/>
                </a:solidFill>
                <a:latin typeface="Calibri"/>
                <a:ea typeface="Calibri"/>
                <a:cs typeface="Calibri"/>
              </a:rPr>
              <a:t>Aquí se decide qué elementos existen, qué información transportan y cómo responden; los colores, las tipografías, el espaciado y la hoja de estilos son decisiones posteriores, de presentación. La prueba es simple: la especificación abstracta debe seguir siendo válida si mañana se rehace por completo el CSS. Por eso el método la llama abstracta: es independiente del entorno de implementación.</a:t>
            </a:r>
            <a:endParaRPr sz="1050"/>
          </a:p>
        </p:txBody>
      </p:sp>
    </p:spTree>
    <p:extLst>
      <p:ext uri="{BB962C8B-B14F-4D97-AF65-F5344CB8AC3E}">
        <p14:creationId xmlns:p14="http://schemas.microsoft.com/office/powerpoint/2010/main" val="625426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22E8D30-5122-4E64-8090-4223DDC4520F}"/>
              </a:ext>
            </a:extLst>
          </p:cNvPr>
          <p:cNvSpPr>
            <a:spLocks noGrp="1"/>
          </p:cNvSpPr>
          <p:nvPr/>
        </p:nvSpPr>
        <p:spPr>
          <a:xfrm>
            <a:off x="502920" y="365760"/>
            <a:ext cx="1751076"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96C4EE0C-5827-4459-B9C5-34FE6CFF00DB}"/>
              </a:ext>
            </a:extLst>
          </p:cNvPr>
          <p:cNvSpPr>
            <a:spLocks noGrp="1"/>
          </p:cNvSpPr>
          <p:nvPr/>
        </p:nvSpPr>
        <p:spPr>
          <a:xfrm>
            <a:off x="502920" y="365760"/>
            <a:ext cx="1751076"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OOHDM · ACTIVIDAD 4</a:t>
            </a:r>
            <a:endParaRPr sz="850"/>
          </a:p>
        </p:txBody>
      </p:sp>
      <p:sp>
        <p:nvSpPr>
          <p:cNvPr id="4" name="Text 2">
            <a:extLst>
              <a:ext uri="{FF2B5EF4-FFF2-40B4-BE49-F238E27FC236}">
                <a16:creationId xmlns:a16="http://schemas.microsoft.com/office/drawing/2014/main" id="{05788459-A8BE-4CC1-8A4E-688846C9EEE3}"/>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Implementación</a:t>
            </a:r>
            <a:endParaRPr sz="2300"/>
          </a:p>
        </p:txBody>
      </p:sp>
      <p:sp>
        <p:nvSpPr>
          <p:cNvPr id="5" name="Text 3">
            <a:extLst>
              <a:ext uri="{FF2B5EF4-FFF2-40B4-BE49-F238E27FC236}">
                <a16:creationId xmlns:a16="http://schemas.microsoft.com/office/drawing/2014/main" id="{C0CA8103-9159-464F-8936-B5B6DC6E776F}"/>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14 / 24</a:t>
            </a:r>
            <a:endParaRPr sz="800"/>
          </a:p>
        </p:txBody>
      </p:sp>
      <p:sp>
        <p:nvSpPr>
          <p:cNvPr id="6" name="Text 4">
            <a:extLst>
              <a:ext uri="{FF2B5EF4-FFF2-40B4-BE49-F238E27FC236}">
                <a16:creationId xmlns:a16="http://schemas.microsoft.com/office/drawing/2014/main" id="{41613852-ACB7-49E2-BC88-3D35E86E4788}"/>
              </a:ext>
            </a:extLst>
          </p:cNvPr>
          <p:cNvSpPr>
            <a:spLocks noGrp="1"/>
          </p:cNvSpPr>
          <p:nvPr/>
        </p:nvSpPr>
        <p:spPr>
          <a:xfrm>
            <a:off x="521208" y="1115568"/>
            <a:ext cx="8101584" cy="274320"/>
          </a:xfrm>
          <a:prstGeom prst="rect">
            <a:avLst/>
          </a:prstGeom>
          <a:noFill/>
        </p:spPr>
        <p:txBody>
          <a:bodyPr wrap="square" lIns="0" tIns="0" rIns="0" bIns="0" anchor="ctr"/>
          <a:lstStyle/>
          <a:p>
            <a:pPr marL="0" indent="0">
              <a:buNone/>
            </a:pPr>
            <a:r>
              <a:rPr sz="1000">
                <a:solidFill>
                  <a:srgbClr val="93A5BD"/>
                </a:solidFill>
                <a:latin typeface="Calibri"/>
                <a:ea typeface="Calibri"/>
                <a:cs typeface="Calibri"/>
              </a:rPr>
              <a:t>Qué representa: la materialización de los tres modelos anteriores en un entorno concreto. Aquí entran, por primera vez, las tecnologías.</a:t>
            </a:r>
            <a:endParaRPr sz="1000"/>
          </a:p>
        </p:txBody>
      </p:sp>
      <p:sp>
        <p:nvSpPr>
          <p:cNvPr id="7" name="Text 5">
            <a:extLst>
              <a:ext uri="{FF2B5EF4-FFF2-40B4-BE49-F238E27FC236}">
                <a16:creationId xmlns:a16="http://schemas.microsoft.com/office/drawing/2014/main" id="{347F418F-A669-4893-84F0-B70037FF23FE}"/>
              </a:ext>
            </a:extLst>
          </p:cNvPr>
          <p:cNvSpPr>
            <a:spLocks noGrp="1"/>
          </p:cNvSpPr>
          <p:nvPr/>
        </p:nvSpPr>
        <p:spPr>
          <a:xfrm>
            <a:off x="658368" y="1444752"/>
            <a:ext cx="2788920" cy="201168"/>
          </a:xfrm>
          <a:prstGeom prst="rect">
            <a:avLst/>
          </a:prstGeom>
          <a:noFill/>
        </p:spPr>
        <p:txBody>
          <a:bodyPr wrap="square" lIns="0" tIns="0" rIns="0" bIns="0" anchor="ctr"/>
          <a:lstStyle/>
          <a:p>
            <a:pPr marL="0" indent="0">
              <a:buNone/>
            </a:pPr>
            <a:r>
              <a:rPr sz="900" b="1">
                <a:solidFill>
                  <a:srgbClr val="3DDC97"/>
                </a:solidFill>
                <a:latin typeface="Arial"/>
                <a:ea typeface="Arial"/>
                <a:cs typeface="Arial"/>
              </a:rPr>
              <a:t>Decisión de diseño</a:t>
            </a:r>
            <a:endParaRPr sz="900"/>
          </a:p>
        </p:txBody>
      </p:sp>
      <p:sp>
        <p:nvSpPr>
          <p:cNvPr id="8" name="Text 6">
            <a:extLst>
              <a:ext uri="{FF2B5EF4-FFF2-40B4-BE49-F238E27FC236}">
                <a16:creationId xmlns:a16="http://schemas.microsoft.com/office/drawing/2014/main" id="{DA673278-64D1-4F15-9F3A-CF2FB0516DDE}"/>
              </a:ext>
            </a:extLst>
          </p:cNvPr>
          <p:cNvSpPr>
            <a:spLocks noGrp="1"/>
          </p:cNvSpPr>
          <p:nvPr/>
        </p:nvSpPr>
        <p:spPr>
          <a:xfrm>
            <a:off x="3566160" y="1444752"/>
            <a:ext cx="5074920" cy="201168"/>
          </a:xfrm>
          <a:prstGeom prst="rect">
            <a:avLst/>
          </a:prstGeom>
          <a:noFill/>
        </p:spPr>
        <p:txBody>
          <a:bodyPr wrap="square" lIns="0" tIns="0" rIns="0" bIns="0" anchor="ctr"/>
          <a:lstStyle/>
          <a:p>
            <a:pPr marL="0" indent="0">
              <a:buNone/>
            </a:pPr>
            <a:r>
              <a:rPr sz="900" b="1">
                <a:solidFill>
                  <a:srgbClr val="3DDC97"/>
                </a:solidFill>
                <a:latin typeface="Arial"/>
                <a:ea typeface="Arial"/>
                <a:cs typeface="Arial"/>
              </a:rPr>
              <a:t>Materialización con la tecnología del curso</a:t>
            </a:r>
            <a:endParaRPr sz="900"/>
          </a:p>
        </p:txBody>
      </p:sp>
      <p:sp>
        <p:nvSpPr>
          <p:cNvPr id="9" name="Shape 7">
            <a:extLst>
              <a:ext uri="{FF2B5EF4-FFF2-40B4-BE49-F238E27FC236}">
                <a16:creationId xmlns:a16="http://schemas.microsoft.com/office/drawing/2014/main" id="{E329839C-FAED-4211-BCA7-321C8AC7B550}"/>
              </a:ext>
            </a:extLst>
          </p:cNvPr>
          <p:cNvSpPr>
            <a:spLocks noGrp="1"/>
          </p:cNvSpPr>
          <p:nvPr/>
        </p:nvSpPr>
        <p:spPr>
          <a:xfrm>
            <a:off x="502920" y="1700784"/>
            <a:ext cx="8138160" cy="329184"/>
          </a:xfrm>
          <a:prstGeom prst="roundRect">
            <a:avLst>
              <a:gd name="adj" fmla="val 16667"/>
            </a:avLst>
          </a:prstGeom>
          <a:solidFill>
            <a:srgbClr val="1A2434"/>
          </a:solidFill>
          <a:ln w="12700">
            <a:solidFill>
              <a:srgbClr val="2B3B52"/>
            </a:solidFill>
            <a:prstDash val="solid"/>
          </a:ln>
        </p:spPr>
        <p:txBody>
          <a:bodyPr/>
          <a:lstStyle/>
          <a:p>
            <a:endParaRPr/>
          </a:p>
        </p:txBody>
      </p:sp>
      <p:sp>
        <p:nvSpPr>
          <p:cNvPr id="10" name="Text 8">
            <a:extLst>
              <a:ext uri="{FF2B5EF4-FFF2-40B4-BE49-F238E27FC236}">
                <a16:creationId xmlns:a16="http://schemas.microsoft.com/office/drawing/2014/main" id="{7758A234-FD04-48C1-8BD8-DA126C6E2413}"/>
              </a:ext>
            </a:extLst>
          </p:cNvPr>
          <p:cNvSpPr>
            <a:spLocks noGrp="1"/>
          </p:cNvSpPr>
          <p:nvPr/>
        </p:nvSpPr>
        <p:spPr>
          <a:xfrm>
            <a:off x="658368" y="1700784"/>
            <a:ext cx="2788920" cy="329184"/>
          </a:xfrm>
          <a:prstGeom prst="rect">
            <a:avLst/>
          </a:prstGeom>
          <a:noFill/>
        </p:spPr>
        <p:txBody>
          <a:bodyPr wrap="square" lIns="0" tIns="0" rIns="0" bIns="0" anchor="ctr"/>
          <a:lstStyle/>
          <a:p>
            <a:pPr marL="0" indent="0">
              <a:buNone/>
            </a:pPr>
            <a:r>
              <a:rPr sz="950" b="1">
                <a:solidFill>
                  <a:srgbClr val="3DDC97"/>
                </a:solidFill>
                <a:latin typeface="Arial"/>
                <a:ea typeface="Arial"/>
                <a:cs typeface="Arial"/>
              </a:rPr>
              <a:t>Modelo conceptual</a:t>
            </a:r>
            <a:endParaRPr sz="950"/>
          </a:p>
        </p:txBody>
      </p:sp>
      <p:sp>
        <p:nvSpPr>
          <p:cNvPr id="11" name="Text 9">
            <a:extLst>
              <a:ext uri="{FF2B5EF4-FFF2-40B4-BE49-F238E27FC236}">
                <a16:creationId xmlns:a16="http://schemas.microsoft.com/office/drawing/2014/main" id="{506E5B27-3E4C-4F93-9E68-F7D1DA1FD280}"/>
              </a:ext>
            </a:extLst>
          </p:cNvPr>
          <p:cNvSpPr>
            <a:spLocks noGrp="1"/>
          </p:cNvSpPr>
          <p:nvPr/>
        </p:nvSpPr>
        <p:spPr>
          <a:xfrm>
            <a:off x="3566160" y="1700784"/>
            <a:ext cx="4937760" cy="329184"/>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tablas cliente y solicitud en SQLite</a:t>
            </a:r>
            <a:endParaRPr sz="900"/>
          </a:p>
        </p:txBody>
      </p:sp>
      <p:sp>
        <p:nvSpPr>
          <p:cNvPr id="12" name="Shape 10">
            <a:extLst>
              <a:ext uri="{FF2B5EF4-FFF2-40B4-BE49-F238E27FC236}">
                <a16:creationId xmlns:a16="http://schemas.microsoft.com/office/drawing/2014/main" id="{56B611CE-DA8C-4EA6-B3E9-9BED20487939}"/>
              </a:ext>
            </a:extLst>
          </p:cNvPr>
          <p:cNvSpPr>
            <a:spLocks noGrp="1"/>
          </p:cNvSpPr>
          <p:nvPr/>
        </p:nvSpPr>
        <p:spPr>
          <a:xfrm>
            <a:off x="502920" y="2084832"/>
            <a:ext cx="8138160" cy="329184"/>
          </a:xfrm>
          <a:prstGeom prst="roundRect">
            <a:avLst>
              <a:gd name="adj" fmla="val 16667"/>
            </a:avLst>
          </a:prstGeom>
          <a:solidFill>
            <a:srgbClr val="1A2434"/>
          </a:solidFill>
          <a:ln w="12700">
            <a:solidFill>
              <a:srgbClr val="2B3B52"/>
            </a:solidFill>
            <a:prstDash val="solid"/>
          </a:ln>
        </p:spPr>
        <p:txBody>
          <a:bodyPr/>
          <a:lstStyle/>
          <a:p>
            <a:endParaRPr/>
          </a:p>
        </p:txBody>
      </p:sp>
      <p:sp>
        <p:nvSpPr>
          <p:cNvPr id="13" name="Text 11">
            <a:extLst>
              <a:ext uri="{FF2B5EF4-FFF2-40B4-BE49-F238E27FC236}">
                <a16:creationId xmlns:a16="http://schemas.microsoft.com/office/drawing/2014/main" id="{D82F1722-83E1-4AC7-AB29-B9F1BF9B2A1B}"/>
              </a:ext>
            </a:extLst>
          </p:cNvPr>
          <p:cNvSpPr>
            <a:spLocks noGrp="1"/>
          </p:cNvSpPr>
          <p:nvPr/>
        </p:nvSpPr>
        <p:spPr>
          <a:xfrm>
            <a:off x="658368" y="2084832"/>
            <a:ext cx="2788920" cy="329184"/>
          </a:xfrm>
          <a:prstGeom prst="rect">
            <a:avLst/>
          </a:prstGeom>
          <a:noFill/>
        </p:spPr>
        <p:txBody>
          <a:bodyPr wrap="square" lIns="0" tIns="0" rIns="0" bIns="0" anchor="ctr"/>
          <a:lstStyle/>
          <a:p>
            <a:pPr marL="0" indent="0">
              <a:buNone/>
            </a:pPr>
            <a:r>
              <a:rPr sz="950" b="1" dirty="0" err="1">
                <a:solidFill>
                  <a:srgbClr val="56C7F2"/>
                </a:solidFill>
                <a:latin typeface="Arial"/>
                <a:ea typeface="Arial"/>
                <a:cs typeface="Arial"/>
              </a:rPr>
              <a:t>Relación</a:t>
            </a:r>
            <a:r>
              <a:rPr sz="950" b="1" dirty="0">
                <a:solidFill>
                  <a:srgbClr val="56C7F2"/>
                </a:solidFill>
                <a:latin typeface="Arial"/>
                <a:ea typeface="Arial"/>
                <a:cs typeface="Arial"/>
              </a:rPr>
              <a:t> 1 — 0..*</a:t>
            </a:r>
            <a:endParaRPr sz="950" dirty="0"/>
          </a:p>
        </p:txBody>
      </p:sp>
      <p:sp>
        <p:nvSpPr>
          <p:cNvPr id="14" name="Text 12">
            <a:extLst>
              <a:ext uri="{FF2B5EF4-FFF2-40B4-BE49-F238E27FC236}">
                <a16:creationId xmlns:a16="http://schemas.microsoft.com/office/drawing/2014/main" id="{7D64187D-74E7-4BDD-8B74-4C8CE9730A72}"/>
              </a:ext>
            </a:extLst>
          </p:cNvPr>
          <p:cNvSpPr>
            <a:spLocks noGrp="1"/>
          </p:cNvSpPr>
          <p:nvPr/>
        </p:nvSpPr>
        <p:spPr>
          <a:xfrm>
            <a:off x="3566160" y="2084832"/>
            <a:ext cx="4937760" cy="329184"/>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columna cliente_id en la tabla solicitud</a:t>
            </a:r>
            <a:endParaRPr sz="900"/>
          </a:p>
        </p:txBody>
      </p:sp>
      <p:sp>
        <p:nvSpPr>
          <p:cNvPr id="15" name="Shape 13">
            <a:extLst>
              <a:ext uri="{FF2B5EF4-FFF2-40B4-BE49-F238E27FC236}">
                <a16:creationId xmlns:a16="http://schemas.microsoft.com/office/drawing/2014/main" id="{3CE152D1-58A5-4D8E-A790-A4C17B3F98AF}"/>
              </a:ext>
            </a:extLst>
          </p:cNvPr>
          <p:cNvSpPr>
            <a:spLocks noGrp="1"/>
          </p:cNvSpPr>
          <p:nvPr/>
        </p:nvSpPr>
        <p:spPr>
          <a:xfrm>
            <a:off x="502920" y="2468880"/>
            <a:ext cx="8138160" cy="329184"/>
          </a:xfrm>
          <a:prstGeom prst="roundRect">
            <a:avLst>
              <a:gd name="adj" fmla="val 16667"/>
            </a:avLst>
          </a:prstGeom>
          <a:solidFill>
            <a:srgbClr val="1A2434"/>
          </a:solidFill>
          <a:ln w="12700">
            <a:solidFill>
              <a:srgbClr val="2B3B52"/>
            </a:solidFill>
            <a:prstDash val="solid"/>
          </a:ln>
        </p:spPr>
        <p:txBody>
          <a:bodyPr/>
          <a:lstStyle/>
          <a:p>
            <a:endParaRPr/>
          </a:p>
        </p:txBody>
      </p:sp>
      <p:sp>
        <p:nvSpPr>
          <p:cNvPr id="16" name="Text 14">
            <a:extLst>
              <a:ext uri="{FF2B5EF4-FFF2-40B4-BE49-F238E27FC236}">
                <a16:creationId xmlns:a16="http://schemas.microsoft.com/office/drawing/2014/main" id="{CD3F1500-619C-4042-B89F-C9BBF91B2E24}"/>
              </a:ext>
            </a:extLst>
          </p:cNvPr>
          <p:cNvSpPr>
            <a:spLocks noGrp="1"/>
          </p:cNvSpPr>
          <p:nvPr/>
        </p:nvSpPr>
        <p:spPr>
          <a:xfrm>
            <a:off x="658368" y="2468880"/>
            <a:ext cx="2788920" cy="329184"/>
          </a:xfrm>
          <a:prstGeom prst="rect">
            <a:avLst/>
          </a:prstGeom>
          <a:noFill/>
        </p:spPr>
        <p:txBody>
          <a:bodyPr wrap="square" lIns="0" tIns="0" rIns="0" bIns="0" anchor="ctr"/>
          <a:lstStyle/>
          <a:p>
            <a:pPr marL="0" indent="0">
              <a:buNone/>
            </a:pPr>
            <a:r>
              <a:rPr sz="950" b="1">
                <a:solidFill>
                  <a:srgbClr val="FFB86C"/>
                </a:solidFill>
                <a:latin typeface="Arial"/>
                <a:ea typeface="Arial"/>
                <a:cs typeface="Arial"/>
              </a:rPr>
              <a:t>Estructura de acceso y nodos</a:t>
            </a:r>
            <a:endParaRPr sz="950"/>
          </a:p>
        </p:txBody>
      </p:sp>
      <p:sp>
        <p:nvSpPr>
          <p:cNvPr id="17" name="Text 15">
            <a:extLst>
              <a:ext uri="{FF2B5EF4-FFF2-40B4-BE49-F238E27FC236}">
                <a16:creationId xmlns:a16="http://schemas.microsoft.com/office/drawing/2014/main" id="{781501C1-2EFD-4588-AE74-A8174C75C91A}"/>
              </a:ext>
            </a:extLst>
          </p:cNvPr>
          <p:cNvSpPr>
            <a:spLocks noGrp="1"/>
          </p:cNvSpPr>
          <p:nvPr/>
        </p:nvSpPr>
        <p:spPr>
          <a:xfrm>
            <a:off x="3566160" y="2468880"/>
            <a:ext cx="4937760" cy="329184"/>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rutas GET: /clientes y /clientes/:id</a:t>
            </a:r>
            <a:endParaRPr sz="900"/>
          </a:p>
        </p:txBody>
      </p:sp>
      <p:sp>
        <p:nvSpPr>
          <p:cNvPr id="18" name="Shape 16">
            <a:extLst>
              <a:ext uri="{FF2B5EF4-FFF2-40B4-BE49-F238E27FC236}">
                <a16:creationId xmlns:a16="http://schemas.microsoft.com/office/drawing/2014/main" id="{A0C16062-D02D-4972-B5F4-0EC17A8D9EE2}"/>
              </a:ext>
            </a:extLst>
          </p:cNvPr>
          <p:cNvSpPr>
            <a:spLocks noGrp="1"/>
          </p:cNvSpPr>
          <p:nvPr/>
        </p:nvSpPr>
        <p:spPr>
          <a:xfrm>
            <a:off x="502920" y="2852928"/>
            <a:ext cx="8138160" cy="329184"/>
          </a:xfrm>
          <a:prstGeom prst="roundRect">
            <a:avLst>
              <a:gd name="adj" fmla="val 16667"/>
            </a:avLst>
          </a:prstGeom>
          <a:solidFill>
            <a:srgbClr val="1A2434"/>
          </a:solidFill>
          <a:ln w="12700">
            <a:solidFill>
              <a:srgbClr val="2B3B52"/>
            </a:solidFill>
            <a:prstDash val="solid"/>
          </a:ln>
        </p:spPr>
        <p:txBody>
          <a:bodyPr/>
          <a:lstStyle/>
          <a:p>
            <a:endParaRPr/>
          </a:p>
        </p:txBody>
      </p:sp>
      <p:sp>
        <p:nvSpPr>
          <p:cNvPr id="19" name="Text 17">
            <a:extLst>
              <a:ext uri="{FF2B5EF4-FFF2-40B4-BE49-F238E27FC236}">
                <a16:creationId xmlns:a16="http://schemas.microsoft.com/office/drawing/2014/main" id="{95E48B60-5E8C-4510-B5FA-FE54378202EE}"/>
              </a:ext>
            </a:extLst>
          </p:cNvPr>
          <p:cNvSpPr>
            <a:spLocks noGrp="1"/>
          </p:cNvSpPr>
          <p:nvPr/>
        </p:nvSpPr>
        <p:spPr>
          <a:xfrm>
            <a:off x="658368" y="2852928"/>
            <a:ext cx="2788920" cy="329184"/>
          </a:xfrm>
          <a:prstGeom prst="rect">
            <a:avLst/>
          </a:prstGeom>
          <a:noFill/>
        </p:spPr>
        <p:txBody>
          <a:bodyPr wrap="square" lIns="0" tIns="0" rIns="0" bIns="0" anchor="ctr"/>
          <a:lstStyle/>
          <a:p>
            <a:pPr marL="0" indent="0">
              <a:buNone/>
            </a:pPr>
            <a:r>
              <a:rPr sz="950" b="1">
                <a:solidFill>
                  <a:srgbClr val="3DDC97"/>
                </a:solidFill>
                <a:latin typeface="Arial"/>
                <a:ea typeface="Arial"/>
                <a:cs typeface="Arial"/>
              </a:rPr>
              <a:t>Interfaz abstracta</a:t>
            </a:r>
            <a:endParaRPr sz="950"/>
          </a:p>
        </p:txBody>
      </p:sp>
      <p:sp>
        <p:nvSpPr>
          <p:cNvPr id="20" name="Text 18">
            <a:extLst>
              <a:ext uri="{FF2B5EF4-FFF2-40B4-BE49-F238E27FC236}">
                <a16:creationId xmlns:a16="http://schemas.microsoft.com/office/drawing/2014/main" id="{3F1AC6B4-1AEA-4A91-B120-CBFE964C2D0F}"/>
              </a:ext>
            </a:extLst>
          </p:cNvPr>
          <p:cNvSpPr>
            <a:spLocks noGrp="1"/>
          </p:cNvSpPr>
          <p:nvPr/>
        </p:nvSpPr>
        <p:spPr>
          <a:xfrm>
            <a:off x="3566160" y="2852928"/>
            <a:ext cx="4937760" cy="329184"/>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HTML del formulario y de la confirmación</a:t>
            </a:r>
            <a:endParaRPr sz="900"/>
          </a:p>
        </p:txBody>
      </p:sp>
      <p:sp>
        <p:nvSpPr>
          <p:cNvPr id="21" name="Shape 19">
            <a:extLst>
              <a:ext uri="{FF2B5EF4-FFF2-40B4-BE49-F238E27FC236}">
                <a16:creationId xmlns:a16="http://schemas.microsoft.com/office/drawing/2014/main" id="{F9C9EC38-33FD-4435-8F19-8817C49E855E}"/>
              </a:ext>
            </a:extLst>
          </p:cNvPr>
          <p:cNvSpPr>
            <a:spLocks noGrp="1"/>
          </p:cNvSpPr>
          <p:nvPr/>
        </p:nvSpPr>
        <p:spPr>
          <a:xfrm>
            <a:off x="502920" y="3236976"/>
            <a:ext cx="8138160" cy="329184"/>
          </a:xfrm>
          <a:prstGeom prst="roundRect">
            <a:avLst>
              <a:gd name="adj" fmla="val 16667"/>
            </a:avLst>
          </a:prstGeom>
          <a:solidFill>
            <a:srgbClr val="1A2434"/>
          </a:solidFill>
          <a:ln w="12700">
            <a:solidFill>
              <a:srgbClr val="2B3B52"/>
            </a:solidFill>
            <a:prstDash val="solid"/>
          </a:ln>
        </p:spPr>
        <p:txBody>
          <a:bodyPr/>
          <a:lstStyle/>
          <a:p>
            <a:endParaRPr/>
          </a:p>
        </p:txBody>
      </p:sp>
      <p:sp>
        <p:nvSpPr>
          <p:cNvPr id="22" name="Text 20">
            <a:extLst>
              <a:ext uri="{FF2B5EF4-FFF2-40B4-BE49-F238E27FC236}">
                <a16:creationId xmlns:a16="http://schemas.microsoft.com/office/drawing/2014/main" id="{4F0C409D-10AB-46C6-A906-50CE81D9EC51}"/>
              </a:ext>
            </a:extLst>
          </p:cNvPr>
          <p:cNvSpPr>
            <a:spLocks noGrp="1"/>
          </p:cNvSpPr>
          <p:nvPr/>
        </p:nvSpPr>
        <p:spPr>
          <a:xfrm>
            <a:off x="658368" y="3236976"/>
            <a:ext cx="2788920" cy="329184"/>
          </a:xfrm>
          <a:prstGeom prst="rect">
            <a:avLst/>
          </a:prstGeom>
          <a:noFill/>
        </p:spPr>
        <p:txBody>
          <a:bodyPr wrap="square" lIns="0" tIns="0" rIns="0" bIns="0" anchor="ctr"/>
          <a:lstStyle/>
          <a:p>
            <a:pPr marL="0" indent="0">
              <a:buNone/>
            </a:pPr>
            <a:r>
              <a:rPr sz="950" b="1">
                <a:solidFill>
                  <a:srgbClr val="56C7F2"/>
                </a:solidFill>
                <a:latin typeface="Arial"/>
                <a:ea typeface="Arial"/>
                <a:cs typeface="Arial"/>
              </a:rPr>
              <a:t>Comportamiento ante el envío</a:t>
            </a:r>
            <a:endParaRPr sz="950"/>
          </a:p>
        </p:txBody>
      </p:sp>
      <p:sp>
        <p:nvSpPr>
          <p:cNvPr id="23" name="Text 21">
            <a:extLst>
              <a:ext uri="{FF2B5EF4-FFF2-40B4-BE49-F238E27FC236}">
                <a16:creationId xmlns:a16="http://schemas.microsoft.com/office/drawing/2014/main" id="{B7BFAFB8-D6C9-4A1D-A1B0-7DE86BFE7E92}"/>
              </a:ext>
            </a:extLst>
          </p:cNvPr>
          <p:cNvSpPr>
            <a:spLocks noGrp="1"/>
          </p:cNvSpPr>
          <p:nvPr/>
        </p:nvSpPr>
        <p:spPr>
          <a:xfrm>
            <a:off x="3566160" y="3236976"/>
            <a:ext cx="4937760" cy="329184"/>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ruta POST /solicitudes: valida, inserta y responde</a:t>
            </a:r>
            <a:endParaRPr sz="900"/>
          </a:p>
        </p:txBody>
      </p:sp>
      <p:sp>
        <p:nvSpPr>
          <p:cNvPr id="24" name="Shape 22">
            <a:extLst>
              <a:ext uri="{FF2B5EF4-FFF2-40B4-BE49-F238E27FC236}">
                <a16:creationId xmlns:a16="http://schemas.microsoft.com/office/drawing/2014/main" id="{61529E70-FA64-4CE9-A447-F69D2877535C}"/>
              </a:ext>
            </a:extLst>
          </p:cNvPr>
          <p:cNvSpPr>
            <a:spLocks noGrp="1"/>
          </p:cNvSpPr>
          <p:nvPr/>
        </p:nvSpPr>
        <p:spPr>
          <a:xfrm>
            <a:off x="502920" y="3621024"/>
            <a:ext cx="8138160" cy="329184"/>
          </a:xfrm>
          <a:prstGeom prst="roundRect">
            <a:avLst>
              <a:gd name="adj" fmla="val 16667"/>
            </a:avLst>
          </a:prstGeom>
          <a:solidFill>
            <a:srgbClr val="1A2434"/>
          </a:solidFill>
          <a:ln w="12700">
            <a:solidFill>
              <a:srgbClr val="2B3B52"/>
            </a:solidFill>
            <a:prstDash val="solid"/>
          </a:ln>
        </p:spPr>
        <p:txBody>
          <a:bodyPr/>
          <a:lstStyle/>
          <a:p>
            <a:endParaRPr/>
          </a:p>
        </p:txBody>
      </p:sp>
      <p:sp>
        <p:nvSpPr>
          <p:cNvPr id="25" name="Text 23">
            <a:extLst>
              <a:ext uri="{FF2B5EF4-FFF2-40B4-BE49-F238E27FC236}">
                <a16:creationId xmlns:a16="http://schemas.microsoft.com/office/drawing/2014/main" id="{562082B4-2299-44A2-889F-15FBC409F312}"/>
              </a:ext>
            </a:extLst>
          </p:cNvPr>
          <p:cNvSpPr>
            <a:spLocks noGrp="1"/>
          </p:cNvSpPr>
          <p:nvPr/>
        </p:nvSpPr>
        <p:spPr>
          <a:xfrm>
            <a:off x="658368" y="3621024"/>
            <a:ext cx="2788920" cy="329184"/>
          </a:xfrm>
          <a:prstGeom prst="rect">
            <a:avLst/>
          </a:prstGeom>
          <a:noFill/>
        </p:spPr>
        <p:txBody>
          <a:bodyPr wrap="square" lIns="0" tIns="0" rIns="0" bIns="0" anchor="ctr"/>
          <a:lstStyle/>
          <a:p>
            <a:pPr marL="0" indent="0">
              <a:buNone/>
            </a:pPr>
            <a:r>
              <a:rPr sz="950" b="1">
                <a:solidFill>
                  <a:srgbClr val="FFB86C"/>
                </a:solidFill>
                <a:latin typeface="Arial"/>
                <a:ea typeface="Arial"/>
                <a:cs typeface="Arial"/>
              </a:rPr>
              <a:t>Presentación</a:t>
            </a:r>
            <a:endParaRPr sz="950"/>
          </a:p>
        </p:txBody>
      </p:sp>
      <p:sp>
        <p:nvSpPr>
          <p:cNvPr id="26" name="Text 24">
            <a:extLst>
              <a:ext uri="{FF2B5EF4-FFF2-40B4-BE49-F238E27FC236}">
                <a16:creationId xmlns:a16="http://schemas.microsoft.com/office/drawing/2014/main" id="{8088A510-9A8A-4F44-B218-D2EDE5C3D6E2}"/>
              </a:ext>
            </a:extLst>
          </p:cNvPr>
          <p:cNvSpPr>
            <a:spLocks noGrp="1"/>
          </p:cNvSpPr>
          <p:nvPr/>
        </p:nvSpPr>
        <p:spPr>
          <a:xfrm>
            <a:off x="3566160" y="3621024"/>
            <a:ext cx="4937760" cy="329184"/>
          </a:xfrm>
          <a:prstGeom prst="rect">
            <a:avLst/>
          </a:prstGeom>
          <a:noFill/>
        </p:spPr>
        <p:txBody>
          <a:bodyPr wrap="square" lIns="0" tIns="0" rIns="0" bIns="0" anchor="ctr"/>
          <a:lstStyle/>
          <a:p>
            <a:pPr marL="0" indent="0">
              <a:buNone/>
            </a:pPr>
            <a:r>
              <a:rPr sz="900">
                <a:solidFill>
                  <a:srgbClr val="E8EEF6"/>
                </a:solidFill>
                <a:latin typeface="Courier New"/>
                <a:ea typeface="Courier New"/>
                <a:cs typeface="Courier New"/>
              </a:rPr>
              <a:t>hoja de estilos CSS</a:t>
            </a:r>
            <a:endParaRPr sz="900"/>
          </a:p>
        </p:txBody>
      </p:sp>
      <p:sp>
        <p:nvSpPr>
          <p:cNvPr id="27" name="Shape 25">
            <a:extLst>
              <a:ext uri="{FF2B5EF4-FFF2-40B4-BE49-F238E27FC236}">
                <a16:creationId xmlns:a16="http://schemas.microsoft.com/office/drawing/2014/main" id="{62B134B4-F1C6-444B-AEC9-FC4567375CB1}"/>
              </a:ext>
            </a:extLst>
          </p:cNvPr>
          <p:cNvSpPr>
            <a:spLocks noGrp="1"/>
          </p:cNvSpPr>
          <p:nvPr/>
        </p:nvSpPr>
        <p:spPr>
          <a:xfrm>
            <a:off x="502920" y="4096512"/>
            <a:ext cx="8138160" cy="548640"/>
          </a:xfrm>
          <a:prstGeom prst="roundRect">
            <a:avLst>
              <a:gd name="adj" fmla="val 8333"/>
            </a:avLst>
          </a:prstGeom>
          <a:solidFill>
            <a:srgbClr val="1A2434"/>
          </a:solidFill>
          <a:ln w="12700">
            <a:solidFill>
              <a:srgbClr val="FFB86C"/>
            </a:solidFill>
            <a:prstDash val="solid"/>
          </a:ln>
        </p:spPr>
        <p:txBody>
          <a:bodyPr/>
          <a:lstStyle/>
          <a:p>
            <a:endParaRPr/>
          </a:p>
        </p:txBody>
      </p:sp>
      <p:sp>
        <p:nvSpPr>
          <p:cNvPr id="28" name="Text 26">
            <a:extLst>
              <a:ext uri="{FF2B5EF4-FFF2-40B4-BE49-F238E27FC236}">
                <a16:creationId xmlns:a16="http://schemas.microsoft.com/office/drawing/2014/main" id="{B13EF181-EB0B-4344-827B-E98918796149}"/>
              </a:ext>
            </a:extLst>
          </p:cNvPr>
          <p:cNvSpPr>
            <a:spLocks noGrp="1"/>
          </p:cNvSpPr>
          <p:nvPr/>
        </p:nvSpPr>
        <p:spPr>
          <a:xfrm>
            <a:off x="731520" y="4187952"/>
            <a:ext cx="7680960" cy="384048"/>
          </a:xfrm>
          <a:prstGeom prst="rect">
            <a:avLst/>
          </a:prstGeom>
          <a:noFill/>
        </p:spPr>
        <p:txBody>
          <a:bodyPr wrap="square" lIns="0" tIns="0" rIns="0" bIns="0" anchor="t"/>
          <a:lstStyle/>
          <a:p>
            <a:pPr marL="0" indent="0">
              <a:lnSpc>
                <a:spcPct val="110000"/>
              </a:lnSpc>
              <a:buNone/>
            </a:pPr>
            <a:r>
              <a:rPr sz="1000">
                <a:solidFill>
                  <a:srgbClr val="E8EEF6"/>
                </a:solidFill>
                <a:latin typeface="Calibri"/>
                <a:ea typeface="Calibri"/>
                <a:cs typeface="Calibri"/>
              </a:rPr>
              <a:t>El diseño orientado a objetos no obliga a usar clases de JavaScript: el modelo conceptual puede materializarse con funciones, consultas y tablas, como en el servidor que ustedes ya escribieron.</a:t>
            </a:r>
            <a:endParaRPr sz="1000"/>
          </a:p>
        </p:txBody>
      </p:sp>
    </p:spTree>
    <p:extLst>
      <p:ext uri="{BB962C8B-B14F-4D97-AF65-F5344CB8AC3E}">
        <p14:creationId xmlns:p14="http://schemas.microsoft.com/office/powerpoint/2010/main" val="656864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229F49A-27A8-40A8-974C-D9A237F422D0}"/>
              </a:ext>
            </a:extLst>
          </p:cNvPr>
          <p:cNvSpPr>
            <a:spLocks noGrp="1"/>
          </p:cNvSpPr>
          <p:nvPr/>
        </p:nvSpPr>
        <p:spPr>
          <a:xfrm>
            <a:off x="502920" y="365760"/>
            <a:ext cx="1440180"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6E16C3DC-1056-4404-AC74-7F4CB700A477}"/>
              </a:ext>
            </a:extLst>
          </p:cNvPr>
          <p:cNvSpPr>
            <a:spLocks noGrp="1"/>
          </p:cNvSpPr>
          <p:nvPr/>
        </p:nvSpPr>
        <p:spPr>
          <a:xfrm>
            <a:off x="502920" y="365760"/>
            <a:ext cx="1440180"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EJEMPLO · 1 / 3</a:t>
            </a:r>
            <a:endParaRPr sz="850"/>
          </a:p>
        </p:txBody>
      </p:sp>
      <p:sp>
        <p:nvSpPr>
          <p:cNvPr id="4" name="Text 2">
            <a:extLst>
              <a:ext uri="{FF2B5EF4-FFF2-40B4-BE49-F238E27FC236}">
                <a16:creationId xmlns:a16="http://schemas.microsoft.com/office/drawing/2014/main" id="{AF6AD21F-FB5C-432F-BCE6-B63E99EF9D1C}"/>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Registro de clientes y solicitudes de soporte</a:t>
            </a:r>
            <a:endParaRPr sz="2300"/>
          </a:p>
        </p:txBody>
      </p:sp>
      <p:sp>
        <p:nvSpPr>
          <p:cNvPr id="5" name="Text 3">
            <a:extLst>
              <a:ext uri="{FF2B5EF4-FFF2-40B4-BE49-F238E27FC236}">
                <a16:creationId xmlns:a16="http://schemas.microsoft.com/office/drawing/2014/main" id="{C55EC204-2EFB-4E46-96DA-05DE375DFC10}"/>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15 / 24</a:t>
            </a:r>
            <a:endParaRPr sz="800"/>
          </a:p>
        </p:txBody>
      </p:sp>
      <p:sp>
        <p:nvSpPr>
          <p:cNvPr id="6" name="Shape 4">
            <a:extLst>
              <a:ext uri="{FF2B5EF4-FFF2-40B4-BE49-F238E27FC236}">
                <a16:creationId xmlns:a16="http://schemas.microsoft.com/office/drawing/2014/main" id="{D1A4019A-9B71-45C2-A721-C56A09F7BA80}"/>
              </a:ext>
            </a:extLst>
          </p:cNvPr>
          <p:cNvSpPr>
            <a:spLocks noGrp="1"/>
          </p:cNvSpPr>
          <p:nvPr/>
        </p:nvSpPr>
        <p:spPr>
          <a:xfrm>
            <a:off x="502920" y="1152144"/>
            <a:ext cx="3611880" cy="2651760"/>
          </a:xfrm>
          <a:prstGeom prst="roundRect">
            <a:avLst>
              <a:gd name="adj" fmla="val 1724"/>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43A2942D-E58E-446A-A837-AE8FF9A454C6}"/>
              </a:ext>
            </a:extLst>
          </p:cNvPr>
          <p:cNvSpPr>
            <a:spLocks noGrp="1"/>
          </p:cNvSpPr>
          <p:nvPr/>
        </p:nvSpPr>
        <p:spPr>
          <a:xfrm>
            <a:off x="649224" y="1271016"/>
            <a:ext cx="3319272" cy="237744"/>
          </a:xfrm>
          <a:prstGeom prst="rect">
            <a:avLst/>
          </a:prstGeom>
          <a:noFill/>
        </p:spPr>
        <p:txBody>
          <a:bodyPr wrap="square" lIns="0" tIns="0" rIns="0" bIns="0" anchor="ctr"/>
          <a:lstStyle/>
          <a:p>
            <a:pPr marL="0" indent="0">
              <a:buNone/>
            </a:pPr>
            <a:r>
              <a:rPr sz="1200" b="1">
                <a:solidFill>
                  <a:srgbClr val="3DDC97"/>
                </a:solidFill>
                <a:latin typeface="Arial"/>
                <a:ea typeface="Arial"/>
                <a:cs typeface="Arial"/>
              </a:rPr>
              <a:t>Requisitos esenciales</a:t>
            </a:r>
            <a:endParaRPr sz="1200"/>
          </a:p>
        </p:txBody>
      </p:sp>
      <p:sp>
        <p:nvSpPr>
          <p:cNvPr id="8" name="Text 6">
            <a:extLst>
              <a:ext uri="{FF2B5EF4-FFF2-40B4-BE49-F238E27FC236}">
                <a16:creationId xmlns:a16="http://schemas.microsoft.com/office/drawing/2014/main" id="{BA871945-4699-4D98-A55C-2B8FB07D8EC9}"/>
              </a:ext>
            </a:extLst>
          </p:cNvPr>
          <p:cNvSpPr>
            <a:spLocks noGrp="1"/>
          </p:cNvSpPr>
          <p:nvPr/>
        </p:nvSpPr>
        <p:spPr>
          <a:xfrm>
            <a:off x="649224" y="1527048"/>
            <a:ext cx="3319272" cy="182880"/>
          </a:xfrm>
          <a:prstGeom prst="rect">
            <a:avLst/>
          </a:prstGeom>
          <a:noFill/>
        </p:spPr>
        <p:txBody>
          <a:bodyPr wrap="square" lIns="0" tIns="0" rIns="0" bIns="0" anchor="ctr"/>
          <a:lstStyle/>
          <a:p>
            <a:pPr marL="0" indent="0">
              <a:buNone/>
            </a:pPr>
            <a:r>
              <a:rPr sz="850">
                <a:solidFill>
                  <a:srgbClr val="6C7E96"/>
                </a:solidFill>
                <a:latin typeface="Arial"/>
                <a:ea typeface="Arial"/>
                <a:cs typeface="Arial"/>
              </a:rPr>
              <a:t>Actor: auxiliar de soporte · sin autenticación</a:t>
            </a:r>
            <a:endParaRPr sz="850"/>
          </a:p>
        </p:txBody>
      </p:sp>
      <p:sp>
        <p:nvSpPr>
          <p:cNvPr id="9" name="Text 7">
            <a:extLst>
              <a:ext uri="{FF2B5EF4-FFF2-40B4-BE49-F238E27FC236}">
                <a16:creationId xmlns:a16="http://schemas.microsoft.com/office/drawing/2014/main" id="{D4D392E5-4190-4CF5-8FAC-3D2EF450BD19}"/>
              </a:ext>
            </a:extLst>
          </p:cNvPr>
          <p:cNvSpPr>
            <a:spLocks noGrp="1"/>
          </p:cNvSpPr>
          <p:nvPr/>
        </p:nvSpPr>
        <p:spPr>
          <a:xfrm>
            <a:off x="758952" y="1746504"/>
            <a:ext cx="3209544" cy="1947672"/>
          </a:xfrm>
          <a:prstGeom prst="rect">
            <a:avLst/>
          </a:prstGeom>
          <a:noFill/>
        </p:spPr>
        <p:txBody>
          <a:bodyPr wrap="square" lIns="0" tIns="0" rIns="0" bIns="0" anchor="t"/>
          <a:lstStyle/>
          <a:p>
            <a:pPr marL="342900" indent="-342900">
              <a:spcAft>
                <a:spcPts val="400"/>
              </a:spcAft>
              <a:buSzPct val="100000"/>
              <a:buChar char="•"/>
            </a:pPr>
            <a:r>
              <a:rPr sz="950">
                <a:solidFill>
                  <a:srgbClr val="E8EEF6"/>
                </a:solidFill>
                <a:latin typeface="Calibri"/>
                <a:ea typeface="Calibri"/>
                <a:cs typeface="Calibri"/>
              </a:rPr>
              <a:t>Consultar y registrar clientes.</a:t>
            </a:r>
            <a:endParaRPr sz="950"/>
          </a:p>
          <a:p>
            <a:pPr marL="342900" indent="-342900">
              <a:spcAft>
                <a:spcPts val="400"/>
              </a:spcAft>
              <a:buSzPct val="100000"/>
              <a:buChar char="•"/>
            </a:pPr>
            <a:r>
              <a:rPr sz="950">
                <a:solidFill>
                  <a:srgbClr val="E8EEF6"/>
                </a:solidFill>
                <a:latin typeface="Calibri"/>
                <a:ea typeface="Calibri"/>
                <a:cs typeface="Calibri"/>
              </a:rPr>
              <a:t>Registrar solicitudes de soporte vinculadas a un cliente.</a:t>
            </a:r>
            <a:endParaRPr sz="950"/>
          </a:p>
          <a:p>
            <a:pPr marL="342900" indent="-342900">
              <a:spcAft>
                <a:spcPts val="400"/>
              </a:spcAft>
              <a:buSzPct val="100000"/>
              <a:buChar char="•"/>
            </a:pPr>
            <a:r>
              <a:rPr sz="950">
                <a:solidFill>
                  <a:srgbClr val="E8EEF6"/>
                </a:solidFill>
                <a:latin typeface="Calibri"/>
                <a:ea typeface="Calibri"/>
                <a:cs typeface="Calibri"/>
              </a:rPr>
              <a:t>La descripción del problema es obligatoria.</a:t>
            </a:r>
            <a:endParaRPr sz="950"/>
          </a:p>
          <a:p>
            <a:pPr marL="342900" indent="-342900">
              <a:spcAft>
                <a:spcPts val="400"/>
              </a:spcAft>
              <a:buSzPct val="100000"/>
              <a:buChar char="•"/>
            </a:pPr>
            <a:r>
              <a:rPr sz="950">
                <a:solidFill>
                  <a:srgbClr val="E8EEF6"/>
                </a:solidFill>
                <a:latin typeface="Calibri"/>
                <a:ea typeface="Calibri"/>
                <a:cs typeface="Calibri"/>
              </a:rPr>
              <a:t>El servidor asigna la fecha y el estado inicial «Pendiente».</a:t>
            </a:r>
            <a:endParaRPr sz="950"/>
          </a:p>
          <a:p>
            <a:pPr marL="342900" indent="-342900">
              <a:spcAft>
                <a:spcPts val="400"/>
              </a:spcAft>
              <a:buSzPct val="100000"/>
              <a:buChar char="•"/>
            </a:pPr>
            <a:r>
              <a:rPr sz="950">
                <a:solidFill>
                  <a:srgbClr val="E8EEF6"/>
                </a:solidFill>
                <a:latin typeface="Calibri"/>
                <a:ea typeface="Calibri"/>
                <a:cs typeface="Calibri"/>
              </a:rPr>
              <a:t>El servidor comprueba que el cliente exista.</a:t>
            </a:r>
            <a:endParaRPr sz="950"/>
          </a:p>
          <a:p>
            <a:pPr marL="342900" indent="-342900">
              <a:spcAft>
                <a:spcPts val="400"/>
              </a:spcAft>
              <a:buSzPct val="100000"/>
              <a:buChar char="•"/>
            </a:pPr>
            <a:r>
              <a:rPr sz="950">
                <a:solidFill>
                  <a:srgbClr val="E8EEF6"/>
                </a:solidFill>
                <a:latin typeface="Calibri"/>
                <a:ea typeface="Calibri"/>
                <a:cs typeface="Calibri"/>
              </a:rPr>
              <a:t>Cada solicitud recibe un identificador generado.</a:t>
            </a:r>
            <a:endParaRPr sz="950"/>
          </a:p>
          <a:p>
            <a:pPr marL="342900" indent="-342900">
              <a:spcAft>
                <a:spcPts val="400"/>
              </a:spcAft>
              <a:buSzPct val="100000"/>
              <a:buChar char="•"/>
            </a:pPr>
            <a:r>
              <a:rPr sz="950">
                <a:solidFill>
                  <a:srgbClr val="E8EEF6"/>
                </a:solidFill>
                <a:latin typeface="Calibri"/>
                <a:ea typeface="Calibri"/>
                <a:cs typeface="Calibri"/>
              </a:rPr>
              <a:t>El ejemplo no incluye catálogos, pagos ni otras funciones.</a:t>
            </a:r>
            <a:endParaRPr sz="950"/>
          </a:p>
        </p:txBody>
      </p:sp>
      <p:sp>
        <p:nvSpPr>
          <p:cNvPr id="10" name="Shape 8">
            <a:extLst>
              <a:ext uri="{FF2B5EF4-FFF2-40B4-BE49-F238E27FC236}">
                <a16:creationId xmlns:a16="http://schemas.microsoft.com/office/drawing/2014/main" id="{DD849870-C460-4DD1-B72F-554BB72D834C}"/>
              </a:ext>
            </a:extLst>
          </p:cNvPr>
          <p:cNvSpPr>
            <a:spLocks noGrp="1"/>
          </p:cNvSpPr>
          <p:nvPr/>
        </p:nvSpPr>
        <p:spPr>
          <a:xfrm>
            <a:off x="4297680" y="1152144"/>
            <a:ext cx="4343400" cy="2651760"/>
          </a:xfrm>
          <a:prstGeom prst="roundRect">
            <a:avLst>
              <a:gd name="adj" fmla="val 1379"/>
            </a:avLst>
          </a:prstGeom>
          <a:solidFill>
            <a:srgbClr val="070C14"/>
          </a:solidFill>
          <a:ln w="12700">
            <a:solidFill>
              <a:srgbClr val="2B3B52"/>
            </a:solidFill>
            <a:prstDash val="solid"/>
          </a:ln>
        </p:spPr>
        <p:txBody>
          <a:bodyPr/>
          <a:lstStyle/>
          <a:p>
            <a:endParaRPr/>
          </a:p>
        </p:txBody>
      </p:sp>
      <p:sp>
        <p:nvSpPr>
          <p:cNvPr id="11" name="Text 9">
            <a:extLst>
              <a:ext uri="{FF2B5EF4-FFF2-40B4-BE49-F238E27FC236}">
                <a16:creationId xmlns:a16="http://schemas.microsoft.com/office/drawing/2014/main" id="{48C98865-8BD7-421D-91B5-1D481F81E259}"/>
              </a:ext>
            </a:extLst>
          </p:cNvPr>
          <p:cNvSpPr>
            <a:spLocks noGrp="1"/>
          </p:cNvSpPr>
          <p:nvPr/>
        </p:nvSpPr>
        <p:spPr>
          <a:xfrm>
            <a:off x="4443984" y="1225296"/>
            <a:ext cx="4050792" cy="182880"/>
          </a:xfrm>
          <a:prstGeom prst="rect">
            <a:avLst/>
          </a:prstGeom>
          <a:noFill/>
        </p:spPr>
        <p:txBody>
          <a:bodyPr wrap="square" lIns="0" tIns="0" rIns="0" bIns="0" anchor="ctr"/>
          <a:lstStyle/>
          <a:p>
            <a:pPr marL="0" indent="0">
              <a:buNone/>
            </a:pPr>
            <a:r>
              <a:rPr sz="850" b="1">
                <a:solidFill>
                  <a:srgbClr val="FF8A3D"/>
                </a:solidFill>
                <a:latin typeface="Courier New"/>
                <a:ea typeface="Courier New"/>
                <a:cs typeface="Courier New"/>
              </a:rPr>
              <a:t>modelo conceptual resuelto</a:t>
            </a:r>
            <a:endParaRPr sz="850"/>
          </a:p>
        </p:txBody>
      </p:sp>
      <p:sp>
        <p:nvSpPr>
          <p:cNvPr id="12" name="Shape 10">
            <a:extLst>
              <a:ext uri="{FF2B5EF4-FFF2-40B4-BE49-F238E27FC236}">
                <a16:creationId xmlns:a16="http://schemas.microsoft.com/office/drawing/2014/main" id="{F82F4CEE-4CE1-407B-A61A-5628EF31A5D7}"/>
              </a:ext>
            </a:extLst>
          </p:cNvPr>
          <p:cNvSpPr>
            <a:spLocks noGrp="1"/>
          </p:cNvSpPr>
          <p:nvPr/>
        </p:nvSpPr>
        <p:spPr>
          <a:xfrm>
            <a:off x="4462272" y="1554480"/>
            <a:ext cx="1691640" cy="1042416"/>
          </a:xfrm>
          <a:prstGeom prst="roundRect">
            <a:avLst>
              <a:gd name="adj" fmla="val 5263"/>
            </a:avLst>
          </a:prstGeom>
          <a:solidFill>
            <a:srgbClr val="1A2434"/>
          </a:solidFill>
          <a:ln w="12700">
            <a:solidFill>
              <a:srgbClr val="3DDC97"/>
            </a:solidFill>
            <a:prstDash val="solid"/>
          </a:ln>
        </p:spPr>
        <p:txBody>
          <a:bodyPr/>
          <a:lstStyle/>
          <a:p>
            <a:endParaRPr/>
          </a:p>
        </p:txBody>
      </p:sp>
      <p:sp>
        <p:nvSpPr>
          <p:cNvPr id="13" name="Text 11">
            <a:extLst>
              <a:ext uri="{FF2B5EF4-FFF2-40B4-BE49-F238E27FC236}">
                <a16:creationId xmlns:a16="http://schemas.microsoft.com/office/drawing/2014/main" id="{A679346E-8388-45D7-889C-95F110ECDFDD}"/>
              </a:ext>
            </a:extLst>
          </p:cNvPr>
          <p:cNvSpPr>
            <a:spLocks noGrp="1"/>
          </p:cNvSpPr>
          <p:nvPr/>
        </p:nvSpPr>
        <p:spPr>
          <a:xfrm>
            <a:off x="4572000" y="1609344"/>
            <a:ext cx="1472184" cy="219456"/>
          </a:xfrm>
          <a:prstGeom prst="rect">
            <a:avLst/>
          </a:prstGeom>
          <a:noFill/>
        </p:spPr>
        <p:txBody>
          <a:bodyPr wrap="square" lIns="0" tIns="0" rIns="0" bIns="0" anchor="ctr"/>
          <a:lstStyle/>
          <a:p>
            <a:pPr marL="0" indent="0">
              <a:buNone/>
            </a:pPr>
            <a:r>
              <a:rPr sz="1050" b="1">
                <a:solidFill>
                  <a:srgbClr val="3DDC97"/>
                </a:solidFill>
                <a:latin typeface="Arial"/>
                <a:ea typeface="Arial"/>
                <a:cs typeface="Arial"/>
              </a:rPr>
              <a:t>Cliente</a:t>
            </a:r>
            <a:endParaRPr sz="1050"/>
          </a:p>
        </p:txBody>
      </p:sp>
      <p:sp>
        <p:nvSpPr>
          <p:cNvPr id="14" name="Text 12">
            <a:extLst>
              <a:ext uri="{FF2B5EF4-FFF2-40B4-BE49-F238E27FC236}">
                <a16:creationId xmlns:a16="http://schemas.microsoft.com/office/drawing/2014/main" id="{DF9FCE4C-7415-4A10-8140-7A197738BFF2}"/>
              </a:ext>
            </a:extLst>
          </p:cNvPr>
          <p:cNvSpPr>
            <a:spLocks noGrp="1"/>
          </p:cNvSpPr>
          <p:nvPr/>
        </p:nvSpPr>
        <p:spPr>
          <a:xfrm>
            <a:off x="4572000" y="1847088"/>
            <a:ext cx="1472184" cy="694944"/>
          </a:xfrm>
          <a:prstGeom prst="rect">
            <a:avLst/>
          </a:prstGeom>
          <a:noFill/>
        </p:spPr>
        <p:txBody>
          <a:bodyPr wrap="square" lIns="0" tIns="0" rIns="0" bIns="0" anchor="t"/>
          <a:lstStyle/>
          <a:p>
            <a:pPr marL="0" indent="0">
              <a:lnSpc>
                <a:spcPct val="115000"/>
              </a:lnSpc>
              <a:buNone/>
            </a:pPr>
            <a:r>
              <a:rPr sz="900">
                <a:solidFill>
                  <a:srgbClr val="E8EEF6"/>
                </a:solidFill>
                <a:latin typeface="Courier New"/>
                <a:ea typeface="Courier New"/>
                <a:cs typeface="Courier New"/>
              </a:rPr>
              <a:t>identificador</a:t>
            </a:r>
            <a:endParaRPr sz="900"/>
          </a:p>
          <a:p>
            <a:pPr marL="0" indent="0">
              <a:lnSpc>
                <a:spcPct val="115000"/>
              </a:lnSpc>
              <a:buNone/>
            </a:pPr>
            <a:r>
              <a:rPr sz="900">
                <a:solidFill>
                  <a:srgbClr val="E8EEF6"/>
                </a:solidFill>
                <a:latin typeface="Courier New"/>
                <a:ea typeface="Courier New"/>
                <a:cs typeface="Courier New"/>
              </a:rPr>
              <a:t>nombre</a:t>
            </a:r>
            <a:endParaRPr sz="900"/>
          </a:p>
          <a:p>
            <a:pPr marL="0" indent="0">
              <a:lnSpc>
                <a:spcPct val="115000"/>
              </a:lnSpc>
              <a:buNone/>
            </a:pPr>
            <a:r>
              <a:rPr sz="900">
                <a:solidFill>
                  <a:srgbClr val="E8EEF6"/>
                </a:solidFill>
                <a:latin typeface="Courier New"/>
                <a:ea typeface="Courier New"/>
                <a:cs typeface="Courier New"/>
              </a:rPr>
              <a:t>correo</a:t>
            </a:r>
            <a:endParaRPr sz="900"/>
          </a:p>
        </p:txBody>
      </p:sp>
      <p:sp>
        <p:nvSpPr>
          <p:cNvPr id="15" name="Shape 13">
            <a:extLst>
              <a:ext uri="{FF2B5EF4-FFF2-40B4-BE49-F238E27FC236}">
                <a16:creationId xmlns:a16="http://schemas.microsoft.com/office/drawing/2014/main" id="{3E49E579-3C96-4FBB-92CD-5E76115FB3D8}"/>
              </a:ext>
            </a:extLst>
          </p:cNvPr>
          <p:cNvSpPr>
            <a:spLocks noGrp="1"/>
          </p:cNvSpPr>
          <p:nvPr/>
        </p:nvSpPr>
        <p:spPr>
          <a:xfrm>
            <a:off x="6858000" y="1554480"/>
            <a:ext cx="1691640" cy="1298448"/>
          </a:xfrm>
          <a:prstGeom prst="roundRect">
            <a:avLst>
              <a:gd name="adj" fmla="val 4225"/>
            </a:avLst>
          </a:prstGeom>
          <a:solidFill>
            <a:srgbClr val="1A2434"/>
          </a:solidFill>
          <a:ln w="12700">
            <a:solidFill>
              <a:srgbClr val="56C7F2"/>
            </a:solidFill>
            <a:prstDash val="solid"/>
          </a:ln>
        </p:spPr>
        <p:txBody>
          <a:bodyPr/>
          <a:lstStyle/>
          <a:p>
            <a:endParaRPr/>
          </a:p>
        </p:txBody>
      </p:sp>
      <p:sp>
        <p:nvSpPr>
          <p:cNvPr id="16" name="Text 14">
            <a:extLst>
              <a:ext uri="{FF2B5EF4-FFF2-40B4-BE49-F238E27FC236}">
                <a16:creationId xmlns:a16="http://schemas.microsoft.com/office/drawing/2014/main" id="{2FEFE2AB-E700-406B-98F4-D28C1582A152}"/>
              </a:ext>
            </a:extLst>
          </p:cNvPr>
          <p:cNvSpPr>
            <a:spLocks noGrp="1"/>
          </p:cNvSpPr>
          <p:nvPr/>
        </p:nvSpPr>
        <p:spPr>
          <a:xfrm>
            <a:off x="6967728" y="1609344"/>
            <a:ext cx="1472184" cy="219456"/>
          </a:xfrm>
          <a:prstGeom prst="rect">
            <a:avLst/>
          </a:prstGeom>
          <a:noFill/>
        </p:spPr>
        <p:txBody>
          <a:bodyPr wrap="square" lIns="0" tIns="0" rIns="0" bIns="0" anchor="ctr"/>
          <a:lstStyle/>
          <a:p>
            <a:pPr marL="0" indent="0">
              <a:buNone/>
            </a:pPr>
            <a:r>
              <a:rPr sz="1050" b="1">
                <a:solidFill>
                  <a:srgbClr val="56C7F2"/>
                </a:solidFill>
                <a:latin typeface="Arial"/>
                <a:ea typeface="Arial"/>
                <a:cs typeface="Arial"/>
              </a:rPr>
              <a:t>Solicitud</a:t>
            </a:r>
            <a:endParaRPr sz="1050"/>
          </a:p>
        </p:txBody>
      </p:sp>
      <p:sp>
        <p:nvSpPr>
          <p:cNvPr id="17" name="Text 15">
            <a:extLst>
              <a:ext uri="{FF2B5EF4-FFF2-40B4-BE49-F238E27FC236}">
                <a16:creationId xmlns:a16="http://schemas.microsoft.com/office/drawing/2014/main" id="{FA1815CB-698A-4D29-B7ED-F019093AFC7A}"/>
              </a:ext>
            </a:extLst>
          </p:cNvPr>
          <p:cNvSpPr>
            <a:spLocks noGrp="1"/>
          </p:cNvSpPr>
          <p:nvPr/>
        </p:nvSpPr>
        <p:spPr>
          <a:xfrm>
            <a:off x="6967728" y="1847088"/>
            <a:ext cx="1472184" cy="932688"/>
          </a:xfrm>
          <a:prstGeom prst="rect">
            <a:avLst/>
          </a:prstGeom>
          <a:noFill/>
        </p:spPr>
        <p:txBody>
          <a:bodyPr wrap="square" lIns="0" tIns="0" rIns="0" bIns="0" anchor="t"/>
          <a:lstStyle/>
          <a:p>
            <a:pPr marL="0" indent="0">
              <a:lnSpc>
                <a:spcPct val="115000"/>
              </a:lnSpc>
              <a:buNone/>
            </a:pPr>
            <a:r>
              <a:rPr sz="900">
                <a:solidFill>
                  <a:srgbClr val="E8EEF6"/>
                </a:solidFill>
                <a:latin typeface="Courier New"/>
                <a:ea typeface="Courier New"/>
                <a:cs typeface="Courier New"/>
              </a:rPr>
              <a:t>identificador</a:t>
            </a:r>
            <a:endParaRPr sz="900"/>
          </a:p>
          <a:p>
            <a:pPr marL="0" indent="0">
              <a:lnSpc>
                <a:spcPct val="115000"/>
              </a:lnSpc>
              <a:buNone/>
            </a:pPr>
            <a:r>
              <a:rPr sz="900">
                <a:solidFill>
                  <a:srgbClr val="E8EEF6"/>
                </a:solidFill>
                <a:latin typeface="Courier New"/>
                <a:ea typeface="Courier New"/>
                <a:cs typeface="Courier New"/>
              </a:rPr>
              <a:t>descripción</a:t>
            </a:r>
            <a:endParaRPr sz="900"/>
          </a:p>
          <a:p>
            <a:pPr marL="0" indent="0">
              <a:lnSpc>
                <a:spcPct val="115000"/>
              </a:lnSpc>
              <a:buNone/>
            </a:pPr>
            <a:r>
              <a:rPr sz="900">
                <a:solidFill>
                  <a:srgbClr val="E8EEF6"/>
                </a:solidFill>
                <a:latin typeface="Courier New"/>
                <a:ea typeface="Courier New"/>
                <a:cs typeface="Courier New"/>
              </a:rPr>
              <a:t>fecha</a:t>
            </a:r>
            <a:endParaRPr sz="900"/>
          </a:p>
          <a:p>
            <a:pPr marL="0" indent="0">
              <a:lnSpc>
                <a:spcPct val="115000"/>
              </a:lnSpc>
              <a:buNone/>
            </a:pPr>
            <a:r>
              <a:rPr sz="900">
                <a:solidFill>
                  <a:srgbClr val="E8EEF6"/>
                </a:solidFill>
                <a:latin typeface="Courier New"/>
                <a:ea typeface="Courier New"/>
                <a:cs typeface="Courier New"/>
              </a:rPr>
              <a:t>estado</a:t>
            </a:r>
            <a:endParaRPr sz="900"/>
          </a:p>
        </p:txBody>
      </p:sp>
      <p:sp>
        <p:nvSpPr>
          <p:cNvPr id="18" name="Shape 16">
            <a:extLst>
              <a:ext uri="{FF2B5EF4-FFF2-40B4-BE49-F238E27FC236}">
                <a16:creationId xmlns:a16="http://schemas.microsoft.com/office/drawing/2014/main" id="{809291AF-301E-4EB4-A54D-EB2630C50C70}"/>
              </a:ext>
            </a:extLst>
          </p:cNvPr>
          <p:cNvSpPr>
            <a:spLocks noGrp="1"/>
          </p:cNvSpPr>
          <p:nvPr/>
        </p:nvSpPr>
        <p:spPr>
          <a:xfrm>
            <a:off x="6153912" y="2075688"/>
            <a:ext cx="704088" cy="0"/>
          </a:xfrm>
          <a:prstGeom prst="line">
            <a:avLst/>
          </a:prstGeom>
          <a:noFill/>
          <a:ln w="15875">
            <a:solidFill>
              <a:srgbClr val="6C7E96"/>
            </a:solidFill>
            <a:prstDash val="solid"/>
          </a:ln>
        </p:spPr>
        <p:txBody>
          <a:bodyPr/>
          <a:lstStyle/>
          <a:p>
            <a:endParaRPr/>
          </a:p>
        </p:txBody>
      </p:sp>
      <p:sp>
        <p:nvSpPr>
          <p:cNvPr id="19" name="Text 17">
            <a:extLst>
              <a:ext uri="{FF2B5EF4-FFF2-40B4-BE49-F238E27FC236}">
                <a16:creationId xmlns:a16="http://schemas.microsoft.com/office/drawing/2014/main" id="{2220EF05-655D-4155-B50F-693F7A3F288A}"/>
              </a:ext>
            </a:extLst>
          </p:cNvPr>
          <p:cNvSpPr>
            <a:spLocks noGrp="1"/>
          </p:cNvSpPr>
          <p:nvPr/>
        </p:nvSpPr>
        <p:spPr>
          <a:xfrm>
            <a:off x="6135624" y="2103120"/>
            <a:ext cx="201168" cy="164592"/>
          </a:xfrm>
          <a:prstGeom prst="rect">
            <a:avLst/>
          </a:prstGeom>
          <a:noFill/>
        </p:spPr>
        <p:txBody>
          <a:bodyPr wrap="square" lIns="0" tIns="0" rIns="0" bIns="0" anchor="ctr"/>
          <a:lstStyle/>
          <a:p>
            <a:pPr marL="0" indent="0" algn="ctr">
              <a:buNone/>
            </a:pPr>
            <a:r>
              <a:rPr sz="850" b="1">
                <a:solidFill>
                  <a:srgbClr val="93A5BD"/>
                </a:solidFill>
                <a:latin typeface="Courier New"/>
                <a:ea typeface="Courier New"/>
                <a:cs typeface="Courier New"/>
              </a:rPr>
              <a:t>1</a:t>
            </a:r>
            <a:endParaRPr sz="850"/>
          </a:p>
        </p:txBody>
      </p:sp>
      <p:sp>
        <p:nvSpPr>
          <p:cNvPr id="20" name="Text 18">
            <a:extLst>
              <a:ext uri="{FF2B5EF4-FFF2-40B4-BE49-F238E27FC236}">
                <a16:creationId xmlns:a16="http://schemas.microsoft.com/office/drawing/2014/main" id="{68A2AABC-1CC6-42E1-B9EA-3F1EB2DC7279}"/>
              </a:ext>
            </a:extLst>
          </p:cNvPr>
          <p:cNvSpPr>
            <a:spLocks noGrp="1"/>
          </p:cNvSpPr>
          <p:nvPr/>
        </p:nvSpPr>
        <p:spPr>
          <a:xfrm>
            <a:off x="6492240" y="2103120"/>
            <a:ext cx="347472" cy="164592"/>
          </a:xfrm>
          <a:prstGeom prst="rect">
            <a:avLst/>
          </a:prstGeom>
          <a:noFill/>
        </p:spPr>
        <p:txBody>
          <a:bodyPr wrap="square" lIns="0" tIns="0" rIns="0" bIns="0" anchor="ctr"/>
          <a:lstStyle/>
          <a:p>
            <a:pPr marL="0" indent="0" algn="ctr">
              <a:buNone/>
            </a:pPr>
            <a:r>
              <a:rPr sz="850" b="1">
                <a:solidFill>
                  <a:srgbClr val="93A5BD"/>
                </a:solidFill>
                <a:latin typeface="Courier New"/>
                <a:ea typeface="Courier New"/>
                <a:cs typeface="Courier New"/>
              </a:rPr>
              <a:t>0..*</a:t>
            </a:r>
            <a:endParaRPr sz="850"/>
          </a:p>
        </p:txBody>
      </p:sp>
      <p:sp>
        <p:nvSpPr>
          <p:cNvPr id="21" name="Text 19">
            <a:extLst>
              <a:ext uri="{FF2B5EF4-FFF2-40B4-BE49-F238E27FC236}">
                <a16:creationId xmlns:a16="http://schemas.microsoft.com/office/drawing/2014/main" id="{3FA20CC4-3DC9-4448-9070-D493B4AA6F19}"/>
              </a:ext>
            </a:extLst>
          </p:cNvPr>
          <p:cNvSpPr>
            <a:spLocks noGrp="1"/>
          </p:cNvSpPr>
          <p:nvPr/>
        </p:nvSpPr>
        <p:spPr>
          <a:xfrm>
            <a:off x="6153912" y="1865376"/>
            <a:ext cx="704088" cy="164592"/>
          </a:xfrm>
          <a:prstGeom prst="rect">
            <a:avLst/>
          </a:prstGeom>
          <a:noFill/>
        </p:spPr>
        <p:txBody>
          <a:bodyPr wrap="square" lIns="0" tIns="0" rIns="0" bIns="0" anchor="ctr"/>
          <a:lstStyle/>
          <a:p>
            <a:pPr marL="0" indent="0" algn="ctr">
              <a:buNone/>
            </a:pPr>
            <a:r>
              <a:rPr sz="800" i="1">
                <a:solidFill>
                  <a:srgbClr val="6C7E96"/>
                </a:solidFill>
                <a:latin typeface="Calibri"/>
                <a:ea typeface="Calibri"/>
                <a:cs typeface="Calibri"/>
              </a:rPr>
              <a:t>tiene</a:t>
            </a:r>
            <a:endParaRPr sz="800"/>
          </a:p>
        </p:txBody>
      </p:sp>
      <p:sp>
        <p:nvSpPr>
          <p:cNvPr id="22" name="Text 20">
            <a:extLst>
              <a:ext uri="{FF2B5EF4-FFF2-40B4-BE49-F238E27FC236}">
                <a16:creationId xmlns:a16="http://schemas.microsoft.com/office/drawing/2014/main" id="{29C43209-D1E6-403D-B9B9-F21A34E1642D}"/>
              </a:ext>
            </a:extLst>
          </p:cNvPr>
          <p:cNvSpPr>
            <a:spLocks noGrp="1"/>
          </p:cNvSpPr>
          <p:nvPr/>
        </p:nvSpPr>
        <p:spPr>
          <a:xfrm>
            <a:off x="4480560" y="2999232"/>
            <a:ext cx="3977640" cy="603504"/>
          </a:xfrm>
          <a:prstGeom prst="rect">
            <a:avLst/>
          </a:prstGeom>
          <a:noFill/>
        </p:spPr>
        <p:txBody>
          <a:bodyPr wrap="square" lIns="0" tIns="0" rIns="0" bIns="0" anchor="t"/>
          <a:lstStyle/>
          <a:p>
            <a:pPr marL="0" indent="0">
              <a:lnSpc>
                <a:spcPct val="110000"/>
              </a:lnSpc>
              <a:buNone/>
            </a:pPr>
            <a:r>
              <a:rPr sz="900">
                <a:solidFill>
                  <a:srgbClr val="93A5BD"/>
                </a:solidFill>
                <a:latin typeface="Calibri"/>
                <a:ea typeface="Calibri"/>
                <a:cs typeface="Calibri"/>
              </a:rPr>
              <a:t>Un cliente puede tener cero o muchas solicitudes; cada solicitud pertenece a exactamente un cliente. El modelo no menciona pantallas, rutas ni tablas: solo el dominio.</a:t>
            </a:r>
            <a:endParaRPr sz="900"/>
          </a:p>
        </p:txBody>
      </p:sp>
      <p:sp>
        <p:nvSpPr>
          <p:cNvPr id="23" name="Shape 21">
            <a:extLst>
              <a:ext uri="{FF2B5EF4-FFF2-40B4-BE49-F238E27FC236}">
                <a16:creationId xmlns:a16="http://schemas.microsoft.com/office/drawing/2014/main" id="{A8B165EF-08EC-41E8-8824-4ACB00FF6507}"/>
              </a:ext>
            </a:extLst>
          </p:cNvPr>
          <p:cNvSpPr>
            <a:spLocks noGrp="1"/>
          </p:cNvSpPr>
          <p:nvPr/>
        </p:nvSpPr>
        <p:spPr>
          <a:xfrm>
            <a:off x="502920" y="3968496"/>
            <a:ext cx="8138160" cy="640080"/>
          </a:xfrm>
          <a:prstGeom prst="roundRect">
            <a:avLst>
              <a:gd name="adj" fmla="val 7143"/>
            </a:avLst>
          </a:prstGeom>
          <a:solidFill>
            <a:srgbClr val="1A2434"/>
          </a:solidFill>
          <a:ln w="12700">
            <a:solidFill>
              <a:srgbClr val="3DDC97"/>
            </a:solidFill>
            <a:prstDash val="solid"/>
          </a:ln>
        </p:spPr>
        <p:txBody>
          <a:bodyPr/>
          <a:lstStyle/>
          <a:p>
            <a:endParaRPr/>
          </a:p>
        </p:txBody>
      </p:sp>
      <p:sp>
        <p:nvSpPr>
          <p:cNvPr id="24" name="Text 22">
            <a:extLst>
              <a:ext uri="{FF2B5EF4-FFF2-40B4-BE49-F238E27FC236}">
                <a16:creationId xmlns:a16="http://schemas.microsoft.com/office/drawing/2014/main" id="{43A14204-F853-4A1C-922A-D189D9132C21}"/>
              </a:ext>
            </a:extLst>
          </p:cNvPr>
          <p:cNvSpPr>
            <a:spLocks noGrp="1"/>
          </p:cNvSpPr>
          <p:nvPr/>
        </p:nvSpPr>
        <p:spPr>
          <a:xfrm>
            <a:off x="731520" y="4059936"/>
            <a:ext cx="7680960" cy="475488"/>
          </a:xfrm>
          <a:prstGeom prst="rect">
            <a:avLst/>
          </a:prstGeom>
          <a:noFill/>
        </p:spPr>
        <p:txBody>
          <a:bodyPr wrap="square" lIns="0" tIns="0" rIns="0" bIns="0" anchor="t"/>
          <a:lstStyle/>
          <a:p>
            <a:pPr marL="0" indent="0">
              <a:lnSpc>
                <a:spcPct val="110000"/>
              </a:lnSpc>
              <a:buNone/>
            </a:pPr>
            <a:r>
              <a:rPr sz="1000">
                <a:solidFill>
                  <a:srgbClr val="E8EEF6"/>
                </a:solidFill>
                <a:latin typeface="Calibri"/>
                <a:ea typeface="Calibri"/>
                <a:cs typeface="Calibri"/>
              </a:rPr>
              <a:t>Esquema simplificado con propósito didáctico: se representan dos clases y una relación. El identificador del cliente sirve para localizarlo y no constituye autenticación.</a:t>
            </a:r>
            <a:endParaRPr sz="1000"/>
          </a:p>
        </p:txBody>
      </p:sp>
    </p:spTree>
    <p:extLst>
      <p:ext uri="{BB962C8B-B14F-4D97-AF65-F5344CB8AC3E}">
        <p14:creationId xmlns:p14="http://schemas.microsoft.com/office/powerpoint/2010/main" val="850996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8BCF69A-B0AD-43E9-8402-01310842DA62}"/>
              </a:ext>
            </a:extLst>
          </p:cNvPr>
          <p:cNvSpPr>
            <a:spLocks noGrp="1"/>
          </p:cNvSpPr>
          <p:nvPr/>
        </p:nvSpPr>
        <p:spPr>
          <a:xfrm>
            <a:off x="502920" y="365760"/>
            <a:ext cx="1440180"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FC4EC2E7-10EA-417B-9AE3-B9A425EF1BAD}"/>
              </a:ext>
            </a:extLst>
          </p:cNvPr>
          <p:cNvSpPr>
            <a:spLocks noGrp="1"/>
          </p:cNvSpPr>
          <p:nvPr/>
        </p:nvSpPr>
        <p:spPr>
          <a:xfrm>
            <a:off x="502920" y="365760"/>
            <a:ext cx="1440180"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EJEMPLO · 2 / 3</a:t>
            </a:r>
            <a:endParaRPr sz="850"/>
          </a:p>
        </p:txBody>
      </p:sp>
      <p:sp>
        <p:nvSpPr>
          <p:cNvPr id="4" name="Text 2">
            <a:extLst>
              <a:ext uri="{FF2B5EF4-FFF2-40B4-BE49-F238E27FC236}">
                <a16:creationId xmlns:a16="http://schemas.microsoft.com/office/drawing/2014/main" id="{3EE12070-858E-4462-82A5-EC1349C31495}"/>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Recorrido del auxiliar de soporte</a:t>
            </a:r>
            <a:endParaRPr sz="2300"/>
          </a:p>
        </p:txBody>
      </p:sp>
      <p:sp>
        <p:nvSpPr>
          <p:cNvPr id="5" name="Text 3">
            <a:extLst>
              <a:ext uri="{FF2B5EF4-FFF2-40B4-BE49-F238E27FC236}">
                <a16:creationId xmlns:a16="http://schemas.microsoft.com/office/drawing/2014/main" id="{D61F0D88-8E2A-4B7D-9325-153B3E91F959}"/>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16 / 24</a:t>
            </a:r>
            <a:endParaRPr sz="800"/>
          </a:p>
        </p:txBody>
      </p:sp>
      <p:sp>
        <p:nvSpPr>
          <p:cNvPr id="6" name="Shape 4">
            <a:extLst>
              <a:ext uri="{FF2B5EF4-FFF2-40B4-BE49-F238E27FC236}">
                <a16:creationId xmlns:a16="http://schemas.microsoft.com/office/drawing/2014/main" id="{E662D065-9F2B-4B7D-8E3C-4046077B3445}"/>
              </a:ext>
            </a:extLst>
          </p:cNvPr>
          <p:cNvSpPr>
            <a:spLocks noGrp="1"/>
          </p:cNvSpPr>
          <p:nvPr/>
        </p:nvSpPr>
        <p:spPr>
          <a:xfrm>
            <a:off x="502920" y="1316736"/>
            <a:ext cx="1874520" cy="1481328"/>
          </a:xfrm>
          <a:prstGeom prst="roundRect">
            <a:avLst>
              <a:gd name="adj" fmla="val 3704"/>
            </a:avLst>
          </a:prstGeom>
          <a:solidFill>
            <a:srgbClr val="1A2434"/>
          </a:solidFill>
          <a:ln w="12700">
            <a:solidFill>
              <a:srgbClr val="FFB86C"/>
            </a:solidFill>
            <a:prstDash val="solid"/>
          </a:ln>
        </p:spPr>
        <p:txBody>
          <a:bodyPr/>
          <a:lstStyle/>
          <a:p>
            <a:endParaRPr/>
          </a:p>
        </p:txBody>
      </p:sp>
      <p:sp>
        <p:nvSpPr>
          <p:cNvPr id="7" name="Text 5">
            <a:extLst>
              <a:ext uri="{FF2B5EF4-FFF2-40B4-BE49-F238E27FC236}">
                <a16:creationId xmlns:a16="http://schemas.microsoft.com/office/drawing/2014/main" id="{27B6307A-8E56-4C15-AF1D-850F4C1AC418}"/>
              </a:ext>
            </a:extLst>
          </p:cNvPr>
          <p:cNvSpPr>
            <a:spLocks noGrp="1"/>
          </p:cNvSpPr>
          <p:nvPr/>
        </p:nvSpPr>
        <p:spPr>
          <a:xfrm>
            <a:off x="630936" y="1389888"/>
            <a:ext cx="1618488" cy="402336"/>
          </a:xfrm>
          <a:prstGeom prst="rect">
            <a:avLst/>
          </a:prstGeom>
          <a:noFill/>
        </p:spPr>
        <p:txBody>
          <a:bodyPr wrap="square" lIns="0" tIns="0" rIns="0" bIns="0" anchor="t"/>
          <a:lstStyle/>
          <a:p>
            <a:pPr marL="0" indent="0">
              <a:lnSpc>
                <a:spcPct val="100000"/>
              </a:lnSpc>
              <a:buNone/>
            </a:pPr>
            <a:r>
              <a:rPr sz="1000" b="1">
                <a:solidFill>
                  <a:srgbClr val="FFB86C"/>
                </a:solidFill>
                <a:latin typeface="Arial"/>
                <a:ea typeface="Arial"/>
                <a:cs typeface="Arial"/>
              </a:rPr>
              <a:t>Índice de clientes</a:t>
            </a:r>
            <a:endParaRPr sz="1000"/>
          </a:p>
        </p:txBody>
      </p:sp>
      <p:sp>
        <p:nvSpPr>
          <p:cNvPr id="8" name="Text 6">
            <a:extLst>
              <a:ext uri="{FF2B5EF4-FFF2-40B4-BE49-F238E27FC236}">
                <a16:creationId xmlns:a16="http://schemas.microsoft.com/office/drawing/2014/main" id="{92A39C12-856B-4DE6-8017-56D8C632931C}"/>
              </a:ext>
            </a:extLst>
          </p:cNvPr>
          <p:cNvSpPr>
            <a:spLocks noGrp="1"/>
          </p:cNvSpPr>
          <p:nvPr/>
        </p:nvSpPr>
        <p:spPr>
          <a:xfrm>
            <a:off x="630936" y="1810512"/>
            <a:ext cx="1618488" cy="658368"/>
          </a:xfrm>
          <a:prstGeom prst="rect">
            <a:avLst/>
          </a:prstGeom>
          <a:noFill/>
        </p:spPr>
        <p:txBody>
          <a:bodyPr wrap="square" lIns="0" tIns="0" rIns="0" bIns="0" anchor="t"/>
          <a:lstStyle/>
          <a:p>
            <a:pPr marL="0" indent="0">
              <a:lnSpc>
                <a:spcPct val="108000"/>
              </a:lnSpc>
              <a:buNone/>
            </a:pPr>
            <a:r>
              <a:rPr sz="850">
                <a:solidFill>
                  <a:srgbClr val="E8EEF6"/>
                </a:solidFill>
                <a:latin typeface="Calibri"/>
                <a:ea typeface="Calibri"/>
                <a:cs typeface="Calibri"/>
              </a:rPr>
              <a:t>Listado con búsqueda por nombre. Permite registrar un cliente nuevo.</a:t>
            </a:r>
            <a:endParaRPr sz="850"/>
          </a:p>
        </p:txBody>
      </p:sp>
      <p:sp>
        <p:nvSpPr>
          <p:cNvPr id="9" name="Text 7">
            <a:extLst>
              <a:ext uri="{FF2B5EF4-FFF2-40B4-BE49-F238E27FC236}">
                <a16:creationId xmlns:a16="http://schemas.microsoft.com/office/drawing/2014/main" id="{9DC484C5-DE85-4370-A1E0-B933230958F5}"/>
              </a:ext>
            </a:extLst>
          </p:cNvPr>
          <p:cNvSpPr>
            <a:spLocks noGrp="1"/>
          </p:cNvSpPr>
          <p:nvPr/>
        </p:nvSpPr>
        <p:spPr>
          <a:xfrm>
            <a:off x="630936" y="2523744"/>
            <a:ext cx="1618488" cy="201168"/>
          </a:xfrm>
          <a:prstGeom prst="rect">
            <a:avLst/>
          </a:prstGeom>
          <a:noFill/>
        </p:spPr>
        <p:txBody>
          <a:bodyPr wrap="square" lIns="0" tIns="0" rIns="0" bIns="0" anchor="ctr"/>
          <a:lstStyle/>
          <a:p>
            <a:pPr marL="0" indent="0">
              <a:buNone/>
            </a:pPr>
            <a:r>
              <a:rPr sz="750" i="1">
                <a:solidFill>
                  <a:srgbClr val="FFB86C"/>
                </a:solidFill>
                <a:latin typeface="Calibri"/>
                <a:ea typeface="Calibri"/>
                <a:cs typeface="Calibri"/>
              </a:rPr>
              <a:t>entrada al sistema</a:t>
            </a:r>
            <a:endParaRPr sz="750"/>
          </a:p>
        </p:txBody>
      </p:sp>
      <p:sp>
        <p:nvSpPr>
          <p:cNvPr id="10" name="Shape 8">
            <a:extLst>
              <a:ext uri="{FF2B5EF4-FFF2-40B4-BE49-F238E27FC236}">
                <a16:creationId xmlns:a16="http://schemas.microsoft.com/office/drawing/2014/main" id="{04066F42-2071-4BA7-BAB9-3CB39C0765CC}"/>
              </a:ext>
            </a:extLst>
          </p:cNvPr>
          <p:cNvSpPr>
            <a:spLocks noGrp="1"/>
          </p:cNvSpPr>
          <p:nvPr/>
        </p:nvSpPr>
        <p:spPr>
          <a:xfrm>
            <a:off x="2423160" y="2057400"/>
            <a:ext cx="128016" cy="0"/>
          </a:xfrm>
          <a:prstGeom prst="line">
            <a:avLst/>
          </a:prstGeom>
          <a:noFill/>
          <a:ln w="15875">
            <a:solidFill>
              <a:srgbClr val="6C7E96"/>
            </a:solidFill>
            <a:prstDash val="solid"/>
            <a:tailEnd type="triangle"/>
          </a:ln>
        </p:spPr>
        <p:txBody>
          <a:bodyPr/>
          <a:lstStyle/>
          <a:p>
            <a:endParaRPr/>
          </a:p>
        </p:txBody>
      </p:sp>
      <p:sp>
        <p:nvSpPr>
          <p:cNvPr id="11" name="Shape 9">
            <a:extLst>
              <a:ext uri="{FF2B5EF4-FFF2-40B4-BE49-F238E27FC236}">
                <a16:creationId xmlns:a16="http://schemas.microsoft.com/office/drawing/2014/main" id="{FF36681D-D475-48F5-801E-5449A074EFBD}"/>
              </a:ext>
            </a:extLst>
          </p:cNvPr>
          <p:cNvSpPr>
            <a:spLocks noGrp="1"/>
          </p:cNvSpPr>
          <p:nvPr/>
        </p:nvSpPr>
        <p:spPr>
          <a:xfrm>
            <a:off x="2587752" y="1316736"/>
            <a:ext cx="1874520" cy="1481328"/>
          </a:xfrm>
          <a:prstGeom prst="roundRect">
            <a:avLst>
              <a:gd name="adj" fmla="val 3704"/>
            </a:avLst>
          </a:prstGeom>
          <a:solidFill>
            <a:srgbClr val="1A2434"/>
          </a:solidFill>
          <a:ln w="12700">
            <a:solidFill>
              <a:srgbClr val="3DDC97"/>
            </a:solidFill>
            <a:prstDash val="solid"/>
          </a:ln>
        </p:spPr>
        <p:txBody>
          <a:bodyPr/>
          <a:lstStyle/>
          <a:p>
            <a:endParaRPr/>
          </a:p>
        </p:txBody>
      </p:sp>
      <p:sp>
        <p:nvSpPr>
          <p:cNvPr id="12" name="Text 10">
            <a:extLst>
              <a:ext uri="{FF2B5EF4-FFF2-40B4-BE49-F238E27FC236}">
                <a16:creationId xmlns:a16="http://schemas.microsoft.com/office/drawing/2014/main" id="{BBF5261B-7F89-4F4C-90B0-9D6CB74E78F1}"/>
              </a:ext>
            </a:extLst>
          </p:cNvPr>
          <p:cNvSpPr>
            <a:spLocks noGrp="1"/>
          </p:cNvSpPr>
          <p:nvPr/>
        </p:nvSpPr>
        <p:spPr>
          <a:xfrm>
            <a:off x="2715768" y="1389888"/>
            <a:ext cx="1618488" cy="402336"/>
          </a:xfrm>
          <a:prstGeom prst="rect">
            <a:avLst/>
          </a:prstGeom>
          <a:noFill/>
        </p:spPr>
        <p:txBody>
          <a:bodyPr wrap="square" lIns="0" tIns="0" rIns="0" bIns="0" anchor="t"/>
          <a:lstStyle/>
          <a:p>
            <a:pPr marL="0" indent="0">
              <a:lnSpc>
                <a:spcPct val="100000"/>
              </a:lnSpc>
              <a:buNone/>
            </a:pPr>
            <a:r>
              <a:rPr sz="1000" b="1">
                <a:solidFill>
                  <a:srgbClr val="3DDC97"/>
                </a:solidFill>
                <a:latin typeface="Arial"/>
                <a:ea typeface="Arial"/>
                <a:cs typeface="Arial"/>
              </a:rPr>
              <a:t>Detalle del cliente</a:t>
            </a:r>
            <a:endParaRPr sz="1000"/>
          </a:p>
        </p:txBody>
      </p:sp>
      <p:sp>
        <p:nvSpPr>
          <p:cNvPr id="13" name="Text 11">
            <a:extLst>
              <a:ext uri="{FF2B5EF4-FFF2-40B4-BE49-F238E27FC236}">
                <a16:creationId xmlns:a16="http://schemas.microsoft.com/office/drawing/2014/main" id="{EF20FADE-8B9B-430E-8222-B3AA560B31F3}"/>
              </a:ext>
            </a:extLst>
          </p:cNvPr>
          <p:cNvSpPr>
            <a:spLocks noGrp="1"/>
          </p:cNvSpPr>
          <p:nvPr/>
        </p:nvSpPr>
        <p:spPr>
          <a:xfrm>
            <a:off x="2715768" y="1810512"/>
            <a:ext cx="1618488" cy="658368"/>
          </a:xfrm>
          <a:prstGeom prst="rect">
            <a:avLst/>
          </a:prstGeom>
          <a:noFill/>
        </p:spPr>
        <p:txBody>
          <a:bodyPr wrap="square" lIns="0" tIns="0" rIns="0" bIns="0" anchor="t"/>
          <a:lstStyle/>
          <a:p>
            <a:pPr marL="0" indent="0">
              <a:lnSpc>
                <a:spcPct val="108000"/>
              </a:lnSpc>
              <a:buNone/>
            </a:pPr>
            <a:r>
              <a:rPr sz="850">
                <a:solidFill>
                  <a:srgbClr val="E8EEF6"/>
                </a:solidFill>
                <a:latin typeface="Calibri"/>
                <a:ea typeface="Calibri"/>
                <a:cs typeface="Calibri"/>
              </a:rPr>
              <a:t>Identificador, nombre y correo del cliente seleccionado.</a:t>
            </a:r>
            <a:endParaRPr sz="850"/>
          </a:p>
        </p:txBody>
      </p:sp>
      <p:sp>
        <p:nvSpPr>
          <p:cNvPr id="14" name="Text 12">
            <a:extLst>
              <a:ext uri="{FF2B5EF4-FFF2-40B4-BE49-F238E27FC236}">
                <a16:creationId xmlns:a16="http://schemas.microsoft.com/office/drawing/2014/main" id="{CC1C44A0-89B8-44F9-81BD-A6FAB36DE7B2}"/>
              </a:ext>
            </a:extLst>
          </p:cNvPr>
          <p:cNvSpPr>
            <a:spLocks noGrp="1"/>
          </p:cNvSpPr>
          <p:nvPr/>
        </p:nvSpPr>
        <p:spPr>
          <a:xfrm>
            <a:off x="2715768" y="2523744"/>
            <a:ext cx="1618488" cy="201168"/>
          </a:xfrm>
          <a:prstGeom prst="rect">
            <a:avLst/>
          </a:prstGeom>
          <a:noFill/>
        </p:spPr>
        <p:txBody>
          <a:bodyPr wrap="square" lIns="0" tIns="0" rIns="0" bIns="0" anchor="ctr"/>
          <a:lstStyle/>
          <a:p>
            <a:pPr marL="0" indent="0">
              <a:buNone/>
            </a:pPr>
            <a:r>
              <a:rPr sz="750" i="1">
                <a:solidFill>
                  <a:srgbClr val="3DDC97"/>
                </a:solidFill>
                <a:latin typeface="Calibri"/>
                <a:ea typeface="Calibri"/>
                <a:cs typeface="Calibri"/>
              </a:rPr>
              <a:t>enlace: ver detalle</a:t>
            </a:r>
            <a:endParaRPr sz="750"/>
          </a:p>
        </p:txBody>
      </p:sp>
      <p:sp>
        <p:nvSpPr>
          <p:cNvPr id="15" name="Shape 13">
            <a:extLst>
              <a:ext uri="{FF2B5EF4-FFF2-40B4-BE49-F238E27FC236}">
                <a16:creationId xmlns:a16="http://schemas.microsoft.com/office/drawing/2014/main" id="{DDA46054-163D-49CB-A3C4-65A356AB1557}"/>
              </a:ext>
            </a:extLst>
          </p:cNvPr>
          <p:cNvSpPr>
            <a:spLocks noGrp="1"/>
          </p:cNvSpPr>
          <p:nvPr/>
        </p:nvSpPr>
        <p:spPr>
          <a:xfrm>
            <a:off x="4507992" y="2057400"/>
            <a:ext cx="128016" cy="0"/>
          </a:xfrm>
          <a:prstGeom prst="line">
            <a:avLst/>
          </a:prstGeom>
          <a:noFill/>
          <a:ln w="15875">
            <a:solidFill>
              <a:srgbClr val="6C7E96"/>
            </a:solidFill>
            <a:prstDash val="solid"/>
            <a:tailEnd type="triangle"/>
          </a:ln>
        </p:spPr>
        <p:txBody>
          <a:bodyPr/>
          <a:lstStyle/>
          <a:p>
            <a:endParaRPr/>
          </a:p>
        </p:txBody>
      </p:sp>
      <p:sp>
        <p:nvSpPr>
          <p:cNvPr id="16" name="Shape 14">
            <a:extLst>
              <a:ext uri="{FF2B5EF4-FFF2-40B4-BE49-F238E27FC236}">
                <a16:creationId xmlns:a16="http://schemas.microsoft.com/office/drawing/2014/main" id="{F0247886-9C97-462A-86BD-C716BC0E0462}"/>
              </a:ext>
            </a:extLst>
          </p:cNvPr>
          <p:cNvSpPr>
            <a:spLocks noGrp="1"/>
          </p:cNvSpPr>
          <p:nvPr/>
        </p:nvSpPr>
        <p:spPr>
          <a:xfrm>
            <a:off x="4672584" y="1316736"/>
            <a:ext cx="1874520" cy="1481328"/>
          </a:xfrm>
          <a:prstGeom prst="roundRect">
            <a:avLst>
              <a:gd name="adj" fmla="val 3704"/>
            </a:avLst>
          </a:prstGeom>
          <a:solidFill>
            <a:srgbClr val="1A2434"/>
          </a:solidFill>
          <a:ln w="12700">
            <a:solidFill>
              <a:srgbClr val="56C7F2"/>
            </a:solidFill>
            <a:prstDash val="solid"/>
          </a:ln>
        </p:spPr>
        <p:txBody>
          <a:bodyPr/>
          <a:lstStyle/>
          <a:p>
            <a:endParaRPr/>
          </a:p>
        </p:txBody>
      </p:sp>
      <p:sp>
        <p:nvSpPr>
          <p:cNvPr id="17" name="Text 15">
            <a:extLst>
              <a:ext uri="{FF2B5EF4-FFF2-40B4-BE49-F238E27FC236}">
                <a16:creationId xmlns:a16="http://schemas.microsoft.com/office/drawing/2014/main" id="{9C7E600B-B765-4458-91E2-9E77E3C03150}"/>
              </a:ext>
            </a:extLst>
          </p:cNvPr>
          <p:cNvSpPr>
            <a:spLocks noGrp="1"/>
          </p:cNvSpPr>
          <p:nvPr/>
        </p:nvSpPr>
        <p:spPr>
          <a:xfrm>
            <a:off x="4800600" y="1389888"/>
            <a:ext cx="1618488" cy="402336"/>
          </a:xfrm>
          <a:prstGeom prst="rect">
            <a:avLst/>
          </a:prstGeom>
          <a:noFill/>
        </p:spPr>
        <p:txBody>
          <a:bodyPr wrap="square" lIns="0" tIns="0" rIns="0" bIns="0" anchor="t"/>
          <a:lstStyle/>
          <a:p>
            <a:pPr marL="0" indent="0">
              <a:lnSpc>
                <a:spcPct val="100000"/>
              </a:lnSpc>
              <a:buNone/>
            </a:pPr>
            <a:r>
              <a:rPr sz="1000" b="1">
                <a:solidFill>
                  <a:srgbClr val="56C7F2"/>
                </a:solidFill>
                <a:latin typeface="Arial"/>
                <a:ea typeface="Arial"/>
                <a:cs typeface="Arial"/>
              </a:rPr>
              <a:t>Nueva solicitud</a:t>
            </a:r>
            <a:endParaRPr sz="1000"/>
          </a:p>
        </p:txBody>
      </p:sp>
      <p:sp>
        <p:nvSpPr>
          <p:cNvPr id="18" name="Text 16">
            <a:extLst>
              <a:ext uri="{FF2B5EF4-FFF2-40B4-BE49-F238E27FC236}">
                <a16:creationId xmlns:a16="http://schemas.microsoft.com/office/drawing/2014/main" id="{80DE59D6-0C16-420D-BEB0-30F97065EBB6}"/>
              </a:ext>
            </a:extLst>
          </p:cNvPr>
          <p:cNvSpPr>
            <a:spLocks noGrp="1"/>
          </p:cNvSpPr>
          <p:nvPr/>
        </p:nvSpPr>
        <p:spPr>
          <a:xfrm>
            <a:off x="4800600" y="1810512"/>
            <a:ext cx="1618488" cy="658368"/>
          </a:xfrm>
          <a:prstGeom prst="rect">
            <a:avLst/>
          </a:prstGeom>
          <a:noFill/>
        </p:spPr>
        <p:txBody>
          <a:bodyPr wrap="square" lIns="0" tIns="0" rIns="0" bIns="0" anchor="t"/>
          <a:lstStyle/>
          <a:p>
            <a:pPr marL="0" indent="0">
              <a:lnSpc>
                <a:spcPct val="108000"/>
              </a:lnSpc>
              <a:buNone/>
            </a:pPr>
            <a:r>
              <a:rPr sz="850">
                <a:solidFill>
                  <a:srgbClr val="E8EEF6"/>
                </a:solidFill>
                <a:latin typeface="Calibri"/>
                <a:ea typeface="Calibri"/>
                <a:cs typeface="Calibri"/>
              </a:rPr>
              <a:t>Muestra el cliente seleccionado y pide la descripción del problema.</a:t>
            </a:r>
            <a:endParaRPr sz="850"/>
          </a:p>
        </p:txBody>
      </p:sp>
      <p:sp>
        <p:nvSpPr>
          <p:cNvPr id="19" name="Text 17">
            <a:extLst>
              <a:ext uri="{FF2B5EF4-FFF2-40B4-BE49-F238E27FC236}">
                <a16:creationId xmlns:a16="http://schemas.microsoft.com/office/drawing/2014/main" id="{88AD2780-D24E-446C-909E-050B06BB8012}"/>
              </a:ext>
            </a:extLst>
          </p:cNvPr>
          <p:cNvSpPr>
            <a:spLocks noGrp="1"/>
          </p:cNvSpPr>
          <p:nvPr/>
        </p:nvSpPr>
        <p:spPr>
          <a:xfrm>
            <a:off x="4800600" y="2523744"/>
            <a:ext cx="1618488" cy="201168"/>
          </a:xfrm>
          <a:prstGeom prst="rect">
            <a:avLst/>
          </a:prstGeom>
          <a:noFill/>
        </p:spPr>
        <p:txBody>
          <a:bodyPr wrap="square" lIns="0" tIns="0" rIns="0" bIns="0" anchor="ctr"/>
          <a:lstStyle/>
          <a:p>
            <a:pPr marL="0" indent="0">
              <a:buNone/>
            </a:pPr>
            <a:r>
              <a:rPr sz="750" i="1">
                <a:solidFill>
                  <a:srgbClr val="56C7F2"/>
                </a:solidFill>
                <a:latin typeface="Calibri"/>
                <a:ea typeface="Calibri"/>
                <a:cs typeface="Calibri"/>
              </a:rPr>
              <a:t>enlace: nueva solicitud</a:t>
            </a:r>
            <a:endParaRPr sz="750"/>
          </a:p>
        </p:txBody>
      </p:sp>
      <p:sp>
        <p:nvSpPr>
          <p:cNvPr id="20" name="Shape 18">
            <a:extLst>
              <a:ext uri="{FF2B5EF4-FFF2-40B4-BE49-F238E27FC236}">
                <a16:creationId xmlns:a16="http://schemas.microsoft.com/office/drawing/2014/main" id="{A8040B21-7A6C-40AB-9C6A-A29E59F9C8B7}"/>
              </a:ext>
            </a:extLst>
          </p:cNvPr>
          <p:cNvSpPr>
            <a:spLocks noGrp="1"/>
          </p:cNvSpPr>
          <p:nvPr/>
        </p:nvSpPr>
        <p:spPr>
          <a:xfrm>
            <a:off x="6592824" y="2057400"/>
            <a:ext cx="128016" cy="0"/>
          </a:xfrm>
          <a:prstGeom prst="line">
            <a:avLst/>
          </a:prstGeom>
          <a:noFill/>
          <a:ln w="15875">
            <a:solidFill>
              <a:srgbClr val="6C7E96"/>
            </a:solidFill>
            <a:prstDash val="solid"/>
            <a:tailEnd type="triangle"/>
          </a:ln>
        </p:spPr>
        <p:txBody>
          <a:bodyPr/>
          <a:lstStyle/>
          <a:p>
            <a:endParaRPr/>
          </a:p>
        </p:txBody>
      </p:sp>
      <p:sp>
        <p:nvSpPr>
          <p:cNvPr id="21" name="Shape 19">
            <a:extLst>
              <a:ext uri="{FF2B5EF4-FFF2-40B4-BE49-F238E27FC236}">
                <a16:creationId xmlns:a16="http://schemas.microsoft.com/office/drawing/2014/main" id="{7A625F26-9761-47FF-88F9-3ADB01152687}"/>
              </a:ext>
            </a:extLst>
          </p:cNvPr>
          <p:cNvSpPr>
            <a:spLocks noGrp="1"/>
          </p:cNvSpPr>
          <p:nvPr/>
        </p:nvSpPr>
        <p:spPr>
          <a:xfrm>
            <a:off x="6757416" y="1316736"/>
            <a:ext cx="1874520" cy="1481328"/>
          </a:xfrm>
          <a:prstGeom prst="roundRect">
            <a:avLst>
              <a:gd name="adj" fmla="val 3704"/>
            </a:avLst>
          </a:prstGeom>
          <a:solidFill>
            <a:srgbClr val="1A2434"/>
          </a:solidFill>
          <a:ln w="12700">
            <a:solidFill>
              <a:srgbClr val="3DDC97"/>
            </a:solidFill>
            <a:prstDash val="solid"/>
          </a:ln>
        </p:spPr>
        <p:txBody>
          <a:bodyPr/>
          <a:lstStyle/>
          <a:p>
            <a:endParaRPr/>
          </a:p>
        </p:txBody>
      </p:sp>
      <p:sp>
        <p:nvSpPr>
          <p:cNvPr id="22" name="Text 20">
            <a:extLst>
              <a:ext uri="{FF2B5EF4-FFF2-40B4-BE49-F238E27FC236}">
                <a16:creationId xmlns:a16="http://schemas.microsoft.com/office/drawing/2014/main" id="{74A34508-074C-4FC7-A74E-024B6971EB5D}"/>
              </a:ext>
            </a:extLst>
          </p:cNvPr>
          <p:cNvSpPr>
            <a:spLocks noGrp="1"/>
          </p:cNvSpPr>
          <p:nvPr/>
        </p:nvSpPr>
        <p:spPr>
          <a:xfrm>
            <a:off x="6885432" y="1389888"/>
            <a:ext cx="1618488" cy="402336"/>
          </a:xfrm>
          <a:prstGeom prst="rect">
            <a:avLst/>
          </a:prstGeom>
          <a:noFill/>
        </p:spPr>
        <p:txBody>
          <a:bodyPr wrap="square" lIns="0" tIns="0" rIns="0" bIns="0" anchor="t"/>
          <a:lstStyle/>
          <a:p>
            <a:pPr marL="0" indent="0">
              <a:lnSpc>
                <a:spcPct val="100000"/>
              </a:lnSpc>
              <a:buNone/>
            </a:pPr>
            <a:r>
              <a:rPr sz="1000" b="1">
                <a:solidFill>
                  <a:srgbClr val="3DDC97"/>
                </a:solidFill>
                <a:latin typeface="Arial"/>
                <a:ea typeface="Arial"/>
                <a:cs typeface="Arial"/>
              </a:rPr>
              <a:t>Confirmación</a:t>
            </a:r>
            <a:endParaRPr sz="1000"/>
          </a:p>
        </p:txBody>
      </p:sp>
      <p:sp>
        <p:nvSpPr>
          <p:cNvPr id="23" name="Text 21">
            <a:extLst>
              <a:ext uri="{FF2B5EF4-FFF2-40B4-BE49-F238E27FC236}">
                <a16:creationId xmlns:a16="http://schemas.microsoft.com/office/drawing/2014/main" id="{91798D4E-200C-4453-B81E-D54A2ED87E13}"/>
              </a:ext>
            </a:extLst>
          </p:cNvPr>
          <p:cNvSpPr>
            <a:spLocks noGrp="1"/>
          </p:cNvSpPr>
          <p:nvPr/>
        </p:nvSpPr>
        <p:spPr>
          <a:xfrm>
            <a:off x="6885432" y="1810512"/>
            <a:ext cx="1618488" cy="658368"/>
          </a:xfrm>
          <a:prstGeom prst="rect">
            <a:avLst/>
          </a:prstGeom>
          <a:noFill/>
        </p:spPr>
        <p:txBody>
          <a:bodyPr wrap="square" lIns="0" tIns="0" rIns="0" bIns="0" anchor="t"/>
          <a:lstStyle/>
          <a:p>
            <a:pPr marL="0" indent="0">
              <a:lnSpc>
                <a:spcPct val="108000"/>
              </a:lnSpc>
              <a:buNone/>
            </a:pPr>
            <a:r>
              <a:rPr sz="850">
                <a:solidFill>
                  <a:srgbClr val="E8EEF6"/>
                </a:solidFill>
                <a:latin typeface="Calibri"/>
                <a:ea typeface="Calibri"/>
                <a:cs typeface="Calibri"/>
              </a:rPr>
              <a:t>Muestra el identificador generado y el estado «Pendiente».</a:t>
            </a:r>
            <a:endParaRPr sz="850"/>
          </a:p>
        </p:txBody>
      </p:sp>
      <p:sp>
        <p:nvSpPr>
          <p:cNvPr id="24" name="Text 22">
            <a:extLst>
              <a:ext uri="{FF2B5EF4-FFF2-40B4-BE49-F238E27FC236}">
                <a16:creationId xmlns:a16="http://schemas.microsoft.com/office/drawing/2014/main" id="{F956CFC3-DD92-48E1-BD0E-167D2999BEF5}"/>
              </a:ext>
            </a:extLst>
          </p:cNvPr>
          <p:cNvSpPr>
            <a:spLocks noGrp="1"/>
          </p:cNvSpPr>
          <p:nvPr/>
        </p:nvSpPr>
        <p:spPr>
          <a:xfrm>
            <a:off x="6885432" y="2523744"/>
            <a:ext cx="1618488" cy="201168"/>
          </a:xfrm>
          <a:prstGeom prst="rect">
            <a:avLst/>
          </a:prstGeom>
          <a:noFill/>
        </p:spPr>
        <p:txBody>
          <a:bodyPr wrap="square" lIns="0" tIns="0" rIns="0" bIns="0" anchor="ctr"/>
          <a:lstStyle/>
          <a:p>
            <a:pPr marL="0" indent="0">
              <a:buNone/>
            </a:pPr>
            <a:r>
              <a:rPr sz="750" i="1">
                <a:solidFill>
                  <a:srgbClr val="3DDC97"/>
                </a:solidFill>
                <a:latin typeface="Calibri"/>
                <a:ea typeface="Calibri"/>
                <a:cs typeface="Calibri"/>
              </a:rPr>
              <a:t>envío: el servidor registra</a:t>
            </a:r>
            <a:endParaRPr sz="750"/>
          </a:p>
        </p:txBody>
      </p:sp>
      <p:sp>
        <p:nvSpPr>
          <p:cNvPr id="25" name="Text 23">
            <a:extLst>
              <a:ext uri="{FF2B5EF4-FFF2-40B4-BE49-F238E27FC236}">
                <a16:creationId xmlns:a16="http://schemas.microsoft.com/office/drawing/2014/main" id="{C21DA31F-7DC3-4A72-A56F-C9A13266F89E}"/>
              </a:ext>
            </a:extLst>
          </p:cNvPr>
          <p:cNvSpPr>
            <a:spLocks noGrp="1"/>
          </p:cNvSpPr>
          <p:nvPr/>
        </p:nvSpPr>
        <p:spPr>
          <a:xfrm>
            <a:off x="502920" y="2944368"/>
            <a:ext cx="8138160" cy="182880"/>
          </a:xfrm>
          <a:prstGeom prst="rect">
            <a:avLst/>
          </a:prstGeom>
          <a:noFill/>
        </p:spPr>
        <p:txBody>
          <a:bodyPr wrap="square" lIns="0" tIns="0" rIns="0" bIns="0" anchor="ctr"/>
          <a:lstStyle/>
          <a:p>
            <a:pPr marL="0" indent="0">
              <a:buNone/>
            </a:pPr>
            <a:r>
              <a:rPr sz="850" b="1">
                <a:solidFill>
                  <a:srgbClr val="6C7E96"/>
                </a:solidFill>
                <a:latin typeface="Arial"/>
                <a:ea typeface="Arial"/>
                <a:cs typeface="Arial"/>
              </a:rPr>
              <a:t>Qué transporta cada paso</a:t>
            </a:r>
            <a:endParaRPr sz="850"/>
          </a:p>
        </p:txBody>
      </p:sp>
      <p:sp>
        <p:nvSpPr>
          <p:cNvPr id="26" name="Shape 24">
            <a:extLst>
              <a:ext uri="{FF2B5EF4-FFF2-40B4-BE49-F238E27FC236}">
                <a16:creationId xmlns:a16="http://schemas.microsoft.com/office/drawing/2014/main" id="{BF93EF57-EE88-4DA5-B3BB-014981B926DA}"/>
              </a:ext>
            </a:extLst>
          </p:cNvPr>
          <p:cNvSpPr>
            <a:spLocks noGrp="1"/>
          </p:cNvSpPr>
          <p:nvPr/>
        </p:nvSpPr>
        <p:spPr>
          <a:xfrm>
            <a:off x="502920" y="3163824"/>
            <a:ext cx="1874520" cy="475488"/>
          </a:xfrm>
          <a:prstGeom prst="roundRect">
            <a:avLst>
              <a:gd name="adj" fmla="val 23077"/>
            </a:avLst>
          </a:prstGeom>
          <a:solidFill>
            <a:srgbClr val="1A2434"/>
          </a:solidFill>
          <a:ln w="12700">
            <a:solidFill>
              <a:srgbClr val="2B3B52"/>
            </a:solidFill>
            <a:prstDash val="solid"/>
          </a:ln>
        </p:spPr>
        <p:txBody>
          <a:bodyPr/>
          <a:lstStyle/>
          <a:p>
            <a:endParaRPr/>
          </a:p>
        </p:txBody>
      </p:sp>
      <p:sp>
        <p:nvSpPr>
          <p:cNvPr id="27" name="Text 25">
            <a:extLst>
              <a:ext uri="{FF2B5EF4-FFF2-40B4-BE49-F238E27FC236}">
                <a16:creationId xmlns:a16="http://schemas.microsoft.com/office/drawing/2014/main" id="{3C500F41-9DF2-4480-AB63-494A0C1D5CA3}"/>
              </a:ext>
            </a:extLst>
          </p:cNvPr>
          <p:cNvSpPr>
            <a:spLocks noGrp="1"/>
          </p:cNvSpPr>
          <p:nvPr/>
        </p:nvSpPr>
        <p:spPr>
          <a:xfrm>
            <a:off x="539496" y="3163824"/>
            <a:ext cx="1801368" cy="475488"/>
          </a:xfrm>
          <a:prstGeom prst="rect">
            <a:avLst/>
          </a:prstGeom>
          <a:noFill/>
        </p:spPr>
        <p:txBody>
          <a:bodyPr wrap="square" lIns="0" tIns="0" rIns="0" bIns="0" anchor="ctr"/>
          <a:lstStyle/>
          <a:p>
            <a:pPr marL="0" indent="0" algn="ctr">
              <a:buNone/>
            </a:pPr>
            <a:r>
              <a:rPr sz="750" b="1">
                <a:solidFill>
                  <a:srgbClr val="E8EEF6"/>
                </a:solidFill>
                <a:latin typeface="Arial"/>
                <a:ea typeface="Arial"/>
                <a:cs typeface="Arial"/>
              </a:rPr>
              <a:t>el auxiliar localiza o registra al cliente</a:t>
            </a:r>
            <a:endParaRPr sz="750"/>
          </a:p>
        </p:txBody>
      </p:sp>
      <p:sp>
        <p:nvSpPr>
          <p:cNvPr id="28" name="Shape 26">
            <a:extLst>
              <a:ext uri="{FF2B5EF4-FFF2-40B4-BE49-F238E27FC236}">
                <a16:creationId xmlns:a16="http://schemas.microsoft.com/office/drawing/2014/main" id="{9845D256-9761-4BE9-AF37-77075D502297}"/>
              </a:ext>
            </a:extLst>
          </p:cNvPr>
          <p:cNvSpPr>
            <a:spLocks noGrp="1"/>
          </p:cNvSpPr>
          <p:nvPr/>
        </p:nvSpPr>
        <p:spPr>
          <a:xfrm>
            <a:off x="2587752" y="3163824"/>
            <a:ext cx="1874520" cy="475488"/>
          </a:xfrm>
          <a:prstGeom prst="roundRect">
            <a:avLst>
              <a:gd name="adj" fmla="val 23077"/>
            </a:avLst>
          </a:prstGeom>
          <a:solidFill>
            <a:srgbClr val="1A2434"/>
          </a:solidFill>
          <a:ln w="12700">
            <a:solidFill>
              <a:srgbClr val="2B3B52"/>
            </a:solidFill>
            <a:prstDash val="solid"/>
          </a:ln>
        </p:spPr>
        <p:txBody>
          <a:bodyPr/>
          <a:lstStyle/>
          <a:p>
            <a:endParaRPr/>
          </a:p>
        </p:txBody>
      </p:sp>
      <p:sp>
        <p:nvSpPr>
          <p:cNvPr id="29" name="Text 27">
            <a:extLst>
              <a:ext uri="{FF2B5EF4-FFF2-40B4-BE49-F238E27FC236}">
                <a16:creationId xmlns:a16="http://schemas.microsoft.com/office/drawing/2014/main" id="{0D813562-9281-40D8-BDDE-0BC59D70C4DB}"/>
              </a:ext>
            </a:extLst>
          </p:cNvPr>
          <p:cNvSpPr>
            <a:spLocks noGrp="1"/>
          </p:cNvSpPr>
          <p:nvPr/>
        </p:nvSpPr>
        <p:spPr>
          <a:xfrm>
            <a:off x="2624328" y="3163824"/>
            <a:ext cx="1801368" cy="475488"/>
          </a:xfrm>
          <a:prstGeom prst="rect">
            <a:avLst/>
          </a:prstGeom>
          <a:noFill/>
        </p:spPr>
        <p:txBody>
          <a:bodyPr wrap="square" lIns="0" tIns="0" rIns="0" bIns="0" anchor="ctr"/>
          <a:lstStyle/>
          <a:p>
            <a:pPr marL="0" indent="0" algn="ctr">
              <a:buNone/>
            </a:pPr>
            <a:r>
              <a:rPr sz="750" b="1">
                <a:solidFill>
                  <a:srgbClr val="E8EEF6"/>
                </a:solidFill>
                <a:latin typeface="Arial"/>
                <a:ea typeface="Arial"/>
                <a:cs typeface="Arial"/>
              </a:rPr>
              <a:t>el identificador del cliente viaja con el recorrido</a:t>
            </a:r>
            <a:endParaRPr sz="750"/>
          </a:p>
        </p:txBody>
      </p:sp>
      <p:sp>
        <p:nvSpPr>
          <p:cNvPr id="30" name="Shape 28">
            <a:extLst>
              <a:ext uri="{FF2B5EF4-FFF2-40B4-BE49-F238E27FC236}">
                <a16:creationId xmlns:a16="http://schemas.microsoft.com/office/drawing/2014/main" id="{FC18EEC5-2422-447D-9069-0104A3497C8D}"/>
              </a:ext>
            </a:extLst>
          </p:cNvPr>
          <p:cNvSpPr>
            <a:spLocks noGrp="1"/>
          </p:cNvSpPr>
          <p:nvPr/>
        </p:nvSpPr>
        <p:spPr>
          <a:xfrm>
            <a:off x="4672584" y="3163824"/>
            <a:ext cx="1874520" cy="475488"/>
          </a:xfrm>
          <a:prstGeom prst="roundRect">
            <a:avLst>
              <a:gd name="adj" fmla="val 23077"/>
            </a:avLst>
          </a:prstGeom>
          <a:solidFill>
            <a:srgbClr val="1A2434"/>
          </a:solidFill>
          <a:ln w="12700">
            <a:solidFill>
              <a:srgbClr val="2B3B52"/>
            </a:solidFill>
            <a:prstDash val="solid"/>
          </a:ln>
        </p:spPr>
        <p:txBody>
          <a:bodyPr/>
          <a:lstStyle/>
          <a:p>
            <a:endParaRPr/>
          </a:p>
        </p:txBody>
      </p:sp>
      <p:sp>
        <p:nvSpPr>
          <p:cNvPr id="31" name="Text 29">
            <a:extLst>
              <a:ext uri="{FF2B5EF4-FFF2-40B4-BE49-F238E27FC236}">
                <a16:creationId xmlns:a16="http://schemas.microsoft.com/office/drawing/2014/main" id="{B6763852-8496-4379-BC7D-A78ADD0A0E9B}"/>
              </a:ext>
            </a:extLst>
          </p:cNvPr>
          <p:cNvSpPr>
            <a:spLocks noGrp="1"/>
          </p:cNvSpPr>
          <p:nvPr/>
        </p:nvSpPr>
        <p:spPr>
          <a:xfrm>
            <a:off x="4709160" y="3163824"/>
            <a:ext cx="1801368" cy="475488"/>
          </a:xfrm>
          <a:prstGeom prst="rect">
            <a:avLst/>
          </a:prstGeom>
          <a:noFill/>
        </p:spPr>
        <p:txBody>
          <a:bodyPr wrap="square" lIns="0" tIns="0" rIns="0" bIns="0" anchor="ctr"/>
          <a:lstStyle/>
          <a:p>
            <a:pPr marL="0" indent="0" algn="ctr">
              <a:buNone/>
            </a:pPr>
            <a:r>
              <a:rPr sz="750" b="1">
                <a:solidFill>
                  <a:srgbClr val="E8EEF6"/>
                </a:solidFill>
                <a:latin typeface="Arial"/>
                <a:ea typeface="Arial"/>
                <a:cs typeface="Arial"/>
              </a:rPr>
              <a:t>la descripción del problema se escribe aquí</a:t>
            </a:r>
            <a:endParaRPr sz="750"/>
          </a:p>
        </p:txBody>
      </p:sp>
      <p:sp>
        <p:nvSpPr>
          <p:cNvPr id="32" name="Shape 30">
            <a:extLst>
              <a:ext uri="{FF2B5EF4-FFF2-40B4-BE49-F238E27FC236}">
                <a16:creationId xmlns:a16="http://schemas.microsoft.com/office/drawing/2014/main" id="{E3CE2058-5073-4232-A628-1AF632F1B325}"/>
              </a:ext>
            </a:extLst>
          </p:cNvPr>
          <p:cNvSpPr>
            <a:spLocks noGrp="1"/>
          </p:cNvSpPr>
          <p:nvPr/>
        </p:nvSpPr>
        <p:spPr>
          <a:xfrm>
            <a:off x="6757416" y="3163824"/>
            <a:ext cx="1874520" cy="475488"/>
          </a:xfrm>
          <a:prstGeom prst="roundRect">
            <a:avLst>
              <a:gd name="adj" fmla="val 23077"/>
            </a:avLst>
          </a:prstGeom>
          <a:solidFill>
            <a:srgbClr val="1A2434"/>
          </a:solidFill>
          <a:ln w="12700">
            <a:solidFill>
              <a:srgbClr val="2B3B52"/>
            </a:solidFill>
            <a:prstDash val="solid"/>
          </a:ln>
        </p:spPr>
        <p:txBody>
          <a:bodyPr/>
          <a:lstStyle/>
          <a:p>
            <a:endParaRPr/>
          </a:p>
        </p:txBody>
      </p:sp>
      <p:sp>
        <p:nvSpPr>
          <p:cNvPr id="33" name="Text 31">
            <a:extLst>
              <a:ext uri="{FF2B5EF4-FFF2-40B4-BE49-F238E27FC236}">
                <a16:creationId xmlns:a16="http://schemas.microsoft.com/office/drawing/2014/main" id="{3F35BF92-0A5A-4988-B12E-462BB19D1B5C}"/>
              </a:ext>
            </a:extLst>
          </p:cNvPr>
          <p:cNvSpPr>
            <a:spLocks noGrp="1"/>
          </p:cNvSpPr>
          <p:nvPr/>
        </p:nvSpPr>
        <p:spPr>
          <a:xfrm>
            <a:off x="6793992" y="3163824"/>
            <a:ext cx="1801368" cy="475488"/>
          </a:xfrm>
          <a:prstGeom prst="rect">
            <a:avLst/>
          </a:prstGeom>
          <a:noFill/>
        </p:spPr>
        <p:txBody>
          <a:bodyPr wrap="square" lIns="0" tIns="0" rIns="0" bIns="0" anchor="ctr"/>
          <a:lstStyle/>
          <a:p>
            <a:pPr marL="0" indent="0" algn="ctr">
              <a:buNone/>
            </a:pPr>
            <a:r>
              <a:rPr sz="750" b="1">
                <a:solidFill>
                  <a:srgbClr val="E8EEF6"/>
                </a:solidFill>
                <a:latin typeface="Arial"/>
                <a:ea typeface="Arial"/>
                <a:cs typeface="Arial"/>
              </a:rPr>
              <a:t>el servidor valida, asigna fecha y estado, y responde</a:t>
            </a:r>
            <a:endParaRPr sz="750"/>
          </a:p>
        </p:txBody>
      </p:sp>
      <p:sp>
        <p:nvSpPr>
          <p:cNvPr id="34" name="Shape 32">
            <a:extLst>
              <a:ext uri="{FF2B5EF4-FFF2-40B4-BE49-F238E27FC236}">
                <a16:creationId xmlns:a16="http://schemas.microsoft.com/office/drawing/2014/main" id="{C13E16DA-513F-4791-8B45-0419324B16F7}"/>
              </a:ext>
            </a:extLst>
          </p:cNvPr>
          <p:cNvSpPr>
            <a:spLocks noGrp="1"/>
          </p:cNvSpPr>
          <p:nvPr/>
        </p:nvSpPr>
        <p:spPr>
          <a:xfrm>
            <a:off x="502920" y="3803904"/>
            <a:ext cx="8138160" cy="804672"/>
          </a:xfrm>
          <a:prstGeom prst="roundRect">
            <a:avLst>
              <a:gd name="adj" fmla="val 5682"/>
            </a:avLst>
          </a:prstGeom>
          <a:solidFill>
            <a:srgbClr val="1A2434"/>
          </a:solidFill>
          <a:ln w="12700">
            <a:solidFill>
              <a:srgbClr val="56C7F2"/>
            </a:solidFill>
            <a:prstDash val="solid"/>
          </a:ln>
        </p:spPr>
        <p:txBody>
          <a:bodyPr/>
          <a:lstStyle/>
          <a:p>
            <a:endParaRPr/>
          </a:p>
        </p:txBody>
      </p:sp>
      <p:sp>
        <p:nvSpPr>
          <p:cNvPr id="35" name="Text 33">
            <a:extLst>
              <a:ext uri="{FF2B5EF4-FFF2-40B4-BE49-F238E27FC236}">
                <a16:creationId xmlns:a16="http://schemas.microsoft.com/office/drawing/2014/main" id="{8230E1AC-DD18-406E-B092-830D828B6D32}"/>
              </a:ext>
            </a:extLst>
          </p:cNvPr>
          <p:cNvSpPr>
            <a:spLocks noGrp="1"/>
          </p:cNvSpPr>
          <p:nvPr/>
        </p:nvSpPr>
        <p:spPr>
          <a:xfrm>
            <a:off x="731520" y="3895344"/>
            <a:ext cx="7680960" cy="201168"/>
          </a:xfrm>
          <a:prstGeom prst="rect">
            <a:avLst/>
          </a:prstGeom>
          <a:noFill/>
        </p:spPr>
        <p:txBody>
          <a:bodyPr wrap="square" lIns="0" tIns="0" rIns="0" bIns="0" anchor="ctr"/>
          <a:lstStyle/>
          <a:p>
            <a:pPr marL="0" indent="0">
              <a:buNone/>
            </a:pPr>
            <a:r>
              <a:rPr sz="1150" b="1">
                <a:solidFill>
                  <a:srgbClr val="56C7F2"/>
                </a:solidFill>
                <a:latin typeface="Arial"/>
                <a:ea typeface="Arial"/>
                <a:cs typeface="Arial"/>
              </a:rPr>
              <a:t>Lo que resuelve este esquema</a:t>
            </a:r>
            <a:endParaRPr sz="1150"/>
          </a:p>
        </p:txBody>
      </p:sp>
      <p:sp>
        <p:nvSpPr>
          <p:cNvPr id="36" name="Text 34">
            <a:extLst>
              <a:ext uri="{FF2B5EF4-FFF2-40B4-BE49-F238E27FC236}">
                <a16:creationId xmlns:a16="http://schemas.microsoft.com/office/drawing/2014/main" id="{55E05B37-D6EF-402A-83DA-41A80DD29CCB}"/>
              </a:ext>
            </a:extLst>
          </p:cNvPr>
          <p:cNvSpPr>
            <a:spLocks noGrp="1"/>
          </p:cNvSpPr>
          <p:nvPr/>
        </p:nvSpPr>
        <p:spPr>
          <a:xfrm>
            <a:off x="731520" y="4133088"/>
            <a:ext cx="7680960" cy="402336"/>
          </a:xfrm>
          <a:prstGeom prst="rect">
            <a:avLst/>
          </a:prstGeom>
          <a:noFill/>
        </p:spPr>
        <p:txBody>
          <a:bodyPr wrap="square" lIns="0" tIns="0" rIns="0" bIns="0" anchor="t"/>
          <a:lstStyle/>
          <a:p>
            <a:pPr marL="0" indent="0">
              <a:lnSpc>
                <a:spcPct val="110000"/>
              </a:lnSpc>
              <a:buNone/>
            </a:pPr>
            <a:r>
              <a:rPr sz="1000">
                <a:solidFill>
                  <a:srgbClr val="E8EEF6"/>
                </a:solidFill>
                <a:latin typeface="Calibri"/>
                <a:ea typeface="Calibri"/>
                <a:cs typeface="Calibri"/>
              </a:rPr>
              <a:t>El recorrido completa la tarea sin pedir dos veces el mismo dato: el cliente se selecciona una sola vez y el resto del camino lo conserva. Las consultas de clientes forman parte del diseño ilustrativo de esta clase y no corresponden a lo implementado en sesiones anteriores.</a:t>
            </a:r>
            <a:endParaRPr sz="1000"/>
          </a:p>
        </p:txBody>
      </p:sp>
    </p:spTree>
    <p:extLst>
      <p:ext uri="{BB962C8B-B14F-4D97-AF65-F5344CB8AC3E}">
        <p14:creationId xmlns:p14="http://schemas.microsoft.com/office/powerpoint/2010/main" val="1065034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852613E-C50F-4EA1-8ED7-86315DBCCE2B}"/>
              </a:ext>
            </a:extLst>
          </p:cNvPr>
          <p:cNvSpPr>
            <a:spLocks noGrp="1"/>
          </p:cNvSpPr>
          <p:nvPr/>
        </p:nvSpPr>
        <p:spPr>
          <a:xfrm>
            <a:off x="502920" y="365760"/>
            <a:ext cx="1440180"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17FB3C6C-888C-433D-9229-2C1AB9134612}"/>
              </a:ext>
            </a:extLst>
          </p:cNvPr>
          <p:cNvSpPr>
            <a:spLocks noGrp="1"/>
          </p:cNvSpPr>
          <p:nvPr/>
        </p:nvSpPr>
        <p:spPr>
          <a:xfrm>
            <a:off x="502920" y="365760"/>
            <a:ext cx="1440180"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EJEMPLO · 3 / 3</a:t>
            </a:r>
            <a:endParaRPr sz="850"/>
          </a:p>
        </p:txBody>
      </p:sp>
      <p:sp>
        <p:nvSpPr>
          <p:cNvPr id="4" name="Text 2">
            <a:extLst>
              <a:ext uri="{FF2B5EF4-FFF2-40B4-BE49-F238E27FC236}">
                <a16:creationId xmlns:a16="http://schemas.microsoft.com/office/drawing/2014/main" id="{7329160C-8F6A-418B-A3A6-18E0FC41B843}"/>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Interfaz y correspondencia con la implementación</a:t>
            </a:r>
            <a:endParaRPr sz="2300"/>
          </a:p>
        </p:txBody>
      </p:sp>
      <p:sp>
        <p:nvSpPr>
          <p:cNvPr id="5" name="Text 3">
            <a:extLst>
              <a:ext uri="{FF2B5EF4-FFF2-40B4-BE49-F238E27FC236}">
                <a16:creationId xmlns:a16="http://schemas.microsoft.com/office/drawing/2014/main" id="{F53AD46D-DAAC-4212-B1F2-F17ADB18256D}"/>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17 / 24</a:t>
            </a:r>
            <a:endParaRPr sz="800"/>
          </a:p>
        </p:txBody>
      </p:sp>
      <p:sp>
        <p:nvSpPr>
          <p:cNvPr id="6" name="Shape 4">
            <a:extLst>
              <a:ext uri="{FF2B5EF4-FFF2-40B4-BE49-F238E27FC236}">
                <a16:creationId xmlns:a16="http://schemas.microsoft.com/office/drawing/2014/main" id="{E55FDC61-71A3-451F-9327-E6DE7F067FFD}"/>
              </a:ext>
            </a:extLst>
          </p:cNvPr>
          <p:cNvSpPr>
            <a:spLocks noGrp="1"/>
          </p:cNvSpPr>
          <p:nvPr/>
        </p:nvSpPr>
        <p:spPr>
          <a:xfrm>
            <a:off x="502920" y="1152144"/>
            <a:ext cx="3931920" cy="2487168"/>
          </a:xfrm>
          <a:prstGeom prst="roundRect">
            <a:avLst>
              <a:gd name="adj" fmla="val 1471"/>
            </a:avLst>
          </a:prstGeom>
          <a:solidFill>
            <a:srgbClr val="070C14"/>
          </a:solidFill>
          <a:ln w="12700">
            <a:solidFill>
              <a:srgbClr val="2B3B52"/>
            </a:solidFill>
            <a:prstDash val="solid"/>
          </a:ln>
        </p:spPr>
        <p:txBody>
          <a:bodyPr/>
          <a:lstStyle/>
          <a:p>
            <a:endParaRPr/>
          </a:p>
        </p:txBody>
      </p:sp>
      <p:sp>
        <p:nvSpPr>
          <p:cNvPr id="7" name="Text 5">
            <a:extLst>
              <a:ext uri="{FF2B5EF4-FFF2-40B4-BE49-F238E27FC236}">
                <a16:creationId xmlns:a16="http://schemas.microsoft.com/office/drawing/2014/main" id="{3C66F0D6-70F3-4B73-A0D9-0C60F7F7EF82}"/>
              </a:ext>
            </a:extLst>
          </p:cNvPr>
          <p:cNvSpPr>
            <a:spLocks noGrp="1"/>
          </p:cNvSpPr>
          <p:nvPr/>
        </p:nvSpPr>
        <p:spPr>
          <a:xfrm>
            <a:off x="649224" y="1225296"/>
            <a:ext cx="3639312" cy="182880"/>
          </a:xfrm>
          <a:prstGeom prst="rect">
            <a:avLst/>
          </a:prstGeom>
          <a:noFill/>
        </p:spPr>
        <p:txBody>
          <a:bodyPr wrap="square" lIns="0" tIns="0" rIns="0" bIns="0" anchor="ctr"/>
          <a:lstStyle/>
          <a:p>
            <a:pPr marL="0" indent="0">
              <a:buNone/>
            </a:pPr>
            <a:r>
              <a:rPr sz="850" b="1">
                <a:solidFill>
                  <a:srgbClr val="FF8A3D"/>
                </a:solidFill>
                <a:latin typeface="Courier New"/>
                <a:ea typeface="Courier New"/>
                <a:cs typeface="Courier New"/>
              </a:rPr>
              <a:t>boceto del nodo «Nueva solicitud»</a:t>
            </a:r>
            <a:endParaRPr sz="850"/>
          </a:p>
        </p:txBody>
      </p:sp>
      <p:sp>
        <p:nvSpPr>
          <p:cNvPr id="8" name="Text 6">
            <a:extLst>
              <a:ext uri="{FF2B5EF4-FFF2-40B4-BE49-F238E27FC236}">
                <a16:creationId xmlns:a16="http://schemas.microsoft.com/office/drawing/2014/main" id="{E4E4DF14-8F1C-4E92-B024-C1D48AF299B4}"/>
              </a:ext>
            </a:extLst>
          </p:cNvPr>
          <p:cNvSpPr>
            <a:spLocks noGrp="1"/>
          </p:cNvSpPr>
          <p:nvPr/>
        </p:nvSpPr>
        <p:spPr>
          <a:xfrm>
            <a:off x="685800" y="1481328"/>
            <a:ext cx="3566160" cy="237744"/>
          </a:xfrm>
          <a:prstGeom prst="rect">
            <a:avLst/>
          </a:prstGeom>
          <a:noFill/>
        </p:spPr>
        <p:txBody>
          <a:bodyPr wrap="square" lIns="0" tIns="0" rIns="0" bIns="0" anchor="ctr"/>
          <a:lstStyle/>
          <a:p>
            <a:pPr marL="0" indent="0">
              <a:buNone/>
            </a:pPr>
            <a:r>
              <a:rPr sz="1200" b="1">
                <a:solidFill>
                  <a:srgbClr val="E8EEF6"/>
                </a:solidFill>
                <a:latin typeface="Arial"/>
                <a:ea typeface="Arial"/>
                <a:cs typeface="Arial"/>
              </a:rPr>
              <a:t>Nueva solicitud de soporte</a:t>
            </a:r>
            <a:endParaRPr sz="1200"/>
          </a:p>
        </p:txBody>
      </p:sp>
      <p:sp>
        <p:nvSpPr>
          <p:cNvPr id="9" name="Shape 7">
            <a:extLst>
              <a:ext uri="{FF2B5EF4-FFF2-40B4-BE49-F238E27FC236}">
                <a16:creationId xmlns:a16="http://schemas.microsoft.com/office/drawing/2014/main" id="{39B272F5-DD56-49B1-B0E0-9A2148FDD8C6}"/>
              </a:ext>
            </a:extLst>
          </p:cNvPr>
          <p:cNvSpPr>
            <a:spLocks noGrp="1"/>
          </p:cNvSpPr>
          <p:nvPr/>
        </p:nvSpPr>
        <p:spPr>
          <a:xfrm>
            <a:off x="685800" y="1792224"/>
            <a:ext cx="3566160" cy="365760"/>
          </a:xfrm>
          <a:prstGeom prst="roundRect">
            <a:avLst>
              <a:gd name="adj" fmla="val 12500"/>
            </a:avLst>
          </a:prstGeom>
          <a:solidFill>
            <a:srgbClr val="1A2434"/>
          </a:solidFill>
          <a:ln w="12700">
            <a:solidFill>
              <a:srgbClr val="2B3B52"/>
            </a:solidFill>
            <a:prstDash val="solid"/>
          </a:ln>
        </p:spPr>
        <p:txBody>
          <a:bodyPr/>
          <a:lstStyle/>
          <a:p>
            <a:endParaRPr/>
          </a:p>
        </p:txBody>
      </p:sp>
      <p:sp>
        <p:nvSpPr>
          <p:cNvPr id="10" name="Text 8">
            <a:extLst>
              <a:ext uri="{FF2B5EF4-FFF2-40B4-BE49-F238E27FC236}">
                <a16:creationId xmlns:a16="http://schemas.microsoft.com/office/drawing/2014/main" id="{153B453F-E222-4661-A7DA-F157D2D7A374}"/>
              </a:ext>
            </a:extLst>
          </p:cNvPr>
          <p:cNvSpPr>
            <a:spLocks noGrp="1"/>
          </p:cNvSpPr>
          <p:nvPr/>
        </p:nvSpPr>
        <p:spPr>
          <a:xfrm>
            <a:off x="804672" y="1792224"/>
            <a:ext cx="2377440" cy="365760"/>
          </a:xfrm>
          <a:prstGeom prst="rect">
            <a:avLst/>
          </a:prstGeom>
          <a:noFill/>
        </p:spPr>
        <p:txBody>
          <a:bodyPr wrap="square" lIns="0" tIns="0" rIns="0" bIns="0" anchor="ctr"/>
          <a:lstStyle/>
          <a:p>
            <a:pPr marL="0" indent="0">
              <a:buNone/>
            </a:pPr>
            <a:r>
              <a:rPr sz="900">
                <a:solidFill>
                  <a:srgbClr val="93A5BD"/>
                </a:solidFill>
                <a:latin typeface="Courier New"/>
                <a:ea typeface="Courier New"/>
                <a:cs typeface="Courier New"/>
              </a:rPr>
              <a:t>Cliente:  C-014  ·  Ana Ríos</a:t>
            </a:r>
            <a:endParaRPr sz="900"/>
          </a:p>
        </p:txBody>
      </p:sp>
      <p:sp>
        <p:nvSpPr>
          <p:cNvPr id="11" name="Text 9">
            <a:extLst>
              <a:ext uri="{FF2B5EF4-FFF2-40B4-BE49-F238E27FC236}">
                <a16:creationId xmlns:a16="http://schemas.microsoft.com/office/drawing/2014/main" id="{208329FA-8285-4146-A130-7253557C6107}"/>
              </a:ext>
            </a:extLst>
          </p:cNvPr>
          <p:cNvSpPr>
            <a:spLocks noGrp="1"/>
          </p:cNvSpPr>
          <p:nvPr/>
        </p:nvSpPr>
        <p:spPr>
          <a:xfrm>
            <a:off x="3182112" y="1792224"/>
            <a:ext cx="950976" cy="365760"/>
          </a:xfrm>
          <a:prstGeom prst="rect">
            <a:avLst/>
          </a:prstGeom>
          <a:noFill/>
        </p:spPr>
        <p:txBody>
          <a:bodyPr wrap="square" lIns="0" tIns="0" rIns="0" bIns="0" anchor="ctr"/>
          <a:lstStyle/>
          <a:p>
            <a:pPr marL="0" indent="0" algn="r">
              <a:buNone/>
            </a:pPr>
            <a:r>
              <a:rPr sz="800" i="1">
                <a:solidFill>
                  <a:srgbClr val="6C7E96"/>
                </a:solidFill>
                <a:latin typeface="Calibri"/>
                <a:ea typeface="Calibri"/>
                <a:cs typeface="Calibri"/>
              </a:rPr>
              <a:t>solo lectura</a:t>
            </a:r>
            <a:endParaRPr sz="800"/>
          </a:p>
        </p:txBody>
      </p:sp>
      <p:sp>
        <p:nvSpPr>
          <p:cNvPr id="12" name="Text 10">
            <a:extLst>
              <a:ext uri="{FF2B5EF4-FFF2-40B4-BE49-F238E27FC236}">
                <a16:creationId xmlns:a16="http://schemas.microsoft.com/office/drawing/2014/main" id="{177A62BA-337D-469F-A08B-7328E7DB596A}"/>
              </a:ext>
            </a:extLst>
          </p:cNvPr>
          <p:cNvSpPr>
            <a:spLocks noGrp="1"/>
          </p:cNvSpPr>
          <p:nvPr/>
        </p:nvSpPr>
        <p:spPr>
          <a:xfrm>
            <a:off x="685800" y="2231136"/>
            <a:ext cx="3566160" cy="182880"/>
          </a:xfrm>
          <a:prstGeom prst="rect">
            <a:avLst/>
          </a:prstGeom>
          <a:noFill/>
        </p:spPr>
        <p:txBody>
          <a:bodyPr wrap="square" lIns="0" tIns="0" rIns="0" bIns="0" anchor="ctr"/>
          <a:lstStyle/>
          <a:p>
            <a:pPr marL="0" indent="0">
              <a:buNone/>
            </a:pPr>
            <a:r>
              <a:rPr sz="900" b="1">
                <a:solidFill>
                  <a:srgbClr val="E8EEF6"/>
                </a:solidFill>
                <a:latin typeface="Calibri"/>
                <a:ea typeface="Calibri"/>
                <a:cs typeface="Calibri"/>
              </a:rPr>
              <a:t>Descripción del problema  *</a:t>
            </a:r>
            <a:endParaRPr sz="900"/>
          </a:p>
        </p:txBody>
      </p:sp>
      <p:sp>
        <p:nvSpPr>
          <p:cNvPr id="13" name="Shape 11">
            <a:extLst>
              <a:ext uri="{FF2B5EF4-FFF2-40B4-BE49-F238E27FC236}">
                <a16:creationId xmlns:a16="http://schemas.microsoft.com/office/drawing/2014/main" id="{3F32D6DB-6AE6-48AB-924F-F02C7ED5AF14}"/>
              </a:ext>
            </a:extLst>
          </p:cNvPr>
          <p:cNvSpPr>
            <a:spLocks noGrp="1"/>
          </p:cNvSpPr>
          <p:nvPr/>
        </p:nvSpPr>
        <p:spPr>
          <a:xfrm>
            <a:off x="685800" y="2432304"/>
            <a:ext cx="3566160" cy="566928"/>
          </a:xfrm>
          <a:prstGeom prst="roundRect">
            <a:avLst>
              <a:gd name="adj" fmla="val 8065"/>
            </a:avLst>
          </a:prstGeom>
          <a:solidFill>
            <a:srgbClr val="1A2434"/>
          </a:solidFill>
          <a:ln w="12700">
            <a:solidFill>
              <a:srgbClr val="56C7F2"/>
            </a:solidFill>
            <a:prstDash val="solid"/>
          </a:ln>
        </p:spPr>
        <p:txBody>
          <a:bodyPr/>
          <a:lstStyle/>
          <a:p>
            <a:endParaRPr/>
          </a:p>
        </p:txBody>
      </p:sp>
      <p:sp>
        <p:nvSpPr>
          <p:cNvPr id="14" name="Text 12">
            <a:extLst>
              <a:ext uri="{FF2B5EF4-FFF2-40B4-BE49-F238E27FC236}">
                <a16:creationId xmlns:a16="http://schemas.microsoft.com/office/drawing/2014/main" id="{41C1BE4B-9C82-4D02-B4D0-DF09D86FB7C9}"/>
              </a:ext>
            </a:extLst>
          </p:cNvPr>
          <p:cNvSpPr>
            <a:spLocks noGrp="1"/>
          </p:cNvSpPr>
          <p:nvPr/>
        </p:nvSpPr>
        <p:spPr>
          <a:xfrm>
            <a:off x="804672" y="2432304"/>
            <a:ext cx="3328416" cy="566928"/>
          </a:xfrm>
          <a:prstGeom prst="rect">
            <a:avLst/>
          </a:prstGeom>
          <a:noFill/>
        </p:spPr>
        <p:txBody>
          <a:bodyPr wrap="square" lIns="0" tIns="0" rIns="0" bIns="0" anchor="ctr"/>
          <a:lstStyle/>
          <a:p>
            <a:pPr marL="0" indent="0">
              <a:buNone/>
            </a:pPr>
            <a:r>
              <a:rPr sz="900" i="1">
                <a:solidFill>
                  <a:srgbClr val="6C7E96"/>
                </a:solidFill>
                <a:latin typeface="Calibri"/>
                <a:ea typeface="Calibri"/>
                <a:cs typeface="Calibri"/>
              </a:rPr>
              <a:t>campo de texto obligatorio</a:t>
            </a:r>
            <a:endParaRPr sz="900"/>
          </a:p>
        </p:txBody>
      </p:sp>
      <p:sp>
        <p:nvSpPr>
          <p:cNvPr id="15" name="Shape 13">
            <a:extLst>
              <a:ext uri="{FF2B5EF4-FFF2-40B4-BE49-F238E27FC236}">
                <a16:creationId xmlns:a16="http://schemas.microsoft.com/office/drawing/2014/main" id="{1089A693-FA34-4D26-AE6B-A253392B127D}"/>
              </a:ext>
            </a:extLst>
          </p:cNvPr>
          <p:cNvSpPr>
            <a:spLocks noGrp="1"/>
          </p:cNvSpPr>
          <p:nvPr/>
        </p:nvSpPr>
        <p:spPr>
          <a:xfrm>
            <a:off x="685800" y="3108960"/>
            <a:ext cx="1600200" cy="365760"/>
          </a:xfrm>
          <a:prstGeom prst="roundRect">
            <a:avLst>
              <a:gd name="adj" fmla="val 25000"/>
            </a:avLst>
          </a:prstGeom>
          <a:solidFill>
            <a:srgbClr val="132A24"/>
          </a:solidFill>
          <a:ln w="12700">
            <a:solidFill>
              <a:srgbClr val="3DDC97"/>
            </a:solidFill>
            <a:prstDash val="solid"/>
          </a:ln>
        </p:spPr>
        <p:txBody>
          <a:bodyPr/>
          <a:lstStyle/>
          <a:p>
            <a:endParaRPr/>
          </a:p>
        </p:txBody>
      </p:sp>
      <p:sp>
        <p:nvSpPr>
          <p:cNvPr id="16" name="Text 14">
            <a:extLst>
              <a:ext uri="{FF2B5EF4-FFF2-40B4-BE49-F238E27FC236}">
                <a16:creationId xmlns:a16="http://schemas.microsoft.com/office/drawing/2014/main" id="{EEDF20E9-550B-4059-A6A3-20CF16474D24}"/>
              </a:ext>
            </a:extLst>
          </p:cNvPr>
          <p:cNvSpPr>
            <a:spLocks noGrp="1"/>
          </p:cNvSpPr>
          <p:nvPr/>
        </p:nvSpPr>
        <p:spPr>
          <a:xfrm>
            <a:off x="685800" y="3108960"/>
            <a:ext cx="1600200" cy="365760"/>
          </a:xfrm>
          <a:prstGeom prst="rect">
            <a:avLst/>
          </a:prstGeom>
          <a:noFill/>
        </p:spPr>
        <p:txBody>
          <a:bodyPr wrap="square" lIns="0" tIns="0" rIns="0" bIns="0" anchor="ctr"/>
          <a:lstStyle/>
          <a:p>
            <a:pPr marL="0" indent="0" algn="ctr">
              <a:buNone/>
            </a:pPr>
            <a:r>
              <a:rPr sz="900" b="1">
                <a:solidFill>
                  <a:srgbClr val="3DDC97"/>
                </a:solidFill>
                <a:latin typeface="Arial"/>
                <a:ea typeface="Arial"/>
                <a:cs typeface="Arial"/>
              </a:rPr>
              <a:t>Registrar solicitud</a:t>
            </a:r>
            <a:endParaRPr sz="900"/>
          </a:p>
        </p:txBody>
      </p:sp>
      <p:sp>
        <p:nvSpPr>
          <p:cNvPr id="17" name="Text 15">
            <a:extLst>
              <a:ext uri="{FF2B5EF4-FFF2-40B4-BE49-F238E27FC236}">
                <a16:creationId xmlns:a16="http://schemas.microsoft.com/office/drawing/2014/main" id="{08D623EC-3137-4149-957A-FE526B9E6FA8}"/>
              </a:ext>
            </a:extLst>
          </p:cNvPr>
          <p:cNvSpPr>
            <a:spLocks noGrp="1"/>
          </p:cNvSpPr>
          <p:nvPr/>
        </p:nvSpPr>
        <p:spPr>
          <a:xfrm>
            <a:off x="2432304" y="3108960"/>
            <a:ext cx="1819656" cy="384048"/>
          </a:xfrm>
          <a:prstGeom prst="rect">
            <a:avLst/>
          </a:prstGeom>
          <a:noFill/>
        </p:spPr>
        <p:txBody>
          <a:bodyPr wrap="square" lIns="0" tIns="0" rIns="0" bIns="0" anchor="ctr"/>
          <a:lstStyle/>
          <a:p>
            <a:pPr marL="0" indent="0">
              <a:lnSpc>
                <a:spcPct val="105000"/>
              </a:lnSpc>
              <a:buNone/>
            </a:pPr>
            <a:r>
              <a:rPr sz="800" i="1">
                <a:solidFill>
                  <a:srgbClr val="6C7E96"/>
                </a:solidFill>
                <a:latin typeface="Calibri"/>
                <a:ea typeface="Calibri"/>
                <a:cs typeface="Calibri"/>
              </a:rPr>
              <a:t>sin botón de fecha ni de estado:</a:t>
            </a:r>
            <a:endParaRPr sz="800"/>
          </a:p>
          <a:p>
            <a:pPr marL="0" indent="0">
              <a:lnSpc>
                <a:spcPct val="105000"/>
              </a:lnSpc>
              <a:buNone/>
            </a:pPr>
            <a:r>
              <a:rPr sz="800" i="1">
                <a:solidFill>
                  <a:srgbClr val="6C7E96"/>
                </a:solidFill>
                <a:latin typeface="Calibri"/>
                <a:ea typeface="Calibri"/>
                <a:cs typeface="Calibri"/>
              </a:rPr>
              <a:t>los asigna el servidor</a:t>
            </a:r>
            <a:endParaRPr sz="800"/>
          </a:p>
        </p:txBody>
      </p:sp>
      <p:sp>
        <p:nvSpPr>
          <p:cNvPr id="18" name="Shape 16">
            <a:extLst>
              <a:ext uri="{FF2B5EF4-FFF2-40B4-BE49-F238E27FC236}">
                <a16:creationId xmlns:a16="http://schemas.microsoft.com/office/drawing/2014/main" id="{AAD0BCF9-DBDB-4070-A428-06B9EF49A4F1}"/>
              </a:ext>
            </a:extLst>
          </p:cNvPr>
          <p:cNvSpPr>
            <a:spLocks noGrp="1"/>
          </p:cNvSpPr>
          <p:nvPr/>
        </p:nvSpPr>
        <p:spPr>
          <a:xfrm>
            <a:off x="4709160" y="1152144"/>
            <a:ext cx="3931920" cy="1170432"/>
          </a:xfrm>
          <a:prstGeom prst="roundRect">
            <a:avLst>
              <a:gd name="adj" fmla="val 3125"/>
            </a:avLst>
          </a:prstGeom>
          <a:solidFill>
            <a:srgbClr val="070C14"/>
          </a:solidFill>
          <a:ln w="12700">
            <a:solidFill>
              <a:srgbClr val="2B3B52"/>
            </a:solidFill>
            <a:prstDash val="solid"/>
          </a:ln>
        </p:spPr>
        <p:txBody>
          <a:bodyPr/>
          <a:lstStyle/>
          <a:p>
            <a:endParaRPr/>
          </a:p>
        </p:txBody>
      </p:sp>
      <p:sp>
        <p:nvSpPr>
          <p:cNvPr id="19" name="Text 17">
            <a:extLst>
              <a:ext uri="{FF2B5EF4-FFF2-40B4-BE49-F238E27FC236}">
                <a16:creationId xmlns:a16="http://schemas.microsoft.com/office/drawing/2014/main" id="{40D95078-4E54-4A81-ACCF-1F9E378798A4}"/>
              </a:ext>
            </a:extLst>
          </p:cNvPr>
          <p:cNvSpPr>
            <a:spLocks noGrp="1"/>
          </p:cNvSpPr>
          <p:nvPr/>
        </p:nvSpPr>
        <p:spPr>
          <a:xfrm>
            <a:off x="4855464" y="1225296"/>
            <a:ext cx="3639312" cy="182880"/>
          </a:xfrm>
          <a:prstGeom prst="rect">
            <a:avLst/>
          </a:prstGeom>
          <a:noFill/>
        </p:spPr>
        <p:txBody>
          <a:bodyPr wrap="square" lIns="0" tIns="0" rIns="0" bIns="0" anchor="ctr"/>
          <a:lstStyle/>
          <a:p>
            <a:pPr marL="0" indent="0">
              <a:buNone/>
            </a:pPr>
            <a:r>
              <a:rPr sz="850" b="1">
                <a:solidFill>
                  <a:srgbClr val="FF8A3D"/>
                </a:solidFill>
                <a:latin typeface="Courier New"/>
                <a:ea typeface="Courier New"/>
                <a:cs typeface="Courier New"/>
              </a:rPr>
              <a:t>qué se envía al servidor</a:t>
            </a:r>
            <a:endParaRPr sz="850"/>
          </a:p>
        </p:txBody>
      </p:sp>
      <p:sp>
        <p:nvSpPr>
          <p:cNvPr id="20" name="Text 18">
            <a:extLst>
              <a:ext uri="{FF2B5EF4-FFF2-40B4-BE49-F238E27FC236}">
                <a16:creationId xmlns:a16="http://schemas.microsoft.com/office/drawing/2014/main" id="{A355D577-D4AD-4418-88D8-FF7073D6D0DE}"/>
              </a:ext>
            </a:extLst>
          </p:cNvPr>
          <p:cNvSpPr>
            <a:spLocks noGrp="1"/>
          </p:cNvSpPr>
          <p:nvPr/>
        </p:nvSpPr>
        <p:spPr>
          <a:xfrm>
            <a:off x="4855464" y="1444752"/>
            <a:ext cx="3639312" cy="804672"/>
          </a:xfrm>
          <a:prstGeom prst="rect">
            <a:avLst/>
          </a:prstGeom>
          <a:noFill/>
        </p:spPr>
        <p:txBody>
          <a:bodyPr wrap="square" lIns="0" tIns="0" rIns="0" bIns="0" anchor="t"/>
          <a:lstStyle/>
          <a:p>
            <a:pPr marL="0" indent="0">
              <a:lnSpc>
                <a:spcPct val="125000"/>
              </a:lnSpc>
              <a:buNone/>
            </a:pPr>
            <a:r>
              <a:rPr sz="850">
                <a:solidFill>
                  <a:srgbClr val="3DDC97"/>
                </a:solidFill>
                <a:latin typeface="Courier New"/>
                <a:ea typeface="Courier New"/>
                <a:cs typeface="Courier New"/>
              </a:rPr>
              <a:t>POST /solicitudes</a:t>
            </a:r>
            <a:endParaRPr sz="850"/>
          </a:p>
          <a:p>
            <a:pPr marL="0" indent="0">
              <a:lnSpc>
                <a:spcPct val="125000"/>
              </a:lnSpc>
              <a:buNone/>
            </a:pPr>
            <a:r>
              <a:rPr sz="850">
                <a:solidFill>
                  <a:srgbClr val="56C7F2"/>
                </a:solidFill>
                <a:latin typeface="Courier New"/>
                <a:ea typeface="Courier New"/>
                <a:cs typeface="Courier New"/>
              </a:rPr>
              <a:t>cliente_id=C-014</a:t>
            </a:r>
            <a:endParaRPr sz="850"/>
          </a:p>
          <a:p>
            <a:pPr marL="0" indent="0">
              <a:lnSpc>
                <a:spcPct val="125000"/>
              </a:lnSpc>
              <a:buNone/>
            </a:pPr>
            <a:r>
              <a:rPr sz="850">
                <a:solidFill>
                  <a:srgbClr val="FFD479"/>
                </a:solidFill>
                <a:latin typeface="Courier New"/>
                <a:ea typeface="Courier New"/>
                <a:cs typeface="Courier New"/>
              </a:rPr>
              <a:t>descripcion=No enciende el equipo</a:t>
            </a:r>
            <a:endParaRPr sz="850"/>
          </a:p>
        </p:txBody>
      </p:sp>
      <p:sp>
        <p:nvSpPr>
          <p:cNvPr id="21" name="Shape 19">
            <a:extLst>
              <a:ext uri="{FF2B5EF4-FFF2-40B4-BE49-F238E27FC236}">
                <a16:creationId xmlns:a16="http://schemas.microsoft.com/office/drawing/2014/main" id="{96769DBD-7E50-4773-894C-D87ECD775242}"/>
              </a:ext>
            </a:extLst>
          </p:cNvPr>
          <p:cNvSpPr>
            <a:spLocks noGrp="1"/>
          </p:cNvSpPr>
          <p:nvPr/>
        </p:nvSpPr>
        <p:spPr>
          <a:xfrm>
            <a:off x="4709160" y="2468880"/>
            <a:ext cx="3931920" cy="1170432"/>
          </a:xfrm>
          <a:prstGeom prst="roundRect">
            <a:avLst>
              <a:gd name="adj" fmla="val 3125"/>
            </a:avLst>
          </a:prstGeom>
          <a:solidFill>
            <a:srgbClr val="070C14"/>
          </a:solidFill>
          <a:ln w="12700">
            <a:solidFill>
              <a:srgbClr val="2B3B52"/>
            </a:solidFill>
            <a:prstDash val="solid"/>
          </a:ln>
        </p:spPr>
        <p:txBody>
          <a:bodyPr/>
          <a:lstStyle/>
          <a:p>
            <a:endParaRPr/>
          </a:p>
        </p:txBody>
      </p:sp>
      <p:sp>
        <p:nvSpPr>
          <p:cNvPr id="22" name="Text 20">
            <a:extLst>
              <a:ext uri="{FF2B5EF4-FFF2-40B4-BE49-F238E27FC236}">
                <a16:creationId xmlns:a16="http://schemas.microsoft.com/office/drawing/2014/main" id="{1EC04F04-E1FE-499C-99A3-2E0EBC48846D}"/>
              </a:ext>
            </a:extLst>
          </p:cNvPr>
          <p:cNvSpPr>
            <a:spLocks noGrp="1"/>
          </p:cNvSpPr>
          <p:nvPr/>
        </p:nvSpPr>
        <p:spPr>
          <a:xfrm>
            <a:off x="4855464" y="2542032"/>
            <a:ext cx="3639312" cy="182880"/>
          </a:xfrm>
          <a:prstGeom prst="rect">
            <a:avLst/>
          </a:prstGeom>
          <a:noFill/>
        </p:spPr>
        <p:txBody>
          <a:bodyPr wrap="square" lIns="0" tIns="0" rIns="0" bIns="0" anchor="ctr"/>
          <a:lstStyle/>
          <a:p>
            <a:pPr marL="0" indent="0">
              <a:buNone/>
            </a:pPr>
            <a:r>
              <a:rPr sz="850" b="1">
                <a:solidFill>
                  <a:srgbClr val="FF8A3D"/>
                </a:solidFill>
                <a:latin typeface="Courier New"/>
                <a:ea typeface="Courier New"/>
                <a:cs typeface="Courier New"/>
              </a:rPr>
              <a:t>qué se almacena</a:t>
            </a:r>
            <a:endParaRPr sz="850"/>
          </a:p>
        </p:txBody>
      </p:sp>
      <p:sp>
        <p:nvSpPr>
          <p:cNvPr id="23" name="Text 21">
            <a:extLst>
              <a:ext uri="{FF2B5EF4-FFF2-40B4-BE49-F238E27FC236}">
                <a16:creationId xmlns:a16="http://schemas.microsoft.com/office/drawing/2014/main" id="{CD346110-D83D-4171-9614-1C57CA950DF0}"/>
              </a:ext>
            </a:extLst>
          </p:cNvPr>
          <p:cNvSpPr>
            <a:spLocks noGrp="1"/>
          </p:cNvSpPr>
          <p:nvPr/>
        </p:nvSpPr>
        <p:spPr>
          <a:xfrm>
            <a:off x="4855464" y="2761488"/>
            <a:ext cx="3639312" cy="804672"/>
          </a:xfrm>
          <a:prstGeom prst="rect">
            <a:avLst/>
          </a:prstGeom>
          <a:noFill/>
        </p:spPr>
        <p:txBody>
          <a:bodyPr wrap="square" lIns="0" tIns="0" rIns="0" bIns="0" anchor="t"/>
          <a:lstStyle/>
          <a:p>
            <a:pPr marL="0" indent="0">
              <a:lnSpc>
                <a:spcPct val="125000"/>
              </a:lnSpc>
              <a:buNone/>
            </a:pPr>
            <a:r>
              <a:rPr sz="850">
                <a:solidFill>
                  <a:srgbClr val="3DDC97"/>
                </a:solidFill>
                <a:latin typeface="Courier New"/>
                <a:ea typeface="Courier New"/>
                <a:cs typeface="Courier New"/>
              </a:rPr>
              <a:t>INSERT INTO solicitud</a:t>
            </a:r>
            <a:endParaRPr sz="850"/>
          </a:p>
          <a:p>
            <a:pPr marL="0" indent="0">
              <a:lnSpc>
                <a:spcPct val="125000"/>
              </a:lnSpc>
              <a:buNone/>
            </a:pPr>
            <a:r>
              <a:rPr sz="850">
                <a:solidFill>
                  <a:srgbClr val="56C7F2"/>
                </a:solidFill>
                <a:latin typeface="Courier New"/>
                <a:ea typeface="Courier New"/>
                <a:cs typeface="Courier New"/>
              </a:rPr>
              <a:t>  (cliente_id, descripcion, fecha, estado)</a:t>
            </a:r>
            <a:endParaRPr sz="850"/>
          </a:p>
          <a:p>
            <a:pPr marL="0" indent="0">
              <a:lnSpc>
                <a:spcPct val="125000"/>
              </a:lnSpc>
              <a:buNone/>
            </a:pPr>
            <a:r>
              <a:rPr sz="850">
                <a:solidFill>
                  <a:srgbClr val="FFD479"/>
                </a:solidFill>
                <a:latin typeface="Courier New"/>
                <a:ea typeface="Courier New"/>
                <a:cs typeface="Courier New"/>
              </a:rPr>
              <a:t>VALUES (?, ?, &lt;servidor&gt;, 'Pendiente')</a:t>
            </a:r>
            <a:endParaRPr sz="850"/>
          </a:p>
        </p:txBody>
      </p:sp>
      <p:sp>
        <p:nvSpPr>
          <p:cNvPr id="24" name="Shape 22">
            <a:extLst>
              <a:ext uri="{FF2B5EF4-FFF2-40B4-BE49-F238E27FC236}">
                <a16:creationId xmlns:a16="http://schemas.microsoft.com/office/drawing/2014/main" id="{C108AA11-82CF-49B9-9482-0F8F2706F17C}"/>
              </a:ext>
            </a:extLst>
          </p:cNvPr>
          <p:cNvSpPr>
            <a:spLocks noGrp="1"/>
          </p:cNvSpPr>
          <p:nvPr/>
        </p:nvSpPr>
        <p:spPr>
          <a:xfrm>
            <a:off x="502920" y="3767328"/>
            <a:ext cx="8138160" cy="841248"/>
          </a:xfrm>
          <a:prstGeom prst="roundRect">
            <a:avLst>
              <a:gd name="adj" fmla="val 5435"/>
            </a:avLst>
          </a:prstGeom>
          <a:solidFill>
            <a:srgbClr val="1A2434"/>
          </a:solidFill>
          <a:ln w="12700">
            <a:solidFill>
              <a:srgbClr val="FFB86C"/>
            </a:solidFill>
            <a:prstDash val="solid"/>
          </a:ln>
        </p:spPr>
        <p:txBody>
          <a:bodyPr/>
          <a:lstStyle/>
          <a:p>
            <a:endParaRPr/>
          </a:p>
        </p:txBody>
      </p:sp>
      <p:sp>
        <p:nvSpPr>
          <p:cNvPr id="25" name="Text 23">
            <a:extLst>
              <a:ext uri="{FF2B5EF4-FFF2-40B4-BE49-F238E27FC236}">
                <a16:creationId xmlns:a16="http://schemas.microsoft.com/office/drawing/2014/main" id="{90CBB48F-6658-488A-BF29-37A090F520E3}"/>
              </a:ext>
            </a:extLst>
          </p:cNvPr>
          <p:cNvSpPr>
            <a:spLocks noGrp="1"/>
          </p:cNvSpPr>
          <p:nvPr/>
        </p:nvSpPr>
        <p:spPr>
          <a:xfrm>
            <a:off x="731520" y="3858768"/>
            <a:ext cx="7680960" cy="201168"/>
          </a:xfrm>
          <a:prstGeom prst="rect">
            <a:avLst/>
          </a:prstGeom>
          <a:noFill/>
        </p:spPr>
        <p:txBody>
          <a:bodyPr wrap="square" lIns="0" tIns="0" rIns="0" bIns="0" anchor="ctr"/>
          <a:lstStyle/>
          <a:p>
            <a:pPr marL="0" indent="0">
              <a:buNone/>
            </a:pPr>
            <a:r>
              <a:rPr sz="1150" b="1">
                <a:solidFill>
                  <a:srgbClr val="FFB86C"/>
                </a:solidFill>
                <a:latin typeface="Arial"/>
                <a:ea typeface="Arial"/>
                <a:cs typeface="Arial"/>
              </a:rPr>
              <a:t>Correspondencia con el modelo conceptual</a:t>
            </a:r>
            <a:endParaRPr sz="1150"/>
          </a:p>
        </p:txBody>
      </p:sp>
      <p:sp>
        <p:nvSpPr>
          <p:cNvPr id="26" name="Text 24">
            <a:extLst>
              <a:ext uri="{FF2B5EF4-FFF2-40B4-BE49-F238E27FC236}">
                <a16:creationId xmlns:a16="http://schemas.microsoft.com/office/drawing/2014/main" id="{B894199B-988A-4708-96C3-86441E025E82}"/>
              </a:ext>
            </a:extLst>
          </p:cNvPr>
          <p:cNvSpPr>
            <a:spLocks noGrp="1"/>
          </p:cNvSpPr>
          <p:nvPr/>
        </p:nvSpPr>
        <p:spPr>
          <a:xfrm>
            <a:off x="731520" y="4096512"/>
            <a:ext cx="7680960" cy="438912"/>
          </a:xfrm>
          <a:prstGeom prst="rect">
            <a:avLst/>
          </a:prstGeom>
          <a:noFill/>
        </p:spPr>
        <p:txBody>
          <a:bodyPr wrap="square" lIns="0" tIns="0" rIns="0" bIns="0" anchor="t"/>
          <a:lstStyle/>
          <a:p>
            <a:pPr marL="0" indent="0">
              <a:lnSpc>
                <a:spcPct val="110000"/>
              </a:lnSpc>
              <a:buNone/>
            </a:pPr>
            <a:r>
              <a:rPr sz="1000">
                <a:solidFill>
                  <a:srgbClr val="E8EEF6"/>
                </a:solidFill>
                <a:latin typeface="Calibri"/>
                <a:ea typeface="Calibri"/>
                <a:cs typeface="Calibri"/>
              </a:rPr>
              <a:t>La columna cliente_id materializa la relación conceptual entre Solicitud y Cliente: no es un dato que el usuario escriba, es el vínculo que el recorrido ya había fijado. El servidor comprueba que el cliente exista, exige la descripción y asigna fecha y estado inicial.</a:t>
            </a:r>
            <a:endParaRPr sz="1000"/>
          </a:p>
        </p:txBody>
      </p:sp>
    </p:spTree>
    <p:extLst>
      <p:ext uri="{BB962C8B-B14F-4D97-AF65-F5344CB8AC3E}">
        <p14:creationId xmlns:p14="http://schemas.microsoft.com/office/powerpoint/2010/main" val="1166856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3C9BCA9D-4E53-445B-9C53-8DB5260E980E}"/>
              </a:ext>
            </a:extLst>
          </p:cNvPr>
          <p:cNvSpPr>
            <a:spLocks noGrp="1"/>
          </p:cNvSpPr>
          <p:nvPr/>
        </p:nvSpPr>
        <p:spPr>
          <a:xfrm>
            <a:off x="285750" y="200025"/>
            <a:ext cx="1085850" cy="185738"/>
          </a:xfrm>
          <a:prstGeom prst="roundRect">
            <a:avLst>
              <a:gd name="adj" fmla="val 41026"/>
            </a:avLst>
          </a:prstGeom>
          <a:ln w="13335">
            <a:solidFill>
              <a:srgbClr val="29D996"/>
            </a:solidFill>
          </a:ln>
        </p:spPr>
        <p:txBody>
          <a:bodyPr/>
          <a:lstStyle/>
          <a:p>
            <a:endParaRPr lang="es-CO"/>
          </a:p>
        </p:txBody>
      </p:sp>
      <p:sp>
        <p:nvSpPr>
          <p:cNvPr id="2" name="Rectángulo 1">
            <a:extLst>
              <a:ext uri="{FF2B5EF4-FFF2-40B4-BE49-F238E27FC236}">
                <a16:creationId xmlns:a16="http://schemas.microsoft.com/office/drawing/2014/main" id="{11F79F2E-1BEA-45E0-8180-24235D9CD210}"/>
              </a:ext>
            </a:extLst>
          </p:cNvPr>
          <p:cNvSpPr>
            <a:spLocks noGrp="1"/>
          </p:cNvSpPr>
          <p:nvPr/>
        </p:nvSpPr>
        <p:spPr>
          <a:xfrm>
            <a:off x="371475" y="221456"/>
            <a:ext cx="914400" cy="128588"/>
          </a:xfrm>
          <a:prstGeom prst="rect">
            <a:avLst/>
          </a:prstGeom>
          <a:ln w="0"/>
        </p:spPr>
        <p:txBody>
          <a:bodyPr anchor="ctr">
            <a:normAutofit fontScale="39379"/>
          </a:bodyPr>
          <a:lstStyle/>
          <a:p>
            <a:pPr algn="ctr">
              <a:defRPr sz="619" b="1">
                <a:solidFill>
                  <a:srgbClr val="29D996"/>
                </a:solidFill>
                <a:latin typeface="Arial"/>
                <a:ea typeface="Arial"/>
                <a:cs typeface="Arial"/>
              </a:defRPr>
            </a:pPr>
            <a:r>
              <a:rPr sz="619" b="1">
                <a:solidFill>
                  <a:srgbClr val="29D996"/>
                </a:solidFill>
                <a:latin typeface="Arial"/>
                <a:ea typeface="Arial"/>
                <a:cs typeface="Arial"/>
              </a:rPr>
              <a:t>DEMOSTRACIÓN · PROPÓSITO</a:t>
            </a:r>
          </a:p>
        </p:txBody>
      </p:sp>
      <p:sp>
        <p:nvSpPr>
          <p:cNvPr id="3" name="Rectángulo 2">
            <a:extLst>
              <a:ext uri="{FF2B5EF4-FFF2-40B4-BE49-F238E27FC236}">
                <a16:creationId xmlns:a16="http://schemas.microsoft.com/office/drawing/2014/main" id="{888FC617-8C45-47D1-A42B-DCA9EA187B46}"/>
              </a:ext>
            </a:extLst>
          </p:cNvPr>
          <p:cNvSpPr>
            <a:spLocks noGrp="1"/>
          </p:cNvSpPr>
          <p:nvPr/>
        </p:nvSpPr>
        <p:spPr>
          <a:xfrm>
            <a:off x="285750" y="450056"/>
            <a:ext cx="8286750" cy="414338"/>
          </a:xfrm>
          <a:prstGeom prst="rect">
            <a:avLst/>
          </a:prstGeom>
          <a:ln w="0"/>
        </p:spPr>
        <p:txBody>
          <a:bodyPr anchor="ctr">
            <a:normAutofit/>
          </a:bodyPr>
          <a:lstStyle/>
          <a:p>
            <a:pPr algn="l">
              <a:defRPr sz="1744" b="1">
                <a:solidFill>
                  <a:srgbClr val="F4F7FB"/>
                </a:solidFill>
                <a:latin typeface="Arial"/>
                <a:ea typeface="Arial"/>
                <a:cs typeface="Arial"/>
              </a:defRPr>
            </a:pPr>
            <a:r>
              <a:rPr sz="1744" b="1">
                <a:solidFill>
                  <a:srgbClr val="F4F7FB"/>
                </a:solidFill>
                <a:latin typeface="Arial"/>
                <a:ea typeface="Arial"/>
                <a:cs typeface="Arial"/>
              </a:rPr>
              <a:t>Qué vamos a comprobar en la aplicación</a:t>
            </a:r>
          </a:p>
        </p:txBody>
      </p:sp>
      <p:sp>
        <p:nvSpPr>
          <p:cNvPr id="4" name="Rectángulo 3">
            <a:extLst>
              <a:ext uri="{FF2B5EF4-FFF2-40B4-BE49-F238E27FC236}">
                <a16:creationId xmlns:a16="http://schemas.microsoft.com/office/drawing/2014/main" id="{86F05FAA-FED1-43F5-AF62-CCE0C4BE512D}"/>
              </a:ext>
            </a:extLst>
          </p:cNvPr>
          <p:cNvSpPr>
            <a:spLocks noGrp="1"/>
          </p:cNvSpPr>
          <p:nvPr/>
        </p:nvSpPr>
        <p:spPr>
          <a:xfrm>
            <a:off x="6858000" y="4872038"/>
            <a:ext cx="1964531" cy="142875"/>
          </a:xfrm>
          <a:prstGeom prst="rect">
            <a:avLst/>
          </a:prstGeom>
          <a:ln w="0"/>
        </p:spPr>
        <p:txBody>
          <a:bodyPr anchor="ctr">
            <a:normAutofit fontScale="59947"/>
          </a:bodyPr>
          <a:lstStyle/>
          <a:p>
            <a:pPr algn="r">
              <a:defRPr sz="563" b="0">
                <a:solidFill>
                  <a:srgbClr val="718096"/>
                </a:solidFill>
                <a:latin typeface="Arial"/>
                <a:ea typeface="Arial"/>
                <a:cs typeface="Arial"/>
              </a:defRPr>
            </a:pPr>
            <a:r>
              <a:rPr sz="563" b="0">
                <a:solidFill>
                  <a:srgbClr val="718096"/>
                </a:solidFill>
                <a:latin typeface="Arial"/>
                <a:ea typeface="Arial"/>
                <a:cs typeface="Arial"/>
              </a:rPr>
              <a:t>Metodologías de desarrollo web  ·  18 / 24</a:t>
            </a:r>
          </a:p>
        </p:txBody>
      </p:sp>
      <p:sp>
        <p:nvSpPr>
          <p:cNvPr id="5" name="Rectángulo: esquinas redondeadas 4">
            <a:extLst>
              <a:ext uri="{FF2B5EF4-FFF2-40B4-BE49-F238E27FC236}">
                <a16:creationId xmlns:a16="http://schemas.microsoft.com/office/drawing/2014/main" id="{C5D75208-6B75-4EA0-80FB-D1C5B77F77AF}"/>
              </a:ext>
            </a:extLst>
          </p:cNvPr>
          <p:cNvSpPr>
            <a:spLocks noGrp="1"/>
          </p:cNvSpPr>
          <p:nvPr/>
        </p:nvSpPr>
        <p:spPr>
          <a:xfrm>
            <a:off x="285750" y="1035844"/>
            <a:ext cx="1928813" cy="2571750"/>
          </a:xfrm>
          <a:prstGeom prst="roundRect">
            <a:avLst>
              <a:gd name="adj" fmla="val 3951"/>
            </a:avLst>
          </a:prstGeom>
          <a:solidFill>
            <a:srgbClr val="111D2D"/>
          </a:solidFill>
          <a:ln w="13335">
            <a:solidFill>
              <a:srgbClr val="29D996"/>
            </a:solidFill>
          </a:ln>
        </p:spPr>
        <p:txBody>
          <a:bodyPr/>
          <a:lstStyle/>
          <a:p>
            <a:endParaRPr lang="es-CO"/>
          </a:p>
        </p:txBody>
      </p:sp>
      <p:sp>
        <p:nvSpPr>
          <p:cNvPr id="6" name="Rectángulo 5">
            <a:extLst>
              <a:ext uri="{FF2B5EF4-FFF2-40B4-BE49-F238E27FC236}">
                <a16:creationId xmlns:a16="http://schemas.microsoft.com/office/drawing/2014/main" id="{30FF189E-6ABB-4E3E-9E57-434A9746543A}"/>
              </a:ext>
            </a:extLst>
          </p:cNvPr>
          <p:cNvSpPr>
            <a:spLocks noGrp="1"/>
          </p:cNvSpPr>
          <p:nvPr/>
        </p:nvSpPr>
        <p:spPr>
          <a:xfrm>
            <a:off x="414338" y="1150144"/>
            <a:ext cx="357188" cy="242888"/>
          </a:xfrm>
          <a:prstGeom prst="rect">
            <a:avLst/>
          </a:prstGeom>
          <a:ln w="0"/>
        </p:spPr>
        <p:txBody>
          <a:bodyPr anchor="ctr">
            <a:normAutofit fontScale="98100"/>
          </a:bodyPr>
          <a:lstStyle/>
          <a:p>
            <a:pPr algn="l">
              <a:defRPr sz="1013" b="1">
                <a:solidFill>
                  <a:srgbClr val="29D996"/>
                </a:solidFill>
                <a:latin typeface="Arial"/>
                <a:ea typeface="Arial"/>
                <a:cs typeface="Arial"/>
              </a:defRPr>
            </a:pPr>
            <a:r>
              <a:rPr sz="1013" b="1">
                <a:solidFill>
                  <a:srgbClr val="29D996"/>
                </a:solidFill>
                <a:latin typeface="Arial"/>
                <a:ea typeface="Arial"/>
                <a:cs typeface="Arial"/>
              </a:rPr>
              <a:t>01</a:t>
            </a:r>
          </a:p>
        </p:txBody>
      </p:sp>
      <p:sp>
        <p:nvSpPr>
          <p:cNvPr id="7" name="Rectángulo 6">
            <a:extLst>
              <a:ext uri="{FF2B5EF4-FFF2-40B4-BE49-F238E27FC236}">
                <a16:creationId xmlns:a16="http://schemas.microsoft.com/office/drawing/2014/main" id="{57D15EF9-3D37-4F4E-B932-6AC0EA7F7D2D}"/>
              </a:ext>
            </a:extLst>
          </p:cNvPr>
          <p:cNvSpPr>
            <a:spLocks noGrp="1"/>
          </p:cNvSpPr>
          <p:nvPr/>
        </p:nvSpPr>
        <p:spPr>
          <a:xfrm>
            <a:off x="414338" y="1407319"/>
            <a:ext cx="1671638"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Información</a:t>
            </a:r>
          </a:p>
        </p:txBody>
      </p:sp>
      <p:sp>
        <p:nvSpPr>
          <p:cNvPr id="8" name="Rectángulo 7">
            <a:extLst>
              <a:ext uri="{FF2B5EF4-FFF2-40B4-BE49-F238E27FC236}">
                <a16:creationId xmlns:a16="http://schemas.microsoft.com/office/drawing/2014/main" id="{36170F8D-CB5D-494F-8471-47481AD41586}"/>
              </a:ext>
            </a:extLst>
          </p:cNvPr>
          <p:cNvSpPr>
            <a:spLocks noGrp="1"/>
          </p:cNvSpPr>
          <p:nvPr/>
        </p:nvSpPr>
        <p:spPr>
          <a:xfrm>
            <a:off x="414338" y="1685925"/>
            <a:ext cx="1671638" cy="1814513"/>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Cliente y Solicitud existen como conceptos del dominio. La relación indica que un cliente puede tener varias solicitudes.</a:t>
            </a:r>
          </a:p>
        </p:txBody>
      </p:sp>
      <p:sp>
        <p:nvSpPr>
          <p:cNvPr id="9" name="Rectángulo: esquinas redondeadas 8">
            <a:extLst>
              <a:ext uri="{FF2B5EF4-FFF2-40B4-BE49-F238E27FC236}">
                <a16:creationId xmlns:a16="http://schemas.microsoft.com/office/drawing/2014/main" id="{9DBF3FFE-E6E8-4F46-ACB4-3B88459300A7}"/>
              </a:ext>
            </a:extLst>
          </p:cNvPr>
          <p:cNvSpPr>
            <a:spLocks noGrp="1"/>
          </p:cNvSpPr>
          <p:nvPr/>
        </p:nvSpPr>
        <p:spPr>
          <a:xfrm>
            <a:off x="2357438" y="1035844"/>
            <a:ext cx="1928813" cy="2571750"/>
          </a:xfrm>
          <a:prstGeom prst="roundRect">
            <a:avLst>
              <a:gd name="adj" fmla="val 3951"/>
            </a:avLst>
          </a:prstGeom>
          <a:solidFill>
            <a:srgbClr val="111D2D"/>
          </a:solidFill>
          <a:ln w="13335">
            <a:solidFill>
              <a:srgbClr val="35B8E8"/>
            </a:solidFill>
          </a:ln>
        </p:spPr>
        <p:txBody>
          <a:bodyPr/>
          <a:lstStyle/>
          <a:p>
            <a:endParaRPr lang="es-CO"/>
          </a:p>
        </p:txBody>
      </p:sp>
      <p:sp>
        <p:nvSpPr>
          <p:cNvPr id="10" name="Rectángulo 9">
            <a:extLst>
              <a:ext uri="{FF2B5EF4-FFF2-40B4-BE49-F238E27FC236}">
                <a16:creationId xmlns:a16="http://schemas.microsoft.com/office/drawing/2014/main" id="{BC13911B-2286-443E-832B-C9ED926B2611}"/>
              </a:ext>
            </a:extLst>
          </p:cNvPr>
          <p:cNvSpPr>
            <a:spLocks noGrp="1"/>
          </p:cNvSpPr>
          <p:nvPr/>
        </p:nvSpPr>
        <p:spPr>
          <a:xfrm>
            <a:off x="2486025" y="1150144"/>
            <a:ext cx="357188" cy="242888"/>
          </a:xfrm>
          <a:prstGeom prst="rect">
            <a:avLst/>
          </a:prstGeom>
          <a:ln w="0"/>
        </p:spPr>
        <p:txBody>
          <a:bodyPr anchor="ctr">
            <a:normAutofit fontScale="98100"/>
          </a:bodyPr>
          <a:lstStyle/>
          <a:p>
            <a:pPr algn="l">
              <a:defRPr sz="1013" b="1">
                <a:solidFill>
                  <a:srgbClr val="35B8E8"/>
                </a:solidFill>
                <a:latin typeface="Arial"/>
                <a:ea typeface="Arial"/>
                <a:cs typeface="Arial"/>
              </a:defRPr>
            </a:pPr>
            <a:r>
              <a:rPr sz="1013" b="1">
                <a:solidFill>
                  <a:srgbClr val="35B8E8"/>
                </a:solidFill>
                <a:latin typeface="Arial"/>
                <a:ea typeface="Arial"/>
                <a:cs typeface="Arial"/>
              </a:rPr>
              <a:t>02</a:t>
            </a:r>
          </a:p>
        </p:txBody>
      </p:sp>
      <p:sp>
        <p:nvSpPr>
          <p:cNvPr id="11" name="Rectángulo 10">
            <a:extLst>
              <a:ext uri="{FF2B5EF4-FFF2-40B4-BE49-F238E27FC236}">
                <a16:creationId xmlns:a16="http://schemas.microsoft.com/office/drawing/2014/main" id="{7D297E88-E48D-4ABC-93E8-5D184C4EFE03}"/>
              </a:ext>
            </a:extLst>
          </p:cNvPr>
          <p:cNvSpPr>
            <a:spLocks noGrp="1"/>
          </p:cNvSpPr>
          <p:nvPr/>
        </p:nvSpPr>
        <p:spPr>
          <a:xfrm>
            <a:off x="2486025" y="1407319"/>
            <a:ext cx="1671638"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Navegación</a:t>
            </a:r>
          </a:p>
        </p:txBody>
      </p:sp>
      <p:sp>
        <p:nvSpPr>
          <p:cNvPr id="12" name="Rectángulo 11">
            <a:extLst>
              <a:ext uri="{FF2B5EF4-FFF2-40B4-BE49-F238E27FC236}">
                <a16:creationId xmlns:a16="http://schemas.microsoft.com/office/drawing/2014/main" id="{55E57785-40AF-4917-9434-5BD6FB9FAC81}"/>
              </a:ext>
            </a:extLst>
          </p:cNvPr>
          <p:cNvSpPr>
            <a:spLocks noGrp="1"/>
          </p:cNvSpPr>
          <p:nvPr/>
        </p:nvSpPr>
        <p:spPr>
          <a:xfrm>
            <a:off x="2486025" y="1685925"/>
            <a:ext cx="1671638" cy="1814513"/>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El auxiliar selecciona un cliente, abre su detalle y continúa al formulario conservando el identificador.</a:t>
            </a:r>
          </a:p>
        </p:txBody>
      </p:sp>
      <p:sp>
        <p:nvSpPr>
          <p:cNvPr id="13" name="Rectángulo: esquinas redondeadas 12">
            <a:extLst>
              <a:ext uri="{FF2B5EF4-FFF2-40B4-BE49-F238E27FC236}">
                <a16:creationId xmlns:a16="http://schemas.microsoft.com/office/drawing/2014/main" id="{051D1801-59C6-4F56-A26E-9C845B0FA4E3}"/>
              </a:ext>
            </a:extLst>
          </p:cNvPr>
          <p:cNvSpPr>
            <a:spLocks noGrp="1"/>
          </p:cNvSpPr>
          <p:nvPr/>
        </p:nvSpPr>
        <p:spPr>
          <a:xfrm>
            <a:off x="4429125" y="1035844"/>
            <a:ext cx="1928813" cy="2571750"/>
          </a:xfrm>
          <a:prstGeom prst="roundRect">
            <a:avLst>
              <a:gd name="adj" fmla="val 3951"/>
            </a:avLst>
          </a:prstGeom>
          <a:solidFill>
            <a:srgbClr val="111D2D"/>
          </a:solidFill>
          <a:ln w="13335">
            <a:solidFill>
              <a:srgbClr val="F3A846"/>
            </a:solidFill>
          </a:ln>
        </p:spPr>
        <p:txBody>
          <a:bodyPr/>
          <a:lstStyle/>
          <a:p>
            <a:endParaRPr lang="es-CO"/>
          </a:p>
        </p:txBody>
      </p:sp>
      <p:sp>
        <p:nvSpPr>
          <p:cNvPr id="14" name="Rectángulo 13">
            <a:extLst>
              <a:ext uri="{FF2B5EF4-FFF2-40B4-BE49-F238E27FC236}">
                <a16:creationId xmlns:a16="http://schemas.microsoft.com/office/drawing/2014/main" id="{9724ADBD-A1E7-4712-BEAE-075B3BD30449}"/>
              </a:ext>
            </a:extLst>
          </p:cNvPr>
          <p:cNvSpPr>
            <a:spLocks noGrp="1"/>
          </p:cNvSpPr>
          <p:nvPr/>
        </p:nvSpPr>
        <p:spPr>
          <a:xfrm>
            <a:off x="4557713" y="1150144"/>
            <a:ext cx="357188" cy="242888"/>
          </a:xfrm>
          <a:prstGeom prst="rect">
            <a:avLst/>
          </a:prstGeom>
          <a:ln w="0"/>
        </p:spPr>
        <p:txBody>
          <a:bodyPr anchor="ctr">
            <a:normAutofit fontScale="98100"/>
          </a:bodyPr>
          <a:lstStyle/>
          <a:p>
            <a:pPr algn="l">
              <a:defRPr sz="1013" b="1">
                <a:solidFill>
                  <a:srgbClr val="F3A846"/>
                </a:solidFill>
                <a:latin typeface="Arial"/>
                <a:ea typeface="Arial"/>
                <a:cs typeface="Arial"/>
              </a:defRPr>
            </a:pPr>
            <a:r>
              <a:rPr sz="1013" b="1">
                <a:solidFill>
                  <a:srgbClr val="F3A846"/>
                </a:solidFill>
                <a:latin typeface="Arial"/>
                <a:ea typeface="Arial"/>
                <a:cs typeface="Arial"/>
              </a:rPr>
              <a:t>03</a:t>
            </a:r>
          </a:p>
        </p:txBody>
      </p:sp>
      <p:sp>
        <p:nvSpPr>
          <p:cNvPr id="15" name="Rectángulo 14">
            <a:extLst>
              <a:ext uri="{FF2B5EF4-FFF2-40B4-BE49-F238E27FC236}">
                <a16:creationId xmlns:a16="http://schemas.microsoft.com/office/drawing/2014/main" id="{6BFDCCF3-C156-4F10-81CF-03289B341464}"/>
              </a:ext>
            </a:extLst>
          </p:cNvPr>
          <p:cNvSpPr>
            <a:spLocks noGrp="1"/>
          </p:cNvSpPr>
          <p:nvPr/>
        </p:nvSpPr>
        <p:spPr>
          <a:xfrm>
            <a:off x="4557713" y="1407319"/>
            <a:ext cx="1671638"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Interfaz</a:t>
            </a:r>
          </a:p>
        </p:txBody>
      </p:sp>
      <p:sp>
        <p:nvSpPr>
          <p:cNvPr id="16" name="Rectángulo 15">
            <a:extLst>
              <a:ext uri="{FF2B5EF4-FFF2-40B4-BE49-F238E27FC236}">
                <a16:creationId xmlns:a16="http://schemas.microsoft.com/office/drawing/2014/main" id="{7BE44F2C-689C-42CF-8483-C5834A5AD09A}"/>
              </a:ext>
            </a:extLst>
          </p:cNvPr>
          <p:cNvSpPr>
            <a:spLocks noGrp="1"/>
          </p:cNvSpPr>
          <p:nvPr/>
        </p:nvSpPr>
        <p:spPr>
          <a:xfrm>
            <a:off x="4557713" y="1685925"/>
            <a:ext cx="1671638" cy="1814513"/>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El formulario muestra el cliente seleccionado y solicita únicamente la descripción del problema.</a:t>
            </a:r>
          </a:p>
        </p:txBody>
      </p:sp>
      <p:sp>
        <p:nvSpPr>
          <p:cNvPr id="17" name="Rectángulo: esquinas redondeadas 16">
            <a:extLst>
              <a:ext uri="{FF2B5EF4-FFF2-40B4-BE49-F238E27FC236}">
                <a16:creationId xmlns:a16="http://schemas.microsoft.com/office/drawing/2014/main" id="{7B262A56-04FC-441A-9656-78C22CB7C5CE}"/>
              </a:ext>
            </a:extLst>
          </p:cNvPr>
          <p:cNvSpPr>
            <a:spLocks noGrp="1"/>
          </p:cNvSpPr>
          <p:nvPr/>
        </p:nvSpPr>
        <p:spPr>
          <a:xfrm>
            <a:off x="6500813" y="1035844"/>
            <a:ext cx="1928813" cy="2571750"/>
          </a:xfrm>
          <a:prstGeom prst="roundRect">
            <a:avLst>
              <a:gd name="adj" fmla="val 3951"/>
            </a:avLst>
          </a:prstGeom>
          <a:solidFill>
            <a:srgbClr val="111D2D"/>
          </a:solidFill>
          <a:ln w="13335">
            <a:solidFill>
              <a:srgbClr val="29D996"/>
            </a:solidFill>
          </a:ln>
        </p:spPr>
        <p:txBody>
          <a:bodyPr/>
          <a:lstStyle/>
          <a:p>
            <a:endParaRPr lang="es-CO"/>
          </a:p>
        </p:txBody>
      </p:sp>
      <p:sp>
        <p:nvSpPr>
          <p:cNvPr id="18" name="Rectángulo 17">
            <a:extLst>
              <a:ext uri="{FF2B5EF4-FFF2-40B4-BE49-F238E27FC236}">
                <a16:creationId xmlns:a16="http://schemas.microsoft.com/office/drawing/2014/main" id="{1078BB1A-FC80-47B6-8C5E-B87E3C886631}"/>
              </a:ext>
            </a:extLst>
          </p:cNvPr>
          <p:cNvSpPr>
            <a:spLocks noGrp="1"/>
          </p:cNvSpPr>
          <p:nvPr/>
        </p:nvSpPr>
        <p:spPr>
          <a:xfrm>
            <a:off x="6629400" y="1150144"/>
            <a:ext cx="357188" cy="242888"/>
          </a:xfrm>
          <a:prstGeom prst="rect">
            <a:avLst/>
          </a:prstGeom>
          <a:ln w="0"/>
        </p:spPr>
        <p:txBody>
          <a:bodyPr anchor="ctr">
            <a:normAutofit fontScale="98100"/>
          </a:bodyPr>
          <a:lstStyle/>
          <a:p>
            <a:pPr algn="l">
              <a:defRPr sz="1013" b="1">
                <a:solidFill>
                  <a:srgbClr val="29D996"/>
                </a:solidFill>
                <a:latin typeface="Arial"/>
                <a:ea typeface="Arial"/>
                <a:cs typeface="Arial"/>
              </a:defRPr>
            </a:pPr>
            <a:r>
              <a:rPr sz="1013" b="1">
                <a:solidFill>
                  <a:srgbClr val="29D996"/>
                </a:solidFill>
                <a:latin typeface="Arial"/>
                <a:ea typeface="Arial"/>
                <a:cs typeface="Arial"/>
              </a:rPr>
              <a:t>04</a:t>
            </a:r>
          </a:p>
        </p:txBody>
      </p:sp>
      <p:sp>
        <p:nvSpPr>
          <p:cNvPr id="19" name="Rectángulo 18">
            <a:extLst>
              <a:ext uri="{FF2B5EF4-FFF2-40B4-BE49-F238E27FC236}">
                <a16:creationId xmlns:a16="http://schemas.microsoft.com/office/drawing/2014/main" id="{33F7D12A-5C43-4904-9DEA-3610109F2CEB}"/>
              </a:ext>
            </a:extLst>
          </p:cNvPr>
          <p:cNvSpPr>
            <a:spLocks noGrp="1"/>
          </p:cNvSpPr>
          <p:nvPr/>
        </p:nvSpPr>
        <p:spPr>
          <a:xfrm>
            <a:off x="6629400" y="1407319"/>
            <a:ext cx="1671638"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Implementación</a:t>
            </a:r>
          </a:p>
        </p:txBody>
      </p:sp>
      <p:sp>
        <p:nvSpPr>
          <p:cNvPr id="20" name="Rectángulo 19">
            <a:extLst>
              <a:ext uri="{FF2B5EF4-FFF2-40B4-BE49-F238E27FC236}">
                <a16:creationId xmlns:a16="http://schemas.microsoft.com/office/drawing/2014/main" id="{5E19B926-5494-4423-85E9-5F0BCCE73498}"/>
              </a:ext>
            </a:extLst>
          </p:cNvPr>
          <p:cNvSpPr>
            <a:spLocks noGrp="1"/>
          </p:cNvSpPr>
          <p:nvPr/>
        </p:nvSpPr>
        <p:spPr>
          <a:xfrm>
            <a:off x="6629400" y="1685925"/>
            <a:ext cx="1671638" cy="1814513"/>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Node.js atiende las rutas. SQLite guarda los registros y cliente_id materializa la relación.</a:t>
            </a:r>
          </a:p>
        </p:txBody>
      </p:sp>
      <p:sp>
        <p:nvSpPr>
          <p:cNvPr id="21" name="Rectángulo: esquinas redondeadas 20">
            <a:extLst>
              <a:ext uri="{FF2B5EF4-FFF2-40B4-BE49-F238E27FC236}">
                <a16:creationId xmlns:a16="http://schemas.microsoft.com/office/drawing/2014/main" id="{40154B31-7A1F-4216-A9BC-F960A7A1483F}"/>
              </a:ext>
            </a:extLst>
          </p:cNvPr>
          <p:cNvSpPr>
            <a:spLocks noGrp="1"/>
          </p:cNvSpPr>
          <p:nvPr/>
        </p:nvSpPr>
        <p:spPr>
          <a:xfrm>
            <a:off x="285750" y="3821906"/>
            <a:ext cx="8143875" cy="657225"/>
          </a:xfrm>
          <a:prstGeom prst="roundRect">
            <a:avLst>
              <a:gd name="adj" fmla="val 11594"/>
            </a:avLst>
          </a:prstGeom>
          <a:solidFill>
            <a:srgbClr val="18273A"/>
          </a:solidFill>
          <a:ln w="13335">
            <a:solidFill>
              <a:srgbClr val="35B8E8"/>
            </a:solidFill>
          </a:ln>
        </p:spPr>
        <p:txBody>
          <a:bodyPr/>
          <a:lstStyle/>
          <a:p>
            <a:endParaRPr lang="es-CO"/>
          </a:p>
        </p:txBody>
      </p:sp>
      <p:sp>
        <p:nvSpPr>
          <p:cNvPr id="22" name="Rectángulo 21">
            <a:extLst>
              <a:ext uri="{FF2B5EF4-FFF2-40B4-BE49-F238E27FC236}">
                <a16:creationId xmlns:a16="http://schemas.microsoft.com/office/drawing/2014/main" id="{5CA8D339-8F3E-4176-BAF5-EC7B36837D15}"/>
              </a:ext>
            </a:extLst>
          </p:cNvPr>
          <p:cNvSpPr>
            <a:spLocks noGrp="1"/>
          </p:cNvSpPr>
          <p:nvPr/>
        </p:nvSpPr>
        <p:spPr>
          <a:xfrm>
            <a:off x="500063" y="3936206"/>
            <a:ext cx="7715250" cy="392906"/>
          </a:xfrm>
          <a:prstGeom prst="rect">
            <a:avLst/>
          </a:prstGeom>
          <a:ln w="0"/>
        </p:spPr>
        <p:txBody>
          <a:bodyPr anchor="ctr">
            <a:normAutofit/>
          </a:bodyPr>
          <a:lstStyle/>
          <a:p>
            <a:pPr algn="ctr">
              <a:defRPr sz="1125" b="1">
                <a:solidFill>
                  <a:srgbClr val="F4F7FB"/>
                </a:solidFill>
                <a:latin typeface="Arial"/>
                <a:ea typeface="Arial"/>
                <a:cs typeface="Arial"/>
              </a:defRPr>
            </a:pPr>
            <a:r>
              <a:rPr sz="1125" b="1">
                <a:solidFill>
                  <a:srgbClr val="F4F7FB"/>
                </a:solidFill>
                <a:latin typeface="Arial"/>
                <a:ea typeface="Arial"/>
                <a:cs typeface="Arial"/>
              </a:rPr>
              <a:t>La demostración conecta una decisión de cada actividad de OOHDM con una parte visible del sistema.</a:t>
            </a:r>
          </a:p>
        </p:txBody>
      </p:sp>
    </p:spTree>
    <p:extLst>
      <p:ext uri="{BB962C8B-B14F-4D97-AF65-F5344CB8AC3E}">
        <p14:creationId xmlns:p14="http://schemas.microsoft.com/office/powerpoint/2010/main" val="135578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9" name="Rectángulo: esquinas redondeadas 18">
            <a:extLst>
              <a:ext uri="{FF2B5EF4-FFF2-40B4-BE49-F238E27FC236}">
                <a16:creationId xmlns:a16="http://schemas.microsoft.com/office/drawing/2014/main" id="{B9F1FD0D-3AA3-451A-94D4-5BF9058D990B}"/>
              </a:ext>
            </a:extLst>
          </p:cNvPr>
          <p:cNvSpPr>
            <a:spLocks noGrp="1"/>
          </p:cNvSpPr>
          <p:nvPr/>
        </p:nvSpPr>
        <p:spPr>
          <a:xfrm>
            <a:off x="285750" y="200025"/>
            <a:ext cx="1085850" cy="185738"/>
          </a:xfrm>
          <a:prstGeom prst="roundRect">
            <a:avLst>
              <a:gd name="adj" fmla="val 41026"/>
            </a:avLst>
          </a:prstGeom>
          <a:ln w="13335">
            <a:solidFill>
              <a:srgbClr val="29D996"/>
            </a:solidFill>
          </a:ln>
        </p:spPr>
        <p:txBody>
          <a:bodyPr/>
          <a:lstStyle/>
          <a:p>
            <a:endParaRPr lang="es-CO"/>
          </a:p>
        </p:txBody>
      </p:sp>
      <p:sp>
        <p:nvSpPr>
          <p:cNvPr id="2" name="Rectángulo 1">
            <a:extLst>
              <a:ext uri="{FF2B5EF4-FFF2-40B4-BE49-F238E27FC236}">
                <a16:creationId xmlns:a16="http://schemas.microsoft.com/office/drawing/2014/main" id="{00BD0EB1-4664-4AD9-B1EE-7ED3D063F775}"/>
              </a:ext>
            </a:extLst>
          </p:cNvPr>
          <p:cNvSpPr>
            <a:spLocks noGrp="1"/>
          </p:cNvSpPr>
          <p:nvPr/>
        </p:nvSpPr>
        <p:spPr>
          <a:xfrm>
            <a:off x="371475" y="221456"/>
            <a:ext cx="914400" cy="128588"/>
          </a:xfrm>
          <a:prstGeom prst="rect">
            <a:avLst/>
          </a:prstGeom>
          <a:ln w="0"/>
        </p:spPr>
        <p:txBody>
          <a:bodyPr anchor="ctr">
            <a:normAutofit fontScale="39379"/>
          </a:bodyPr>
          <a:lstStyle/>
          <a:p>
            <a:pPr algn="ctr">
              <a:defRPr sz="619" b="1">
                <a:solidFill>
                  <a:srgbClr val="29D996"/>
                </a:solidFill>
                <a:latin typeface="Arial"/>
                <a:ea typeface="Arial"/>
                <a:cs typeface="Arial"/>
              </a:defRPr>
            </a:pPr>
            <a:r>
              <a:rPr sz="619" b="1">
                <a:solidFill>
                  <a:srgbClr val="29D996"/>
                </a:solidFill>
                <a:latin typeface="Arial"/>
                <a:ea typeface="Arial"/>
                <a:cs typeface="Arial"/>
              </a:rPr>
              <a:t>DEMOSTRACIÓN · PREPARACIÓN</a:t>
            </a:r>
          </a:p>
        </p:txBody>
      </p:sp>
      <p:sp>
        <p:nvSpPr>
          <p:cNvPr id="3" name="Rectángulo 2">
            <a:extLst>
              <a:ext uri="{FF2B5EF4-FFF2-40B4-BE49-F238E27FC236}">
                <a16:creationId xmlns:a16="http://schemas.microsoft.com/office/drawing/2014/main" id="{AE448FF7-C2E1-4970-ABA8-663124EFF808}"/>
              </a:ext>
            </a:extLst>
          </p:cNvPr>
          <p:cNvSpPr>
            <a:spLocks noGrp="1"/>
          </p:cNvSpPr>
          <p:nvPr/>
        </p:nvSpPr>
        <p:spPr>
          <a:xfrm>
            <a:off x="285750" y="450056"/>
            <a:ext cx="8286750" cy="414338"/>
          </a:xfrm>
          <a:prstGeom prst="rect">
            <a:avLst/>
          </a:prstGeom>
          <a:ln w="0"/>
        </p:spPr>
        <p:txBody>
          <a:bodyPr anchor="ctr">
            <a:normAutofit/>
          </a:bodyPr>
          <a:lstStyle/>
          <a:p>
            <a:pPr algn="l">
              <a:defRPr sz="1744" b="1">
                <a:solidFill>
                  <a:srgbClr val="F4F7FB"/>
                </a:solidFill>
                <a:latin typeface="Arial"/>
                <a:ea typeface="Arial"/>
                <a:cs typeface="Arial"/>
              </a:defRPr>
            </a:pPr>
            <a:r>
              <a:rPr sz="1744" b="1">
                <a:solidFill>
                  <a:srgbClr val="F4F7FB"/>
                </a:solidFill>
                <a:latin typeface="Arial"/>
                <a:ea typeface="Arial"/>
                <a:cs typeface="Arial"/>
              </a:rPr>
              <a:t>Ejecución del proyecto</a:t>
            </a:r>
          </a:p>
        </p:txBody>
      </p:sp>
      <p:sp>
        <p:nvSpPr>
          <p:cNvPr id="4" name="Rectángulo 3">
            <a:extLst>
              <a:ext uri="{FF2B5EF4-FFF2-40B4-BE49-F238E27FC236}">
                <a16:creationId xmlns:a16="http://schemas.microsoft.com/office/drawing/2014/main" id="{0819EE22-30F4-47EE-BCC5-EC5D1E684CD5}"/>
              </a:ext>
            </a:extLst>
          </p:cNvPr>
          <p:cNvSpPr>
            <a:spLocks noGrp="1"/>
          </p:cNvSpPr>
          <p:nvPr/>
        </p:nvSpPr>
        <p:spPr>
          <a:xfrm>
            <a:off x="6858000" y="4872038"/>
            <a:ext cx="1964531" cy="142875"/>
          </a:xfrm>
          <a:prstGeom prst="rect">
            <a:avLst/>
          </a:prstGeom>
          <a:ln w="0"/>
        </p:spPr>
        <p:txBody>
          <a:bodyPr anchor="ctr">
            <a:normAutofit fontScale="59947"/>
          </a:bodyPr>
          <a:lstStyle/>
          <a:p>
            <a:pPr algn="r">
              <a:defRPr sz="563" b="0">
                <a:solidFill>
                  <a:srgbClr val="718096"/>
                </a:solidFill>
                <a:latin typeface="Arial"/>
                <a:ea typeface="Arial"/>
                <a:cs typeface="Arial"/>
              </a:defRPr>
            </a:pPr>
            <a:r>
              <a:rPr sz="563" b="0">
                <a:solidFill>
                  <a:srgbClr val="718096"/>
                </a:solidFill>
                <a:latin typeface="Arial"/>
                <a:ea typeface="Arial"/>
                <a:cs typeface="Arial"/>
              </a:rPr>
              <a:t>Metodologías de desarrollo web  ·  19 / 24</a:t>
            </a:r>
          </a:p>
        </p:txBody>
      </p:sp>
      <p:sp>
        <p:nvSpPr>
          <p:cNvPr id="5" name="Rectángulo 4">
            <a:extLst>
              <a:ext uri="{FF2B5EF4-FFF2-40B4-BE49-F238E27FC236}">
                <a16:creationId xmlns:a16="http://schemas.microsoft.com/office/drawing/2014/main" id="{5BCEF0C9-B447-4522-AC87-A5B0BF00A7B7}"/>
              </a:ext>
            </a:extLst>
          </p:cNvPr>
          <p:cNvSpPr>
            <a:spLocks noGrp="1"/>
          </p:cNvSpPr>
          <p:nvPr/>
        </p:nvSpPr>
        <p:spPr>
          <a:xfrm>
            <a:off x="392906" y="1100138"/>
            <a:ext cx="392906" cy="392906"/>
          </a:xfrm>
          <a:prstGeom prst="rect">
            <a:avLst/>
          </a:prstGeom>
          <a:ln w="0"/>
        </p:spPr>
        <p:txBody>
          <a:bodyPr anchor="ctr">
            <a:normAutofit/>
          </a:bodyPr>
          <a:lstStyle/>
          <a:p>
            <a:pPr algn="ctr">
              <a:defRPr sz="1575" b="1">
                <a:solidFill>
                  <a:srgbClr val="29D996"/>
                </a:solidFill>
                <a:latin typeface="Arial"/>
                <a:ea typeface="Arial"/>
                <a:cs typeface="Arial"/>
              </a:defRPr>
            </a:pPr>
            <a:r>
              <a:rPr sz="1575" b="1">
                <a:solidFill>
                  <a:srgbClr val="29D996"/>
                </a:solidFill>
                <a:latin typeface="Arial"/>
                <a:ea typeface="Arial"/>
                <a:cs typeface="Arial"/>
              </a:rPr>
              <a:t>1</a:t>
            </a:r>
          </a:p>
        </p:txBody>
      </p:sp>
      <p:sp>
        <p:nvSpPr>
          <p:cNvPr id="6" name="Rectángulo 5">
            <a:extLst>
              <a:ext uri="{FF2B5EF4-FFF2-40B4-BE49-F238E27FC236}">
                <a16:creationId xmlns:a16="http://schemas.microsoft.com/office/drawing/2014/main" id="{4BEF6D09-A047-4F68-AEB1-A66F93B23F29}"/>
              </a:ext>
            </a:extLst>
          </p:cNvPr>
          <p:cNvSpPr>
            <a:spLocks noGrp="1"/>
          </p:cNvSpPr>
          <p:nvPr/>
        </p:nvSpPr>
        <p:spPr>
          <a:xfrm>
            <a:off x="892969" y="1071563"/>
            <a:ext cx="5143500" cy="442913"/>
          </a:xfrm>
          <a:prstGeom prst="rect">
            <a:avLst/>
          </a:prstGeom>
          <a:ln w="0"/>
        </p:spPr>
        <p:txBody>
          <a:bodyPr anchor="ctr">
            <a:normAutofit/>
          </a:bodyPr>
          <a:lstStyle/>
          <a:p>
            <a:pPr algn="l">
              <a:defRPr sz="1238" b="1">
                <a:solidFill>
                  <a:srgbClr val="F4F7FB"/>
                </a:solidFill>
                <a:latin typeface="Arial"/>
                <a:ea typeface="Arial"/>
                <a:cs typeface="Arial"/>
              </a:defRPr>
            </a:pPr>
            <a:r>
              <a:rPr sz="1238" b="1">
                <a:solidFill>
                  <a:srgbClr val="F4F7FB"/>
                </a:solidFill>
                <a:latin typeface="Arial"/>
                <a:ea typeface="Arial"/>
                <a:cs typeface="Arial"/>
              </a:rPr>
              <a:t>Abrir una terminal dentro de la carpeta demo-oohdm</a:t>
            </a:r>
          </a:p>
        </p:txBody>
      </p:sp>
      <p:sp>
        <p:nvSpPr>
          <p:cNvPr id="7" name="Rectángulo 6">
            <a:extLst>
              <a:ext uri="{FF2B5EF4-FFF2-40B4-BE49-F238E27FC236}">
                <a16:creationId xmlns:a16="http://schemas.microsoft.com/office/drawing/2014/main" id="{8DE5EF4F-A19B-4A6C-B962-74524A057777}"/>
              </a:ext>
            </a:extLst>
          </p:cNvPr>
          <p:cNvSpPr>
            <a:spLocks noGrp="1"/>
          </p:cNvSpPr>
          <p:nvPr/>
        </p:nvSpPr>
        <p:spPr>
          <a:xfrm>
            <a:off x="392906" y="1757363"/>
            <a:ext cx="392906" cy="392906"/>
          </a:xfrm>
          <a:prstGeom prst="rect">
            <a:avLst/>
          </a:prstGeom>
          <a:ln w="0"/>
        </p:spPr>
        <p:txBody>
          <a:bodyPr anchor="ctr">
            <a:normAutofit/>
          </a:bodyPr>
          <a:lstStyle/>
          <a:p>
            <a:pPr algn="ctr">
              <a:defRPr sz="1575" b="1">
                <a:solidFill>
                  <a:srgbClr val="29D996"/>
                </a:solidFill>
                <a:latin typeface="Arial"/>
                <a:ea typeface="Arial"/>
                <a:cs typeface="Arial"/>
              </a:defRPr>
            </a:pPr>
            <a:r>
              <a:rPr sz="1575" b="1">
                <a:solidFill>
                  <a:srgbClr val="29D996"/>
                </a:solidFill>
                <a:latin typeface="Arial"/>
                <a:ea typeface="Arial"/>
                <a:cs typeface="Arial"/>
              </a:rPr>
              <a:t>2</a:t>
            </a:r>
          </a:p>
        </p:txBody>
      </p:sp>
      <p:sp>
        <p:nvSpPr>
          <p:cNvPr id="8" name="Rectángulo 7">
            <a:extLst>
              <a:ext uri="{FF2B5EF4-FFF2-40B4-BE49-F238E27FC236}">
                <a16:creationId xmlns:a16="http://schemas.microsoft.com/office/drawing/2014/main" id="{C97C9E07-A07B-4D1D-B669-C08A7ECD8964}"/>
              </a:ext>
            </a:extLst>
          </p:cNvPr>
          <p:cNvSpPr>
            <a:spLocks noGrp="1"/>
          </p:cNvSpPr>
          <p:nvPr/>
        </p:nvSpPr>
        <p:spPr>
          <a:xfrm>
            <a:off x="892969" y="1728788"/>
            <a:ext cx="2857500" cy="300038"/>
          </a:xfrm>
          <a:prstGeom prst="rect">
            <a:avLst/>
          </a:prstGeom>
          <a:ln w="0"/>
        </p:spPr>
        <p:txBody>
          <a:bodyPr anchor="ctr">
            <a:normAutofit/>
          </a:bodyPr>
          <a:lstStyle/>
          <a:p>
            <a:pPr algn="l">
              <a:defRPr sz="1238" b="1">
                <a:solidFill>
                  <a:srgbClr val="F4F7FB"/>
                </a:solidFill>
                <a:latin typeface="Arial"/>
                <a:ea typeface="Arial"/>
                <a:cs typeface="Arial"/>
              </a:defRPr>
            </a:pPr>
            <a:r>
              <a:rPr sz="1238" b="1">
                <a:solidFill>
                  <a:srgbClr val="F4F7FB"/>
                </a:solidFill>
                <a:latin typeface="Arial"/>
                <a:ea typeface="Arial"/>
                <a:cs typeface="Arial"/>
              </a:rPr>
              <a:t>Ejecutar el servidor</a:t>
            </a:r>
          </a:p>
        </p:txBody>
      </p:sp>
      <p:sp>
        <p:nvSpPr>
          <p:cNvPr id="9" name="Rectángulo: esquinas redondeadas 8">
            <a:extLst>
              <a:ext uri="{FF2B5EF4-FFF2-40B4-BE49-F238E27FC236}">
                <a16:creationId xmlns:a16="http://schemas.microsoft.com/office/drawing/2014/main" id="{9E9CED18-3911-4F03-B69C-3A2C4C0F36C7}"/>
              </a:ext>
            </a:extLst>
          </p:cNvPr>
          <p:cNvSpPr>
            <a:spLocks noGrp="1"/>
          </p:cNvSpPr>
          <p:nvPr/>
        </p:nvSpPr>
        <p:spPr>
          <a:xfrm>
            <a:off x="892969" y="2085975"/>
            <a:ext cx="4429125" cy="514350"/>
          </a:xfrm>
          <a:prstGeom prst="roundRect">
            <a:avLst>
              <a:gd name="adj" fmla="val 14815"/>
            </a:avLst>
          </a:prstGeom>
          <a:solidFill>
            <a:srgbClr val="08131F"/>
          </a:solidFill>
          <a:ln w="13335">
            <a:solidFill>
              <a:srgbClr val="35B8E8"/>
            </a:solidFill>
          </a:ln>
        </p:spPr>
        <p:txBody>
          <a:bodyPr/>
          <a:lstStyle/>
          <a:p>
            <a:endParaRPr lang="es-CO"/>
          </a:p>
        </p:txBody>
      </p:sp>
      <p:sp>
        <p:nvSpPr>
          <p:cNvPr id="10" name="Rectángulo 9">
            <a:extLst>
              <a:ext uri="{FF2B5EF4-FFF2-40B4-BE49-F238E27FC236}">
                <a16:creationId xmlns:a16="http://schemas.microsoft.com/office/drawing/2014/main" id="{C2C3A37C-0CA6-4149-B8EA-4611BD4D0F88}"/>
              </a:ext>
            </a:extLst>
          </p:cNvPr>
          <p:cNvSpPr>
            <a:spLocks noGrp="1"/>
          </p:cNvSpPr>
          <p:nvPr/>
        </p:nvSpPr>
        <p:spPr>
          <a:xfrm>
            <a:off x="1071563" y="2185988"/>
            <a:ext cx="4071938" cy="300038"/>
          </a:xfrm>
          <a:prstGeom prst="rect">
            <a:avLst/>
          </a:prstGeom>
          <a:ln w="0"/>
        </p:spPr>
        <p:txBody>
          <a:bodyPr anchor="ctr">
            <a:normAutofit/>
          </a:bodyPr>
          <a:lstStyle/>
          <a:p>
            <a:pPr algn="l">
              <a:defRPr sz="1350" b="1">
                <a:solidFill>
                  <a:srgbClr val="35B8E8"/>
                </a:solidFill>
                <a:latin typeface="Arial"/>
                <a:ea typeface="Arial"/>
                <a:cs typeface="Arial"/>
              </a:defRPr>
            </a:pPr>
            <a:r>
              <a:rPr sz="1350" b="1">
                <a:solidFill>
                  <a:srgbClr val="35B8E8"/>
                </a:solidFill>
                <a:latin typeface="Arial"/>
                <a:ea typeface="Arial"/>
                <a:cs typeface="Arial"/>
              </a:rPr>
              <a:t>npm start</a:t>
            </a:r>
          </a:p>
        </p:txBody>
      </p:sp>
      <p:sp>
        <p:nvSpPr>
          <p:cNvPr id="11" name="Rectángulo 10">
            <a:extLst>
              <a:ext uri="{FF2B5EF4-FFF2-40B4-BE49-F238E27FC236}">
                <a16:creationId xmlns:a16="http://schemas.microsoft.com/office/drawing/2014/main" id="{299CF7E8-D2EA-48FB-A9E3-86F69ADB259E}"/>
              </a:ext>
            </a:extLst>
          </p:cNvPr>
          <p:cNvSpPr>
            <a:spLocks noGrp="1"/>
          </p:cNvSpPr>
          <p:nvPr/>
        </p:nvSpPr>
        <p:spPr>
          <a:xfrm>
            <a:off x="392906" y="2836069"/>
            <a:ext cx="392906" cy="392906"/>
          </a:xfrm>
          <a:prstGeom prst="rect">
            <a:avLst/>
          </a:prstGeom>
          <a:ln w="0"/>
        </p:spPr>
        <p:txBody>
          <a:bodyPr anchor="ctr">
            <a:normAutofit/>
          </a:bodyPr>
          <a:lstStyle/>
          <a:p>
            <a:pPr algn="ctr">
              <a:defRPr sz="1575" b="1">
                <a:solidFill>
                  <a:srgbClr val="29D996"/>
                </a:solidFill>
                <a:latin typeface="Arial"/>
                <a:ea typeface="Arial"/>
                <a:cs typeface="Arial"/>
              </a:defRPr>
            </a:pPr>
            <a:r>
              <a:rPr sz="1575" b="1">
                <a:solidFill>
                  <a:srgbClr val="29D996"/>
                </a:solidFill>
                <a:latin typeface="Arial"/>
                <a:ea typeface="Arial"/>
                <a:cs typeface="Arial"/>
              </a:rPr>
              <a:t>3</a:t>
            </a:r>
          </a:p>
        </p:txBody>
      </p:sp>
      <p:sp>
        <p:nvSpPr>
          <p:cNvPr id="12" name="Rectángulo 11">
            <a:extLst>
              <a:ext uri="{FF2B5EF4-FFF2-40B4-BE49-F238E27FC236}">
                <a16:creationId xmlns:a16="http://schemas.microsoft.com/office/drawing/2014/main" id="{E681B618-6950-4D7C-8BCA-7B6593A127BB}"/>
              </a:ext>
            </a:extLst>
          </p:cNvPr>
          <p:cNvSpPr>
            <a:spLocks noGrp="1"/>
          </p:cNvSpPr>
          <p:nvPr/>
        </p:nvSpPr>
        <p:spPr>
          <a:xfrm>
            <a:off x="892969" y="2807494"/>
            <a:ext cx="5143500" cy="442913"/>
          </a:xfrm>
          <a:prstGeom prst="rect">
            <a:avLst/>
          </a:prstGeom>
          <a:ln w="0"/>
        </p:spPr>
        <p:txBody>
          <a:bodyPr anchor="ctr">
            <a:normAutofit/>
          </a:bodyPr>
          <a:lstStyle/>
          <a:p>
            <a:pPr algn="l">
              <a:defRPr sz="1238" b="1">
                <a:solidFill>
                  <a:srgbClr val="F4F7FB"/>
                </a:solidFill>
                <a:latin typeface="Arial"/>
                <a:ea typeface="Arial"/>
                <a:cs typeface="Arial"/>
              </a:defRPr>
            </a:pPr>
            <a:r>
              <a:rPr sz="1238" b="1">
                <a:solidFill>
                  <a:srgbClr val="F4F7FB"/>
                </a:solidFill>
                <a:latin typeface="Arial"/>
                <a:ea typeface="Arial"/>
                <a:cs typeface="Arial"/>
              </a:rPr>
              <a:t>Abrir http://localhost:3000</a:t>
            </a:r>
          </a:p>
        </p:txBody>
      </p:sp>
      <p:sp>
        <p:nvSpPr>
          <p:cNvPr id="13" name="Rectángulo: esquinas redondeadas 12">
            <a:extLst>
              <a:ext uri="{FF2B5EF4-FFF2-40B4-BE49-F238E27FC236}">
                <a16:creationId xmlns:a16="http://schemas.microsoft.com/office/drawing/2014/main" id="{3062F605-10C7-402C-B217-D85CE381C083}"/>
              </a:ext>
            </a:extLst>
          </p:cNvPr>
          <p:cNvSpPr>
            <a:spLocks noGrp="1"/>
          </p:cNvSpPr>
          <p:nvPr/>
        </p:nvSpPr>
        <p:spPr>
          <a:xfrm>
            <a:off x="5893594" y="1071563"/>
            <a:ext cx="2536031" cy="2157413"/>
          </a:xfrm>
          <a:prstGeom prst="roundRect">
            <a:avLst>
              <a:gd name="adj" fmla="val 3532"/>
            </a:avLst>
          </a:prstGeom>
          <a:solidFill>
            <a:srgbClr val="111D2D"/>
          </a:solidFill>
          <a:ln w="13335">
            <a:solidFill>
              <a:srgbClr val="F3A846"/>
            </a:solidFill>
          </a:ln>
        </p:spPr>
        <p:txBody>
          <a:bodyPr/>
          <a:lstStyle/>
          <a:p>
            <a:endParaRPr lang="es-CO"/>
          </a:p>
        </p:txBody>
      </p:sp>
      <p:sp>
        <p:nvSpPr>
          <p:cNvPr id="14" name="Rectángulo 13">
            <a:extLst>
              <a:ext uri="{FF2B5EF4-FFF2-40B4-BE49-F238E27FC236}">
                <a16:creationId xmlns:a16="http://schemas.microsoft.com/office/drawing/2014/main" id="{4FBB6BE5-4C15-4EBD-A20D-BBBA56BC3298}"/>
              </a:ext>
            </a:extLst>
          </p:cNvPr>
          <p:cNvSpPr>
            <a:spLocks noGrp="1"/>
          </p:cNvSpPr>
          <p:nvPr/>
        </p:nvSpPr>
        <p:spPr>
          <a:xfrm>
            <a:off x="6072188" y="1250156"/>
            <a:ext cx="2178844" cy="250031"/>
          </a:xfrm>
          <a:prstGeom prst="rect">
            <a:avLst/>
          </a:prstGeom>
          <a:ln w="0"/>
        </p:spPr>
        <p:txBody>
          <a:bodyPr anchor="ctr">
            <a:normAutofit fontScale="92500"/>
          </a:bodyPr>
          <a:lstStyle/>
          <a:p>
            <a:pPr algn="l">
              <a:defRPr sz="1125" b="1">
                <a:solidFill>
                  <a:srgbClr val="F3A846"/>
                </a:solidFill>
                <a:latin typeface="Arial"/>
                <a:ea typeface="Arial"/>
                <a:cs typeface="Arial"/>
              </a:defRPr>
            </a:pPr>
            <a:r>
              <a:rPr sz="1125" b="1">
                <a:solidFill>
                  <a:srgbClr val="F3A846"/>
                </a:solidFill>
                <a:latin typeface="Arial"/>
                <a:ea typeface="Arial"/>
                <a:cs typeface="Arial"/>
              </a:rPr>
              <a:t>Qué debe aparecer</a:t>
            </a:r>
          </a:p>
        </p:txBody>
      </p:sp>
      <p:sp>
        <p:nvSpPr>
          <p:cNvPr id="15" name="Rectángulo 14">
            <a:extLst>
              <a:ext uri="{FF2B5EF4-FFF2-40B4-BE49-F238E27FC236}">
                <a16:creationId xmlns:a16="http://schemas.microsoft.com/office/drawing/2014/main" id="{9A37BB10-F8A6-4281-9042-77E5B6AF101D}"/>
              </a:ext>
            </a:extLst>
          </p:cNvPr>
          <p:cNvSpPr>
            <a:spLocks noGrp="1"/>
          </p:cNvSpPr>
          <p:nvPr/>
        </p:nvSpPr>
        <p:spPr>
          <a:xfrm>
            <a:off x="6072188" y="1600200"/>
            <a:ext cx="2178844" cy="642938"/>
          </a:xfrm>
          <a:prstGeom prst="rect">
            <a:avLst/>
          </a:prstGeom>
          <a:ln w="0"/>
        </p:spPr>
        <p:txBody>
          <a:bodyPr anchor="ctr">
            <a:normAutofit/>
          </a:bodyPr>
          <a:lstStyle/>
          <a:p>
            <a:pPr algn="l">
              <a:defRPr sz="1069" b="1">
                <a:solidFill>
                  <a:srgbClr val="F4F7FB"/>
                </a:solidFill>
                <a:latin typeface="Arial"/>
                <a:ea typeface="Arial"/>
                <a:cs typeface="Arial"/>
              </a:defRPr>
            </a:pPr>
            <a:r>
              <a:rPr sz="1069" b="1">
                <a:solidFill>
                  <a:srgbClr val="F4F7FB"/>
                </a:solidFill>
                <a:latin typeface="Arial"/>
                <a:ea typeface="Arial"/>
                <a:cs typeface="Arial"/>
              </a:rPr>
              <a:t>Servidor disponible en</a:t>
            </a:r>
          </a:p>
          <a:p>
            <a:pPr algn="l">
              <a:defRPr sz="1069" b="1">
                <a:solidFill>
                  <a:srgbClr val="F4F7FB"/>
                </a:solidFill>
                <a:latin typeface="Arial"/>
                <a:ea typeface="Arial"/>
                <a:cs typeface="Arial"/>
              </a:defRPr>
            </a:pPr>
            <a:r>
              <a:rPr sz="1069" b="1">
                <a:solidFill>
                  <a:srgbClr val="F4F7FB"/>
                </a:solidFill>
                <a:latin typeface="Arial"/>
                <a:ea typeface="Arial"/>
                <a:cs typeface="Arial"/>
              </a:rPr>
              <a:t>http://localhost:3000</a:t>
            </a:r>
          </a:p>
        </p:txBody>
      </p:sp>
      <p:sp>
        <p:nvSpPr>
          <p:cNvPr id="16" name="Rectángulo 15">
            <a:extLst>
              <a:ext uri="{FF2B5EF4-FFF2-40B4-BE49-F238E27FC236}">
                <a16:creationId xmlns:a16="http://schemas.microsoft.com/office/drawing/2014/main" id="{9E92C58D-6636-4002-A081-5D22D52BE9E7}"/>
              </a:ext>
            </a:extLst>
          </p:cNvPr>
          <p:cNvSpPr>
            <a:spLocks noGrp="1"/>
          </p:cNvSpPr>
          <p:nvPr/>
        </p:nvSpPr>
        <p:spPr>
          <a:xfrm>
            <a:off x="6072188" y="2328863"/>
            <a:ext cx="2178844" cy="642938"/>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La base de datos se crea cuando inicia el servidor. No se necesita npm install.</a:t>
            </a:r>
          </a:p>
        </p:txBody>
      </p:sp>
      <p:sp>
        <p:nvSpPr>
          <p:cNvPr id="17" name="Rectángulo: esquinas redondeadas 16">
            <a:extLst>
              <a:ext uri="{FF2B5EF4-FFF2-40B4-BE49-F238E27FC236}">
                <a16:creationId xmlns:a16="http://schemas.microsoft.com/office/drawing/2014/main" id="{1C33D4CC-B4BD-4CFC-A16F-A64CF0A7E1C0}"/>
              </a:ext>
            </a:extLst>
          </p:cNvPr>
          <p:cNvSpPr>
            <a:spLocks noGrp="1"/>
          </p:cNvSpPr>
          <p:nvPr/>
        </p:nvSpPr>
        <p:spPr>
          <a:xfrm>
            <a:off x="285750" y="3700463"/>
            <a:ext cx="8143875" cy="678656"/>
          </a:xfrm>
          <a:prstGeom prst="roundRect">
            <a:avLst>
              <a:gd name="adj" fmla="val 11228"/>
            </a:avLst>
          </a:prstGeom>
          <a:solidFill>
            <a:srgbClr val="18273A"/>
          </a:solidFill>
          <a:ln w="13335">
            <a:solidFill>
              <a:srgbClr val="29D996"/>
            </a:solidFill>
          </a:ln>
        </p:spPr>
        <p:txBody>
          <a:bodyPr/>
          <a:lstStyle/>
          <a:p>
            <a:endParaRPr lang="es-CO"/>
          </a:p>
        </p:txBody>
      </p:sp>
      <p:sp>
        <p:nvSpPr>
          <p:cNvPr id="18" name="Rectángulo 17">
            <a:extLst>
              <a:ext uri="{FF2B5EF4-FFF2-40B4-BE49-F238E27FC236}">
                <a16:creationId xmlns:a16="http://schemas.microsoft.com/office/drawing/2014/main" id="{59A81B6B-9160-48FA-AF9D-C846A0238ED9}"/>
              </a:ext>
            </a:extLst>
          </p:cNvPr>
          <p:cNvSpPr>
            <a:spLocks noGrp="1"/>
          </p:cNvSpPr>
          <p:nvPr/>
        </p:nvSpPr>
        <p:spPr>
          <a:xfrm>
            <a:off x="500063" y="3836194"/>
            <a:ext cx="7715250" cy="392906"/>
          </a:xfrm>
          <a:prstGeom prst="rect">
            <a:avLst/>
          </a:prstGeom>
          <a:ln w="0"/>
        </p:spPr>
        <p:txBody>
          <a:bodyPr anchor="ctr">
            <a:normAutofit/>
          </a:bodyPr>
          <a:lstStyle/>
          <a:p>
            <a:pPr algn="ctr">
              <a:defRPr sz="1013" b="1">
                <a:solidFill>
                  <a:srgbClr val="F4F7FB"/>
                </a:solidFill>
                <a:latin typeface="Arial"/>
                <a:ea typeface="Arial"/>
                <a:cs typeface="Arial"/>
              </a:defRPr>
            </a:pPr>
            <a:r>
              <a:rPr sz="1013" b="1">
                <a:solidFill>
                  <a:srgbClr val="F4F7FB"/>
                </a:solidFill>
                <a:latin typeface="Arial"/>
                <a:ea typeface="Arial"/>
                <a:cs typeface="Arial"/>
              </a:rPr>
              <a:t>La advertencia “SQLite is an experimental feature” no impide ejecutar el proyecto con Node.js 24.</a:t>
            </a:r>
          </a:p>
        </p:txBody>
      </p:sp>
    </p:spTree>
    <p:extLst>
      <p:ext uri="{BB962C8B-B14F-4D97-AF65-F5344CB8AC3E}">
        <p14:creationId xmlns:p14="http://schemas.microsoft.com/office/powerpoint/2010/main" val="1393913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5" name="Rectángulo: esquinas redondeadas 24">
            <a:extLst>
              <a:ext uri="{FF2B5EF4-FFF2-40B4-BE49-F238E27FC236}">
                <a16:creationId xmlns:a16="http://schemas.microsoft.com/office/drawing/2014/main" id="{5B6F5754-4F23-4661-A407-86B0CC6FDD09}"/>
              </a:ext>
            </a:extLst>
          </p:cNvPr>
          <p:cNvSpPr>
            <a:spLocks noGrp="1"/>
          </p:cNvSpPr>
          <p:nvPr/>
        </p:nvSpPr>
        <p:spPr>
          <a:xfrm>
            <a:off x="285750" y="200025"/>
            <a:ext cx="1085850" cy="185738"/>
          </a:xfrm>
          <a:prstGeom prst="roundRect">
            <a:avLst>
              <a:gd name="adj" fmla="val 41026"/>
            </a:avLst>
          </a:prstGeom>
          <a:ln w="13335">
            <a:solidFill>
              <a:srgbClr val="29D996"/>
            </a:solidFill>
          </a:ln>
        </p:spPr>
        <p:txBody>
          <a:bodyPr/>
          <a:lstStyle/>
          <a:p>
            <a:endParaRPr lang="es-CO"/>
          </a:p>
        </p:txBody>
      </p:sp>
      <p:sp>
        <p:nvSpPr>
          <p:cNvPr id="2" name="Rectángulo 1">
            <a:extLst>
              <a:ext uri="{FF2B5EF4-FFF2-40B4-BE49-F238E27FC236}">
                <a16:creationId xmlns:a16="http://schemas.microsoft.com/office/drawing/2014/main" id="{E1C9A844-8ED1-4A7B-9638-83C46623990E}"/>
              </a:ext>
            </a:extLst>
          </p:cNvPr>
          <p:cNvSpPr>
            <a:spLocks noGrp="1"/>
          </p:cNvSpPr>
          <p:nvPr/>
        </p:nvSpPr>
        <p:spPr>
          <a:xfrm>
            <a:off x="371475" y="221456"/>
            <a:ext cx="914400" cy="128588"/>
          </a:xfrm>
          <a:prstGeom prst="rect">
            <a:avLst/>
          </a:prstGeom>
          <a:ln w="0"/>
        </p:spPr>
        <p:txBody>
          <a:bodyPr anchor="ctr">
            <a:normAutofit fontScale="39379"/>
          </a:bodyPr>
          <a:lstStyle/>
          <a:p>
            <a:pPr algn="ctr">
              <a:defRPr sz="619" b="1">
                <a:solidFill>
                  <a:srgbClr val="29D996"/>
                </a:solidFill>
                <a:latin typeface="Arial"/>
                <a:ea typeface="Arial"/>
                <a:cs typeface="Arial"/>
              </a:defRPr>
            </a:pPr>
            <a:r>
              <a:rPr sz="619" b="1">
                <a:solidFill>
                  <a:srgbClr val="29D996"/>
                </a:solidFill>
                <a:latin typeface="Arial"/>
                <a:ea typeface="Arial"/>
                <a:cs typeface="Arial"/>
              </a:rPr>
              <a:t>DEMOSTRACIÓN · RECORRIDO</a:t>
            </a:r>
          </a:p>
        </p:txBody>
      </p:sp>
      <p:sp>
        <p:nvSpPr>
          <p:cNvPr id="3" name="Rectángulo 2">
            <a:extLst>
              <a:ext uri="{FF2B5EF4-FFF2-40B4-BE49-F238E27FC236}">
                <a16:creationId xmlns:a16="http://schemas.microsoft.com/office/drawing/2014/main" id="{8AD70C8A-A731-4799-B421-E6745B560C91}"/>
              </a:ext>
            </a:extLst>
          </p:cNvPr>
          <p:cNvSpPr>
            <a:spLocks noGrp="1"/>
          </p:cNvSpPr>
          <p:nvPr/>
        </p:nvSpPr>
        <p:spPr>
          <a:xfrm>
            <a:off x="285750" y="450056"/>
            <a:ext cx="8286750" cy="414338"/>
          </a:xfrm>
          <a:prstGeom prst="rect">
            <a:avLst/>
          </a:prstGeom>
          <a:ln w="0"/>
        </p:spPr>
        <p:txBody>
          <a:bodyPr anchor="ctr">
            <a:normAutofit/>
          </a:bodyPr>
          <a:lstStyle/>
          <a:p>
            <a:pPr algn="l">
              <a:defRPr sz="1744" b="1">
                <a:solidFill>
                  <a:srgbClr val="F4F7FB"/>
                </a:solidFill>
                <a:latin typeface="Arial"/>
                <a:ea typeface="Arial"/>
                <a:cs typeface="Arial"/>
              </a:defRPr>
            </a:pPr>
            <a:r>
              <a:rPr sz="1744" b="1">
                <a:solidFill>
                  <a:srgbClr val="F4F7FB"/>
                </a:solidFill>
                <a:latin typeface="Arial"/>
                <a:ea typeface="Arial"/>
                <a:cs typeface="Arial"/>
              </a:rPr>
              <a:t>Cinco acciones para mostrar OOHDM</a:t>
            </a:r>
          </a:p>
        </p:txBody>
      </p:sp>
      <p:sp>
        <p:nvSpPr>
          <p:cNvPr id="4" name="Rectángulo 3">
            <a:extLst>
              <a:ext uri="{FF2B5EF4-FFF2-40B4-BE49-F238E27FC236}">
                <a16:creationId xmlns:a16="http://schemas.microsoft.com/office/drawing/2014/main" id="{1F74E554-E7D8-431B-AB2B-A0EDD30DC39A}"/>
              </a:ext>
            </a:extLst>
          </p:cNvPr>
          <p:cNvSpPr>
            <a:spLocks noGrp="1"/>
          </p:cNvSpPr>
          <p:nvPr/>
        </p:nvSpPr>
        <p:spPr>
          <a:xfrm>
            <a:off x="6858000" y="4872038"/>
            <a:ext cx="1964531" cy="142875"/>
          </a:xfrm>
          <a:prstGeom prst="rect">
            <a:avLst/>
          </a:prstGeom>
          <a:ln w="0"/>
        </p:spPr>
        <p:txBody>
          <a:bodyPr anchor="ctr">
            <a:normAutofit fontScale="59947"/>
          </a:bodyPr>
          <a:lstStyle/>
          <a:p>
            <a:pPr algn="r">
              <a:defRPr sz="563" b="0">
                <a:solidFill>
                  <a:srgbClr val="718096"/>
                </a:solidFill>
                <a:latin typeface="Arial"/>
                <a:ea typeface="Arial"/>
                <a:cs typeface="Arial"/>
              </a:defRPr>
            </a:pPr>
            <a:r>
              <a:rPr sz="563" b="0">
                <a:solidFill>
                  <a:srgbClr val="718096"/>
                </a:solidFill>
                <a:latin typeface="Arial"/>
                <a:ea typeface="Arial"/>
                <a:cs typeface="Arial"/>
              </a:rPr>
              <a:t>Metodologías de desarrollo web  ·  20 / 24</a:t>
            </a:r>
          </a:p>
        </p:txBody>
      </p:sp>
      <p:sp>
        <p:nvSpPr>
          <p:cNvPr id="5" name="Rectángulo: esquinas redondeadas 4">
            <a:extLst>
              <a:ext uri="{FF2B5EF4-FFF2-40B4-BE49-F238E27FC236}">
                <a16:creationId xmlns:a16="http://schemas.microsoft.com/office/drawing/2014/main" id="{7530343E-473E-412D-BA7B-0D1A0A99204D}"/>
              </a:ext>
            </a:extLst>
          </p:cNvPr>
          <p:cNvSpPr>
            <a:spLocks noGrp="1"/>
          </p:cNvSpPr>
          <p:nvPr/>
        </p:nvSpPr>
        <p:spPr>
          <a:xfrm>
            <a:off x="371475" y="1035844"/>
            <a:ext cx="8001000" cy="542925"/>
          </a:xfrm>
          <a:prstGeom prst="roundRect">
            <a:avLst>
              <a:gd name="adj" fmla="val 14035"/>
            </a:avLst>
          </a:prstGeom>
          <a:solidFill>
            <a:srgbClr val="111D2D"/>
          </a:solidFill>
          <a:ln w="13335">
            <a:solidFill>
              <a:srgbClr val="35B8E8"/>
            </a:solidFill>
          </a:ln>
        </p:spPr>
        <p:txBody>
          <a:bodyPr/>
          <a:lstStyle/>
          <a:p>
            <a:endParaRPr lang="es-CO"/>
          </a:p>
        </p:txBody>
      </p:sp>
      <p:sp>
        <p:nvSpPr>
          <p:cNvPr id="6" name="Rectángulo 5">
            <a:extLst>
              <a:ext uri="{FF2B5EF4-FFF2-40B4-BE49-F238E27FC236}">
                <a16:creationId xmlns:a16="http://schemas.microsoft.com/office/drawing/2014/main" id="{C12E4CA2-B21E-4494-9747-967C8925AD66}"/>
              </a:ext>
            </a:extLst>
          </p:cNvPr>
          <p:cNvSpPr>
            <a:spLocks noGrp="1"/>
          </p:cNvSpPr>
          <p:nvPr/>
        </p:nvSpPr>
        <p:spPr>
          <a:xfrm>
            <a:off x="500063" y="1128713"/>
            <a:ext cx="342900" cy="342900"/>
          </a:xfrm>
          <a:prstGeom prst="rect">
            <a:avLst/>
          </a:prstGeom>
          <a:ln w="0"/>
        </p:spPr>
        <p:txBody>
          <a:bodyPr anchor="ctr">
            <a:normAutofit/>
          </a:bodyPr>
          <a:lstStyle/>
          <a:p>
            <a:pPr algn="ctr">
              <a:defRPr sz="1350" b="1">
                <a:solidFill>
                  <a:srgbClr val="29D996"/>
                </a:solidFill>
                <a:latin typeface="Arial"/>
                <a:ea typeface="Arial"/>
                <a:cs typeface="Arial"/>
              </a:defRPr>
            </a:pPr>
            <a:r>
              <a:rPr sz="1350" b="1">
                <a:solidFill>
                  <a:srgbClr val="29D996"/>
                </a:solidFill>
                <a:latin typeface="Arial"/>
                <a:ea typeface="Arial"/>
                <a:cs typeface="Arial"/>
              </a:rPr>
              <a:t>1</a:t>
            </a:r>
          </a:p>
        </p:txBody>
      </p:sp>
      <p:sp>
        <p:nvSpPr>
          <p:cNvPr id="7" name="Rectángulo 6">
            <a:extLst>
              <a:ext uri="{FF2B5EF4-FFF2-40B4-BE49-F238E27FC236}">
                <a16:creationId xmlns:a16="http://schemas.microsoft.com/office/drawing/2014/main" id="{C64DCDA5-472D-4DA9-AEE8-0629DE2C026F}"/>
              </a:ext>
            </a:extLst>
          </p:cNvPr>
          <p:cNvSpPr>
            <a:spLocks noGrp="1"/>
          </p:cNvSpPr>
          <p:nvPr/>
        </p:nvSpPr>
        <p:spPr>
          <a:xfrm>
            <a:off x="964406" y="1107281"/>
            <a:ext cx="2250281" cy="385763"/>
          </a:xfrm>
          <a:prstGeom prst="rect">
            <a:avLst/>
          </a:prstGeom>
          <a:ln w="0"/>
        </p:spPr>
        <p:txBody>
          <a:bodyPr anchor="ctr">
            <a:normAutofit/>
          </a:bodyPr>
          <a:lstStyle/>
          <a:p>
            <a:pPr algn="l">
              <a:defRPr sz="1069" b="1">
                <a:solidFill>
                  <a:srgbClr val="F4F7FB"/>
                </a:solidFill>
                <a:latin typeface="Arial"/>
                <a:ea typeface="Arial"/>
                <a:cs typeface="Arial"/>
              </a:defRPr>
            </a:pPr>
            <a:r>
              <a:rPr sz="1069" b="1">
                <a:solidFill>
                  <a:srgbClr val="F4F7FB"/>
                </a:solidFill>
                <a:latin typeface="Arial"/>
                <a:ea typeface="Arial"/>
                <a:cs typeface="Arial"/>
              </a:rPr>
              <a:t>Abrir Clientes</a:t>
            </a:r>
          </a:p>
        </p:txBody>
      </p:sp>
      <p:sp>
        <p:nvSpPr>
          <p:cNvPr id="8" name="Rectángulo 7">
            <a:extLst>
              <a:ext uri="{FF2B5EF4-FFF2-40B4-BE49-F238E27FC236}">
                <a16:creationId xmlns:a16="http://schemas.microsoft.com/office/drawing/2014/main" id="{CD499A2E-1833-457B-A046-1ECEE10DA30B}"/>
              </a:ext>
            </a:extLst>
          </p:cNvPr>
          <p:cNvSpPr>
            <a:spLocks noGrp="1"/>
          </p:cNvSpPr>
          <p:nvPr/>
        </p:nvSpPr>
        <p:spPr>
          <a:xfrm>
            <a:off x="3286125" y="1107281"/>
            <a:ext cx="4857750" cy="385763"/>
          </a:xfrm>
          <a:prstGeom prst="rect">
            <a:avLst/>
          </a:prstGeom>
          <a:ln w="0"/>
        </p:spPr>
        <p:txBody>
          <a:bodyPr anchor="ctr">
            <a:normAutofit/>
          </a:bodyPr>
          <a:lstStyle/>
          <a:p>
            <a:pPr algn="l">
              <a:defRPr sz="900" b="0">
                <a:solidFill>
                  <a:srgbClr val="A9B8CB"/>
                </a:solidFill>
                <a:latin typeface="Arial"/>
                <a:ea typeface="Arial"/>
                <a:cs typeface="Arial"/>
              </a:defRPr>
            </a:pPr>
            <a:r>
              <a:rPr sz="900" b="0">
                <a:solidFill>
                  <a:srgbClr val="A9B8CB"/>
                </a:solidFill>
                <a:latin typeface="Arial"/>
                <a:ea typeface="Arial"/>
                <a:cs typeface="Arial"/>
              </a:rPr>
              <a:t>La lista funciona como estructura de acceso.</a:t>
            </a:r>
          </a:p>
        </p:txBody>
      </p:sp>
      <p:sp>
        <p:nvSpPr>
          <p:cNvPr id="9" name="Rectángulo: esquinas redondeadas 8">
            <a:extLst>
              <a:ext uri="{FF2B5EF4-FFF2-40B4-BE49-F238E27FC236}">
                <a16:creationId xmlns:a16="http://schemas.microsoft.com/office/drawing/2014/main" id="{49BCE3F4-593A-4245-840C-E0C37451C528}"/>
              </a:ext>
            </a:extLst>
          </p:cNvPr>
          <p:cNvSpPr>
            <a:spLocks noGrp="1"/>
          </p:cNvSpPr>
          <p:nvPr/>
        </p:nvSpPr>
        <p:spPr>
          <a:xfrm>
            <a:off x="371475" y="1664494"/>
            <a:ext cx="8001000" cy="542925"/>
          </a:xfrm>
          <a:prstGeom prst="roundRect">
            <a:avLst>
              <a:gd name="adj" fmla="val 14035"/>
            </a:avLst>
          </a:prstGeom>
          <a:solidFill>
            <a:srgbClr val="111D2D"/>
          </a:solidFill>
          <a:ln w="13335">
            <a:solidFill>
              <a:srgbClr val="35B8E8"/>
            </a:solidFill>
          </a:ln>
        </p:spPr>
        <p:txBody>
          <a:bodyPr/>
          <a:lstStyle/>
          <a:p>
            <a:endParaRPr lang="es-CO"/>
          </a:p>
        </p:txBody>
      </p:sp>
      <p:sp>
        <p:nvSpPr>
          <p:cNvPr id="10" name="Rectángulo 9">
            <a:extLst>
              <a:ext uri="{FF2B5EF4-FFF2-40B4-BE49-F238E27FC236}">
                <a16:creationId xmlns:a16="http://schemas.microsoft.com/office/drawing/2014/main" id="{1FD41BF2-3B36-42A8-BBE4-65D678EE5E5E}"/>
              </a:ext>
            </a:extLst>
          </p:cNvPr>
          <p:cNvSpPr>
            <a:spLocks noGrp="1"/>
          </p:cNvSpPr>
          <p:nvPr/>
        </p:nvSpPr>
        <p:spPr>
          <a:xfrm>
            <a:off x="500063" y="1757363"/>
            <a:ext cx="342900" cy="342900"/>
          </a:xfrm>
          <a:prstGeom prst="rect">
            <a:avLst/>
          </a:prstGeom>
          <a:ln w="0"/>
        </p:spPr>
        <p:txBody>
          <a:bodyPr anchor="ctr">
            <a:normAutofit/>
          </a:bodyPr>
          <a:lstStyle/>
          <a:p>
            <a:pPr algn="ctr">
              <a:defRPr sz="1350" b="1">
                <a:solidFill>
                  <a:srgbClr val="29D996"/>
                </a:solidFill>
                <a:latin typeface="Arial"/>
                <a:ea typeface="Arial"/>
                <a:cs typeface="Arial"/>
              </a:defRPr>
            </a:pPr>
            <a:r>
              <a:rPr sz="1350" b="1">
                <a:solidFill>
                  <a:srgbClr val="29D996"/>
                </a:solidFill>
                <a:latin typeface="Arial"/>
                <a:ea typeface="Arial"/>
                <a:cs typeface="Arial"/>
              </a:rPr>
              <a:t>2</a:t>
            </a:r>
          </a:p>
        </p:txBody>
      </p:sp>
      <p:sp>
        <p:nvSpPr>
          <p:cNvPr id="11" name="Rectángulo 10">
            <a:extLst>
              <a:ext uri="{FF2B5EF4-FFF2-40B4-BE49-F238E27FC236}">
                <a16:creationId xmlns:a16="http://schemas.microsoft.com/office/drawing/2014/main" id="{BECB0CED-D64E-422F-A84A-2E926DCD3701}"/>
              </a:ext>
            </a:extLst>
          </p:cNvPr>
          <p:cNvSpPr>
            <a:spLocks noGrp="1"/>
          </p:cNvSpPr>
          <p:nvPr/>
        </p:nvSpPr>
        <p:spPr>
          <a:xfrm>
            <a:off x="964406" y="1735931"/>
            <a:ext cx="2250281" cy="385763"/>
          </a:xfrm>
          <a:prstGeom prst="rect">
            <a:avLst/>
          </a:prstGeom>
          <a:ln w="0"/>
        </p:spPr>
        <p:txBody>
          <a:bodyPr anchor="ctr">
            <a:normAutofit/>
          </a:bodyPr>
          <a:lstStyle/>
          <a:p>
            <a:pPr algn="l">
              <a:defRPr sz="1069" b="1">
                <a:solidFill>
                  <a:srgbClr val="F4F7FB"/>
                </a:solidFill>
                <a:latin typeface="Arial"/>
                <a:ea typeface="Arial"/>
                <a:cs typeface="Arial"/>
              </a:defRPr>
            </a:pPr>
            <a:r>
              <a:rPr sz="1069" b="1">
                <a:solidFill>
                  <a:srgbClr val="F4F7FB"/>
                </a:solidFill>
                <a:latin typeface="Arial"/>
                <a:ea typeface="Arial"/>
                <a:cs typeface="Arial"/>
              </a:rPr>
              <a:t>Registrar a Ana Ríos</a:t>
            </a:r>
          </a:p>
        </p:txBody>
      </p:sp>
      <p:sp>
        <p:nvSpPr>
          <p:cNvPr id="12" name="Rectángulo 11">
            <a:extLst>
              <a:ext uri="{FF2B5EF4-FFF2-40B4-BE49-F238E27FC236}">
                <a16:creationId xmlns:a16="http://schemas.microsoft.com/office/drawing/2014/main" id="{BD8722AD-6B2A-4EAB-848C-75A25197781C}"/>
              </a:ext>
            </a:extLst>
          </p:cNvPr>
          <p:cNvSpPr>
            <a:spLocks noGrp="1"/>
          </p:cNvSpPr>
          <p:nvPr/>
        </p:nvSpPr>
        <p:spPr>
          <a:xfrm>
            <a:off x="3286125" y="1735931"/>
            <a:ext cx="4857750" cy="385763"/>
          </a:xfrm>
          <a:prstGeom prst="rect">
            <a:avLst/>
          </a:prstGeom>
          <a:ln w="0"/>
        </p:spPr>
        <p:txBody>
          <a:bodyPr anchor="ctr">
            <a:normAutofit/>
          </a:bodyPr>
          <a:lstStyle/>
          <a:p>
            <a:pPr algn="l">
              <a:defRPr sz="900" b="0">
                <a:solidFill>
                  <a:srgbClr val="A9B8CB"/>
                </a:solidFill>
                <a:latin typeface="Arial"/>
                <a:ea typeface="Arial"/>
                <a:cs typeface="Arial"/>
              </a:defRPr>
            </a:pPr>
            <a:r>
              <a:rPr sz="900" b="0">
                <a:solidFill>
                  <a:srgbClr val="A9B8CB"/>
                </a:solidFill>
                <a:latin typeface="Arial"/>
                <a:ea typeface="Arial"/>
                <a:cs typeface="Arial"/>
              </a:rPr>
              <a:t>Se crea una instancia de Cliente.</a:t>
            </a:r>
          </a:p>
        </p:txBody>
      </p:sp>
      <p:sp>
        <p:nvSpPr>
          <p:cNvPr id="13" name="Rectángulo: esquinas redondeadas 12">
            <a:extLst>
              <a:ext uri="{FF2B5EF4-FFF2-40B4-BE49-F238E27FC236}">
                <a16:creationId xmlns:a16="http://schemas.microsoft.com/office/drawing/2014/main" id="{28BC1654-B930-4450-8125-DAA9DB65CDCD}"/>
              </a:ext>
            </a:extLst>
          </p:cNvPr>
          <p:cNvSpPr>
            <a:spLocks noGrp="1"/>
          </p:cNvSpPr>
          <p:nvPr/>
        </p:nvSpPr>
        <p:spPr>
          <a:xfrm>
            <a:off x="371475" y="2293144"/>
            <a:ext cx="8001000" cy="542925"/>
          </a:xfrm>
          <a:prstGeom prst="roundRect">
            <a:avLst>
              <a:gd name="adj" fmla="val 14035"/>
            </a:avLst>
          </a:prstGeom>
          <a:solidFill>
            <a:srgbClr val="111D2D"/>
          </a:solidFill>
          <a:ln w="13335">
            <a:solidFill>
              <a:srgbClr val="35B8E8"/>
            </a:solidFill>
          </a:ln>
        </p:spPr>
        <p:txBody>
          <a:bodyPr/>
          <a:lstStyle/>
          <a:p>
            <a:endParaRPr lang="es-CO"/>
          </a:p>
        </p:txBody>
      </p:sp>
      <p:sp>
        <p:nvSpPr>
          <p:cNvPr id="14" name="Rectángulo 13">
            <a:extLst>
              <a:ext uri="{FF2B5EF4-FFF2-40B4-BE49-F238E27FC236}">
                <a16:creationId xmlns:a16="http://schemas.microsoft.com/office/drawing/2014/main" id="{B4BD1B98-7255-4A05-BBB6-8D0EC01EC4CD}"/>
              </a:ext>
            </a:extLst>
          </p:cNvPr>
          <p:cNvSpPr>
            <a:spLocks noGrp="1"/>
          </p:cNvSpPr>
          <p:nvPr/>
        </p:nvSpPr>
        <p:spPr>
          <a:xfrm>
            <a:off x="500063" y="2386013"/>
            <a:ext cx="342900" cy="342900"/>
          </a:xfrm>
          <a:prstGeom prst="rect">
            <a:avLst/>
          </a:prstGeom>
          <a:ln w="0"/>
        </p:spPr>
        <p:txBody>
          <a:bodyPr anchor="ctr">
            <a:normAutofit/>
          </a:bodyPr>
          <a:lstStyle/>
          <a:p>
            <a:pPr algn="ctr">
              <a:defRPr sz="1350" b="1">
                <a:solidFill>
                  <a:srgbClr val="29D996"/>
                </a:solidFill>
                <a:latin typeface="Arial"/>
                <a:ea typeface="Arial"/>
                <a:cs typeface="Arial"/>
              </a:defRPr>
            </a:pPr>
            <a:r>
              <a:rPr sz="1350" b="1">
                <a:solidFill>
                  <a:srgbClr val="29D996"/>
                </a:solidFill>
                <a:latin typeface="Arial"/>
                <a:ea typeface="Arial"/>
                <a:cs typeface="Arial"/>
              </a:rPr>
              <a:t>3</a:t>
            </a:r>
          </a:p>
        </p:txBody>
      </p:sp>
      <p:sp>
        <p:nvSpPr>
          <p:cNvPr id="15" name="Rectángulo 14">
            <a:extLst>
              <a:ext uri="{FF2B5EF4-FFF2-40B4-BE49-F238E27FC236}">
                <a16:creationId xmlns:a16="http://schemas.microsoft.com/office/drawing/2014/main" id="{5A1A37AB-D55F-4D4D-9D09-F9893B4CAE9C}"/>
              </a:ext>
            </a:extLst>
          </p:cNvPr>
          <p:cNvSpPr>
            <a:spLocks noGrp="1"/>
          </p:cNvSpPr>
          <p:nvPr/>
        </p:nvSpPr>
        <p:spPr>
          <a:xfrm>
            <a:off x="964406" y="2364581"/>
            <a:ext cx="2250281" cy="385763"/>
          </a:xfrm>
          <a:prstGeom prst="rect">
            <a:avLst/>
          </a:prstGeom>
          <a:ln w="0"/>
        </p:spPr>
        <p:txBody>
          <a:bodyPr anchor="ctr">
            <a:normAutofit/>
          </a:bodyPr>
          <a:lstStyle/>
          <a:p>
            <a:pPr algn="l">
              <a:defRPr sz="1069" b="1">
                <a:solidFill>
                  <a:srgbClr val="F4F7FB"/>
                </a:solidFill>
                <a:latin typeface="Arial"/>
                <a:ea typeface="Arial"/>
                <a:cs typeface="Arial"/>
              </a:defRPr>
            </a:pPr>
            <a:r>
              <a:rPr sz="1069" b="1">
                <a:solidFill>
                  <a:srgbClr val="F4F7FB"/>
                </a:solidFill>
                <a:latin typeface="Arial"/>
                <a:ea typeface="Arial"/>
                <a:cs typeface="Arial"/>
              </a:rPr>
              <a:t>Abrir su detalle</a:t>
            </a:r>
          </a:p>
        </p:txBody>
      </p:sp>
      <p:sp>
        <p:nvSpPr>
          <p:cNvPr id="16" name="Rectángulo 15">
            <a:extLst>
              <a:ext uri="{FF2B5EF4-FFF2-40B4-BE49-F238E27FC236}">
                <a16:creationId xmlns:a16="http://schemas.microsoft.com/office/drawing/2014/main" id="{C1C5E7ED-E8B0-4F57-9B43-6FFA80723D9A}"/>
              </a:ext>
            </a:extLst>
          </p:cNvPr>
          <p:cNvSpPr>
            <a:spLocks noGrp="1"/>
          </p:cNvSpPr>
          <p:nvPr/>
        </p:nvSpPr>
        <p:spPr>
          <a:xfrm>
            <a:off x="3286125" y="2364581"/>
            <a:ext cx="4857750" cy="385763"/>
          </a:xfrm>
          <a:prstGeom prst="rect">
            <a:avLst/>
          </a:prstGeom>
          <a:ln w="0"/>
        </p:spPr>
        <p:txBody>
          <a:bodyPr anchor="ctr">
            <a:normAutofit/>
          </a:bodyPr>
          <a:lstStyle/>
          <a:p>
            <a:pPr algn="l">
              <a:defRPr sz="900" b="0">
                <a:solidFill>
                  <a:srgbClr val="A9B8CB"/>
                </a:solidFill>
                <a:latin typeface="Arial"/>
                <a:ea typeface="Arial"/>
                <a:cs typeface="Arial"/>
              </a:defRPr>
            </a:pPr>
            <a:r>
              <a:rPr sz="900" b="0">
                <a:solidFill>
                  <a:srgbClr val="A9B8CB"/>
                </a:solidFill>
                <a:latin typeface="Arial"/>
                <a:ea typeface="Arial"/>
                <a:cs typeface="Arial"/>
              </a:rPr>
              <a:t>El nodo reúne datos y enlaces con contexto.</a:t>
            </a:r>
          </a:p>
        </p:txBody>
      </p:sp>
      <p:sp>
        <p:nvSpPr>
          <p:cNvPr id="17" name="Rectángulo: esquinas redondeadas 16">
            <a:extLst>
              <a:ext uri="{FF2B5EF4-FFF2-40B4-BE49-F238E27FC236}">
                <a16:creationId xmlns:a16="http://schemas.microsoft.com/office/drawing/2014/main" id="{8DC9631E-2871-4616-8E67-32F714FB482B}"/>
              </a:ext>
            </a:extLst>
          </p:cNvPr>
          <p:cNvSpPr>
            <a:spLocks noGrp="1"/>
          </p:cNvSpPr>
          <p:nvPr/>
        </p:nvSpPr>
        <p:spPr>
          <a:xfrm>
            <a:off x="371475" y="2921794"/>
            <a:ext cx="8001000" cy="542925"/>
          </a:xfrm>
          <a:prstGeom prst="roundRect">
            <a:avLst>
              <a:gd name="adj" fmla="val 14035"/>
            </a:avLst>
          </a:prstGeom>
          <a:solidFill>
            <a:srgbClr val="111D2D"/>
          </a:solidFill>
          <a:ln w="13335">
            <a:solidFill>
              <a:srgbClr val="F3A846"/>
            </a:solidFill>
          </a:ln>
        </p:spPr>
        <p:txBody>
          <a:bodyPr/>
          <a:lstStyle/>
          <a:p>
            <a:endParaRPr lang="es-CO"/>
          </a:p>
        </p:txBody>
      </p:sp>
      <p:sp>
        <p:nvSpPr>
          <p:cNvPr id="18" name="Rectángulo 17">
            <a:extLst>
              <a:ext uri="{FF2B5EF4-FFF2-40B4-BE49-F238E27FC236}">
                <a16:creationId xmlns:a16="http://schemas.microsoft.com/office/drawing/2014/main" id="{DE42F002-D899-4F80-955D-B0764F898348}"/>
              </a:ext>
            </a:extLst>
          </p:cNvPr>
          <p:cNvSpPr>
            <a:spLocks noGrp="1"/>
          </p:cNvSpPr>
          <p:nvPr/>
        </p:nvSpPr>
        <p:spPr>
          <a:xfrm>
            <a:off x="500063" y="3014663"/>
            <a:ext cx="342900" cy="342900"/>
          </a:xfrm>
          <a:prstGeom prst="rect">
            <a:avLst/>
          </a:prstGeom>
          <a:ln w="0"/>
        </p:spPr>
        <p:txBody>
          <a:bodyPr anchor="ctr">
            <a:normAutofit/>
          </a:bodyPr>
          <a:lstStyle/>
          <a:p>
            <a:pPr algn="ctr">
              <a:defRPr sz="1350" b="1">
                <a:solidFill>
                  <a:srgbClr val="F3A846"/>
                </a:solidFill>
                <a:latin typeface="Arial"/>
                <a:ea typeface="Arial"/>
                <a:cs typeface="Arial"/>
              </a:defRPr>
            </a:pPr>
            <a:r>
              <a:rPr sz="1350" b="1">
                <a:solidFill>
                  <a:srgbClr val="F3A846"/>
                </a:solidFill>
                <a:latin typeface="Arial"/>
                <a:ea typeface="Arial"/>
                <a:cs typeface="Arial"/>
              </a:rPr>
              <a:t>4</a:t>
            </a:r>
          </a:p>
        </p:txBody>
      </p:sp>
      <p:sp>
        <p:nvSpPr>
          <p:cNvPr id="19" name="Rectángulo 18">
            <a:extLst>
              <a:ext uri="{FF2B5EF4-FFF2-40B4-BE49-F238E27FC236}">
                <a16:creationId xmlns:a16="http://schemas.microsoft.com/office/drawing/2014/main" id="{45A290BF-F76C-43D8-9B87-55FEFD086CA5}"/>
              </a:ext>
            </a:extLst>
          </p:cNvPr>
          <p:cNvSpPr>
            <a:spLocks noGrp="1"/>
          </p:cNvSpPr>
          <p:nvPr/>
        </p:nvSpPr>
        <p:spPr>
          <a:xfrm>
            <a:off x="964406" y="2993231"/>
            <a:ext cx="2250281" cy="385763"/>
          </a:xfrm>
          <a:prstGeom prst="rect">
            <a:avLst/>
          </a:prstGeom>
          <a:ln w="0"/>
        </p:spPr>
        <p:txBody>
          <a:bodyPr anchor="ctr">
            <a:normAutofit/>
          </a:bodyPr>
          <a:lstStyle/>
          <a:p>
            <a:pPr algn="l">
              <a:defRPr sz="1069" b="1">
                <a:solidFill>
                  <a:srgbClr val="F4F7FB"/>
                </a:solidFill>
                <a:latin typeface="Arial"/>
                <a:ea typeface="Arial"/>
                <a:cs typeface="Arial"/>
              </a:defRPr>
            </a:pPr>
            <a:r>
              <a:rPr sz="1069" b="1">
                <a:solidFill>
                  <a:srgbClr val="F4F7FB"/>
                </a:solidFill>
                <a:latin typeface="Arial"/>
                <a:ea typeface="Arial"/>
                <a:cs typeface="Arial"/>
              </a:rPr>
              <a:t>Crear una solicitud</a:t>
            </a:r>
          </a:p>
        </p:txBody>
      </p:sp>
      <p:sp>
        <p:nvSpPr>
          <p:cNvPr id="20" name="Rectángulo 19">
            <a:extLst>
              <a:ext uri="{FF2B5EF4-FFF2-40B4-BE49-F238E27FC236}">
                <a16:creationId xmlns:a16="http://schemas.microsoft.com/office/drawing/2014/main" id="{D8CFE90A-153E-42E6-BBBC-A4F2A63AE603}"/>
              </a:ext>
            </a:extLst>
          </p:cNvPr>
          <p:cNvSpPr>
            <a:spLocks noGrp="1"/>
          </p:cNvSpPr>
          <p:nvPr/>
        </p:nvSpPr>
        <p:spPr>
          <a:xfrm>
            <a:off x="3286125" y="2993231"/>
            <a:ext cx="4857750" cy="385763"/>
          </a:xfrm>
          <a:prstGeom prst="rect">
            <a:avLst/>
          </a:prstGeom>
          <a:ln w="0"/>
        </p:spPr>
        <p:txBody>
          <a:bodyPr anchor="ctr">
            <a:normAutofit/>
          </a:bodyPr>
          <a:lstStyle/>
          <a:p>
            <a:pPr algn="l">
              <a:defRPr sz="900" b="0">
                <a:solidFill>
                  <a:srgbClr val="A9B8CB"/>
                </a:solidFill>
                <a:latin typeface="Arial"/>
                <a:ea typeface="Arial"/>
                <a:cs typeface="Arial"/>
              </a:defRPr>
            </a:pPr>
            <a:r>
              <a:rPr sz="900" b="0">
                <a:solidFill>
                  <a:srgbClr val="A9B8CB"/>
                </a:solidFill>
                <a:latin typeface="Arial"/>
                <a:ea typeface="Arial"/>
                <a:cs typeface="Arial"/>
              </a:rPr>
              <a:t>El formulario conserva cliente_id.</a:t>
            </a:r>
          </a:p>
        </p:txBody>
      </p:sp>
      <p:sp>
        <p:nvSpPr>
          <p:cNvPr id="21" name="Rectángulo: esquinas redondeadas 20">
            <a:extLst>
              <a:ext uri="{FF2B5EF4-FFF2-40B4-BE49-F238E27FC236}">
                <a16:creationId xmlns:a16="http://schemas.microsoft.com/office/drawing/2014/main" id="{10D2BAAA-1492-4E4C-ABB0-2AE0D9762BB6}"/>
              </a:ext>
            </a:extLst>
          </p:cNvPr>
          <p:cNvSpPr>
            <a:spLocks noGrp="1"/>
          </p:cNvSpPr>
          <p:nvPr/>
        </p:nvSpPr>
        <p:spPr>
          <a:xfrm>
            <a:off x="371475" y="3550444"/>
            <a:ext cx="8001000" cy="542925"/>
          </a:xfrm>
          <a:prstGeom prst="roundRect">
            <a:avLst>
              <a:gd name="adj" fmla="val 14035"/>
            </a:avLst>
          </a:prstGeom>
          <a:solidFill>
            <a:srgbClr val="111D2D"/>
          </a:solidFill>
          <a:ln w="13335">
            <a:solidFill>
              <a:srgbClr val="29D996"/>
            </a:solidFill>
          </a:ln>
        </p:spPr>
        <p:txBody>
          <a:bodyPr/>
          <a:lstStyle/>
          <a:p>
            <a:endParaRPr lang="es-CO"/>
          </a:p>
        </p:txBody>
      </p:sp>
      <p:sp>
        <p:nvSpPr>
          <p:cNvPr id="22" name="Rectángulo 21">
            <a:extLst>
              <a:ext uri="{FF2B5EF4-FFF2-40B4-BE49-F238E27FC236}">
                <a16:creationId xmlns:a16="http://schemas.microsoft.com/office/drawing/2014/main" id="{4B6677A9-5103-4D23-9814-94909EDBEF66}"/>
              </a:ext>
            </a:extLst>
          </p:cNvPr>
          <p:cNvSpPr>
            <a:spLocks noGrp="1"/>
          </p:cNvSpPr>
          <p:nvPr/>
        </p:nvSpPr>
        <p:spPr>
          <a:xfrm>
            <a:off x="500063" y="3643313"/>
            <a:ext cx="342900" cy="342900"/>
          </a:xfrm>
          <a:prstGeom prst="rect">
            <a:avLst/>
          </a:prstGeom>
          <a:ln w="0"/>
        </p:spPr>
        <p:txBody>
          <a:bodyPr anchor="ctr">
            <a:normAutofit/>
          </a:bodyPr>
          <a:lstStyle/>
          <a:p>
            <a:pPr algn="ctr">
              <a:defRPr sz="1350" b="1">
                <a:solidFill>
                  <a:srgbClr val="29D996"/>
                </a:solidFill>
                <a:latin typeface="Arial"/>
                <a:ea typeface="Arial"/>
                <a:cs typeface="Arial"/>
              </a:defRPr>
            </a:pPr>
            <a:r>
              <a:rPr sz="1350" b="1">
                <a:solidFill>
                  <a:srgbClr val="29D996"/>
                </a:solidFill>
                <a:latin typeface="Arial"/>
                <a:ea typeface="Arial"/>
                <a:cs typeface="Arial"/>
              </a:rPr>
              <a:t>5</a:t>
            </a:r>
          </a:p>
        </p:txBody>
      </p:sp>
      <p:sp>
        <p:nvSpPr>
          <p:cNvPr id="23" name="Rectángulo 22">
            <a:extLst>
              <a:ext uri="{FF2B5EF4-FFF2-40B4-BE49-F238E27FC236}">
                <a16:creationId xmlns:a16="http://schemas.microsoft.com/office/drawing/2014/main" id="{762A97CC-BC9E-4991-A89D-945A868086E6}"/>
              </a:ext>
            </a:extLst>
          </p:cNvPr>
          <p:cNvSpPr>
            <a:spLocks noGrp="1"/>
          </p:cNvSpPr>
          <p:nvPr/>
        </p:nvSpPr>
        <p:spPr>
          <a:xfrm>
            <a:off x="964406" y="3621881"/>
            <a:ext cx="2250281" cy="385763"/>
          </a:xfrm>
          <a:prstGeom prst="rect">
            <a:avLst/>
          </a:prstGeom>
          <a:ln w="0"/>
        </p:spPr>
        <p:txBody>
          <a:bodyPr anchor="ctr">
            <a:normAutofit/>
          </a:bodyPr>
          <a:lstStyle/>
          <a:p>
            <a:pPr algn="l">
              <a:defRPr sz="1069" b="1">
                <a:solidFill>
                  <a:srgbClr val="F4F7FB"/>
                </a:solidFill>
                <a:latin typeface="Arial"/>
                <a:ea typeface="Arial"/>
                <a:cs typeface="Arial"/>
              </a:defRPr>
            </a:pPr>
            <a:r>
              <a:rPr sz="1069" b="1">
                <a:solidFill>
                  <a:srgbClr val="F4F7FB"/>
                </a:solidFill>
                <a:latin typeface="Arial"/>
                <a:ea typeface="Arial"/>
                <a:cs typeface="Arial"/>
              </a:rPr>
              <a:t>Volver al detalle</a:t>
            </a:r>
          </a:p>
        </p:txBody>
      </p:sp>
      <p:sp>
        <p:nvSpPr>
          <p:cNvPr id="24" name="Rectángulo 23">
            <a:extLst>
              <a:ext uri="{FF2B5EF4-FFF2-40B4-BE49-F238E27FC236}">
                <a16:creationId xmlns:a16="http://schemas.microsoft.com/office/drawing/2014/main" id="{C89A334D-51F3-4133-AFC5-FEA2D2271C98}"/>
              </a:ext>
            </a:extLst>
          </p:cNvPr>
          <p:cNvSpPr>
            <a:spLocks noGrp="1"/>
          </p:cNvSpPr>
          <p:nvPr/>
        </p:nvSpPr>
        <p:spPr>
          <a:xfrm>
            <a:off x="3286125" y="3621881"/>
            <a:ext cx="4857750" cy="385763"/>
          </a:xfrm>
          <a:prstGeom prst="rect">
            <a:avLst/>
          </a:prstGeom>
          <a:ln w="0"/>
        </p:spPr>
        <p:txBody>
          <a:bodyPr anchor="ctr">
            <a:normAutofit/>
          </a:bodyPr>
          <a:lstStyle/>
          <a:p>
            <a:pPr algn="l">
              <a:defRPr sz="900" b="0">
                <a:solidFill>
                  <a:srgbClr val="A9B8CB"/>
                </a:solidFill>
                <a:latin typeface="Arial"/>
                <a:ea typeface="Arial"/>
                <a:cs typeface="Arial"/>
              </a:defRPr>
            </a:pPr>
            <a:r>
              <a:rPr sz="900" b="0">
                <a:solidFill>
                  <a:srgbClr val="A9B8CB"/>
                </a:solidFill>
                <a:latin typeface="Arial"/>
                <a:ea typeface="Arial"/>
                <a:cs typeface="Arial"/>
              </a:rPr>
              <a:t>La solicitud aparece vinculada al cliente.</a:t>
            </a:r>
          </a:p>
        </p:txBody>
      </p:sp>
    </p:spTree>
    <p:extLst>
      <p:ext uri="{BB962C8B-B14F-4D97-AF65-F5344CB8AC3E}">
        <p14:creationId xmlns:p14="http://schemas.microsoft.com/office/powerpoint/2010/main" val="1691106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6" name="Rectángulo: esquinas redondeadas 25">
            <a:extLst>
              <a:ext uri="{FF2B5EF4-FFF2-40B4-BE49-F238E27FC236}">
                <a16:creationId xmlns:a16="http://schemas.microsoft.com/office/drawing/2014/main" id="{2ED4121F-3ADA-45E4-9752-917A92050D54}"/>
              </a:ext>
            </a:extLst>
          </p:cNvPr>
          <p:cNvSpPr>
            <a:spLocks noGrp="1"/>
          </p:cNvSpPr>
          <p:nvPr/>
        </p:nvSpPr>
        <p:spPr>
          <a:xfrm>
            <a:off x="285750" y="200025"/>
            <a:ext cx="1085850" cy="185738"/>
          </a:xfrm>
          <a:prstGeom prst="roundRect">
            <a:avLst>
              <a:gd name="adj" fmla="val 41026"/>
            </a:avLst>
          </a:prstGeom>
          <a:ln w="13335">
            <a:solidFill>
              <a:srgbClr val="29D996"/>
            </a:solidFill>
          </a:ln>
        </p:spPr>
        <p:txBody>
          <a:bodyPr/>
          <a:lstStyle/>
          <a:p>
            <a:endParaRPr lang="es-CO"/>
          </a:p>
        </p:txBody>
      </p:sp>
      <p:sp>
        <p:nvSpPr>
          <p:cNvPr id="2" name="Rectángulo 1">
            <a:extLst>
              <a:ext uri="{FF2B5EF4-FFF2-40B4-BE49-F238E27FC236}">
                <a16:creationId xmlns:a16="http://schemas.microsoft.com/office/drawing/2014/main" id="{3AAC7706-C5F5-4235-B37F-FCD31B7F06CA}"/>
              </a:ext>
            </a:extLst>
          </p:cNvPr>
          <p:cNvSpPr>
            <a:spLocks noGrp="1"/>
          </p:cNvSpPr>
          <p:nvPr/>
        </p:nvSpPr>
        <p:spPr>
          <a:xfrm>
            <a:off x="371475" y="221456"/>
            <a:ext cx="914400" cy="128588"/>
          </a:xfrm>
          <a:prstGeom prst="rect">
            <a:avLst/>
          </a:prstGeom>
          <a:ln w="0"/>
        </p:spPr>
        <p:txBody>
          <a:bodyPr anchor="ctr">
            <a:normAutofit fontScale="39379"/>
          </a:bodyPr>
          <a:lstStyle/>
          <a:p>
            <a:pPr algn="ctr">
              <a:defRPr sz="619" b="1">
                <a:solidFill>
                  <a:srgbClr val="29D996"/>
                </a:solidFill>
                <a:latin typeface="Arial"/>
                <a:ea typeface="Arial"/>
                <a:cs typeface="Arial"/>
              </a:defRPr>
            </a:pPr>
            <a:r>
              <a:rPr sz="619" b="1">
                <a:solidFill>
                  <a:srgbClr val="29D996"/>
                </a:solidFill>
                <a:latin typeface="Arial"/>
                <a:ea typeface="Arial"/>
                <a:cs typeface="Arial"/>
              </a:rPr>
              <a:t>DEMOSTRACIÓN · HTTP</a:t>
            </a:r>
          </a:p>
        </p:txBody>
      </p:sp>
      <p:sp>
        <p:nvSpPr>
          <p:cNvPr id="3" name="Rectángulo 2">
            <a:extLst>
              <a:ext uri="{FF2B5EF4-FFF2-40B4-BE49-F238E27FC236}">
                <a16:creationId xmlns:a16="http://schemas.microsoft.com/office/drawing/2014/main" id="{DB46F515-E061-42B8-9999-8614813982F7}"/>
              </a:ext>
            </a:extLst>
          </p:cNvPr>
          <p:cNvSpPr>
            <a:spLocks noGrp="1"/>
          </p:cNvSpPr>
          <p:nvPr/>
        </p:nvSpPr>
        <p:spPr>
          <a:xfrm>
            <a:off x="285750" y="450056"/>
            <a:ext cx="8286750" cy="414338"/>
          </a:xfrm>
          <a:prstGeom prst="rect">
            <a:avLst/>
          </a:prstGeom>
          <a:ln w="0"/>
        </p:spPr>
        <p:txBody>
          <a:bodyPr anchor="ctr">
            <a:normAutofit/>
          </a:bodyPr>
          <a:lstStyle/>
          <a:p>
            <a:pPr algn="l">
              <a:defRPr sz="1744" b="1">
                <a:solidFill>
                  <a:srgbClr val="F4F7FB"/>
                </a:solidFill>
                <a:latin typeface="Arial"/>
                <a:ea typeface="Arial"/>
                <a:cs typeface="Arial"/>
              </a:defRPr>
            </a:pPr>
            <a:r>
              <a:rPr sz="1744" b="1">
                <a:solidFill>
                  <a:srgbClr val="F4F7FB"/>
                </a:solidFill>
                <a:latin typeface="Arial"/>
                <a:ea typeface="Arial"/>
                <a:cs typeface="Arial"/>
              </a:rPr>
              <a:t>Qué ocurre cuando se registra una solicitud</a:t>
            </a:r>
          </a:p>
        </p:txBody>
      </p:sp>
      <p:sp>
        <p:nvSpPr>
          <p:cNvPr id="4" name="Rectángulo 3">
            <a:extLst>
              <a:ext uri="{FF2B5EF4-FFF2-40B4-BE49-F238E27FC236}">
                <a16:creationId xmlns:a16="http://schemas.microsoft.com/office/drawing/2014/main" id="{49C13E1D-641E-4717-8854-F902EA4FDAF9}"/>
              </a:ext>
            </a:extLst>
          </p:cNvPr>
          <p:cNvSpPr>
            <a:spLocks noGrp="1"/>
          </p:cNvSpPr>
          <p:nvPr/>
        </p:nvSpPr>
        <p:spPr>
          <a:xfrm>
            <a:off x="6858000" y="4872038"/>
            <a:ext cx="1964531" cy="142875"/>
          </a:xfrm>
          <a:prstGeom prst="rect">
            <a:avLst/>
          </a:prstGeom>
          <a:ln w="0"/>
        </p:spPr>
        <p:txBody>
          <a:bodyPr anchor="ctr">
            <a:normAutofit fontScale="59947"/>
          </a:bodyPr>
          <a:lstStyle/>
          <a:p>
            <a:pPr algn="r">
              <a:defRPr sz="563" b="0">
                <a:solidFill>
                  <a:srgbClr val="718096"/>
                </a:solidFill>
                <a:latin typeface="Arial"/>
                <a:ea typeface="Arial"/>
                <a:cs typeface="Arial"/>
              </a:defRPr>
            </a:pPr>
            <a:r>
              <a:rPr sz="563" b="0">
                <a:solidFill>
                  <a:srgbClr val="718096"/>
                </a:solidFill>
                <a:latin typeface="Arial"/>
                <a:ea typeface="Arial"/>
                <a:cs typeface="Arial"/>
              </a:rPr>
              <a:t>Metodologías de desarrollo web  ·  21 / 24</a:t>
            </a:r>
          </a:p>
        </p:txBody>
      </p:sp>
      <p:sp>
        <p:nvSpPr>
          <p:cNvPr id="5" name="Rectángulo: esquinas redondeadas 4">
            <a:extLst>
              <a:ext uri="{FF2B5EF4-FFF2-40B4-BE49-F238E27FC236}">
                <a16:creationId xmlns:a16="http://schemas.microsoft.com/office/drawing/2014/main" id="{C6545335-B3A7-45CA-ABA2-0DD8FBCC8873}"/>
              </a:ext>
            </a:extLst>
          </p:cNvPr>
          <p:cNvSpPr>
            <a:spLocks noGrp="1"/>
          </p:cNvSpPr>
          <p:nvPr/>
        </p:nvSpPr>
        <p:spPr>
          <a:xfrm>
            <a:off x="392906" y="1250156"/>
            <a:ext cx="1750219" cy="2214563"/>
          </a:xfrm>
          <a:prstGeom prst="roundRect">
            <a:avLst>
              <a:gd name="adj" fmla="val 4354"/>
            </a:avLst>
          </a:prstGeom>
          <a:solidFill>
            <a:srgbClr val="111D2D"/>
          </a:solidFill>
          <a:ln w="13335">
            <a:solidFill>
              <a:srgbClr val="29D996"/>
            </a:solidFill>
          </a:ln>
        </p:spPr>
        <p:txBody>
          <a:bodyPr/>
          <a:lstStyle/>
          <a:p>
            <a:endParaRPr lang="es-CO"/>
          </a:p>
        </p:txBody>
      </p:sp>
      <p:sp>
        <p:nvSpPr>
          <p:cNvPr id="6" name="Rectángulo 5">
            <a:extLst>
              <a:ext uri="{FF2B5EF4-FFF2-40B4-BE49-F238E27FC236}">
                <a16:creationId xmlns:a16="http://schemas.microsoft.com/office/drawing/2014/main" id="{40EA0CF7-A769-4C8A-8259-CBF1E16A1968}"/>
              </a:ext>
            </a:extLst>
          </p:cNvPr>
          <p:cNvSpPr>
            <a:spLocks noGrp="1"/>
          </p:cNvSpPr>
          <p:nvPr/>
        </p:nvSpPr>
        <p:spPr>
          <a:xfrm>
            <a:off x="521494" y="1364456"/>
            <a:ext cx="357188" cy="242888"/>
          </a:xfrm>
          <a:prstGeom prst="rect">
            <a:avLst/>
          </a:prstGeom>
          <a:ln w="0"/>
        </p:spPr>
        <p:txBody>
          <a:bodyPr anchor="ctr">
            <a:normAutofit fontScale="98100"/>
          </a:bodyPr>
          <a:lstStyle/>
          <a:p>
            <a:pPr algn="l">
              <a:defRPr sz="1013" b="1">
                <a:solidFill>
                  <a:srgbClr val="29D996"/>
                </a:solidFill>
                <a:latin typeface="Arial"/>
                <a:ea typeface="Arial"/>
                <a:cs typeface="Arial"/>
              </a:defRPr>
            </a:pPr>
            <a:r>
              <a:rPr sz="1013" b="1">
                <a:solidFill>
                  <a:srgbClr val="29D996"/>
                </a:solidFill>
                <a:latin typeface="Arial"/>
                <a:ea typeface="Arial"/>
                <a:cs typeface="Arial"/>
              </a:rPr>
              <a:t>01</a:t>
            </a:r>
          </a:p>
        </p:txBody>
      </p:sp>
      <p:sp>
        <p:nvSpPr>
          <p:cNvPr id="7" name="Rectángulo 6">
            <a:extLst>
              <a:ext uri="{FF2B5EF4-FFF2-40B4-BE49-F238E27FC236}">
                <a16:creationId xmlns:a16="http://schemas.microsoft.com/office/drawing/2014/main" id="{58B4C56B-97EC-4CB2-B7BC-A14B0D3B85A8}"/>
              </a:ext>
            </a:extLst>
          </p:cNvPr>
          <p:cNvSpPr>
            <a:spLocks noGrp="1"/>
          </p:cNvSpPr>
          <p:nvPr/>
        </p:nvSpPr>
        <p:spPr>
          <a:xfrm>
            <a:off x="521494" y="1621631"/>
            <a:ext cx="1493044"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Navegador</a:t>
            </a:r>
          </a:p>
        </p:txBody>
      </p:sp>
      <p:sp>
        <p:nvSpPr>
          <p:cNvPr id="8" name="Rectángulo 7">
            <a:extLst>
              <a:ext uri="{FF2B5EF4-FFF2-40B4-BE49-F238E27FC236}">
                <a16:creationId xmlns:a16="http://schemas.microsoft.com/office/drawing/2014/main" id="{0E8E4B84-496D-44C5-8B52-F1BB4BA55F17}"/>
              </a:ext>
            </a:extLst>
          </p:cNvPr>
          <p:cNvSpPr>
            <a:spLocks noGrp="1"/>
          </p:cNvSpPr>
          <p:nvPr/>
        </p:nvSpPr>
        <p:spPr>
          <a:xfrm>
            <a:off x="521494" y="1900238"/>
            <a:ext cx="1493044" cy="1457325"/>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El usuario escribe la descripción y presiona Registrar solicitud.</a:t>
            </a:r>
          </a:p>
        </p:txBody>
      </p:sp>
      <p:sp>
        <p:nvSpPr>
          <p:cNvPr id="9" name="Rectángulo 8">
            <a:extLst>
              <a:ext uri="{FF2B5EF4-FFF2-40B4-BE49-F238E27FC236}">
                <a16:creationId xmlns:a16="http://schemas.microsoft.com/office/drawing/2014/main" id="{D3BB50CF-C577-4F98-92D3-EA15CBAEAE3D}"/>
              </a:ext>
            </a:extLst>
          </p:cNvPr>
          <p:cNvSpPr>
            <a:spLocks noGrp="1"/>
          </p:cNvSpPr>
          <p:nvPr/>
        </p:nvSpPr>
        <p:spPr>
          <a:xfrm>
            <a:off x="2178844" y="1964531"/>
            <a:ext cx="285750" cy="392906"/>
          </a:xfrm>
          <a:prstGeom prst="rect">
            <a:avLst/>
          </a:prstGeom>
          <a:ln w="0"/>
        </p:spPr>
        <p:txBody>
          <a:bodyPr anchor="ctr">
            <a:normAutofit fontScale="87917"/>
          </a:bodyPr>
          <a:lstStyle/>
          <a:p>
            <a:pPr algn="ctr">
              <a:defRPr sz="2250" b="1">
                <a:solidFill>
                  <a:srgbClr val="A9B8CB"/>
                </a:solidFill>
                <a:latin typeface="Arial"/>
                <a:ea typeface="Arial"/>
                <a:cs typeface="Arial"/>
              </a:defRPr>
            </a:pPr>
            <a:r>
              <a:rPr sz="2250" b="1">
                <a:solidFill>
                  <a:srgbClr val="A9B8CB"/>
                </a:solidFill>
                <a:latin typeface="Arial"/>
                <a:ea typeface="Arial"/>
                <a:cs typeface="Arial"/>
              </a:rPr>
              <a:t>›</a:t>
            </a:r>
          </a:p>
        </p:txBody>
      </p:sp>
      <p:sp>
        <p:nvSpPr>
          <p:cNvPr id="10" name="Rectángulo: esquinas redondeadas 9">
            <a:extLst>
              <a:ext uri="{FF2B5EF4-FFF2-40B4-BE49-F238E27FC236}">
                <a16:creationId xmlns:a16="http://schemas.microsoft.com/office/drawing/2014/main" id="{97949A90-7A70-47A0-9EF9-3781574EA437}"/>
              </a:ext>
            </a:extLst>
          </p:cNvPr>
          <p:cNvSpPr>
            <a:spLocks noGrp="1"/>
          </p:cNvSpPr>
          <p:nvPr/>
        </p:nvSpPr>
        <p:spPr>
          <a:xfrm>
            <a:off x="2500313" y="1250156"/>
            <a:ext cx="1750219" cy="2214563"/>
          </a:xfrm>
          <a:prstGeom prst="roundRect">
            <a:avLst>
              <a:gd name="adj" fmla="val 4354"/>
            </a:avLst>
          </a:prstGeom>
          <a:solidFill>
            <a:srgbClr val="111D2D"/>
          </a:solidFill>
          <a:ln w="13335">
            <a:solidFill>
              <a:srgbClr val="35B8E8"/>
            </a:solidFill>
          </a:ln>
        </p:spPr>
        <p:txBody>
          <a:bodyPr/>
          <a:lstStyle/>
          <a:p>
            <a:endParaRPr lang="es-CO"/>
          </a:p>
        </p:txBody>
      </p:sp>
      <p:sp>
        <p:nvSpPr>
          <p:cNvPr id="11" name="Rectángulo 10">
            <a:extLst>
              <a:ext uri="{FF2B5EF4-FFF2-40B4-BE49-F238E27FC236}">
                <a16:creationId xmlns:a16="http://schemas.microsoft.com/office/drawing/2014/main" id="{7DFD01B3-8C6E-40F5-9CBE-36C23D0C5A30}"/>
              </a:ext>
            </a:extLst>
          </p:cNvPr>
          <p:cNvSpPr>
            <a:spLocks noGrp="1"/>
          </p:cNvSpPr>
          <p:nvPr/>
        </p:nvSpPr>
        <p:spPr>
          <a:xfrm>
            <a:off x="2628900" y="1364456"/>
            <a:ext cx="357188" cy="242888"/>
          </a:xfrm>
          <a:prstGeom prst="rect">
            <a:avLst/>
          </a:prstGeom>
          <a:ln w="0"/>
        </p:spPr>
        <p:txBody>
          <a:bodyPr anchor="ctr">
            <a:normAutofit fontScale="98100"/>
          </a:bodyPr>
          <a:lstStyle/>
          <a:p>
            <a:pPr algn="l">
              <a:defRPr sz="1013" b="1">
                <a:solidFill>
                  <a:srgbClr val="35B8E8"/>
                </a:solidFill>
                <a:latin typeface="Arial"/>
                <a:ea typeface="Arial"/>
                <a:cs typeface="Arial"/>
              </a:defRPr>
            </a:pPr>
            <a:r>
              <a:rPr sz="1013" b="1">
                <a:solidFill>
                  <a:srgbClr val="35B8E8"/>
                </a:solidFill>
                <a:latin typeface="Arial"/>
                <a:ea typeface="Arial"/>
                <a:cs typeface="Arial"/>
              </a:rPr>
              <a:t>02</a:t>
            </a:r>
          </a:p>
        </p:txBody>
      </p:sp>
      <p:sp>
        <p:nvSpPr>
          <p:cNvPr id="12" name="Rectángulo 11">
            <a:extLst>
              <a:ext uri="{FF2B5EF4-FFF2-40B4-BE49-F238E27FC236}">
                <a16:creationId xmlns:a16="http://schemas.microsoft.com/office/drawing/2014/main" id="{3F65E9E5-048F-44A1-B952-D26454F1A2F6}"/>
              </a:ext>
            </a:extLst>
          </p:cNvPr>
          <p:cNvSpPr>
            <a:spLocks noGrp="1"/>
          </p:cNvSpPr>
          <p:nvPr/>
        </p:nvSpPr>
        <p:spPr>
          <a:xfrm>
            <a:off x="2628900" y="1621631"/>
            <a:ext cx="1493044"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Petición HTTP</a:t>
            </a:r>
          </a:p>
        </p:txBody>
      </p:sp>
      <p:sp>
        <p:nvSpPr>
          <p:cNvPr id="13" name="Rectángulo 12">
            <a:extLst>
              <a:ext uri="{FF2B5EF4-FFF2-40B4-BE49-F238E27FC236}">
                <a16:creationId xmlns:a16="http://schemas.microsoft.com/office/drawing/2014/main" id="{454A50B1-9B7A-4214-9AA8-0B9BEEBBE7DF}"/>
              </a:ext>
            </a:extLst>
          </p:cNvPr>
          <p:cNvSpPr>
            <a:spLocks noGrp="1"/>
          </p:cNvSpPr>
          <p:nvPr/>
        </p:nvSpPr>
        <p:spPr>
          <a:xfrm>
            <a:off x="2628900" y="1900238"/>
            <a:ext cx="1493044" cy="1457325"/>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POST /solicitudes</a:t>
            </a:r>
          </a:p>
          <a:p>
            <a:pPr algn="l">
              <a:defRPr sz="844" b="0">
                <a:solidFill>
                  <a:srgbClr val="A9B8CB"/>
                </a:solidFill>
                <a:latin typeface="Arial"/>
                <a:ea typeface="Arial"/>
                <a:cs typeface="Arial"/>
              </a:defRPr>
            </a:pPr>
            <a:r>
              <a:rPr sz="844" b="0">
                <a:solidFill>
                  <a:srgbClr val="A9B8CB"/>
                </a:solidFill>
                <a:latin typeface="Arial"/>
                <a:ea typeface="Arial"/>
                <a:cs typeface="Arial"/>
              </a:rPr>
              <a:t>cliente_id=1</a:t>
            </a:r>
          </a:p>
          <a:p>
            <a:pPr algn="l">
              <a:defRPr sz="844" b="0">
                <a:solidFill>
                  <a:srgbClr val="A9B8CB"/>
                </a:solidFill>
                <a:latin typeface="Arial"/>
                <a:ea typeface="Arial"/>
                <a:cs typeface="Arial"/>
              </a:defRPr>
            </a:pPr>
            <a:r>
              <a:rPr sz="844" b="0">
                <a:solidFill>
                  <a:srgbClr val="A9B8CB"/>
                </a:solidFill>
                <a:latin typeface="Arial"/>
                <a:ea typeface="Arial"/>
                <a:cs typeface="Arial"/>
              </a:rPr>
              <a:t>descripcion=…</a:t>
            </a:r>
          </a:p>
        </p:txBody>
      </p:sp>
      <p:sp>
        <p:nvSpPr>
          <p:cNvPr id="14" name="Rectángulo 13">
            <a:extLst>
              <a:ext uri="{FF2B5EF4-FFF2-40B4-BE49-F238E27FC236}">
                <a16:creationId xmlns:a16="http://schemas.microsoft.com/office/drawing/2014/main" id="{8C12DE68-7FBE-447D-97CF-EB2393863FCF}"/>
              </a:ext>
            </a:extLst>
          </p:cNvPr>
          <p:cNvSpPr>
            <a:spLocks noGrp="1"/>
          </p:cNvSpPr>
          <p:nvPr/>
        </p:nvSpPr>
        <p:spPr>
          <a:xfrm>
            <a:off x="4286250" y="1964531"/>
            <a:ext cx="285750" cy="392906"/>
          </a:xfrm>
          <a:prstGeom prst="rect">
            <a:avLst/>
          </a:prstGeom>
          <a:ln w="0"/>
        </p:spPr>
        <p:txBody>
          <a:bodyPr anchor="ctr">
            <a:normAutofit fontScale="87917"/>
          </a:bodyPr>
          <a:lstStyle/>
          <a:p>
            <a:pPr algn="ctr">
              <a:defRPr sz="2250" b="1">
                <a:solidFill>
                  <a:srgbClr val="A9B8CB"/>
                </a:solidFill>
                <a:latin typeface="Arial"/>
                <a:ea typeface="Arial"/>
                <a:cs typeface="Arial"/>
              </a:defRPr>
            </a:pPr>
            <a:r>
              <a:rPr sz="2250" b="1">
                <a:solidFill>
                  <a:srgbClr val="A9B8CB"/>
                </a:solidFill>
                <a:latin typeface="Arial"/>
                <a:ea typeface="Arial"/>
                <a:cs typeface="Arial"/>
              </a:rPr>
              <a:t>›</a:t>
            </a:r>
          </a:p>
        </p:txBody>
      </p:sp>
      <p:sp>
        <p:nvSpPr>
          <p:cNvPr id="15" name="Rectángulo: esquinas redondeadas 14">
            <a:extLst>
              <a:ext uri="{FF2B5EF4-FFF2-40B4-BE49-F238E27FC236}">
                <a16:creationId xmlns:a16="http://schemas.microsoft.com/office/drawing/2014/main" id="{DEC410FA-E866-4D45-A963-C39BBC3D2858}"/>
              </a:ext>
            </a:extLst>
          </p:cNvPr>
          <p:cNvSpPr>
            <a:spLocks noGrp="1"/>
          </p:cNvSpPr>
          <p:nvPr/>
        </p:nvSpPr>
        <p:spPr>
          <a:xfrm>
            <a:off x="4607719" y="1250156"/>
            <a:ext cx="1750219" cy="2214563"/>
          </a:xfrm>
          <a:prstGeom prst="roundRect">
            <a:avLst>
              <a:gd name="adj" fmla="val 4354"/>
            </a:avLst>
          </a:prstGeom>
          <a:solidFill>
            <a:srgbClr val="111D2D"/>
          </a:solidFill>
          <a:ln w="13335">
            <a:solidFill>
              <a:srgbClr val="F3A846"/>
            </a:solidFill>
          </a:ln>
        </p:spPr>
        <p:txBody>
          <a:bodyPr/>
          <a:lstStyle/>
          <a:p>
            <a:endParaRPr lang="es-CO"/>
          </a:p>
        </p:txBody>
      </p:sp>
      <p:sp>
        <p:nvSpPr>
          <p:cNvPr id="16" name="Rectángulo 15">
            <a:extLst>
              <a:ext uri="{FF2B5EF4-FFF2-40B4-BE49-F238E27FC236}">
                <a16:creationId xmlns:a16="http://schemas.microsoft.com/office/drawing/2014/main" id="{E9F39EAF-EC12-4657-9BBC-04A425242988}"/>
              </a:ext>
            </a:extLst>
          </p:cNvPr>
          <p:cNvSpPr>
            <a:spLocks noGrp="1"/>
          </p:cNvSpPr>
          <p:nvPr/>
        </p:nvSpPr>
        <p:spPr>
          <a:xfrm>
            <a:off x="4736306" y="1364456"/>
            <a:ext cx="357188" cy="242888"/>
          </a:xfrm>
          <a:prstGeom prst="rect">
            <a:avLst/>
          </a:prstGeom>
          <a:ln w="0"/>
        </p:spPr>
        <p:txBody>
          <a:bodyPr anchor="ctr">
            <a:normAutofit fontScale="98100"/>
          </a:bodyPr>
          <a:lstStyle/>
          <a:p>
            <a:pPr algn="l">
              <a:defRPr sz="1013" b="1">
                <a:solidFill>
                  <a:srgbClr val="F3A846"/>
                </a:solidFill>
                <a:latin typeface="Arial"/>
                <a:ea typeface="Arial"/>
                <a:cs typeface="Arial"/>
              </a:defRPr>
            </a:pPr>
            <a:r>
              <a:rPr sz="1013" b="1">
                <a:solidFill>
                  <a:srgbClr val="F3A846"/>
                </a:solidFill>
                <a:latin typeface="Arial"/>
                <a:ea typeface="Arial"/>
                <a:cs typeface="Arial"/>
              </a:rPr>
              <a:t>03</a:t>
            </a:r>
          </a:p>
        </p:txBody>
      </p:sp>
      <p:sp>
        <p:nvSpPr>
          <p:cNvPr id="17" name="Rectángulo 16">
            <a:extLst>
              <a:ext uri="{FF2B5EF4-FFF2-40B4-BE49-F238E27FC236}">
                <a16:creationId xmlns:a16="http://schemas.microsoft.com/office/drawing/2014/main" id="{146151B8-99A4-4849-BAEE-CE91D7359B5C}"/>
              </a:ext>
            </a:extLst>
          </p:cNvPr>
          <p:cNvSpPr>
            <a:spLocks noGrp="1"/>
          </p:cNvSpPr>
          <p:nvPr/>
        </p:nvSpPr>
        <p:spPr>
          <a:xfrm>
            <a:off x="4736306" y="1621631"/>
            <a:ext cx="1493044"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Servidor Node.js</a:t>
            </a:r>
          </a:p>
        </p:txBody>
      </p:sp>
      <p:sp>
        <p:nvSpPr>
          <p:cNvPr id="18" name="Rectángulo 17">
            <a:extLst>
              <a:ext uri="{FF2B5EF4-FFF2-40B4-BE49-F238E27FC236}">
                <a16:creationId xmlns:a16="http://schemas.microsoft.com/office/drawing/2014/main" id="{D94A7E70-3D54-4100-9C0D-2362296A76D1}"/>
              </a:ext>
            </a:extLst>
          </p:cNvPr>
          <p:cNvSpPr>
            <a:spLocks noGrp="1"/>
          </p:cNvSpPr>
          <p:nvPr/>
        </p:nvSpPr>
        <p:spPr>
          <a:xfrm>
            <a:off x="4736306" y="1900238"/>
            <a:ext cx="1493044" cy="1457325"/>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Valida el cliente, asigna fecha y estado, y ejecuta INSERT.</a:t>
            </a:r>
          </a:p>
        </p:txBody>
      </p:sp>
      <p:sp>
        <p:nvSpPr>
          <p:cNvPr id="19" name="Rectángulo 18">
            <a:extLst>
              <a:ext uri="{FF2B5EF4-FFF2-40B4-BE49-F238E27FC236}">
                <a16:creationId xmlns:a16="http://schemas.microsoft.com/office/drawing/2014/main" id="{E89A5366-4C43-42CB-9D94-0C6C6DD10661}"/>
              </a:ext>
            </a:extLst>
          </p:cNvPr>
          <p:cNvSpPr>
            <a:spLocks noGrp="1"/>
          </p:cNvSpPr>
          <p:nvPr/>
        </p:nvSpPr>
        <p:spPr>
          <a:xfrm>
            <a:off x="6393656" y="1964531"/>
            <a:ext cx="285750" cy="392906"/>
          </a:xfrm>
          <a:prstGeom prst="rect">
            <a:avLst/>
          </a:prstGeom>
          <a:ln w="0"/>
        </p:spPr>
        <p:txBody>
          <a:bodyPr anchor="ctr">
            <a:normAutofit fontScale="87917"/>
          </a:bodyPr>
          <a:lstStyle/>
          <a:p>
            <a:pPr algn="ctr">
              <a:defRPr sz="2250" b="1">
                <a:solidFill>
                  <a:srgbClr val="A9B8CB"/>
                </a:solidFill>
                <a:latin typeface="Arial"/>
                <a:ea typeface="Arial"/>
                <a:cs typeface="Arial"/>
              </a:defRPr>
            </a:pPr>
            <a:r>
              <a:rPr sz="2250" b="1">
                <a:solidFill>
                  <a:srgbClr val="A9B8CB"/>
                </a:solidFill>
                <a:latin typeface="Arial"/>
                <a:ea typeface="Arial"/>
                <a:cs typeface="Arial"/>
              </a:rPr>
              <a:t>›</a:t>
            </a:r>
          </a:p>
        </p:txBody>
      </p:sp>
      <p:sp>
        <p:nvSpPr>
          <p:cNvPr id="20" name="Rectángulo: esquinas redondeadas 19">
            <a:extLst>
              <a:ext uri="{FF2B5EF4-FFF2-40B4-BE49-F238E27FC236}">
                <a16:creationId xmlns:a16="http://schemas.microsoft.com/office/drawing/2014/main" id="{41BAB045-7662-44AE-86CB-B8793B214E68}"/>
              </a:ext>
            </a:extLst>
          </p:cNvPr>
          <p:cNvSpPr>
            <a:spLocks noGrp="1"/>
          </p:cNvSpPr>
          <p:nvPr/>
        </p:nvSpPr>
        <p:spPr>
          <a:xfrm>
            <a:off x="6715125" y="1250156"/>
            <a:ext cx="1750219" cy="2214563"/>
          </a:xfrm>
          <a:prstGeom prst="roundRect">
            <a:avLst>
              <a:gd name="adj" fmla="val 4354"/>
            </a:avLst>
          </a:prstGeom>
          <a:solidFill>
            <a:srgbClr val="111D2D"/>
          </a:solidFill>
          <a:ln w="13335">
            <a:solidFill>
              <a:srgbClr val="29D996"/>
            </a:solidFill>
          </a:ln>
        </p:spPr>
        <p:txBody>
          <a:bodyPr/>
          <a:lstStyle/>
          <a:p>
            <a:endParaRPr lang="es-CO"/>
          </a:p>
        </p:txBody>
      </p:sp>
      <p:sp>
        <p:nvSpPr>
          <p:cNvPr id="21" name="Rectángulo 20">
            <a:extLst>
              <a:ext uri="{FF2B5EF4-FFF2-40B4-BE49-F238E27FC236}">
                <a16:creationId xmlns:a16="http://schemas.microsoft.com/office/drawing/2014/main" id="{1BFC8240-0BE4-4DBE-9B0A-1CFD0C4137B6}"/>
              </a:ext>
            </a:extLst>
          </p:cNvPr>
          <p:cNvSpPr>
            <a:spLocks noGrp="1"/>
          </p:cNvSpPr>
          <p:nvPr/>
        </p:nvSpPr>
        <p:spPr>
          <a:xfrm>
            <a:off x="6843713" y="1364456"/>
            <a:ext cx="357188" cy="242888"/>
          </a:xfrm>
          <a:prstGeom prst="rect">
            <a:avLst/>
          </a:prstGeom>
          <a:ln w="0"/>
        </p:spPr>
        <p:txBody>
          <a:bodyPr anchor="ctr">
            <a:normAutofit fontScale="98100"/>
          </a:bodyPr>
          <a:lstStyle/>
          <a:p>
            <a:pPr algn="l">
              <a:defRPr sz="1013" b="1">
                <a:solidFill>
                  <a:srgbClr val="29D996"/>
                </a:solidFill>
                <a:latin typeface="Arial"/>
                <a:ea typeface="Arial"/>
                <a:cs typeface="Arial"/>
              </a:defRPr>
            </a:pPr>
            <a:r>
              <a:rPr sz="1013" b="1">
                <a:solidFill>
                  <a:srgbClr val="29D996"/>
                </a:solidFill>
                <a:latin typeface="Arial"/>
                <a:ea typeface="Arial"/>
                <a:cs typeface="Arial"/>
              </a:rPr>
              <a:t>04</a:t>
            </a:r>
          </a:p>
        </p:txBody>
      </p:sp>
      <p:sp>
        <p:nvSpPr>
          <p:cNvPr id="22" name="Rectángulo 21">
            <a:extLst>
              <a:ext uri="{FF2B5EF4-FFF2-40B4-BE49-F238E27FC236}">
                <a16:creationId xmlns:a16="http://schemas.microsoft.com/office/drawing/2014/main" id="{13D02A1F-80EE-4671-9BB9-A2D9FD435259}"/>
              </a:ext>
            </a:extLst>
          </p:cNvPr>
          <p:cNvSpPr>
            <a:spLocks noGrp="1"/>
          </p:cNvSpPr>
          <p:nvPr/>
        </p:nvSpPr>
        <p:spPr>
          <a:xfrm>
            <a:off x="6843713" y="1621631"/>
            <a:ext cx="1493044"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SQLite</a:t>
            </a:r>
          </a:p>
        </p:txBody>
      </p:sp>
      <p:sp>
        <p:nvSpPr>
          <p:cNvPr id="23" name="Rectángulo 22">
            <a:extLst>
              <a:ext uri="{FF2B5EF4-FFF2-40B4-BE49-F238E27FC236}">
                <a16:creationId xmlns:a16="http://schemas.microsoft.com/office/drawing/2014/main" id="{B8145F81-79A6-4302-9F2A-583A2DCE1E9D}"/>
              </a:ext>
            </a:extLst>
          </p:cNvPr>
          <p:cNvSpPr>
            <a:spLocks noGrp="1"/>
          </p:cNvSpPr>
          <p:nvPr/>
        </p:nvSpPr>
        <p:spPr>
          <a:xfrm>
            <a:off x="6843713" y="1900238"/>
            <a:ext cx="1493044" cy="1457325"/>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Guarda la solicitud con la referencia al cliente.</a:t>
            </a:r>
          </a:p>
        </p:txBody>
      </p:sp>
      <p:sp>
        <p:nvSpPr>
          <p:cNvPr id="24" name="Rectángulo: esquinas redondeadas 23">
            <a:extLst>
              <a:ext uri="{FF2B5EF4-FFF2-40B4-BE49-F238E27FC236}">
                <a16:creationId xmlns:a16="http://schemas.microsoft.com/office/drawing/2014/main" id="{4B1CA0B6-790B-409D-9AE2-CF93B813FA26}"/>
              </a:ext>
            </a:extLst>
          </p:cNvPr>
          <p:cNvSpPr>
            <a:spLocks noGrp="1"/>
          </p:cNvSpPr>
          <p:nvPr/>
        </p:nvSpPr>
        <p:spPr>
          <a:xfrm>
            <a:off x="392906" y="3750469"/>
            <a:ext cx="8072438" cy="642938"/>
          </a:xfrm>
          <a:prstGeom prst="roundRect">
            <a:avLst>
              <a:gd name="adj" fmla="val 11852"/>
            </a:avLst>
          </a:prstGeom>
          <a:solidFill>
            <a:srgbClr val="18273A"/>
          </a:solidFill>
          <a:ln w="13335">
            <a:solidFill>
              <a:srgbClr val="29D996"/>
            </a:solidFill>
          </a:ln>
        </p:spPr>
        <p:txBody>
          <a:bodyPr/>
          <a:lstStyle/>
          <a:p>
            <a:endParaRPr lang="es-CO"/>
          </a:p>
        </p:txBody>
      </p:sp>
      <p:sp>
        <p:nvSpPr>
          <p:cNvPr id="25" name="Rectángulo 24">
            <a:extLst>
              <a:ext uri="{FF2B5EF4-FFF2-40B4-BE49-F238E27FC236}">
                <a16:creationId xmlns:a16="http://schemas.microsoft.com/office/drawing/2014/main" id="{A385BEBF-6282-479A-8892-7741D831776F}"/>
              </a:ext>
            </a:extLst>
          </p:cNvPr>
          <p:cNvSpPr>
            <a:spLocks noGrp="1"/>
          </p:cNvSpPr>
          <p:nvPr/>
        </p:nvSpPr>
        <p:spPr>
          <a:xfrm>
            <a:off x="607219" y="3879056"/>
            <a:ext cx="7643813" cy="371475"/>
          </a:xfrm>
          <a:prstGeom prst="rect">
            <a:avLst/>
          </a:prstGeom>
          <a:ln w="0"/>
        </p:spPr>
        <p:txBody>
          <a:bodyPr anchor="ctr">
            <a:normAutofit/>
          </a:bodyPr>
          <a:lstStyle/>
          <a:p>
            <a:pPr algn="ctr">
              <a:defRPr sz="1125" b="1">
                <a:solidFill>
                  <a:srgbClr val="F4F7FB"/>
                </a:solidFill>
                <a:latin typeface="Arial"/>
                <a:ea typeface="Arial"/>
                <a:cs typeface="Arial"/>
              </a:defRPr>
            </a:pPr>
            <a:r>
              <a:rPr sz="1125" b="1">
                <a:solidFill>
                  <a:srgbClr val="F4F7FB"/>
                </a:solidFill>
                <a:latin typeface="Arial"/>
                <a:ea typeface="Arial"/>
                <a:cs typeface="Arial"/>
              </a:rPr>
              <a:t>La ruta POST implementa el comportamiento definido en la interfaz abstracta.</a:t>
            </a:r>
          </a:p>
        </p:txBody>
      </p:sp>
    </p:spTree>
    <p:extLst>
      <p:ext uri="{BB962C8B-B14F-4D97-AF65-F5344CB8AC3E}">
        <p14:creationId xmlns:p14="http://schemas.microsoft.com/office/powerpoint/2010/main" val="1961808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1A74ADC8-A7A2-4B4F-B147-FFCAEC60D8F5}"/>
              </a:ext>
            </a:extLst>
          </p:cNvPr>
          <p:cNvSpPr>
            <a:spLocks noGrp="1"/>
          </p:cNvSpPr>
          <p:nvPr/>
        </p:nvSpPr>
        <p:spPr>
          <a:xfrm>
            <a:off x="285750" y="200025"/>
            <a:ext cx="1085850" cy="185738"/>
          </a:xfrm>
          <a:prstGeom prst="roundRect">
            <a:avLst>
              <a:gd name="adj" fmla="val 41026"/>
            </a:avLst>
          </a:prstGeom>
          <a:ln w="13335">
            <a:solidFill>
              <a:srgbClr val="29D996"/>
            </a:solidFill>
          </a:ln>
        </p:spPr>
        <p:txBody>
          <a:bodyPr/>
          <a:lstStyle/>
          <a:p>
            <a:endParaRPr lang="es-CO"/>
          </a:p>
        </p:txBody>
      </p:sp>
      <p:sp>
        <p:nvSpPr>
          <p:cNvPr id="2" name="Rectángulo 1">
            <a:extLst>
              <a:ext uri="{FF2B5EF4-FFF2-40B4-BE49-F238E27FC236}">
                <a16:creationId xmlns:a16="http://schemas.microsoft.com/office/drawing/2014/main" id="{1FF5CF82-B43B-494E-AA9D-6A43C9F41B57}"/>
              </a:ext>
            </a:extLst>
          </p:cNvPr>
          <p:cNvSpPr>
            <a:spLocks noGrp="1"/>
          </p:cNvSpPr>
          <p:nvPr/>
        </p:nvSpPr>
        <p:spPr>
          <a:xfrm>
            <a:off x="371475" y="221456"/>
            <a:ext cx="914400" cy="128588"/>
          </a:xfrm>
          <a:prstGeom prst="rect">
            <a:avLst/>
          </a:prstGeom>
          <a:ln w="0"/>
        </p:spPr>
        <p:txBody>
          <a:bodyPr anchor="ctr">
            <a:normAutofit fontScale="39379"/>
          </a:bodyPr>
          <a:lstStyle/>
          <a:p>
            <a:pPr algn="ctr">
              <a:defRPr sz="619" b="1">
                <a:solidFill>
                  <a:srgbClr val="29D996"/>
                </a:solidFill>
                <a:latin typeface="Arial"/>
                <a:ea typeface="Arial"/>
                <a:cs typeface="Arial"/>
              </a:defRPr>
            </a:pPr>
            <a:r>
              <a:rPr sz="619" b="1" dirty="0">
                <a:solidFill>
                  <a:srgbClr val="29D996"/>
                </a:solidFill>
                <a:latin typeface="Arial"/>
                <a:ea typeface="Arial"/>
                <a:cs typeface="Arial"/>
              </a:rPr>
              <a:t>DEMOSTRACIÓN · DATOS</a:t>
            </a:r>
          </a:p>
        </p:txBody>
      </p:sp>
      <p:sp>
        <p:nvSpPr>
          <p:cNvPr id="3" name="Rectángulo 2">
            <a:extLst>
              <a:ext uri="{FF2B5EF4-FFF2-40B4-BE49-F238E27FC236}">
                <a16:creationId xmlns:a16="http://schemas.microsoft.com/office/drawing/2014/main" id="{84B60603-C052-4982-ACC2-B4D07EED2328}"/>
              </a:ext>
            </a:extLst>
          </p:cNvPr>
          <p:cNvSpPr>
            <a:spLocks noGrp="1"/>
          </p:cNvSpPr>
          <p:nvPr/>
        </p:nvSpPr>
        <p:spPr>
          <a:xfrm>
            <a:off x="285750" y="450056"/>
            <a:ext cx="8286750" cy="414338"/>
          </a:xfrm>
          <a:prstGeom prst="rect">
            <a:avLst/>
          </a:prstGeom>
          <a:ln w="0"/>
        </p:spPr>
        <p:txBody>
          <a:bodyPr anchor="ctr">
            <a:normAutofit/>
          </a:bodyPr>
          <a:lstStyle/>
          <a:p>
            <a:pPr algn="l">
              <a:defRPr sz="1744" b="1">
                <a:solidFill>
                  <a:srgbClr val="F4F7FB"/>
                </a:solidFill>
                <a:latin typeface="Arial"/>
                <a:ea typeface="Arial"/>
                <a:cs typeface="Arial"/>
              </a:defRPr>
            </a:pPr>
            <a:r>
              <a:rPr sz="1744" b="1">
                <a:solidFill>
                  <a:srgbClr val="F4F7FB"/>
                </a:solidFill>
                <a:latin typeface="Arial"/>
                <a:ea typeface="Arial"/>
                <a:cs typeface="Arial"/>
              </a:rPr>
              <a:t>La relación se comprueba en SQLite</a:t>
            </a:r>
          </a:p>
        </p:txBody>
      </p:sp>
      <p:sp>
        <p:nvSpPr>
          <p:cNvPr id="4" name="Rectángulo 3">
            <a:extLst>
              <a:ext uri="{FF2B5EF4-FFF2-40B4-BE49-F238E27FC236}">
                <a16:creationId xmlns:a16="http://schemas.microsoft.com/office/drawing/2014/main" id="{497208BF-5343-4043-B18F-C75C050CD4A5}"/>
              </a:ext>
            </a:extLst>
          </p:cNvPr>
          <p:cNvSpPr>
            <a:spLocks noGrp="1"/>
          </p:cNvSpPr>
          <p:nvPr/>
        </p:nvSpPr>
        <p:spPr>
          <a:xfrm>
            <a:off x="6858000" y="4872038"/>
            <a:ext cx="1964531" cy="142875"/>
          </a:xfrm>
          <a:prstGeom prst="rect">
            <a:avLst/>
          </a:prstGeom>
          <a:ln w="0"/>
        </p:spPr>
        <p:txBody>
          <a:bodyPr anchor="ctr">
            <a:normAutofit fontScale="59947"/>
          </a:bodyPr>
          <a:lstStyle/>
          <a:p>
            <a:pPr algn="r">
              <a:defRPr sz="563" b="0">
                <a:solidFill>
                  <a:srgbClr val="718096"/>
                </a:solidFill>
                <a:latin typeface="Arial"/>
                <a:ea typeface="Arial"/>
                <a:cs typeface="Arial"/>
              </a:defRPr>
            </a:pPr>
            <a:r>
              <a:rPr sz="563" b="0">
                <a:solidFill>
                  <a:srgbClr val="718096"/>
                </a:solidFill>
                <a:latin typeface="Arial"/>
                <a:ea typeface="Arial"/>
                <a:cs typeface="Arial"/>
              </a:rPr>
              <a:t>Metodologías de desarrollo web  ·  22 / 24</a:t>
            </a:r>
          </a:p>
        </p:txBody>
      </p:sp>
      <p:sp>
        <p:nvSpPr>
          <p:cNvPr id="5" name="Rectángulo: esquinas redondeadas 4">
            <a:extLst>
              <a:ext uri="{FF2B5EF4-FFF2-40B4-BE49-F238E27FC236}">
                <a16:creationId xmlns:a16="http://schemas.microsoft.com/office/drawing/2014/main" id="{CA8C322A-B7DB-4FA5-B9C5-94C9137EC820}"/>
              </a:ext>
            </a:extLst>
          </p:cNvPr>
          <p:cNvSpPr>
            <a:spLocks noGrp="1"/>
          </p:cNvSpPr>
          <p:nvPr/>
        </p:nvSpPr>
        <p:spPr>
          <a:xfrm>
            <a:off x="392906" y="1071563"/>
            <a:ext cx="3429000" cy="2321719"/>
          </a:xfrm>
          <a:prstGeom prst="roundRect">
            <a:avLst>
              <a:gd name="adj" fmla="val 3282"/>
            </a:avLst>
          </a:prstGeom>
          <a:solidFill>
            <a:srgbClr val="111D2D"/>
          </a:solidFill>
          <a:ln w="13335">
            <a:solidFill>
              <a:srgbClr val="29D996"/>
            </a:solidFill>
          </a:ln>
        </p:spPr>
        <p:txBody>
          <a:bodyPr/>
          <a:lstStyle/>
          <a:p>
            <a:endParaRPr lang="es-CO"/>
          </a:p>
        </p:txBody>
      </p:sp>
      <p:sp>
        <p:nvSpPr>
          <p:cNvPr id="6" name="Rectángulo 5">
            <a:extLst>
              <a:ext uri="{FF2B5EF4-FFF2-40B4-BE49-F238E27FC236}">
                <a16:creationId xmlns:a16="http://schemas.microsoft.com/office/drawing/2014/main" id="{73643C71-EF74-4E1F-B532-F9569152DE68}"/>
              </a:ext>
            </a:extLst>
          </p:cNvPr>
          <p:cNvSpPr>
            <a:spLocks noGrp="1"/>
          </p:cNvSpPr>
          <p:nvPr/>
        </p:nvSpPr>
        <p:spPr>
          <a:xfrm>
            <a:off x="571500" y="1228725"/>
            <a:ext cx="3071813" cy="271463"/>
          </a:xfrm>
          <a:prstGeom prst="rect">
            <a:avLst/>
          </a:prstGeom>
          <a:ln w="0"/>
        </p:spPr>
        <p:txBody>
          <a:bodyPr anchor="ctr">
            <a:normAutofit fontScale="91287"/>
          </a:bodyPr>
          <a:lstStyle/>
          <a:p>
            <a:pPr algn="l">
              <a:defRPr sz="1294" b="1">
                <a:solidFill>
                  <a:srgbClr val="29D996"/>
                </a:solidFill>
                <a:latin typeface="Arial"/>
                <a:ea typeface="Arial"/>
                <a:cs typeface="Arial"/>
              </a:defRPr>
            </a:pPr>
            <a:r>
              <a:rPr sz="1294" b="1">
                <a:solidFill>
                  <a:srgbClr val="29D996"/>
                </a:solidFill>
                <a:latin typeface="Arial"/>
                <a:ea typeface="Arial"/>
                <a:cs typeface="Arial"/>
              </a:rPr>
              <a:t>clientes</a:t>
            </a:r>
          </a:p>
        </p:txBody>
      </p:sp>
      <p:sp>
        <p:nvSpPr>
          <p:cNvPr id="7" name="Rectángulo 6">
            <a:extLst>
              <a:ext uri="{FF2B5EF4-FFF2-40B4-BE49-F238E27FC236}">
                <a16:creationId xmlns:a16="http://schemas.microsoft.com/office/drawing/2014/main" id="{43FB1791-4B50-455C-8D2A-1C8F0DB0C914}"/>
              </a:ext>
            </a:extLst>
          </p:cNvPr>
          <p:cNvSpPr>
            <a:spLocks noGrp="1"/>
          </p:cNvSpPr>
          <p:nvPr/>
        </p:nvSpPr>
        <p:spPr>
          <a:xfrm>
            <a:off x="571500" y="1607344"/>
            <a:ext cx="3071813" cy="1214438"/>
          </a:xfrm>
          <a:prstGeom prst="rect">
            <a:avLst/>
          </a:prstGeom>
          <a:ln w="0"/>
        </p:spPr>
        <p:txBody>
          <a:bodyPr anchor="ctr">
            <a:normAutofit/>
          </a:bodyPr>
          <a:lstStyle/>
          <a:p>
            <a:pPr algn="l">
              <a:defRPr sz="1013" b="0">
                <a:solidFill>
                  <a:srgbClr val="F4F7FB"/>
                </a:solidFill>
                <a:latin typeface="Arial"/>
                <a:ea typeface="Arial"/>
                <a:cs typeface="Arial"/>
              </a:defRPr>
            </a:pPr>
            <a:r>
              <a:rPr sz="1013" b="0">
                <a:solidFill>
                  <a:srgbClr val="F4F7FB"/>
                </a:solidFill>
                <a:latin typeface="Arial"/>
                <a:ea typeface="Arial"/>
                <a:cs typeface="Arial"/>
              </a:rPr>
              <a:t>id      INTEGER  PK</a:t>
            </a:r>
          </a:p>
          <a:p>
            <a:pPr algn="l">
              <a:defRPr sz="1013" b="0">
                <a:solidFill>
                  <a:srgbClr val="F4F7FB"/>
                </a:solidFill>
                <a:latin typeface="Arial"/>
                <a:ea typeface="Arial"/>
                <a:cs typeface="Arial"/>
              </a:defRPr>
            </a:pPr>
            <a:r>
              <a:rPr sz="1013" b="0">
                <a:solidFill>
                  <a:srgbClr val="F4F7FB"/>
                </a:solidFill>
                <a:latin typeface="Arial"/>
                <a:ea typeface="Arial"/>
                <a:cs typeface="Arial"/>
              </a:rPr>
              <a:t>nombre  TEXT     NOT NULL</a:t>
            </a:r>
          </a:p>
          <a:p>
            <a:pPr algn="l">
              <a:defRPr sz="1013" b="0">
                <a:solidFill>
                  <a:srgbClr val="F4F7FB"/>
                </a:solidFill>
                <a:latin typeface="Arial"/>
                <a:ea typeface="Arial"/>
                <a:cs typeface="Arial"/>
              </a:defRPr>
            </a:pPr>
            <a:r>
              <a:rPr sz="1013" b="0">
                <a:solidFill>
                  <a:srgbClr val="F4F7FB"/>
                </a:solidFill>
                <a:latin typeface="Arial"/>
                <a:ea typeface="Arial"/>
                <a:cs typeface="Arial"/>
              </a:rPr>
              <a:t>correo  TEXT     NOT NULL</a:t>
            </a:r>
          </a:p>
        </p:txBody>
      </p:sp>
      <p:sp>
        <p:nvSpPr>
          <p:cNvPr id="8" name="Rectángulo: esquinas redondeadas 7">
            <a:extLst>
              <a:ext uri="{FF2B5EF4-FFF2-40B4-BE49-F238E27FC236}">
                <a16:creationId xmlns:a16="http://schemas.microsoft.com/office/drawing/2014/main" id="{FDF8178D-B9DE-43CE-9BAD-7E85F5018CCE}"/>
              </a:ext>
            </a:extLst>
          </p:cNvPr>
          <p:cNvSpPr>
            <a:spLocks noGrp="1"/>
          </p:cNvSpPr>
          <p:nvPr/>
        </p:nvSpPr>
        <p:spPr>
          <a:xfrm>
            <a:off x="5036344" y="1071563"/>
            <a:ext cx="3429000" cy="2321719"/>
          </a:xfrm>
          <a:prstGeom prst="roundRect">
            <a:avLst>
              <a:gd name="adj" fmla="val 3282"/>
            </a:avLst>
          </a:prstGeom>
          <a:solidFill>
            <a:srgbClr val="111D2D"/>
          </a:solidFill>
          <a:ln w="13335">
            <a:solidFill>
              <a:srgbClr val="35B8E8"/>
            </a:solidFill>
          </a:ln>
        </p:spPr>
        <p:txBody>
          <a:bodyPr/>
          <a:lstStyle/>
          <a:p>
            <a:endParaRPr lang="es-CO"/>
          </a:p>
        </p:txBody>
      </p:sp>
      <p:sp>
        <p:nvSpPr>
          <p:cNvPr id="9" name="Rectángulo 8">
            <a:extLst>
              <a:ext uri="{FF2B5EF4-FFF2-40B4-BE49-F238E27FC236}">
                <a16:creationId xmlns:a16="http://schemas.microsoft.com/office/drawing/2014/main" id="{45BBF434-94CB-4D04-9A60-F478E6497627}"/>
              </a:ext>
            </a:extLst>
          </p:cNvPr>
          <p:cNvSpPr>
            <a:spLocks noGrp="1"/>
          </p:cNvSpPr>
          <p:nvPr/>
        </p:nvSpPr>
        <p:spPr>
          <a:xfrm>
            <a:off x="5214938" y="1228725"/>
            <a:ext cx="3071813" cy="271463"/>
          </a:xfrm>
          <a:prstGeom prst="rect">
            <a:avLst/>
          </a:prstGeom>
          <a:ln w="0"/>
        </p:spPr>
        <p:txBody>
          <a:bodyPr anchor="ctr">
            <a:normAutofit fontScale="91287"/>
          </a:bodyPr>
          <a:lstStyle/>
          <a:p>
            <a:pPr algn="l">
              <a:defRPr sz="1294" b="1">
                <a:solidFill>
                  <a:srgbClr val="35B8E8"/>
                </a:solidFill>
                <a:latin typeface="Arial"/>
                <a:ea typeface="Arial"/>
                <a:cs typeface="Arial"/>
              </a:defRPr>
            </a:pPr>
            <a:r>
              <a:rPr sz="1294" b="1">
                <a:solidFill>
                  <a:srgbClr val="35B8E8"/>
                </a:solidFill>
                <a:latin typeface="Arial"/>
                <a:ea typeface="Arial"/>
                <a:cs typeface="Arial"/>
              </a:rPr>
              <a:t>solicitudes</a:t>
            </a:r>
          </a:p>
        </p:txBody>
      </p:sp>
      <p:sp>
        <p:nvSpPr>
          <p:cNvPr id="10" name="Rectángulo 9">
            <a:extLst>
              <a:ext uri="{FF2B5EF4-FFF2-40B4-BE49-F238E27FC236}">
                <a16:creationId xmlns:a16="http://schemas.microsoft.com/office/drawing/2014/main" id="{A45245DC-814B-4A3F-96B8-B30334E2AF36}"/>
              </a:ext>
            </a:extLst>
          </p:cNvPr>
          <p:cNvSpPr>
            <a:spLocks noGrp="1"/>
          </p:cNvSpPr>
          <p:nvPr/>
        </p:nvSpPr>
        <p:spPr>
          <a:xfrm>
            <a:off x="5214938" y="1607344"/>
            <a:ext cx="3071813" cy="1500188"/>
          </a:xfrm>
          <a:prstGeom prst="rect">
            <a:avLst/>
          </a:prstGeom>
          <a:ln w="0"/>
        </p:spPr>
        <p:txBody>
          <a:bodyPr anchor="ctr">
            <a:normAutofit/>
          </a:bodyPr>
          <a:lstStyle/>
          <a:p>
            <a:pPr algn="l">
              <a:defRPr sz="1013" b="0">
                <a:solidFill>
                  <a:srgbClr val="F4F7FB"/>
                </a:solidFill>
                <a:latin typeface="Arial"/>
                <a:ea typeface="Arial"/>
                <a:cs typeface="Arial"/>
              </a:defRPr>
            </a:pPr>
            <a:r>
              <a:rPr sz="1013" b="0">
                <a:solidFill>
                  <a:srgbClr val="F4F7FB"/>
                </a:solidFill>
                <a:latin typeface="Arial"/>
                <a:ea typeface="Arial"/>
                <a:cs typeface="Arial"/>
              </a:rPr>
              <a:t>id           INTEGER  PK</a:t>
            </a:r>
          </a:p>
          <a:p>
            <a:pPr algn="l">
              <a:defRPr sz="1013" b="0">
                <a:solidFill>
                  <a:srgbClr val="F4F7FB"/>
                </a:solidFill>
                <a:latin typeface="Arial"/>
                <a:ea typeface="Arial"/>
                <a:cs typeface="Arial"/>
              </a:defRPr>
            </a:pPr>
            <a:r>
              <a:rPr sz="1013" b="0">
                <a:solidFill>
                  <a:srgbClr val="F4F7FB"/>
                </a:solidFill>
                <a:latin typeface="Arial"/>
                <a:ea typeface="Arial"/>
                <a:cs typeface="Arial"/>
              </a:rPr>
              <a:t>cliente_id   INTEGER  FK</a:t>
            </a:r>
          </a:p>
          <a:p>
            <a:pPr algn="l">
              <a:defRPr sz="1013" b="0">
                <a:solidFill>
                  <a:srgbClr val="F4F7FB"/>
                </a:solidFill>
                <a:latin typeface="Arial"/>
                <a:ea typeface="Arial"/>
                <a:cs typeface="Arial"/>
              </a:defRPr>
            </a:pPr>
            <a:r>
              <a:rPr sz="1013" b="0">
                <a:solidFill>
                  <a:srgbClr val="F4F7FB"/>
                </a:solidFill>
                <a:latin typeface="Arial"/>
                <a:ea typeface="Arial"/>
                <a:cs typeface="Arial"/>
              </a:rPr>
              <a:t>descripcion  TEXT</a:t>
            </a:r>
          </a:p>
          <a:p>
            <a:pPr algn="l">
              <a:defRPr sz="1013" b="0">
                <a:solidFill>
                  <a:srgbClr val="F4F7FB"/>
                </a:solidFill>
                <a:latin typeface="Arial"/>
                <a:ea typeface="Arial"/>
                <a:cs typeface="Arial"/>
              </a:defRPr>
            </a:pPr>
            <a:r>
              <a:rPr sz="1013" b="0">
                <a:solidFill>
                  <a:srgbClr val="F4F7FB"/>
                </a:solidFill>
                <a:latin typeface="Arial"/>
                <a:ea typeface="Arial"/>
                <a:cs typeface="Arial"/>
              </a:rPr>
              <a:t>fecha        TEXT</a:t>
            </a:r>
          </a:p>
          <a:p>
            <a:pPr algn="l">
              <a:defRPr sz="1013" b="0">
                <a:solidFill>
                  <a:srgbClr val="F4F7FB"/>
                </a:solidFill>
                <a:latin typeface="Arial"/>
                <a:ea typeface="Arial"/>
                <a:cs typeface="Arial"/>
              </a:defRPr>
            </a:pPr>
            <a:r>
              <a:rPr sz="1013" b="0">
                <a:solidFill>
                  <a:srgbClr val="F4F7FB"/>
                </a:solidFill>
                <a:latin typeface="Arial"/>
                <a:ea typeface="Arial"/>
                <a:cs typeface="Arial"/>
              </a:rPr>
              <a:t>estado       TEXT</a:t>
            </a:r>
          </a:p>
        </p:txBody>
      </p:sp>
      <p:sp>
        <p:nvSpPr>
          <p:cNvPr id="11" name="Rectángulo 10">
            <a:extLst>
              <a:ext uri="{FF2B5EF4-FFF2-40B4-BE49-F238E27FC236}">
                <a16:creationId xmlns:a16="http://schemas.microsoft.com/office/drawing/2014/main" id="{BC7457AB-EA76-4BC1-8C25-9A52A5C2B746}"/>
              </a:ext>
            </a:extLst>
          </p:cNvPr>
          <p:cNvSpPr>
            <a:spLocks noGrp="1"/>
          </p:cNvSpPr>
          <p:nvPr/>
        </p:nvSpPr>
        <p:spPr>
          <a:xfrm>
            <a:off x="3943350" y="1800225"/>
            <a:ext cx="371475" cy="371475"/>
          </a:xfrm>
          <a:prstGeom prst="rect">
            <a:avLst/>
          </a:prstGeom>
          <a:ln w="0"/>
        </p:spPr>
        <p:txBody>
          <a:bodyPr anchor="ctr">
            <a:normAutofit/>
          </a:bodyPr>
          <a:lstStyle/>
          <a:p>
            <a:pPr algn="ctr">
              <a:defRPr sz="1294" b="1">
                <a:solidFill>
                  <a:srgbClr val="29D996"/>
                </a:solidFill>
                <a:latin typeface="Arial"/>
                <a:ea typeface="Arial"/>
                <a:cs typeface="Arial"/>
              </a:defRPr>
            </a:pPr>
            <a:r>
              <a:rPr sz="1294" b="1">
                <a:solidFill>
                  <a:srgbClr val="29D996"/>
                </a:solidFill>
                <a:latin typeface="Arial"/>
                <a:ea typeface="Arial"/>
                <a:cs typeface="Arial"/>
              </a:rPr>
              <a:t>1</a:t>
            </a:r>
          </a:p>
        </p:txBody>
      </p:sp>
      <p:sp>
        <p:nvSpPr>
          <p:cNvPr id="12" name="Rectángulo 11">
            <a:extLst>
              <a:ext uri="{FF2B5EF4-FFF2-40B4-BE49-F238E27FC236}">
                <a16:creationId xmlns:a16="http://schemas.microsoft.com/office/drawing/2014/main" id="{5AAE273D-A907-4FF0-810A-5B4B78B66F14}"/>
              </a:ext>
            </a:extLst>
          </p:cNvPr>
          <p:cNvSpPr>
            <a:spLocks noGrp="1"/>
          </p:cNvSpPr>
          <p:nvPr/>
        </p:nvSpPr>
        <p:spPr>
          <a:xfrm>
            <a:off x="4407694" y="1800225"/>
            <a:ext cx="500063" cy="371475"/>
          </a:xfrm>
          <a:prstGeom prst="rect">
            <a:avLst/>
          </a:prstGeom>
          <a:ln w="0"/>
        </p:spPr>
        <p:txBody>
          <a:bodyPr anchor="ctr">
            <a:normAutofit/>
          </a:bodyPr>
          <a:lstStyle/>
          <a:p>
            <a:pPr algn="ctr">
              <a:defRPr sz="1125" b="1">
                <a:solidFill>
                  <a:srgbClr val="35B8E8"/>
                </a:solidFill>
                <a:latin typeface="Arial"/>
                <a:ea typeface="Arial"/>
                <a:cs typeface="Arial"/>
              </a:defRPr>
            </a:pPr>
            <a:r>
              <a:rPr sz="1125" b="1">
                <a:solidFill>
                  <a:srgbClr val="35B8E8"/>
                </a:solidFill>
                <a:latin typeface="Arial"/>
                <a:ea typeface="Arial"/>
                <a:cs typeface="Arial"/>
              </a:rPr>
              <a:t>0..*</a:t>
            </a:r>
          </a:p>
        </p:txBody>
      </p:sp>
      <p:sp>
        <p:nvSpPr>
          <p:cNvPr id="13" name="Rectángulo 12">
            <a:extLst>
              <a:ext uri="{FF2B5EF4-FFF2-40B4-BE49-F238E27FC236}">
                <a16:creationId xmlns:a16="http://schemas.microsoft.com/office/drawing/2014/main" id="{FA102ADA-AAFD-4C60-B165-548FBA28F3A0}"/>
              </a:ext>
            </a:extLst>
          </p:cNvPr>
          <p:cNvSpPr>
            <a:spLocks noGrp="1"/>
          </p:cNvSpPr>
          <p:nvPr/>
        </p:nvSpPr>
        <p:spPr>
          <a:xfrm>
            <a:off x="4143375" y="1928813"/>
            <a:ext cx="464344" cy="142875"/>
          </a:xfrm>
          <a:prstGeom prst="rect">
            <a:avLst/>
          </a:prstGeom>
          <a:ln w="0"/>
        </p:spPr>
        <p:txBody>
          <a:bodyPr anchor="ctr">
            <a:normAutofit fontScale="27262"/>
          </a:bodyPr>
          <a:lstStyle/>
          <a:p>
            <a:pPr algn="ctr">
              <a:defRPr sz="1238" b="1">
                <a:solidFill>
                  <a:srgbClr val="A9B8CB"/>
                </a:solidFill>
                <a:latin typeface="Arial"/>
                <a:ea typeface="Arial"/>
                <a:cs typeface="Arial"/>
              </a:defRPr>
            </a:pPr>
            <a:r>
              <a:rPr sz="1238" b="1">
                <a:solidFill>
                  <a:srgbClr val="A9B8CB"/>
                </a:solidFill>
                <a:latin typeface="Arial"/>
                <a:ea typeface="Arial"/>
                <a:cs typeface="Arial"/>
              </a:rPr>
              <a:t>────</a:t>
            </a:r>
          </a:p>
        </p:txBody>
      </p:sp>
      <p:sp>
        <p:nvSpPr>
          <p:cNvPr id="14" name="Rectángulo: esquinas redondeadas 13">
            <a:extLst>
              <a:ext uri="{FF2B5EF4-FFF2-40B4-BE49-F238E27FC236}">
                <a16:creationId xmlns:a16="http://schemas.microsoft.com/office/drawing/2014/main" id="{3252844F-F293-459F-AEA6-74B1511E28D2}"/>
              </a:ext>
            </a:extLst>
          </p:cNvPr>
          <p:cNvSpPr>
            <a:spLocks noGrp="1"/>
          </p:cNvSpPr>
          <p:nvPr/>
        </p:nvSpPr>
        <p:spPr>
          <a:xfrm>
            <a:off x="392906" y="3679031"/>
            <a:ext cx="8072438" cy="714375"/>
          </a:xfrm>
          <a:prstGeom prst="roundRect">
            <a:avLst>
              <a:gd name="adj" fmla="val 10667"/>
            </a:avLst>
          </a:prstGeom>
          <a:solidFill>
            <a:srgbClr val="18273A"/>
          </a:solidFill>
          <a:ln w="13335">
            <a:solidFill>
              <a:srgbClr val="F3A846"/>
            </a:solidFill>
          </a:ln>
        </p:spPr>
        <p:txBody>
          <a:bodyPr/>
          <a:lstStyle/>
          <a:p>
            <a:endParaRPr lang="es-CO"/>
          </a:p>
        </p:txBody>
      </p:sp>
      <p:sp>
        <p:nvSpPr>
          <p:cNvPr id="15" name="Rectángulo 14">
            <a:extLst>
              <a:ext uri="{FF2B5EF4-FFF2-40B4-BE49-F238E27FC236}">
                <a16:creationId xmlns:a16="http://schemas.microsoft.com/office/drawing/2014/main" id="{598C904D-B9E7-49D6-8C42-9FA03D632933}"/>
              </a:ext>
            </a:extLst>
          </p:cNvPr>
          <p:cNvSpPr>
            <a:spLocks noGrp="1"/>
          </p:cNvSpPr>
          <p:nvPr/>
        </p:nvSpPr>
        <p:spPr>
          <a:xfrm>
            <a:off x="642938" y="3821906"/>
            <a:ext cx="7572375" cy="414338"/>
          </a:xfrm>
          <a:prstGeom prst="rect">
            <a:avLst/>
          </a:prstGeom>
          <a:ln w="0"/>
        </p:spPr>
        <p:txBody>
          <a:bodyPr anchor="ctr">
            <a:normAutofit/>
          </a:bodyPr>
          <a:lstStyle/>
          <a:p>
            <a:pPr algn="ctr">
              <a:defRPr sz="1069" b="1">
                <a:solidFill>
                  <a:srgbClr val="F4F7FB"/>
                </a:solidFill>
                <a:latin typeface="Arial"/>
                <a:ea typeface="Arial"/>
                <a:cs typeface="Arial"/>
              </a:defRPr>
            </a:pPr>
            <a:r>
              <a:rPr sz="1069" b="1">
                <a:solidFill>
                  <a:srgbClr val="F4F7FB"/>
                </a:solidFill>
                <a:latin typeface="Arial"/>
                <a:ea typeface="Arial"/>
                <a:cs typeface="Arial"/>
              </a:rPr>
              <a:t>cliente_id materializa la relación conceptual: identifica a qué cliente pertenece cada solicitud.</a:t>
            </a:r>
          </a:p>
        </p:txBody>
      </p:sp>
    </p:spTree>
    <p:extLst>
      <p:ext uri="{BB962C8B-B14F-4D97-AF65-F5344CB8AC3E}">
        <p14:creationId xmlns:p14="http://schemas.microsoft.com/office/powerpoint/2010/main" val="1389265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0" name="Rectángulo: esquinas redondeadas 19">
            <a:extLst>
              <a:ext uri="{FF2B5EF4-FFF2-40B4-BE49-F238E27FC236}">
                <a16:creationId xmlns:a16="http://schemas.microsoft.com/office/drawing/2014/main" id="{9676484E-C3A4-44A6-B779-AAFACA46B0C0}"/>
              </a:ext>
            </a:extLst>
          </p:cNvPr>
          <p:cNvSpPr>
            <a:spLocks noGrp="1"/>
          </p:cNvSpPr>
          <p:nvPr/>
        </p:nvSpPr>
        <p:spPr>
          <a:xfrm>
            <a:off x="285750" y="200025"/>
            <a:ext cx="1085850" cy="185738"/>
          </a:xfrm>
          <a:prstGeom prst="roundRect">
            <a:avLst>
              <a:gd name="adj" fmla="val 41026"/>
            </a:avLst>
          </a:prstGeom>
          <a:ln w="13335">
            <a:solidFill>
              <a:srgbClr val="29D996"/>
            </a:solidFill>
          </a:ln>
        </p:spPr>
        <p:txBody>
          <a:bodyPr/>
          <a:lstStyle/>
          <a:p>
            <a:endParaRPr lang="es-CO"/>
          </a:p>
        </p:txBody>
      </p:sp>
      <p:sp>
        <p:nvSpPr>
          <p:cNvPr id="2" name="Rectángulo 1">
            <a:extLst>
              <a:ext uri="{FF2B5EF4-FFF2-40B4-BE49-F238E27FC236}">
                <a16:creationId xmlns:a16="http://schemas.microsoft.com/office/drawing/2014/main" id="{844F02D7-5164-42CF-8322-DD5CE74F6030}"/>
              </a:ext>
            </a:extLst>
          </p:cNvPr>
          <p:cNvSpPr>
            <a:spLocks noGrp="1"/>
          </p:cNvSpPr>
          <p:nvPr/>
        </p:nvSpPr>
        <p:spPr>
          <a:xfrm>
            <a:off x="371475" y="221456"/>
            <a:ext cx="914400" cy="128588"/>
          </a:xfrm>
          <a:prstGeom prst="rect">
            <a:avLst/>
          </a:prstGeom>
          <a:ln w="0"/>
        </p:spPr>
        <p:txBody>
          <a:bodyPr anchor="ctr">
            <a:normAutofit fontScale="39379"/>
          </a:bodyPr>
          <a:lstStyle/>
          <a:p>
            <a:pPr algn="ctr">
              <a:defRPr sz="619" b="1">
                <a:solidFill>
                  <a:srgbClr val="29D996"/>
                </a:solidFill>
                <a:latin typeface="Arial"/>
                <a:ea typeface="Arial"/>
                <a:cs typeface="Arial"/>
              </a:defRPr>
            </a:pPr>
            <a:r>
              <a:rPr sz="619" b="1">
                <a:solidFill>
                  <a:srgbClr val="29D996"/>
                </a:solidFill>
                <a:latin typeface="Arial"/>
                <a:ea typeface="Arial"/>
                <a:cs typeface="Arial"/>
              </a:rPr>
              <a:t>ACTIVIDAD GUIADA · 12 MIN</a:t>
            </a:r>
          </a:p>
        </p:txBody>
      </p:sp>
      <p:sp>
        <p:nvSpPr>
          <p:cNvPr id="3" name="Rectángulo 2">
            <a:extLst>
              <a:ext uri="{FF2B5EF4-FFF2-40B4-BE49-F238E27FC236}">
                <a16:creationId xmlns:a16="http://schemas.microsoft.com/office/drawing/2014/main" id="{21096EFC-83C2-408F-81E2-220F65C5BD31}"/>
              </a:ext>
            </a:extLst>
          </p:cNvPr>
          <p:cNvSpPr>
            <a:spLocks noGrp="1"/>
          </p:cNvSpPr>
          <p:nvPr/>
        </p:nvSpPr>
        <p:spPr>
          <a:xfrm>
            <a:off x="285750" y="450056"/>
            <a:ext cx="8286750" cy="414338"/>
          </a:xfrm>
          <a:prstGeom prst="rect">
            <a:avLst/>
          </a:prstGeom>
          <a:ln w="0"/>
        </p:spPr>
        <p:txBody>
          <a:bodyPr anchor="ctr">
            <a:normAutofit/>
          </a:bodyPr>
          <a:lstStyle/>
          <a:p>
            <a:pPr algn="l">
              <a:defRPr sz="1744" b="1">
                <a:solidFill>
                  <a:srgbClr val="F4F7FB"/>
                </a:solidFill>
                <a:latin typeface="Arial"/>
                <a:ea typeface="Arial"/>
                <a:cs typeface="Arial"/>
              </a:defRPr>
            </a:pPr>
            <a:r>
              <a:rPr sz="1744" b="1">
                <a:solidFill>
                  <a:srgbClr val="F4F7FB"/>
                </a:solidFill>
                <a:latin typeface="Arial"/>
                <a:ea typeface="Arial"/>
                <a:cs typeface="Arial"/>
              </a:rPr>
              <a:t>Del problema a los modelos</a:t>
            </a:r>
          </a:p>
        </p:txBody>
      </p:sp>
      <p:sp>
        <p:nvSpPr>
          <p:cNvPr id="4" name="Rectángulo 3">
            <a:extLst>
              <a:ext uri="{FF2B5EF4-FFF2-40B4-BE49-F238E27FC236}">
                <a16:creationId xmlns:a16="http://schemas.microsoft.com/office/drawing/2014/main" id="{B452D6EC-D4CC-4B0E-B4D7-521443118C92}"/>
              </a:ext>
            </a:extLst>
          </p:cNvPr>
          <p:cNvSpPr>
            <a:spLocks noGrp="1"/>
          </p:cNvSpPr>
          <p:nvPr/>
        </p:nvSpPr>
        <p:spPr>
          <a:xfrm>
            <a:off x="6858000" y="4872038"/>
            <a:ext cx="1964531" cy="142875"/>
          </a:xfrm>
          <a:prstGeom prst="rect">
            <a:avLst/>
          </a:prstGeom>
          <a:ln w="0"/>
        </p:spPr>
        <p:txBody>
          <a:bodyPr anchor="ctr">
            <a:normAutofit fontScale="59947"/>
          </a:bodyPr>
          <a:lstStyle/>
          <a:p>
            <a:pPr algn="r">
              <a:defRPr sz="563" b="0">
                <a:solidFill>
                  <a:srgbClr val="718096"/>
                </a:solidFill>
                <a:latin typeface="Arial"/>
                <a:ea typeface="Arial"/>
                <a:cs typeface="Arial"/>
              </a:defRPr>
            </a:pPr>
            <a:r>
              <a:rPr sz="563" b="0">
                <a:solidFill>
                  <a:srgbClr val="718096"/>
                </a:solidFill>
                <a:latin typeface="Arial"/>
                <a:ea typeface="Arial"/>
                <a:cs typeface="Arial"/>
              </a:rPr>
              <a:t>Metodologías de desarrollo web  ·  23 / 24</a:t>
            </a:r>
          </a:p>
        </p:txBody>
      </p:sp>
      <p:sp>
        <p:nvSpPr>
          <p:cNvPr id="5" name="Rectángulo 4">
            <a:extLst>
              <a:ext uri="{FF2B5EF4-FFF2-40B4-BE49-F238E27FC236}">
                <a16:creationId xmlns:a16="http://schemas.microsoft.com/office/drawing/2014/main" id="{A9C6489C-B5F1-48EC-9C1A-DBF47E627094}"/>
              </a:ext>
            </a:extLst>
          </p:cNvPr>
          <p:cNvSpPr>
            <a:spLocks noGrp="1"/>
          </p:cNvSpPr>
          <p:nvPr/>
        </p:nvSpPr>
        <p:spPr>
          <a:xfrm>
            <a:off x="392906" y="1014413"/>
            <a:ext cx="1357313" cy="242888"/>
          </a:xfrm>
          <a:prstGeom prst="rect">
            <a:avLst/>
          </a:prstGeom>
          <a:ln w="0"/>
        </p:spPr>
        <p:txBody>
          <a:bodyPr anchor="ctr">
            <a:normAutofit fontScale="98100"/>
          </a:bodyPr>
          <a:lstStyle/>
          <a:p>
            <a:pPr algn="l">
              <a:defRPr sz="1013" b="1">
                <a:solidFill>
                  <a:srgbClr val="29D996"/>
                </a:solidFill>
                <a:latin typeface="Arial"/>
                <a:ea typeface="Arial"/>
                <a:cs typeface="Arial"/>
              </a:defRPr>
            </a:pPr>
            <a:r>
              <a:rPr sz="1013" b="1">
                <a:solidFill>
                  <a:srgbClr val="29D996"/>
                </a:solidFill>
                <a:latin typeface="Arial"/>
                <a:ea typeface="Arial"/>
                <a:cs typeface="Arial"/>
              </a:rPr>
              <a:t>Situación</a:t>
            </a:r>
          </a:p>
        </p:txBody>
      </p:sp>
      <p:sp>
        <p:nvSpPr>
          <p:cNvPr id="6" name="Rectángulo 5">
            <a:extLst>
              <a:ext uri="{FF2B5EF4-FFF2-40B4-BE49-F238E27FC236}">
                <a16:creationId xmlns:a16="http://schemas.microsoft.com/office/drawing/2014/main" id="{84AC5308-F0E5-4587-9CE7-3C5CD5072B58}"/>
              </a:ext>
            </a:extLst>
          </p:cNvPr>
          <p:cNvSpPr>
            <a:spLocks noGrp="1"/>
          </p:cNvSpPr>
          <p:nvPr/>
        </p:nvSpPr>
        <p:spPr>
          <a:xfrm>
            <a:off x="392906" y="1285875"/>
            <a:ext cx="8072438" cy="414338"/>
          </a:xfrm>
          <a:prstGeom prst="rect">
            <a:avLst/>
          </a:prstGeom>
          <a:ln w="0"/>
        </p:spPr>
        <p:txBody>
          <a:bodyPr anchor="ctr">
            <a:normAutofit/>
          </a:bodyPr>
          <a:lstStyle/>
          <a:p>
            <a:pPr algn="l">
              <a:defRPr sz="1294" b="1">
                <a:solidFill>
                  <a:srgbClr val="F4F7FB"/>
                </a:solidFill>
                <a:latin typeface="Arial"/>
                <a:ea typeface="Arial"/>
                <a:cs typeface="Arial"/>
              </a:defRPr>
            </a:pPr>
            <a:r>
              <a:rPr sz="1294" b="1">
                <a:solidFill>
                  <a:srgbClr val="F4F7FB"/>
                </a:solidFill>
                <a:latin typeface="Arial"/>
                <a:ea typeface="Arial"/>
                <a:cs typeface="Arial"/>
              </a:rPr>
              <a:t>Una clínica veterinaria registra mascotas y citas. Cada cita pertenece a una mascota.</a:t>
            </a:r>
          </a:p>
        </p:txBody>
      </p:sp>
      <p:sp>
        <p:nvSpPr>
          <p:cNvPr id="7" name="Rectángulo: esquinas redondeadas 6">
            <a:extLst>
              <a:ext uri="{FF2B5EF4-FFF2-40B4-BE49-F238E27FC236}">
                <a16:creationId xmlns:a16="http://schemas.microsoft.com/office/drawing/2014/main" id="{24FDF3E0-FB17-4844-84D1-103B25B5F8F2}"/>
              </a:ext>
            </a:extLst>
          </p:cNvPr>
          <p:cNvSpPr>
            <a:spLocks noGrp="1"/>
          </p:cNvSpPr>
          <p:nvPr/>
        </p:nvSpPr>
        <p:spPr>
          <a:xfrm>
            <a:off x="392906" y="2035969"/>
            <a:ext cx="2464594" cy="1750219"/>
          </a:xfrm>
          <a:prstGeom prst="roundRect">
            <a:avLst>
              <a:gd name="adj" fmla="val 4354"/>
            </a:avLst>
          </a:prstGeom>
          <a:solidFill>
            <a:srgbClr val="111D2D"/>
          </a:solidFill>
          <a:ln w="13335">
            <a:solidFill>
              <a:srgbClr val="29D996"/>
            </a:solidFill>
          </a:ln>
        </p:spPr>
        <p:txBody>
          <a:bodyPr/>
          <a:lstStyle/>
          <a:p>
            <a:endParaRPr lang="es-CO"/>
          </a:p>
        </p:txBody>
      </p:sp>
      <p:sp>
        <p:nvSpPr>
          <p:cNvPr id="8" name="Rectángulo 7">
            <a:extLst>
              <a:ext uri="{FF2B5EF4-FFF2-40B4-BE49-F238E27FC236}">
                <a16:creationId xmlns:a16="http://schemas.microsoft.com/office/drawing/2014/main" id="{E03E3DB6-B1F7-46FF-96DF-858BDB1948C3}"/>
              </a:ext>
            </a:extLst>
          </p:cNvPr>
          <p:cNvSpPr>
            <a:spLocks noGrp="1"/>
          </p:cNvSpPr>
          <p:nvPr/>
        </p:nvSpPr>
        <p:spPr>
          <a:xfrm>
            <a:off x="521494" y="2150269"/>
            <a:ext cx="357188" cy="242888"/>
          </a:xfrm>
          <a:prstGeom prst="rect">
            <a:avLst/>
          </a:prstGeom>
          <a:ln w="0"/>
        </p:spPr>
        <p:txBody>
          <a:bodyPr anchor="ctr">
            <a:normAutofit fontScale="98100"/>
          </a:bodyPr>
          <a:lstStyle/>
          <a:p>
            <a:pPr algn="l">
              <a:defRPr sz="1013" b="1">
                <a:solidFill>
                  <a:srgbClr val="29D996"/>
                </a:solidFill>
                <a:latin typeface="Arial"/>
                <a:ea typeface="Arial"/>
                <a:cs typeface="Arial"/>
              </a:defRPr>
            </a:pPr>
            <a:r>
              <a:rPr sz="1013" b="1">
                <a:solidFill>
                  <a:srgbClr val="29D996"/>
                </a:solidFill>
                <a:latin typeface="Arial"/>
                <a:ea typeface="Arial"/>
                <a:cs typeface="Arial"/>
              </a:rPr>
              <a:t>01</a:t>
            </a:r>
          </a:p>
        </p:txBody>
      </p:sp>
      <p:sp>
        <p:nvSpPr>
          <p:cNvPr id="9" name="Rectángulo 8">
            <a:extLst>
              <a:ext uri="{FF2B5EF4-FFF2-40B4-BE49-F238E27FC236}">
                <a16:creationId xmlns:a16="http://schemas.microsoft.com/office/drawing/2014/main" id="{26962D32-5487-4252-AA73-539D84224FFB}"/>
              </a:ext>
            </a:extLst>
          </p:cNvPr>
          <p:cNvSpPr>
            <a:spLocks noGrp="1"/>
          </p:cNvSpPr>
          <p:nvPr/>
        </p:nvSpPr>
        <p:spPr>
          <a:xfrm>
            <a:off x="521494" y="2407444"/>
            <a:ext cx="2207419"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Modelo conceptual</a:t>
            </a:r>
          </a:p>
        </p:txBody>
      </p:sp>
      <p:sp>
        <p:nvSpPr>
          <p:cNvPr id="10" name="Rectángulo 9">
            <a:extLst>
              <a:ext uri="{FF2B5EF4-FFF2-40B4-BE49-F238E27FC236}">
                <a16:creationId xmlns:a16="http://schemas.microsoft.com/office/drawing/2014/main" id="{2AE4C9E2-0F1D-44F9-BAB0-9763A6502619}"/>
              </a:ext>
            </a:extLst>
          </p:cNvPr>
          <p:cNvSpPr>
            <a:spLocks noGrp="1"/>
          </p:cNvSpPr>
          <p:nvPr/>
        </p:nvSpPr>
        <p:spPr>
          <a:xfrm>
            <a:off x="521494" y="2686050"/>
            <a:ext cx="2207419" cy="992981"/>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Identifique las clases, sus atributos principales y la cardinalidad.</a:t>
            </a:r>
          </a:p>
        </p:txBody>
      </p:sp>
      <p:sp>
        <p:nvSpPr>
          <p:cNvPr id="11" name="Rectángulo: esquinas redondeadas 10">
            <a:extLst>
              <a:ext uri="{FF2B5EF4-FFF2-40B4-BE49-F238E27FC236}">
                <a16:creationId xmlns:a16="http://schemas.microsoft.com/office/drawing/2014/main" id="{F7A1844C-8946-4BE1-8FEE-3365A405ABDA}"/>
              </a:ext>
            </a:extLst>
          </p:cNvPr>
          <p:cNvSpPr>
            <a:spLocks noGrp="1"/>
          </p:cNvSpPr>
          <p:nvPr/>
        </p:nvSpPr>
        <p:spPr>
          <a:xfrm>
            <a:off x="3193256" y="2035969"/>
            <a:ext cx="2464594" cy="1750219"/>
          </a:xfrm>
          <a:prstGeom prst="roundRect">
            <a:avLst>
              <a:gd name="adj" fmla="val 4354"/>
            </a:avLst>
          </a:prstGeom>
          <a:solidFill>
            <a:srgbClr val="111D2D"/>
          </a:solidFill>
          <a:ln w="13335">
            <a:solidFill>
              <a:srgbClr val="35B8E8"/>
            </a:solidFill>
          </a:ln>
        </p:spPr>
        <p:txBody>
          <a:bodyPr/>
          <a:lstStyle/>
          <a:p>
            <a:endParaRPr lang="es-CO"/>
          </a:p>
        </p:txBody>
      </p:sp>
      <p:sp>
        <p:nvSpPr>
          <p:cNvPr id="12" name="Rectángulo 11">
            <a:extLst>
              <a:ext uri="{FF2B5EF4-FFF2-40B4-BE49-F238E27FC236}">
                <a16:creationId xmlns:a16="http://schemas.microsoft.com/office/drawing/2014/main" id="{0C4A72BE-A736-4CAA-A8EE-1AC5B463264D}"/>
              </a:ext>
            </a:extLst>
          </p:cNvPr>
          <p:cNvSpPr>
            <a:spLocks noGrp="1"/>
          </p:cNvSpPr>
          <p:nvPr/>
        </p:nvSpPr>
        <p:spPr>
          <a:xfrm>
            <a:off x="3321844" y="2150269"/>
            <a:ext cx="357188" cy="242888"/>
          </a:xfrm>
          <a:prstGeom prst="rect">
            <a:avLst/>
          </a:prstGeom>
          <a:ln w="0"/>
        </p:spPr>
        <p:txBody>
          <a:bodyPr anchor="ctr">
            <a:normAutofit fontScale="98100"/>
          </a:bodyPr>
          <a:lstStyle/>
          <a:p>
            <a:pPr algn="l">
              <a:defRPr sz="1013" b="1">
                <a:solidFill>
                  <a:srgbClr val="35B8E8"/>
                </a:solidFill>
                <a:latin typeface="Arial"/>
                <a:ea typeface="Arial"/>
                <a:cs typeface="Arial"/>
              </a:defRPr>
            </a:pPr>
            <a:r>
              <a:rPr sz="1013" b="1">
                <a:solidFill>
                  <a:srgbClr val="35B8E8"/>
                </a:solidFill>
                <a:latin typeface="Arial"/>
                <a:ea typeface="Arial"/>
                <a:cs typeface="Arial"/>
              </a:rPr>
              <a:t>02</a:t>
            </a:r>
          </a:p>
        </p:txBody>
      </p:sp>
      <p:sp>
        <p:nvSpPr>
          <p:cNvPr id="13" name="Rectángulo 12">
            <a:extLst>
              <a:ext uri="{FF2B5EF4-FFF2-40B4-BE49-F238E27FC236}">
                <a16:creationId xmlns:a16="http://schemas.microsoft.com/office/drawing/2014/main" id="{2A4D787E-B843-4A62-94AF-8327B92D821A}"/>
              </a:ext>
            </a:extLst>
          </p:cNvPr>
          <p:cNvSpPr>
            <a:spLocks noGrp="1"/>
          </p:cNvSpPr>
          <p:nvPr/>
        </p:nvSpPr>
        <p:spPr>
          <a:xfrm>
            <a:off x="3321844" y="2407444"/>
            <a:ext cx="2207419"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Modelo navegacional</a:t>
            </a:r>
          </a:p>
        </p:txBody>
      </p:sp>
      <p:sp>
        <p:nvSpPr>
          <p:cNvPr id="14" name="Rectángulo 13">
            <a:extLst>
              <a:ext uri="{FF2B5EF4-FFF2-40B4-BE49-F238E27FC236}">
                <a16:creationId xmlns:a16="http://schemas.microsoft.com/office/drawing/2014/main" id="{4AE8C3A6-445F-4906-99FC-D9C64E919BB3}"/>
              </a:ext>
            </a:extLst>
          </p:cNvPr>
          <p:cNvSpPr>
            <a:spLocks noGrp="1"/>
          </p:cNvSpPr>
          <p:nvPr/>
        </p:nvSpPr>
        <p:spPr>
          <a:xfrm>
            <a:off x="3321844" y="2686050"/>
            <a:ext cx="2207419" cy="992981"/>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Proponga los nodos y enlaces del recorrido para registrar una cita.</a:t>
            </a:r>
          </a:p>
        </p:txBody>
      </p:sp>
      <p:sp>
        <p:nvSpPr>
          <p:cNvPr id="15" name="Rectángulo: esquinas redondeadas 14">
            <a:extLst>
              <a:ext uri="{FF2B5EF4-FFF2-40B4-BE49-F238E27FC236}">
                <a16:creationId xmlns:a16="http://schemas.microsoft.com/office/drawing/2014/main" id="{A1FC4889-C8D7-4CE2-9F8A-A9A9FBBB2F56}"/>
              </a:ext>
            </a:extLst>
          </p:cNvPr>
          <p:cNvSpPr>
            <a:spLocks noGrp="1"/>
          </p:cNvSpPr>
          <p:nvPr/>
        </p:nvSpPr>
        <p:spPr>
          <a:xfrm>
            <a:off x="6000750" y="2035969"/>
            <a:ext cx="2464594" cy="1750219"/>
          </a:xfrm>
          <a:prstGeom prst="roundRect">
            <a:avLst>
              <a:gd name="adj" fmla="val 4354"/>
            </a:avLst>
          </a:prstGeom>
          <a:solidFill>
            <a:srgbClr val="111D2D"/>
          </a:solidFill>
          <a:ln w="13335">
            <a:solidFill>
              <a:srgbClr val="F3A846"/>
            </a:solidFill>
          </a:ln>
        </p:spPr>
        <p:txBody>
          <a:bodyPr/>
          <a:lstStyle/>
          <a:p>
            <a:endParaRPr lang="es-CO"/>
          </a:p>
        </p:txBody>
      </p:sp>
      <p:sp>
        <p:nvSpPr>
          <p:cNvPr id="16" name="Rectángulo 15">
            <a:extLst>
              <a:ext uri="{FF2B5EF4-FFF2-40B4-BE49-F238E27FC236}">
                <a16:creationId xmlns:a16="http://schemas.microsoft.com/office/drawing/2014/main" id="{30EFBAF6-8F70-49C4-B79D-C6AF6D634B98}"/>
              </a:ext>
            </a:extLst>
          </p:cNvPr>
          <p:cNvSpPr>
            <a:spLocks noGrp="1"/>
          </p:cNvSpPr>
          <p:nvPr/>
        </p:nvSpPr>
        <p:spPr>
          <a:xfrm>
            <a:off x="6129338" y="2150269"/>
            <a:ext cx="357188" cy="242888"/>
          </a:xfrm>
          <a:prstGeom prst="rect">
            <a:avLst/>
          </a:prstGeom>
          <a:ln w="0"/>
        </p:spPr>
        <p:txBody>
          <a:bodyPr anchor="ctr">
            <a:normAutofit fontScale="98100"/>
          </a:bodyPr>
          <a:lstStyle/>
          <a:p>
            <a:pPr algn="l">
              <a:defRPr sz="1013" b="1">
                <a:solidFill>
                  <a:srgbClr val="F3A846"/>
                </a:solidFill>
                <a:latin typeface="Arial"/>
                <a:ea typeface="Arial"/>
                <a:cs typeface="Arial"/>
              </a:defRPr>
            </a:pPr>
            <a:r>
              <a:rPr sz="1013" b="1">
                <a:solidFill>
                  <a:srgbClr val="F3A846"/>
                </a:solidFill>
                <a:latin typeface="Arial"/>
                <a:ea typeface="Arial"/>
                <a:cs typeface="Arial"/>
              </a:rPr>
              <a:t>03</a:t>
            </a:r>
          </a:p>
        </p:txBody>
      </p:sp>
      <p:sp>
        <p:nvSpPr>
          <p:cNvPr id="17" name="Rectángulo 16">
            <a:extLst>
              <a:ext uri="{FF2B5EF4-FFF2-40B4-BE49-F238E27FC236}">
                <a16:creationId xmlns:a16="http://schemas.microsoft.com/office/drawing/2014/main" id="{8BEED278-094C-4041-BFFA-C7D3B1E55403}"/>
              </a:ext>
            </a:extLst>
          </p:cNvPr>
          <p:cNvSpPr>
            <a:spLocks noGrp="1"/>
          </p:cNvSpPr>
          <p:nvPr/>
        </p:nvSpPr>
        <p:spPr>
          <a:xfrm>
            <a:off x="6129338" y="2407444"/>
            <a:ext cx="2207419" cy="271463"/>
          </a:xfrm>
          <a:prstGeom prst="rect">
            <a:avLst/>
          </a:prstGeom>
          <a:ln w="0"/>
        </p:spPr>
        <p:txBody>
          <a:bodyPr anchor="ctr">
            <a:normAutofit/>
          </a:bodyPr>
          <a:lstStyle/>
          <a:p>
            <a:pPr algn="l">
              <a:defRPr sz="1125" b="1">
                <a:solidFill>
                  <a:srgbClr val="F4F7FB"/>
                </a:solidFill>
                <a:latin typeface="Arial"/>
                <a:ea typeface="Arial"/>
                <a:cs typeface="Arial"/>
              </a:defRPr>
            </a:pPr>
            <a:r>
              <a:rPr sz="1125" b="1">
                <a:solidFill>
                  <a:srgbClr val="F4F7FB"/>
                </a:solidFill>
                <a:latin typeface="Arial"/>
                <a:ea typeface="Arial"/>
                <a:cs typeface="Arial"/>
              </a:rPr>
              <a:t>Interfaz abstracta</a:t>
            </a:r>
          </a:p>
        </p:txBody>
      </p:sp>
      <p:sp>
        <p:nvSpPr>
          <p:cNvPr id="18" name="Rectángulo 17">
            <a:extLst>
              <a:ext uri="{FF2B5EF4-FFF2-40B4-BE49-F238E27FC236}">
                <a16:creationId xmlns:a16="http://schemas.microsoft.com/office/drawing/2014/main" id="{0EC0D738-F1EA-4D6E-80C8-6962DE59908D}"/>
              </a:ext>
            </a:extLst>
          </p:cNvPr>
          <p:cNvSpPr>
            <a:spLocks noGrp="1"/>
          </p:cNvSpPr>
          <p:nvPr/>
        </p:nvSpPr>
        <p:spPr>
          <a:xfrm>
            <a:off x="6129338" y="2686050"/>
            <a:ext cx="2207419" cy="992981"/>
          </a:xfrm>
          <a:prstGeom prst="rect">
            <a:avLst/>
          </a:prstGeom>
          <a:ln w="0"/>
        </p:spPr>
        <p:txBody>
          <a:bodyPr anchor="ctr">
            <a:normAutofit/>
          </a:bodyPr>
          <a:lstStyle/>
          <a:p>
            <a:pPr algn="l">
              <a:defRPr sz="844" b="0">
                <a:solidFill>
                  <a:srgbClr val="A9B8CB"/>
                </a:solidFill>
                <a:latin typeface="Arial"/>
                <a:ea typeface="Arial"/>
                <a:cs typeface="Arial"/>
              </a:defRPr>
            </a:pPr>
            <a:r>
              <a:rPr sz="844" b="0">
                <a:solidFill>
                  <a:srgbClr val="A9B8CB"/>
                </a:solidFill>
                <a:latin typeface="Arial"/>
                <a:ea typeface="Arial"/>
                <a:cs typeface="Arial"/>
              </a:rPr>
              <a:t>Defina qué se muestra, qué escribe el usuario y qué asigna el servidor.</a:t>
            </a:r>
          </a:p>
        </p:txBody>
      </p:sp>
      <p:sp>
        <p:nvSpPr>
          <p:cNvPr id="19" name="Rectángulo 18">
            <a:extLst>
              <a:ext uri="{FF2B5EF4-FFF2-40B4-BE49-F238E27FC236}">
                <a16:creationId xmlns:a16="http://schemas.microsoft.com/office/drawing/2014/main" id="{5013A999-EB8C-47ED-81E5-5938D01D5326}"/>
              </a:ext>
            </a:extLst>
          </p:cNvPr>
          <p:cNvSpPr>
            <a:spLocks noGrp="1"/>
          </p:cNvSpPr>
          <p:nvPr/>
        </p:nvSpPr>
        <p:spPr>
          <a:xfrm>
            <a:off x="392906" y="4036219"/>
            <a:ext cx="8072438" cy="321469"/>
          </a:xfrm>
          <a:prstGeom prst="rect">
            <a:avLst/>
          </a:prstGeom>
          <a:ln w="0"/>
        </p:spPr>
        <p:txBody>
          <a:bodyPr anchor="ctr">
            <a:normAutofit/>
          </a:bodyPr>
          <a:lstStyle/>
          <a:p>
            <a:pPr algn="ctr">
              <a:defRPr sz="1013" b="1">
                <a:solidFill>
                  <a:srgbClr val="A9B8CB"/>
                </a:solidFill>
                <a:latin typeface="Arial"/>
                <a:ea typeface="Arial"/>
                <a:cs typeface="Arial"/>
              </a:defRPr>
            </a:pPr>
            <a:r>
              <a:rPr sz="1013" b="1">
                <a:solidFill>
                  <a:srgbClr val="A9B8CB"/>
                </a:solidFill>
                <a:latin typeface="Arial"/>
                <a:ea typeface="Arial"/>
                <a:cs typeface="Arial"/>
              </a:rPr>
              <a:t>Producto: un esquema breve por equipo. No se programa durante esta actividad.</a:t>
            </a:r>
          </a:p>
        </p:txBody>
      </p:sp>
    </p:spTree>
    <p:extLst>
      <p:ext uri="{BB962C8B-B14F-4D97-AF65-F5344CB8AC3E}">
        <p14:creationId xmlns:p14="http://schemas.microsoft.com/office/powerpoint/2010/main" val="96791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6406A90-3CD6-43A8-86F9-918C8DFE1C92}"/>
              </a:ext>
            </a:extLst>
          </p:cNvPr>
          <p:cNvSpPr>
            <a:spLocks noGrp="1"/>
          </p:cNvSpPr>
          <p:nvPr/>
        </p:nvSpPr>
        <p:spPr>
          <a:xfrm>
            <a:off x="502920" y="365760"/>
            <a:ext cx="740664" cy="228600"/>
          </a:xfrm>
          <a:prstGeom prst="roundRect">
            <a:avLst>
              <a:gd name="adj" fmla="val 48000"/>
            </a:avLst>
          </a:prstGeom>
          <a:solidFill>
            <a:srgbClr val="132A24"/>
          </a:solidFill>
          <a:ln w="9525">
            <a:solidFill>
              <a:srgbClr val="3DDC97"/>
            </a:solidFill>
            <a:prstDash val="solid"/>
          </a:ln>
        </p:spPr>
        <p:txBody>
          <a:bodyPr/>
          <a:lstStyle/>
          <a:p>
            <a:endParaRPr/>
          </a:p>
        </p:txBody>
      </p:sp>
      <p:sp>
        <p:nvSpPr>
          <p:cNvPr id="3" name="Text 1">
            <a:extLst>
              <a:ext uri="{FF2B5EF4-FFF2-40B4-BE49-F238E27FC236}">
                <a16:creationId xmlns:a16="http://schemas.microsoft.com/office/drawing/2014/main" id="{4A6BA9E2-1919-4632-AE78-0DF515E198BB}"/>
              </a:ext>
            </a:extLst>
          </p:cNvPr>
          <p:cNvSpPr>
            <a:spLocks noGrp="1"/>
          </p:cNvSpPr>
          <p:nvPr/>
        </p:nvSpPr>
        <p:spPr>
          <a:xfrm>
            <a:off x="502920" y="365760"/>
            <a:ext cx="740664" cy="228600"/>
          </a:xfrm>
          <a:prstGeom prst="rect">
            <a:avLst/>
          </a:prstGeom>
          <a:noFill/>
        </p:spPr>
        <p:txBody>
          <a:bodyPr wrap="square" lIns="0" tIns="0" rIns="0" bIns="0" anchor="ctr"/>
          <a:lstStyle/>
          <a:p>
            <a:pPr marL="0" indent="0" algn="ctr">
              <a:buNone/>
            </a:pPr>
            <a:r>
              <a:rPr sz="850" b="1">
                <a:solidFill>
                  <a:srgbClr val="3DDC97"/>
                </a:solidFill>
                <a:latin typeface="Arial"/>
                <a:ea typeface="Arial"/>
                <a:cs typeface="Arial"/>
              </a:rPr>
              <a:t>CIERRE</a:t>
            </a:r>
            <a:endParaRPr sz="850"/>
          </a:p>
        </p:txBody>
      </p:sp>
      <p:sp>
        <p:nvSpPr>
          <p:cNvPr id="4" name="Text 2">
            <a:extLst>
              <a:ext uri="{FF2B5EF4-FFF2-40B4-BE49-F238E27FC236}">
                <a16:creationId xmlns:a16="http://schemas.microsoft.com/office/drawing/2014/main" id="{00755E82-0153-4683-AD44-444F3698E1C1}"/>
              </a:ext>
            </a:extLst>
          </p:cNvPr>
          <p:cNvSpPr>
            <a:spLocks noGrp="1"/>
          </p:cNvSpPr>
          <p:nvPr/>
        </p:nvSpPr>
        <p:spPr>
          <a:xfrm>
            <a:off x="475488" y="658368"/>
            <a:ext cx="8138160" cy="438912"/>
          </a:xfrm>
          <a:prstGeom prst="rect">
            <a:avLst/>
          </a:prstGeom>
          <a:noFill/>
        </p:spPr>
        <p:txBody>
          <a:bodyPr wrap="square" lIns="0" tIns="0" rIns="0" bIns="0" anchor="ctr"/>
          <a:lstStyle/>
          <a:p>
            <a:pPr marL="0" indent="0">
              <a:buNone/>
            </a:pPr>
            <a:r>
              <a:rPr sz="2300" b="1">
                <a:solidFill>
                  <a:srgbClr val="FFFFFF"/>
                </a:solidFill>
                <a:latin typeface="Arial"/>
                <a:ea typeface="Arial"/>
                <a:cs typeface="Arial"/>
              </a:rPr>
              <a:t>Conclusiones y referencias</a:t>
            </a:r>
            <a:endParaRPr sz="2300"/>
          </a:p>
        </p:txBody>
      </p:sp>
      <p:sp>
        <p:nvSpPr>
          <p:cNvPr id="5" name="Text 3">
            <a:extLst>
              <a:ext uri="{FF2B5EF4-FFF2-40B4-BE49-F238E27FC236}">
                <a16:creationId xmlns:a16="http://schemas.microsoft.com/office/drawing/2014/main" id="{B43697F2-9ECC-4DCE-BFC8-57820AA0B924}"/>
              </a:ext>
            </a:extLst>
          </p:cNvPr>
          <p:cNvSpPr>
            <a:spLocks noGrp="1"/>
          </p:cNvSpPr>
          <p:nvPr/>
        </p:nvSpPr>
        <p:spPr>
          <a:xfrm>
            <a:off x="4937760" y="4718304"/>
            <a:ext cx="3703320" cy="201168"/>
          </a:xfrm>
          <a:prstGeom prst="rect">
            <a:avLst/>
          </a:prstGeom>
          <a:noFill/>
        </p:spPr>
        <p:txBody>
          <a:bodyPr wrap="square" lIns="0" tIns="0" rIns="0" bIns="0" anchor="ctr"/>
          <a:lstStyle/>
          <a:p>
            <a:pPr marL="0" indent="0" algn="r">
              <a:buNone/>
            </a:pPr>
            <a:r>
              <a:rPr sz="800">
                <a:solidFill>
                  <a:srgbClr val="6C7E96"/>
                </a:solidFill>
                <a:latin typeface="Arial"/>
                <a:ea typeface="Arial"/>
                <a:cs typeface="Arial"/>
              </a:rPr>
              <a:t>Metodologías de desarrollo web  ·  24 / 24</a:t>
            </a:r>
            <a:endParaRPr sz="800"/>
          </a:p>
        </p:txBody>
      </p:sp>
      <p:sp>
        <p:nvSpPr>
          <p:cNvPr id="6" name="Shape 4">
            <a:extLst>
              <a:ext uri="{FF2B5EF4-FFF2-40B4-BE49-F238E27FC236}">
                <a16:creationId xmlns:a16="http://schemas.microsoft.com/office/drawing/2014/main" id="{5587B67B-34E3-43DB-B41A-2358A8FAE581}"/>
              </a:ext>
            </a:extLst>
          </p:cNvPr>
          <p:cNvSpPr>
            <a:spLocks noGrp="1"/>
          </p:cNvSpPr>
          <p:nvPr/>
        </p:nvSpPr>
        <p:spPr>
          <a:xfrm>
            <a:off x="502920" y="1188720"/>
            <a:ext cx="2615184" cy="1463040"/>
          </a:xfrm>
          <a:prstGeom prst="roundRect">
            <a:avLst>
              <a:gd name="adj" fmla="val 3125"/>
            </a:avLst>
          </a:prstGeom>
          <a:solidFill>
            <a:srgbClr val="1A2434"/>
          </a:solidFill>
          <a:ln w="12700">
            <a:solidFill>
              <a:srgbClr val="3DDC97"/>
            </a:solidFill>
            <a:prstDash val="solid"/>
          </a:ln>
        </p:spPr>
        <p:txBody>
          <a:bodyPr/>
          <a:lstStyle/>
          <a:p>
            <a:endParaRPr/>
          </a:p>
        </p:txBody>
      </p:sp>
      <p:sp>
        <p:nvSpPr>
          <p:cNvPr id="7" name="Text 5">
            <a:extLst>
              <a:ext uri="{FF2B5EF4-FFF2-40B4-BE49-F238E27FC236}">
                <a16:creationId xmlns:a16="http://schemas.microsoft.com/office/drawing/2014/main" id="{F16A61A7-93B8-4D1E-A620-DC078314573D}"/>
              </a:ext>
            </a:extLst>
          </p:cNvPr>
          <p:cNvSpPr>
            <a:spLocks noGrp="1"/>
          </p:cNvSpPr>
          <p:nvPr/>
        </p:nvSpPr>
        <p:spPr>
          <a:xfrm>
            <a:off x="649224" y="1307592"/>
            <a:ext cx="2322576" cy="237744"/>
          </a:xfrm>
          <a:prstGeom prst="rect">
            <a:avLst/>
          </a:prstGeom>
          <a:noFill/>
        </p:spPr>
        <p:txBody>
          <a:bodyPr wrap="square" lIns="0" tIns="0" rIns="0" bIns="0" anchor="ctr"/>
          <a:lstStyle/>
          <a:p>
            <a:pPr marL="0" indent="0">
              <a:buNone/>
            </a:pPr>
            <a:r>
              <a:rPr sz="1050" b="1">
                <a:solidFill>
                  <a:srgbClr val="3DDC97"/>
                </a:solidFill>
                <a:latin typeface="Arial"/>
                <a:ea typeface="Arial"/>
                <a:cs typeface="Arial"/>
              </a:rPr>
              <a:t>Una metodología ordena decisiones</a:t>
            </a:r>
            <a:endParaRPr sz="1050"/>
          </a:p>
        </p:txBody>
      </p:sp>
      <p:sp>
        <p:nvSpPr>
          <p:cNvPr id="8" name="Text 6">
            <a:extLst>
              <a:ext uri="{FF2B5EF4-FFF2-40B4-BE49-F238E27FC236}">
                <a16:creationId xmlns:a16="http://schemas.microsoft.com/office/drawing/2014/main" id="{BCADF192-6926-4B9A-903D-BEFA6A0509C9}"/>
              </a:ext>
            </a:extLst>
          </p:cNvPr>
          <p:cNvSpPr>
            <a:spLocks noGrp="1"/>
          </p:cNvSpPr>
          <p:nvPr/>
        </p:nvSpPr>
        <p:spPr>
          <a:xfrm>
            <a:off x="649224" y="1581912"/>
            <a:ext cx="2322576" cy="960120"/>
          </a:xfrm>
          <a:prstGeom prst="rect">
            <a:avLst/>
          </a:prstGeom>
          <a:noFill/>
        </p:spPr>
        <p:txBody>
          <a:bodyPr wrap="square" lIns="0" tIns="0" rIns="0" bIns="0" anchor="t"/>
          <a:lstStyle/>
          <a:p>
            <a:pPr marL="0" indent="0">
              <a:lnSpc>
                <a:spcPct val="112000"/>
              </a:lnSpc>
              <a:buNone/>
            </a:pPr>
            <a:r>
              <a:rPr sz="950">
                <a:solidFill>
                  <a:srgbClr val="E8EEF6"/>
                </a:solidFill>
                <a:latin typeface="Calibri"/>
                <a:ea typeface="Calibri"/>
                <a:cs typeface="Calibri"/>
              </a:rPr>
              <a:t>No reemplaza lenguajes ni herramientas: establece qué se decide primero y qué modelo queda documentado.</a:t>
            </a:r>
            <a:endParaRPr sz="950"/>
          </a:p>
        </p:txBody>
      </p:sp>
      <p:sp>
        <p:nvSpPr>
          <p:cNvPr id="9" name="Shape 7">
            <a:extLst>
              <a:ext uri="{FF2B5EF4-FFF2-40B4-BE49-F238E27FC236}">
                <a16:creationId xmlns:a16="http://schemas.microsoft.com/office/drawing/2014/main" id="{B7C7658A-8F4D-4864-93C9-C871FF9988D3}"/>
              </a:ext>
            </a:extLst>
          </p:cNvPr>
          <p:cNvSpPr>
            <a:spLocks noGrp="1"/>
          </p:cNvSpPr>
          <p:nvPr/>
        </p:nvSpPr>
        <p:spPr>
          <a:xfrm>
            <a:off x="3264408" y="1188720"/>
            <a:ext cx="2615184" cy="1463040"/>
          </a:xfrm>
          <a:prstGeom prst="roundRect">
            <a:avLst>
              <a:gd name="adj" fmla="val 3125"/>
            </a:avLst>
          </a:prstGeom>
          <a:solidFill>
            <a:srgbClr val="1A2434"/>
          </a:solidFill>
          <a:ln w="12700">
            <a:solidFill>
              <a:srgbClr val="56C7F2"/>
            </a:solidFill>
            <a:prstDash val="solid"/>
          </a:ln>
        </p:spPr>
        <p:txBody>
          <a:bodyPr/>
          <a:lstStyle/>
          <a:p>
            <a:endParaRPr/>
          </a:p>
        </p:txBody>
      </p:sp>
      <p:sp>
        <p:nvSpPr>
          <p:cNvPr id="10" name="Text 8">
            <a:extLst>
              <a:ext uri="{FF2B5EF4-FFF2-40B4-BE49-F238E27FC236}">
                <a16:creationId xmlns:a16="http://schemas.microsoft.com/office/drawing/2014/main" id="{5E3DF3B8-B951-4DA7-9EFC-1BBD468DD9BB}"/>
              </a:ext>
            </a:extLst>
          </p:cNvPr>
          <p:cNvSpPr>
            <a:spLocks noGrp="1"/>
          </p:cNvSpPr>
          <p:nvPr/>
        </p:nvSpPr>
        <p:spPr>
          <a:xfrm>
            <a:off x="3410712" y="1307592"/>
            <a:ext cx="2322576" cy="237744"/>
          </a:xfrm>
          <a:prstGeom prst="rect">
            <a:avLst/>
          </a:prstGeom>
          <a:noFill/>
        </p:spPr>
        <p:txBody>
          <a:bodyPr wrap="square" lIns="0" tIns="0" rIns="0" bIns="0" anchor="ctr"/>
          <a:lstStyle/>
          <a:p>
            <a:pPr marL="0" indent="0">
              <a:buNone/>
            </a:pPr>
            <a:r>
              <a:rPr sz="1050" b="1">
                <a:solidFill>
                  <a:srgbClr val="56C7F2"/>
                </a:solidFill>
                <a:latin typeface="Arial"/>
                <a:ea typeface="Arial"/>
                <a:cs typeface="Arial"/>
              </a:rPr>
              <a:t>Las propuestas no son equivalentes</a:t>
            </a:r>
            <a:endParaRPr sz="1050"/>
          </a:p>
        </p:txBody>
      </p:sp>
      <p:sp>
        <p:nvSpPr>
          <p:cNvPr id="11" name="Text 9">
            <a:extLst>
              <a:ext uri="{FF2B5EF4-FFF2-40B4-BE49-F238E27FC236}">
                <a16:creationId xmlns:a16="http://schemas.microsoft.com/office/drawing/2014/main" id="{E3D42809-EFA1-4360-A8EF-F578417DF82D}"/>
              </a:ext>
            </a:extLst>
          </p:cNvPr>
          <p:cNvSpPr>
            <a:spLocks noGrp="1"/>
          </p:cNvSpPr>
          <p:nvPr/>
        </p:nvSpPr>
        <p:spPr>
          <a:xfrm>
            <a:off x="3410712" y="1581912"/>
            <a:ext cx="2322576" cy="960120"/>
          </a:xfrm>
          <a:prstGeom prst="rect">
            <a:avLst/>
          </a:prstGeom>
          <a:noFill/>
        </p:spPr>
        <p:txBody>
          <a:bodyPr wrap="square" lIns="0" tIns="0" rIns="0" bIns="0" anchor="t"/>
          <a:lstStyle/>
          <a:p>
            <a:pPr marL="0" indent="0">
              <a:lnSpc>
                <a:spcPct val="112000"/>
              </a:lnSpc>
              <a:buNone/>
            </a:pPr>
            <a:r>
              <a:rPr sz="950">
                <a:solidFill>
                  <a:srgbClr val="E8EEF6"/>
                </a:solidFill>
                <a:latin typeface="Calibri"/>
                <a:ea typeface="Calibri"/>
                <a:cs typeface="Calibri"/>
              </a:rPr>
              <a:t>El panorama mezcla modelos, métodos de diseño, procesos de ciclo de vida y extensiones de notación.</a:t>
            </a:r>
            <a:endParaRPr sz="950"/>
          </a:p>
        </p:txBody>
      </p:sp>
      <p:sp>
        <p:nvSpPr>
          <p:cNvPr id="12" name="Shape 10">
            <a:extLst>
              <a:ext uri="{FF2B5EF4-FFF2-40B4-BE49-F238E27FC236}">
                <a16:creationId xmlns:a16="http://schemas.microsoft.com/office/drawing/2014/main" id="{C1E03EAC-9817-4FDD-9971-5D566D43E27E}"/>
              </a:ext>
            </a:extLst>
          </p:cNvPr>
          <p:cNvSpPr>
            <a:spLocks noGrp="1"/>
          </p:cNvSpPr>
          <p:nvPr/>
        </p:nvSpPr>
        <p:spPr>
          <a:xfrm>
            <a:off x="6025896" y="1188720"/>
            <a:ext cx="2615184" cy="1463040"/>
          </a:xfrm>
          <a:prstGeom prst="roundRect">
            <a:avLst>
              <a:gd name="adj" fmla="val 3125"/>
            </a:avLst>
          </a:prstGeom>
          <a:solidFill>
            <a:srgbClr val="1A2434"/>
          </a:solidFill>
          <a:ln w="12700">
            <a:solidFill>
              <a:srgbClr val="FFB86C"/>
            </a:solidFill>
            <a:prstDash val="solid"/>
          </a:ln>
        </p:spPr>
        <p:txBody>
          <a:bodyPr/>
          <a:lstStyle/>
          <a:p>
            <a:endParaRPr/>
          </a:p>
        </p:txBody>
      </p:sp>
      <p:sp>
        <p:nvSpPr>
          <p:cNvPr id="13" name="Text 11">
            <a:extLst>
              <a:ext uri="{FF2B5EF4-FFF2-40B4-BE49-F238E27FC236}">
                <a16:creationId xmlns:a16="http://schemas.microsoft.com/office/drawing/2014/main" id="{F234003A-94BA-464F-ACC3-D4724CE48E05}"/>
              </a:ext>
            </a:extLst>
          </p:cNvPr>
          <p:cNvSpPr>
            <a:spLocks noGrp="1"/>
          </p:cNvSpPr>
          <p:nvPr/>
        </p:nvSpPr>
        <p:spPr>
          <a:xfrm>
            <a:off x="6172200" y="1307592"/>
            <a:ext cx="2322576" cy="237744"/>
          </a:xfrm>
          <a:prstGeom prst="rect">
            <a:avLst/>
          </a:prstGeom>
          <a:noFill/>
        </p:spPr>
        <p:txBody>
          <a:bodyPr wrap="square" lIns="0" tIns="0" rIns="0" bIns="0" anchor="ctr"/>
          <a:lstStyle/>
          <a:p>
            <a:pPr marL="0" indent="0">
              <a:buNone/>
            </a:pPr>
            <a:r>
              <a:rPr sz="1050" b="1">
                <a:solidFill>
                  <a:srgbClr val="FFB86C"/>
                </a:solidFill>
                <a:latin typeface="Arial"/>
                <a:ea typeface="Arial"/>
                <a:cs typeface="Arial"/>
              </a:rPr>
              <a:t>OOHDM separa cuatro decisiones</a:t>
            </a:r>
            <a:endParaRPr sz="1050"/>
          </a:p>
        </p:txBody>
      </p:sp>
      <p:sp>
        <p:nvSpPr>
          <p:cNvPr id="14" name="Text 12">
            <a:extLst>
              <a:ext uri="{FF2B5EF4-FFF2-40B4-BE49-F238E27FC236}">
                <a16:creationId xmlns:a16="http://schemas.microsoft.com/office/drawing/2014/main" id="{74F275BF-AEF1-4814-B89A-79E23FF25E8F}"/>
              </a:ext>
            </a:extLst>
          </p:cNvPr>
          <p:cNvSpPr>
            <a:spLocks noGrp="1"/>
          </p:cNvSpPr>
          <p:nvPr/>
        </p:nvSpPr>
        <p:spPr>
          <a:xfrm>
            <a:off x="6172200" y="1581912"/>
            <a:ext cx="2322576" cy="960120"/>
          </a:xfrm>
          <a:prstGeom prst="rect">
            <a:avLst/>
          </a:prstGeom>
          <a:noFill/>
        </p:spPr>
        <p:txBody>
          <a:bodyPr wrap="square" lIns="0" tIns="0" rIns="0" bIns="0" anchor="t"/>
          <a:lstStyle/>
          <a:p>
            <a:pPr marL="0" indent="0">
              <a:lnSpc>
                <a:spcPct val="112000"/>
              </a:lnSpc>
              <a:buNone/>
            </a:pPr>
            <a:r>
              <a:rPr sz="950">
                <a:solidFill>
                  <a:srgbClr val="E8EEF6"/>
                </a:solidFill>
                <a:latin typeface="Calibri"/>
                <a:ea typeface="Calibri"/>
                <a:cs typeface="Calibri"/>
              </a:rPr>
              <a:t>Contenido, recorrido, interfaz y materialización, revisables de forma iterativa, como mostró el ejemplo de soporte.</a:t>
            </a:r>
            <a:endParaRPr sz="950"/>
          </a:p>
        </p:txBody>
      </p:sp>
      <p:sp>
        <p:nvSpPr>
          <p:cNvPr id="15" name="Shape 13">
            <a:extLst>
              <a:ext uri="{FF2B5EF4-FFF2-40B4-BE49-F238E27FC236}">
                <a16:creationId xmlns:a16="http://schemas.microsoft.com/office/drawing/2014/main" id="{11C35D24-5C0A-443E-BBED-E89112B29D06}"/>
              </a:ext>
            </a:extLst>
          </p:cNvPr>
          <p:cNvSpPr>
            <a:spLocks noGrp="1"/>
          </p:cNvSpPr>
          <p:nvPr/>
        </p:nvSpPr>
        <p:spPr>
          <a:xfrm>
            <a:off x="502920" y="2798064"/>
            <a:ext cx="8138160" cy="1700784"/>
          </a:xfrm>
          <a:prstGeom prst="roundRect">
            <a:avLst>
              <a:gd name="adj" fmla="val 2688"/>
            </a:avLst>
          </a:prstGeom>
          <a:solidFill>
            <a:srgbClr val="1A2434"/>
          </a:solidFill>
          <a:ln w="12700">
            <a:solidFill>
              <a:srgbClr val="2B3B52"/>
            </a:solidFill>
            <a:prstDash val="solid"/>
          </a:ln>
        </p:spPr>
        <p:txBody>
          <a:bodyPr/>
          <a:lstStyle/>
          <a:p>
            <a:endParaRPr/>
          </a:p>
        </p:txBody>
      </p:sp>
      <p:sp>
        <p:nvSpPr>
          <p:cNvPr id="16" name="Text 14">
            <a:extLst>
              <a:ext uri="{FF2B5EF4-FFF2-40B4-BE49-F238E27FC236}">
                <a16:creationId xmlns:a16="http://schemas.microsoft.com/office/drawing/2014/main" id="{C880A907-5AEC-4CFF-9FDA-E1AE09E3356C}"/>
              </a:ext>
            </a:extLst>
          </p:cNvPr>
          <p:cNvSpPr>
            <a:spLocks noGrp="1"/>
          </p:cNvSpPr>
          <p:nvPr/>
        </p:nvSpPr>
        <p:spPr>
          <a:xfrm>
            <a:off x="649224" y="2916936"/>
            <a:ext cx="7845552" cy="237744"/>
          </a:xfrm>
          <a:prstGeom prst="rect">
            <a:avLst/>
          </a:prstGeom>
          <a:noFill/>
        </p:spPr>
        <p:txBody>
          <a:bodyPr wrap="square" lIns="0" tIns="0" rIns="0" bIns="0" anchor="ctr"/>
          <a:lstStyle/>
          <a:p>
            <a:pPr marL="0" indent="0">
              <a:buNone/>
            </a:pPr>
            <a:r>
              <a:rPr sz="1150" b="1">
                <a:solidFill>
                  <a:srgbClr val="3DDC97"/>
                </a:solidFill>
                <a:latin typeface="Arial"/>
                <a:ea typeface="Arial"/>
                <a:cs typeface="Arial"/>
              </a:rPr>
              <a:t>Referencias (selección)</a:t>
            </a:r>
            <a:endParaRPr sz="1150"/>
          </a:p>
        </p:txBody>
      </p:sp>
      <p:sp>
        <p:nvSpPr>
          <p:cNvPr id="17" name="Text 15">
            <a:extLst>
              <a:ext uri="{FF2B5EF4-FFF2-40B4-BE49-F238E27FC236}">
                <a16:creationId xmlns:a16="http://schemas.microsoft.com/office/drawing/2014/main" id="{C5515786-716C-4418-A514-A9274E6032EF}"/>
              </a:ext>
            </a:extLst>
          </p:cNvPr>
          <p:cNvSpPr>
            <a:spLocks noGrp="1"/>
          </p:cNvSpPr>
          <p:nvPr/>
        </p:nvSpPr>
        <p:spPr>
          <a:xfrm>
            <a:off x="649224" y="3191256"/>
            <a:ext cx="7845552" cy="1197864"/>
          </a:xfrm>
          <a:prstGeom prst="rect">
            <a:avLst/>
          </a:prstGeom>
          <a:noFill/>
        </p:spPr>
        <p:txBody>
          <a:bodyPr wrap="square" lIns="0" tIns="0" rIns="0" bIns="0" anchor="t"/>
          <a:lstStyle/>
          <a:p>
            <a:pPr marL="0" indent="0">
              <a:lnSpc>
                <a:spcPct val="112000"/>
              </a:lnSpc>
              <a:buNone/>
            </a:pPr>
            <a:r>
              <a:rPr sz="950">
                <a:solidFill>
                  <a:srgbClr val="E8EEF6"/>
                </a:solidFill>
                <a:latin typeface="Calibri"/>
                <a:ea typeface="Calibri"/>
                <a:cs typeface="Calibri"/>
              </a:rPr>
              <a:t>Garzotto, F., Paolini, P. y Schwabe, D. (1993). HDM — A model-based approach to hypertext application design. ACM TOIS, 11(1), 1-26.</a:t>
            </a:r>
            <a:endParaRPr sz="950"/>
          </a:p>
          <a:p>
            <a:pPr marL="0" indent="0">
              <a:lnSpc>
                <a:spcPct val="112000"/>
              </a:lnSpc>
              <a:buNone/>
            </a:pPr>
            <a:r>
              <a:rPr sz="950">
                <a:solidFill>
                  <a:srgbClr val="E8EEF6"/>
                </a:solidFill>
                <a:latin typeface="Calibri"/>
                <a:ea typeface="Calibri"/>
                <a:cs typeface="Calibri"/>
              </a:rPr>
              <a:t>Isakowitz, T., Stohr, E. y Balasubramanian, P. (1995). RMM: A methodology for structured hypermedia design. CACM, 38(8), 34-44.</a:t>
            </a:r>
            <a:endParaRPr sz="950"/>
          </a:p>
          <a:p>
            <a:pPr marL="0" indent="0">
              <a:lnSpc>
                <a:spcPct val="112000"/>
              </a:lnSpc>
              <a:buNone/>
            </a:pPr>
            <a:r>
              <a:rPr sz="950">
                <a:solidFill>
                  <a:srgbClr val="E8EEF6"/>
                </a:solidFill>
                <a:latin typeface="Calibri"/>
                <a:ea typeface="Calibri"/>
                <a:cs typeface="Calibri"/>
              </a:rPr>
              <a:t>Schwabe, D. y Rossi, G. (1998). Developing hypermedia applications using OOHDM. Workshop on Hypermedia Development, Hypertext'98.</a:t>
            </a:r>
            <a:endParaRPr sz="950"/>
          </a:p>
          <a:p>
            <a:pPr marL="0" indent="0">
              <a:lnSpc>
                <a:spcPct val="112000"/>
              </a:lnSpc>
              <a:buNone/>
            </a:pPr>
            <a:r>
              <a:rPr sz="950">
                <a:solidFill>
                  <a:srgbClr val="E8EEF6"/>
                </a:solidFill>
                <a:latin typeface="Calibri"/>
                <a:ea typeface="Calibri"/>
                <a:cs typeface="Calibri"/>
              </a:rPr>
              <a:t>De Troyer, O. y Leune, C. (1998). WSDM: A user-centered design method for web sites. Computer Networks and ISDN Systems, 30(1-7), 85-94.</a:t>
            </a:r>
            <a:endParaRPr sz="950"/>
          </a:p>
          <a:p>
            <a:pPr marL="0" indent="0">
              <a:lnSpc>
                <a:spcPct val="112000"/>
              </a:lnSpc>
              <a:buNone/>
            </a:pPr>
            <a:r>
              <a:rPr sz="950">
                <a:solidFill>
                  <a:srgbClr val="E8EEF6"/>
                </a:solidFill>
                <a:latin typeface="Calibri"/>
                <a:ea typeface="Calibri"/>
                <a:cs typeface="Calibri"/>
              </a:rPr>
              <a:t>Conallen, J. (1999). Building Web Applications with UML. Addison-Wesley.</a:t>
            </a:r>
            <a:endParaRPr sz="950"/>
          </a:p>
          <a:p>
            <a:pPr marL="0" indent="0">
              <a:lnSpc>
                <a:spcPct val="112000"/>
              </a:lnSpc>
              <a:buNone/>
            </a:pPr>
            <a:r>
              <a:rPr sz="950">
                <a:solidFill>
                  <a:srgbClr val="E8EEF6"/>
                </a:solidFill>
                <a:latin typeface="Calibri"/>
                <a:ea typeface="Calibri"/>
                <a:cs typeface="Calibri"/>
              </a:rPr>
              <a:t>Scrum Guide (2020), scrumguides.org  ·  Kanban Guide (mayo 2025), kanbanguides.org</a:t>
            </a:r>
            <a:endParaRPr sz="950"/>
          </a:p>
        </p:txBody>
      </p:sp>
    </p:spTree>
    <p:extLst>
      <p:ext uri="{BB962C8B-B14F-4D97-AF65-F5344CB8AC3E}">
        <p14:creationId xmlns:p14="http://schemas.microsoft.com/office/powerpoint/2010/main" val="696395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884</TotalTime>
  <Words>4152</Words>
  <Application>Microsoft Office PowerPoint</Application>
  <DocSecurity>0</DocSecurity>
  <PresentationFormat>Presentación en pantalla (16:9)</PresentationFormat>
  <Paragraphs>465</Paragraphs>
  <Slides>24</Slides>
  <Notes>24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Calibri Light</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LUIS MIGUEL GOMEZ MENESES</cp:lastModifiedBy>
  <cp:revision>2</cp:revision>
  <dcterms:created xsi:type="dcterms:W3CDTF">2026-09-21T17:48:27Z</dcterms:created>
  <dcterms:modified xsi:type="dcterms:W3CDTF">2026-09-22T14:53:03Z</dcterms:modified>
</cp:coreProperties>
</file>