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82"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DDC97"/>
    <a:srgbClr val="FFB86C"/>
    <a:srgbClr val="56C7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51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9919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Y RECUPERACIÓN · 5 minutos.
Retomar explícitamente el punto en el que terminó la Sesión 02: el formulario ya se envía y Node.js reconoce Método: POST y URL: /contacto, pero todavía no lee los valores escritos por el usuario.
Anunciar el recorrido de hoy en una sola frase: hoy la aplicación deja de recibir datos que se pierden y empieza a conservarlos.
Verificar antes de empezar que cada estudiante tenga contacto.html y server_rutas.js de la Sesión 02. Sin esos archivos el laboratorio no se puede realizar; entregar copias de inmediato a quien no los conserve.
Verificar también la versión de Node: node -v debe mostrar 24.11.0. El módulo node:sqlite es incorporado desde Node 22.13/23.4 y no requiere la bandera --experimental-sqlite ni npm install.
Reparto del tiempo (100 min): apertura 5 · CSS esencial 10 · aplicación de CSS 10 · lectura de POST 20 · persistencia y SQL 15 · laboratorio integrado 30 · comprobación y cierre 10.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 3 minutos dentro del bloque inicial.
Leer los cuatro objetivos agrupados y anunciar el ritmo: dos bloques breves de exposición (CSS y persistencia) y una práctica larga al final.
Aclarar que hoy NO se crea un proyecto nuevo: se continúa sobre contacto.html y server_rutas.js de la Sesión 02.
Anunciar el alcance con precisión, porque siempre alguien pregunta: hoy se llega hasta INSERT. No se ve SELECT, ni UPDATE, ni DELETE, ni CRUD completo, ni llaves foráneas, ni Express, ni React, ni Bootstrap, ni ORM, ni autenticación. Eso comienza en la Sesión 04.
Las pastillas naranjas de la secuencia marcan los momentos en los que se sale de la presentación y se trabaja en el editor.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RECUPERACIÓN · 2 a 3 minutos. No volver a explicar HTTP ni rutas.
Señalar la consola: req.method y req.url ya funcionan. Preguntar en voz alta: "¿alguna de esas dos propiedades contiene el nombre que escribió el usuario?". Respuesta esperada: no.
Las tres preguntas de la parte inferior son el índice real de la sesión: la primera se responde con CSS, la segunda con el cuerpo de la petición y la tercera con SQLite. Dejarlas en pantalla unos segundos.
Error frecuente al retomar: creer que POST ya guardó algo. Desmentirlo ahora y repetirlo en la diapositiva 17.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ENCUADRE · 2 minutos.
No explicar todavía código. El objetivo de la diapositiva es que los estudiantes vean CSS y SQLite como partes del MISMO recorrido, no como dos temas sueltos que coinciden en la misma clase.
Señalar con el dedo la fila del recorrido y decir en voz alta: hoy vamos a escribir cada una de esas cinco casillas.
Pregunta útil: "¿cuántas peticiones HTTP creen que se producen cuando el navegador muestra el formulario con estilos?". Respuesta: al menos dos, una por el documento y otra por la hoja de estilos. Es el enganche de la diapositiva 9.</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ESENCIAL · 3 minutos.
Definición corta y avanzar. Son estudiantes de octavo semestre: la mayoría ya escribió CSS. El valor de esta diapositiva está en las precisiones, no en la definición.
Precisión 1: CSS no es un lenguaje de programación. Evitar la discusión sobre si es Turing completo; formularlo como "no expresa algoritmos, expresa reglas de presentación".
Precisión 2 (importante): NO decir que CSS no puede tener errores. Lo que ocurre es que el navegador descarta la declaración inválida y sigue con las demás. Esa tolerancia es la razón por la que un error de CSS se manifiesta como "no pasó nada" en lugar de un mensaje en consola.
Pregunta para el grupo: "si escribo colr: red, ¿qué muestra la consola del navegador?". Respuesta: nada evidente; el elemento simplemente conserva su color anterior. Mostrarlo en vivo si hay tiempo, en las herramientas del navegador la declaración aparece tachada.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ESENCIAL · 3 minutos.
Recorrer la regla de izquierda a derecha nombrando cada parte con el vocabulario correcto: selector, bloque de declaraciones, declaración, propiedad y valor. Ese vocabulario se usa el resto del semestre.
Error frecuente: omitir el punto y coma de la última declaración. El navegador suele tolerarlo, pero deja de tolerarlo apenas se agrega otra declaración debajo. Recomendar escribirlo siempre.
Error frecuente: escribir dos puntos donde va punto y coma, o al revés.
Aclarar que background-color: white es un ejemplo de sintaxis, no una recomendación de diseño; el CSS del laboratorio usa otra paleta.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ESENCIAL · 4 minutos.
Tres selectores y nada más. Si alguien pregunta por selectores descendientes o pseudoclases, responder que existen y remitir a la documentación; el laboratorio solo necesita estos.
Vale la pena conectar con la Sesión 02: id ya se usó para vincular label y control mediante for. El mismo atributo sirve ahora como selector CSS. Aclarar que ese doble uso NO convierte a id en un mecanismo de estilo: sigue identificando un elemento único dentro del documento.
Regla práctica que conviene dictar: clase para lo que se repite, identificador para lo que es único, elemento para lo que aplica a todos.
Error frecuente: escribir .campo en el CSS y olvidar class="campo" en el HTML, o escribir class="campo" y buscarlo con #campo.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ESENCIAL · 4 minutos. Es la parte conceptualmente más delicada del bloque.
Desmontar de forma explícita la regla de bolsillo "la última gana". Es la simplificación que después impide depurar una hoja de estilos real.
Formulación correcta que conviene dictar: primero se compara especificidad; solo si empatan, decide el orden de aparición.
Sobre el ejemplo: aunque la regla de input aparezca antes, si el elemento tiene id="correo" prevalece #correo. Invertir el orden en el editor y mostrar que el resultado no cambia. Esa demostración de 30 segundos vale más que la explicación.
Sobre herencia: pedir dos ejemplos de propiedades que se heredan y dos que no. Respuestas esperadas: color y font-family se heredan; border, padding y margin no.
No abrir !important en esta sesión. Si alguien lo menciona, decir que existe, que altera la cascada y que su uso rutinario es señal de un problema de diseño de la hoja de estilos.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APLICACIÓN DE CSS · 4 minutos. Es el punto de anclaje entre CSS y la arquitectura cliente-servidor.
Pregunta obligatoria antes de mostrar el código: "¿quién solicita styles.css?". La respuesta esperada es el navegador, no el usuario ni el servidor. Muchos estudiantes creen que el servidor "envía" la hoja de estilos junto con el HTML.
Segunda pregunta: "¿por qué aparece GET /styles.css en la terminal si nadie escribió esa dirección?". Respuesta: porque el elemento link la declara y el navegador la solicita al analizar el documento.
Insistir en el encabezado Content-Type: text/css. Si se responde text/html, el navegador recibe el archivo pero no lo interpreta como hoja de estilos y la página se ve sin formato. Es el error de demostración más probable de la sesión: provocarlo a propósito si hay tiempo.
Recordar que la ruta se compara con req.url === "/styles.css", exactamente igual que /contacto en la Sesión 02. No hay mecanismo nuevo: hay una ruta más.
Segundo error de demostración probable: la caché del navegador. Si tras editar styles.css no cambia nada, recargar con Ctrl+F5.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LABORATORIO 1 · 10 minutos. Salir de la presentación y trabajar en el editor.
Escribir styles.css junto con los estudiantes, bloque por bloque, no pegar el archivo completo. Cada bloque se guarda y se recarga el navegador para ver el efecto aislado; así el CSS deja de ser una lista de líneas y pasa a ser una secuencia de decisiones.
Orden sugerido de escritura: primero body (se ve el cambio de fondo), luego main (se centra el contenido), luego form con display: flex (se apilan los campos), y por último los estados de foco.
RECORDAR LOS TRES PASOS QUE SE OLVIDAN:
1. Agregar &lt;link rel="stylesheet" href="/styles.css"&gt; dentro de &lt;head&gt; en contacto.html.
2. Agregar la ruta GET /styles.css en server_rutas.js.
3. Reiniciar el servidor. Node no recarga el archivo modificado por sí solo (salvo que se ejecute con node --watch).
Errores frecuentes a vigilar mientras se recorren los puestos:
- Se creó la ruta pero se responde con Content-Type text/html: el navegador descarga el CSS y no lo aplica.
- href="styles.css" sin la barra inicial: la petición sale igual, pero puede no coincidir con la comparación de req.url.
- Se editó styles.css y no se recargó con Ctrl+F5: caché del navegador.
Comprobación final del laboratorio: en la terminal deben aparecer DOS líneas, GET /contacto y GET /styles.css. Preguntar quién generó la segunda.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CC3A2-D5A3-81D1-08A1-9B6E38C96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A9AEF1-DA9D-0227-9335-A50C589EDF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DDBBDA-14B2-D13C-6EB3-050006D87B54}"/>
              </a:ext>
            </a:extLst>
          </p:cNvPr>
          <p:cNvSpPr>
            <a:spLocks noGrp="1"/>
          </p:cNvSpPr>
          <p:nvPr>
            <p:ph type="body" idx="1"/>
          </p:nvPr>
        </p:nvSpPr>
        <p:spPr/>
        <p:txBody>
          <a:bodyPr/>
          <a:lstStyle/>
          <a:p>
            <a:r>
              <a:rPr lang="en-US" dirty="0"/>
              <a:t>LABORATORIO 1 · 10 minutos. Salir de la presentación y trabajar en el editor.
Escribir styles.css junto con los estudiantes, bloque por bloque, no pegar el archivo completo. Cada bloque se guarda y se recarga el navegador para ver el efecto aislado; así el CSS deja de ser una lista de líneas y pasa a ser una secuencia de decisiones.
Orden sugerido de escritura: primero body (se ve el cambio de fondo), luego main (se centra el contenido), luego form con display: flex (se apilan los campos), y por último los estados de foco.
RECORDAR LOS TRES PASOS QUE SE OLVIDAN:
1. Agregar &lt;link rel="stylesheet" href="/styles.css"&gt; dentro de &lt;head&gt; en contacto.html.
2. Agregar la ruta GET /styles.css en server_rutas.js.
3. Reiniciar el servidor. Node no recarga el archivo modificado por sí solo (salvo que se ejecute con node --watch).
Errores frecuentes a vigilar mientras se recorren los puestos:
- Se creó la ruta pero se responde con Content-Type text/html: el navegador descarga el CSS y no lo aplica.
- href="styles.css" sin la barra inicial: la petición sale igual, pero puede no coincidir con la comparación de req.url.
- Se editó styles.css y no se recargó con Ctrl+F5: caché del navegador.
Comprobación final del laboratorio: en la terminal deben aparecer DOS líneas, GET /contacto y GET /styles.css. Preguntar quién generó la segunda.</a:t>
            </a:r>
          </a:p>
        </p:txBody>
      </p:sp>
      <p:sp>
        <p:nvSpPr>
          <p:cNvPr id="4" name="Slide Number Placeholder 3">
            <a:extLst>
              <a:ext uri="{FF2B5EF4-FFF2-40B4-BE49-F238E27FC236}">
                <a16:creationId xmlns:a16="http://schemas.microsoft.com/office/drawing/2014/main" id="{B727C36F-7313-BEC1-FEA8-D264F9C3A49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984619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BISAGRA DE LA SESIÓN · 2 minutos. Cierra el bloque de CSS y abre el de procesamiento.
Formular la pregunta en voz alta y esperar respuestas antes de mostrar la conclusión. Es probable que alguien diga "en el body" o "en el request"; aprovechar el término y precisarlo: el cuerpo de la petición.
Recordatorio necesario: en la Sesión 02 se vio que POST transporta los datos en el cuerpo y GET en la URL. Hoy se lee ese cuerpo por primera vez.
Advertencia que conviene dejar dicha ahora: leer el cuerpo no significa guardarlo. Son dos pasos distintos y se ven en distintos momentos de la clase.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LECTURA DE POST · 4 minutos.
Mostrar la petición completa en pantalla y recorrer sus cuatro partes con el cursor. Este esquema es el mismo de cualquier petición HTTP: la Sesión 01 mostró el lado de la respuesta, hoy se mira el de la petición.
Señalar la línea vacía de manera explícita: es la que permite al servidor saber dónde terminan los encabezados. No es un detalle decorativo del esquema.
Preguntar por qué el correo aparece como ana%40correo.com. Respuesta: la codificación de formulario reserva algunos caracteres y los representa con su valor hexadecimal. Aclarar que URLSearchParams deshace esa codificación automáticamente; no hay que hacerlo a mano.
Si se quiere mostrar la petición real: pestaña Red de las herramientas del navegador, enviar el formulario y abrir la sección de datos del formulario. Toma menos de un minuto y hace tangible el esquema.
No abrir todavía multipart/form-data. Basta decir que existe y que se usa para archivos.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LECTURA DE POST · 4 minutos. No convertir esta diapositiva en una clase de streams.
Lo único que deben entender hoy: el cuerpo llega por partes y hay que esperar a que termine.
Pregunta central: "¿por qué Node.js utiliza data y end en lugar de entregar el cuerpo directamente?". Respuesta esperada: porque el servidor no sabe de antemano cuánto va a llegar ni cuándo, y esperar bloqueando sería incompatible con atender otras peticiones.
Analogía útil y breve: un dictado por teléfono. Se anota cada fragmento a medida que llega y solo se lee la frase completa cuando el interlocutor dice que terminó.
Advertencia importante para el laboratorio: con un formulario de tres campos el cuerpo casi siempre llega en un solo fragmento. Los estudiantes van a concluir que data y end son innecesarios. Decirlo antes de que lo digan ellos: funciona por el tamaño, no por diseño; con un cuerpo grande el código que ignora end se rompe.
No mencionar todavía req.on("error"). Se trata en sesiones posteriores.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LECTURA DE POST · 6 minutos. Momento de escribir en el editor junto con los estudiantes.
Escribir el bloque línea por línea explicando el propósito de cada una. No pegarlo.
Puntos que exigen detenerse:
- let cuerpo = "" debe declararse ANTES de req.on("data"), no dentro del manejador; si se declara dentro, se reinicia con cada fragmento.
- fragmento.toString() es necesario porque lo que llega es un Buffer, no texto.
- El return final está fuera de los manejadores: impide que la ejecución siga hacia la respuesta 404 mientras el cuerpo todavía está llegando.
Error frecuente número uno de toda la sesión: enviar la respuesta fuera de req.on("end"). Se produce el mensaje ERR_HTTP_HEADERS_SENT o una respuesta vacía. Provocarlo a propósito si hay tiempo: es una lección que se recuerda.
Comprobación en clase: enviar el formulario y mostrar en la consola la cadena completa del cuerpo. Preguntar si ya se puede usar ese texto tal como está. Respuesta: todavía no, es una sola cadena; hay que interpretarla. Ese es el enganche de la diapositiva siguiente.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LECTURA DE POST · 6 minutos.
URLSearchParams es un objeto incorporado: no requiere require ni instalación. Aclararlo, porque muchos lo buscan en npm.
Recibe la cadena del cuerpo y devuelve una estructura consultable por clave. También deshace la codificación: %40 vuelve a ser @ y los + vuelven a ser espacios. Demostrarlo con un correo real.
Pregunta obligatoria: "¿qué diferencia hay entre id y name?". Es el punto donde se concentran los errores desde la Sesión 02.
Respuesta esperada: id identifica el elemento dentro del documento; name determina la clave que llega al servidor. Ambos pueden llamarse igual, y por eso se confunden.
Demostración de 30 segundos que vale la pena: quitar name="correo" del HTML, enviar el formulario y mostrar que datos.get("correo") devuelve null. El campo sigue en pantalla, sigue teniendo id, y no llega nada.
Advertencia técnica: datos.get devuelve null cuando la clave no existe y cadena vacía cuando existe pero está vacía. Ambos casos se atienden en la validación de la diapositiva siguiente.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LECTURA DE POST · 4 minutos.
Este es el mensaje que debe quedar del bloque: nunca se confía en el cliente. Se enunció en la Sesión 02 al hablar de required; hoy se implementa.
Demostración muy recomendable, de un minuto: abrir las herramientas del navegador, quitar el atributo required de un campo en el DOM, enviar el formulario vacío y mostrar que la petición sale igual. Después mostrar que el servidor responde 400. Esa secuencia justifica toda la diapositiva.
Pregunta para el grupo: "¿por qué 400 y no 404 ni 500?". Respuesta: 404 significa que el recurso no existe, 500 que el servidor falló; 400 dice que la petición llegó mal formada, que es exactamente lo que ocurre.
Aclaración recurrente: required es un atributo de HTML que actúa en el navegador. No valida en el servidor y no tiene relación alguna con req.method. Algunos estudiantes creen que required "obliga a usar POST".
Sobre trim(): explicar que un campo con espacios no está vacío para JavaScript. Con trim() se descarta ese caso antes de comparar.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BISAGRA HACIA PERSISTENCIA · 2 minutos.
Demostración muy corta y muy convincente: enviar dos o tres contactos, mostrarlos impresos en la consola, detener el servidor con Ctrl+C, volver a ejecutarlo y preguntar dónde quedaron. No queda nada.
Pregunta para el grupo: "¿qué sucede con las variables al reiniciar el servidor?". Respuesta: desaparecen; vivían en la memoria del proceso.
Precisión conceptual obligatoria: una variable de JavaScript NO proporciona persistencia, ni siquiera un arreglo declarado fuera del manejador. Ese arreglo sobrevive entre peticiones, pero no sobrevive al reinicio. Si alguien lo propone, reconocerlo como una solución parcial y señalar exactamente su límite.
Precisión adicional: un archivo JSON tampoco equivale a una base de datos. Permite conservar información, pero no ofrece consultas, tipos, restricciones ni control de acceso concurrente. Anticiparlo porque siempre aparece la propuesta.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PERSISTENCIA Y SQL · 5 minutos.
Definición breve: son estudiantes de octavo semestre y la mayoría ya cursó bases de datos. El aporte de esta sesión no es la teoría relacional, sino la conexión entre el servidor Web y el almacenamiento.
Pregunta obligatoria: "¿cuál es la diferencia entre SQL y SQLite?". Respuesta esperada: SQL es el lenguaje, SQLite es el sistema que lo implementa y administra el archivo. Es una confusión muy común y conviene despejarla ahora.
Sobre node:sqlite: destacar que es un módulo incorporado desde Node 22.13 / 23.4 y que en Node 24.11.0 funciona SIN la bandera --experimental-sqlite y SIN npm install. No se usa sqlite3 ni better-sqlite3 en este curso.
Advertir que al ejecutar aparece el aviso ExperimentalWarning: SQLite is an experimental feature. NO es un error y no impide nada; anticiparlo evita interrupciones durante el laboratorio.
Aclarar la expresión "no requiere servidor": SQLite no levanta un proceso aparte como PostgreSQL o MySQL. La biblioteca se ejecuta dentro del propio proceso de Node y opera sobre un archivo.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PERSISTENCIA Y SQL · 4 minutos.
Recorrer la tabla columna por columna y señalar la correspondencia con el formulario: name="nombre" se convierte en la columna nombre, y así con las demás. Esa correspondencia directa es la que hace comprensible el INSERT de la diapositiva 22.
Pregunta útil: "¿por qué id no aparece en el formulario?". Respuesta: porque no lo aporta el usuario; lo genera la base de datos al insertar la fila.
Sobre AUTOINCREMENT: en SQLite, INTEGER PRIMARY KEY ya asigna un valor automáticamente. AUTOINCREMENT añade la garantía de que un identificador no se reutilice tras eliminar filas. Mencionarlo en una frase y no abrir la discusión.
No abrir todavía normalización, relaciones ni llaves foráneas. Si alguien pregunta, anunciar que el modelo se amplía en sesiones posteriores.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PERSISTENCIA Y SQL · 4 minutos. Limitar la explicación a lo necesario para CREATE TABLE e INSERT.
Señalar IF NOT EXISTS como una decisión de diseño y no como un detalle: la sentencia se ejecuta cada vez que arranca el servidor, de modo que debe poder ejecutarse muchas veces sin error. Quitarlo y reiniciar produce el error "table contactos already exists"; mostrarlo si hay tiempo.
Sobre tipos: mencionar que SQLite es flexible con los tipos declarados (afinidad de tipos) y no rechaza un texto en una columna INTEGER como lo haría PostgreSQL. Decirlo en una frase, sin abrir el tema.
Contraste útil para estudiantes de octavo semestre: el código de Node.js indica el procedimiento paso a paso; SQL describe el resultado esperado. Es un buen momento para nombrar la diferencia entre paradigma imperativo y declarativo, ya que la vieron en asignaturas previas.
No pasar a SELECT. Si alguien lo pide, anunciar que es el inicio de la Sesión 04.</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PERSISTENCIA Y SQL · 6 minutos. Escribir el bloque en el editor con los estudiantes.
Ubicación exacta: este código va al COMIENZO de server_rutas.js, antes de http.createServer. Es el error de ubicación más probable: si se coloca dentro del manejador, se abre la base y se prepara la sentencia en cada petición.
Sobre DatabaseSync: el nombre indica que las operaciones son síncronas. Es adecuado para esta sesión y coherente con el uso de fs.readFileSync que ya venían haciendo.
Aclarar que si contactos.db no existe, se crea automáticamente al abrirlo. Los estudiantes esperan tener que crearlo a mano.
Pregunta obligatoria: "¿por qué se utilizan parámetros en lugar de concatenar los valores?". Respuesta esperada: porque el dato del usuario nunca debe formar parte del texto de la sentencia. Nombrar la inyección de SQL en una frase y anunciar que se trata a fondo más adelante; hoy basta con establecer la práctica correcta.
Argumento adicional que suele convencer: si alguien escribe un apóstrofo en su nombre, la versión concatenada rompe la sentencia. La parametrizada no.
Comprobación en clase: ejecutar el servidor y mostrar que aparece el archivo contactos.db en la carpeta del proyecto. Aparece aunque todavía no se haya insertado nada.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PERSISTENCIA Y SQL · 5 minutos. Es el punto de llegada de toda la sesión.
Ubicación exacta: dentro de req.on("end"), DESPUÉS de la validación. Si el INSERT se ejecuta antes de validar, se almacenan registros vacíos.
Recordar la restricción del envío único de respuesta: por cada petición se responde una sola vez. Con la validación devolviendo 400 y este bloque devolviendo 201, los return son los que garantizan que no se envíen dos respuestas.
Sobre lastInsertRowid: preguntar qué representa. Respuesta: el identificador que SQLite asignó a la fila recién insertada. Mostrar dos envíos seguidos y señalar que el número cambia. Esa comprobación es la evidencia de que la información quedó almacenada.
Sobre el código 201: en la Sesión 01 se trabajó 200 y 404. Hoy se agregan 201 (creado), 400 (solicitud incorrecta) y 500 (error interno). Vale la pena escribirlos en el tablero.
Precisión de seguridad: la página de confirmación NO debe insertar el nombre escrito por el usuario dentro del HTML de la respuesta. Nombrar el riesgo en una frase y anunciar que el tratamiento del contenido no confiable se aborda en sesiones posteriores.
paginaConfirmacion es la plantilla que aparece completa en el código de referencia de la diapositiva siguiente: un h1, un párrafo y un enlace para registrar otro contacto.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LABORATORIO INTEGRADO · 30 minutos. Es el bloque más largo de la sesión: salir de la presentación.
Método sugerido: los estudiantes escriben, el docente recorre los puestos. No proyectar el código completo; dejar proyectada esta diapositiva como lista de verificación.
Recomendar avanzar por etapas comprobables: primero que aparezca el cuerpo en la consola, después los tres valores por separado, después el archivo contactos.db, y solo al final el INSERT.
ERRORES MÁS PROBABLES:
- Respuesta enviada fuera de req.on("end"): ERR_HTTP_HEADERS_SENT.
- Dos respuestas en la misma petición por falta de return.
- El INSERT antes de la validación: se almacenan filas vacías.
- DatabaseSync o db.prepare dentro del manejador en lugar del inicio del archivo.
- Servidor no reiniciado tras editar server_rutas.js.
- Content-Type text/html en la ruta de styles.css.
- Falta el atributo name en algún control del formulario.
El aviso ExperimentalWarning de SQLite aparecerá en todas las terminales. Recordar que no es un error.
CÓDIGO COMPLETO DE REFERENCIA · server_rutas.js
const http = require('http');
const fs = require('fs');
const { DatabaseSync } = require('node:sqlite');
const db = new DatabaseSync('contactos.db');
db.exec(`
    CREATE TABLE IF NOT EXISTS contactos (
        id INTEGER PRIMARY KEY AUTOINCREMENT,
        nombre TEXT NOT NULL,
        correo TEXT NOT NULL,
        mensaje TEXT NOT NULL
    )`);
const insertarContacto = db.prepare(`
    INSERT INTO contactos (nombre, correo, mensaje)
    VALUES (?, ?, ?)`);
const server = http.createServer((req, res) =&gt; {
    console.log('Método:', req.method);
    console.log('URL:', req.url);
    if (req.method === 'GET' &amp;&amp; (req.url === '/' || req.url === '/contacto')) {
        const html = fs.readFileSync('contacto.html');
        res.writeHead(200, { 'Content-Type': 'text/html; charset=UTF-8' });
        return res.end(html);
    }
    if (req.method === 'GET' &amp;&amp; req.url === '/styles.css') {
        const css = fs.readFileSync('styles.css');
        res.writeHead(200, { 'Content-Type': 'text/css; charset=UTF-8' });
        return res.end(css);
    }
    if (req.method === 'POST' &amp;&amp; req.url === '/contacto') {
        let cuerpo = '';
        req.on('data', fragmento =&gt; {
            cuerpo += fragmento.toString();
        });
        req.on('end', () =&gt; {
            const datos = new URLSearchParams(cuerpo);
            const nombre = datos.get('nombre')?.trim();
            const correo = datos.get('correo')?.trim();
            const mensaje = datos.get('mensaje')?.trim();
            if (!nombre || !correo || !mensaje) {
                res.writeHead(400, { 'Content-Type': 'text/html; charset=UTF-8' });
                return res.end(`
                    &lt;h1&gt;Solicitud incorrecta&lt;/h1&gt;
                    &lt;p&gt;Todos los campos son obligatorios.&lt;/p&gt;
                    &lt;a href="/contacto"&gt;Regresar&lt;/a&gt;`);
            }
            try {
                const resultado = insertarContacto.run(nombre, correo, mensaje);
                console.log('Contacto almacenado con id:', resultado.lastInsertRowid);
                res.writeHead(201, { 'Content-Type': 'text/html; charset=UTF-8' });
                return res.end(`
                    &lt;h1&gt;Contacto registrado&lt;/h1&gt;
                    &lt;p&gt;La información fue almacenada correctamente.&lt;/p&gt;
                    &lt;a href="/contacto"&gt;Registrar otro contacto&lt;/a&gt;`);
            } catch (error) {
                console.error('Error al almacenar:', error);
                res.writeHead(500, { 'Content-Type': 'text/html; charset=UTF-8' });
                return res.end(`
                    &lt;h1&gt;Error interno&lt;/h1&gt;
                    &lt;p&gt;No fue posible almacenar la información.&lt;/p&gt;`);
            }
        });
        return;
    }
    res.writeHead(404, { 'Content-Type': 'text/html; charset=UTF-8' });
    return res.end('&lt;h1&gt;404 - Página no encontrada&lt;/h1&gt;');
});
server.listen(3000, () =&gt; {
    console.log('Servidor disponible en http://localhost:3000');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COMPROBACIÓN Y CIERRE · 4 minutos.
Recorrer la secuencia superior de izquierda a derecha pidiendo a los estudiantes que nombren cada casilla y digan qué archivo o instrucción la implementa. Es una comprobación de aprendizaje, no un resumen del docente.
Preguntas de verificación rápidas:
- ¿Quién solicita styles.css? El navegador.
- ¿Dónde viajan los datos enviados mediante POST? En el cuerpo de la petición.
- ¿POST significa que la información ya fue almacenada? No: expresa un envío para procesamiento; almacenar es una decisión del servidor.
- ¿Qué representa lastInsertRowid? El identificador de la fila recién insertada.
Si algún estudiante no logró completar el laboratorio, este es el momento de indicarle en qué casilla del recorrido quedó detenido. Sirve como diagnóstico y como tarea concreta antes de la Sesión 04.</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 6 minutos.
Recorrer las pastillas en voz alta: funcionan como guía de estudio. Pedir a tres estudiantes que expliquen con sus palabras la diferencia entre id y name, la diferencia entre SQL y SQLite, y por qué el INSERT usa parámetros.
Repetir la precisión que más se olvida: una variable de JavaScript no proporciona persistencia, y un archivo JSON no equivale a una base de datos. Hoy la aplicación conserva los datos porque existe un sistema que administra un archivo con estructura declarada.
Anunciar la Sesión 04 planteando la carencia actual: los registros están almacenados, pero todavía no hay ninguna forma de verlos desde la aplicación. Esa es la pregunta que abre SELECT.
Indicar de manera explícita que contacto.html, styles.css, server_rutas.js y contactos.db deben conservarse: la Sesión 04 parte de este mismo proyecto.
Si queda tiempo, mostrar el archivo contactos.db abierto con un visor de SQLite. Ver las filas almacenadas cierra la sesión mejor que cualquier resumen.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6537960" y="1143000"/>
            <a:ext cx="1097280" cy="640080"/>
          </a:xfrm>
          <a:prstGeom prst="line">
            <a:avLst/>
          </a:prstGeom>
          <a:noFill/>
          <a:ln w="12700">
            <a:solidFill>
              <a:srgbClr val="1E3346"/>
            </a:solidFill>
            <a:prstDash val="solid"/>
          </a:ln>
        </p:spPr>
        <p:txBody>
          <a:bodyPr/>
          <a:lstStyle/>
          <a:p>
            <a:endParaRPr lang="es-CO"/>
          </a:p>
        </p:txBody>
      </p:sp>
      <p:sp>
        <p:nvSpPr>
          <p:cNvPr id="3" name="Shape 1"/>
          <p:cNvSpPr/>
          <p:nvPr/>
        </p:nvSpPr>
        <p:spPr>
          <a:xfrm>
            <a:off x="7635240" y="1783080"/>
            <a:ext cx="0" cy="1005840"/>
          </a:xfrm>
          <a:prstGeom prst="line">
            <a:avLst/>
          </a:prstGeom>
          <a:noFill/>
          <a:ln w="12700">
            <a:solidFill>
              <a:srgbClr val="1E3346"/>
            </a:solidFill>
            <a:prstDash val="solid"/>
          </a:ln>
        </p:spPr>
        <p:txBody>
          <a:bodyPr/>
          <a:lstStyle/>
          <a:p>
            <a:endParaRPr lang="es-CO"/>
          </a:p>
        </p:txBody>
      </p:sp>
      <p:sp>
        <p:nvSpPr>
          <p:cNvPr id="4" name="Shape 2"/>
          <p:cNvSpPr/>
          <p:nvPr/>
        </p:nvSpPr>
        <p:spPr>
          <a:xfrm>
            <a:off x="6903720" y="2788920"/>
            <a:ext cx="1188720" cy="640080"/>
          </a:xfrm>
          <a:prstGeom prst="line">
            <a:avLst/>
          </a:prstGeom>
          <a:noFill/>
          <a:ln w="12700">
            <a:solidFill>
              <a:srgbClr val="1E3346"/>
            </a:solidFill>
            <a:prstDash val="solid"/>
          </a:ln>
        </p:spPr>
        <p:txBody>
          <a:bodyPr/>
          <a:lstStyle/>
          <a:p>
            <a:endParaRPr lang="es-CO"/>
          </a:p>
        </p:txBody>
      </p:sp>
      <p:sp>
        <p:nvSpPr>
          <p:cNvPr id="5" name="Shape 3"/>
          <p:cNvSpPr/>
          <p:nvPr/>
        </p:nvSpPr>
        <p:spPr>
          <a:xfrm>
            <a:off x="8092440" y="3429000"/>
            <a:ext cx="0" cy="548640"/>
          </a:xfrm>
          <a:prstGeom prst="line">
            <a:avLst/>
          </a:prstGeom>
          <a:noFill/>
          <a:ln w="12700">
            <a:solidFill>
              <a:srgbClr val="1E3346"/>
            </a:solidFill>
            <a:prstDash val="solid"/>
          </a:ln>
        </p:spPr>
        <p:txBody>
          <a:bodyPr/>
          <a:lstStyle/>
          <a:p>
            <a:endParaRPr lang="es-CO"/>
          </a:p>
        </p:txBody>
      </p:sp>
      <p:sp>
        <p:nvSpPr>
          <p:cNvPr id="6" name="Shape 4"/>
          <p:cNvSpPr/>
          <p:nvPr/>
        </p:nvSpPr>
        <p:spPr>
          <a:xfrm>
            <a:off x="6355080" y="3977640"/>
            <a:ext cx="182880" cy="0"/>
          </a:xfrm>
          <a:prstGeom prst="line">
            <a:avLst/>
          </a:prstGeom>
          <a:noFill/>
          <a:ln w="12700">
            <a:solidFill>
              <a:srgbClr val="1E3346"/>
            </a:solidFill>
            <a:prstDash val="solid"/>
          </a:ln>
        </p:spPr>
        <p:txBody>
          <a:bodyPr/>
          <a:lstStyle/>
          <a:p>
            <a:endParaRPr lang="es-CO"/>
          </a:p>
        </p:txBody>
      </p:sp>
      <p:sp>
        <p:nvSpPr>
          <p:cNvPr id="7" name="Shape 5"/>
          <p:cNvSpPr/>
          <p:nvPr/>
        </p:nvSpPr>
        <p:spPr>
          <a:xfrm>
            <a:off x="6483096" y="1088136"/>
            <a:ext cx="109728" cy="109728"/>
          </a:xfrm>
          <a:prstGeom prst="ellipse">
            <a:avLst/>
          </a:prstGeom>
          <a:solidFill>
            <a:srgbClr val="3DDC97"/>
          </a:solidFill>
          <a:ln w="12700">
            <a:solidFill>
              <a:srgbClr val="3DDC97"/>
            </a:solidFill>
            <a:prstDash val="solid"/>
          </a:ln>
        </p:spPr>
        <p:txBody>
          <a:bodyPr/>
          <a:lstStyle/>
          <a:p>
            <a:endParaRPr lang="es-CO"/>
          </a:p>
        </p:txBody>
      </p:sp>
      <p:sp>
        <p:nvSpPr>
          <p:cNvPr id="8" name="Shape 6"/>
          <p:cNvSpPr/>
          <p:nvPr/>
        </p:nvSpPr>
        <p:spPr>
          <a:xfrm>
            <a:off x="7580376" y="1728216"/>
            <a:ext cx="109728" cy="109728"/>
          </a:xfrm>
          <a:prstGeom prst="ellipse">
            <a:avLst/>
          </a:prstGeom>
          <a:solidFill>
            <a:srgbClr val="3DDC97"/>
          </a:solidFill>
          <a:ln w="12700">
            <a:solidFill>
              <a:srgbClr val="3DDC97"/>
            </a:solidFill>
            <a:prstDash val="solid"/>
          </a:ln>
        </p:spPr>
        <p:txBody>
          <a:bodyPr/>
          <a:lstStyle/>
          <a:p>
            <a:endParaRPr lang="es-CO"/>
          </a:p>
        </p:txBody>
      </p:sp>
      <p:sp>
        <p:nvSpPr>
          <p:cNvPr id="9" name="Shape 7"/>
          <p:cNvSpPr/>
          <p:nvPr/>
        </p:nvSpPr>
        <p:spPr>
          <a:xfrm>
            <a:off x="6848856" y="2734056"/>
            <a:ext cx="109728" cy="109728"/>
          </a:xfrm>
          <a:prstGeom prst="ellipse">
            <a:avLst/>
          </a:prstGeom>
          <a:solidFill>
            <a:srgbClr val="3DDC97"/>
          </a:solidFill>
          <a:ln w="12700">
            <a:solidFill>
              <a:srgbClr val="3DDC97"/>
            </a:solidFill>
            <a:prstDash val="solid"/>
          </a:ln>
        </p:spPr>
        <p:txBody>
          <a:bodyPr/>
          <a:lstStyle/>
          <a:p>
            <a:endParaRPr lang="es-CO"/>
          </a:p>
        </p:txBody>
      </p:sp>
      <p:sp>
        <p:nvSpPr>
          <p:cNvPr id="10" name="Shape 8"/>
          <p:cNvSpPr/>
          <p:nvPr/>
        </p:nvSpPr>
        <p:spPr>
          <a:xfrm>
            <a:off x="8037576" y="3374136"/>
            <a:ext cx="109728" cy="109728"/>
          </a:xfrm>
          <a:prstGeom prst="ellipse">
            <a:avLst/>
          </a:prstGeom>
          <a:solidFill>
            <a:srgbClr val="3DDC97"/>
          </a:solidFill>
          <a:ln w="12700">
            <a:solidFill>
              <a:srgbClr val="3DDC97"/>
            </a:solidFill>
            <a:prstDash val="solid"/>
          </a:ln>
        </p:spPr>
        <p:txBody>
          <a:bodyPr/>
          <a:lstStyle/>
          <a:p>
            <a:endParaRPr lang="es-CO"/>
          </a:p>
        </p:txBody>
      </p:sp>
      <p:sp>
        <p:nvSpPr>
          <p:cNvPr id="11" name="Shape 9"/>
          <p:cNvSpPr/>
          <p:nvPr/>
        </p:nvSpPr>
        <p:spPr>
          <a:xfrm>
            <a:off x="6300216" y="3922776"/>
            <a:ext cx="109728" cy="109728"/>
          </a:xfrm>
          <a:prstGeom prst="ellipse">
            <a:avLst/>
          </a:prstGeom>
          <a:solidFill>
            <a:srgbClr val="3DDC97"/>
          </a:solidFill>
          <a:ln w="12700">
            <a:solidFill>
              <a:srgbClr val="3DDC97"/>
            </a:solidFill>
            <a:prstDash val="solid"/>
          </a:ln>
        </p:spPr>
        <p:txBody>
          <a:bodyPr/>
          <a:lstStyle/>
          <a:p>
            <a:endParaRPr lang="es-CO"/>
          </a:p>
        </p:txBody>
      </p:sp>
      <p:sp>
        <p:nvSpPr>
          <p:cNvPr id="12" name="Shape 10"/>
          <p:cNvSpPr/>
          <p:nvPr/>
        </p:nvSpPr>
        <p:spPr>
          <a:xfrm>
            <a:off x="502920" y="868680"/>
            <a:ext cx="1874520" cy="256032"/>
          </a:xfrm>
          <a:prstGeom prst="roundRect">
            <a:avLst>
              <a:gd name="adj" fmla="val 42857"/>
            </a:avLst>
          </a:prstGeom>
          <a:solidFill>
            <a:srgbClr val="132A24"/>
          </a:solidFill>
          <a:ln w="9525">
            <a:solidFill>
              <a:srgbClr val="3DDC97"/>
            </a:solidFill>
            <a:prstDash val="solid"/>
          </a:ln>
        </p:spPr>
        <p:txBody>
          <a:bodyPr/>
          <a:lstStyle/>
          <a:p>
            <a:endParaRPr lang="es-CO"/>
          </a:p>
        </p:txBody>
      </p:sp>
      <p:sp>
        <p:nvSpPr>
          <p:cNvPr id="13" name="Text 11"/>
          <p:cNvSpPr txBox="1"/>
          <p:nvPr/>
        </p:nvSpPr>
        <p:spPr>
          <a:xfrm>
            <a:off x="502920" y="868680"/>
            <a:ext cx="1874520" cy="256032"/>
          </a:xfrm>
          <a:prstGeom prst="rect">
            <a:avLst/>
          </a:prstGeom>
          <a:noFill/>
          <a:ln/>
        </p:spPr>
        <p:txBody>
          <a:bodyPr wrap="square" lIns="0" tIns="0" rIns="0" bIns="0" rtlCol="0" anchor="ctr"/>
          <a:lstStyle/>
          <a:p>
            <a:pPr marL="0" indent="0" algn="ctr">
              <a:buNone/>
            </a:pPr>
            <a:r>
              <a:rPr lang="en-US" sz="950" b="1" dirty="0">
                <a:solidFill>
                  <a:srgbClr val="3DDC97"/>
                </a:solidFill>
                <a:latin typeface="Arial" pitchFamily="34" charset="0"/>
                <a:ea typeface="Arial" pitchFamily="34" charset="-122"/>
                <a:cs typeface="Arial" pitchFamily="34" charset="-120"/>
              </a:rPr>
              <a:t>INGENIERÍA WEB</a:t>
            </a:r>
            <a:endParaRPr lang="en-US" sz="950" dirty="0"/>
          </a:p>
        </p:txBody>
      </p:sp>
      <p:sp>
        <p:nvSpPr>
          <p:cNvPr id="14" name="Text 12"/>
          <p:cNvSpPr txBox="1"/>
          <p:nvPr/>
        </p:nvSpPr>
        <p:spPr>
          <a:xfrm>
            <a:off x="475488" y="1280160"/>
            <a:ext cx="5669280" cy="603504"/>
          </a:xfrm>
          <a:prstGeom prst="rect">
            <a:avLst/>
          </a:prstGeom>
          <a:noFill/>
          <a:ln/>
        </p:spPr>
        <p:txBody>
          <a:bodyPr wrap="square" lIns="0" tIns="0" rIns="0" bIns="0" rtlCol="0" anchor="ctr"/>
          <a:lstStyle/>
          <a:p>
            <a:pPr marL="0" indent="0">
              <a:buNone/>
            </a:pPr>
            <a:r>
              <a:rPr lang="en-US" sz="4200" b="1" dirty="0">
                <a:solidFill>
                  <a:srgbClr val="FFFFFF"/>
                </a:solidFill>
                <a:latin typeface="Arial" pitchFamily="34" charset="0"/>
                <a:ea typeface="Arial" pitchFamily="34" charset="-122"/>
                <a:cs typeface="Arial" pitchFamily="34" charset="-120"/>
              </a:rPr>
              <a:t>Sesión 03</a:t>
            </a:r>
            <a:endParaRPr lang="en-US" sz="4200" dirty="0"/>
          </a:p>
        </p:txBody>
      </p:sp>
      <p:sp>
        <p:nvSpPr>
          <p:cNvPr id="15" name="Text 13"/>
          <p:cNvSpPr txBox="1"/>
          <p:nvPr/>
        </p:nvSpPr>
        <p:spPr>
          <a:xfrm>
            <a:off x="475488" y="1883664"/>
            <a:ext cx="5669280" cy="420624"/>
          </a:xfrm>
          <a:prstGeom prst="rect">
            <a:avLst/>
          </a:prstGeom>
          <a:noFill/>
          <a:ln/>
        </p:spPr>
        <p:txBody>
          <a:bodyPr wrap="square" lIns="0" tIns="0" rIns="0" bIns="0" rtlCol="0" anchor="ctr"/>
          <a:lstStyle/>
          <a:p>
            <a:pPr marL="0" indent="0">
              <a:buNone/>
            </a:pPr>
            <a:r>
              <a:rPr lang="en-US" sz="2400" b="1" dirty="0">
                <a:solidFill>
                  <a:srgbClr val="3DDC97"/>
                </a:solidFill>
                <a:latin typeface="Arial" pitchFamily="34" charset="0"/>
                <a:ea typeface="Arial" pitchFamily="34" charset="-122"/>
                <a:cs typeface="Arial" pitchFamily="34" charset="-120"/>
              </a:rPr>
              <a:t>De la interfaz a la persistencia</a:t>
            </a:r>
            <a:endParaRPr lang="en-US" sz="2400" dirty="0"/>
          </a:p>
        </p:txBody>
      </p:sp>
      <p:sp>
        <p:nvSpPr>
          <p:cNvPr id="16" name="Text 14"/>
          <p:cNvSpPr txBox="1"/>
          <p:nvPr/>
        </p:nvSpPr>
        <p:spPr>
          <a:xfrm>
            <a:off x="475488" y="2304288"/>
            <a:ext cx="5669280" cy="274320"/>
          </a:xfrm>
          <a:prstGeom prst="rect">
            <a:avLst/>
          </a:prstGeom>
          <a:noFill/>
          <a:ln/>
        </p:spPr>
        <p:txBody>
          <a:bodyPr wrap="square" lIns="0" tIns="0" rIns="0" bIns="0" rtlCol="0" anchor="ctr"/>
          <a:lstStyle/>
          <a:p>
            <a:pPr marL="0" indent="0">
              <a:buNone/>
            </a:pPr>
            <a:r>
              <a:rPr lang="en-US" sz="1350" dirty="0">
                <a:solidFill>
                  <a:srgbClr val="E8EEF6"/>
                </a:solidFill>
                <a:latin typeface="Arial" pitchFamily="34" charset="0"/>
                <a:ea typeface="Arial" pitchFamily="34" charset="-122"/>
                <a:cs typeface="Arial" pitchFamily="34" charset="-120"/>
              </a:rPr>
              <a:t>CSS, procesamiento de formularios y SQLite</a:t>
            </a:r>
            <a:endParaRPr lang="en-US" sz="1350" dirty="0"/>
          </a:p>
        </p:txBody>
      </p:sp>
      <p:sp>
        <p:nvSpPr>
          <p:cNvPr id="17" name="Text 15"/>
          <p:cNvSpPr txBox="1"/>
          <p:nvPr/>
        </p:nvSpPr>
        <p:spPr>
          <a:xfrm>
            <a:off x="475488" y="2670048"/>
            <a:ext cx="5669280" cy="1005840"/>
          </a:xfrm>
          <a:prstGeom prst="rect">
            <a:avLst/>
          </a:prstGeom>
          <a:noFill/>
          <a:ln/>
        </p:spPr>
        <p:txBody>
          <a:bodyPr wrap="square" lIns="0" tIns="0" rIns="0" bIns="0" rtlCol="0" anchor="ctr"/>
          <a:lstStyle/>
          <a:p>
            <a:pPr marL="0" indent="0">
              <a:buNone/>
            </a:pPr>
            <a:r>
              <a:rPr lang="en-US" sz="1250" b="1" dirty="0">
                <a:solidFill>
                  <a:srgbClr val="E8EEF6"/>
                </a:solidFill>
                <a:latin typeface="Calibri" pitchFamily="34" charset="0"/>
                <a:ea typeface="Calibri" pitchFamily="34" charset="-122"/>
                <a:cs typeface="Calibri" pitchFamily="34" charset="-120"/>
              </a:rPr>
              <a:t>Luis Miguel Gómez Meneses</a:t>
            </a:r>
            <a:endParaRPr lang="en-US" sz="1250" dirty="0"/>
          </a:p>
          <a:p>
            <a:pPr marL="0" indent="0">
              <a:buNone/>
            </a:pPr>
            <a:r>
              <a:rPr lang="en-US" sz="1250" b="1" dirty="0">
                <a:solidFill>
                  <a:srgbClr val="E8EEF6"/>
                </a:solidFill>
                <a:latin typeface="Calibri" pitchFamily="34" charset="0"/>
                <a:ea typeface="Calibri" pitchFamily="34" charset="-122"/>
                <a:cs typeface="Calibri" pitchFamily="34" charset="-120"/>
              </a:rPr>
              <a:t>Programa de Ingeniería de Software · Semestre VIII</a:t>
            </a:r>
            <a:endParaRPr lang="en-US" sz="1250" dirty="0"/>
          </a:p>
          <a:p>
            <a:pPr marL="0" indent="0">
              <a:buNone/>
            </a:pPr>
            <a:r>
              <a:rPr lang="en-US" sz="1250" b="1" dirty="0">
                <a:solidFill>
                  <a:srgbClr val="E8EEF6"/>
                </a:solidFill>
                <a:latin typeface="Calibri" pitchFamily="34" charset="0"/>
                <a:ea typeface="Calibri" pitchFamily="34" charset="-122"/>
                <a:cs typeface="Calibri" pitchFamily="34" charset="-120"/>
              </a:rPr>
              <a:t>Universidad Cooperativa de Colombia</a:t>
            </a:r>
            <a:endParaRPr lang="en-US" sz="1250" dirty="0"/>
          </a:p>
        </p:txBody>
      </p:sp>
      <p:sp>
        <p:nvSpPr>
          <p:cNvPr id="18" name="Shape 16"/>
          <p:cNvSpPr/>
          <p:nvPr/>
        </p:nvSpPr>
        <p:spPr>
          <a:xfrm>
            <a:off x="502920" y="3794760"/>
            <a:ext cx="4160520" cy="713232"/>
          </a:xfrm>
          <a:prstGeom prst="roundRect">
            <a:avLst>
              <a:gd name="adj" fmla="val 10256"/>
            </a:avLst>
          </a:prstGeom>
          <a:solidFill>
            <a:srgbClr val="070C14"/>
          </a:solidFill>
          <a:ln w="12700">
            <a:solidFill>
              <a:srgbClr val="2B3B52"/>
            </a:solidFill>
            <a:prstDash val="solid"/>
          </a:ln>
        </p:spPr>
        <p:txBody>
          <a:bodyPr/>
          <a:lstStyle/>
          <a:p>
            <a:endParaRPr lang="es-CO"/>
          </a:p>
        </p:txBody>
      </p:sp>
      <p:sp>
        <p:nvSpPr>
          <p:cNvPr id="19" name="Text 17"/>
          <p:cNvSpPr txBox="1"/>
          <p:nvPr/>
        </p:nvSpPr>
        <p:spPr>
          <a:xfrm>
            <a:off x="649224" y="3849624"/>
            <a:ext cx="3867912" cy="603504"/>
          </a:xfrm>
          <a:prstGeom prst="rect">
            <a:avLst/>
          </a:prstGeom>
          <a:noFill/>
          <a:ln/>
        </p:spPr>
        <p:txBody>
          <a:bodyPr wrap="square" lIns="0" tIns="0" rIns="0" bIns="0" rtlCol="0" anchor="t"/>
          <a:lstStyle/>
          <a:p>
            <a:pPr marL="0" indent="0">
              <a:lnSpc>
                <a:spcPts val="1188"/>
              </a:lnSpc>
              <a:buNone/>
            </a:pPr>
            <a:r>
              <a:rPr lang="en-US" sz="900" dirty="0">
                <a:solidFill>
                  <a:srgbClr val="3DDC97"/>
                </a:solidFill>
                <a:latin typeface="Courier New" pitchFamily="34" charset="0"/>
                <a:ea typeface="Courier New" pitchFamily="34" charset="-122"/>
                <a:cs typeface="Courier New" pitchFamily="34" charset="-120"/>
              </a:rPr>
              <a:t>&lt;link</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B86C"/>
                </a:solidFill>
                <a:latin typeface="Courier New" pitchFamily="34" charset="0"/>
                <a:ea typeface="Courier New" pitchFamily="34" charset="-122"/>
                <a:cs typeface="Courier New" pitchFamily="34" charset="-120"/>
              </a:rPr>
              <a:t>rel=</a:t>
            </a:r>
            <a:r>
              <a:rPr lang="en-US" sz="900" dirty="0">
                <a:solidFill>
                  <a:srgbClr val="FFD479"/>
                </a:solidFill>
                <a:latin typeface="Courier New" pitchFamily="34" charset="0"/>
                <a:ea typeface="Courier New" pitchFamily="34" charset="-122"/>
                <a:cs typeface="Courier New" pitchFamily="34" charset="-120"/>
              </a:rPr>
              <a:t>"stylesheet"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B86C"/>
                </a:solidFill>
                <a:latin typeface="Courier New" pitchFamily="34" charset="0"/>
                <a:ea typeface="Courier New" pitchFamily="34" charset="-122"/>
                <a:cs typeface="Courier New" pitchFamily="34" charset="-120"/>
              </a:rPr>
              <a:t>href=</a:t>
            </a:r>
            <a:r>
              <a:rPr lang="en-US" sz="900" dirty="0">
                <a:solidFill>
                  <a:srgbClr val="FFD479"/>
                </a:solidFill>
                <a:latin typeface="Courier New" pitchFamily="34" charset="0"/>
                <a:ea typeface="Courier New" pitchFamily="34" charset="-122"/>
                <a:cs typeface="Courier New" pitchFamily="34" charset="-120"/>
              </a:rPr>
              <a:t>"/styles.css"</a:t>
            </a:r>
            <a:r>
              <a:rPr lang="en-US" sz="900" dirty="0">
                <a:solidFill>
                  <a:srgbClr val="3DDC97"/>
                </a:solidFill>
                <a:latin typeface="Courier New" pitchFamily="34" charset="0"/>
                <a:ea typeface="Courier New" pitchFamily="34" charset="-122"/>
                <a:cs typeface="Courier New" pitchFamily="34" charset="-120"/>
              </a:rPr>
              <a:t>&gt;</a:t>
            </a:r>
            <a:endParaRPr lang="en-US" sz="900" dirty="0"/>
          </a:p>
        </p:txBody>
      </p:sp>
      <p:sp>
        <p:nvSpPr>
          <p:cNvPr id="20" name="Text 18"/>
          <p:cNvSpPr txBox="1"/>
          <p:nvPr/>
        </p:nvSpPr>
        <p:spPr>
          <a:xfrm>
            <a:off x="4800600" y="3794760"/>
            <a:ext cx="3840480" cy="713232"/>
          </a:xfrm>
          <a:prstGeom prst="rect">
            <a:avLst/>
          </a:prstGeom>
          <a:noFill/>
          <a:ln/>
        </p:spPr>
        <p:txBody>
          <a:bodyPr wrap="square" lIns="0" tIns="0" rIns="0" bIns="0" rtlCol="0" anchor="ctr"/>
          <a:lstStyle/>
          <a:p>
            <a:pPr marL="0" indent="0">
              <a:buNone/>
            </a:pPr>
            <a:r>
              <a:rPr lang="en-US" sz="850" dirty="0">
                <a:solidFill>
                  <a:srgbClr val="93A5BD"/>
                </a:solidFill>
                <a:latin typeface="Courier New" pitchFamily="34" charset="0"/>
                <a:ea typeface="Courier New" pitchFamily="34" charset="-122"/>
                <a:cs typeface="Courier New" pitchFamily="34" charset="-120"/>
              </a:rPr>
              <a:t>POST /contacto → URLSearchParams → INSERT → contactos.db</a:t>
            </a:r>
            <a:endParaRPr lang="en-US" sz="850" dirty="0"/>
          </a:p>
        </p:txBody>
      </p:sp>
      <p:sp>
        <p:nvSpPr>
          <p:cNvPr id="21" name="Text 19"/>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01 / 25</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959846"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959846"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OBJETIVOS</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Objetivos de aprendizaje</a:t>
            </a:r>
            <a:endParaRPr lang="en-US" sz="26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02 / 25</a:t>
            </a:r>
            <a:endParaRPr lang="en-US" sz="800" dirty="0"/>
          </a:p>
        </p:txBody>
      </p:sp>
      <p:sp>
        <p:nvSpPr>
          <p:cNvPr id="6" name="Text 4"/>
          <p:cNvSpPr txBox="1"/>
          <p:nvPr/>
        </p:nvSpPr>
        <p:spPr>
          <a:xfrm>
            <a:off x="475488" y="1078992"/>
            <a:ext cx="8138160" cy="237744"/>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Al finalizar la sesión, el estudiante será capaz de:</a:t>
            </a:r>
            <a:endParaRPr lang="en-US" sz="1100" dirty="0"/>
          </a:p>
        </p:txBody>
      </p:sp>
      <p:sp>
        <p:nvSpPr>
          <p:cNvPr id="7" name="Shape 5"/>
          <p:cNvSpPr/>
          <p:nvPr/>
        </p:nvSpPr>
        <p:spPr>
          <a:xfrm>
            <a:off x="502920" y="1463040"/>
            <a:ext cx="3931920" cy="969264"/>
          </a:xfrm>
          <a:prstGeom prst="roundRect">
            <a:avLst>
              <a:gd name="adj" fmla="val 7547"/>
            </a:avLst>
          </a:prstGeom>
          <a:solidFill>
            <a:srgbClr val="1A2434"/>
          </a:solidFill>
          <a:ln w="12700">
            <a:solidFill>
              <a:srgbClr val="2B3B52"/>
            </a:solidFill>
            <a:prstDash val="solid"/>
          </a:ln>
        </p:spPr>
        <p:txBody>
          <a:bodyPr/>
          <a:lstStyle/>
          <a:p>
            <a:endParaRPr lang="es-CO"/>
          </a:p>
        </p:txBody>
      </p:sp>
      <p:sp>
        <p:nvSpPr>
          <p:cNvPr id="8" name="Shape 6"/>
          <p:cNvSpPr/>
          <p:nvPr/>
        </p:nvSpPr>
        <p:spPr>
          <a:xfrm>
            <a:off x="722376" y="1746504"/>
            <a:ext cx="402336" cy="402336"/>
          </a:xfrm>
          <a:prstGeom prst="ellipse">
            <a:avLst/>
          </a:prstGeom>
          <a:solidFill>
            <a:srgbClr val="132A24"/>
          </a:solidFill>
          <a:ln w="12700">
            <a:solidFill>
              <a:srgbClr val="3DDC97"/>
            </a:solidFill>
            <a:prstDash val="solid"/>
          </a:ln>
        </p:spPr>
        <p:txBody>
          <a:bodyPr/>
          <a:lstStyle/>
          <a:p>
            <a:endParaRPr lang="es-CO"/>
          </a:p>
        </p:txBody>
      </p:sp>
      <p:sp>
        <p:nvSpPr>
          <p:cNvPr id="9" name="Text 7"/>
          <p:cNvSpPr txBox="1"/>
          <p:nvPr/>
        </p:nvSpPr>
        <p:spPr>
          <a:xfrm>
            <a:off x="722376" y="1746504"/>
            <a:ext cx="402336" cy="402336"/>
          </a:xfrm>
          <a:prstGeom prst="rect">
            <a:avLst/>
          </a:prstGeom>
          <a:noFill/>
          <a:ln/>
        </p:spPr>
        <p:txBody>
          <a:bodyPr wrap="square" lIns="0" tIns="0" rIns="0" bIns="0" rtlCol="0" anchor="ctr"/>
          <a:lstStyle/>
          <a:p>
            <a:pPr marL="0" indent="0" algn="ctr">
              <a:buNone/>
            </a:pPr>
            <a:r>
              <a:rPr lang="en-US" sz="1100" b="1" dirty="0">
                <a:solidFill>
                  <a:srgbClr val="3DDC97"/>
                </a:solidFill>
                <a:latin typeface="Arial" pitchFamily="34" charset="0"/>
                <a:ea typeface="Arial" pitchFamily="34" charset="-122"/>
                <a:cs typeface="Arial" pitchFamily="34" charset="-120"/>
              </a:rPr>
              <a:t>01</a:t>
            </a:r>
            <a:endParaRPr lang="en-US" sz="1100" dirty="0"/>
          </a:p>
        </p:txBody>
      </p:sp>
      <p:sp>
        <p:nvSpPr>
          <p:cNvPr id="10" name="Text 8"/>
          <p:cNvSpPr txBox="1"/>
          <p:nvPr/>
        </p:nvSpPr>
        <p:spPr>
          <a:xfrm>
            <a:off x="1271016" y="1463040"/>
            <a:ext cx="2944368" cy="969264"/>
          </a:xfrm>
          <a:prstGeom prst="rect">
            <a:avLst/>
          </a:prstGeom>
          <a:noFill/>
          <a:ln/>
        </p:spPr>
        <p:txBody>
          <a:bodyPr wrap="square" lIns="0" tIns="0" rIns="0" bIns="0" rtlCol="0" anchor="ctr"/>
          <a:lstStyle/>
          <a:p>
            <a:pPr marL="0" indent="0">
              <a:buNone/>
            </a:pPr>
            <a:r>
              <a:rPr lang="en-US" sz="1100" dirty="0">
                <a:solidFill>
                  <a:srgbClr val="E8EEF6"/>
                </a:solidFill>
                <a:latin typeface="Calibri" pitchFamily="34" charset="0"/>
                <a:ea typeface="Calibri" pitchFamily="34" charset="-122"/>
                <a:cs typeface="Calibri" pitchFamily="34" charset="-120"/>
              </a:rPr>
              <a:t>Diferenciar la estructura definida por HTML de la presentación definida por CSS, y aplicar estilos con un archivo externo.</a:t>
            </a:r>
            <a:endParaRPr lang="en-US" sz="1100" dirty="0"/>
          </a:p>
        </p:txBody>
      </p:sp>
      <p:sp>
        <p:nvSpPr>
          <p:cNvPr id="11" name="Shape 9"/>
          <p:cNvSpPr/>
          <p:nvPr/>
        </p:nvSpPr>
        <p:spPr>
          <a:xfrm>
            <a:off x="4709160" y="1463040"/>
            <a:ext cx="3931920" cy="969264"/>
          </a:xfrm>
          <a:prstGeom prst="roundRect">
            <a:avLst>
              <a:gd name="adj" fmla="val 7547"/>
            </a:avLst>
          </a:prstGeom>
          <a:solidFill>
            <a:srgbClr val="1A2434"/>
          </a:solidFill>
          <a:ln w="12700">
            <a:solidFill>
              <a:srgbClr val="2B3B52"/>
            </a:solidFill>
            <a:prstDash val="solid"/>
          </a:ln>
        </p:spPr>
        <p:txBody>
          <a:bodyPr/>
          <a:lstStyle/>
          <a:p>
            <a:endParaRPr lang="es-CO"/>
          </a:p>
        </p:txBody>
      </p:sp>
      <p:sp>
        <p:nvSpPr>
          <p:cNvPr id="12" name="Shape 10"/>
          <p:cNvSpPr/>
          <p:nvPr/>
        </p:nvSpPr>
        <p:spPr>
          <a:xfrm>
            <a:off x="4928616" y="1746504"/>
            <a:ext cx="402336" cy="402336"/>
          </a:xfrm>
          <a:prstGeom prst="ellipse">
            <a:avLst/>
          </a:prstGeom>
          <a:solidFill>
            <a:srgbClr val="132A24"/>
          </a:solidFill>
          <a:ln w="12700">
            <a:solidFill>
              <a:srgbClr val="3DDC97"/>
            </a:solidFill>
            <a:prstDash val="solid"/>
          </a:ln>
        </p:spPr>
        <p:txBody>
          <a:bodyPr/>
          <a:lstStyle/>
          <a:p>
            <a:endParaRPr lang="es-CO"/>
          </a:p>
        </p:txBody>
      </p:sp>
      <p:sp>
        <p:nvSpPr>
          <p:cNvPr id="13" name="Text 11"/>
          <p:cNvSpPr txBox="1"/>
          <p:nvPr/>
        </p:nvSpPr>
        <p:spPr>
          <a:xfrm>
            <a:off x="4928616" y="1746504"/>
            <a:ext cx="402336" cy="402336"/>
          </a:xfrm>
          <a:prstGeom prst="rect">
            <a:avLst/>
          </a:prstGeom>
          <a:noFill/>
          <a:ln/>
        </p:spPr>
        <p:txBody>
          <a:bodyPr wrap="square" lIns="0" tIns="0" rIns="0" bIns="0" rtlCol="0" anchor="ctr"/>
          <a:lstStyle/>
          <a:p>
            <a:pPr marL="0" indent="0" algn="ctr">
              <a:buNone/>
            </a:pPr>
            <a:r>
              <a:rPr lang="en-US" sz="1100" b="1" dirty="0">
                <a:solidFill>
                  <a:srgbClr val="3DDC97"/>
                </a:solidFill>
                <a:latin typeface="Arial" pitchFamily="34" charset="0"/>
                <a:ea typeface="Arial" pitchFamily="34" charset="-122"/>
                <a:cs typeface="Arial" pitchFamily="34" charset="-120"/>
              </a:rPr>
              <a:t>02</a:t>
            </a:r>
            <a:endParaRPr lang="en-US" sz="1100" dirty="0"/>
          </a:p>
        </p:txBody>
      </p:sp>
      <p:sp>
        <p:nvSpPr>
          <p:cNvPr id="14" name="Text 12"/>
          <p:cNvSpPr txBox="1"/>
          <p:nvPr/>
        </p:nvSpPr>
        <p:spPr>
          <a:xfrm>
            <a:off x="5477256" y="1463040"/>
            <a:ext cx="2944368" cy="969264"/>
          </a:xfrm>
          <a:prstGeom prst="rect">
            <a:avLst/>
          </a:prstGeom>
          <a:noFill/>
          <a:ln/>
        </p:spPr>
        <p:txBody>
          <a:bodyPr wrap="square" lIns="0" tIns="0" rIns="0" bIns="0" rtlCol="0" anchor="ctr"/>
          <a:lstStyle/>
          <a:p>
            <a:pPr marL="0" indent="0">
              <a:buNone/>
            </a:pPr>
            <a:r>
              <a:rPr lang="en-US" sz="1100" dirty="0">
                <a:solidFill>
                  <a:srgbClr val="E8EEF6"/>
                </a:solidFill>
                <a:latin typeface="Calibri" pitchFamily="34" charset="0"/>
                <a:ea typeface="Calibri" pitchFamily="34" charset="-122"/>
                <a:cs typeface="Calibri" pitchFamily="34" charset="-120"/>
              </a:rPr>
              <a:t>Explicar por qué el navegador realiza una petición GET independiente para obtener styles.css.</a:t>
            </a:r>
            <a:endParaRPr lang="en-US" sz="1100" dirty="0"/>
          </a:p>
        </p:txBody>
      </p:sp>
      <p:sp>
        <p:nvSpPr>
          <p:cNvPr id="15" name="Shape 13"/>
          <p:cNvSpPr/>
          <p:nvPr/>
        </p:nvSpPr>
        <p:spPr>
          <a:xfrm>
            <a:off x="502920" y="2670048"/>
            <a:ext cx="3931920" cy="969264"/>
          </a:xfrm>
          <a:prstGeom prst="roundRect">
            <a:avLst>
              <a:gd name="adj" fmla="val 7547"/>
            </a:avLst>
          </a:prstGeom>
          <a:solidFill>
            <a:srgbClr val="1A2434"/>
          </a:solidFill>
          <a:ln w="12700">
            <a:solidFill>
              <a:srgbClr val="2B3B52"/>
            </a:solidFill>
            <a:prstDash val="solid"/>
          </a:ln>
        </p:spPr>
        <p:txBody>
          <a:bodyPr/>
          <a:lstStyle/>
          <a:p>
            <a:endParaRPr lang="es-CO"/>
          </a:p>
        </p:txBody>
      </p:sp>
      <p:sp>
        <p:nvSpPr>
          <p:cNvPr id="16" name="Shape 14"/>
          <p:cNvSpPr/>
          <p:nvPr/>
        </p:nvSpPr>
        <p:spPr>
          <a:xfrm>
            <a:off x="722376" y="2953512"/>
            <a:ext cx="402336" cy="402336"/>
          </a:xfrm>
          <a:prstGeom prst="ellipse">
            <a:avLst/>
          </a:prstGeom>
          <a:solidFill>
            <a:srgbClr val="132A24"/>
          </a:solidFill>
          <a:ln w="12700">
            <a:solidFill>
              <a:srgbClr val="3DDC97"/>
            </a:solidFill>
            <a:prstDash val="solid"/>
          </a:ln>
        </p:spPr>
        <p:txBody>
          <a:bodyPr/>
          <a:lstStyle/>
          <a:p>
            <a:endParaRPr lang="es-CO"/>
          </a:p>
        </p:txBody>
      </p:sp>
      <p:sp>
        <p:nvSpPr>
          <p:cNvPr id="17" name="Text 15"/>
          <p:cNvSpPr txBox="1"/>
          <p:nvPr/>
        </p:nvSpPr>
        <p:spPr>
          <a:xfrm>
            <a:off x="722376" y="2953512"/>
            <a:ext cx="402336" cy="402336"/>
          </a:xfrm>
          <a:prstGeom prst="rect">
            <a:avLst/>
          </a:prstGeom>
          <a:noFill/>
          <a:ln/>
        </p:spPr>
        <p:txBody>
          <a:bodyPr wrap="square" lIns="0" tIns="0" rIns="0" bIns="0" rtlCol="0" anchor="ctr"/>
          <a:lstStyle/>
          <a:p>
            <a:pPr marL="0" indent="0" algn="ctr">
              <a:buNone/>
            </a:pPr>
            <a:r>
              <a:rPr lang="en-US" sz="1100" b="1" dirty="0">
                <a:solidFill>
                  <a:srgbClr val="3DDC97"/>
                </a:solidFill>
                <a:latin typeface="Arial" pitchFamily="34" charset="0"/>
                <a:ea typeface="Arial" pitchFamily="34" charset="-122"/>
                <a:cs typeface="Arial" pitchFamily="34" charset="-120"/>
              </a:rPr>
              <a:t>03</a:t>
            </a:r>
            <a:endParaRPr lang="en-US" sz="1100" dirty="0"/>
          </a:p>
        </p:txBody>
      </p:sp>
      <p:sp>
        <p:nvSpPr>
          <p:cNvPr id="18" name="Text 16"/>
          <p:cNvSpPr txBox="1"/>
          <p:nvPr/>
        </p:nvSpPr>
        <p:spPr>
          <a:xfrm>
            <a:off x="1271016" y="2670048"/>
            <a:ext cx="2944368" cy="969264"/>
          </a:xfrm>
          <a:prstGeom prst="rect">
            <a:avLst/>
          </a:prstGeom>
          <a:noFill/>
          <a:ln/>
        </p:spPr>
        <p:txBody>
          <a:bodyPr wrap="square" lIns="0" tIns="0" rIns="0" bIns="0" rtlCol="0" anchor="ctr"/>
          <a:lstStyle/>
          <a:p>
            <a:pPr marL="0" indent="0">
              <a:buNone/>
            </a:pPr>
            <a:r>
              <a:rPr lang="en-US" sz="1100" dirty="0">
                <a:solidFill>
                  <a:srgbClr val="E8EEF6"/>
                </a:solidFill>
                <a:latin typeface="Calibri" pitchFamily="34" charset="0"/>
                <a:ea typeface="Calibri" pitchFamily="34" charset="-122"/>
                <a:cs typeface="Calibri" pitchFamily="34" charset="-120"/>
              </a:rPr>
              <a:t>Reconstruir el cuerpo de una petición POST con los eventos data y end, e interpretarlo con URLSearchParams.</a:t>
            </a:r>
            <a:endParaRPr lang="en-US" sz="1100" dirty="0"/>
          </a:p>
        </p:txBody>
      </p:sp>
      <p:sp>
        <p:nvSpPr>
          <p:cNvPr id="19" name="Shape 17"/>
          <p:cNvSpPr/>
          <p:nvPr/>
        </p:nvSpPr>
        <p:spPr>
          <a:xfrm>
            <a:off x="4709160" y="2670048"/>
            <a:ext cx="3931920" cy="969264"/>
          </a:xfrm>
          <a:prstGeom prst="roundRect">
            <a:avLst>
              <a:gd name="adj" fmla="val 7547"/>
            </a:avLst>
          </a:prstGeom>
          <a:solidFill>
            <a:srgbClr val="1A2434"/>
          </a:solidFill>
          <a:ln w="12700">
            <a:solidFill>
              <a:srgbClr val="2B3B52"/>
            </a:solidFill>
            <a:prstDash val="solid"/>
          </a:ln>
        </p:spPr>
        <p:txBody>
          <a:bodyPr/>
          <a:lstStyle/>
          <a:p>
            <a:endParaRPr lang="es-CO"/>
          </a:p>
        </p:txBody>
      </p:sp>
      <p:sp>
        <p:nvSpPr>
          <p:cNvPr id="20" name="Shape 18"/>
          <p:cNvSpPr/>
          <p:nvPr/>
        </p:nvSpPr>
        <p:spPr>
          <a:xfrm>
            <a:off x="4928616" y="2953512"/>
            <a:ext cx="402336" cy="402336"/>
          </a:xfrm>
          <a:prstGeom prst="ellipse">
            <a:avLst/>
          </a:prstGeom>
          <a:solidFill>
            <a:srgbClr val="132A24"/>
          </a:solidFill>
          <a:ln w="12700">
            <a:solidFill>
              <a:srgbClr val="3DDC97"/>
            </a:solidFill>
            <a:prstDash val="solid"/>
          </a:ln>
        </p:spPr>
        <p:txBody>
          <a:bodyPr/>
          <a:lstStyle/>
          <a:p>
            <a:endParaRPr lang="es-CO"/>
          </a:p>
        </p:txBody>
      </p:sp>
      <p:sp>
        <p:nvSpPr>
          <p:cNvPr id="21" name="Text 19"/>
          <p:cNvSpPr txBox="1"/>
          <p:nvPr/>
        </p:nvSpPr>
        <p:spPr>
          <a:xfrm>
            <a:off x="4928616" y="2953512"/>
            <a:ext cx="402336" cy="402336"/>
          </a:xfrm>
          <a:prstGeom prst="rect">
            <a:avLst/>
          </a:prstGeom>
          <a:noFill/>
          <a:ln/>
        </p:spPr>
        <p:txBody>
          <a:bodyPr wrap="square" lIns="0" tIns="0" rIns="0" bIns="0" rtlCol="0" anchor="ctr"/>
          <a:lstStyle/>
          <a:p>
            <a:pPr marL="0" indent="0" algn="ctr">
              <a:buNone/>
            </a:pPr>
            <a:r>
              <a:rPr lang="en-US" sz="1100" b="1" dirty="0">
                <a:solidFill>
                  <a:srgbClr val="3DDC97"/>
                </a:solidFill>
                <a:latin typeface="Arial" pitchFamily="34" charset="0"/>
                <a:ea typeface="Arial" pitchFamily="34" charset="-122"/>
                <a:cs typeface="Arial" pitchFamily="34" charset="-120"/>
              </a:rPr>
              <a:t>04</a:t>
            </a:r>
            <a:endParaRPr lang="en-US" sz="1100" dirty="0"/>
          </a:p>
        </p:txBody>
      </p:sp>
      <p:sp>
        <p:nvSpPr>
          <p:cNvPr id="22" name="Text 20"/>
          <p:cNvSpPr txBox="1"/>
          <p:nvPr/>
        </p:nvSpPr>
        <p:spPr>
          <a:xfrm>
            <a:off x="5477256" y="2670048"/>
            <a:ext cx="2944368" cy="969264"/>
          </a:xfrm>
          <a:prstGeom prst="rect">
            <a:avLst/>
          </a:prstGeom>
          <a:noFill/>
          <a:ln/>
        </p:spPr>
        <p:txBody>
          <a:bodyPr wrap="square" lIns="0" tIns="0" rIns="0" bIns="0" rtlCol="0" anchor="ctr"/>
          <a:lstStyle/>
          <a:p>
            <a:pPr marL="0" indent="0">
              <a:buNone/>
            </a:pPr>
            <a:r>
              <a:rPr lang="en-US" sz="1100" dirty="0">
                <a:solidFill>
                  <a:srgbClr val="E8EEF6"/>
                </a:solidFill>
                <a:latin typeface="Calibri" pitchFamily="34" charset="0"/>
                <a:ea typeface="Calibri" pitchFamily="34" charset="-122"/>
                <a:cs typeface="Calibri" pitchFamily="34" charset="-120"/>
              </a:rPr>
              <a:t>Diferenciar información temporal de información persistente y almacenarla mediante un INSERT parametrizado en SQLite.</a:t>
            </a:r>
            <a:endParaRPr lang="en-US" sz="1100" dirty="0"/>
          </a:p>
        </p:txBody>
      </p:sp>
      <p:sp>
        <p:nvSpPr>
          <p:cNvPr id="23" name="Text 21"/>
          <p:cNvSpPr txBox="1"/>
          <p:nvPr/>
        </p:nvSpPr>
        <p:spPr>
          <a:xfrm>
            <a:off x="502920" y="3822192"/>
            <a:ext cx="8138160" cy="182880"/>
          </a:xfrm>
          <a:prstGeom prst="rect">
            <a:avLst/>
          </a:prstGeom>
          <a:noFill/>
          <a:ln/>
        </p:spPr>
        <p:txBody>
          <a:bodyPr wrap="square" lIns="0" tIns="0" rIns="0" bIns="0" rtlCol="0" anchor="ctr"/>
          <a:lstStyle/>
          <a:p>
            <a:pPr marL="0" indent="0">
              <a:buNone/>
            </a:pPr>
            <a:r>
              <a:rPr lang="en-US" sz="900" b="1" dirty="0">
                <a:solidFill>
                  <a:srgbClr val="6C7E96"/>
                </a:solidFill>
                <a:latin typeface="Arial" pitchFamily="34" charset="0"/>
                <a:ea typeface="Arial" pitchFamily="34" charset="-122"/>
                <a:cs typeface="Arial" pitchFamily="34" charset="-120"/>
              </a:rPr>
              <a:t>Secuencia metodológica de la sesión</a:t>
            </a:r>
            <a:endParaRPr lang="en-US" sz="900" dirty="0"/>
          </a:p>
        </p:txBody>
      </p:sp>
      <p:sp>
        <p:nvSpPr>
          <p:cNvPr id="24" name="Shape 22"/>
          <p:cNvSpPr/>
          <p:nvPr/>
        </p:nvSpPr>
        <p:spPr>
          <a:xfrm>
            <a:off x="502920" y="4078224"/>
            <a:ext cx="1065276" cy="329184"/>
          </a:xfrm>
          <a:prstGeom prst="roundRect">
            <a:avLst>
              <a:gd name="adj" fmla="val 25000"/>
            </a:avLst>
          </a:prstGeom>
          <a:solidFill>
            <a:srgbClr val="1A2434"/>
          </a:solidFill>
          <a:ln w="12700">
            <a:solidFill>
              <a:srgbClr val="2B3B52"/>
            </a:solidFill>
            <a:prstDash val="solid"/>
          </a:ln>
        </p:spPr>
        <p:txBody>
          <a:bodyPr/>
          <a:lstStyle/>
          <a:p>
            <a:endParaRPr lang="es-CO"/>
          </a:p>
        </p:txBody>
      </p:sp>
      <p:sp>
        <p:nvSpPr>
          <p:cNvPr id="25" name="Text 23"/>
          <p:cNvSpPr txBox="1"/>
          <p:nvPr/>
        </p:nvSpPr>
        <p:spPr>
          <a:xfrm>
            <a:off x="502920" y="4078224"/>
            <a:ext cx="1065276" cy="329184"/>
          </a:xfrm>
          <a:prstGeom prst="rect">
            <a:avLst/>
          </a:prstGeom>
          <a:noFill/>
          <a:ln/>
        </p:spPr>
        <p:txBody>
          <a:bodyPr wrap="square" lIns="0" tIns="0" rIns="0" bIns="0" rtlCol="0" anchor="ctr"/>
          <a:lstStyle/>
          <a:p>
            <a:pPr marL="0" indent="0" algn="ctr">
              <a:buNone/>
            </a:pPr>
            <a:r>
              <a:rPr lang="en-US" sz="850" b="1" dirty="0">
                <a:solidFill>
                  <a:srgbClr val="E8EEF6"/>
                </a:solidFill>
                <a:latin typeface="Arial" pitchFamily="34" charset="0"/>
                <a:ea typeface="Arial" pitchFamily="34" charset="-122"/>
                <a:cs typeface="Arial" pitchFamily="34" charset="-120"/>
              </a:rPr>
              <a:t>Recuperación</a:t>
            </a:r>
            <a:endParaRPr lang="en-US" sz="850" dirty="0"/>
          </a:p>
        </p:txBody>
      </p:sp>
      <p:sp>
        <p:nvSpPr>
          <p:cNvPr id="26" name="Shape 24"/>
          <p:cNvSpPr/>
          <p:nvPr/>
        </p:nvSpPr>
        <p:spPr>
          <a:xfrm>
            <a:off x="1681582" y="4078224"/>
            <a:ext cx="1065276" cy="329184"/>
          </a:xfrm>
          <a:prstGeom prst="roundRect">
            <a:avLst>
              <a:gd name="adj" fmla="val 25000"/>
            </a:avLst>
          </a:prstGeom>
          <a:solidFill>
            <a:srgbClr val="1A2434"/>
          </a:solidFill>
          <a:ln w="12700">
            <a:solidFill>
              <a:srgbClr val="2B3B52"/>
            </a:solidFill>
            <a:prstDash val="solid"/>
          </a:ln>
        </p:spPr>
        <p:txBody>
          <a:bodyPr/>
          <a:lstStyle/>
          <a:p>
            <a:endParaRPr lang="es-CO"/>
          </a:p>
        </p:txBody>
      </p:sp>
      <p:sp>
        <p:nvSpPr>
          <p:cNvPr id="27" name="Text 25"/>
          <p:cNvSpPr txBox="1"/>
          <p:nvPr/>
        </p:nvSpPr>
        <p:spPr>
          <a:xfrm>
            <a:off x="1681582" y="4078224"/>
            <a:ext cx="1065276" cy="329184"/>
          </a:xfrm>
          <a:prstGeom prst="rect">
            <a:avLst/>
          </a:prstGeom>
          <a:noFill/>
          <a:ln/>
        </p:spPr>
        <p:txBody>
          <a:bodyPr wrap="square" lIns="0" tIns="0" rIns="0" bIns="0" rtlCol="0" anchor="ctr"/>
          <a:lstStyle/>
          <a:p>
            <a:pPr marL="0" indent="0" algn="ctr">
              <a:buNone/>
            </a:pPr>
            <a:r>
              <a:rPr lang="en-US" sz="850" b="1" dirty="0">
                <a:solidFill>
                  <a:srgbClr val="E8EEF6"/>
                </a:solidFill>
                <a:latin typeface="Arial" pitchFamily="34" charset="0"/>
                <a:ea typeface="Arial" pitchFamily="34" charset="-122"/>
                <a:cs typeface="Arial" pitchFamily="34" charset="-120"/>
              </a:rPr>
              <a:t>CSS esencial</a:t>
            </a:r>
            <a:endParaRPr lang="en-US" sz="850" dirty="0"/>
          </a:p>
        </p:txBody>
      </p:sp>
      <p:sp>
        <p:nvSpPr>
          <p:cNvPr id="28" name="Shape 26"/>
          <p:cNvSpPr/>
          <p:nvPr/>
        </p:nvSpPr>
        <p:spPr>
          <a:xfrm>
            <a:off x="2860243" y="4078224"/>
            <a:ext cx="1065276" cy="329184"/>
          </a:xfrm>
          <a:prstGeom prst="roundRect">
            <a:avLst>
              <a:gd name="adj" fmla="val 25000"/>
            </a:avLst>
          </a:prstGeom>
          <a:solidFill>
            <a:srgbClr val="35210F"/>
          </a:solidFill>
          <a:ln w="12700">
            <a:solidFill>
              <a:srgbClr val="FF8A3D"/>
            </a:solidFill>
            <a:prstDash val="solid"/>
          </a:ln>
        </p:spPr>
        <p:txBody>
          <a:bodyPr/>
          <a:lstStyle/>
          <a:p>
            <a:endParaRPr lang="es-CO"/>
          </a:p>
        </p:txBody>
      </p:sp>
      <p:sp>
        <p:nvSpPr>
          <p:cNvPr id="29" name="Text 27"/>
          <p:cNvSpPr txBox="1"/>
          <p:nvPr/>
        </p:nvSpPr>
        <p:spPr>
          <a:xfrm>
            <a:off x="2860243" y="4078224"/>
            <a:ext cx="1065276" cy="329184"/>
          </a:xfrm>
          <a:prstGeom prst="rect">
            <a:avLst/>
          </a:prstGeom>
          <a:noFill/>
          <a:ln/>
        </p:spPr>
        <p:txBody>
          <a:bodyPr wrap="square" lIns="0" tIns="0" rIns="0" bIns="0" rtlCol="0" anchor="ctr"/>
          <a:lstStyle/>
          <a:p>
            <a:pPr marL="0" indent="0" algn="ctr">
              <a:buNone/>
            </a:pPr>
            <a:r>
              <a:rPr lang="en-US" sz="850" b="1" dirty="0">
                <a:solidFill>
                  <a:srgbClr val="FF8A3D"/>
                </a:solidFill>
                <a:latin typeface="Arial" pitchFamily="34" charset="0"/>
                <a:ea typeface="Arial" pitchFamily="34" charset="-122"/>
                <a:cs typeface="Arial" pitchFamily="34" charset="-120"/>
              </a:rPr>
              <a:t>Aplicación</a:t>
            </a:r>
            <a:endParaRPr lang="en-US" sz="850" dirty="0"/>
          </a:p>
        </p:txBody>
      </p:sp>
      <p:sp>
        <p:nvSpPr>
          <p:cNvPr id="30" name="Shape 28"/>
          <p:cNvSpPr/>
          <p:nvPr/>
        </p:nvSpPr>
        <p:spPr>
          <a:xfrm>
            <a:off x="4038905" y="4078224"/>
            <a:ext cx="1065276" cy="329184"/>
          </a:xfrm>
          <a:prstGeom prst="roundRect">
            <a:avLst>
              <a:gd name="adj" fmla="val 25000"/>
            </a:avLst>
          </a:prstGeom>
          <a:solidFill>
            <a:srgbClr val="1A2434"/>
          </a:solidFill>
          <a:ln w="12700">
            <a:solidFill>
              <a:srgbClr val="2B3B52"/>
            </a:solidFill>
            <a:prstDash val="solid"/>
          </a:ln>
        </p:spPr>
        <p:txBody>
          <a:bodyPr/>
          <a:lstStyle/>
          <a:p>
            <a:endParaRPr lang="es-CO"/>
          </a:p>
        </p:txBody>
      </p:sp>
      <p:sp>
        <p:nvSpPr>
          <p:cNvPr id="31" name="Text 29"/>
          <p:cNvSpPr txBox="1"/>
          <p:nvPr/>
        </p:nvSpPr>
        <p:spPr>
          <a:xfrm>
            <a:off x="4038905" y="4078224"/>
            <a:ext cx="1065276" cy="329184"/>
          </a:xfrm>
          <a:prstGeom prst="rect">
            <a:avLst/>
          </a:prstGeom>
          <a:noFill/>
          <a:ln/>
        </p:spPr>
        <p:txBody>
          <a:bodyPr wrap="square" lIns="0" tIns="0" rIns="0" bIns="0" rtlCol="0" anchor="ctr"/>
          <a:lstStyle/>
          <a:p>
            <a:pPr marL="0" indent="0" algn="ctr">
              <a:buNone/>
            </a:pPr>
            <a:r>
              <a:rPr lang="en-US" sz="850" b="1" dirty="0">
                <a:solidFill>
                  <a:srgbClr val="E8EEF6"/>
                </a:solidFill>
                <a:latin typeface="Arial" pitchFamily="34" charset="0"/>
                <a:ea typeface="Arial" pitchFamily="34" charset="-122"/>
                <a:cs typeface="Arial" pitchFamily="34" charset="-120"/>
              </a:rPr>
              <a:t>POST</a:t>
            </a:r>
            <a:endParaRPr lang="en-US" sz="850" dirty="0"/>
          </a:p>
        </p:txBody>
      </p:sp>
      <p:sp>
        <p:nvSpPr>
          <p:cNvPr id="32" name="Shape 30"/>
          <p:cNvSpPr/>
          <p:nvPr/>
        </p:nvSpPr>
        <p:spPr>
          <a:xfrm>
            <a:off x="5217566" y="4078224"/>
            <a:ext cx="1065276" cy="329184"/>
          </a:xfrm>
          <a:prstGeom prst="roundRect">
            <a:avLst>
              <a:gd name="adj" fmla="val 25000"/>
            </a:avLst>
          </a:prstGeom>
          <a:solidFill>
            <a:srgbClr val="1A2434"/>
          </a:solidFill>
          <a:ln w="12700">
            <a:solidFill>
              <a:srgbClr val="2B3B52"/>
            </a:solidFill>
            <a:prstDash val="solid"/>
          </a:ln>
        </p:spPr>
        <p:txBody>
          <a:bodyPr/>
          <a:lstStyle/>
          <a:p>
            <a:endParaRPr lang="es-CO"/>
          </a:p>
        </p:txBody>
      </p:sp>
      <p:sp>
        <p:nvSpPr>
          <p:cNvPr id="33" name="Text 31"/>
          <p:cNvSpPr txBox="1"/>
          <p:nvPr/>
        </p:nvSpPr>
        <p:spPr>
          <a:xfrm>
            <a:off x="5217566" y="4078224"/>
            <a:ext cx="1065276" cy="329184"/>
          </a:xfrm>
          <a:prstGeom prst="rect">
            <a:avLst/>
          </a:prstGeom>
          <a:noFill/>
          <a:ln/>
        </p:spPr>
        <p:txBody>
          <a:bodyPr wrap="square" lIns="0" tIns="0" rIns="0" bIns="0" rtlCol="0" anchor="ctr"/>
          <a:lstStyle/>
          <a:p>
            <a:pPr marL="0" indent="0" algn="ctr">
              <a:buNone/>
            </a:pPr>
            <a:r>
              <a:rPr lang="en-US" sz="850" b="1" dirty="0">
                <a:solidFill>
                  <a:srgbClr val="E8EEF6"/>
                </a:solidFill>
                <a:latin typeface="Arial" pitchFamily="34" charset="0"/>
                <a:ea typeface="Arial" pitchFamily="34" charset="-122"/>
                <a:cs typeface="Arial" pitchFamily="34" charset="-120"/>
              </a:rPr>
              <a:t>Interpretación</a:t>
            </a:r>
            <a:endParaRPr lang="en-US" sz="850" dirty="0"/>
          </a:p>
        </p:txBody>
      </p:sp>
      <p:sp>
        <p:nvSpPr>
          <p:cNvPr id="34" name="Shape 32"/>
          <p:cNvSpPr/>
          <p:nvPr/>
        </p:nvSpPr>
        <p:spPr>
          <a:xfrm>
            <a:off x="6396228" y="4078224"/>
            <a:ext cx="1065276" cy="329184"/>
          </a:xfrm>
          <a:prstGeom prst="roundRect">
            <a:avLst>
              <a:gd name="adj" fmla="val 25000"/>
            </a:avLst>
          </a:prstGeom>
          <a:solidFill>
            <a:srgbClr val="1A2434"/>
          </a:solidFill>
          <a:ln w="12700">
            <a:solidFill>
              <a:srgbClr val="2B3B52"/>
            </a:solidFill>
            <a:prstDash val="solid"/>
          </a:ln>
        </p:spPr>
        <p:txBody>
          <a:bodyPr/>
          <a:lstStyle/>
          <a:p>
            <a:endParaRPr lang="es-CO"/>
          </a:p>
        </p:txBody>
      </p:sp>
      <p:sp>
        <p:nvSpPr>
          <p:cNvPr id="35" name="Text 33"/>
          <p:cNvSpPr txBox="1"/>
          <p:nvPr/>
        </p:nvSpPr>
        <p:spPr>
          <a:xfrm>
            <a:off x="6396228" y="4078224"/>
            <a:ext cx="1065276" cy="329184"/>
          </a:xfrm>
          <a:prstGeom prst="rect">
            <a:avLst/>
          </a:prstGeom>
          <a:noFill/>
          <a:ln/>
        </p:spPr>
        <p:txBody>
          <a:bodyPr wrap="square" lIns="0" tIns="0" rIns="0" bIns="0" rtlCol="0" anchor="ctr"/>
          <a:lstStyle/>
          <a:p>
            <a:pPr marL="0" indent="0" algn="ctr">
              <a:buNone/>
            </a:pPr>
            <a:r>
              <a:rPr lang="en-US" sz="850" b="1" dirty="0">
                <a:solidFill>
                  <a:srgbClr val="E8EEF6"/>
                </a:solidFill>
                <a:latin typeface="Arial" pitchFamily="34" charset="0"/>
                <a:ea typeface="Arial" pitchFamily="34" charset="-122"/>
                <a:cs typeface="Arial" pitchFamily="34" charset="-120"/>
              </a:rPr>
              <a:t>Persistencia</a:t>
            </a:r>
            <a:endParaRPr lang="en-US" sz="850" dirty="0"/>
          </a:p>
        </p:txBody>
      </p:sp>
      <p:sp>
        <p:nvSpPr>
          <p:cNvPr id="36" name="Shape 34"/>
          <p:cNvSpPr/>
          <p:nvPr/>
        </p:nvSpPr>
        <p:spPr>
          <a:xfrm>
            <a:off x="7574890" y="4078224"/>
            <a:ext cx="1065276" cy="329184"/>
          </a:xfrm>
          <a:prstGeom prst="roundRect">
            <a:avLst>
              <a:gd name="adj" fmla="val 25000"/>
            </a:avLst>
          </a:prstGeom>
          <a:solidFill>
            <a:srgbClr val="35210F"/>
          </a:solidFill>
          <a:ln w="12700">
            <a:solidFill>
              <a:srgbClr val="FF8A3D"/>
            </a:solidFill>
            <a:prstDash val="solid"/>
          </a:ln>
        </p:spPr>
        <p:txBody>
          <a:bodyPr/>
          <a:lstStyle/>
          <a:p>
            <a:endParaRPr lang="es-CO"/>
          </a:p>
        </p:txBody>
      </p:sp>
      <p:sp>
        <p:nvSpPr>
          <p:cNvPr id="37" name="Text 35"/>
          <p:cNvSpPr txBox="1"/>
          <p:nvPr/>
        </p:nvSpPr>
        <p:spPr>
          <a:xfrm>
            <a:off x="7574890" y="4078224"/>
            <a:ext cx="1065276" cy="329184"/>
          </a:xfrm>
          <a:prstGeom prst="rect">
            <a:avLst/>
          </a:prstGeom>
          <a:noFill/>
          <a:ln/>
        </p:spPr>
        <p:txBody>
          <a:bodyPr wrap="square" lIns="0" tIns="0" rIns="0" bIns="0" rtlCol="0" anchor="ctr"/>
          <a:lstStyle/>
          <a:p>
            <a:pPr marL="0" indent="0" algn="ctr">
              <a:buNone/>
            </a:pPr>
            <a:r>
              <a:rPr lang="en-US" sz="850" b="1" dirty="0">
                <a:solidFill>
                  <a:srgbClr val="FF8A3D"/>
                </a:solidFill>
                <a:latin typeface="Arial" pitchFamily="34" charset="0"/>
                <a:ea typeface="Arial" pitchFamily="34" charset="-122"/>
                <a:cs typeface="Arial" pitchFamily="34" charset="-120"/>
              </a:rPr>
              <a:t>Integración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1493032"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493032"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PUNTO DE PARTIDA</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El formulario ya se envía al servidor</a:t>
            </a:r>
            <a:endParaRPr lang="en-US" sz="26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03 / 25</a:t>
            </a:r>
            <a:endParaRPr lang="en-US" sz="800" dirty="0"/>
          </a:p>
        </p:txBody>
      </p:sp>
      <p:sp>
        <p:nvSpPr>
          <p:cNvPr id="6" name="Shape 4"/>
          <p:cNvSpPr/>
          <p:nvPr/>
        </p:nvSpPr>
        <p:spPr>
          <a:xfrm>
            <a:off x="502920" y="1243584"/>
            <a:ext cx="3977640" cy="1280160"/>
          </a:xfrm>
          <a:prstGeom prst="roundRect">
            <a:avLst>
              <a:gd name="adj" fmla="val 5714"/>
            </a:avLst>
          </a:prstGeom>
          <a:solidFill>
            <a:srgbClr val="070C14"/>
          </a:solidFill>
          <a:ln w="12700">
            <a:solidFill>
              <a:srgbClr val="2B3B52"/>
            </a:solidFill>
            <a:prstDash val="solid"/>
          </a:ln>
        </p:spPr>
        <p:txBody>
          <a:bodyPr/>
          <a:lstStyle/>
          <a:p>
            <a:endParaRPr lang="es-CO"/>
          </a:p>
        </p:txBody>
      </p:sp>
      <p:sp>
        <p:nvSpPr>
          <p:cNvPr id="7" name="Text 5"/>
          <p:cNvSpPr txBox="1"/>
          <p:nvPr/>
        </p:nvSpPr>
        <p:spPr>
          <a:xfrm>
            <a:off x="649224" y="1298448"/>
            <a:ext cx="3685032" cy="182880"/>
          </a:xfrm>
          <a:prstGeom prst="rect">
            <a:avLst/>
          </a:prstGeom>
          <a:noFill/>
          <a:ln/>
        </p:spPr>
        <p:txBody>
          <a:bodyPr wrap="square" lIns="0" tIns="0" rIns="0" bIns="0" rtlCol="0" anchor="ctr"/>
          <a:lstStyle/>
          <a:p>
            <a:pPr marL="0" indent="0">
              <a:buNone/>
            </a:pPr>
            <a:r>
              <a:rPr lang="en-US" sz="850" b="1" dirty="0">
                <a:solidFill>
                  <a:srgbClr val="6C7E96"/>
                </a:solidFill>
                <a:latin typeface="Courier New" pitchFamily="34" charset="0"/>
                <a:ea typeface="Courier New" pitchFamily="34" charset="-122"/>
                <a:cs typeface="Courier New" pitchFamily="34" charset="-120"/>
              </a:rPr>
              <a:t>server_rutas.js</a:t>
            </a:r>
            <a:endParaRPr lang="en-US" sz="850" dirty="0"/>
          </a:p>
        </p:txBody>
      </p:sp>
      <p:sp>
        <p:nvSpPr>
          <p:cNvPr id="8" name="Text 6"/>
          <p:cNvSpPr txBox="1"/>
          <p:nvPr/>
        </p:nvSpPr>
        <p:spPr>
          <a:xfrm>
            <a:off x="649224" y="1517904"/>
            <a:ext cx="3685032" cy="950976"/>
          </a:xfrm>
          <a:prstGeom prst="rect">
            <a:avLst/>
          </a:prstGeom>
          <a:noFill/>
          <a:ln/>
        </p:spPr>
        <p:txBody>
          <a:bodyPr wrap="square" lIns="0" tIns="0" rIns="0" bIns="0" rtlCol="0" anchor="t"/>
          <a:lstStyle/>
          <a:p>
            <a:pPr marL="0" indent="0">
              <a:lnSpc>
                <a:spcPts val="1254"/>
              </a:lnSpc>
              <a:buNone/>
            </a:pPr>
            <a:r>
              <a:rPr lang="en-US" sz="950" dirty="0">
                <a:solidFill>
                  <a:srgbClr val="56C7F2"/>
                </a:solidFill>
                <a:latin typeface="Courier New" pitchFamily="34" charset="0"/>
                <a:ea typeface="Courier New" pitchFamily="34" charset="-122"/>
                <a:cs typeface="Courier New" pitchFamily="34" charset="-120"/>
              </a:rPr>
              <a:t>console</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log</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'Método:'</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req</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method</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56C7F2"/>
                </a:solidFill>
                <a:latin typeface="Courier New" pitchFamily="34" charset="0"/>
                <a:ea typeface="Courier New" pitchFamily="34" charset="-122"/>
                <a:cs typeface="Courier New" pitchFamily="34" charset="-120"/>
              </a:rPr>
              <a:t>console</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log</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'URL:'</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req</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url</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254"/>
              </a:lnSpc>
              <a:buNone/>
            </a:pPr>
            <a:r>
              <a:rPr lang="en-US" sz="950" dirty="0">
                <a:solidFill>
                  <a:srgbClr val="6C7E96"/>
                </a:solidFill>
                <a:latin typeface="Courier New" pitchFamily="34" charset="0"/>
                <a:ea typeface="Courier New" pitchFamily="34" charset="-122"/>
                <a:cs typeface="Courier New" pitchFamily="34" charset="-120"/>
              </a:rPr>
              <a:t>// el envío llega, pero el cuerpo</a:t>
            </a:r>
            <a:endParaRPr lang="en-US" sz="950" dirty="0"/>
          </a:p>
          <a:p>
            <a:pPr marL="0" indent="0">
              <a:lnSpc>
                <a:spcPts val="1254"/>
              </a:lnSpc>
              <a:buNone/>
            </a:pPr>
            <a:r>
              <a:rPr lang="en-US" sz="950" dirty="0">
                <a:solidFill>
                  <a:srgbClr val="6C7E96"/>
                </a:solidFill>
                <a:latin typeface="Courier New" pitchFamily="34" charset="0"/>
                <a:ea typeface="Courier New" pitchFamily="34" charset="-122"/>
                <a:cs typeface="Courier New" pitchFamily="34" charset="-120"/>
              </a:rPr>
              <a:t>// todavía no se lee</a:t>
            </a:r>
            <a:endParaRPr lang="en-US" sz="950" dirty="0"/>
          </a:p>
        </p:txBody>
      </p:sp>
      <p:sp>
        <p:nvSpPr>
          <p:cNvPr id="9" name="Shape 7"/>
          <p:cNvSpPr/>
          <p:nvPr/>
        </p:nvSpPr>
        <p:spPr>
          <a:xfrm>
            <a:off x="4663440" y="1243584"/>
            <a:ext cx="3977640" cy="1280160"/>
          </a:xfrm>
          <a:prstGeom prst="roundRect">
            <a:avLst>
              <a:gd name="adj" fmla="val 5714"/>
            </a:avLst>
          </a:prstGeom>
          <a:solidFill>
            <a:srgbClr val="070C14"/>
          </a:solidFill>
          <a:ln w="12700">
            <a:solidFill>
              <a:srgbClr val="2B3B52"/>
            </a:solidFill>
            <a:prstDash val="solid"/>
          </a:ln>
        </p:spPr>
        <p:txBody>
          <a:bodyPr/>
          <a:lstStyle/>
          <a:p>
            <a:endParaRPr lang="es-CO"/>
          </a:p>
        </p:txBody>
      </p:sp>
      <p:sp>
        <p:nvSpPr>
          <p:cNvPr id="10" name="Text 8"/>
          <p:cNvSpPr txBox="1"/>
          <p:nvPr/>
        </p:nvSpPr>
        <p:spPr>
          <a:xfrm>
            <a:off x="4809744" y="1298448"/>
            <a:ext cx="3685032" cy="182880"/>
          </a:xfrm>
          <a:prstGeom prst="rect">
            <a:avLst/>
          </a:prstGeom>
          <a:noFill/>
          <a:ln/>
        </p:spPr>
        <p:txBody>
          <a:bodyPr wrap="square" lIns="0" tIns="0" rIns="0" bIns="0" rtlCol="0" anchor="ctr"/>
          <a:lstStyle/>
          <a:p>
            <a:pPr marL="0" indent="0">
              <a:buNone/>
            </a:pPr>
            <a:r>
              <a:rPr lang="en-US" sz="850" b="1" dirty="0">
                <a:solidFill>
                  <a:srgbClr val="6C7E96"/>
                </a:solidFill>
                <a:latin typeface="Courier New" pitchFamily="34" charset="0"/>
                <a:ea typeface="Courier New" pitchFamily="34" charset="-122"/>
                <a:cs typeface="Courier New" pitchFamily="34" charset="-120"/>
              </a:rPr>
              <a:t>consola</a:t>
            </a:r>
            <a:endParaRPr lang="en-US" sz="850" dirty="0"/>
          </a:p>
        </p:txBody>
      </p:sp>
      <p:sp>
        <p:nvSpPr>
          <p:cNvPr id="11" name="Text 9"/>
          <p:cNvSpPr txBox="1"/>
          <p:nvPr/>
        </p:nvSpPr>
        <p:spPr>
          <a:xfrm>
            <a:off x="4809744" y="1517904"/>
            <a:ext cx="3685032" cy="950976"/>
          </a:xfrm>
          <a:prstGeom prst="rect">
            <a:avLst/>
          </a:prstGeom>
          <a:noFill/>
          <a:ln/>
        </p:spPr>
        <p:txBody>
          <a:bodyPr wrap="square" lIns="0" tIns="0" rIns="0" bIns="0" rtlCol="0" anchor="t"/>
          <a:lstStyle/>
          <a:p>
            <a:pPr marL="0" indent="0">
              <a:lnSpc>
                <a:spcPts val="1386"/>
              </a:lnSpc>
              <a:buNone/>
            </a:pPr>
            <a:r>
              <a:rPr lang="en-US" sz="1050" dirty="0">
                <a:solidFill>
                  <a:srgbClr val="3DDC97"/>
                </a:solidFill>
                <a:latin typeface="Courier New" pitchFamily="34" charset="0"/>
                <a:ea typeface="Courier New" pitchFamily="34" charset="-122"/>
                <a:cs typeface="Courier New" pitchFamily="34" charset="-120"/>
              </a:rPr>
              <a:t>Método: POST</a:t>
            </a:r>
            <a:endParaRPr lang="en-US" sz="1050" dirty="0"/>
          </a:p>
          <a:p>
            <a:pPr marL="0" indent="0">
              <a:lnSpc>
                <a:spcPts val="1386"/>
              </a:lnSpc>
              <a:buNone/>
            </a:pPr>
            <a:r>
              <a:rPr lang="en-US" sz="1050" dirty="0">
                <a:solidFill>
                  <a:srgbClr val="3DDC97"/>
                </a:solidFill>
                <a:latin typeface="Courier New" pitchFamily="34" charset="0"/>
                <a:ea typeface="Courier New" pitchFamily="34" charset="-122"/>
                <a:cs typeface="Courier New" pitchFamily="34" charset="-120"/>
              </a:rPr>
              <a:t>URL: /contacto</a:t>
            </a:r>
            <a:endParaRPr lang="en-US" sz="1050" dirty="0"/>
          </a:p>
        </p:txBody>
      </p:sp>
      <p:sp>
        <p:nvSpPr>
          <p:cNvPr id="12" name="Shape 10"/>
          <p:cNvSpPr/>
          <p:nvPr/>
        </p:nvSpPr>
        <p:spPr>
          <a:xfrm>
            <a:off x="1005840" y="2688336"/>
            <a:ext cx="2218944" cy="420624"/>
          </a:xfrm>
          <a:prstGeom prst="roundRect">
            <a:avLst>
              <a:gd name="adj" fmla="val 19565"/>
            </a:avLst>
          </a:prstGeom>
          <a:solidFill>
            <a:srgbClr val="1A2434"/>
          </a:solidFill>
          <a:ln w="12700">
            <a:solidFill>
              <a:srgbClr val="3DDC97"/>
            </a:solidFill>
            <a:prstDash val="solid"/>
          </a:ln>
        </p:spPr>
        <p:txBody>
          <a:bodyPr/>
          <a:lstStyle/>
          <a:p>
            <a:endParaRPr lang="es-CO"/>
          </a:p>
        </p:txBody>
      </p:sp>
      <p:sp>
        <p:nvSpPr>
          <p:cNvPr id="13" name="Text 11"/>
          <p:cNvSpPr txBox="1"/>
          <p:nvPr/>
        </p:nvSpPr>
        <p:spPr>
          <a:xfrm>
            <a:off x="1005840" y="2688336"/>
            <a:ext cx="2218944" cy="420624"/>
          </a:xfrm>
          <a:prstGeom prst="rect">
            <a:avLst/>
          </a:prstGeom>
          <a:noFill/>
          <a:ln/>
        </p:spPr>
        <p:txBody>
          <a:bodyPr wrap="square" lIns="0" tIns="0" rIns="0" bIns="0" rtlCol="0" anchor="ctr"/>
          <a:lstStyle/>
          <a:p>
            <a:pPr marL="0" indent="0" algn="ctr">
              <a:buNone/>
            </a:pPr>
            <a:r>
              <a:rPr lang="en-US" sz="900" b="1" dirty="0">
                <a:solidFill>
                  <a:srgbClr val="3DDC97"/>
                </a:solidFill>
                <a:latin typeface="Arial" pitchFamily="34" charset="0"/>
                <a:ea typeface="Arial" pitchFamily="34" charset="-122"/>
                <a:cs typeface="Arial" pitchFamily="34" charset="-120"/>
              </a:rPr>
              <a:t>Formulario HTML</a:t>
            </a:r>
            <a:endParaRPr lang="en-US" sz="900" dirty="0"/>
          </a:p>
        </p:txBody>
      </p:sp>
      <p:sp>
        <p:nvSpPr>
          <p:cNvPr id="14" name="Shape 12"/>
          <p:cNvSpPr/>
          <p:nvPr/>
        </p:nvSpPr>
        <p:spPr>
          <a:xfrm>
            <a:off x="3288792" y="2898648"/>
            <a:ext cx="109728" cy="0"/>
          </a:xfrm>
          <a:prstGeom prst="line">
            <a:avLst/>
          </a:prstGeom>
          <a:noFill/>
          <a:ln w="12700">
            <a:solidFill>
              <a:srgbClr val="3DDC97"/>
            </a:solidFill>
            <a:prstDash val="solid"/>
            <a:tailEnd type="triangle"/>
          </a:ln>
        </p:spPr>
        <p:txBody>
          <a:bodyPr/>
          <a:lstStyle/>
          <a:p>
            <a:endParaRPr lang="es-CO"/>
          </a:p>
        </p:txBody>
      </p:sp>
      <p:sp>
        <p:nvSpPr>
          <p:cNvPr id="15" name="Shape 13"/>
          <p:cNvSpPr/>
          <p:nvPr/>
        </p:nvSpPr>
        <p:spPr>
          <a:xfrm>
            <a:off x="3462528" y="2688336"/>
            <a:ext cx="2218944" cy="420624"/>
          </a:xfrm>
          <a:prstGeom prst="roundRect">
            <a:avLst>
              <a:gd name="adj" fmla="val 19565"/>
            </a:avLst>
          </a:prstGeom>
          <a:solidFill>
            <a:srgbClr val="1A2434"/>
          </a:solidFill>
          <a:ln w="12700">
            <a:solidFill>
              <a:srgbClr val="56C7F2"/>
            </a:solidFill>
            <a:prstDash val="solid"/>
          </a:ln>
        </p:spPr>
        <p:txBody>
          <a:bodyPr/>
          <a:lstStyle/>
          <a:p>
            <a:endParaRPr lang="es-CO"/>
          </a:p>
        </p:txBody>
      </p:sp>
      <p:sp>
        <p:nvSpPr>
          <p:cNvPr id="16" name="Text 14"/>
          <p:cNvSpPr txBox="1"/>
          <p:nvPr/>
        </p:nvSpPr>
        <p:spPr>
          <a:xfrm>
            <a:off x="3462528" y="2688336"/>
            <a:ext cx="2218944" cy="420624"/>
          </a:xfrm>
          <a:prstGeom prst="rect">
            <a:avLst/>
          </a:prstGeom>
          <a:noFill/>
          <a:ln/>
        </p:spPr>
        <p:txBody>
          <a:bodyPr wrap="square" lIns="0" tIns="0" rIns="0" bIns="0" rtlCol="0" anchor="ctr"/>
          <a:lstStyle/>
          <a:p>
            <a:pPr marL="0" indent="0" algn="ctr">
              <a:buNone/>
            </a:pPr>
            <a:r>
              <a:rPr lang="en-US" sz="900" b="1" dirty="0">
                <a:solidFill>
                  <a:srgbClr val="56C7F2"/>
                </a:solidFill>
                <a:latin typeface="Arial" pitchFamily="34" charset="0"/>
                <a:ea typeface="Arial" pitchFamily="34" charset="-122"/>
                <a:cs typeface="Arial" pitchFamily="34" charset="-120"/>
              </a:rPr>
              <a:t>POST /contacto</a:t>
            </a:r>
            <a:endParaRPr lang="en-US" sz="900" dirty="0"/>
          </a:p>
        </p:txBody>
      </p:sp>
      <p:sp>
        <p:nvSpPr>
          <p:cNvPr id="17" name="Shape 15"/>
          <p:cNvSpPr/>
          <p:nvPr/>
        </p:nvSpPr>
        <p:spPr>
          <a:xfrm>
            <a:off x="5745480" y="2898648"/>
            <a:ext cx="109728" cy="0"/>
          </a:xfrm>
          <a:prstGeom prst="line">
            <a:avLst/>
          </a:prstGeom>
          <a:noFill/>
          <a:ln w="12700">
            <a:solidFill>
              <a:srgbClr val="3DDC97"/>
            </a:solidFill>
            <a:prstDash val="solid"/>
            <a:tailEnd type="triangle"/>
          </a:ln>
        </p:spPr>
        <p:txBody>
          <a:bodyPr/>
          <a:lstStyle/>
          <a:p>
            <a:endParaRPr lang="es-CO"/>
          </a:p>
        </p:txBody>
      </p:sp>
      <p:sp>
        <p:nvSpPr>
          <p:cNvPr id="18" name="Shape 16"/>
          <p:cNvSpPr/>
          <p:nvPr/>
        </p:nvSpPr>
        <p:spPr>
          <a:xfrm>
            <a:off x="5919216" y="2688336"/>
            <a:ext cx="2218944" cy="420624"/>
          </a:xfrm>
          <a:prstGeom prst="roundRect">
            <a:avLst>
              <a:gd name="adj" fmla="val 19565"/>
            </a:avLst>
          </a:prstGeom>
          <a:solidFill>
            <a:srgbClr val="1A2434"/>
          </a:solidFill>
          <a:ln w="12700">
            <a:solidFill>
              <a:srgbClr val="2B3B52"/>
            </a:solidFill>
            <a:prstDash val="solid"/>
          </a:ln>
        </p:spPr>
        <p:txBody>
          <a:bodyPr/>
          <a:lstStyle/>
          <a:p>
            <a:endParaRPr lang="es-CO"/>
          </a:p>
        </p:txBody>
      </p:sp>
      <p:sp>
        <p:nvSpPr>
          <p:cNvPr id="19" name="Text 17"/>
          <p:cNvSpPr txBox="1"/>
          <p:nvPr/>
        </p:nvSpPr>
        <p:spPr>
          <a:xfrm>
            <a:off x="5919216" y="2688336"/>
            <a:ext cx="2218944" cy="420624"/>
          </a:xfrm>
          <a:prstGeom prst="rect">
            <a:avLst/>
          </a:prstGeom>
          <a:noFill/>
          <a:ln/>
        </p:spPr>
        <p:txBody>
          <a:bodyPr wrap="square" lIns="0" tIns="0" rIns="0" bIns="0" rtlCol="0" anchor="ctr"/>
          <a:lstStyle/>
          <a:p>
            <a:pPr marL="0" indent="0" algn="ctr">
              <a:buNone/>
            </a:pPr>
            <a:r>
              <a:rPr lang="en-US" sz="900" b="1" dirty="0">
                <a:solidFill>
                  <a:srgbClr val="E8EEF6"/>
                </a:solidFill>
                <a:latin typeface="Arial" pitchFamily="34" charset="0"/>
                <a:ea typeface="Arial" pitchFamily="34" charset="-122"/>
                <a:cs typeface="Arial" pitchFamily="34" charset="-120"/>
              </a:rPr>
              <a:t>Node.js</a:t>
            </a:r>
            <a:endParaRPr lang="en-US" sz="900" dirty="0"/>
          </a:p>
        </p:txBody>
      </p:sp>
      <p:sp>
        <p:nvSpPr>
          <p:cNvPr id="20" name="Shape 18"/>
          <p:cNvSpPr/>
          <p:nvPr/>
        </p:nvSpPr>
        <p:spPr>
          <a:xfrm>
            <a:off x="502920" y="3346704"/>
            <a:ext cx="2615184" cy="786384"/>
          </a:xfrm>
          <a:prstGeom prst="roundRect">
            <a:avLst>
              <a:gd name="adj" fmla="val 9302"/>
            </a:avLst>
          </a:prstGeom>
          <a:solidFill>
            <a:srgbClr val="1A2434"/>
          </a:solidFill>
          <a:ln w="12700">
            <a:solidFill>
              <a:srgbClr val="3DDC97"/>
            </a:solidFill>
            <a:prstDash val="solid"/>
          </a:ln>
        </p:spPr>
        <p:txBody>
          <a:bodyPr/>
          <a:lstStyle/>
          <a:p>
            <a:endParaRPr lang="es-CO"/>
          </a:p>
        </p:txBody>
      </p:sp>
      <p:sp>
        <p:nvSpPr>
          <p:cNvPr id="21" name="Text 19"/>
          <p:cNvSpPr txBox="1"/>
          <p:nvPr/>
        </p:nvSpPr>
        <p:spPr>
          <a:xfrm>
            <a:off x="704088" y="3346704"/>
            <a:ext cx="2212848" cy="786384"/>
          </a:xfrm>
          <a:prstGeom prst="rect">
            <a:avLst/>
          </a:prstGeom>
          <a:noFill/>
          <a:ln/>
        </p:spPr>
        <p:txBody>
          <a:bodyPr wrap="square" lIns="0" tIns="0" rIns="0" bIns="0" rtlCol="0" anchor="ctr"/>
          <a:lstStyle/>
          <a:p>
            <a:pPr marL="0" indent="0">
              <a:buNone/>
            </a:pPr>
            <a:r>
              <a:rPr lang="en-US" sz="1100" dirty="0">
                <a:solidFill>
                  <a:srgbClr val="E8EEF6"/>
                </a:solidFill>
                <a:latin typeface="Calibri" pitchFamily="34" charset="0"/>
                <a:ea typeface="Calibri" pitchFamily="34" charset="-122"/>
                <a:cs typeface="Calibri" pitchFamily="34" charset="-120"/>
              </a:rPr>
              <a:t>¿Cómo mejoramos la presentación del formulario?</a:t>
            </a:r>
            <a:endParaRPr lang="en-US" sz="1100" dirty="0"/>
          </a:p>
        </p:txBody>
      </p:sp>
      <p:sp>
        <p:nvSpPr>
          <p:cNvPr id="22" name="Shape 20"/>
          <p:cNvSpPr/>
          <p:nvPr/>
        </p:nvSpPr>
        <p:spPr>
          <a:xfrm>
            <a:off x="3264408" y="3346704"/>
            <a:ext cx="2615184" cy="786384"/>
          </a:xfrm>
          <a:prstGeom prst="roundRect">
            <a:avLst>
              <a:gd name="adj" fmla="val 9302"/>
            </a:avLst>
          </a:prstGeom>
          <a:solidFill>
            <a:srgbClr val="1A2434"/>
          </a:solidFill>
          <a:ln w="12700">
            <a:solidFill>
              <a:srgbClr val="56C7F2"/>
            </a:solidFill>
            <a:prstDash val="solid"/>
          </a:ln>
        </p:spPr>
        <p:txBody>
          <a:bodyPr/>
          <a:lstStyle/>
          <a:p>
            <a:endParaRPr lang="es-CO"/>
          </a:p>
        </p:txBody>
      </p:sp>
      <p:sp>
        <p:nvSpPr>
          <p:cNvPr id="23" name="Text 21"/>
          <p:cNvSpPr txBox="1"/>
          <p:nvPr/>
        </p:nvSpPr>
        <p:spPr>
          <a:xfrm>
            <a:off x="3465576" y="3346704"/>
            <a:ext cx="2212848" cy="786384"/>
          </a:xfrm>
          <a:prstGeom prst="rect">
            <a:avLst/>
          </a:prstGeom>
          <a:noFill/>
          <a:ln/>
        </p:spPr>
        <p:txBody>
          <a:bodyPr wrap="square" lIns="0" tIns="0" rIns="0" bIns="0" rtlCol="0" anchor="ctr"/>
          <a:lstStyle/>
          <a:p>
            <a:pPr marL="0" indent="0">
              <a:buNone/>
            </a:pPr>
            <a:r>
              <a:rPr lang="en-US" sz="1100" dirty="0">
                <a:solidFill>
                  <a:srgbClr val="E8EEF6"/>
                </a:solidFill>
                <a:latin typeface="Calibri" pitchFamily="34" charset="0"/>
                <a:ea typeface="Calibri" pitchFamily="34" charset="-122"/>
                <a:cs typeface="Calibri" pitchFamily="34" charset="-120"/>
              </a:rPr>
              <a:t>¿Dónde están los valores escritos por el usuario?</a:t>
            </a:r>
            <a:endParaRPr lang="en-US" sz="1100" dirty="0"/>
          </a:p>
        </p:txBody>
      </p:sp>
      <p:sp>
        <p:nvSpPr>
          <p:cNvPr id="24" name="Shape 22"/>
          <p:cNvSpPr/>
          <p:nvPr/>
        </p:nvSpPr>
        <p:spPr>
          <a:xfrm>
            <a:off x="6025896" y="3346704"/>
            <a:ext cx="2615184" cy="786384"/>
          </a:xfrm>
          <a:prstGeom prst="roundRect">
            <a:avLst>
              <a:gd name="adj" fmla="val 9302"/>
            </a:avLst>
          </a:prstGeom>
          <a:solidFill>
            <a:srgbClr val="1A2434"/>
          </a:solidFill>
          <a:ln w="12700">
            <a:solidFill>
              <a:srgbClr val="FFB86C"/>
            </a:solidFill>
            <a:prstDash val="solid"/>
          </a:ln>
        </p:spPr>
        <p:txBody>
          <a:bodyPr/>
          <a:lstStyle/>
          <a:p>
            <a:endParaRPr lang="es-CO"/>
          </a:p>
        </p:txBody>
      </p:sp>
      <p:sp>
        <p:nvSpPr>
          <p:cNvPr id="25" name="Text 23"/>
          <p:cNvSpPr txBox="1"/>
          <p:nvPr/>
        </p:nvSpPr>
        <p:spPr>
          <a:xfrm>
            <a:off x="6227064" y="3346704"/>
            <a:ext cx="2212848" cy="786384"/>
          </a:xfrm>
          <a:prstGeom prst="rect">
            <a:avLst/>
          </a:prstGeom>
          <a:noFill/>
          <a:ln/>
        </p:spPr>
        <p:txBody>
          <a:bodyPr wrap="square" lIns="0" tIns="0" rIns="0" bIns="0" rtlCol="0" anchor="ctr"/>
          <a:lstStyle/>
          <a:p>
            <a:pPr marL="0" indent="0">
              <a:buNone/>
            </a:pPr>
            <a:r>
              <a:rPr lang="en-US" sz="1100" dirty="0">
                <a:solidFill>
                  <a:srgbClr val="E8EEF6"/>
                </a:solidFill>
                <a:latin typeface="Calibri" pitchFamily="34" charset="0"/>
                <a:ea typeface="Calibri" pitchFamily="34" charset="-122"/>
                <a:cs typeface="Calibri" pitchFamily="34" charset="-120"/>
              </a:rPr>
              <a:t>¿Cómo podemos conservarlos?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1112185"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112185"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INTEGRACIÓN</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Diferentes capas participan en una misma operación</a:t>
            </a:r>
            <a:endParaRPr lang="en-US" sz="23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04 / 25</a:t>
            </a:r>
            <a:endParaRPr lang="en-US" sz="800" dirty="0"/>
          </a:p>
        </p:txBody>
      </p:sp>
      <p:sp>
        <p:nvSpPr>
          <p:cNvPr id="6" name="Shape 4"/>
          <p:cNvSpPr/>
          <p:nvPr/>
        </p:nvSpPr>
        <p:spPr>
          <a:xfrm>
            <a:off x="502920" y="1298448"/>
            <a:ext cx="1554480" cy="1481328"/>
          </a:xfrm>
          <a:prstGeom prst="roundRect">
            <a:avLst>
              <a:gd name="adj" fmla="val 4938"/>
            </a:avLst>
          </a:prstGeom>
          <a:solidFill>
            <a:srgbClr val="1A2434"/>
          </a:solidFill>
          <a:ln w="12700">
            <a:solidFill>
              <a:srgbClr val="3DDC97"/>
            </a:solidFill>
            <a:prstDash val="solid"/>
          </a:ln>
        </p:spPr>
        <p:txBody>
          <a:bodyPr/>
          <a:lstStyle/>
          <a:p>
            <a:endParaRPr lang="es-CO"/>
          </a:p>
        </p:txBody>
      </p:sp>
      <p:sp>
        <p:nvSpPr>
          <p:cNvPr id="7" name="Text 5"/>
          <p:cNvSpPr txBox="1"/>
          <p:nvPr/>
        </p:nvSpPr>
        <p:spPr>
          <a:xfrm>
            <a:off x="649224" y="1444752"/>
            <a:ext cx="1261872" cy="237744"/>
          </a:xfrm>
          <a:prstGeom prst="rect">
            <a:avLst/>
          </a:prstGeom>
          <a:noFill/>
          <a:ln/>
        </p:spPr>
        <p:txBody>
          <a:bodyPr wrap="square" lIns="0" tIns="0" rIns="0" bIns="0" rtlCol="0" anchor="ctr"/>
          <a:lstStyle/>
          <a:p>
            <a:pPr marL="0" indent="0">
              <a:buNone/>
            </a:pPr>
            <a:r>
              <a:rPr lang="en-US" sz="1200" b="1" dirty="0">
                <a:solidFill>
                  <a:srgbClr val="3DDC97"/>
                </a:solidFill>
                <a:latin typeface="Arial" pitchFamily="34" charset="0"/>
                <a:ea typeface="Arial" pitchFamily="34" charset="-122"/>
                <a:cs typeface="Arial" pitchFamily="34" charset="-120"/>
              </a:rPr>
              <a:t>HTML</a:t>
            </a:r>
            <a:endParaRPr lang="en-US" sz="1200" dirty="0"/>
          </a:p>
        </p:txBody>
      </p:sp>
      <p:sp>
        <p:nvSpPr>
          <p:cNvPr id="8" name="Text 6"/>
          <p:cNvSpPr txBox="1"/>
          <p:nvPr/>
        </p:nvSpPr>
        <p:spPr>
          <a:xfrm>
            <a:off x="649224" y="1737360"/>
            <a:ext cx="1280160" cy="932688"/>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Estructura el formulario y declara los campos que se recogen.</a:t>
            </a:r>
            <a:endParaRPr lang="en-US" sz="950" dirty="0"/>
          </a:p>
        </p:txBody>
      </p:sp>
      <p:sp>
        <p:nvSpPr>
          <p:cNvPr id="9" name="Shape 7"/>
          <p:cNvSpPr/>
          <p:nvPr/>
        </p:nvSpPr>
        <p:spPr>
          <a:xfrm>
            <a:off x="2148840" y="1298448"/>
            <a:ext cx="1554480" cy="1481328"/>
          </a:xfrm>
          <a:prstGeom prst="roundRect">
            <a:avLst>
              <a:gd name="adj" fmla="val 4938"/>
            </a:avLst>
          </a:prstGeom>
          <a:solidFill>
            <a:srgbClr val="1A2434"/>
          </a:solidFill>
          <a:ln w="12700">
            <a:solidFill>
              <a:srgbClr val="56C7F2"/>
            </a:solidFill>
            <a:prstDash val="solid"/>
          </a:ln>
        </p:spPr>
        <p:txBody>
          <a:bodyPr/>
          <a:lstStyle/>
          <a:p>
            <a:endParaRPr lang="es-CO"/>
          </a:p>
        </p:txBody>
      </p:sp>
      <p:sp>
        <p:nvSpPr>
          <p:cNvPr id="10" name="Text 8"/>
          <p:cNvSpPr txBox="1"/>
          <p:nvPr/>
        </p:nvSpPr>
        <p:spPr>
          <a:xfrm>
            <a:off x="2295144" y="1444752"/>
            <a:ext cx="1261872" cy="237744"/>
          </a:xfrm>
          <a:prstGeom prst="rect">
            <a:avLst/>
          </a:prstGeom>
          <a:noFill/>
          <a:ln/>
        </p:spPr>
        <p:txBody>
          <a:bodyPr wrap="square" lIns="0" tIns="0" rIns="0" bIns="0" rtlCol="0" anchor="ctr"/>
          <a:lstStyle/>
          <a:p>
            <a:pPr marL="0" indent="0">
              <a:buNone/>
            </a:pPr>
            <a:r>
              <a:rPr lang="en-US" sz="1200" b="1" dirty="0">
                <a:solidFill>
                  <a:srgbClr val="56C7F2"/>
                </a:solidFill>
                <a:latin typeface="Arial" pitchFamily="34" charset="0"/>
                <a:ea typeface="Arial" pitchFamily="34" charset="-122"/>
                <a:cs typeface="Arial" pitchFamily="34" charset="-120"/>
              </a:rPr>
              <a:t>CSS</a:t>
            </a:r>
            <a:endParaRPr lang="en-US" sz="1200" dirty="0"/>
          </a:p>
        </p:txBody>
      </p:sp>
      <p:sp>
        <p:nvSpPr>
          <p:cNvPr id="11" name="Text 9"/>
          <p:cNvSpPr txBox="1"/>
          <p:nvPr/>
        </p:nvSpPr>
        <p:spPr>
          <a:xfrm>
            <a:off x="2295144" y="1737360"/>
            <a:ext cx="1280160" cy="932688"/>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Controla la presentación: distribución, espaciado y color.</a:t>
            </a:r>
            <a:endParaRPr lang="en-US" sz="950" dirty="0"/>
          </a:p>
        </p:txBody>
      </p:sp>
      <p:sp>
        <p:nvSpPr>
          <p:cNvPr id="12" name="Shape 10"/>
          <p:cNvSpPr/>
          <p:nvPr/>
        </p:nvSpPr>
        <p:spPr>
          <a:xfrm>
            <a:off x="3794760" y="1298448"/>
            <a:ext cx="1554480" cy="1481328"/>
          </a:xfrm>
          <a:prstGeom prst="roundRect">
            <a:avLst>
              <a:gd name="adj" fmla="val 4938"/>
            </a:avLst>
          </a:prstGeom>
          <a:solidFill>
            <a:srgbClr val="1A2434"/>
          </a:solidFill>
          <a:ln w="12700">
            <a:solidFill>
              <a:srgbClr val="FFB86C"/>
            </a:solidFill>
            <a:prstDash val="solid"/>
          </a:ln>
        </p:spPr>
        <p:txBody>
          <a:bodyPr/>
          <a:lstStyle/>
          <a:p>
            <a:endParaRPr lang="es-CO"/>
          </a:p>
        </p:txBody>
      </p:sp>
      <p:sp>
        <p:nvSpPr>
          <p:cNvPr id="13" name="Text 11"/>
          <p:cNvSpPr txBox="1"/>
          <p:nvPr/>
        </p:nvSpPr>
        <p:spPr>
          <a:xfrm>
            <a:off x="3941064" y="1444752"/>
            <a:ext cx="1261872" cy="237744"/>
          </a:xfrm>
          <a:prstGeom prst="rect">
            <a:avLst/>
          </a:prstGeom>
          <a:noFill/>
          <a:ln/>
        </p:spPr>
        <p:txBody>
          <a:bodyPr wrap="square" lIns="0" tIns="0" rIns="0" bIns="0" rtlCol="0" anchor="ctr"/>
          <a:lstStyle/>
          <a:p>
            <a:pPr marL="0" indent="0">
              <a:buNone/>
            </a:pPr>
            <a:r>
              <a:rPr lang="en-US" sz="1200" b="1" dirty="0">
                <a:solidFill>
                  <a:srgbClr val="FFB86C"/>
                </a:solidFill>
                <a:latin typeface="Arial" pitchFamily="34" charset="0"/>
                <a:ea typeface="Arial" pitchFamily="34" charset="-122"/>
                <a:cs typeface="Arial" pitchFamily="34" charset="-120"/>
              </a:rPr>
              <a:t>HTTP</a:t>
            </a:r>
            <a:endParaRPr lang="en-US" sz="1200" dirty="0"/>
          </a:p>
        </p:txBody>
      </p:sp>
      <p:sp>
        <p:nvSpPr>
          <p:cNvPr id="14" name="Text 12"/>
          <p:cNvSpPr txBox="1"/>
          <p:nvPr/>
        </p:nvSpPr>
        <p:spPr>
          <a:xfrm>
            <a:off x="3941064" y="1737360"/>
            <a:ext cx="1280160" cy="932688"/>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Transporta la petición y los datos hacia el servidor.</a:t>
            </a:r>
            <a:endParaRPr lang="en-US" sz="950" dirty="0"/>
          </a:p>
        </p:txBody>
      </p:sp>
      <p:sp>
        <p:nvSpPr>
          <p:cNvPr id="15" name="Shape 13"/>
          <p:cNvSpPr/>
          <p:nvPr/>
        </p:nvSpPr>
        <p:spPr>
          <a:xfrm>
            <a:off x="5440680" y="1298448"/>
            <a:ext cx="1554480" cy="1481328"/>
          </a:xfrm>
          <a:prstGeom prst="roundRect">
            <a:avLst>
              <a:gd name="adj" fmla="val 4938"/>
            </a:avLst>
          </a:prstGeom>
          <a:solidFill>
            <a:srgbClr val="1A2434"/>
          </a:solidFill>
          <a:ln w="12700">
            <a:solidFill>
              <a:srgbClr val="3DDC97"/>
            </a:solidFill>
            <a:prstDash val="solid"/>
          </a:ln>
        </p:spPr>
        <p:txBody>
          <a:bodyPr/>
          <a:lstStyle/>
          <a:p>
            <a:endParaRPr lang="es-CO"/>
          </a:p>
        </p:txBody>
      </p:sp>
      <p:sp>
        <p:nvSpPr>
          <p:cNvPr id="16" name="Text 14"/>
          <p:cNvSpPr txBox="1"/>
          <p:nvPr/>
        </p:nvSpPr>
        <p:spPr>
          <a:xfrm>
            <a:off x="5586984" y="1444752"/>
            <a:ext cx="1261872" cy="237744"/>
          </a:xfrm>
          <a:prstGeom prst="rect">
            <a:avLst/>
          </a:prstGeom>
          <a:noFill/>
          <a:ln/>
        </p:spPr>
        <p:txBody>
          <a:bodyPr wrap="square" lIns="0" tIns="0" rIns="0" bIns="0" rtlCol="0" anchor="ctr"/>
          <a:lstStyle/>
          <a:p>
            <a:pPr marL="0" indent="0">
              <a:buNone/>
            </a:pPr>
            <a:r>
              <a:rPr lang="en-US" sz="1200" b="1" dirty="0">
                <a:solidFill>
                  <a:srgbClr val="3DDC97"/>
                </a:solidFill>
                <a:latin typeface="Arial" pitchFamily="34" charset="0"/>
                <a:ea typeface="Arial" pitchFamily="34" charset="-122"/>
                <a:cs typeface="Arial" pitchFamily="34" charset="-120"/>
              </a:rPr>
              <a:t>Node.js</a:t>
            </a:r>
            <a:endParaRPr lang="en-US" sz="1200" dirty="0"/>
          </a:p>
        </p:txBody>
      </p:sp>
      <p:sp>
        <p:nvSpPr>
          <p:cNvPr id="17" name="Text 15"/>
          <p:cNvSpPr txBox="1"/>
          <p:nvPr/>
        </p:nvSpPr>
        <p:spPr>
          <a:xfrm>
            <a:off x="5586984" y="1737360"/>
            <a:ext cx="1280160" cy="932688"/>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Recibe la petición, interpreta el cuerpo y valida.</a:t>
            </a:r>
            <a:endParaRPr lang="en-US" sz="950" dirty="0"/>
          </a:p>
        </p:txBody>
      </p:sp>
      <p:sp>
        <p:nvSpPr>
          <p:cNvPr id="18" name="Shape 16"/>
          <p:cNvSpPr/>
          <p:nvPr/>
        </p:nvSpPr>
        <p:spPr>
          <a:xfrm>
            <a:off x="7086600" y="1298448"/>
            <a:ext cx="1554480" cy="1481328"/>
          </a:xfrm>
          <a:prstGeom prst="roundRect">
            <a:avLst>
              <a:gd name="adj" fmla="val 4938"/>
            </a:avLst>
          </a:prstGeom>
          <a:solidFill>
            <a:srgbClr val="1A2434"/>
          </a:solidFill>
          <a:ln w="12700">
            <a:solidFill>
              <a:srgbClr val="56C7F2"/>
            </a:solidFill>
            <a:prstDash val="solid"/>
          </a:ln>
        </p:spPr>
        <p:txBody>
          <a:bodyPr/>
          <a:lstStyle/>
          <a:p>
            <a:endParaRPr lang="es-CO"/>
          </a:p>
        </p:txBody>
      </p:sp>
      <p:sp>
        <p:nvSpPr>
          <p:cNvPr id="19" name="Text 17"/>
          <p:cNvSpPr txBox="1"/>
          <p:nvPr/>
        </p:nvSpPr>
        <p:spPr>
          <a:xfrm>
            <a:off x="7232904" y="1444752"/>
            <a:ext cx="1261872" cy="237744"/>
          </a:xfrm>
          <a:prstGeom prst="rect">
            <a:avLst/>
          </a:prstGeom>
          <a:noFill/>
          <a:ln/>
        </p:spPr>
        <p:txBody>
          <a:bodyPr wrap="square" lIns="0" tIns="0" rIns="0" bIns="0" rtlCol="0" anchor="ctr"/>
          <a:lstStyle/>
          <a:p>
            <a:pPr marL="0" indent="0">
              <a:buNone/>
            </a:pPr>
            <a:r>
              <a:rPr lang="en-US" sz="1200" b="1" dirty="0">
                <a:solidFill>
                  <a:srgbClr val="56C7F2"/>
                </a:solidFill>
                <a:latin typeface="Arial" pitchFamily="34" charset="0"/>
                <a:ea typeface="Arial" pitchFamily="34" charset="-122"/>
                <a:cs typeface="Arial" pitchFamily="34" charset="-120"/>
              </a:rPr>
              <a:t>SQLite</a:t>
            </a:r>
            <a:endParaRPr lang="en-US" sz="1200" dirty="0"/>
          </a:p>
        </p:txBody>
      </p:sp>
      <p:sp>
        <p:nvSpPr>
          <p:cNvPr id="20" name="Text 18"/>
          <p:cNvSpPr txBox="1"/>
          <p:nvPr/>
        </p:nvSpPr>
        <p:spPr>
          <a:xfrm>
            <a:off x="7232904" y="1737360"/>
            <a:ext cx="1280160" cy="932688"/>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Conserva la información en un archivo del sistema.</a:t>
            </a:r>
            <a:endParaRPr lang="en-US" sz="950" dirty="0"/>
          </a:p>
        </p:txBody>
      </p:sp>
      <p:sp>
        <p:nvSpPr>
          <p:cNvPr id="21" name="Text 19"/>
          <p:cNvSpPr txBox="1"/>
          <p:nvPr/>
        </p:nvSpPr>
        <p:spPr>
          <a:xfrm>
            <a:off x="502920" y="2926080"/>
            <a:ext cx="8138160" cy="182880"/>
          </a:xfrm>
          <a:prstGeom prst="rect">
            <a:avLst/>
          </a:prstGeom>
          <a:noFill/>
          <a:ln/>
        </p:spPr>
        <p:txBody>
          <a:bodyPr wrap="square" lIns="0" tIns="0" rIns="0" bIns="0" rtlCol="0" anchor="ctr"/>
          <a:lstStyle/>
          <a:p>
            <a:pPr marL="0" indent="0">
              <a:buNone/>
            </a:pPr>
            <a:r>
              <a:rPr lang="en-US" sz="900" b="1" dirty="0">
                <a:solidFill>
                  <a:srgbClr val="6C7E96"/>
                </a:solidFill>
                <a:latin typeface="Arial" pitchFamily="34" charset="0"/>
                <a:ea typeface="Arial" pitchFamily="34" charset="-122"/>
                <a:cs typeface="Arial" pitchFamily="34" charset="-120"/>
              </a:rPr>
              <a:t>Recorrido completo de una misma operación</a:t>
            </a:r>
            <a:endParaRPr lang="en-US" sz="900" dirty="0"/>
          </a:p>
        </p:txBody>
      </p:sp>
      <p:sp>
        <p:nvSpPr>
          <p:cNvPr id="22" name="Shape 20"/>
          <p:cNvSpPr/>
          <p:nvPr/>
        </p:nvSpPr>
        <p:spPr>
          <a:xfrm>
            <a:off x="502920" y="3163824"/>
            <a:ext cx="1437437" cy="420624"/>
          </a:xfrm>
          <a:prstGeom prst="roundRect">
            <a:avLst>
              <a:gd name="adj" fmla="val 19565"/>
            </a:avLst>
          </a:prstGeom>
          <a:solidFill>
            <a:srgbClr val="1A2434"/>
          </a:solidFill>
          <a:ln w="12700">
            <a:solidFill>
              <a:srgbClr val="3DDC97"/>
            </a:solidFill>
            <a:prstDash val="solid"/>
          </a:ln>
        </p:spPr>
        <p:txBody>
          <a:bodyPr/>
          <a:lstStyle/>
          <a:p>
            <a:endParaRPr lang="es-CO"/>
          </a:p>
        </p:txBody>
      </p:sp>
      <p:sp>
        <p:nvSpPr>
          <p:cNvPr id="23" name="Text 21"/>
          <p:cNvSpPr txBox="1"/>
          <p:nvPr/>
        </p:nvSpPr>
        <p:spPr>
          <a:xfrm>
            <a:off x="502920" y="3163824"/>
            <a:ext cx="1437437" cy="420624"/>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contacto.html</a:t>
            </a:r>
            <a:endParaRPr lang="en-US" sz="850" dirty="0"/>
          </a:p>
        </p:txBody>
      </p:sp>
      <p:sp>
        <p:nvSpPr>
          <p:cNvPr id="24" name="Shape 22"/>
          <p:cNvSpPr/>
          <p:nvPr/>
        </p:nvSpPr>
        <p:spPr>
          <a:xfrm>
            <a:off x="2004365" y="3374136"/>
            <a:ext cx="109728" cy="0"/>
          </a:xfrm>
          <a:prstGeom prst="line">
            <a:avLst/>
          </a:prstGeom>
          <a:noFill/>
          <a:ln w="12700">
            <a:solidFill>
              <a:srgbClr val="3DDC97"/>
            </a:solidFill>
            <a:prstDash val="solid"/>
            <a:tailEnd type="triangle"/>
          </a:ln>
        </p:spPr>
        <p:txBody>
          <a:bodyPr/>
          <a:lstStyle/>
          <a:p>
            <a:endParaRPr lang="es-CO"/>
          </a:p>
        </p:txBody>
      </p:sp>
      <p:sp>
        <p:nvSpPr>
          <p:cNvPr id="25" name="Shape 23"/>
          <p:cNvSpPr/>
          <p:nvPr/>
        </p:nvSpPr>
        <p:spPr>
          <a:xfrm>
            <a:off x="2178101" y="3163824"/>
            <a:ext cx="1437437" cy="420624"/>
          </a:xfrm>
          <a:prstGeom prst="roundRect">
            <a:avLst>
              <a:gd name="adj" fmla="val 19565"/>
            </a:avLst>
          </a:prstGeom>
          <a:solidFill>
            <a:srgbClr val="1A2434"/>
          </a:solidFill>
          <a:ln w="12700">
            <a:solidFill>
              <a:srgbClr val="56C7F2"/>
            </a:solidFill>
            <a:prstDash val="solid"/>
          </a:ln>
        </p:spPr>
        <p:txBody>
          <a:bodyPr/>
          <a:lstStyle/>
          <a:p>
            <a:endParaRPr lang="es-CO"/>
          </a:p>
        </p:txBody>
      </p:sp>
      <p:sp>
        <p:nvSpPr>
          <p:cNvPr id="26" name="Text 24"/>
          <p:cNvSpPr txBox="1"/>
          <p:nvPr/>
        </p:nvSpPr>
        <p:spPr>
          <a:xfrm>
            <a:off x="2178101" y="3163824"/>
            <a:ext cx="1437437" cy="420624"/>
          </a:xfrm>
          <a:prstGeom prst="rect">
            <a:avLst/>
          </a:prstGeom>
          <a:noFill/>
          <a:ln/>
        </p:spPr>
        <p:txBody>
          <a:bodyPr wrap="square" lIns="0" tIns="0" rIns="0" bIns="0" rtlCol="0" anchor="ctr"/>
          <a:lstStyle/>
          <a:p>
            <a:pPr marL="0" indent="0" algn="ctr">
              <a:buNone/>
            </a:pPr>
            <a:r>
              <a:rPr lang="en-US" sz="850" b="1" dirty="0">
                <a:solidFill>
                  <a:srgbClr val="56C7F2"/>
                </a:solidFill>
                <a:latin typeface="Arial" pitchFamily="34" charset="0"/>
                <a:ea typeface="Arial" pitchFamily="34" charset="-122"/>
                <a:cs typeface="Arial" pitchFamily="34" charset="-120"/>
              </a:rPr>
              <a:t>styles.css</a:t>
            </a:r>
            <a:endParaRPr lang="en-US" sz="850" dirty="0"/>
          </a:p>
        </p:txBody>
      </p:sp>
      <p:sp>
        <p:nvSpPr>
          <p:cNvPr id="27" name="Shape 25"/>
          <p:cNvSpPr/>
          <p:nvPr/>
        </p:nvSpPr>
        <p:spPr>
          <a:xfrm>
            <a:off x="3679546" y="3374136"/>
            <a:ext cx="109728" cy="0"/>
          </a:xfrm>
          <a:prstGeom prst="line">
            <a:avLst/>
          </a:prstGeom>
          <a:noFill/>
          <a:ln w="12700">
            <a:solidFill>
              <a:srgbClr val="3DDC97"/>
            </a:solidFill>
            <a:prstDash val="solid"/>
            <a:tailEnd type="triangle"/>
          </a:ln>
        </p:spPr>
        <p:txBody>
          <a:bodyPr/>
          <a:lstStyle/>
          <a:p>
            <a:endParaRPr lang="es-CO"/>
          </a:p>
        </p:txBody>
      </p:sp>
      <p:sp>
        <p:nvSpPr>
          <p:cNvPr id="28" name="Shape 26"/>
          <p:cNvSpPr/>
          <p:nvPr/>
        </p:nvSpPr>
        <p:spPr>
          <a:xfrm>
            <a:off x="3853282" y="3163824"/>
            <a:ext cx="1437437" cy="420624"/>
          </a:xfrm>
          <a:prstGeom prst="roundRect">
            <a:avLst>
              <a:gd name="adj" fmla="val 19565"/>
            </a:avLst>
          </a:prstGeom>
          <a:solidFill>
            <a:srgbClr val="1A2434"/>
          </a:solidFill>
          <a:ln w="12700">
            <a:solidFill>
              <a:srgbClr val="FFB86C"/>
            </a:solidFill>
            <a:prstDash val="solid"/>
          </a:ln>
        </p:spPr>
        <p:txBody>
          <a:bodyPr/>
          <a:lstStyle/>
          <a:p>
            <a:endParaRPr lang="es-CO"/>
          </a:p>
        </p:txBody>
      </p:sp>
      <p:sp>
        <p:nvSpPr>
          <p:cNvPr id="29" name="Text 27"/>
          <p:cNvSpPr txBox="1"/>
          <p:nvPr/>
        </p:nvSpPr>
        <p:spPr>
          <a:xfrm>
            <a:off x="3853282" y="3163824"/>
            <a:ext cx="1437437" cy="420624"/>
          </a:xfrm>
          <a:prstGeom prst="rect">
            <a:avLst/>
          </a:prstGeom>
          <a:noFill/>
          <a:ln/>
        </p:spPr>
        <p:txBody>
          <a:bodyPr wrap="square" lIns="0" tIns="0" rIns="0" bIns="0" rtlCol="0" anchor="ctr"/>
          <a:lstStyle/>
          <a:p>
            <a:pPr marL="0" indent="0" algn="ctr">
              <a:buNone/>
            </a:pPr>
            <a:r>
              <a:rPr lang="en-US" sz="850" b="1" dirty="0">
                <a:solidFill>
                  <a:srgbClr val="FFB86C"/>
                </a:solidFill>
                <a:latin typeface="Arial" pitchFamily="34" charset="0"/>
                <a:ea typeface="Arial" pitchFamily="34" charset="-122"/>
                <a:cs typeface="Arial" pitchFamily="34" charset="-120"/>
              </a:rPr>
              <a:t>POST /contacto</a:t>
            </a:r>
            <a:endParaRPr lang="en-US" sz="850" dirty="0"/>
          </a:p>
        </p:txBody>
      </p:sp>
      <p:sp>
        <p:nvSpPr>
          <p:cNvPr id="30" name="Shape 28"/>
          <p:cNvSpPr/>
          <p:nvPr/>
        </p:nvSpPr>
        <p:spPr>
          <a:xfrm>
            <a:off x="5354726" y="3374136"/>
            <a:ext cx="109728" cy="0"/>
          </a:xfrm>
          <a:prstGeom prst="line">
            <a:avLst/>
          </a:prstGeom>
          <a:noFill/>
          <a:ln w="12700">
            <a:solidFill>
              <a:srgbClr val="3DDC97"/>
            </a:solidFill>
            <a:prstDash val="solid"/>
            <a:tailEnd type="triangle"/>
          </a:ln>
        </p:spPr>
        <p:txBody>
          <a:bodyPr/>
          <a:lstStyle/>
          <a:p>
            <a:endParaRPr lang="es-CO"/>
          </a:p>
        </p:txBody>
      </p:sp>
      <p:sp>
        <p:nvSpPr>
          <p:cNvPr id="31" name="Shape 29"/>
          <p:cNvSpPr/>
          <p:nvPr/>
        </p:nvSpPr>
        <p:spPr>
          <a:xfrm>
            <a:off x="5528462" y="3163824"/>
            <a:ext cx="1437437" cy="420624"/>
          </a:xfrm>
          <a:prstGeom prst="roundRect">
            <a:avLst>
              <a:gd name="adj" fmla="val 19565"/>
            </a:avLst>
          </a:prstGeom>
          <a:solidFill>
            <a:srgbClr val="1A2434"/>
          </a:solidFill>
          <a:ln w="12700">
            <a:solidFill>
              <a:srgbClr val="2B3B52"/>
            </a:solidFill>
            <a:prstDash val="solid"/>
          </a:ln>
        </p:spPr>
        <p:txBody>
          <a:bodyPr/>
          <a:lstStyle/>
          <a:p>
            <a:endParaRPr lang="es-CO"/>
          </a:p>
        </p:txBody>
      </p:sp>
      <p:sp>
        <p:nvSpPr>
          <p:cNvPr id="32" name="Text 30"/>
          <p:cNvSpPr txBox="1"/>
          <p:nvPr/>
        </p:nvSpPr>
        <p:spPr>
          <a:xfrm>
            <a:off x="5528462" y="3163824"/>
            <a:ext cx="1437437" cy="420624"/>
          </a:xfrm>
          <a:prstGeom prst="rect">
            <a:avLst/>
          </a:prstGeom>
          <a:noFill/>
          <a:ln/>
        </p:spPr>
        <p:txBody>
          <a:bodyPr wrap="square" lIns="0" tIns="0" rIns="0" bIns="0" rtlCol="0" anchor="ctr"/>
          <a:lstStyle/>
          <a:p>
            <a:pPr marL="0" indent="0" algn="ctr">
              <a:buNone/>
            </a:pPr>
            <a:r>
              <a:rPr lang="en-US" sz="850" b="1" dirty="0">
                <a:solidFill>
                  <a:srgbClr val="E8EEF6"/>
                </a:solidFill>
                <a:latin typeface="Arial" pitchFamily="34" charset="0"/>
                <a:ea typeface="Arial" pitchFamily="34" charset="-122"/>
                <a:cs typeface="Arial" pitchFamily="34" charset="-120"/>
              </a:rPr>
              <a:t>Node.js</a:t>
            </a:r>
            <a:endParaRPr lang="en-US" sz="850" dirty="0"/>
          </a:p>
        </p:txBody>
      </p:sp>
      <p:sp>
        <p:nvSpPr>
          <p:cNvPr id="33" name="Shape 31"/>
          <p:cNvSpPr/>
          <p:nvPr/>
        </p:nvSpPr>
        <p:spPr>
          <a:xfrm>
            <a:off x="7029907" y="3374136"/>
            <a:ext cx="109728" cy="0"/>
          </a:xfrm>
          <a:prstGeom prst="line">
            <a:avLst/>
          </a:prstGeom>
          <a:noFill/>
          <a:ln w="12700">
            <a:solidFill>
              <a:srgbClr val="3DDC97"/>
            </a:solidFill>
            <a:prstDash val="solid"/>
            <a:tailEnd type="triangle"/>
          </a:ln>
        </p:spPr>
        <p:txBody>
          <a:bodyPr/>
          <a:lstStyle/>
          <a:p>
            <a:endParaRPr lang="es-CO"/>
          </a:p>
        </p:txBody>
      </p:sp>
      <p:sp>
        <p:nvSpPr>
          <p:cNvPr id="34" name="Shape 32"/>
          <p:cNvSpPr/>
          <p:nvPr/>
        </p:nvSpPr>
        <p:spPr>
          <a:xfrm>
            <a:off x="7203643" y="3163824"/>
            <a:ext cx="1437437" cy="420624"/>
          </a:xfrm>
          <a:prstGeom prst="roundRect">
            <a:avLst>
              <a:gd name="adj" fmla="val 19565"/>
            </a:avLst>
          </a:prstGeom>
          <a:solidFill>
            <a:srgbClr val="1A2434"/>
          </a:solidFill>
          <a:ln w="12700">
            <a:solidFill>
              <a:srgbClr val="3DDC97"/>
            </a:solidFill>
            <a:prstDash val="solid"/>
          </a:ln>
        </p:spPr>
        <p:txBody>
          <a:bodyPr/>
          <a:lstStyle/>
          <a:p>
            <a:endParaRPr lang="es-CO"/>
          </a:p>
        </p:txBody>
      </p:sp>
      <p:sp>
        <p:nvSpPr>
          <p:cNvPr id="35" name="Text 33"/>
          <p:cNvSpPr txBox="1"/>
          <p:nvPr/>
        </p:nvSpPr>
        <p:spPr>
          <a:xfrm>
            <a:off x="7203643" y="3163824"/>
            <a:ext cx="1437437" cy="420624"/>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contactos.db</a:t>
            </a:r>
            <a:endParaRPr lang="en-US" sz="850" dirty="0"/>
          </a:p>
        </p:txBody>
      </p:sp>
      <p:sp>
        <p:nvSpPr>
          <p:cNvPr id="36" name="Shape 34"/>
          <p:cNvSpPr/>
          <p:nvPr/>
        </p:nvSpPr>
        <p:spPr>
          <a:xfrm>
            <a:off x="502920" y="3822192"/>
            <a:ext cx="8138160" cy="694944"/>
          </a:xfrm>
          <a:prstGeom prst="roundRect">
            <a:avLst>
              <a:gd name="adj" fmla="val 10526"/>
            </a:avLst>
          </a:prstGeom>
          <a:solidFill>
            <a:srgbClr val="1A2434"/>
          </a:solidFill>
          <a:ln w="12700">
            <a:solidFill>
              <a:srgbClr val="3DDC97"/>
            </a:solidFill>
            <a:prstDash val="solid"/>
          </a:ln>
        </p:spPr>
        <p:txBody>
          <a:bodyPr/>
          <a:lstStyle/>
          <a:p>
            <a:endParaRPr lang="es-CO"/>
          </a:p>
        </p:txBody>
      </p:sp>
      <p:sp>
        <p:nvSpPr>
          <p:cNvPr id="37" name="Text 35"/>
          <p:cNvSpPr txBox="1"/>
          <p:nvPr/>
        </p:nvSpPr>
        <p:spPr>
          <a:xfrm>
            <a:off x="731520" y="3913632"/>
            <a:ext cx="3657600" cy="201168"/>
          </a:xfrm>
          <a:prstGeom prst="rect">
            <a:avLst/>
          </a:prstGeom>
          <a:noFill/>
          <a:ln/>
        </p:spPr>
        <p:txBody>
          <a:bodyPr wrap="square" lIns="0" tIns="0" rIns="0" bIns="0" rtlCol="0" anchor="ctr"/>
          <a:lstStyle/>
          <a:p>
            <a:pPr marL="0" indent="0">
              <a:buNone/>
            </a:pPr>
            <a:r>
              <a:rPr lang="en-US" sz="1150" b="1" dirty="0">
                <a:solidFill>
                  <a:srgbClr val="3DDC97"/>
                </a:solidFill>
                <a:latin typeface="Arial" pitchFamily="34" charset="0"/>
                <a:ea typeface="Arial" pitchFamily="34" charset="-122"/>
                <a:cs typeface="Arial" pitchFamily="34" charset="-120"/>
              </a:rPr>
              <a:t>Idea central de la sesión</a:t>
            </a:r>
            <a:endParaRPr lang="en-US" sz="1150" dirty="0"/>
          </a:p>
        </p:txBody>
      </p:sp>
      <p:sp>
        <p:nvSpPr>
          <p:cNvPr id="38" name="Text 36"/>
          <p:cNvSpPr txBox="1"/>
          <p:nvPr/>
        </p:nvSpPr>
        <p:spPr>
          <a:xfrm>
            <a:off x="731520" y="4133088"/>
            <a:ext cx="7680960" cy="329184"/>
          </a:xfrm>
          <a:prstGeom prst="rect">
            <a:avLst/>
          </a:prstGeom>
          <a:noFill/>
          <a:ln/>
        </p:spPr>
        <p:txBody>
          <a:bodyPr wrap="square" lIns="0" tIns="0" rIns="0" bIns="0" rtlCol="0" anchor="ctr"/>
          <a:lstStyle/>
          <a:p>
            <a:pPr marL="0" indent="0">
              <a:buNone/>
            </a:pPr>
            <a:r>
              <a:rPr lang="en-US" sz="1050" dirty="0">
                <a:solidFill>
                  <a:srgbClr val="E8EEF6"/>
                </a:solidFill>
                <a:latin typeface="Calibri" pitchFamily="34" charset="0"/>
                <a:ea typeface="Calibri" pitchFamily="34" charset="-122"/>
                <a:cs typeface="Calibri" pitchFamily="34" charset="-120"/>
              </a:rPr>
              <a:t>Una aplicación Web conecta diferentes capas: HTML estructura la interfaz, CSS controla su presentación, HTTP transporta los datos, Node.js los procesa y SQLite permite conservarlos.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883676"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883676"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CONCEPTO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CSS define la presentación del documento</a:t>
            </a:r>
            <a:endParaRPr lang="en-US" sz="26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05 / 25</a:t>
            </a:r>
            <a:endParaRPr lang="en-US" sz="800" dirty="0"/>
          </a:p>
        </p:txBody>
      </p:sp>
      <p:sp>
        <p:nvSpPr>
          <p:cNvPr id="6" name="Shape 4"/>
          <p:cNvSpPr/>
          <p:nvPr/>
        </p:nvSpPr>
        <p:spPr>
          <a:xfrm>
            <a:off x="502920" y="1280160"/>
            <a:ext cx="8138160" cy="786384"/>
          </a:xfrm>
          <a:prstGeom prst="roundRect">
            <a:avLst>
              <a:gd name="adj" fmla="val 9302"/>
            </a:avLst>
          </a:prstGeom>
          <a:solidFill>
            <a:srgbClr val="1A2434"/>
          </a:solidFill>
          <a:ln w="12700">
            <a:solidFill>
              <a:srgbClr val="2B3B52"/>
            </a:solidFill>
            <a:prstDash val="solid"/>
          </a:ln>
        </p:spPr>
        <p:txBody>
          <a:bodyPr/>
          <a:lstStyle/>
          <a:p>
            <a:endParaRPr lang="es-CO"/>
          </a:p>
        </p:txBody>
      </p:sp>
      <p:sp>
        <p:nvSpPr>
          <p:cNvPr id="7" name="Text 5"/>
          <p:cNvSpPr txBox="1"/>
          <p:nvPr/>
        </p:nvSpPr>
        <p:spPr>
          <a:xfrm>
            <a:off x="777240" y="1280160"/>
            <a:ext cx="7589520" cy="786384"/>
          </a:xfrm>
          <a:prstGeom prst="rect">
            <a:avLst/>
          </a:prstGeom>
          <a:noFill/>
          <a:ln/>
        </p:spPr>
        <p:txBody>
          <a:bodyPr wrap="square" lIns="0" tIns="0" rIns="0" bIns="0" rtlCol="0" anchor="ctr"/>
          <a:lstStyle/>
          <a:p>
            <a:pPr marL="0" indent="0">
              <a:buNone/>
            </a:pPr>
            <a:r>
              <a:rPr lang="en-US" sz="1200" b="1" dirty="0">
                <a:solidFill>
                  <a:srgbClr val="3DDC97"/>
                </a:solidFill>
                <a:latin typeface="Calibri" pitchFamily="34" charset="0"/>
                <a:ea typeface="Calibri" pitchFamily="34" charset="-122"/>
                <a:cs typeface="Calibri" pitchFamily="34" charset="-120"/>
              </a:rPr>
              <a:t>CSS</a:t>
            </a:r>
            <a:r>
              <a:rPr lang="en-US" sz="1200" dirty="0">
                <a:solidFill>
                  <a:srgbClr val="E8EEF6"/>
                </a:solidFill>
                <a:latin typeface="Calibri" pitchFamily="34" charset="0"/>
                <a:ea typeface="Calibri" pitchFamily="34" charset="-122"/>
                <a:cs typeface="Calibri" pitchFamily="34" charset="-120"/>
              </a:rPr>
              <a:t>, sigla de </a:t>
            </a:r>
            <a:r>
              <a:rPr lang="en-US" sz="1200" i="1" dirty="0">
                <a:solidFill>
                  <a:srgbClr val="E8EEF6"/>
                </a:solidFill>
                <a:latin typeface="Calibri" pitchFamily="34" charset="0"/>
                <a:ea typeface="Calibri" pitchFamily="34" charset="-122"/>
                <a:cs typeface="Calibri" pitchFamily="34" charset="-120"/>
              </a:rPr>
              <a:t>Cascading Style Sheets</a:t>
            </a:r>
            <a:r>
              <a:rPr lang="en-US" sz="1200" dirty="0">
                <a:solidFill>
                  <a:srgbClr val="E8EEF6"/>
                </a:solidFill>
                <a:latin typeface="Calibri" pitchFamily="34" charset="0"/>
                <a:ea typeface="Calibri" pitchFamily="34" charset="-122"/>
                <a:cs typeface="Calibri" pitchFamily="34" charset="-120"/>
              </a:rPr>
              <a:t> u hojas de estilo en cascada, es un </a:t>
            </a:r>
            <a:r>
              <a:rPr lang="en-US" sz="1200" b="1" dirty="0">
                <a:solidFill>
                  <a:srgbClr val="E8EEF6"/>
                </a:solidFill>
                <a:latin typeface="Calibri" pitchFamily="34" charset="0"/>
                <a:ea typeface="Calibri" pitchFamily="34" charset="-122"/>
                <a:cs typeface="Calibri" pitchFamily="34" charset="-120"/>
              </a:rPr>
              <a:t>lenguaje de estilos</a:t>
            </a:r>
            <a:r>
              <a:rPr lang="en-US" sz="1200" dirty="0">
                <a:solidFill>
                  <a:srgbClr val="E8EEF6"/>
                </a:solidFill>
                <a:latin typeface="Calibri" pitchFamily="34" charset="0"/>
                <a:ea typeface="Calibri" pitchFamily="34" charset="-122"/>
                <a:cs typeface="Calibri" pitchFamily="34" charset="-120"/>
              </a:rPr>
              <a:t> utilizado para definir la apariencia y la distribución visual de un documento HTML.</a:t>
            </a:r>
            <a:endParaRPr lang="en-US" sz="1200" dirty="0"/>
          </a:p>
        </p:txBody>
      </p:sp>
      <p:sp>
        <p:nvSpPr>
          <p:cNvPr id="8" name="Shape 6"/>
          <p:cNvSpPr/>
          <p:nvPr/>
        </p:nvSpPr>
        <p:spPr>
          <a:xfrm>
            <a:off x="502920" y="2212848"/>
            <a:ext cx="2615184" cy="1481328"/>
          </a:xfrm>
          <a:prstGeom prst="roundRect">
            <a:avLst>
              <a:gd name="adj" fmla="val 4938"/>
            </a:avLst>
          </a:prstGeom>
          <a:solidFill>
            <a:srgbClr val="1A2434"/>
          </a:solidFill>
          <a:ln w="12700">
            <a:solidFill>
              <a:srgbClr val="3DDC97"/>
            </a:solidFill>
            <a:prstDash val="solid"/>
          </a:ln>
        </p:spPr>
        <p:txBody>
          <a:bodyPr/>
          <a:lstStyle/>
          <a:p>
            <a:endParaRPr lang="es-CO"/>
          </a:p>
        </p:txBody>
      </p:sp>
      <p:sp>
        <p:nvSpPr>
          <p:cNvPr id="9" name="Text 7"/>
          <p:cNvSpPr txBox="1"/>
          <p:nvPr/>
        </p:nvSpPr>
        <p:spPr>
          <a:xfrm>
            <a:off x="553211" y="2271660"/>
            <a:ext cx="2514601" cy="394439"/>
          </a:xfrm>
          <a:prstGeom prst="rect">
            <a:avLst/>
          </a:prstGeom>
          <a:noFill/>
          <a:ln/>
        </p:spPr>
        <p:txBody>
          <a:bodyPr wrap="square" lIns="0" tIns="0" rIns="0" bIns="0" rtlCol="0" anchor="ctr"/>
          <a:lstStyle/>
          <a:p>
            <a:pPr marL="0" indent="0">
              <a:buNone/>
            </a:pPr>
            <a:r>
              <a:rPr lang="es-ES" sz="1150" b="1" dirty="0">
                <a:solidFill>
                  <a:srgbClr val="3DDC97"/>
                </a:solidFill>
                <a:latin typeface="Arial" pitchFamily="34" charset="0"/>
                <a:ea typeface="Arial" pitchFamily="34" charset="-122"/>
                <a:cs typeface="Arial" pitchFamily="34" charset="-120"/>
              </a:rPr>
              <a:t>No es un lenguaje de programación</a:t>
            </a:r>
            <a:endParaRPr lang="en-US" sz="1150" dirty="0"/>
          </a:p>
        </p:txBody>
      </p:sp>
      <p:sp>
        <p:nvSpPr>
          <p:cNvPr id="10" name="Text 8"/>
          <p:cNvSpPr txBox="1"/>
          <p:nvPr/>
        </p:nvSpPr>
        <p:spPr>
          <a:xfrm>
            <a:off x="704088" y="2633472"/>
            <a:ext cx="2231136" cy="969264"/>
          </a:xfrm>
          <a:prstGeom prst="rect">
            <a:avLst/>
          </a:prstGeom>
          <a:noFill/>
          <a:ln/>
        </p:spPr>
        <p:txBody>
          <a:bodyPr wrap="square" lIns="0" tIns="0" rIns="0" bIns="0" rtlCol="0" anchor="t"/>
          <a:lstStyle/>
          <a:p>
            <a:pPr marL="0" indent="0">
              <a:buNone/>
            </a:pPr>
            <a:r>
              <a:rPr lang="en-US" sz="1000" dirty="0">
                <a:solidFill>
                  <a:srgbClr val="E8EEF6"/>
                </a:solidFill>
                <a:latin typeface="Calibri" pitchFamily="34" charset="0"/>
                <a:ea typeface="Calibri" pitchFamily="34" charset="-122"/>
                <a:cs typeface="Calibri" pitchFamily="34" charset="-120"/>
              </a:rPr>
              <a:t>CSS no es un lenguaje de programación: no tiene flujo de control ni algoritmos. Sí posee una sintaxis propia y reglas estrictas.</a:t>
            </a:r>
            <a:endParaRPr lang="en-US" sz="1000" dirty="0"/>
          </a:p>
        </p:txBody>
      </p:sp>
      <p:sp>
        <p:nvSpPr>
          <p:cNvPr id="11" name="Shape 9"/>
          <p:cNvSpPr/>
          <p:nvPr/>
        </p:nvSpPr>
        <p:spPr>
          <a:xfrm>
            <a:off x="3264408" y="2212848"/>
            <a:ext cx="2615184" cy="1481328"/>
          </a:xfrm>
          <a:prstGeom prst="roundRect">
            <a:avLst>
              <a:gd name="adj" fmla="val 4938"/>
            </a:avLst>
          </a:prstGeom>
          <a:solidFill>
            <a:srgbClr val="1A2434"/>
          </a:solidFill>
          <a:ln w="12700">
            <a:solidFill>
              <a:srgbClr val="56C7F2"/>
            </a:solidFill>
            <a:prstDash val="solid"/>
          </a:ln>
        </p:spPr>
        <p:txBody>
          <a:bodyPr/>
          <a:lstStyle/>
          <a:p>
            <a:endParaRPr lang="es-CO"/>
          </a:p>
        </p:txBody>
      </p:sp>
      <p:sp>
        <p:nvSpPr>
          <p:cNvPr id="12" name="Text 10"/>
          <p:cNvSpPr txBox="1"/>
          <p:nvPr/>
        </p:nvSpPr>
        <p:spPr>
          <a:xfrm>
            <a:off x="3465576" y="2359152"/>
            <a:ext cx="2212848" cy="219456"/>
          </a:xfrm>
          <a:prstGeom prst="rect">
            <a:avLst/>
          </a:prstGeom>
          <a:noFill/>
          <a:ln/>
        </p:spPr>
        <p:txBody>
          <a:bodyPr wrap="square" lIns="0" tIns="0" rIns="0" bIns="0" rtlCol="0" anchor="ctr"/>
          <a:lstStyle/>
          <a:p>
            <a:pPr marL="0" indent="0">
              <a:buNone/>
            </a:pPr>
            <a:r>
              <a:rPr lang="en-US" sz="1150" b="1" dirty="0">
                <a:solidFill>
                  <a:srgbClr val="56C7F2"/>
                </a:solidFill>
                <a:latin typeface="Arial" pitchFamily="34" charset="0"/>
                <a:ea typeface="Arial" pitchFamily="34" charset="-122"/>
                <a:cs typeface="Arial" pitchFamily="34" charset="-120"/>
              </a:rPr>
              <a:t>Estructura y presentación</a:t>
            </a:r>
            <a:endParaRPr lang="en-US" sz="1150" dirty="0"/>
          </a:p>
        </p:txBody>
      </p:sp>
      <p:sp>
        <p:nvSpPr>
          <p:cNvPr id="13" name="Text 11"/>
          <p:cNvSpPr txBox="1"/>
          <p:nvPr/>
        </p:nvSpPr>
        <p:spPr>
          <a:xfrm>
            <a:off x="3465576" y="2633472"/>
            <a:ext cx="2231136" cy="969264"/>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HTML define contenido y estructura. CSS define apariencia y distribución. Son responsabilidades separadas sobre el mismo documento.</a:t>
            </a:r>
            <a:endParaRPr lang="en-US" sz="950" dirty="0"/>
          </a:p>
        </p:txBody>
      </p:sp>
      <p:sp>
        <p:nvSpPr>
          <p:cNvPr id="14" name="Shape 12"/>
          <p:cNvSpPr/>
          <p:nvPr/>
        </p:nvSpPr>
        <p:spPr>
          <a:xfrm>
            <a:off x="6025896" y="2212848"/>
            <a:ext cx="2615184" cy="1481328"/>
          </a:xfrm>
          <a:prstGeom prst="roundRect">
            <a:avLst>
              <a:gd name="adj" fmla="val 4938"/>
            </a:avLst>
          </a:prstGeom>
          <a:solidFill>
            <a:srgbClr val="1A2434"/>
          </a:solidFill>
          <a:ln w="12700">
            <a:solidFill>
              <a:srgbClr val="FFB86C"/>
            </a:solidFill>
            <a:prstDash val="solid"/>
          </a:ln>
        </p:spPr>
        <p:txBody>
          <a:bodyPr/>
          <a:lstStyle/>
          <a:p>
            <a:endParaRPr lang="es-CO"/>
          </a:p>
        </p:txBody>
      </p:sp>
      <p:sp>
        <p:nvSpPr>
          <p:cNvPr id="15" name="Text 13"/>
          <p:cNvSpPr txBox="1"/>
          <p:nvPr/>
        </p:nvSpPr>
        <p:spPr>
          <a:xfrm>
            <a:off x="6227064" y="2359152"/>
            <a:ext cx="2212848" cy="219456"/>
          </a:xfrm>
          <a:prstGeom prst="rect">
            <a:avLst/>
          </a:prstGeom>
          <a:noFill/>
          <a:ln/>
        </p:spPr>
        <p:txBody>
          <a:bodyPr wrap="square" lIns="0" tIns="0" rIns="0" bIns="0" rtlCol="0" anchor="ctr"/>
          <a:lstStyle/>
          <a:p>
            <a:r>
              <a:rPr lang="es-CO" sz="1150" b="1" dirty="0">
                <a:solidFill>
                  <a:srgbClr val="FFB86C"/>
                </a:solidFill>
                <a:latin typeface="Arial" panose="020B0604020202020204" pitchFamily="34" charset="0"/>
                <a:cs typeface="Arial" panose="020B0604020202020204" pitchFamily="34" charset="0"/>
              </a:rPr>
              <a:t>Sí puede contener errores</a:t>
            </a:r>
            <a:r>
              <a:rPr lang="en-US" sz="1150" b="1" dirty="0">
                <a:solidFill>
                  <a:srgbClr val="FFB86C"/>
                </a:solidFill>
                <a:latin typeface="Arial" panose="020B0604020202020204" pitchFamily="34" charset="0"/>
                <a:ea typeface="Arial" pitchFamily="34" charset="-122"/>
                <a:cs typeface="Arial" panose="020B0604020202020204" pitchFamily="34" charset="0"/>
              </a:rPr>
              <a:t> </a:t>
            </a:r>
            <a:endParaRPr lang="en-US" sz="1150" b="1" dirty="0">
              <a:solidFill>
                <a:srgbClr val="FFB86C"/>
              </a:solidFill>
              <a:latin typeface="Arial" panose="020B0604020202020204" pitchFamily="34" charset="0"/>
              <a:cs typeface="Arial" panose="020B0604020202020204" pitchFamily="34" charset="0"/>
            </a:endParaRPr>
          </a:p>
        </p:txBody>
      </p:sp>
      <p:sp>
        <p:nvSpPr>
          <p:cNvPr id="16" name="Text 14"/>
          <p:cNvSpPr txBox="1"/>
          <p:nvPr/>
        </p:nvSpPr>
        <p:spPr>
          <a:xfrm>
            <a:off x="6227064" y="2633472"/>
            <a:ext cx="2231136" cy="969264"/>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Una declaración inválida es descartada por el navegador, que continúa procesando las demás. El error existe: simplemente no detiene el resto.</a:t>
            </a:r>
            <a:endParaRPr lang="en-US" sz="950" dirty="0"/>
          </a:p>
        </p:txBody>
      </p:sp>
      <p:sp>
        <p:nvSpPr>
          <p:cNvPr id="17" name="Text 15"/>
          <p:cNvSpPr txBox="1"/>
          <p:nvPr/>
        </p:nvSpPr>
        <p:spPr>
          <a:xfrm>
            <a:off x="502920" y="3822192"/>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La estructura del documento no cambia al aplicar CSS: cambia la manera en que el navegador la presenta.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883676"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883676"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CONCEPTO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Una regla relaciona un elemento con su presentación</a:t>
            </a:r>
            <a:endParaRPr lang="en-US" sz="20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06 / 25</a:t>
            </a:r>
            <a:endParaRPr lang="en-US" sz="800" dirty="0"/>
          </a:p>
        </p:txBody>
      </p:sp>
      <p:sp>
        <p:nvSpPr>
          <p:cNvPr id="6" name="Shape 4"/>
          <p:cNvSpPr/>
          <p:nvPr/>
        </p:nvSpPr>
        <p:spPr>
          <a:xfrm>
            <a:off x="502920" y="1280160"/>
            <a:ext cx="3977640" cy="1060704"/>
          </a:xfrm>
          <a:prstGeom prst="roundRect">
            <a:avLst>
              <a:gd name="adj" fmla="val 6897"/>
            </a:avLst>
          </a:prstGeom>
          <a:solidFill>
            <a:srgbClr val="070C14"/>
          </a:solidFill>
          <a:ln w="12700">
            <a:solidFill>
              <a:srgbClr val="2B3B52"/>
            </a:solidFill>
            <a:prstDash val="solid"/>
          </a:ln>
        </p:spPr>
        <p:txBody>
          <a:bodyPr/>
          <a:lstStyle/>
          <a:p>
            <a:endParaRPr lang="es-CO"/>
          </a:p>
        </p:txBody>
      </p:sp>
      <p:sp>
        <p:nvSpPr>
          <p:cNvPr id="7" name="Text 5"/>
          <p:cNvSpPr txBox="1"/>
          <p:nvPr/>
        </p:nvSpPr>
        <p:spPr>
          <a:xfrm>
            <a:off x="649224" y="1335024"/>
            <a:ext cx="3685032" cy="182880"/>
          </a:xfrm>
          <a:prstGeom prst="rect">
            <a:avLst/>
          </a:prstGeom>
          <a:noFill/>
          <a:ln/>
        </p:spPr>
        <p:txBody>
          <a:bodyPr wrap="square" lIns="0" tIns="0" rIns="0" bIns="0" rtlCol="0" anchor="ctr"/>
          <a:lstStyle/>
          <a:p>
            <a:pPr marL="0" indent="0">
              <a:buNone/>
            </a:pPr>
            <a:r>
              <a:rPr lang="en-US" sz="850" b="1" dirty="0">
                <a:solidFill>
                  <a:srgbClr val="6C7E96"/>
                </a:solidFill>
                <a:latin typeface="Courier New" pitchFamily="34" charset="0"/>
                <a:ea typeface="Courier New" pitchFamily="34" charset="-122"/>
                <a:cs typeface="Courier New" pitchFamily="34" charset="-120"/>
              </a:rPr>
              <a:t>estructura de una regla</a:t>
            </a:r>
            <a:endParaRPr lang="en-US" sz="850" dirty="0"/>
          </a:p>
        </p:txBody>
      </p:sp>
      <p:sp>
        <p:nvSpPr>
          <p:cNvPr id="8" name="Text 6"/>
          <p:cNvSpPr txBox="1"/>
          <p:nvPr/>
        </p:nvSpPr>
        <p:spPr>
          <a:xfrm>
            <a:off x="649224" y="1554480"/>
            <a:ext cx="3685032" cy="731520"/>
          </a:xfrm>
          <a:prstGeom prst="rect">
            <a:avLst/>
          </a:prstGeom>
          <a:noFill/>
          <a:ln/>
        </p:spPr>
        <p:txBody>
          <a:bodyPr wrap="square" lIns="0" tIns="0" rIns="0" bIns="0" rtlCol="0" anchor="t"/>
          <a:lstStyle/>
          <a:p>
            <a:pPr marL="0" indent="0">
              <a:lnSpc>
                <a:spcPts val="1254"/>
              </a:lnSpc>
              <a:buNone/>
            </a:pPr>
            <a:r>
              <a:rPr lang="en-US" sz="950" dirty="0">
                <a:solidFill>
                  <a:srgbClr val="3DDC97"/>
                </a:solidFill>
                <a:latin typeface="Courier New" pitchFamily="34" charset="0"/>
                <a:ea typeface="Courier New" pitchFamily="34" charset="-122"/>
                <a:cs typeface="Courier New" pitchFamily="34" charset="-120"/>
              </a:rPr>
              <a:t>selector </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propiedad</a:t>
            </a:r>
            <a:r>
              <a:rPr lang="en-US" sz="950" dirty="0">
                <a:solidFill>
                  <a:srgbClr val="93A5BD"/>
                </a:solidFill>
                <a:latin typeface="Courier New" pitchFamily="34" charset="0"/>
                <a:ea typeface="Courier New" pitchFamily="34" charset="-122"/>
                <a:cs typeface="Courier New" pitchFamily="34" charset="-120"/>
              </a:rPr>
              <a:t>: </a:t>
            </a:r>
            <a:r>
              <a:rPr lang="en-US" sz="950" dirty="0">
                <a:solidFill>
                  <a:srgbClr val="FFD479"/>
                </a:solidFill>
                <a:latin typeface="Courier New" pitchFamily="34" charset="0"/>
                <a:ea typeface="Courier New" pitchFamily="34" charset="-122"/>
                <a:cs typeface="Courier New" pitchFamily="34" charset="-120"/>
              </a:rPr>
              <a:t>valor</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93A5BD"/>
                </a:solidFill>
                <a:latin typeface="Courier New" pitchFamily="34" charset="0"/>
                <a:ea typeface="Courier New" pitchFamily="34" charset="-122"/>
                <a:cs typeface="Courier New" pitchFamily="34" charset="-120"/>
              </a:rPr>
              <a:t>}</a:t>
            </a:r>
            <a:endParaRPr lang="en-US" sz="950" dirty="0"/>
          </a:p>
        </p:txBody>
      </p:sp>
      <p:sp>
        <p:nvSpPr>
          <p:cNvPr id="9" name="Shape 7"/>
          <p:cNvSpPr/>
          <p:nvPr/>
        </p:nvSpPr>
        <p:spPr>
          <a:xfrm>
            <a:off x="502920" y="2432304"/>
            <a:ext cx="3977640" cy="1389888"/>
          </a:xfrm>
          <a:prstGeom prst="roundRect">
            <a:avLst>
              <a:gd name="adj" fmla="val 5263"/>
            </a:avLst>
          </a:prstGeom>
          <a:solidFill>
            <a:srgbClr val="070C14"/>
          </a:solidFill>
          <a:ln w="12700">
            <a:solidFill>
              <a:srgbClr val="2B3B52"/>
            </a:solidFill>
            <a:prstDash val="solid"/>
          </a:ln>
        </p:spPr>
        <p:txBody>
          <a:bodyPr/>
          <a:lstStyle/>
          <a:p>
            <a:endParaRPr lang="es-CO"/>
          </a:p>
        </p:txBody>
      </p:sp>
      <p:sp>
        <p:nvSpPr>
          <p:cNvPr id="10" name="Text 8"/>
          <p:cNvSpPr txBox="1"/>
          <p:nvPr/>
        </p:nvSpPr>
        <p:spPr>
          <a:xfrm>
            <a:off x="649224" y="2487168"/>
            <a:ext cx="3685032" cy="182880"/>
          </a:xfrm>
          <a:prstGeom prst="rect">
            <a:avLst/>
          </a:prstGeom>
          <a:noFill/>
          <a:ln/>
        </p:spPr>
        <p:txBody>
          <a:bodyPr wrap="square" lIns="0" tIns="0" rIns="0" bIns="0" rtlCol="0" anchor="ctr"/>
          <a:lstStyle/>
          <a:p>
            <a:pPr marL="0" indent="0">
              <a:buNone/>
            </a:pPr>
            <a:r>
              <a:rPr lang="en-US" sz="850" b="1" dirty="0">
                <a:solidFill>
                  <a:srgbClr val="3DDC97"/>
                </a:solidFill>
                <a:latin typeface="Courier New" pitchFamily="34" charset="0"/>
                <a:ea typeface="Courier New" pitchFamily="34" charset="-122"/>
                <a:cs typeface="Courier New" pitchFamily="34" charset="-120"/>
              </a:rPr>
              <a:t>styles.css</a:t>
            </a:r>
            <a:endParaRPr lang="en-US" sz="850" dirty="0"/>
          </a:p>
        </p:txBody>
      </p:sp>
      <p:sp>
        <p:nvSpPr>
          <p:cNvPr id="11" name="Text 9"/>
          <p:cNvSpPr txBox="1"/>
          <p:nvPr/>
        </p:nvSpPr>
        <p:spPr>
          <a:xfrm>
            <a:off x="649224" y="2706624"/>
            <a:ext cx="3685032" cy="1060704"/>
          </a:xfrm>
          <a:prstGeom prst="rect">
            <a:avLst/>
          </a:prstGeom>
          <a:noFill/>
          <a:ln/>
        </p:spPr>
        <p:txBody>
          <a:bodyPr wrap="square" lIns="0" tIns="0" rIns="0" bIns="0" rtlCol="0" anchor="t"/>
          <a:lstStyle/>
          <a:p>
            <a:pPr marL="0" indent="0">
              <a:lnSpc>
                <a:spcPts val="1254"/>
              </a:lnSpc>
              <a:buNone/>
            </a:pPr>
            <a:r>
              <a:rPr lang="en-US" sz="950" dirty="0">
                <a:solidFill>
                  <a:srgbClr val="3DDC97"/>
                </a:solidFill>
                <a:latin typeface="Courier New" pitchFamily="34" charset="0"/>
                <a:ea typeface="Courier New" pitchFamily="34" charset="-122"/>
                <a:cs typeface="Courier New" pitchFamily="34" charset="-120"/>
              </a:rPr>
              <a:t>p</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background-color</a:t>
            </a:r>
            <a:r>
              <a:rPr lang="en-US" sz="950" dirty="0">
                <a:solidFill>
                  <a:srgbClr val="93A5BD"/>
                </a:solidFill>
                <a:latin typeface="Courier New" pitchFamily="34" charset="0"/>
                <a:ea typeface="Courier New" pitchFamily="34" charset="-122"/>
                <a:cs typeface="Courier New" pitchFamily="34" charset="-120"/>
              </a:rPr>
              <a:t>: </a:t>
            </a:r>
            <a:r>
              <a:rPr lang="en-US" sz="950" dirty="0">
                <a:solidFill>
                  <a:srgbClr val="FFD479"/>
                </a:solidFill>
                <a:latin typeface="Courier New" pitchFamily="34" charset="0"/>
                <a:ea typeface="Courier New" pitchFamily="34" charset="-122"/>
                <a:cs typeface="Courier New" pitchFamily="34" charset="-120"/>
              </a:rPr>
              <a:t>white</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padding</a:t>
            </a:r>
            <a:r>
              <a:rPr lang="en-US" sz="950" dirty="0">
                <a:solidFill>
                  <a:srgbClr val="93A5BD"/>
                </a:solidFill>
                <a:latin typeface="Courier New" pitchFamily="34" charset="0"/>
                <a:ea typeface="Courier New" pitchFamily="34" charset="-122"/>
                <a:cs typeface="Courier New" pitchFamily="34" charset="-120"/>
              </a:rPr>
              <a:t>: </a:t>
            </a:r>
            <a:r>
              <a:rPr lang="en-US" sz="950" dirty="0">
                <a:solidFill>
                  <a:srgbClr val="FFD479"/>
                </a:solidFill>
                <a:latin typeface="Courier New" pitchFamily="34" charset="0"/>
                <a:ea typeface="Courier New" pitchFamily="34" charset="-122"/>
                <a:cs typeface="Courier New" pitchFamily="34" charset="-120"/>
              </a:rPr>
              <a:t>20px</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93A5BD"/>
                </a:solidFill>
                <a:latin typeface="Courier New" pitchFamily="34" charset="0"/>
                <a:ea typeface="Courier New" pitchFamily="34" charset="-122"/>
                <a:cs typeface="Courier New" pitchFamily="34" charset="-120"/>
              </a:rPr>
              <a:t>}</a:t>
            </a:r>
            <a:endParaRPr lang="en-US" sz="950" dirty="0"/>
          </a:p>
        </p:txBody>
      </p:sp>
      <p:sp>
        <p:nvSpPr>
          <p:cNvPr id="12" name="Shape 10"/>
          <p:cNvSpPr/>
          <p:nvPr/>
        </p:nvSpPr>
        <p:spPr>
          <a:xfrm>
            <a:off x="4663440" y="1280160"/>
            <a:ext cx="3977640" cy="457200"/>
          </a:xfrm>
          <a:prstGeom prst="roundRect">
            <a:avLst>
              <a:gd name="adj" fmla="val 16000"/>
            </a:avLst>
          </a:prstGeom>
          <a:solidFill>
            <a:srgbClr val="1A2434"/>
          </a:solidFill>
          <a:ln w="12700">
            <a:solidFill>
              <a:srgbClr val="2B3B52"/>
            </a:solidFill>
            <a:prstDash val="solid"/>
          </a:ln>
        </p:spPr>
        <p:txBody>
          <a:bodyPr/>
          <a:lstStyle/>
          <a:p>
            <a:endParaRPr lang="es-CO"/>
          </a:p>
        </p:txBody>
      </p:sp>
      <p:sp>
        <p:nvSpPr>
          <p:cNvPr id="13" name="Text 11"/>
          <p:cNvSpPr txBox="1"/>
          <p:nvPr/>
        </p:nvSpPr>
        <p:spPr>
          <a:xfrm>
            <a:off x="4828032" y="1280160"/>
            <a:ext cx="960120" cy="457200"/>
          </a:xfrm>
          <a:prstGeom prst="rect">
            <a:avLst/>
          </a:prstGeom>
          <a:noFill/>
          <a:ln/>
        </p:spPr>
        <p:txBody>
          <a:bodyPr wrap="square" lIns="0" tIns="0" rIns="0" bIns="0" rtlCol="0" anchor="ctr"/>
          <a:lstStyle/>
          <a:p>
            <a:pPr marL="0" indent="0">
              <a:buNone/>
            </a:pPr>
            <a:r>
              <a:rPr lang="en-US" sz="1000" b="1" dirty="0">
                <a:solidFill>
                  <a:srgbClr val="3DDC97"/>
                </a:solidFill>
                <a:latin typeface="Arial" pitchFamily="34" charset="0"/>
                <a:ea typeface="Arial" pitchFamily="34" charset="-122"/>
                <a:cs typeface="Arial" pitchFamily="34" charset="-120"/>
              </a:rPr>
              <a:t>Selector</a:t>
            </a:r>
            <a:endParaRPr lang="en-US" sz="1000" dirty="0"/>
          </a:p>
        </p:txBody>
      </p:sp>
      <p:sp>
        <p:nvSpPr>
          <p:cNvPr id="14" name="Text 12"/>
          <p:cNvSpPr txBox="1"/>
          <p:nvPr/>
        </p:nvSpPr>
        <p:spPr>
          <a:xfrm>
            <a:off x="5788152" y="1280160"/>
            <a:ext cx="1005840" cy="457200"/>
          </a:xfrm>
          <a:prstGeom prst="rect">
            <a:avLst/>
          </a:prstGeom>
          <a:noFill/>
          <a:ln/>
        </p:spPr>
        <p:txBody>
          <a:bodyPr wrap="square" lIns="0" tIns="0" rIns="0" bIns="0" rtlCol="0" anchor="ctr"/>
          <a:lstStyle/>
          <a:p>
            <a:pPr marL="0" indent="0">
              <a:buNone/>
            </a:pPr>
            <a:r>
              <a:rPr lang="en-US" sz="900" dirty="0">
                <a:solidFill>
                  <a:srgbClr val="D7E1EE"/>
                </a:solidFill>
                <a:latin typeface="Courier New" pitchFamily="34" charset="0"/>
                <a:ea typeface="Courier New" pitchFamily="34" charset="-122"/>
                <a:cs typeface="Courier New" pitchFamily="34" charset="-120"/>
              </a:rPr>
              <a:t>form</a:t>
            </a:r>
            <a:endParaRPr lang="en-US" sz="900" dirty="0"/>
          </a:p>
        </p:txBody>
      </p:sp>
      <p:sp>
        <p:nvSpPr>
          <p:cNvPr id="15" name="Text 13"/>
          <p:cNvSpPr txBox="1"/>
          <p:nvPr/>
        </p:nvSpPr>
        <p:spPr>
          <a:xfrm>
            <a:off x="6812280" y="1280160"/>
            <a:ext cx="1700784" cy="457200"/>
          </a:xfrm>
          <a:prstGeom prst="rect">
            <a:avLst/>
          </a:prstGeom>
          <a:noFill/>
          <a:ln/>
        </p:spPr>
        <p:txBody>
          <a:bodyPr wrap="square" lIns="0" tIns="0" rIns="0" bIns="0" rtlCol="0" anchor="ctr"/>
          <a:lstStyle/>
          <a:p>
            <a:pPr marL="0" indent="0">
              <a:buNone/>
            </a:pPr>
            <a:r>
              <a:rPr lang="en-US" sz="900" dirty="0">
                <a:solidFill>
                  <a:srgbClr val="93A5BD"/>
                </a:solidFill>
                <a:latin typeface="Calibri" pitchFamily="34" charset="0"/>
                <a:ea typeface="Calibri" pitchFamily="34" charset="-122"/>
                <a:cs typeface="Calibri" pitchFamily="34" charset="-120"/>
              </a:rPr>
              <a:t>Indica a qué elementos se aplica la regla.</a:t>
            </a:r>
            <a:endParaRPr lang="en-US" sz="900" dirty="0"/>
          </a:p>
        </p:txBody>
      </p:sp>
      <p:sp>
        <p:nvSpPr>
          <p:cNvPr id="16" name="Shape 14"/>
          <p:cNvSpPr/>
          <p:nvPr/>
        </p:nvSpPr>
        <p:spPr>
          <a:xfrm>
            <a:off x="4663440" y="1810512"/>
            <a:ext cx="3977640" cy="457200"/>
          </a:xfrm>
          <a:prstGeom prst="roundRect">
            <a:avLst>
              <a:gd name="adj" fmla="val 16000"/>
            </a:avLst>
          </a:prstGeom>
          <a:solidFill>
            <a:srgbClr val="1A2434"/>
          </a:solidFill>
          <a:ln w="12700">
            <a:solidFill>
              <a:srgbClr val="2B3B52"/>
            </a:solidFill>
            <a:prstDash val="solid"/>
          </a:ln>
        </p:spPr>
        <p:txBody>
          <a:bodyPr/>
          <a:lstStyle/>
          <a:p>
            <a:endParaRPr lang="es-CO"/>
          </a:p>
        </p:txBody>
      </p:sp>
      <p:sp>
        <p:nvSpPr>
          <p:cNvPr id="17" name="Text 15"/>
          <p:cNvSpPr txBox="1"/>
          <p:nvPr/>
        </p:nvSpPr>
        <p:spPr>
          <a:xfrm>
            <a:off x="4828032" y="1810512"/>
            <a:ext cx="960120" cy="457200"/>
          </a:xfrm>
          <a:prstGeom prst="rect">
            <a:avLst/>
          </a:prstGeom>
          <a:noFill/>
          <a:ln/>
        </p:spPr>
        <p:txBody>
          <a:bodyPr wrap="square" lIns="0" tIns="0" rIns="0" bIns="0" rtlCol="0" anchor="ctr"/>
          <a:lstStyle/>
          <a:p>
            <a:pPr marL="0" indent="0">
              <a:buNone/>
            </a:pPr>
            <a:r>
              <a:rPr lang="en-US" sz="1000" b="1" dirty="0">
                <a:solidFill>
                  <a:srgbClr val="56C7F2"/>
                </a:solidFill>
                <a:latin typeface="Arial" pitchFamily="34" charset="0"/>
                <a:ea typeface="Arial" pitchFamily="34" charset="-122"/>
                <a:cs typeface="Arial" pitchFamily="34" charset="-120"/>
              </a:rPr>
              <a:t>Propiedad</a:t>
            </a:r>
            <a:endParaRPr lang="en-US" sz="1000" dirty="0"/>
          </a:p>
        </p:txBody>
      </p:sp>
      <p:sp>
        <p:nvSpPr>
          <p:cNvPr id="18" name="Text 16"/>
          <p:cNvSpPr txBox="1"/>
          <p:nvPr/>
        </p:nvSpPr>
        <p:spPr>
          <a:xfrm>
            <a:off x="5788152" y="1810512"/>
            <a:ext cx="1005840" cy="457200"/>
          </a:xfrm>
          <a:prstGeom prst="rect">
            <a:avLst/>
          </a:prstGeom>
          <a:noFill/>
          <a:ln/>
        </p:spPr>
        <p:txBody>
          <a:bodyPr wrap="square" lIns="0" tIns="0" rIns="0" bIns="0" rtlCol="0" anchor="ctr"/>
          <a:lstStyle/>
          <a:p>
            <a:pPr marL="0" indent="0">
              <a:buNone/>
            </a:pPr>
            <a:r>
              <a:rPr lang="en-US" sz="900" dirty="0">
                <a:solidFill>
                  <a:srgbClr val="D7E1EE"/>
                </a:solidFill>
                <a:latin typeface="Courier New" pitchFamily="34" charset="0"/>
                <a:ea typeface="Courier New" pitchFamily="34" charset="-122"/>
                <a:cs typeface="Courier New" pitchFamily="34" charset="-120"/>
              </a:rPr>
              <a:t>padding</a:t>
            </a:r>
            <a:endParaRPr lang="en-US" sz="900" dirty="0"/>
          </a:p>
        </p:txBody>
      </p:sp>
      <p:sp>
        <p:nvSpPr>
          <p:cNvPr id="19" name="Text 17"/>
          <p:cNvSpPr txBox="1"/>
          <p:nvPr/>
        </p:nvSpPr>
        <p:spPr>
          <a:xfrm>
            <a:off x="6812280" y="1810512"/>
            <a:ext cx="1700784" cy="457200"/>
          </a:xfrm>
          <a:prstGeom prst="rect">
            <a:avLst/>
          </a:prstGeom>
          <a:noFill/>
          <a:ln/>
        </p:spPr>
        <p:txBody>
          <a:bodyPr wrap="square" lIns="0" tIns="0" rIns="0" bIns="0" rtlCol="0" anchor="ctr"/>
          <a:lstStyle/>
          <a:p>
            <a:pPr marL="0" indent="0">
              <a:buNone/>
            </a:pPr>
            <a:r>
              <a:rPr lang="en-US" sz="900" dirty="0">
                <a:solidFill>
                  <a:srgbClr val="93A5BD"/>
                </a:solidFill>
                <a:latin typeface="Calibri" pitchFamily="34" charset="0"/>
                <a:ea typeface="Calibri" pitchFamily="34" charset="-122"/>
                <a:cs typeface="Calibri" pitchFamily="34" charset="-120"/>
              </a:rPr>
              <a:t>Nombre del aspecto de presentación que se modifica.</a:t>
            </a:r>
            <a:endParaRPr lang="en-US" sz="900" dirty="0"/>
          </a:p>
        </p:txBody>
      </p:sp>
      <p:sp>
        <p:nvSpPr>
          <p:cNvPr id="20" name="Shape 18"/>
          <p:cNvSpPr/>
          <p:nvPr/>
        </p:nvSpPr>
        <p:spPr>
          <a:xfrm>
            <a:off x="4663440" y="2340864"/>
            <a:ext cx="3977640" cy="457200"/>
          </a:xfrm>
          <a:prstGeom prst="roundRect">
            <a:avLst>
              <a:gd name="adj" fmla="val 16000"/>
            </a:avLst>
          </a:prstGeom>
          <a:solidFill>
            <a:srgbClr val="1A2434"/>
          </a:solidFill>
          <a:ln w="12700">
            <a:solidFill>
              <a:srgbClr val="2B3B52"/>
            </a:solidFill>
            <a:prstDash val="solid"/>
          </a:ln>
        </p:spPr>
        <p:txBody>
          <a:bodyPr/>
          <a:lstStyle/>
          <a:p>
            <a:endParaRPr lang="es-CO"/>
          </a:p>
        </p:txBody>
      </p:sp>
      <p:sp>
        <p:nvSpPr>
          <p:cNvPr id="21" name="Text 19"/>
          <p:cNvSpPr txBox="1"/>
          <p:nvPr/>
        </p:nvSpPr>
        <p:spPr>
          <a:xfrm>
            <a:off x="4828032" y="2340864"/>
            <a:ext cx="960120" cy="457200"/>
          </a:xfrm>
          <a:prstGeom prst="rect">
            <a:avLst/>
          </a:prstGeom>
          <a:noFill/>
          <a:ln/>
        </p:spPr>
        <p:txBody>
          <a:bodyPr wrap="square" lIns="0" tIns="0" rIns="0" bIns="0" rtlCol="0" anchor="ctr"/>
          <a:lstStyle/>
          <a:p>
            <a:pPr marL="0" indent="0">
              <a:buNone/>
            </a:pPr>
            <a:r>
              <a:rPr lang="en-US" sz="1000" b="1" dirty="0">
                <a:solidFill>
                  <a:srgbClr val="FFD479"/>
                </a:solidFill>
                <a:latin typeface="Arial" pitchFamily="34" charset="0"/>
                <a:ea typeface="Arial" pitchFamily="34" charset="-122"/>
                <a:cs typeface="Arial" pitchFamily="34" charset="-120"/>
              </a:rPr>
              <a:t>Valor</a:t>
            </a:r>
            <a:endParaRPr lang="en-US" sz="1000" dirty="0"/>
          </a:p>
        </p:txBody>
      </p:sp>
      <p:sp>
        <p:nvSpPr>
          <p:cNvPr id="22" name="Text 20"/>
          <p:cNvSpPr txBox="1"/>
          <p:nvPr/>
        </p:nvSpPr>
        <p:spPr>
          <a:xfrm>
            <a:off x="5788152" y="2340864"/>
            <a:ext cx="1005840" cy="457200"/>
          </a:xfrm>
          <a:prstGeom prst="rect">
            <a:avLst/>
          </a:prstGeom>
          <a:noFill/>
          <a:ln/>
        </p:spPr>
        <p:txBody>
          <a:bodyPr wrap="square" lIns="0" tIns="0" rIns="0" bIns="0" rtlCol="0" anchor="ctr"/>
          <a:lstStyle/>
          <a:p>
            <a:pPr marL="0" indent="0">
              <a:buNone/>
            </a:pPr>
            <a:r>
              <a:rPr lang="en-US" sz="900" dirty="0">
                <a:solidFill>
                  <a:srgbClr val="D7E1EE"/>
                </a:solidFill>
                <a:latin typeface="Courier New" pitchFamily="34" charset="0"/>
                <a:ea typeface="Courier New" pitchFamily="34" charset="-122"/>
                <a:cs typeface="Courier New" pitchFamily="34" charset="-120"/>
              </a:rPr>
              <a:t>20px</a:t>
            </a:r>
            <a:endParaRPr lang="en-US" sz="900" dirty="0"/>
          </a:p>
        </p:txBody>
      </p:sp>
      <p:sp>
        <p:nvSpPr>
          <p:cNvPr id="23" name="Text 21"/>
          <p:cNvSpPr txBox="1"/>
          <p:nvPr/>
        </p:nvSpPr>
        <p:spPr>
          <a:xfrm>
            <a:off x="6812280" y="2340864"/>
            <a:ext cx="1700784" cy="457200"/>
          </a:xfrm>
          <a:prstGeom prst="rect">
            <a:avLst/>
          </a:prstGeom>
          <a:noFill/>
          <a:ln/>
        </p:spPr>
        <p:txBody>
          <a:bodyPr wrap="square" lIns="0" tIns="0" rIns="0" bIns="0" rtlCol="0" anchor="ctr"/>
          <a:lstStyle/>
          <a:p>
            <a:pPr marL="0" indent="0">
              <a:buNone/>
            </a:pPr>
            <a:r>
              <a:rPr lang="en-US" sz="900" dirty="0">
                <a:solidFill>
                  <a:srgbClr val="93A5BD"/>
                </a:solidFill>
                <a:latin typeface="Calibri" pitchFamily="34" charset="0"/>
                <a:ea typeface="Calibri" pitchFamily="34" charset="-122"/>
                <a:cs typeface="Calibri" pitchFamily="34" charset="-120"/>
              </a:rPr>
              <a:t>Ajuste concreto asignado a esa propiedad.</a:t>
            </a:r>
            <a:endParaRPr lang="en-US" sz="900" dirty="0"/>
          </a:p>
        </p:txBody>
      </p:sp>
      <p:sp>
        <p:nvSpPr>
          <p:cNvPr id="24" name="Shape 22"/>
          <p:cNvSpPr/>
          <p:nvPr/>
        </p:nvSpPr>
        <p:spPr>
          <a:xfrm>
            <a:off x="4663440" y="2871216"/>
            <a:ext cx="3977640" cy="457200"/>
          </a:xfrm>
          <a:prstGeom prst="roundRect">
            <a:avLst>
              <a:gd name="adj" fmla="val 16000"/>
            </a:avLst>
          </a:prstGeom>
          <a:solidFill>
            <a:srgbClr val="1A2434"/>
          </a:solidFill>
          <a:ln w="12700">
            <a:solidFill>
              <a:srgbClr val="2B3B52"/>
            </a:solidFill>
            <a:prstDash val="solid"/>
          </a:ln>
        </p:spPr>
        <p:txBody>
          <a:bodyPr/>
          <a:lstStyle/>
          <a:p>
            <a:endParaRPr lang="es-CO"/>
          </a:p>
        </p:txBody>
      </p:sp>
      <p:sp>
        <p:nvSpPr>
          <p:cNvPr id="25" name="Text 23"/>
          <p:cNvSpPr txBox="1"/>
          <p:nvPr/>
        </p:nvSpPr>
        <p:spPr>
          <a:xfrm>
            <a:off x="4828032" y="2871216"/>
            <a:ext cx="960120" cy="457200"/>
          </a:xfrm>
          <a:prstGeom prst="rect">
            <a:avLst/>
          </a:prstGeom>
          <a:noFill/>
          <a:ln/>
        </p:spPr>
        <p:txBody>
          <a:bodyPr wrap="square" lIns="0" tIns="0" rIns="0" bIns="0" rtlCol="0" anchor="ctr"/>
          <a:lstStyle/>
          <a:p>
            <a:pPr marL="0" indent="0">
              <a:buNone/>
            </a:pPr>
            <a:r>
              <a:rPr lang="en-US" sz="1000" b="1" dirty="0">
                <a:solidFill>
                  <a:srgbClr val="FFB86C"/>
                </a:solidFill>
                <a:latin typeface="Arial" pitchFamily="34" charset="0"/>
                <a:ea typeface="Arial" pitchFamily="34" charset="-122"/>
                <a:cs typeface="Arial" pitchFamily="34" charset="-120"/>
              </a:rPr>
              <a:t>Declaración</a:t>
            </a:r>
            <a:endParaRPr lang="en-US" sz="1000" dirty="0"/>
          </a:p>
        </p:txBody>
      </p:sp>
      <p:sp>
        <p:nvSpPr>
          <p:cNvPr id="26" name="Text 24"/>
          <p:cNvSpPr txBox="1"/>
          <p:nvPr/>
        </p:nvSpPr>
        <p:spPr>
          <a:xfrm>
            <a:off x="5788152" y="2871216"/>
            <a:ext cx="1005840" cy="457200"/>
          </a:xfrm>
          <a:prstGeom prst="rect">
            <a:avLst/>
          </a:prstGeom>
          <a:noFill/>
          <a:ln/>
        </p:spPr>
        <p:txBody>
          <a:bodyPr wrap="square" lIns="0" tIns="0" rIns="0" bIns="0" rtlCol="0" anchor="ctr"/>
          <a:lstStyle/>
          <a:p>
            <a:pPr marL="0" indent="0">
              <a:buNone/>
            </a:pPr>
            <a:r>
              <a:rPr lang="en-US" sz="900" dirty="0">
                <a:solidFill>
                  <a:srgbClr val="D7E1EE"/>
                </a:solidFill>
                <a:latin typeface="Courier New" pitchFamily="34" charset="0"/>
                <a:ea typeface="Courier New" pitchFamily="34" charset="-122"/>
                <a:cs typeface="Courier New" pitchFamily="34" charset="-120"/>
              </a:rPr>
              <a:t>padding: 20px;</a:t>
            </a:r>
            <a:endParaRPr lang="en-US" sz="900" dirty="0"/>
          </a:p>
        </p:txBody>
      </p:sp>
      <p:sp>
        <p:nvSpPr>
          <p:cNvPr id="27" name="Text 25"/>
          <p:cNvSpPr txBox="1"/>
          <p:nvPr/>
        </p:nvSpPr>
        <p:spPr>
          <a:xfrm>
            <a:off x="6812280" y="2871216"/>
            <a:ext cx="1700784" cy="457200"/>
          </a:xfrm>
          <a:prstGeom prst="rect">
            <a:avLst/>
          </a:prstGeom>
          <a:noFill/>
          <a:ln/>
        </p:spPr>
        <p:txBody>
          <a:bodyPr wrap="square" lIns="0" tIns="0" rIns="0" bIns="0" rtlCol="0" anchor="ctr"/>
          <a:lstStyle/>
          <a:p>
            <a:pPr marL="0" indent="0">
              <a:buNone/>
            </a:pPr>
            <a:r>
              <a:rPr lang="en-US" sz="900" dirty="0">
                <a:solidFill>
                  <a:srgbClr val="93A5BD"/>
                </a:solidFill>
                <a:latin typeface="Calibri" pitchFamily="34" charset="0"/>
                <a:ea typeface="Calibri" pitchFamily="34" charset="-122"/>
                <a:cs typeface="Calibri" pitchFamily="34" charset="-120"/>
              </a:rPr>
              <a:t>Par propiedad-valor terminado en punto y coma.</a:t>
            </a:r>
            <a:endParaRPr lang="en-US" sz="900" dirty="0"/>
          </a:p>
        </p:txBody>
      </p:sp>
      <p:sp>
        <p:nvSpPr>
          <p:cNvPr id="28" name="Shape 26"/>
          <p:cNvSpPr/>
          <p:nvPr/>
        </p:nvSpPr>
        <p:spPr>
          <a:xfrm>
            <a:off x="4663440" y="3401568"/>
            <a:ext cx="3977640" cy="457200"/>
          </a:xfrm>
          <a:prstGeom prst="roundRect">
            <a:avLst>
              <a:gd name="adj" fmla="val 16000"/>
            </a:avLst>
          </a:prstGeom>
          <a:solidFill>
            <a:srgbClr val="1A2434"/>
          </a:solidFill>
          <a:ln w="12700">
            <a:solidFill>
              <a:srgbClr val="2B3B52"/>
            </a:solidFill>
            <a:prstDash val="solid"/>
          </a:ln>
        </p:spPr>
        <p:txBody>
          <a:bodyPr/>
          <a:lstStyle/>
          <a:p>
            <a:endParaRPr lang="es-CO"/>
          </a:p>
        </p:txBody>
      </p:sp>
      <p:sp>
        <p:nvSpPr>
          <p:cNvPr id="29" name="Text 27"/>
          <p:cNvSpPr txBox="1"/>
          <p:nvPr/>
        </p:nvSpPr>
        <p:spPr>
          <a:xfrm>
            <a:off x="4828032" y="3401568"/>
            <a:ext cx="960120" cy="457200"/>
          </a:xfrm>
          <a:prstGeom prst="rect">
            <a:avLst/>
          </a:prstGeom>
          <a:noFill/>
          <a:ln/>
        </p:spPr>
        <p:txBody>
          <a:bodyPr wrap="square" lIns="0" tIns="0" rIns="0" bIns="0" rtlCol="0" anchor="ctr"/>
          <a:lstStyle/>
          <a:p>
            <a:pPr marL="0" indent="0">
              <a:buNone/>
            </a:pPr>
            <a:r>
              <a:rPr lang="en-US" sz="1000" b="1" dirty="0">
                <a:solidFill>
                  <a:srgbClr val="3DDC97"/>
                </a:solidFill>
                <a:latin typeface="Arial" pitchFamily="34" charset="0"/>
                <a:ea typeface="Arial" pitchFamily="34" charset="-122"/>
                <a:cs typeface="Arial" pitchFamily="34" charset="-120"/>
              </a:rPr>
              <a:t>Bloque</a:t>
            </a:r>
            <a:endParaRPr lang="en-US" sz="1000" dirty="0"/>
          </a:p>
        </p:txBody>
      </p:sp>
      <p:sp>
        <p:nvSpPr>
          <p:cNvPr id="30" name="Text 28"/>
          <p:cNvSpPr txBox="1"/>
          <p:nvPr/>
        </p:nvSpPr>
        <p:spPr>
          <a:xfrm>
            <a:off x="5788152" y="3401568"/>
            <a:ext cx="1005840" cy="457200"/>
          </a:xfrm>
          <a:prstGeom prst="rect">
            <a:avLst/>
          </a:prstGeom>
          <a:noFill/>
          <a:ln/>
        </p:spPr>
        <p:txBody>
          <a:bodyPr wrap="square" lIns="0" tIns="0" rIns="0" bIns="0" rtlCol="0" anchor="ctr"/>
          <a:lstStyle/>
          <a:p>
            <a:pPr marL="0" indent="0">
              <a:buNone/>
            </a:pPr>
            <a:r>
              <a:rPr lang="en-US" sz="900" dirty="0">
                <a:solidFill>
                  <a:srgbClr val="D7E1EE"/>
                </a:solidFill>
                <a:latin typeface="Courier New" pitchFamily="34" charset="0"/>
                <a:ea typeface="Courier New" pitchFamily="34" charset="-122"/>
                <a:cs typeface="Courier New" pitchFamily="34" charset="-120"/>
              </a:rPr>
              <a:t>{ ... }</a:t>
            </a:r>
            <a:endParaRPr lang="en-US" sz="900" dirty="0"/>
          </a:p>
        </p:txBody>
      </p:sp>
      <p:sp>
        <p:nvSpPr>
          <p:cNvPr id="31" name="Text 29"/>
          <p:cNvSpPr txBox="1"/>
          <p:nvPr/>
        </p:nvSpPr>
        <p:spPr>
          <a:xfrm>
            <a:off x="6812280" y="3401568"/>
            <a:ext cx="1700784" cy="457200"/>
          </a:xfrm>
          <a:prstGeom prst="rect">
            <a:avLst/>
          </a:prstGeom>
          <a:noFill/>
          <a:ln/>
        </p:spPr>
        <p:txBody>
          <a:bodyPr wrap="square" lIns="0" tIns="0" rIns="0" bIns="0" rtlCol="0" anchor="ctr"/>
          <a:lstStyle/>
          <a:p>
            <a:pPr marL="0" indent="0">
              <a:buNone/>
            </a:pPr>
            <a:r>
              <a:rPr lang="en-US" sz="900" dirty="0">
                <a:solidFill>
                  <a:srgbClr val="93A5BD"/>
                </a:solidFill>
                <a:latin typeface="Calibri" pitchFamily="34" charset="0"/>
                <a:ea typeface="Calibri" pitchFamily="34" charset="-122"/>
                <a:cs typeface="Calibri" pitchFamily="34" charset="-120"/>
              </a:rPr>
              <a:t>Conjunto de declaraciones delimitado por llaves.</a:t>
            </a:r>
            <a:endParaRPr lang="en-US" sz="900" dirty="0"/>
          </a:p>
        </p:txBody>
      </p:sp>
      <p:sp>
        <p:nvSpPr>
          <p:cNvPr id="32" name="Text 30"/>
          <p:cNvSpPr txBox="1"/>
          <p:nvPr/>
        </p:nvSpPr>
        <p:spPr>
          <a:xfrm>
            <a:off x="502920" y="4041648"/>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Un archivo CSS es un conjunto de reglas; el navegador las evalúa todas antes de presentar el documento.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883676"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883676"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CONCEPTO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Los selectores indican qué elementos recibirán el estilo</a:t>
            </a:r>
            <a:endParaRPr lang="en-US" sz="20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07 / 25</a:t>
            </a:r>
            <a:endParaRPr lang="en-US" sz="800" dirty="0"/>
          </a:p>
        </p:txBody>
      </p:sp>
      <p:sp>
        <p:nvSpPr>
          <p:cNvPr id="6" name="Shape 4"/>
          <p:cNvSpPr/>
          <p:nvPr/>
        </p:nvSpPr>
        <p:spPr>
          <a:xfrm>
            <a:off x="502920" y="1280160"/>
            <a:ext cx="2615184" cy="2798064"/>
          </a:xfrm>
          <a:prstGeom prst="roundRect">
            <a:avLst>
              <a:gd name="adj" fmla="val 2797"/>
            </a:avLst>
          </a:prstGeom>
          <a:solidFill>
            <a:srgbClr val="1A2434"/>
          </a:solidFill>
          <a:ln w="12700">
            <a:solidFill>
              <a:srgbClr val="3DDC97"/>
            </a:solidFill>
            <a:prstDash val="solid"/>
          </a:ln>
        </p:spPr>
        <p:txBody>
          <a:bodyPr/>
          <a:lstStyle/>
          <a:p>
            <a:endParaRPr lang="es-CO"/>
          </a:p>
        </p:txBody>
      </p:sp>
      <p:sp>
        <p:nvSpPr>
          <p:cNvPr id="7" name="Text 5"/>
          <p:cNvSpPr txBox="1"/>
          <p:nvPr/>
        </p:nvSpPr>
        <p:spPr>
          <a:xfrm>
            <a:off x="685800" y="1408176"/>
            <a:ext cx="2249424" cy="219456"/>
          </a:xfrm>
          <a:prstGeom prst="rect">
            <a:avLst/>
          </a:prstGeom>
          <a:noFill/>
          <a:ln/>
        </p:spPr>
        <p:txBody>
          <a:bodyPr wrap="square" lIns="0" tIns="0" rIns="0" bIns="0" rtlCol="0" anchor="ctr"/>
          <a:lstStyle/>
          <a:p>
            <a:r>
              <a:rPr lang="en-US" sz="1050" b="1" dirty="0">
                <a:solidFill>
                  <a:srgbClr val="3DDC97"/>
                </a:solidFill>
                <a:latin typeface="Arial" pitchFamily="34" charset="0"/>
                <a:ea typeface="Arial" pitchFamily="34" charset="-122"/>
                <a:cs typeface="Arial" pitchFamily="34" charset="-120"/>
              </a:rPr>
              <a:t>Selector de </a:t>
            </a:r>
            <a:r>
              <a:rPr lang="en-US" sz="1050" b="1" dirty="0" err="1">
                <a:solidFill>
                  <a:srgbClr val="3DDC97"/>
                </a:solidFill>
                <a:latin typeface="Arial" pitchFamily="34" charset="0"/>
                <a:ea typeface="Arial" pitchFamily="34" charset="-122"/>
                <a:cs typeface="Arial" pitchFamily="34" charset="-120"/>
              </a:rPr>
              <a:t>identificador</a:t>
            </a:r>
            <a:endParaRPr lang="en-US" sz="1050" dirty="0">
              <a:solidFill>
                <a:srgbClr val="3DDC97"/>
              </a:solidFill>
            </a:endParaRPr>
          </a:p>
          <a:p>
            <a:pPr marL="0" indent="0">
              <a:buNone/>
            </a:pPr>
            <a:endParaRPr lang="en-US" sz="1050" dirty="0">
              <a:solidFill>
                <a:srgbClr val="3DDC97"/>
              </a:solidFill>
            </a:endParaRPr>
          </a:p>
        </p:txBody>
      </p:sp>
      <p:sp>
        <p:nvSpPr>
          <p:cNvPr id="9" name="Shape 7"/>
          <p:cNvSpPr/>
          <p:nvPr/>
        </p:nvSpPr>
        <p:spPr>
          <a:xfrm>
            <a:off x="685800" y="2322576"/>
            <a:ext cx="2249424" cy="859536"/>
          </a:xfrm>
          <a:prstGeom prst="roundRect">
            <a:avLst>
              <a:gd name="adj" fmla="val 8511"/>
            </a:avLst>
          </a:prstGeom>
          <a:solidFill>
            <a:srgbClr val="070C14"/>
          </a:solidFill>
          <a:ln w="12700">
            <a:solidFill>
              <a:srgbClr val="2B3B52"/>
            </a:solidFill>
            <a:prstDash val="solid"/>
          </a:ln>
        </p:spPr>
        <p:txBody>
          <a:bodyPr/>
          <a:lstStyle/>
          <a:p>
            <a:endParaRPr lang="es-CO"/>
          </a:p>
        </p:txBody>
      </p:sp>
      <p:sp>
        <p:nvSpPr>
          <p:cNvPr id="12" name="Shape 10"/>
          <p:cNvSpPr/>
          <p:nvPr/>
        </p:nvSpPr>
        <p:spPr>
          <a:xfrm>
            <a:off x="3264408" y="1280160"/>
            <a:ext cx="2615184" cy="2798064"/>
          </a:xfrm>
          <a:prstGeom prst="roundRect">
            <a:avLst>
              <a:gd name="adj" fmla="val 2797"/>
            </a:avLst>
          </a:prstGeom>
          <a:solidFill>
            <a:srgbClr val="1A2434"/>
          </a:solidFill>
          <a:ln w="12700">
            <a:solidFill>
              <a:srgbClr val="56C7F2"/>
            </a:solidFill>
            <a:prstDash val="solid"/>
          </a:ln>
        </p:spPr>
        <p:txBody>
          <a:bodyPr/>
          <a:lstStyle/>
          <a:p>
            <a:endParaRPr lang="es-CO"/>
          </a:p>
        </p:txBody>
      </p:sp>
      <p:sp>
        <p:nvSpPr>
          <p:cNvPr id="13" name="Text 11"/>
          <p:cNvSpPr txBox="1"/>
          <p:nvPr/>
        </p:nvSpPr>
        <p:spPr>
          <a:xfrm>
            <a:off x="3447288" y="1408176"/>
            <a:ext cx="2249424" cy="219456"/>
          </a:xfrm>
          <a:prstGeom prst="rect">
            <a:avLst/>
          </a:prstGeom>
          <a:noFill/>
          <a:ln/>
        </p:spPr>
        <p:txBody>
          <a:bodyPr wrap="square" lIns="0" tIns="0" rIns="0" bIns="0" rtlCol="0" anchor="ctr"/>
          <a:lstStyle/>
          <a:p>
            <a:pPr marL="0" indent="0">
              <a:buNone/>
            </a:pPr>
            <a:r>
              <a:rPr lang="en-US" sz="1050" b="1" dirty="0">
                <a:solidFill>
                  <a:srgbClr val="56C7F2"/>
                </a:solidFill>
                <a:latin typeface="Arial" pitchFamily="34" charset="0"/>
                <a:ea typeface="Arial" pitchFamily="34" charset="-122"/>
                <a:cs typeface="Arial" pitchFamily="34" charset="-120"/>
              </a:rPr>
              <a:t>Selector de clase</a:t>
            </a:r>
            <a:endParaRPr lang="en-US" sz="1050" dirty="0"/>
          </a:p>
        </p:txBody>
      </p:sp>
      <p:sp>
        <p:nvSpPr>
          <p:cNvPr id="14" name="Text 12"/>
          <p:cNvSpPr txBox="1"/>
          <p:nvPr/>
        </p:nvSpPr>
        <p:spPr>
          <a:xfrm>
            <a:off x="3447288" y="1682496"/>
            <a:ext cx="2249424" cy="603504"/>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Se aplica a los elementos que declaran esa clase mediante el atributo class.</a:t>
            </a:r>
            <a:endParaRPr lang="en-US" sz="950" dirty="0"/>
          </a:p>
        </p:txBody>
      </p:sp>
      <p:sp>
        <p:nvSpPr>
          <p:cNvPr id="15" name="Shape 13"/>
          <p:cNvSpPr/>
          <p:nvPr/>
        </p:nvSpPr>
        <p:spPr>
          <a:xfrm>
            <a:off x="3447288" y="2322576"/>
            <a:ext cx="2249424" cy="859536"/>
          </a:xfrm>
          <a:prstGeom prst="roundRect">
            <a:avLst>
              <a:gd name="adj" fmla="val 8511"/>
            </a:avLst>
          </a:prstGeom>
          <a:solidFill>
            <a:srgbClr val="070C14"/>
          </a:solidFill>
          <a:ln w="12700">
            <a:solidFill>
              <a:srgbClr val="2B3B52"/>
            </a:solidFill>
            <a:prstDash val="solid"/>
          </a:ln>
        </p:spPr>
        <p:txBody>
          <a:bodyPr/>
          <a:lstStyle/>
          <a:p>
            <a:endParaRPr lang="es-CO"/>
          </a:p>
        </p:txBody>
      </p:sp>
      <p:sp>
        <p:nvSpPr>
          <p:cNvPr id="16" name="Text 14"/>
          <p:cNvSpPr txBox="1"/>
          <p:nvPr/>
        </p:nvSpPr>
        <p:spPr>
          <a:xfrm>
            <a:off x="3593592" y="2377440"/>
            <a:ext cx="1956816" cy="749808"/>
          </a:xfrm>
          <a:prstGeom prst="rect">
            <a:avLst/>
          </a:prstGeom>
          <a:noFill/>
          <a:ln/>
        </p:spPr>
        <p:txBody>
          <a:bodyPr wrap="square" lIns="0" tIns="0" rIns="0" bIns="0" rtlCol="0" anchor="t"/>
          <a:lstStyle/>
          <a:p>
            <a:pPr marL="0" indent="0">
              <a:lnSpc>
                <a:spcPts val="1122"/>
              </a:lnSpc>
              <a:buNone/>
            </a:pPr>
            <a:r>
              <a:rPr lang="en-US" sz="850" dirty="0">
                <a:solidFill>
                  <a:srgbClr val="3DDC97"/>
                </a:solidFill>
                <a:latin typeface="Courier New" pitchFamily="34" charset="0"/>
                <a:ea typeface="Courier New" pitchFamily="34" charset="-122"/>
                <a:cs typeface="Courier New" pitchFamily="34" charset="-120"/>
              </a:rPr>
              <a:t>.campo </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2"/>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margin-bottom</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10px</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2"/>
              </a:lnSpc>
              <a:buNone/>
            </a:pPr>
            <a:r>
              <a:rPr lang="en-US" sz="850" dirty="0">
                <a:solidFill>
                  <a:srgbClr val="93A5BD"/>
                </a:solidFill>
                <a:latin typeface="Courier New" pitchFamily="34" charset="0"/>
                <a:ea typeface="Courier New" pitchFamily="34" charset="-122"/>
                <a:cs typeface="Courier New" pitchFamily="34" charset="-120"/>
              </a:rPr>
              <a:t>}</a:t>
            </a:r>
            <a:endParaRPr lang="en-US" sz="850" dirty="0"/>
          </a:p>
        </p:txBody>
      </p:sp>
      <p:sp>
        <p:nvSpPr>
          <p:cNvPr id="17" name="Text 15"/>
          <p:cNvSpPr txBox="1"/>
          <p:nvPr/>
        </p:nvSpPr>
        <p:spPr>
          <a:xfrm>
            <a:off x="3447288" y="3255264"/>
            <a:ext cx="2249424" cy="694944"/>
          </a:xfrm>
          <a:prstGeom prst="rect">
            <a:avLst/>
          </a:prstGeom>
          <a:noFill/>
          <a:ln/>
        </p:spPr>
        <p:txBody>
          <a:bodyPr wrap="square" lIns="0" tIns="0" rIns="0" bIns="0" rtlCol="0" anchor="t"/>
          <a:lstStyle/>
          <a:p>
            <a:pPr marL="0" indent="0">
              <a:buNone/>
            </a:pPr>
            <a:r>
              <a:rPr lang="en-US" sz="850" dirty="0">
                <a:solidFill>
                  <a:srgbClr val="93A5BD"/>
                </a:solidFill>
                <a:latin typeface="Courier New" pitchFamily="34" charset="0"/>
                <a:ea typeface="Courier New" pitchFamily="34" charset="-122"/>
                <a:cs typeface="Courier New" pitchFamily="34" charset="-120"/>
              </a:rPr>
              <a:t>Coincide con class="campo"</a:t>
            </a:r>
            <a:endParaRPr lang="en-US" sz="850" dirty="0"/>
          </a:p>
        </p:txBody>
      </p:sp>
      <p:sp>
        <p:nvSpPr>
          <p:cNvPr id="24" name="Text 22"/>
          <p:cNvSpPr txBox="1"/>
          <p:nvPr/>
        </p:nvSpPr>
        <p:spPr>
          <a:xfrm>
            <a:off x="502920" y="4169664"/>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Existen selectores más específicos (descendencia, atributo, pseudoclases). En esta sesión se trabajan únicamente estos tres.</a:t>
            </a:r>
            <a:endParaRPr lang="en-US" sz="1100" dirty="0"/>
          </a:p>
        </p:txBody>
      </p:sp>
      <p:sp>
        <p:nvSpPr>
          <p:cNvPr id="26" name="Text 18">
            <a:extLst>
              <a:ext uri="{FF2B5EF4-FFF2-40B4-BE49-F238E27FC236}">
                <a16:creationId xmlns:a16="http://schemas.microsoft.com/office/drawing/2014/main" id="{D74B3EC4-D8C7-084F-C19C-28B4BC14C762}"/>
              </a:ext>
            </a:extLst>
          </p:cNvPr>
          <p:cNvSpPr txBox="1"/>
          <p:nvPr/>
        </p:nvSpPr>
        <p:spPr>
          <a:xfrm>
            <a:off x="652548" y="1719072"/>
            <a:ext cx="2249424" cy="603504"/>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Se aplica al elemento que declara ese identificador mediante el </a:t>
            </a:r>
            <a:r>
              <a:rPr lang="en-US" sz="950" dirty="0" err="1">
                <a:solidFill>
                  <a:srgbClr val="E8EEF6"/>
                </a:solidFill>
                <a:latin typeface="Calibri" pitchFamily="34" charset="0"/>
                <a:ea typeface="Calibri" pitchFamily="34" charset="-122"/>
                <a:cs typeface="Calibri" pitchFamily="34" charset="-120"/>
              </a:rPr>
              <a:t>atributo</a:t>
            </a:r>
            <a:r>
              <a:rPr lang="en-US" sz="950" dirty="0">
                <a:solidFill>
                  <a:srgbClr val="E8EEF6"/>
                </a:solidFill>
                <a:latin typeface="Calibri" pitchFamily="34" charset="0"/>
                <a:ea typeface="Calibri" pitchFamily="34" charset="-122"/>
                <a:cs typeface="Calibri" pitchFamily="34" charset="-120"/>
              </a:rPr>
              <a:t> id </a:t>
            </a:r>
            <a:r>
              <a:rPr lang="en-US" sz="950" dirty="0" err="1">
                <a:solidFill>
                  <a:srgbClr val="E8EEF6"/>
                </a:solidFill>
                <a:latin typeface="Calibri" pitchFamily="34" charset="0"/>
                <a:ea typeface="Calibri" pitchFamily="34" charset="-122"/>
                <a:cs typeface="Calibri" pitchFamily="34" charset="-120"/>
              </a:rPr>
              <a:t>en</a:t>
            </a:r>
            <a:r>
              <a:rPr lang="en-US" sz="950" dirty="0">
                <a:solidFill>
                  <a:srgbClr val="E8EEF6"/>
                </a:solidFill>
                <a:latin typeface="Calibri" pitchFamily="34" charset="0"/>
                <a:ea typeface="Calibri" pitchFamily="34" charset="-122"/>
                <a:cs typeface="Calibri" pitchFamily="34" charset="-120"/>
              </a:rPr>
              <a:t> html.</a:t>
            </a:r>
            <a:endParaRPr lang="en-US" sz="950" dirty="0"/>
          </a:p>
        </p:txBody>
      </p:sp>
      <p:sp>
        <p:nvSpPr>
          <p:cNvPr id="28" name="Text 20">
            <a:extLst>
              <a:ext uri="{FF2B5EF4-FFF2-40B4-BE49-F238E27FC236}">
                <a16:creationId xmlns:a16="http://schemas.microsoft.com/office/drawing/2014/main" id="{66D83FCA-7B0C-C41B-5CFE-BCA3A3E0C700}"/>
              </a:ext>
            </a:extLst>
          </p:cNvPr>
          <p:cNvSpPr txBox="1"/>
          <p:nvPr/>
        </p:nvSpPr>
        <p:spPr>
          <a:xfrm>
            <a:off x="798852" y="2414016"/>
            <a:ext cx="1956816" cy="749808"/>
          </a:xfrm>
          <a:prstGeom prst="rect">
            <a:avLst/>
          </a:prstGeom>
          <a:noFill/>
          <a:ln/>
        </p:spPr>
        <p:txBody>
          <a:bodyPr wrap="square" lIns="0" tIns="0" rIns="0" bIns="0" rtlCol="0" anchor="t"/>
          <a:lstStyle/>
          <a:p>
            <a:pPr marL="0" indent="0">
              <a:lnSpc>
                <a:spcPts val="1122"/>
              </a:lnSpc>
              <a:buNone/>
            </a:pPr>
            <a:r>
              <a:rPr lang="en-US" sz="850" dirty="0">
                <a:solidFill>
                  <a:srgbClr val="3DDC97"/>
                </a:solidFill>
                <a:latin typeface="Courier New" pitchFamily="34" charset="0"/>
                <a:ea typeface="Courier New" pitchFamily="34" charset="-122"/>
                <a:cs typeface="Courier New" pitchFamily="34" charset="-120"/>
              </a:rPr>
              <a:t>#contacto </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2"/>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max-width</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700px</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2"/>
              </a:lnSpc>
              <a:buNone/>
            </a:pPr>
            <a:r>
              <a:rPr lang="en-US" sz="850" dirty="0">
                <a:solidFill>
                  <a:srgbClr val="93A5BD"/>
                </a:solidFill>
                <a:latin typeface="Courier New" pitchFamily="34" charset="0"/>
                <a:ea typeface="Courier New" pitchFamily="34" charset="-122"/>
                <a:cs typeface="Courier New" pitchFamily="34" charset="-120"/>
              </a:rPr>
              <a:t>}</a:t>
            </a:r>
            <a:endParaRPr lang="en-US" sz="850" dirty="0"/>
          </a:p>
        </p:txBody>
      </p:sp>
      <p:sp>
        <p:nvSpPr>
          <p:cNvPr id="30" name="Text 21">
            <a:extLst>
              <a:ext uri="{FF2B5EF4-FFF2-40B4-BE49-F238E27FC236}">
                <a16:creationId xmlns:a16="http://schemas.microsoft.com/office/drawing/2014/main" id="{F2D7920D-532B-C984-ED9E-399CB8D4CB63}"/>
              </a:ext>
            </a:extLst>
          </p:cNvPr>
          <p:cNvSpPr txBox="1"/>
          <p:nvPr/>
        </p:nvSpPr>
        <p:spPr>
          <a:xfrm>
            <a:off x="652548" y="3291840"/>
            <a:ext cx="2249424" cy="694944"/>
          </a:xfrm>
          <a:prstGeom prst="rect">
            <a:avLst/>
          </a:prstGeom>
          <a:noFill/>
          <a:ln/>
        </p:spPr>
        <p:txBody>
          <a:bodyPr wrap="square" lIns="0" tIns="0" rIns="0" bIns="0" rtlCol="0" anchor="t"/>
          <a:lstStyle/>
          <a:p>
            <a:pPr marL="0" indent="0">
              <a:buNone/>
            </a:pPr>
            <a:r>
              <a:rPr lang="en-US" sz="850" dirty="0">
                <a:solidFill>
                  <a:srgbClr val="93A5BD"/>
                </a:solidFill>
                <a:latin typeface="Courier New" pitchFamily="34" charset="0"/>
                <a:ea typeface="Courier New" pitchFamily="34" charset="-122"/>
                <a:cs typeface="Courier New" pitchFamily="34" charset="-120"/>
              </a:rPr>
              <a:t>Coincide con id="</a:t>
            </a:r>
            <a:r>
              <a:rPr lang="en-US" sz="850" dirty="0" err="1">
                <a:solidFill>
                  <a:srgbClr val="93A5BD"/>
                </a:solidFill>
                <a:latin typeface="Courier New" pitchFamily="34" charset="0"/>
                <a:ea typeface="Courier New" pitchFamily="34" charset="-122"/>
                <a:cs typeface="Courier New" pitchFamily="34" charset="-120"/>
              </a:rPr>
              <a:t>contacto</a:t>
            </a:r>
            <a:r>
              <a:rPr lang="en-US" sz="850" dirty="0">
                <a:solidFill>
                  <a:srgbClr val="93A5BD"/>
                </a:solidFill>
                <a:latin typeface="Courier New" pitchFamily="34" charset="0"/>
                <a:ea typeface="Courier New" pitchFamily="34" charset="-122"/>
                <a:cs typeface="Courier New" pitchFamily="34" charset="-120"/>
              </a:rPr>
              <a:t>“.</a:t>
            </a:r>
          </a:p>
          <a:p>
            <a:pPr marL="0" indent="0">
              <a:buNone/>
            </a:pPr>
            <a:endParaRPr lang="en-US" sz="850" dirty="0">
              <a:solidFill>
                <a:srgbClr val="93A5BD"/>
              </a:solidFill>
              <a:latin typeface="Courier New" pitchFamily="34" charset="0"/>
              <a:cs typeface="Courier New" pitchFamily="34" charset="-120"/>
            </a:endParaRPr>
          </a:p>
          <a:p>
            <a:pPr marL="0" indent="0">
              <a:buNone/>
            </a:pPr>
            <a:r>
              <a:rPr lang="en-US" sz="850" dirty="0">
                <a:solidFill>
                  <a:srgbClr val="93A5BD"/>
                </a:solidFill>
                <a:latin typeface="Courier New" pitchFamily="34" charset="0"/>
                <a:cs typeface="Courier New" pitchFamily="34" charset="-120"/>
              </a:rPr>
              <a:t>El id es </a:t>
            </a:r>
            <a:r>
              <a:rPr lang="en-US" sz="850" dirty="0" err="1">
                <a:solidFill>
                  <a:srgbClr val="93A5BD"/>
                </a:solidFill>
                <a:latin typeface="Courier New" pitchFamily="34" charset="0"/>
                <a:cs typeface="Courier New" pitchFamily="34" charset="-120"/>
              </a:rPr>
              <a:t>unico</a:t>
            </a:r>
            <a:endParaRPr lang="en-US" sz="850" dirty="0"/>
          </a:p>
        </p:txBody>
      </p:sp>
      <p:sp>
        <p:nvSpPr>
          <p:cNvPr id="33" name="Shape 10">
            <a:extLst>
              <a:ext uri="{FF2B5EF4-FFF2-40B4-BE49-F238E27FC236}">
                <a16:creationId xmlns:a16="http://schemas.microsoft.com/office/drawing/2014/main" id="{46070841-4ED9-2186-734E-09D2D4987066}"/>
              </a:ext>
            </a:extLst>
          </p:cNvPr>
          <p:cNvSpPr/>
          <p:nvPr/>
        </p:nvSpPr>
        <p:spPr>
          <a:xfrm>
            <a:off x="5998464" y="1280160"/>
            <a:ext cx="2615184" cy="2798064"/>
          </a:xfrm>
          <a:prstGeom prst="roundRect">
            <a:avLst>
              <a:gd name="adj" fmla="val 2797"/>
            </a:avLst>
          </a:prstGeom>
          <a:solidFill>
            <a:srgbClr val="1A2434"/>
          </a:solidFill>
          <a:ln w="12700">
            <a:solidFill>
              <a:srgbClr val="FFB86C"/>
            </a:solidFill>
            <a:prstDash val="solid"/>
          </a:ln>
        </p:spPr>
        <p:txBody>
          <a:bodyPr/>
          <a:lstStyle/>
          <a:p>
            <a:endParaRPr lang="es-CO"/>
          </a:p>
        </p:txBody>
      </p:sp>
      <p:sp>
        <p:nvSpPr>
          <p:cNvPr id="35" name="Text 11">
            <a:extLst>
              <a:ext uri="{FF2B5EF4-FFF2-40B4-BE49-F238E27FC236}">
                <a16:creationId xmlns:a16="http://schemas.microsoft.com/office/drawing/2014/main" id="{43DD1F53-83A8-1C6A-A1E9-A49980DE1EB1}"/>
              </a:ext>
            </a:extLst>
          </p:cNvPr>
          <p:cNvSpPr txBox="1"/>
          <p:nvPr/>
        </p:nvSpPr>
        <p:spPr>
          <a:xfrm>
            <a:off x="6181344" y="1408176"/>
            <a:ext cx="2249424" cy="219456"/>
          </a:xfrm>
          <a:prstGeom prst="rect">
            <a:avLst/>
          </a:prstGeom>
          <a:noFill/>
          <a:ln/>
        </p:spPr>
        <p:txBody>
          <a:bodyPr wrap="square" lIns="0" tIns="0" rIns="0" bIns="0" rtlCol="0" anchor="ctr"/>
          <a:lstStyle/>
          <a:p>
            <a:pPr marL="0" indent="0">
              <a:buNone/>
            </a:pPr>
            <a:r>
              <a:rPr lang="en-US" sz="1050" b="1" dirty="0">
                <a:solidFill>
                  <a:srgbClr val="FFB86C"/>
                </a:solidFill>
                <a:latin typeface="Arial" pitchFamily="34" charset="0"/>
                <a:ea typeface="Arial" pitchFamily="34" charset="-122"/>
                <a:cs typeface="Arial" pitchFamily="34" charset="-120"/>
              </a:rPr>
              <a:t>Selector universal</a:t>
            </a:r>
            <a:endParaRPr lang="en-US" sz="1050" dirty="0">
              <a:solidFill>
                <a:srgbClr val="FFB86C"/>
              </a:solidFill>
            </a:endParaRPr>
          </a:p>
        </p:txBody>
      </p:sp>
      <p:sp>
        <p:nvSpPr>
          <p:cNvPr id="37" name="Text 12">
            <a:extLst>
              <a:ext uri="{FF2B5EF4-FFF2-40B4-BE49-F238E27FC236}">
                <a16:creationId xmlns:a16="http://schemas.microsoft.com/office/drawing/2014/main" id="{9374A247-8E5D-2FB5-AD69-035945054F72}"/>
              </a:ext>
            </a:extLst>
          </p:cNvPr>
          <p:cNvSpPr txBox="1"/>
          <p:nvPr/>
        </p:nvSpPr>
        <p:spPr>
          <a:xfrm>
            <a:off x="6181344" y="1682496"/>
            <a:ext cx="2249424" cy="603504"/>
          </a:xfrm>
          <a:prstGeom prst="rect">
            <a:avLst/>
          </a:prstGeom>
          <a:noFill/>
          <a:ln/>
        </p:spPr>
        <p:txBody>
          <a:bodyPr wrap="square" lIns="0" tIns="0" rIns="0" bIns="0" rtlCol="0" anchor="t"/>
          <a:lstStyle/>
          <a:p>
            <a:r>
              <a:rPr lang="es-CO" sz="950" dirty="0">
                <a:solidFill>
                  <a:schemeClr val="bg1"/>
                </a:solidFill>
              </a:rPr>
              <a:t>Se representa con un asterisco * y selecciona todos los elementos HTML del documento.</a:t>
            </a:r>
            <a:endParaRPr lang="en-US" sz="950" dirty="0">
              <a:solidFill>
                <a:schemeClr val="bg1"/>
              </a:solidFill>
            </a:endParaRPr>
          </a:p>
        </p:txBody>
      </p:sp>
      <p:sp>
        <p:nvSpPr>
          <p:cNvPr id="39" name="Shape 13">
            <a:extLst>
              <a:ext uri="{FF2B5EF4-FFF2-40B4-BE49-F238E27FC236}">
                <a16:creationId xmlns:a16="http://schemas.microsoft.com/office/drawing/2014/main" id="{641A12B6-D653-7AB8-7527-06CE621BB5C6}"/>
              </a:ext>
            </a:extLst>
          </p:cNvPr>
          <p:cNvSpPr/>
          <p:nvPr/>
        </p:nvSpPr>
        <p:spPr>
          <a:xfrm>
            <a:off x="6181344" y="2322576"/>
            <a:ext cx="2249424" cy="859536"/>
          </a:xfrm>
          <a:prstGeom prst="roundRect">
            <a:avLst>
              <a:gd name="adj" fmla="val 8511"/>
            </a:avLst>
          </a:prstGeom>
          <a:solidFill>
            <a:srgbClr val="070C14"/>
          </a:solidFill>
          <a:ln w="12700">
            <a:solidFill>
              <a:srgbClr val="2B3B52"/>
            </a:solidFill>
            <a:prstDash val="solid"/>
          </a:ln>
        </p:spPr>
        <p:txBody>
          <a:bodyPr/>
          <a:lstStyle/>
          <a:p>
            <a:endParaRPr lang="es-CO"/>
          </a:p>
        </p:txBody>
      </p:sp>
      <p:sp>
        <p:nvSpPr>
          <p:cNvPr id="41" name="Text 14">
            <a:extLst>
              <a:ext uri="{FF2B5EF4-FFF2-40B4-BE49-F238E27FC236}">
                <a16:creationId xmlns:a16="http://schemas.microsoft.com/office/drawing/2014/main" id="{C957A3EB-B43D-6C5B-B377-D961DAF89CCB}"/>
              </a:ext>
            </a:extLst>
          </p:cNvPr>
          <p:cNvSpPr txBox="1"/>
          <p:nvPr/>
        </p:nvSpPr>
        <p:spPr>
          <a:xfrm>
            <a:off x="6327648" y="2377440"/>
            <a:ext cx="1956816" cy="749808"/>
          </a:xfrm>
          <a:prstGeom prst="rect">
            <a:avLst/>
          </a:prstGeom>
          <a:noFill/>
          <a:ln/>
        </p:spPr>
        <p:txBody>
          <a:bodyPr wrap="square" lIns="0" tIns="0" rIns="0" bIns="0" rtlCol="0" anchor="t"/>
          <a:lstStyle/>
          <a:p>
            <a:pPr marL="0" indent="0">
              <a:lnSpc>
                <a:spcPts val="1122"/>
              </a:lnSpc>
              <a:buNone/>
            </a:pPr>
            <a:r>
              <a:rPr lang="en-US" sz="850" dirty="0">
                <a:solidFill>
                  <a:srgbClr val="3DDC97"/>
                </a:solidFill>
                <a:latin typeface="Courier New" pitchFamily="34" charset="0"/>
                <a:ea typeface="Courier New" pitchFamily="34" charset="-122"/>
                <a:cs typeface="Courier New" pitchFamily="34" charset="-120"/>
              </a:rPr>
              <a:t>* </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2"/>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box-sizing</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border-box</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2"/>
              </a:lnSpc>
              <a:buNone/>
            </a:pPr>
            <a:r>
              <a:rPr lang="en-US" sz="850" dirty="0">
                <a:solidFill>
                  <a:srgbClr val="93A5BD"/>
                </a:solidFill>
                <a:latin typeface="Courier New" pitchFamily="34" charset="0"/>
                <a:ea typeface="Courier New" pitchFamily="34" charset="-122"/>
                <a:cs typeface="Courier New" pitchFamily="34" charset="-120"/>
              </a:rPr>
              <a:t>}</a:t>
            </a:r>
            <a:endParaRPr lang="en-US" sz="850" dirty="0"/>
          </a:p>
        </p:txBody>
      </p:sp>
      <p:sp>
        <p:nvSpPr>
          <p:cNvPr id="43" name="Text 15">
            <a:extLst>
              <a:ext uri="{FF2B5EF4-FFF2-40B4-BE49-F238E27FC236}">
                <a16:creationId xmlns:a16="http://schemas.microsoft.com/office/drawing/2014/main" id="{5F91C936-1C8A-B6D6-B2D3-30C98E2E4851}"/>
              </a:ext>
            </a:extLst>
          </p:cNvPr>
          <p:cNvSpPr txBox="1"/>
          <p:nvPr/>
        </p:nvSpPr>
        <p:spPr>
          <a:xfrm>
            <a:off x="6181344" y="3255264"/>
            <a:ext cx="2249424" cy="694944"/>
          </a:xfrm>
          <a:prstGeom prst="rect">
            <a:avLst/>
          </a:prstGeom>
          <a:noFill/>
          <a:ln/>
        </p:spPr>
        <p:txBody>
          <a:bodyPr wrap="square" lIns="0" tIns="0" rIns="0" bIns="0" rtlCol="0" anchor="t"/>
          <a:lstStyle/>
          <a:p>
            <a:r>
              <a:rPr lang="en-US" sz="850" dirty="0">
                <a:solidFill>
                  <a:srgbClr val="93A5BD"/>
                </a:solidFill>
                <a:latin typeface="Courier New" pitchFamily="34" charset="0"/>
                <a:ea typeface="Courier New" pitchFamily="34" charset="-122"/>
                <a:cs typeface="Courier New" pitchFamily="34" charset="-120"/>
              </a:rPr>
              <a:t>Coincide con </a:t>
            </a:r>
            <a:r>
              <a:rPr lang="en-US" sz="850" dirty="0" err="1">
                <a:solidFill>
                  <a:srgbClr val="93A5BD"/>
                </a:solidFill>
                <a:latin typeface="Courier New" pitchFamily="34" charset="0"/>
                <a:ea typeface="Courier New" pitchFamily="34" charset="-122"/>
                <a:cs typeface="Courier New" pitchFamily="34" charset="-120"/>
              </a:rPr>
              <a:t>todos</a:t>
            </a:r>
            <a:r>
              <a:rPr lang="en-US" sz="850" dirty="0">
                <a:solidFill>
                  <a:srgbClr val="93A5BD"/>
                </a:solidFill>
                <a:latin typeface="Courier New" pitchFamily="34" charset="0"/>
                <a:ea typeface="Courier New" pitchFamily="34" charset="-122"/>
                <a:cs typeface="Courier New" pitchFamily="34" charset="-120"/>
              </a:rPr>
              <a:t> </a:t>
            </a:r>
            <a:r>
              <a:rPr lang="en-US" sz="850" dirty="0" err="1">
                <a:solidFill>
                  <a:srgbClr val="93A5BD"/>
                </a:solidFill>
                <a:latin typeface="Courier New" pitchFamily="34" charset="0"/>
                <a:ea typeface="Courier New" pitchFamily="34" charset="-122"/>
                <a:cs typeface="Courier New" pitchFamily="34" charset="-120"/>
              </a:rPr>
              <a:t>los</a:t>
            </a:r>
            <a:r>
              <a:rPr lang="en-US" sz="850" dirty="0">
                <a:solidFill>
                  <a:srgbClr val="93A5BD"/>
                </a:solidFill>
                <a:latin typeface="Courier New" pitchFamily="34" charset="0"/>
                <a:ea typeface="Courier New" pitchFamily="34" charset="-122"/>
                <a:cs typeface="Courier New" pitchFamily="34" charset="-120"/>
              </a:rPr>
              <a:t> </a:t>
            </a:r>
            <a:r>
              <a:rPr lang="en-US" sz="850" dirty="0" err="1">
                <a:solidFill>
                  <a:srgbClr val="93A5BD"/>
                </a:solidFill>
                <a:latin typeface="Courier New" pitchFamily="34" charset="0"/>
                <a:ea typeface="Courier New" pitchFamily="34" charset="-122"/>
                <a:cs typeface="Courier New" pitchFamily="34" charset="-120"/>
              </a:rPr>
              <a:t>elementos</a:t>
            </a:r>
            <a:r>
              <a:rPr lang="en-US" sz="850" dirty="0">
                <a:solidFill>
                  <a:srgbClr val="93A5BD"/>
                </a:solidFill>
                <a:latin typeface="Courier New" pitchFamily="34" charset="0"/>
                <a:ea typeface="Courier New" pitchFamily="34" charset="-122"/>
                <a:cs typeface="Courier New" pitchFamily="34" charset="-120"/>
              </a:rPr>
              <a:t> HTML</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883676"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883676"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CONCEPTO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La cascada resuelve reglas que compiten</a:t>
            </a:r>
            <a:endParaRPr lang="en-US" sz="26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08 / 25</a:t>
            </a:r>
            <a:endParaRPr lang="en-US" sz="800" dirty="0"/>
          </a:p>
        </p:txBody>
      </p:sp>
      <p:sp>
        <p:nvSpPr>
          <p:cNvPr id="6" name="Shape 4"/>
          <p:cNvSpPr/>
          <p:nvPr/>
        </p:nvSpPr>
        <p:spPr>
          <a:xfrm>
            <a:off x="502920" y="1280160"/>
            <a:ext cx="3977640" cy="2103120"/>
          </a:xfrm>
          <a:prstGeom prst="roundRect">
            <a:avLst>
              <a:gd name="adj" fmla="val 3478"/>
            </a:avLst>
          </a:prstGeom>
          <a:solidFill>
            <a:srgbClr val="070C14"/>
          </a:solidFill>
          <a:ln w="12700">
            <a:solidFill>
              <a:srgbClr val="2B3B52"/>
            </a:solidFill>
            <a:prstDash val="solid"/>
          </a:ln>
        </p:spPr>
        <p:txBody>
          <a:bodyPr/>
          <a:lstStyle/>
          <a:p>
            <a:endParaRPr lang="es-CO"/>
          </a:p>
        </p:txBody>
      </p:sp>
      <p:sp>
        <p:nvSpPr>
          <p:cNvPr id="7" name="Text 5"/>
          <p:cNvSpPr txBox="1"/>
          <p:nvPr/>
        </p:nvSpPr>
        <p:spPr>
          <a:xfrm>
            <a:off x="649224" y="1335024"/>
            <a:ext cx="3685032" cy="182880"/>
          </a:xfrm>
          <a:prstGeom prst="rect">
            <a:avLst/>
          </a:prstGeom>
          <a:noFill/>
          <a:ln/>
        </p:spPr>
        <p:txBody>
          <a:bodyPr wrap="square" lIns="0" tIns="0" rIns="0" bIns="0" rtlCol="0" anchor="ctr"/>
          <a:lstStyle/>
          <a:p>
            <a:pPr marL="0" indent="0">
              <a:buNone/>
            </a:pPr>
            <a:r>
              <a:rPr lang="en-US" sz="850" b="1" dirty="0">
                <a:solidFill>
                  <a:srgbClr val="6C7E96"/>
                </a:solidFill>
                <a:latin typeface="Courier New" pitchFamily="34" charset="0"/>
                <a:ea typeface="Courier New" pitchFamily="34" charset="-122"/>
                <a:cs typeface="Courier New" pitchFamily="34" charset="-120"/>
              </a:rPr>
              <a:t>reglas en conflicto</a:t>
            </a:r>
            <a:endParaRPr lang="en-US" sz="850" dirty="0"/>
          </a:p>
        </p:txBody>
      </p:sp>
      <p:sp>
        <p:nvSpPr>
          <p:cNvPr id="8" name="Text 6"/>
          <p:cNvSpPr txBox="1"/>
          <p:nvPr/>
        </p:nvSpPr>
        <p:spPr>
          <a:xfrm>
            <a:off x="649224" y="1554480"/>
            <a:ext cx="3685032" cy="1773936"/>
          </a:xfrm>
          <a:prstGeom prst="rect">
            <a:avLst/>
          </a:prstGeom>
          <a:noFill/>
          <a:ln/>
        </p:spPr>
        <p:txBody>
          <a:bodyPr wrap="square" lIns="0" tIns="0" rIns="0" bIns="0" rtlCol="0" anchor="t"/>
          <a:lstStyle/>
          <a:p>
            <a:pPr marL="0" indent="0">
              <a:lnSpc>
                <a:spcPts val="1254"/>
              </a:lnSpc>
              <a:buNone/>
            </a:pPr>
            <a:r>
              <a:rPr lang="en-US" sz="950" dirty="0">
                <a:solidFill>
                  <a:srgbClr val="6C7E96"/>
                </a:solidFill>
                <a:latin typeface="Courier New" pitchFamily="34" charset="0"/>
                <a:ea typeface="Courier New" pitchFamily="34" charset="-122"/>
                <a:cs typeface="Courier New" pitchFamily="34" charset="-120"/>
              </a:rPr>
              <a:t>/* menor especificidad */</a:t>
            </a:r>
            <a:endParaRPr lang="en-US" sz="950" dirty="0"/>
          </a:p>
          <a:p>
            <a:pPr marL="0" indent="0">
              <a:lnSpc>
                <a:spcPts val="1254"/>
              </a:lnSpc>
              <a:buNone/>
            </a:pPr>
            <a:r>
              <a:rPr lang="en-US" sz="950" dirty="0">
                <a:solidFill>
                  <a:srgbClr val="3DDC97"/>
                </a:solidFill>
                <a:latin typeface="Courier New" pitchFamily="34" charset="0"/>
                <a:ea typeface="Courier New" pitchFamily="34" charset="-122"/>
                <a:cs typeface="Courier New" pitchFamily="34" charset="-120"/>
              </a:rPr>
              <a:t>input </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background-color</a:t>
            </a:r>
            <a:r>
              <a:rPr lang="en-US" sz="950" dirty="0">
                <a:solidFill>
                  <a:srgbClr val="93A5BD"/>
                </a:solidFill>
                <a:latin typeface="Courier New" pitchFamily="34" charset="0"/>
                <a:ea typeface="Courier New" pitchFamily="34" charset="-122"/>
                <a:cs typeface="Courier New" pitchFamily="34" charset="-120"/>
              </a:rPr>
              <a:t>: </a:t>
            </a:r>
            <a:r>
              <a:rPr lang="en-US" sz="950" dirty="0">
                <a:solidFill>
                  <a:srgbClr val="FFD479"/>
                </a:solidFill>
                <a:latin typeface="Courier New" pitchFamily="34" charset="0"/>
                <a:ea typeface="Courier New" pitchFamily="34" charset="-122"/>
                <a:cs typeface="Courier New" pitchFamily="34" charset="-120"/>
              </a:rPr>
              <a:t>white</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93A5BD"/>
                </a:solidFill>
                <a:latin typeface="Courier New" pitchFamily="34" charset="0"/>
                <a:ea typeface="Courier New" pitchFamily="34" charset="-122"/>
                <a:cs typeface="Courier New" pitchFamily="34" charset="-120"/>
              </a:rPr>
              <a:t> </a:t>
            </a:r>
            <a:endParaRPr lang="en-US" sz="950" dirty="0"/>
          </a:p>
          <a:p>
            <a:pPr marL="0" indent="0">
              <a:lnSpc>
                <a:spcPts val="1254"/>
              </a:lnSpc>
              <a:buNone/>
            </a:pPr>
            <a:r>
              <a:rPr lang="en-US" sz="950" dirty="0">
                <a:solidFill>
                  <a:srgbClr val="6C7E96"/>
                </a:solidFill>
                <a:latin typeface="Courier New" pitchFamily="34" charset="0"/>
                <a:ea typeface="Courier New" pitchFamily="34" charset="-122"/>
                <a:cs typeface="Courier New" pitchFamily="34" charset="-120"/>
              </a:rPr>
              <a:t>/* mayor especificidad */</a:t>
            </a:r>
            <a:endParaRPr lang="en-US" sz="950" dirty="0"/>
          </a:p>
          <a:p>
            <a:pPr marL="0" indent="0">
              <a:lnSpc>
                <a:spcPts val="1254"/>
              </a:lnSpc>
              <a:buNone/>
            </a:pPr>
            <a:r>
              <a:rPr lang="en-US" sz="950" dirty="0">
                <a:solidFill>
                  <a:srgbClr val="3DDC97"/>
                </a:solidFill>
                <a:latin typeface="Courier New" pitchFamily="34" charset="0"/>
                <a:ea typeface="Courier New" pitchFamily="34" charset="-122"/>
                <a:cs typeface="Courier New" pitchFamily="34" charset="-120"/>
              </a:rPr>
              <a:t>#correo </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background-color</a:t>
            </a:r>
            <a:r>
              <a:rPr lang="en-US" sz="950" dirty="0">
                <a:solidFill>
                  <a:srgbClr val="93A5BD"/>
                </a:solidFill>
                <a:latin typeface="Courier New" pitchFamily="34" charset="0"/>
                <a:ea typeface="Courier New" pitchFamily="34" charset="-122"/>
                <a:cs typeface="Courier New" pitchFamily="34" charset="-120"/>
              </a:rPr>
              <a:t>: </a:t>
            </a:r>
            <a:r>
              <a:rPr lang="en-US" sz="950" dirty="0">
                <a:solidFill>
                  <a:srgbClr val="FFD479"/>
                </a:solidFill>
                <a:latin typeface="Courier New" pitchFamily="34" charset="0"/>
                <a:ea typeface="Courier New" pitchFamily="34" charset="-122"/>
                <a:cs typeface="Courier New" pitchFamily="34" charset="-120"/>
              </a:rPr>
              <a:t>#eef</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93A5BD"/>
                </a:solidFill>
                <a:latin typeface="Courier New" pitchFamily="34" charset="0"/>
                <a:ea typeface="Courier New" pitchFamily="34" charset="-122"/>
                <a:cs typeface="Courier New" pitchFamily="34" charset="-120"/>
              </a:rPr>
              <a:t>}</a:t>
            </a:r>
            <a:endParaRPr lang="en-US" sz="950" dirty="0"/>
          </a:p>
        </p:txBody>
      </p:sp>
      <p:sp>
        <p:nvSpPr>
          <p:cNvPr id="9" name="Shape 7"/>
          <p:cNvSpPr/>
          <p:nvPr/>
        </p:nvSpPr>
        <p:spPr>
          <a:xfrm>
            <a:off x="4663440" y="1280160"/>
            <a:ext cx="3977640" cy="621792"/>
          </a:xfrm>
          <a:prstGeom prst="roundRect">
            <a:avLst>
              <a:gd name="adj" fmla="val 11765"/>
            </a:avLst>
          </a:prstGeom>
          <a:solidFill>
            <a:srgbClr val="1A2434"/>
          </a:solidFill>
          <a:ln w="12700">
            <a:solidFill>
              <a:srgbClr val="3DDC97"/>
            </a:solidFill>
            <a:prstDash val="solid"/>
          </a:ln>
        </p:spPr>
        <p:txBody>
          <a:bodyPr/>
          <a:lstStyle/>
          <a:p>
            <a:endParaRPr lang="es-CO"/>
          </a:p>
        </p:txBody>
      </p:sp>
      <p:sp>
        <p:nvSpPr>
          <p:cNvPr id="10" name="Text 8"/>
          <p:cNvSpPr txBox="1"/>
          <p:nvPr/>
        </p:nvSpPr>
        <p:spPr>
          <a:xfrm>
            <a:off x="4846320" y="1335024"/>
            <a:ext cx="3611880" cy="182880"/>
          </a:xfrm>
          <a:prstGeom prst="rect">
            <a:avLst/>
          </a:prstGeom>
          <a:noFill/>
          <a:ln/>
        </p:spPr>
        <p:txBody>
          <a:bodyPr wrap="square" lIns="0" tIns="0" rIns="0" bIns="0" rtlCol="0" anchor="ctr"/>
          <a:lstStyle/>
          <a:p>
            <a:pPr marL="0" indent="0">
              <a:buNone/>
            </a:pPr>
            <a:r>
              <a:rPr lang="en-US" sz="1050" b="1" dirty="0">
                <a:solidFill>
                  <a:srgbClr val="3DDC97"/>
                </a:solidFill>
                <a:latin typeface="Arial" pitchFamily="34" charset="0"/>
                <a:ea typeface="Arial" pitchFamily="34" charset="-122"/>
                <a:cs typeface="Arial" pitchFamily="34" charset="-120"/>
              </a:rPr>
              <a:t>Especificidad</a:t>
            </a:r>
            <a:endParaRPr lang="en-US" sz="1050" dirty="0"/>
          </a:p>
        </p:txBody>
      </p:sp>
      <p:sp>
        <p:nvSpPr>
          <p:cNvPr id="11" name="Text 9"/>
          <p:cNvSpPr txBox="1"/>
          <p:nvPr/>
        </p:nvSpPr>
        <p:spPr>
          <a:xfrm>
            <a:off x="4846320" y="1517904"/>
            <a:ext cx="3630168" cy="347472"/>
          </a:xfrm>
          <a:prstGeom prst="rect">
            <a:avLst/>
          </a:prstGeom>
          <a:noFill/>
          <a:ln/>
        </p:spPr>
        <p:txBody>
          <a:bodyPr wrap="square" lIns="0" tIns="0" rIns="0" bIns="0" rtlCol="0" anchor="t"/>
          <a:lstStyle/>
          <a:p>
            <a:pPr marL="0" indent="0">
              <a:buNone/>
            </a:pPr>
            <a:r>
              <a:rPr lang="en-US" sz="900" dirty="0">
                <a:solidFill>
                  <a:srgbClr val="E8EEF6"/>
                </a:solidFill>
                <a:latin typeface="Calibri" pitchFamily="34" charset="0"/>
                <a:ea typeface="Calibri" pitchFamily="34" charset="-122"/>
                <a:cs typeface="Calibri" pitchFamily="34" charset="-120"/>
              </a:rPr>
              <a:t>Determina qué regla tiene prioridad. Un identificador pesa más que una clase, y una clase más que un elemento.</a:t>
            </a:r>
            <a:endParaRPr lang="en-US" sz="900" dirty="0"/>
          </a:p>
        </p:txBody>
      </p:sp>
      <p:sp>
        <p:nvSpPr>
          <p:cNvPr id="12" name="Shape 10"/>
          <p:cNvSpPr/>
          <p:nvPr/>
        </p:nvSpPr>
        <p:spPr>
          <a:xfrm>
            <a:off x="4663440" y="2002536"/>
            <a:ext cx="3977640" cy="621792"/>
          </a:xfrm>
          <a:prstGeom prst="roundRect">
            <a:avLst>
              <a:gd name="adj" fmla="val 11765"/>
            </a:avLst>
          </a:prstGeom>
          <a:solidFill>
            <a:srgbClr val="1A2434"/>
          </a:solidFill>
          <a:ln w="12700">
            <a:solidFill>
              <a:srgbClr val="56C7F2"/>
            </a:solidFill>
            <a:prstDash val="solid"/>
          </a:ln>
        </p:spPr>
        <p:txBody>
          <a:bodyPr/>
          <a:lstStyle/>
          <a:p>
            <a:endParaRPr lang="es-CO"/>
          </a:p>
        </p:txBody>
      </p:sp>
      <p:sp>
        <p:nvSpPr>
          <p:cNvPr id="13" name="Text 11"/>
          <p:cNvSpPr txBox="1"/>
          <p:nvPr/>
        </p:nvSpPr>
        <p:spPr>
          <a:xfrm>
            <a:off x="4846320" y="2057400"/>
            <a:ext cx="3611880" cy="182880"/>
          </a:xfrm>
          <a:prstGeom prst="rect">
            <a:avLst/>
          </a:prstGeom>
          <a:noFill/>
          <a:ln/>
        </p:spPr>
        <p:txBody>
          <a:bodyPr wrap="square" lIns="0" tIns="0" rIns="0" bIns="0" rtlCol="0" anchor="ctr"/>
          <a:lstStyle/>
          <a:p>
            <a:pPr marL="0" indent="0">
              <a:buNone/>
            </a:pPr>
            <a:r>
              <a:rPr lang="en-US" sz="1050" b="1" dirty="0">
                <a:solidFill>
                  <a:srgbClr val="56C7F2"/>
                </a:solidFill>
                <a:latin typeface="Arial" pitchFamily="34" charset="0"/>
                <a:ea typeface="Arial" pitchFamily="34" charset="-122"/>
                <a:cs typeface="Arial" pitchFamily="34" charset="-120"/>
              </a:rPr>
              <a:t>Orden de aparición</a:t>
            </a:r>
            <a:endParaRPr lang="en-US" sz="1050" dirty="0"/>
          </a:p>
        </p:txBody>
      </p:sp>
      <p:sp>
        <p:nvSpPr>
          <p:cNvPr id="14" name="Text 12"/>
          <p:cNvSpPr txBox="1"/>
          <p:nvPr/>
        </p:nvSpPr>
        <p:spPr>
          <a:xfrm>
            <a:off x="4846320" y="2240280"/>
            <a:ext cx="3630168" cy="347472"/>
          </a:xfrm>
          <a:prstGeom prst="rect">
            <a:avLst/>
          </a:prstGeom>
          <a:noFill/>
          <a:ln/>
        </p:spPr>
        <p:txBody>
          <a:bodyPr wrap="square" lIns="0" tIns="0" rIns="0" bIns="0" rtlCol="0" anchor="t"/>
          <a:lstStyle/>
          <a:p>
            <a:pPr marL="0" indent="0">
              <a:buNone/>
            </a:pPr>
            <a:r>
              <a:rPr lang="en-US" sz="900" dirty="0">
                <a:solidFill>
                  <a:srgbClr val="E8EEF6"/>
                </a:solidFill>
                <a:latin typeface="Calibri" pitchFamily="34" charset="0"/>
                <a:ea typeface="Calibri" pitchFamily="34" charset="-122"/>
                <a:cs typeface="Calibri" pitchFamily="34" charset="-120"/>
              </a:rPr>
              <a:t>Solo se considera cuando dos reglas tienen la misma especificidad: en ese caso prevalece la declarada después.</a:t>
            </a:r>
            <a:endParaRPr lang="en-US" sz="900" dirty="0"/>
          </a:p>
        </p:txBody>
      </p:sp>
      <p:sp>
        <p:nvSpPr>
          <p:cNvPr id="15" name="Shape 13"/>
          <p:cNvSpPr/>
          <p:nvPr/>
        </p:nvSpPr>
        <p:spPr>
          <a:xfrm>
            <a:off x="4663440" y="2724912"/>
            <a:ext cx="3977640" cy="621792"/>
          </a:xfrm>
          <a:prstGeom prst="roundRect">
            <a:avLst>
              <a:gd name="adj" fmla="val 11765"/>
            </a:avLst>
          </a:prstGeom>
          <a:solidFill>
            <a:srgbClr val="1A2434"/>
          </a:solidFill>
          <a:ln w="12700">
            <a:solidFill>
              <a:srgbClr val="FFB86C"/>
            </a:solidFill>
            <a:prstDash val="solid"/>
          </a:ln>
        </p:spPr>
        <p:txBody>
          <a:bodyPr/>
          <a:lstStyle/>
          <a:p>
            <a:endParaRPr lang="es-CO"/>
          </a:p>
        </p:txBody>
      </p:sp>
      <p:sp>
        <p:nvSpPr>
          <p:cNvPr id="16" name="Text 14"/>
          <p:cNvSpPr txBox="1"/>
          <p:nvPr/>
        </p:nvSpPr>
        <p:spPr>
          <a:xfrm>
            <a:off x="4846320" y="2779776"/>
            <a:ext cx="3611880" cy="182880"/>
          </a:xfrm>
          <a:prstGeom prst="rect">
            <a:avLst/>
          </a:prstGeom>
          <a:noFill/>
          <a:ln/>
        </p:spPr>
        <p:txBody>
          <a:bodyPr wrap="square" lIns="0" tIns="0" rIns="0" bIns="0" rtlCol="0" anchor="ctr"/>
          <a:lstStyle/>
          <a:p>
            <a:pPr marL="0" indent="0">
              <a:buNone/>
            </a:pPr>
            <a:r>
              <a:rPr lang="en-US" sz="1050" b="1" dirty="0">
                <a:solidFill>
                  <a:srgbClr val="FFB86C"/>
                </a:solidFill>
                <a:latin typeface="Arial" pitchFamily="34" charset="0"/>
                <a:ea typeface="Arial" pitchFamily="34" charset="-122"/>
                <a:cs typeface="Arial" pitchFamily="34" charset="-120"/>
              </a:rPr>
              <a:t>Herencia</a:t>
            </a:r>
            <a:endParaRPr lang="en-US" sz="1050" dirty="0"/>
          </a:p>
        </p:txBody>
      </p:sp>
      <p:sp>
        <p:nvSpPr>
          <p:cNvPr id="17" name="Text 15"/>
          <p:cNvSpPr txBox="1"/>
          <p:nvPr/>
        </p:nvSpPr>
        <p:spPr>
          <a:xfrm>
            <a:off x="4846320" y="2962656"/>
            <a:ext cx="3630168" cy="347472"/>
          </a:xfrm>
          <a:prstGeom prst="rect">
            <a:avLst/>
          </a:prstGeom>
          <a:noFill/>
          <a:ln/>
        </p:spPr>
        <p:txBody>
          <a:bodyPr wrap="square" lIns="0" tIns="0" rIns="0" bIns="0" rtlCol="0" anchor="t"/>
          <a:lstStyle/>
          <a:p>
            <a:pPr marL="0" indent="0">
              <a:buNone/>
            </a:pPr>
            <a:r>
              <a:rPr lang="en-US" sz="900" dirty="0">
                <a:solidFill>
                  <a:srgbClr val="E8EEF6"/>
                </a:solidFill>
                <a:latin typeface="Calibri" pitchFamily="34" charset="0"/>
                <a:ea typeface="Calibri" pitchFamily="34" charset="-122"/>
                <a:cs typeface="Calibri" pitchFamily="34" charset="-120"/>
              </a:rPr>
              <a:t>Algunas propiedades se transmiten desde los elementos superiores; otras no. color y font-family se heredan, padding no.</a:t>
            </a:r>
            <a:endParaRPr lang="en-US" sz="900" dirty="0"/>
          </a:p>
        </p:txBody>
      </p:sp>
      <p:sp>
        <p:nvSpPr>
          <p:cNvPr id="18" name="Shape 16"/>
          <p:cNvSpPr/>
          <p:nvPr/>
        </p:nvSpPr>
        <p:spPr>
          <a:xfrm>
            <a:off x="502920" y="3511296"/>
            <a:ext cx="8138160" cy="658368"/>
          </a:xfrm>
          <a:prstGeom prst="roundRect">
            <a:avLst>
              <a:gd name="adj" fmla="val 11111"/>
            </a:avLst>
          </a:prstGeom>
          <a:solidFill>
            <a:srgbClr val="112A38"/>
          </a:solidFill>
          <a:ln w="12700">
            <a:solidFill>
              <a:srgbClr val="56C7F2"/>
            </a:solidFill>
            <a:prstDash val="solid"/>
          </a:ln>
        </p:spPr>
        <p:txBody>
          <a:bodyPr/>
          <a:lstStyle/>
          <a:p>
            <a:endParaRPr lang="es-CO"/>
          </a:p>
        </p:txBody>
      </p:sp>
      <p:sp>
        <p:nvSpPr>
          <p:cNvPr id="19" name="Text 17"/>
          <p:cNvSpPr txBox="1"/>
          <p:nvPr/>
        </p:nvSpPr>
        <p:spPr>
          <a:xfrm>
            <a:off x="731520" y="3511296"/>
            <a:ext cx="7680960" cy="658368"/>
          </a:xfrm>
          <a:prstGeom prst="rect">
            <a:avLst/>
          </a:prstGeom>
          <a:noFill/>
          <a:ln/>
        </p:spPr>
        <p:txBody>
          <a:bodyPr wrap="square" lIns="0" tIns="0" rIns="0" bIns="0" rtlCol="0" anchor="ctr"/>
          <a:lstStyle/>
          <a:p>
            <a:pPr marL="0" indent="0">
              <a:buNone/>
            </a:pPr>
            <a:r>
              <a:rPr lang="en-US" sz="1050" b="1" dirty="0">
                <a:solidFill>
                  <a:srgbClr val="56C7F2"/>
                </a:solidFill>
                <a:latin typeface="Arial" pitchFamily="34" charset="0"/>
                <a:ea typeface="Arial" pitchFamily="34" charset="-122"/>
                <a:cs typeface="Arial" pitchFamily="34" charset="-120"/>
              </a:rPr>
              <a:t>Formulación precisa   </a:t>
            </a:r>
            <a:r>
              <a:rPr lang="en-US" sz="1100" i="1" dirty="0">
                <a:solidFill>
                  <a:srgbClr val="E8EEF6"/>
                </a:solidFill>
                <a:latin typeface="Calibri" pitchFamily="34" charset="0"/>
                <a:ea typeface="Calibri" pitchFamily="34" charset="-122"/>
                <a:cs typeface="Calibri" pitchFamily="34" charset="-120"/>
              </a:rPr>
              <a:t>No es cierto que la última regla siempre gane. El orden decide únicamente cuando la especificidad es igual.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1188354"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188354"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ARQUITECTURA</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El archivo CSS también se solicita mediante HTTP</a:t>
            </a:r>
            <a:endParaRPr lang="en-US" sz="23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09 / 25</a:t>
            </a:r>
            <a:endParaRPr lang="en-US" sz="800" dirty="0"/>
          </a:p>
        </p:txBody>
      </p:sp>
      <p:sp>
        <p:nvSpPr>
          <p:cNvPr id="6" name="Shape 4"/>
          <p:cNvSpPr/>
          <p:nvPr/>
        </p:nvSpPr>
        <p:spPr>
          <a:xfrm>
            <a:off x="502920" y="1243584"/>
            <a:ext cx="3977640" cy="786384"/>
          </a:xfrm>
          <a:prstGeom prst="roundRect">
            <a:avLst>
              <a:gd name="adj" fmla="val 9302"/>
            </a:avLst>
          </a:prstGeom>
          <a:solidFill>
            <a:srgbClr val="070C14"/>
          </a:solidFill>
          <a:ln w="12700">
            <a:solidFill>
              <a:srgbClr val="2B3B52"/>
            </a:solidFill>
            <a:prstDash val="solid"/>
          </a:ln>
        </p:spPr>
        <p:txBody>
          <a:bodyPr/>
          <a:lstStyle/>
          <a:p>
            <a:endParaRPr lang="es-CO"/>
          </a:p>
        </p:txBody>
      </p:sp>
      <p:sp>
        <p:nvSpPr>
          <p:cNvPr id="7" name="Text 5"/>
          <p:cNvSpPr txBox="1"/>
          <p:nvPr/>
        </p:nvSpPr>
        <p:spPr>
          <a:xfrm>
            <a:off x="649224" y="1298448"/>
            <a:ext cx="3685032" cy="182880"/>
          </a:xfrm>
          <a:prstGeom prst="rect">
            <a:avLst/>
          </a:prstGeom>
          <a:noFill/>
          <a:ln/>
        </p:spPr>
        <p:txBody>
          <a:bodyPr wrap="square" lIns="0" tIns="0" rIns="0" bIns="0" rtlCol="0" anchor="ctr"/>
          <a:lstStyle/>
          <a:p>
            <a:pPr marL="0" indent="0">
              <a:buNone/>
            </a:pPr>
            <a:r>
              <a:rPr lang="en-US" sz="850" b="1" dirty="0">
                <a:solidFill>
                  <a:srgbClr val="3DDC97"/>
                </a:solidFill>
                <a:latin typeface="Courier New" pitchFamily="34" charset="0"/>
                <a:ea typeface="Courier New" pitchFamily="34" charset="-122"/>
                <a:cs typeface="Courier New" pitchFamily="34" charset="-120"/>
              </a:rPr>
              <a:t>contacto.html</a:t>
            </a:r>
            <a:endParaRPr lang="en-US" sz="850" dirty="0"/>
          </a:p>
        </p:txBody>
      </p:sp>
      <p:sp>
        <p:nvSpPr>
          <p:cNvPr id="8" name="Text 6"/>
          <p:cNvSpPr txBox="1"/>
          <p:nvPr/>
        </p:nvSpPr>
        <p:spPr>
          <a:xfrm>
            <a:off x="649224" y="1517904"/>
            <a:ext cx="3685032" cy="457200"/>
          </a:xfrm>
          <a:prstGeom prst="rect">
            <a:avLst/>
          </a:prstGeom>
          <a:noFill/>
          <a:ln/>
        </p:spPr>
        <p:txBody>
          <a:bodyPr wrap="square" lIns="0" tIns="0" rIns="0" bIns="0" rtlCol="0" anchor="t"/>
          <a:lstStyle/>
          <a:p>
            <a:pPr marL="0" indent="0">
              <a:lnSpc>
                <a:spcPts val="1254"/>
              </a:lnSpc>
              <a:buNone/>
            </a:pPr>
            <a:r>
              <a:rPr lang="en-US" sz="950" dirty="0">
                <a:solidFill>
                  <a:srgbClr val="3DDC97"/>
                </a:solidFill>
                <a:latin typeface="Courier New" pitchFamily="34" charset="0"/>
                <a:ea typeface="Courier New" pitchFamily="34" charset="-122"/>
                <a:cs typeface="Courier New" pitchFamily="34" charset="-120"/>
              </a:rPr>
              <a:t>&lt;link</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FFB86C"/>
                </a:solidFill>
                <a:latin typeface="Courier New" pitchFamily="34" charset="0"/>
                <a:ea typeface="Courier New" pitchFamily="34" charset="-122"/>
                <a:cs typeface="Courier New" pitchFamily="34" charset="-120"/>
              </a:rPr>
              <a:t>rel=</a:t>
            </a:r>
            <a:r>
              <a:rPr lang="en-US" sz="950" dirty="0">
                <a:solidFill>
                  <a:srgbClr val="FFD479"/>
                </a:solidFill>
                <a:latin typeface="Courier New" pitchFamily="34" charset="0"/>
                <a:ea typeface="Courier New" pitchFamily="34" charset="-122"/>
                <a:cs typeface="Courier New" pitchFamily="34" charset="-120"/>
              </a:rPr>
              <a:t>"stylesheet"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FFB86C"/>
                </a:solidFill>
                <a:latin typeface="Courier New" pitchFamily="34" charset="0"/>
                <a:ea typeface="Courier New" pitchFamily="34" charset="-122"/>
                <a:cs typeface="Courier New" pitchFamily="34" charset="-120"/>
              </a:rPr>
              <a:t>href=</a:t>
            </a:r>
            <a:r>
              <a:rPr lang="en-US" sz="950" dirty="0">
                <a:solidFill>
                  <a:srgbClr val="FFD479"/>
                </a:solidFill>
                <a:latin typeface="Courier New" pitchFamily="34" charset="0"/>
                <a:ea typeface="Courier New" pitchFamily="34" charset="-122"/>
                <a:cs typeface="Courier New" pitchFamily="34" charset="-120"/>
              </a:rPr>
              <a:t>"/styles.css"</a:t>
            </a:r>
            <a:r>
              <a:rPr lang="en-US" sz="950" dirty="0">
                <a:solidFill>
                  <a:srgbClr val="3DDC97"/>
                </a:solidFill>
                <a:latin typeface="Courier New" pitchFamily="34" charset="0"/>
                <a:ea typeface="Courier New" pitchFamily="34" charset="-122"/>
                <a:cs typeface="Courier New" pitchFamily="34" charset="-120"/>
              </a:rPr>
              <a:t>&gt;</a:t>
            </a:r>
            <a:endParaRPr lang="en-US" sz="950" dirty="0"/>
          </a:p>
        </p:txBody>
      </p:sp>
      <p:sp>
        <p:nvSpPr>
          <p:cNvPr id="9" name="Shape 7"/>
          <p:cNvSpPr/>
          <p:nvPr/>
        </p:nvSpPr>
        <p:spPr>
          <a:xfrm>
            <a:off x="4663440" y="1243584"/>
            <a:ext cx="3977640" cy="786384"/>
          </a:xfrm>
          <a:prstGeom prst="roundRect">
            <a:avLst>
              <a:gd name="adj" fmla="val 9302"/>
            </a:avLst>
          </a:prstGeom>
          <a:solidFill>
            <a:srgbClr val="070C14"/>
          </a:solidFill>
          <a:ln w="12700">
            <a:solidFill>
              <a:srgbClr val="2B3B52"/>
            </a:solidFill>
            <a:prstDash val="solid"/>
          </a:ln>
        </p:spPr>
        <p:txBody>
          <a:bodyPr/>
          <a:lstStyle/>
          <a:p>
            <a:endParaRPr lang="es-CO"/>
          </a:p>
        </p:txBody>
      </p:sp>
      <p:sp>
        <p:nvSpPr>
          <p:cNvPr id="10" name="Text 8"/>
          <p:cNvSpPr txBox="1"/>
          <p:nvPr/>
        </p:nvSpPr>
        <p:spPr>
          <a:xfrm>
            <a:off x="4809744" y="1298448"/>
            <a:ext cx="3685032" cy="182880"/>
          </a:xfrm>
          <a:prstGeom prst="rect">
            <a:avLst/>
          </a:prstGeom>
          <a:noFill/>
          <a:ln/>
        </p:spPr>
        <p:txBody>
          <a:bodyPr wrap="square" lIns="0" tIns="0" rIns="0" bIns="0" rtlCol="0" anchor="ctr"/>
          <a:lstStyle/>
          <a:p>
            <a:pPr marL="0" indent="0">
              <a:buNone/>
            </a:pPr>
            <a:r>
              <a:rPr lang="en-US" sz="850" b="1" dirty="0">
                <a:solidFill>
                  <a:srgbClr val="6C7E96"/>
                </a:solidFill>
                <a:latin typeface="Courier New" pitchFamily="34" charset="0"/>
                <a:ea typeface="Courier New" pitchFamily="34" charset="-122"/>
                <a:cs typeface="Courier New" pitchFamily="34" charset="-120"/>
              </a:rPr>
              <a:t>consola del servidor</a:t>
            </a:r>
            <a:endParaRPr lang="en-US" sz="850" dirty="0"/>
          </a:p>
        </p:txBody>
      </p:sp>
      <p:sp>
        <p:nvSpPr>
          <p:cNvPr id="11" name="Text 9"/>
          <p:cNvSpPr txBox="1"/>
          <p:nvPr/>
        </p:nvSpPr>
        <p:spPr>
          <a:xfrm>
            <a:off x="4809744" y="1517904"/>
            <a:ext cx="3685032" cy="457200"/>
          </a:xfrm>
          <a:prstGeom prst="rect">
            <a:avLst/>
          </a:prstGeom>
          <a:noFill/>
          <a:ln/>
        </p:spPr>
        <p:txBody>
          <a:bodyPr wrap="square" lIns="0" tIns="0" rIns="0" bIns="0" rtlCol="0" anchor="t"/>
          <a:lstStyle/>
          <a:p>
            <a:pPr marL="0" indent="0">
              <a:lnSpc>
                <a:spcPts val="1254"/>
              </a:lnSpc>
              <a:buNone/>
            </a:pPr>
            <a:r>
              <a:rPr lang="en-US" sz="950" dirty="0">
                <a:solidFill>
                  <a:srgbClr val="3DDC97"/>
                </a:solidFill>
                <a:latin typeface="Courier New" pitchFamily="34" charset="0"/>
                <a:ea typeface="Courier New" pitchFamily="34" charset="-122"/>
                <a:cs typeface="Courier New" pitchFamily="34" charset="-120"/>
              </a:rPr>
              <a:t>GET /contacto</a:t>
            </a:r>
            <a:endParaRPr lang="en-US" sz="950" dirty="0"/>
          </a:p>
          <a:p>
            <a:pPr marL="0" indent="0">
              <a:lnSpc>
                <a:spcPts val="1254"/>
              </a:lnSpc>
              <a:buNone/>
            </a:pPr>
            <a:r>
              <a:rPr lang="en-US" sz="950" dirty="0">
                <a:solidFill>
                  <a:srgbClr val="3DDC97"/>
                </a:solidFill>
                <a:latin typeface="Courier New" pitchFamily="34" charset="0"/>
                <a:ea typeface="Courier New" pitchFamily="34" charset="-122"/>
                <a:cs typeface="Courier New" pitchFamily="34" charset="-120"/>
              </a:rPr>
              <a:t>GET /styles.css</a:t>
            </a:r>
            <a:endParaRPr lang="en-US" sz="950" dirty="0"/>
          </a:p>
        </p:txBody>
      </p:sp>
      <p:sp>
        <p:nvSpPr>
          <p:cNvPr id="12" name="Shape 10"/>
          <p:cNvSpPr/>
          <p:nvPr/>
        </p:nvSpPr>
        <p:spPr>
          <a:xfrm>
            <a:off x="502920" y="2121408"/>
            <a:ext cx="4480560" cy="1737360"/>
          </a:xfrm>
          <a:prstGeom prst="roundRect">
            <a:avLst>
              <a:gd name="adj" fmla="val 4211"/>
            </a:avLst>
          </a:prstGeom>
          <a:solidFill>
            <a:srgbClr val="070C14"/>
          </a:solidFill>
          <a:ln w="12700">
            <a:solidFill>
              <a:srgbClr val="2B3B52"/>
            </a:solidFill>
            <a:prstDash val="solid"/>
          </a:ln>
        </p:spPr>
        <p:txBody>
          <a:bodyPr/>
          <a:lstStyle/>
          <a:p>
            <a:endParaRPr lang="es-CO"/>
          </a:p>
        </p:txBody>
      </p:sp>
      <p:sp>
        <p:nvSpPr>
          <p:cNvPr id="13" name="Text 11"/>
          <p:cNvSpPr txBox="1"/>
          <p:nvPr/>
        </p:nvSpPr>
        <p:spPr>
          <a:xfrm>
            <a:off x="649224" y="2176272"/>
            <a:ext cx="4187952" cy="182880"/>
          </a:xfrm>
          <a:prstGeom prst="rect">
            <a:avLst/>
          </a:prstGeom>
          <a:noFill/>
          <a:ln/>
        </p:spPr>
        <p:txBody>
          <a:bodyPr wrap="square" lIns="0" tIns="0" rIns="0" bIns="0" rtlCol="0" anchor="ctr"/>
          <a:lstStyle/>
          <a:p>
            <a:pPr marL="0" indent="0">
              <a:buNone/>
            </a:pPr>
            <a:r>
              <a:rPr lang="en-US" sz="850" b="1" dirty="0">
                <a:solidFill>
                  <a:srgbClr val="3DDC97"/>
                </a:solidFill>
                <a:latin typeface="Courier New" pitchFamily="34" charset="0"/>
                <a:ea typeface="Courier New" pitchFamily="34" charset="-122"/>
                <a:cs typeface="Courier New" pitchFamily="34" charset="-120"/>
              </a:rPr>
              <a:t>server_rutas.js</a:t>
            </a:r>
            <a:endParaRPr lang="en-US" sz="850" dirty="0"/>
          </a:p>
        </p:txBody>
      </p:sp>
      <p:sp>
        <p:nvSpPr>
          <p:cNvPr id="14" name="Text 12"/>
          <p:cNvSpPr txBox="1"/>
          <p:nvPr/>
        </p:nvSpPr>
        <p:spPr>
          <a:xfrm>
            <a:off x="649224" y="2395728"/>
            <a:ext cx="4187952" cy="1408176"/>
          </a:xfrm>
          <a:prstGeom prst="rect">
            <a:avLst/>
          </a:prstGeom>
          <a:noFill/>
          <a:ln/>
        </p:spPr>
        <p:txBody>
          <a:bodyPr wrap="square" lIns="0" tIns="0" rIns="0" bIns="0" rtlCol="0" anchor="t"/>
          <a:lstStyle/>
          <a:p>
            <a:pPr marL="0" indent="0">
              <a:lnSpc>
                <a:spcPts val="1188"/>
              </a:lnSpc>
              <a:buNone/>
            </a:pPr>
            <a:r>
              <a:rPr lang="en-US" sz="900" dirty="0">
                <a:solidFill>
                  <a:srgbClr val="FFB86C"/>
                </a:solidFill>
                <a:latin typeface="Courier New" pitchFamily="34" charset="0"/>
                <a:ea typeface="Courier New" pitchFamily="34" charset="-122"/>
                <a:cs typeface="Courier New" pitchFamily="34" charset="-120"/>
              </a:rPr>
              <a:t>if</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56C7F2"/>
                </a:solidFill>
                <a:latin typeface="Courier New" pitchFamily="34" charset="0"/>
                <a:ea typeface="Courier New" pitchFamily="34" charset="-122"/>
                <a:cs typeface="Courier New" pitchFamily="34" charset="-120"/>
              </a:rPr>
              <a:t>req</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method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D479"/>
                </a:solidFill>
                <a:latin typeface="Courier New" pitchFamily="34" charset="0"/>
                <a:ea typeface="Courier New" pitchFamily="34" charset="-122"/>
                <a:cs typeface="Courier New" pitchFamily="34" charset="-120"/>
              </a:rPr>
              <a:t>'GET'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&amp;&amp;</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req</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url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D479"/>
                </a:solidFill>
                <a:latin typeface="Courier New" pitchFamily="34" charset="0"/>
                <a:ea typeface="Courier New" pitchFamily="34" charset="-122"/>
                <a:cs typeface="Courier New" pitchFamily="34" charset="-120"/>
              </a:rPr>
              <a:t>'/styles.css'</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B86C"/>
                </a:solidFill>
                <a:latin typeface="Courier New" pitchFamily="34" charset="0"/>
                <a:ea typeface="Courier New" pitchFamily="34" charset="-122"/>
                <a:cs typeface="Courier New" pitchFamily="34" charset="-120"/>
              </a:rPr>
              <a:t>const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css</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fs</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readFileSync</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FFD479"/>
                </a:solidFill>
                <a:latin typeface="Courier New" pitchFamily="34" charset="0"/>
                <a:ea typeface="Courier New" pitchFamily="34" charset="-122"/>
                <a:cs typeface="Courier New" pitchFamily="34" charset="-120"/>
              </a:rPr>
              <a:t>'styles.css'</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res</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writeHead</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FFD479"/>
                </a:solidFill>
                <a:latin typeface="Courier New" pitchFamily="34" charset="0"/>
                <a:ea typeface="Courier New" pitchFamily="34" charset="-122"/>
                <a:cs typeface="Courier New" pitchFamily="34" charset="-120"/>
              </a:rPr>
              <a:t>200</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D479"/>
                </a:solidFill>
                <a:latin typeface="Courier New" pitchFamily="34" charset="0"/>
                <a:ea typeface="Courier New" pitchFamily="34" charset="-122"/>
                <a:cs typeface="Courier New" pitchFamily="34" charset="-120"/>
              </a:rPr>
              <a:t>'Content-Type'</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D479"/>
                </a:solidFill>
                <a:latin typeface="Courier New" pitchFamily="34" charset="0"/>
                <a:ea typeface="Courier New" pitchFamily="34" charset="-122"/>
                <a:cs typeface="Courier New" pitchFamily="34" charset="-120"/>
              </a:rPr>
              <a:t>'text/css; charset=UTF-8'</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B86C"/>
                </a:solidFill>
                <a:latin typeface="Courier New" pitchFamily="34" charset="0"/>
                <a:ea typeface="Courier New" pitchFamily="34" charset="-122"/>
                <a:cs typeface="Courier New" pitchFamily="34" charset="-120"/>
              </a:rPr>
              <a:t>return</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res</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end</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56C7F2"/>
                </a:solidFill>
                <a:latin typeface="Courier New" pitchFamily="34" charset="0"/>
                <a:ea typeface="Courier New" pitchFamily="34" charset="-122"/>
                <a:cs typeface="Courier New" pitchFamily="34" charset="-120"/>
              </a:rPr>
              <a:t>css</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93A5BD"/>
                </a:solidFill>
                <a:latin typeface="Courier New" pitchFamily="34" charset="0"/>
                <a:ea typeface="Courier New" pitchFamily="34" charset="-122"/>
                <a:cs typeface="Courier New" pitchFamily="34" charset="-120"/>
              </a:rPr>
              <a:t>}</a:t>
            </a:r>
            <a:endParaRPr lang="en-US" sz="900" dirty="0"/>
          </a:p>
        </p:txBody>
      </p:sp>
      <p:sp>
        <p:nvSpPr>
          <p:cNvPr id="15" name="Shape 13"/>
          <p:cNvSpPr/>
          <p:nvPr/>
        </p:nvSpPr>
        <p:spPr>
          <a:xfrm>
            <a:off x="5074920" y="2121408"/>
            <a:ext cx="3566160" cy="1737360"/>
          </a:xfrm>
          <a:prstGeom prst="roundRect">
            <a:avLst>
              <a:gd name="adj" fmla="val 4211"/>
            </a:avLst>
          </a:prstGeom>
          <a:solidFill>
            <a:srgbClr val="1A2434"/>
          </a:solidFill>
          <a:ln w="12700">
            <a:solidFill>
              <a:srgbClr val="2B3B52"/>
            </a:solidFill>
            <a:prstDash val="solid"/>
          </a:ln>
        </p:spPr>
        <p:txBody>
          <a:bodyPr/>
          <a:lstStyle/>
          <a:p>
            <a:endParaRPr lang="es-CO"/>
          </a:p>
        </p:txBody>
      </p:sp>
      <p:sp>
        <p:nvSpPr>
          <p:cNvPr id="16" name="Text 14"/>
          <p:cNvSpPr txBox="1"/>
          <p:nvPr/>
        </p:nvSpPr>
        <p:spPr>
          <a:xfrm>
            <a:off x="5166360" y="2121408"/>
            <a:ext cx="182880" cy="310896"/>
          </a:xfrm>
          <a:prstGeom prst="rect">
            <a:avLst/>
          </a:prstGeom>
          <a:noFill/>
          <a:ln/>
        </p:spPr>
        <p:txBody>
          <a:bodyPr wrap="square" lIns="0" tIns="0" rIns="0" bIns="0" rtlCol="0" anchor="ctr"/>
          <a:lstStyle/>
          <a:p>
            <a:pPr marL="0" indent="0">
              <a:buNone/>
            </a:pPr>
            <a:r>
              <a:rPr lang="en-US" sz="1000" b="1" dirty="0">
                <a:solidFill>
                  <a:srgbClr val="56C7F2"/>
                </a:solidFill>
                <a:latin typeface="Arial" pitchFamily="34" charset="0"/>
                <a:ea typeface="Arial" pitchFamily="34" charset="-122"/>
                <a:cs typeface="Arial" pitchFamily="34" charset="-120"/>
              </a:rPr>
              <a:t>1</a:t>
            </a:r>
            <a:endParaRPr lang="en-US" sz="1000" dirty="0"/>
          </a:p>
        </p:txBody>
      </p:sp>
      <p:sp>
        <p:nvSpPr>
          <p:cNvPr id="17" name="Text 15"/>
          <p:cNvSpPr txBox="1"/>
          <p:nvPr/>
        </p:nvSpPr>
        <p:spPr>
          <a:xfrm>
            <a:off x="5376672" y="2121408"/>
            <a:ext cx="1417320" cy="310896"/>
          </a:xfrm>
          <a:prstGeom prst="rect">
            <a:avLst/>
          </a:prstGeom>
          <a:noFill/>
          <a:ln/>
        </p:spPr>
        <p:txBody>
          <a:bodyPr wrap="square" lIns="0" tIns="0" rIns="0" bIns="0" rtlCol="0" anchor="ctr"/>
          <a:lstStyle/>
          <a:p>
            <a:pPr marL="0" indent="0">
              <a:buNone/>
            </a:pPr>
            <a:r>
              <a:rPr lang="en-US" sz="850" dirty="0">
                <a:solidFill>
                  <a:srgbClr val="3DDC97"/>
                </a:solidFill>
                <a:latin typeface="Courier New" pitchFamily="34" charset="0"/>
                <a:ea typeface="Courier New" pitchFamily="34" charset="-122"/>
                <a:cs typeface="Courier New" pitchFamily="34" charset="-120"/>
              </a:rPr>
              <a:t>Navegador</a:t>
            </a:r>
            <a:endParaRPr lang="en-US" sz="850" dirty="0"/>
          </a:p>
        </p:txBody>
      </p:sp>
      <p:sp>
        <p:nvSpPr>
          <p:cNvPr id="18" name="Text 16"/>
          <p:cNvSpPr txBox="1"/>
          <p:nvPr/>
        </p:nvSpPr>
        <p:spPr>
          <a:xfrm>
            <a:off x="6812280" y="2121408"/>
            <a:ext cx="1783080" cy="310896"/>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Encuentra el elemento link al analizar el documento.</a:t>
            </a:r>
            <a:endParaRPr lang="en-US" sz="850" dirty="0"/>
          </a:p>
        </p:txBody>
      </p:sp>
      <p:sp>
        <p:nvSpPr>
          <p:cNvPr id="19" name="Text 17"/>
          <p:cNvSpPr txBox="1"/>
          <p:nvPr/>
        </p:nvSpPr>
        <p:spPr>
          <a:xfrm>
            <a:off x="5166360" y="2487168"/>
            <a:ext cx="182880" cy="310896"/>
          </a:xfrm>
          <a:prstGeom prst="rect">
            <a:avLst/>
          </a:prstGeom>
          <a:noFill/>
          <a:ln/>
        </p:spPr>
        <p:txBody>
          <a:bodyPr wrap="square" lIns="0" tIns="0" rIns="0" bIns="0" rtlCol="0" anchor="ctr"/>
          <a:lstStyle/>
          <a:p>
            <a:pPr marL="0" indent="0">
              <a:buNone/>
            </a:pPr>
            <a:r>
              <a:rPr lang="en-US" sz="1000" b="1" dirty="0">
                <a:solidFill>
                  <a:srgbClr val="56C7F2"/>
                </a:solidFill>
                <a:latin typeface="Arial" pitchFamily="34" charset="0"/>
                <a:ea typeface="Arial" pitchFamily="34" charset="-122"/>
                <a:cs typeface="Arial" pitchFamily="34" charset="-120"/>
              </a:rPr>
              <a:t>2</a:t>
            </a:r>
            <a:endParaRPr lang="en-US" sz="1000" dirty="0"/>
          </a:p>
        </p:txBody>
      </p:sp>
      <p:sp>
        <p:nvSpPr>
          <p:cNvPr id="20" name="Text 18"/>
          <p:cNvSpPr txBox="1"/>
          <p:nvPr/>
        </p:nvSpPr>
        <p:spPr>
          <a:xfrm>
            <a:off x="5376672" y="2487168"/>
            <a:ext cx="1417320" cy="310896"/>
          </a:xfrm>
          <a:prstGeom prst="rect">
            <a:avLst/>
          </a:prstGeom>
          <a:noFill/>
          <a:ln/>
        </p:spPr>
        <p:txBody>
          <a:bodyPr wrap="square" lIns="0" tIns="0" rIns="0" bIns="0" rtlCol="0" anchor="ctr"/>
          <a:lstStyle/>
          <a:p>
            <a:pPr marL="0" indent="0">
              <a:buNone/>
            </a:pPr>
            <a:r>
              <a:rPr lang="en-US" sz="850" dirty="0">
                <a:solidFill>
                  <a:srgbClr val="3DDC97"/>
                </a:solidFill>
                <a:latin typeface="Courier New" pitchFamily="34" charset="0"/>
                <a:ea typeface="Courier New" pitchFamily="34" charset="-122"/>
                <a:cs typeface="Courier New" pitchFamily="34" charset="-120"/>
              </a:rPr>
              <a:t>GET /styles.css</a:t>
            </a:r>
            <a:endParaRPr lang="en-US" sz="850" dirty="0"/>
          </a:p>
        </p:txBody>
      </p:sp>
      <p:sp>
        <p:nvSpPr>
          <p:cNvPr id="21" name="Text 19"/>
          <p:cNvSpPr txBox="1"/>
          <p:nvPr/>
        </p:nvSpPr>
        <p:spPr>
          <a:xfrm>
            <a:off x="6812280" y="2487168"/>
            <a:ext cx="1783080" cy="310896"/>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Genera una petición independiente por ese recurso.</a:t>
            </a:r>
            <a:endParaRPr lang="en-US" sz="850" dirty="0"/>
          </a:p>
        </p:txBody>
      </p:sp>
      <p:sp>
        <p:nvSpPr>
          <p:cNvPr id="22" name="Text 20"/>
          <p:cNvSpPr txBox="1"/>
          <p:nvPr/>
        </p:nvSpPr>
        <p:spPr>
          <a:xfrm>
            <a:off x="5166360" y="2852928"/>
            <a:ext cx="182880" cy="310896"/>
          </a:xfrm>
          <a:prstGeom prst="rect">
            <a:avLst/>
          </a:prstGeom>
          <a:noFill/>
          <a:ln/>
        </p:spPr>
        <p:txBody>
          <a:bodyPr wrap="square" lIns="0" tIns="0" rIns="0" bIns="0" rtlCol="0" anchor="ctr"/>
          <a:lstStyle/>
          <a:p>
            <a:pPr marL="0" indent="0">
              <a:buNone/>
            </a:pPr>
            <a:r>
              <a:rPr lang="en-US" sz="1000" b="1" dirty="0">
                <a:solidFill>
                  <a:srgbClr val="56C7F2"/>
                </a:solidFill>
                <a:latin typeface="Arial" pitchFamily="34" charset="0"/>
                <a:ea typeface="Arial" pitchFamily="34" charset="-122"/>
                <a:cs typeface="Arial" pitchFamily="34" charset="-120"/>
              </a:rPr>
              <a:t>3</a:t>
            </a:r>
            <a:endParaRPr lang="en-US" sz="1000" dirty="0"/>
          </a:p>
        </p:txBody>
      </p:sp>
      <p:sp>
        <p:nvSpPr>
          <p:cNvPr id="23" name="Text 21"/>
          <p:cNvSpPr txBox="1"/>
          <p:nvPr/>
        </p:nvSpPr>
        <p:spPr>
          <a:xfrm>
            <a:off x="5376672" y="2852928"/>
            <a:ext cx="1417320" cy="310896"/>
          </a:xfrm>
          <a:prstGeom prst="rect">
            <a:avLst/>
          </a:prstGeom>
          <a:noFill/>
          <a:ln/>
        </p:spPr>
        <p:txBody>
          <a:bodyPr wrap="square" lIns="0" tIns="0" rIns="0" bIns="0" rtlCol="0" anchor="ctr"/>
          <a:lstStyle/>
          <a:p>
            <a:pPr marL="0" indent="0">
              <a:buNone/>
            </a:pPr>
            <a:r>
              <a:rPr lang="en-US" sz="850" dirty="0">
                <a:solidFill>
                  <a:srgbClr val="3DDC97"/>
                </a:solidFill>
                <a:latin typeface="Courier New" pitchFamily="34" charset="0"/>
                <a:ea typeface="Courier New" pitchFamily="34" charset="-122"/>
                <a:cs typeface="Courier New" pitchFamily="34" charset="-120"/>
              </a:rPr>
              <a:t>Node.js</a:t>
            </a:r>
            <a:endParaRPr lang="en-US" sz="850" dirty="0"/>
          </a:p>
        </p:txBody>
      </p:sp>
      <p:sp>
        <p:nvSpPr>
          <p:cNvPr id="24" name="Text 22"/>
          <p:cNvSpPr txBox="1"/>
          <p:nvPr/>
        </p:nvSpPr>
        <p:spPr>
          <a:xfrm>
            <a:off x="6812280" y="2852928"/>
            <a:ext cx="1783080" cy="310896"/>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Compara req.method y req.url y lee el archivo.</a:t>
            </a:r>
            <a:endParaRPr lang="en-US" sz="850" dirty="0"/>
          </a:p>
        </p:txBody>
      </p:sp>
      <p:sp>
        <p:nvSpPr>
          <p:cNvPr id="25" name="Text 23"/>
          <p:cNvSpPr txBox="1"/>
          <p:nvPr/>
        </p:nvSpPr>
        <p:spPr>
          <a:xfrm>
            <a:off x="5166360" y="3218688"/>
            <a:ext cx="182880" cy="310896"/>
          </a:xfrm>
          <a:prstGeom prst="rect">
            <a:avLst/>
          </a:prstGeom>
          <a:noFill/>
          <a:ln/>
        </p:spPr>
        <p:txBody>
          <a:bodyPr wrap="square" lIns="0" tIns="0" rIns="0" bIns="0" rtlCol="0" anchor="ctr"/>
          <a:lstStyle/>
          <a:p>
            <a:pPr marL="0" indent="0">
              <a:buNone/>
            </a:pPr>
            <a:r>
              <a:rPr lang="en-US" sz="1000" b="1" dirty="0">
                <a:solidFill>
                  <a:srgbClr val="56C7F2"/>
                </a:solidFill>
                <a:latin typeface="Arial" pitchFamily="34" charset="0"/>
                <a:ea typeface="Arial" pitchFamily="34" charset="-122"/>
                <a:cs typeface="Arial" pitchFamily="34" charset="-120"/>
              </a:rPr>
              <a:t>4</a:t>
            </a:r>
            <a:endParaRPr lang="en-US" sz="1000" dirty="0"/>
          </a:p>
        </p:txBody>
      </p:sp>
      <p:sp>
        <p:nvSpPr>
          <p:cNvPr id="26" name="Text 24"/>
          <p:cNvSpPr txBox="1"/>
          <p:nvPr/>
        </p:nvSpPr>
        <p:spPr>
          <a:xfrm>
            <a:off x="5376672" y="3218688"/>
            <a:ext cx="1417320" cy="310896"/>
          </a:xfrm>
          <a:prstGeom prst="rect">
            <a:avLst/>
          </a:prstGeom>
          <a:noFill/>
          <a:ln/>
        </p:spPr>
        <p:txBody>
          <a:bodyPr wrap="square" lIns="0" tIns="0" rIns="0" bIns="0" rtlCol="0" anchor="ctr"/>
          <a:lstStyle/>
          <a:p>
            <a:pPr marL="0" indent="0">
              <a:buNone/>
            </a:pPr>
            <a:r>
              <a:rPr lang="en-US" sz="850" dirty="0">
                <a:solidFill>
                  <a:srgbClr val="3DDC97"/>
                </a:solidFill>
                <a:latin typeface="Courier New" pitchFamily="34" charset="0"/>
                <a:ea typeface="Courier New" pitchFamily="34" charset="-122"/>
                <a:cs typeface="Courier New" pitchFamily="34" charset="-120"/>
              </a:rPr>
              <a:t>Content-Type: text/css</a:t>
            </a:r>
            <a:endParaRPr lang="en-US" sz="850" dirty="0"/>
          </a:p>
        </p:txBody>
      </p:sp>
      <p:sp>
        <p:nvSpPr>
          <p:cNvPr id="27" name="Text 25"/>
          <p:cNvSpPr txBox="1"/>
          <p:nvPr/>
        </p:nvSpPr>
        <p:spPr>
          <a:xfrm>
            <a:off x="6812280" y="3218688"/>
            <a:ext cx="1783080" cy="310896"/>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Declara el tipo de contenido en la respuesta.</a:t>
            </a:r>
            <a:endParaRPr lang="en-US" sz="850" dirty="0"/>
          </a:p>
        </p:txBody>
      </p:sp>
      <p:sp>
        <p:nvSpPr>
          <p:cNvPr id="28" name="Text 26"/>
          <p:cNvSpPr txBox="1"/>
          <p:nvPr/>
        </p:nvSpPr>
        <p:spPr>
          <a:xfrm>
            <a:off x="5166360" y="3584448"/>
            <a:ext cx="182880" cy="310896"/>
          </a:xfrm>
          <a:prstGeom prst="rect">
            <a:avLst/>
          </a:prstGeom>
          <a:noFill/>
          <a:ln/>
        </p:spPr>
        <p:txBody>
          <a:bodyPr wrap="square" lIns="0" tIns="0" rIns="0" bIns="0" rtlCol="0" anchor="ctr"/>
          <a:lstStyle/>
          <a:p>
            <a:pPr marL="0" indent="0">
              <a:buNone/>
            </a:pPr>
            <a:r>
              <a:rPr lang="en-US" sz="1000" b="1" dirty="0">
                <a:solidFill>
                  <a:srgbClr val="56C7F2"/>
                </a:solidFill>
                <a:latin typeface="Arial" pitchFamily="34" charset="0"/>
                <a:ea typeface="Arial" pitchFamily="34" charset="-122"/>
                <a:cs typeface="Arial" pitchFamily="34" charset="-120"/>
              </a:rPr>
              <a:t>5</a:t>
            </a:r>
            <a:endParaRPr lang="en-US" sz="1000" dirty="0"/>
          </a:p>
        </p:txBody>
      </p:sp>
      <p:sp>
        <p:nvSpPr>
          <p:cNvPr id="29" name="Text 27"/>
          <p:cNvSpPr txBox="1"/>
          <p:nvPr/>
        </p:nvSpPr>
        <p:spPr>
          <a:xfrm>
            <a:off x="5376672" y="3584448"/>
            <a:ext cx="1417320" cy="310896"/>
          </a:xfrm>
          <a:prstGeom prst="rect">
            <a:avLst/>
          </a:prstGeom>
          <a:noFill/>
          <a:ln/>
        </p:spPr>
        <p:txBody>
          <a:bodyPr wrap="square" lIns="0" tIns="0" rIns="0" bIns="0" rtlCol="0" anchor="ctr"/>
          <a:lstStyle/>
          <a:p>
            <a:pPr marL="0" indent="0">
              <a:buNone/>
            </a:pPr>
            <a:r>
              <a:rPr lang="en-US" sz="850" dirty="0">
                <a:solidFill>
                  <a:srgbClr val="3DDC97"/>
                </a:solidFill>
                <a:latin typeface="Courier New" pitchFamily="34" charset="0"/>
                <a:ea typeface="Courier New" pitchFamily="34" charset="-122"/>
                <a:cs typeface="Courier New" pitchFamily="34" charset="-120"/>
              </a:rPr>
              <a:t>Aplicación</a:t>
            </a:r>
            <a:endParaRPr lang="en-US" sz="850" dirty="0"/>
          </a:p>
        </p:txBody>
      </p:sp>
      <p:sp>
        <p:nvSpPr>
          <p:cNvPr id="30" name="Text 28"/>
          <p:cNvSpPr txBox="1"/>
          <p:nvPr/>
        </p:nvSpPr>
        <p:spPr>
          <a:xfrm>
            <a:off x="6812280" y="3584448"/>
            <a:ext cx="1783080" cy="310896"/>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El navegador presenta el documento ya con estilos.</a:t>
            </a:r>
            <a:endParaRPr lang="en-US" sz="850" dirty="0"/>
          </a:p>
        </p:txBody>
      </p:sp>
      <p:sp>
        <p:nvSpPr>
          <p:cNvPr id="31" name="Text 29"/>
          <p:cNvSpPr txBox="1"/>
          <p:nvPr/>
        </p:nvSpPr>
        <p:spPr>
          <a:xfrm>
            <a:off x="502920" y="3968496"/>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El navegador realiza una petición independiente por cada recurso necesario: el documento y la hoja de estilos viajan por separado.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00A"/>
        </a:solidFill>
        <a:effectLst/>
      </p:bgPr>
    </p:bg>
    <p:spTree>
      <p:nvGrpSpPr>
        <p:cNvPr id="1" name=""/>
        <p:cNvGrpSpPr/>
        <p:nvPr/>
      </p:nvGrpSpPr>
      <p:grpSpPr>
        <a:xfrm>
          <a:off x="0" y="0"/>
          <a:ext cx="0" cy="0"/>
          <a:chOff x="0" y="0"/>
          <a:chExt cx="0" cy="0"/>
        </a:xfrm>
      </p:grpSpPr>
      <p:sp>
        <p:nvSpPr>
          <p:cNvPr id="2" name="Shape 0"/>
          <p:cNvSpPr/>
          <p:nvPr/>
        </p:nvSpPr>
        <p:spPr>
          <a:xfrm>
            <a:off x="502920" y="365760"/>
            <a:ext cx="1264524" cy="228600"/>
          </a:xfrm>
          <a:prstGeom prst="roundRect">
            <a:avLst>
              <a:gd name="adj" fmla="val 48000"/>
            </a:avLst>
          </a:prstGeom>
          <a:solidFill>
            <a:srgbClr val="35210F"/>
          </a:solidFill>
          <a:ln w="9525">
            <a:solidFill>
              <a:srgbClr val="FF8A3D"/>
            </a:solidFill>
            <a:prstDash val="solid"/>
          </a:ln>
        </p:spPr>
        <p:txBody>
          <a:bodyPr/>
          <a:lstStyle/>
          <a:p>
            <a:endParaRPr lang="es-CO"/>
          </a:p>
        </p:txBody>
      </p:sp>
      <p:sp>
        <p:nvSpPr>
          <p:cNvPr id="3" name="Text 1"/>
          <p:cNvSpPr txBox="1"/>
          <p:nvPr/>
        </p:nvSpPr>
        <p:spPr>
          <a:xfrm>
            <a:off x="502920" y="365760"/>
            <a:ext cx="1264524" cy="228600"/>
          </a:xfrm>
          <a:prstGeom prst="rect">
            <a:avLst/>
          </a:prstGeom>
          <a:noFill/>
          <a:ln/>
        </p:spPr>
        <p:txBody>
          <a:bodyPr wrap="square" lIns="0" tIns="0" rIns="0" bIns="0" rtlCol="0" anchor="ctr"/>
          <a:lstStyle/>
          <a:p>
            <a:pPr marL="0" indent="0" algn="ctr">
              <a:buNone/>
            </a:pPr>
            <a:r>
              <a:rPr lang="en-US" sz="850" b="1" dirty="0">
                <a:solidFill>
                  <a:srgbClr val="FF8A3D"/>
                </a:solidFill>
                <a:latin typeface="Arial" pitchFamily="34" charset="0"/>
                <a:ea typeface="Arial" pitchFamily="34" charset="-122"/>
                <a:cs typeface="Arial" pitchFamily="34" charset="-120"/>
              </a:rPr>
              <a:t>LABORATORIO 4</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Aplicamos estilos al formulario existente</a:t>
            </a:r>
            <a:endParaRPr lang="en-US" sz="26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10 / 25</a:t>
            </a:r>
            <a:endParaRPr lang="en-US" sz="800" dirty="0"/>
          </a:p>
        </p:txBody>
      </p:sp>
      <p:sp>
        <p:nvSpPr>
          <p:cNvPr id="6" name="Shape 4"/>
          <p:cNvSpPr/>
          <p:nvPr/>
        </p:nvSpPr>
        <p:spPr>
          <a:xfrm>
            <a:off x="502920" y="1207008"/>
            <a:ext cx="8138160" cy="2798064"/>
          </a:xfrm>
          <a:prstGeom prst="roundRect">
            <a:avLst>
              <a:gd name="adj" fmla="val 2614"/>
            </a:avLst>
          </a:prstGeom>
          <a:solidFill>
            <a:srgbClr val="070C14"/>
          </a:solidFill>
          <a:ln w="12700">
            <a:solidFill>
              <a:srgbClr val="2B3B52"/>
            </a:solidFill>
            <a:prstDash val="solid"/>
          </a:ln>
        </p:spPr>
        <p:txBody>
          <a:bodyPr/>
          <a:lstStyle/>
          <a:p>
            <a:endParaRPr lang="es-CO"/>
          </a:p>
        </p:txBody>
      </p:sp>
      <p:sp>
        <p:nvSpPr>
          <p:cNvPr id="7" name="Text 5"/>
          <p:cNvSpPr txBox="1"/>
          <p:nvPr/>
        </p:nvSpPr>
        <p:spPr>
          <a:xfrm>
            <a:off x="649224" y="1261872"/>
            <a:ext cx="3657600" cy="182880"/>
          </a:xfrm>
          <a:prstGeom prst="rect">
            <a:avLst/>
          </a:prstGeom>
          <a:noFill/>
          <a:ln/>
        </p:spPr>
        <p:txBody>
          <a:bodyPr wrap="square" lIns="0" tIns="0" rIns="0" bIns="0" rtlCol="0" anchor="ctr"/>
          <a:lstStyle/>
          <a:p>
            <a:pPr marL="0" indent="0">
              <a:buNone/>
            </a:pPr>
            <a:r>
              <a:rPr lang="en-US" sz="850" b="1" dirty="0">
                <a:solidFill>
                  <a:srgbClr val="FF8A3D"/>
                </a:solidFill>
                <a:latin typeface="Courier New" pitchFamily="34" charset="0"/>
                <a:ea typeface="Courier New" pitchFamily="34" charset="-122"/>
                <a:cs typeface="Courier New" pitchFamily="34" charset="-120"/>
              </a:rPr>
              <a:t>styles.css</a:t>
            </a:r>
            <a:endParaRPr lang="en-US" sz="850" dirty="0"/>
          </a:p>
        </p:txBody>
      </p:sp>
      <p:sp>
        <p:nvSpPr>
          <p:cNvPr id="8" name="Text 6"/>
          <p:cNvSpPr txBox="1"/>
          <p:nvPr/>
        </p:nvSpPr>
        <p:spPr>
          <a:xfrm>
            <a:off x="649224" y="1499616"/>
            <a:ext cx="2523744" cy="2414016"/>
          </a:xfrm>
          <a:prstGeom prst="rect">
            <a:avLst/>
          </a:prstGeom>
          <a:noFill/>
          <a:ln/>
        </p:spPr>
        <p:txBody>
          <a:bodyPr wrap="square" lIns="0" tIns="0" rIns="0" bIns="0" rtlCol="0" anchor="t"/>
          <a:lstStyle/>
          <a:p>
            <a:pPr marL="0" indent="0">
              <a:lnSpc>
                <a:spcPts val="1120"/>
              </a:lnSpc>
              <a:buNone/>
            </a:pPr>
            <a:r>
              <a:rPr lang="en-US" sz="850" dirty="0">
                <a:solidFill>
                  <a:srgbClr val="3DDC97"/>
                </a:solidFill>
                <a:latin typeface="Courier New" pitchFamily="34" charset="0"/>
                <a:ea typeface="Courier New" pitchFamily="34" charset="-122"/>
                <a:cs typeface="Courier New" pitchFamily="34" charset="-120"/>
              </a:rPr>
              <a:t>* </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box-sizing</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border-box</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93A5BD"/>
                </a:solidFill>
                <a:latin typeface="Courier New" pitchFamily="34" charset="0"/>
                <a:ea typeface="Courier New" pitchFamily="34" charset="-122"/>
                <a:cs typeface="Courier New" pitchFamily="34" charset="-120"/>
              </a:rPr>
              <a:t> </a:t>
            </a:r>
            <a:endParaRPr lang="en-US" sz="850" dirty="0"/>
          </a:p>
          <a:p>
            <a:pPr marL="0" indent="0">
              <a:lnSpc>
                <a:spcPts val="1120"/>
              </a:lnSpc>
              <a:buNone/>
            </a:pPr>
            <a:r>
              <a:rPr lang="en-US" sz="850" dirty="0">
                <a:solidFill>
                  <a:srgbClr val="3DDC97"/>
                </a:solidFill>
                <a:latin typeface="Courier New" pitchFamily="34" charset="0"/>
                <a:ea typeface="Courier New" pitchFamily="34" charset="-122"/>
                <a:cs typeface="Courier New" pitchFamily="34" charset="-120"/>
              </a:rPr>
              <a:t>body </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margin</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0</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font-family</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Arial, sans-serif</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background-color</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#f4f6f8</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color</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#222</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93A5BD"/>
                </a:solidFill>
                <a:latin typeface="Courier New" pitchFamily="34" charset="0"/>
                <a:ea typeface="Courier New" pitchFamily="34" charset="-122"/>
                <a:cs typeface="Courier New" pitchFamily="34" charset="-120"/>
              </a:rPr>
              <a:t>}</a:t>
            </a:r>
            <a:endParaRPr lang="en-US" sz="850" dirty="0"/>
          </a:p>
        </p:txBody>
      </p:sp>
      <p:sp>
        <p:nvSpPr>
          <p:cNvPr id="9" name="Text 7"/>
          <p:cNvSpPr txBox="1"/>
          <p:nvPr/>
        </p:nvSpPr>
        <p:spPr>
          <a:xfrm>
            <a:off x="3310128" y="1499616"/>
            <a:ext cx="2523744" cy="2414016"/>
          </a:xfrm>
          <a:prstGeom prst="rect">
            <a:avLst/>
          </a:prstGeom>
          <a:noFill/>
          <a:ln/>
        </p:spPr>
        <p:txBody>
          <a:bodyPr wrap="square" lIns="0" tIns="0" rIns="0" bIns="0" rtlCol="0" anchor="t"/>
          <a:lstStyle/>
          <a:p>
            <a:pPr marL="0" indent="0">
              <a:lnSpc>
                <a:spcPts val="1120"/>
              </a:lnSpc>
              <a:buNone/>
            </a:pPr>
            <a:r>
              <a:rPr lang="en-US" sz="850" dirty="0">
                <a:solidFill>
                  <a:srgbClr val="3DDC97"/>
                </a:solidFill>
                <a:latin typeface="Courier New" pitchFamily="34" charset="0"/>
                <a:ea typeface="Courier New" pitchFamily="34" charset="-122"/>
                <a:cs typeface="Courier New" pitchFamily="34" charset="-120"/>
              </a:rPr>
              <a:t>main </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width</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90%</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max-width</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700px</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margin</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30px auto</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93A5BD"/>
                </a:solidFill>
                <a:latin typeface="Courier New" pitchFamily="34" charset="0"/>
                <a:ea typeface="Courier New" pitchFamily="34" charset="-122"/>
                <a:cs typeface="Courier New" pitchFamily="34" charset="-120"/>
              </a:rPr>
              <a:t> </a:t>
            </a:r>
            <a:endParaRPr lang="en-US" sz="850" dirty="0"/>
          </a:p>
          <a:p>
            <a:pPr marL="0" indent="0">
              <a:lnSpc>
                <a:spcPts val="1120"/>
              </a:lnSpc>
              <a:buNone/>
            </a:pPr>
            <a:r>
              <a:rPr lang="en-US" sz="850" dirty="0">
                <a:solidFill>
                  <a:srgbClr val="3DDC97"/>
                </a:solidFill>
                <a:latin typeface="Courier New" pitchFamily="34" charset="0"/>
                <a:ea typeface="Courier New" pitchFamily="34" charset="-122"/>
                <a:cs typeface="Courier New" pitchFamily="34" charset="-120"/>
              </a:rPr>
              <a:t>form </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display</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flex</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flex-direction</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column</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gap</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10px</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93A5BD"/>
                </a:solidFill>
                <a:latin typeface="Courier New" pitchFamily="34" charset="0"/>
                <a:ea typeface="Courier New" pitchFamily="34" charset="-122"/>
                <a:cs typeface="Courier New" pitchFamily="34" charset="-120"/>
              </a:rPr>
              <a:t>}</a:t>
            </a:r>
            <a:endParaRPr lang="en-US" sz="850" dirty="0"/>
          </a:p>
        </p:txBody>
      </p:sp>
      <p:sp>
        <p:nvSpPr>
          <p:cNvPr id="10" name="Text 8"/>
          <p:cNvSpPr txBox="1"/>
          <p:nvPr/>
        </p:nvSpPr>
        <p:spPr>
          <a:xfrm>
            <a:off x="5971032" y="1499616"/>
            <a:ext cx="2523744" cy="2414016"/>
          </a:xfrm>
          <a:prstGeom prst="rect">
            <a:avLst/>
          </a:prstGeom>
          <a:noFill/>
          <a:ln/>
        </p:spPr>
        <p:txBody>
          <a:bodyPr wrap="square" lIns="0" tIns="0" rIns="0" bIns="0" rtlCol="0" anchor="t"/>
          <a:lstStyle/>
          <a:p>
            <a:pPr marL="0" indent="0">
              <a:lnSpc>
                <a:spcPts val="1120"/>
              </a:lnSpc>
              <a:buNone/>
            </a:pPr>
            <a:r>
              <a:rPr lang="en-US" sz="850" dirty="0">
                <a:solidFill>
                  <a:srgbClr val="3DDC97"/>
                </a:solidFill>
                <a:latin typeface="Courier New" pitchFamily="34" charset="0"/>
                <a:ea typeface="Courier New" pitchFamily="34" charset="-122"/>
                <a:cs typeface="Courier New" pitchFamily="34" charset="-120"/>
              </a:rPr>
              <a:t>input,</a:t>
            </a:r>
            <a:endParaRPr lang="en-US" sz="850" dirty="0"/>
          </a:p>
          <a:p>
            <a:pPr marL="0" indent="0">
              <a:lnSpc>
                <a:spcPts val="1120"/>
              </a:lnSpc>
              <a:buNone/>
            </a:pPr>
            <a:r>
              <a:rPr lang="en-US" sz="850" dirty="0">
                <a:solidFill>
                  <a:srgbClr val="3DDC97"/>
                </a:solidFill>
                <a:latin typeface="Courier New" pitchFamily="34" charset="0"/>
                <a:ea typeface="Courier New" pitchFamily="34" charset="-122"/>
                <a:cs typeface="Courier New" pitchFamily="34" charset="-120"/>
              </a:rPr>
              <a:t>textarea,</a:t>
            </a:r>
            <a:endParaRPr lang="en-US" sz="850" dirty="0"/>
          </a:p>
          <a:p>
            <a:pPr marL="0" indent="0">
              <a:lnSpc>
                <a:spcPts val="1120"/>
              </a:lnSpc>
              <a:buNone/>
            </a:pPr>
            <a:r>
              <a:rPr lang="en-US" sz="850" dirty="0">
                <a:solidFill>
                  <a:srgbClr val="3DDC97"/>
                </a:solidFill>
                <a:latin typeface="Courier New" pitchFamily="34" charset="0"/>
                <a:ea typeface="Courier New" pitchFamily="34" charset="-122"/>
                <a:cs typeface="Courier New" pitchFamily="34" charset="-120"/>
              </a:rPr>
              <a:t>button </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padding</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10px</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font</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inherit</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93A5BD"/>
                </a:solidFill>
                <a:latin typeface="Courier New" pitchFamily="34" charset="0"/>
                <a:ea typeface="Courier New" pitchFamily="34" charset="-122"/>
                <a:cs typeface="Courier New" pitchFamily="34" charset="-120"/>
              </a:rPr>
              <a:t> </a:t>
            </a:r>
            <a:endParaRPr lang="en-US" sz="850" dirty="0"/>
          </a:p>
          <a:p>
            <a:pPr marL="0" indent="0">
              <a:lnSpc>
                <a:spcPts val="1120"/>
              </a:lnSpc>
              <a:buNone/>
            </a:pPr>
            <a:r>
              <a:rPr lang="en-US" sz="850" dirty="0">
                <a:solidFill>
                  <a:srgbClr val="56C7F2"/>
                </a:solidFill>
                <a:latin typeface="Courier New" pitchFamily="34" charset="0"/>
                <a:ea typeface="Courier New" pitchFamily="34" charset="-122"/>
                <a:cs typeface="Courier New" pitchFamily="34" charset="-120"/>
              </a:rPr>
              <a:t>input</a:t>
            </a:r>
            <a:r>
              <a:rPr lang="en-US" sz="850" dirty="0">
                <a:solidFill>
                  <a:srgbClr val="93A5BD"/>
                </a:solidFill>
                <a:latin typeface="Courier New" pitchFamily="34" charset="0"/>
                <a:ea typeface="Courier New" pitchFamily="34" charset="-122"/>
                <a:cs typeface="Courier New" pitchFamily="34" charset="-120"/>
              </a:rPr>
              <a:t>:</a:t>
            </a:r>
            <a:r>
              <a:rPr lang="en-US" sz="850" dirty="0">
                <a:solidFill>
                  <a:srgbClr val="FFD479"/>
                </a:solidFill>
                <a:latin typeface="Courier New" pitchFamily="34" charset="0"/>
                <a:ea typeface="Courier New" pitchFamily="34" charset="-122"/>
                <a:cs typeface="Courier New" pitchFamily="34" charset="-120"/>
              </a:rPr>
              <a:t>focus,</a:t>
            </a:r>
            <a:endParaRPr lang="en-US" sz="850" dirty="0"/>
          </a:p>
          <a:p>
            <a:pPr marL="0" indent="0">
              <a:lnSpc>
                <a:spcPts val="1120"/>
              </a:lnSpc>
              <a:buNone/>
            </a:pPr>
            <a:r>
              <a:rPr lang="en-US" sz="850" dirty="0">
                <a:solidFill>
                  <a:srgbClr val="3DDC97"/>
                </a:solidFill>
                <a:latin typeface="Courier New" pitchFamily="34" charset="0"/>
                <a:ea typeface="Courier New" pitchFamily="34" charset="-122"/>
                <a:cs typeface="Courier New" pitchFamily="34" charset="-120"/>
              </a:rPr>
              <a:t>textarea:focus </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outline</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2px solid #2563eb</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93A5BD"/>
                </a:solidFill>
                <a:latin typeface="Courier New" pitchFamily="34" charset="0"/>
                <a:ea typeface="Courier New" pitchFamily="34" charset="-122"/>
                <a:cs typeface="Courier New" pitchFamily="34" charset="-120"/>
              </a:rPr>
              <a:t> </a:t>
            </a:r>
            <a:endParaRPr lang="en-US" sz="850" dirty="0"/>
          </a:p>
          <a:p>
            <a:pPr marL="0" indent="0">
              <a:lnSpc>
                <a:spcPts val="1120"/>
              </a:lnSpc>
              <a:buNone/>
            </a:pPr>
            <a:r>
              <a:rPr lang="en-US" sz="850" dirty="0">
                <a:solidFill>
                  <a:srgbClr val="3DDC97"/>
                </a:solidFill>
                <a:latin typeface="Courier New" pitchFamily="34" charset="0"/>
                <a:ea typeface="Courier New" pitchFamily="34" charset="-122"/>
                <a:cs typeface="Courier New" pitchFamily="34" charset="-120"/>
              </a:rPr>
              <a:t>button </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D7E1EE"/>
                </a:solidFill>
                <a:latin typeface="Courier New" pitchFamily="34" charset="0"/>
                <a:ea typeface="Courier New" pitchFamily="34" charset="-122"/>
                <a:cs typeface="Courier New" pitchFamily="34" charset="-120"/>
              </a:rPr>
              <a:t>    </a:t>
            </a:r>
            <a:r>
              <a:rPr lang="en-US" sz="850" dirty="0">
                <a:solidFill>
                  <a:srgbClr val="56C7F2"/>
                </a:solidFill>
                <a:latin typeface="Courier New" pitchFamily="34" charset="0"/>
                <a:ea typeface="Courier New" pitchFamily="34" charset="-122"/>
                <a:cs typeface="Courier New" pitchFamily="34" charset="-120"/>
              </a:rPr>
              <a:t>cursor</a:t>
            </a:r>
            <a:r>
              <a:rPr lang="en-US" sz="850" dirty="0">
                <a:solidFill>
                  <a:srgbClr val="93A5BD"/>
                </a:solidFill>
                <a:latin typeface="Courier New" pitchFamily="34" charset="0"/>
                <a:ea typeface="Courier New" pitchFamily="34" charset="-122"/>
                <a:cs typeface="Courier New" pitchFamily="34" charset="-120"/>
              </a:rPr>
              <a:t>: </a:t>
            </a:r>
            <a:r>
              <a:rPr lang="en-US" sz="850" dirty="0">
                <a:solidFill>
                  <a:srgbClr val="FFD479"/>
                </a:solidFill>
                <a:latin typeface="Courier New" pitchFamily="34" charset="0"/>
                <a:ea typeface="Courier New" pitchFamily="34" charset="-122"/>
                <a:cs typeface="Courier New" pitchFamily="34" charset="-120"/>
              </a:rPr>
              <a:t>pointer</a:t>
            </a:r>
            <a:r>
              <a:rPr lang="en-US" sz="850" dirty="0">
                <a:solidFill>
                  <a:srgbClr val="93A5BD"/>
                </a:solidFill>
                <a:latin typeface="Courier New" pitchFamily="34" charset="0"/>
                <a:ea typeface="Courier New" pitchFamily="34" charset="-122"/>
                <a:cs typeface="Courier New" pitchFamily="34" charset="-120"/>
              </a:rPr>
              <a:t>;</a:t>
            </a:r>
            <a:endParaRPr lang="en-US" sz="850" dirty="0"/>
          </a:p>
          <a:p>
            <a:pPr marL="0" indent="0">
              <a:lnSpc>
                <a:spcPts val="1120"/>
              </a:lnSpc>
              <a:buNone/>
            </a:pPr>
            <a:r>
              <a:rPr lang="en-US" sz="850" dirty="0">
                <a:solidFill>
                  <a:srgbClr val="93A5BD"/>
                </a:solidFill>
                <a:latin typeface="Courier New" pitchFamily="34" charset="0"/>
                <a:ea typeface="Courier New" pitchFamily="34" charset="-122"/>
                <a:cs typeface="Courier New" pitchFamily="34" charset="-120"/>
              </a:rPr>
              <a:t>}</a:t>
            </a:r>
            <a:endParaRPr lang="en-US" sz="850" dirty="0"/>
          </a:p>
        </p:txBody>
      </p:sp>
      <p:sp>
        <p:nvSpPr>
          <p:cNvPr id="11" name="Text 9"/>
          <p:cNvSpPr txBox="1"/>
          <p:nvPr/>
        </p:nvSpPr>
        <p:spPr>
          <a:xfrm>
            <a:off x="502920" y="4078224"/>
            <a:ext cx="8138160" cy="182880"/>
          </a:xfrm>
          <a:prstGeom prst="rect">
            <a:avLst/>
          </a:prstGeom>
          <a:noFill/>
          <a:ln/>
        </p:spPr>
        <p:txBody>
          <a:bodyPr wrap="square" lIns="0" tIns="0" rIns="0" bIns="0" rtlCol="0" anchor="ctr"/>
          <a:lstStyle/>
          <a:p>
            <a:pPr marL="0" indent="0">
              <a:buNone/>
            </a:pPr>
            <a:r>
              <a:rPr lang="en-US" sz="900" b="1" dirty="0">
                <a:solidFill>
                  <a:srgbClr val="FF8A3D"/>
                </a:solidFill>
                <a:latin typeface="Arial" pitchFamily="34" charset="0"/>
                <a:ea typeface="Arial" pitchFamily="34" charset="-122"/>
                <a:cs typeface="Arial" pitchFamily="34" charset="-120"/>
              </a:rPr>
              <a:t>Secuencia en clase</a:t>
            </a:r>
            <a:endParaRPr lang="en-US" sz="900" dirty="0"/>
          </a:p>
        </p:txBody>
      </p:sp>
      <p:sp>
        <p:nvSpPr>
          <p:cNvPr id="12" name="Shape 10"/>
          <p:cNvSpPr/>
          <p:nvPr/>
        </p:nvSpPr>
        <p:spPr>
          <a:xfrm>
            <a:off x="502920" y="4315968"/>
            <a:ext cx="1280160" cy="310896"/>
          </a:xfrm>
          <a:prstGeom prst="roundRect">
            <a:avLst>
              <a:gd name="adj" fmla="val 26471"/>
            </a:avLst>
          </a:prstGeom>
          <a:solidFill>
            <a:srgbClr val="20160E"/>
          </a:solidFill>
          <a:ln w="12700">
            <a:solidFill>
              <a:srgbClr val="FF8A3D"/>
            </a:solidFill>
            <a:prstDash val="solid"/>
          </a:ln>
        </p:spPr>
        <p:txBody>
          <a:bodyPr/>
          <a:lstStyle/>
          <a:p>
            <a:endParaRPr lang="es-CO"/>
          </a:p>
        </p:txBody>
      </p:sp>
      <p:sp>
        <p:nvSpPr>
          <p:cNvPr id="13" name="Text 11"/>
          <p:cNvSpPr txBox="1"/>
          <p:nvPr/>
        </p:nvSpPr>
        <p:spPr>
          <a:xfrm>
            <a:off x="502920" y="4315968"/>
            <a:ext cx="1280160" cy="310896"/>
          </a:xfrm>
          <a:prstGeom prst="rect">
            <a:avLst/>
          </a:prstGeom>
          <a:noFill/>
          <a:ln/>
        </p:spPr>
        <p:txBody>
          <a:bodyPr wrap="square" lIns="0" tIns="0" rIns="0" bIns="0" rtlCol="0" anchor="ctr"/>
          <a:lstStyle/>
          <a:p>
            <a:pPr marL="0" indent="0" algn="ctr">
              <a:buNone/>
            </a:pPr>
            <a:r>
              <a:rPr lang="en-US" sz="750" b="1" dirty="0">
                <a:solidFill>
                  <a:srgbClr val="FF8A3D"/>
                </a:solidFill>
                <a:latin typeface="Arial" pitchFamily="34" charset="0"/>
                <a:ea typeface="Arial" pitchFamily="34" charset="-122"/>
                <a:cs typeface="Arial" pitchFamily="34" charset="-120"/>
              </a:rPr>
              <a:t>Crear styles.css</a:t>
            </a:r>
            <a:endParaRPr lang="en-US" sz="750" dirty="0"/>
          </a:p>
        </p:txBody>
      </p:sp>
      <p:sp>
        <p:nvSpPr>
          <p:cNvPr id="14" name="Shape 12"/>
          <p:cNvSpPr/>
          <p:nvPr/>
        </p:nvSpPr>
        <p:spPr>
          <a:xfrm>
            <a:off x="1874520" y="4315968"/>
            <a:ext cx="1280160" cy="310896"/>
          </a:xfrm>
          <a:prstGeom prst="roundRect">
            <a:avLst>
              <a:gd name="adj" fmla="val 26471"/>
            </a:avLst>
          </a:prstGeom>
          <a:solidFill>
            <a:srgbClr val="20160E"/>
          </a:solidFill>
          <a:ln w="12700">
            <a:solidFill>
              <a:srgbClr val="FF8A3D"/>
            </a:solidFill>
            <a:prstDash val="solid"/>
          </a:ln>
        </p:spPr>
        <p:txBody>
          <a:bodyPr/>
          <a:lstStyle/>
          <a:p>
            <a:endParaRPr lang="es-CO"/>
          </a:p>
        </p:txBody>
      </p:sp>
      <p:sp>
        <p:nvSpPr>
          <p:cNvPr id="15" name="Text 13"/>
          <p:cNvSpPr txBox="1"/>
          <p:nvPr/>
        </p:nvSpPr>
        <p:spPr>
          <a:xfrm>
            <a:off x="1874520" y="4315968"/>
            <a:ext cx="1280160" cy="310896"/>
          </a:xfrm>
          <a:prstGeom prst="rect">
            <a:avLst/>
          </a:prstGeom>
          <a:noFill/>
          <a:ln/>
        </p:spPr>
        <p:txBody>
          <a:bodyPr wrap="square" lIns="0" tIns="0" rIns="0" bIns="0" rtlCol="0" anchor="ctr"/>
          <a:lstStyle/>
          <a:p>
            <a:pPr marL="0" indent="0" algn="ctr">
              <a:buNone/>
            </a:pPr>
            <a:r>
              <a:rPr lang="en-US" sz="750" b="1" dirty="0">
                <a:solidFill>
                  <a:srgbClr val="FF8A3D"/>
                </a:solidFill>
                <a:latin typeface="Arial" pitchFamily="34" charset="0"/>
                <a:ea typeface="Arial" pitchFamily="34" charset="-122"/>
                <a:cs typeface="Arial" pitchFamily="34" charset="-120"/>
              </a:rPr>
              <a:t>Vincular con link</a:t>
            </a:r>
            <a:endParaRPr lang="en-US" sz="750" dirty="0"/>
          </a:p>
        </p:txBody>
      </p:sp>
      <p:sp>
        <p:nvSpPr>
          <p:cNvPr id="16" name="Shape 14"/>
          <p:cNvSpPr/>
          <p:nvPr/>
        </p:nvSpPr>
        <p:spPr>
          <a:xfrm>
            <a:off x="3246120" y="4315968"/>
            <a:ext cx="1280160" cy="310896"/>
          </a:xfrm>
          <a:prstGeom prst="roundRect">
            <a:avLst>
              <a:gd name="adj" fmla="val 26471"/>
            </a:avLst>
          </a:prstGeom>
          <a:solidFill>
            <a:srgbClr val="20160E"/>
          </a:solidFill>
          <a:ln w="12700">
            <a:solidFill>
              <a:srgbClr val="FF8A3D"/>
            </a:solidFill>
            <a:prstDash val="solid"/>
          </a:ln>
        </p:spPr>
        <p:txBody>
          <a:bodyPr/>
          <a:lstStyle/>
          <a:p>
            <a:endParaRPr lang="es-CO"/>
          </a:p>
        </p:txBody>
      </p:sp>
      <p:sp>
        <p:nvSpPr>
          <p:cNvPr id="17" name="Text 15"/>
          <p:cNvSpPr txBox="1"/>
          <p:nvPr/>
        </p:nvSpPr>
        <p:spPr>
          <a:xfrm>
            <a:off x="3246120" y="4315968"/>
            <a:ext cx="1280160" cy="310896"/>
          </a:xfrm>
          <a:prstGeom prst="rect">
            <a:avLst/>
          </a:prstGeom>
          <a:noFill/>
          <a:ln/>
        </p:spPr>
        <p:txBody>
          <a:bodyPr wrap="square" lIns="0" tIns="0" rIns="0" bIns="0" rtlCol="0" anchor="ctr"/>
          <a:lstStyle/>
          <a:p>
            <a:pPr marL="0" indent="0" algn="ctr">
              <a:buNone/>
            </a:pPr>
            <a:r>
              <a:rPr lang="en-US" sz="750" b="1" dirty="0">
                <a:solidFill>
                  <a:srgbClr val="FF8A3D"/>
                </a:solidFill>
                <a:latin typeface="Arial" pitchFamily="34" charset="0"/>
                <a:ea typeface="Arial" pitchFamily="34" charset="-122"/>
                <a:cs typeface="Arial" pitchFamily="34" charset="-120"/>
              </a:rPr>
              <a:t>Ruta GET /styles.css</a:t>
            </a:r>
            <a:endParaRPr lang="en-US" sz="750" dirty="0"/>
          </a:p>
        </p:txBody>
      </p:sp>
      <p:sp>
        <p:nvSpPr>
          <p:cNvPr id="18" name="Shape 16"/>
          <p:cNvSpPr/>
          <p:nvPr/>
        </p:nvSpPr>
        <p:spPr>
          <a:xfrm>
            <a:off x="4617720" y="4315968"/>
            <a:ext cx="1280160" cy="310896"/>
          </a:xfrm>
          <a:prstGeom prst="roundRect">
            <a:avLst>
              <a:gd name="adj" fmla="val 26471"/>
            </a:avLst>
          </a:prstGeom>
          <a:solidFill>
            <a:srgbClr val="20160E"/>
          </a:solidFill>
          <a:ln w="12700">
            <a:solidFill>
              <a:srgbClr val="FF8A3D"/>
            </a:solidFill>
            <a:prstDash val="solid"/>
          </a:ln>
        </p:spPr>
        <p:txBody>
          <a:bodyPr/>
          <a:lstStyle/>
          <a:p>
            <a:endParaRPr lang="es-CO"/>
          </a:p>
        </p:txBody>
      </p:sp>
      <p:sp>
        <p:nvSpPr>
          <p:cNvPr id="19" name="Text 17"/>
          <p:cNvSpPr txBox="1"/>
          <p:nvPr/>
        </p:nvSpPr>
        <p:spPr>
          <a:xfrm>
            <a:off x="4617720" y="4315968"/>
            <a:ext cx="1280160" cy="310896"/>
          </a:xfrm>
          <a:prstGeom prst="rect">
            <a:avLst/>
          </a:prstGeom>
          <a:noFill/>
          <a:ln/>
        </p:spPr>
        <p:txBody>
          <a:bodyPr wrap="square" lIns="0" tIns="0" rIns="0" bIns="0" rtlCol="0" anchor="ctr"/>
          <a:lstStyle/>
          <a:p>
            <a:pPr marL="0" indent="0" algn="ctr">
              <a:buNone/>
            </a:pPr>
            <a:r>
              <a:rPr lang="en-US" sz="750" b="1" dirty="0">
                <a:solidFill>
                  <a:srgbClr val="FF8A3D"/>
                </a:solidFill>
                <a:latin typeface="Arial" pitchFamily="34" charset="0"/>
                <a:ea typeface="Arial" pitchFamily="34" charset="-122"/>
                <a:cs typeface="Arial" pitchFamily="34" charset="-120"/>
              </a:rPr>
              <a:t>Reiniciar el servidor</a:t>
            </a:r>
            <a:endParaRPr lang="en-US" sz="750" dirty="0"/>
          </a:p>
        </p:txBody>
      </p:sp>
      <p:sp>
        <p:nvSpPr>
          <p:cNvPr id="20" name="Shape 18"/>
          <p:cNvSpPr/>
          <p:nvPr/>
        </p:nvSpPr>
        <p:spPr>
          <a:xfrm>
            <a:off x="5989320" y="4315968"/>
            <a:ext cx="1280160" cy="310896"/>
          </a:xfrm>
          <a:prstGeom prst="roundRect">
            <a:avLst>
              <a:gd name="adj" fmla="val 26471"/>
            </a:avLst>
          </a:prstGeom>
          <a:solidFill>
            <a:srgbClr val="20160E"/>
          </a:solidFill>
          <a:ln w="12700">
            <a:solidFill>
              <a:srgbClr val="FF8A3D"/>
            </a:solidFill>
            <a:prstDash val="solid"/>
          </a:ln>
        </p:spPr>
        <p:txBody>
          <a:bodyPr/>
          <a:lstStyle/>
          <a:p>
            <a:endParaRPr lang="es-CO"/>
          </a:p>
        </p:txBody>
      </p:sp>
      <p:sp>
        <p:nvSpPr>
          <p:cNvPr id="21" name="Text 19"/>
          <p:cNvSpPr txBox="1"/>
          <p:nvPr/>
        </p:nvSpPr>
        <p:spPr>
          <a:xfrm>
            <a:off x="5989320" y="4315968"/>
            <a:ext cx="1280160" cy="310896"/>
          </a:xfrm>
          <a:prstGeom prst="rect">
            <a:avLst/>
          </a:prstGeom>
          <a:noFill/>
          <a:ln/>
        </p:spPr>
        <p:txBody>
          <a:bodyPr wrap="square" lIns="0" tIns="0" rIns="0" bIns="0" rtlCol="0" anchor="ctr"/>
          <a:lstStyle/>
          <a:p>
            <a:pPr marL="0" indent="0" algn="ctr">
              <a:buNone/>
            </a:pPr>
            <a:r>
              <a:rPr lang="en-US" sz="750" b="1" dirty="0">
                <a:solidFill>
                  <a:srgbClr val="FF8A3D"/>
                </a:solidFill>
                <a:latin typeface="Arial" pitchFamily="34" charset="0"/>
                <a:ea typeface="Arial" pitchFamily="34" charset="-122"/>
                <a:cs typeface="Arial" pitchFamily="34" charset="-120"/>
              </a:rPr>
              <a:t>Ver GET en terminal</a:t>
            </a:r>
            <a:endParaRPr lang="en-US" sz="750" dirty="0"/>
          </a:p>
        </p:txBody>
      </p:sp>
      <p:sp>
        <p:nvSpPr>
          <p:cNvPr id="22" name="Shape 20"/>
          <p:cNvSpPr/>
          <p:nvPr/>
        </p:nvSpPr>
        <p:spPr>
          <a:xfrm>
            <a:off x="7360920" y="4315968"/>
            <a:ext cx="1280160" cy="310896"/>
          </a:xfrm>
          <a:prstGeom prst="roundRect">
            <a:avLst>
              <a:gd name="adj" fmla="val 26471"/>
            </a:avLst>
          </a:prstGeom>
          <a:solidFill>
            <a:srgbClr val="20160E"/>
          </a:solidFill>
          <a:ln w="12700">
            <a:solidFill>
              <a:srgbClr val="FF8A3D"/>
            </a:solidFill>
            <a:prstDash val="solid"/>
          </a:ln>
        </p:spPr>
        <p:txBody>
          <a:bodyPr/>
          <a:lstStyle/>
          <a:p>
            <a:endParaRPr lang="es-CO"/>
          </a:p>
        </p:txBody>
      </p:sp>
      <p:sp>
        <p:nvSpPr>
          <p:cNvPr id="23" name="Text 21"/>
          <p:cNvSpPr txBox="1"/>
          <p:nvPr/>
        </p:nvSpPr>
        <p:spPr>
          <a:xfrm>
            <a:off x="7360920" y="4315968"/>
            <a:ext cx="1280160" cy="310896"/>
          </a:xfrm>
          <a:prstGeom prst="rect">
            <a:avLst/>
          </a:prstGeom>
          <a:noFill/>
          <a:ln/>
        </p:spPr>
        <p:txBody>
          <a:bodyPr wrap="square" lIns="0" tIns="0" rIns="0" bIns="0" rtlCol="0" anchor="ctr"/>
          <a:lstStyle/>
          <a:p>
            <a:pPr marL="0" indent="0" algn="ctr">
              <a:buNone/>
            </a:pPr>
            <a:r>
              <a:rPr lang="en-US" sz="750" b="1" dirty="0">
                <a:solidFill>
                  <a:srgbClr val="FF8A3D"/>
                </a:solidFill>
                <a:latin typeface="Arial" pitchFamily="34" charset="0"/>
                <a:ea typeface="Arial" pitchFamily="34" charset="-122"/>
                <a:cs typeface="Arial" pitchFamily="34" charset="-120"/>
              </a:rPr>
              <a:t>Verificar estilos</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100A"/>
        </a:solidFill>
        <a:effectLst/>
      </p:bgPr>
    </p:bg>
    <p:spTree>
      <p:nvGrpSpPr>
        <p:cNvPr id="1" name="">
          <a:extLst>
            <a:ext uri="{FF2B5EF4-FFF2-40B4-BE49-F238E27FC236}">
              <a16:creationId xmlns:a16="http://schemas.microsoft.com/office/drawing/2014/main" id="{A8B3B6B2-8E59-E3C1-97F1-2253185323C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66BC0B7-3CBC-F01B-183C-E8662EB71EDF}"/>
              </a:ext>
            </a:extLst>
          </p:cNvPr>
          <p:cNvSpPr/>
          <p:nvPr/>
        </p:nvSpPr>
        <p:spPr>
          <a:xfrm>
            <a:off x="502920" y="365760"/>
            <a:ext cx="1264524" cy="228600"/>
          </a:xfrm>
          <a:prstGeom prst="roundRect">
            <a:avLst>
              <a:gd name="adj" fmla="val 48000"/>
            </a:avLst>
          </a:prstGeom>
          <a:solidFill>
            <a:srgbClr val="35210F"/>
          </a:solidFill>
          <a:ln w="9525">
            <a:solidFill>
              <a:srgbClr val="FF8A3D"/>
            </a:solidFill>
            <a:prstDash val="solid"/>
          </a:ln>
        </p:spPr>
        <p:txBody>
          <a:bodyPr/>
          <a:lstStyle/>
          <a:p>
            <a:endParaRPr lang="es-CO"/>
          </a:p>
        </p:txBody>
      </p:sp>
      <p:sp>
        <p:nvSpPr>
          <p:cNvPr id="3" name="Text 1">
            <a:extLst>
              <a:ext uri="{FF2B5EF4-FFF2-40B4-BE49-F238E27FC236}">
                <a16:creationId xmlns:a16="http://schemas.microsoft.com/office/drawing/2014/main" id="{BF59CFC1-37C6-C9C7-9785-01F3FA38A1F4}"/>
              </a:ext>
            </a:extLst>
          </p:cNvPr>
          <p:cNvSpPr txBox="1"/>
          <p:nvPr/>
        </p:nvSpPr>
        <p:spPr>
          <a:xfrm>
            <a:off x="502920" y="365760"/>
            <a:ext cx="1264524" cy="228600"/>
          </a:xfrm>
          <a:prstGeom prst="rect">
            <a:avLst/>
          </a:prstGeom>
          <a:noFill/>
          <a:ln/>
        </p:spPr>
        <p:txBody>
          <a:bodyPr wrap="square" lIns="0" tIns="0" rIns="0" bIns="0" rtlCol="0" anchor="ctr"/>
          <a:lstStyle/>
          <a:p>
            <a:pPr marL="0" indent="0" algn="ctr">
              <a:buNone/>
            </a:pPr>
            <a:r>
              <a:rPr lang="en-US" sz="850" b="1" dirty="0">
                <a:solidFill>
                  <a:srgbClr val="FF8A3D"/>
                </a:solidFill>
                <a:latin typeface="Arial" pitchFamily="34" charset="0"/>
                <a:ea typeface="Arial" pitchFamily="34" charset="-122"/>
                <a:cs typeface="Arial" pitchFamily="34" charset="-120"/>
              </a:rPr>
              <a:t>Tarea 2</a:t>
            </a:r>
            <a:endParaRPr lang="en-US" sz="850" dirty="0"/>
          </a:p>
        </p:txBody>
      </p:sp>
      <p:sp>
        <p:nvSpPr>
          <p:cNvPr id="4" name="Text 2">
            <a:extLst>
              <a:ext uri="{FF2B5EF4-FFF2-40B4-BE49-F238E27FC236}">
                <a16:creationId xmlns:a16="http://schemas.microsoft.com/office/drawing/2014/main" id="{A1F35F0D-95C7-1595-6F77-2DA67C8FBAA8}"/>
              </a:ext>
            </a:extLst>
          </p:cNvPr>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Aplicamos </a:t>
            </a:r>
            <a:r>
              <a:rPr lang="en-US" sz="2600" b="1" dirty="0" err="1">
                <a:solidFill>
                  <a:srgbClr val="FFFFFF"/>
                </a:solidFill>
                <a:latin typeface="Arial" pitchFamily="34" charset="0"/>
                <a:ea typeface="Arial" pitchFamily="34" charset="-122"/>
                <a:cs typeface="Arial" pitchFamily="34" charset="-120"/>
              </a:rPr>
              <a:t>estilos</a:t>
            </a:r>
            <a:r>
              <a:rPr lang="en-US" sz="2600" b="1" dirty="0">
                <a:solidFill>
                  <a:srgbClr val="FFFFFF"/>
                </a:solidFill>
                <a:latin typeface="Arial" pitchFamily="34" charset="0"/>
                <a:ea typeface="Arial" pitchFamily="34" charset="-122"/>
                <a:cs typeface="Arial" pitchFamily="34" charset="-120"/>
              </a:rPr>
              <a:t> a </a:t>
            </a:r>
            <a:r>
              <a:rPr lang="en-US" sz="2600" b="1" dirty="0" err="1">
                <a:solidFill>
                  <a:srgbClr val="FFFFFF"/>
                </a:solidFill>
                <a:latin typeface="Arial" pitchFamily="34" charset="0"/>
                <a:ea typeface="Arial" pitchFamily="34" charset="-122"/>
                <a:cs typeface="Arial" pitchFamily="34" charset="-120"/>
              </a:rPr>
              <a:t>cada</a:t>
            </a:r>
            <a:r>
              <a:rPr lang="en-US" sz="2600" b="1" dirty="0">
                <a:solidFill>
                  <a:srgbClr val="FFFFFF"/>
                </a:solidFill>
                <a:latin typeface="Arial" pitchFamily="34" charset="0"/>
                <a:ea typeface="Arial" pitchFamily="34" charset="-122"/>
                <a:cs typeface="Arial" pitchFamily="34" charset="-120"/>
              </a:rPr>
              <a:t> </a:t>
            </a:r>
            <a:r>
              <a:rPr lang="en-US" sz="2600" b="1" dirty="0" err="1">
                <a:solidFill>
                  <a:srgbClr val="FFFFFF"/>
                </a:solidFill>
                <a:latin typeface="Arial" pitchFamily="34" charset="0"/>
                <a:ea typeface="Arial" pitchFamily="34" charset="-122"/>
                <a:cs typeface="Arial" pitchFamily="34" charset="-120"/>
              </a:rPr>
              <a:t>ruta</a:t>
            </a:r>
            <a:r>
              <a:rPr lang="en-US" sz="2600" b="1" dirty="0">
                <a:solidFill>
                  <a:srgbClr val="FFFFFF"/>
                </a:solidFill>
                <a:latin typeface="Arial" pitchFamily="34" charset="0"/>
                <a:ea typeface="Arial" pitchFamily="34" charset="-122"/>
                <a:cs typeface="Arial" pitchFamily="34" charset="-120"/>
              </a:rPr>
              <a:t> del </a:t>
            </a:r>
            <a:r>
              <a:rPr lang="en-US" sz="2600" b="1" dirty="0" err="1">
                <a:solidFill>
                  <a:srgbClr val="FFFFFF"/>
                </a:solidFill>
                <a:latin typeface="Arial" pitchFamily="34" charset="0"/>
                <a:ea typeface="Arial" pitchFamily="34" charset="-122"/>
                <a:cs typeface="Arial" pitchFamily="34" charset="-120"/>
              </a:rPr>
              <a:t>servidor</a:t>
            </a:r>
            <a:endParaRPr lang="en-US" sz="2600" dirty="0"/>
          </a:p>
        </p:txBody>
      </p:sp>
      <p:sp>
        <p:nvSpPr>
          <p:cNvPr id="5" name="Text 3">
            <a:extLst>
              <a:ext uri="{FF2B5EF4-FFF2-40B4-BE49-F238E27FC236}">
                <a16:creationId xmlns:a16="http://schemas.microsoft.com/office/drawing/2014/main" id="{4A0A33CB-49EA-E386-B9A6-F5910B2D34FE}"/>
              </a:ext>
            </a:extLst>
          </p:cNvPr>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10 / 25</a:t>
            </a:r>
            <a:endParaRPr lang="en-US" sz="800" dirty="0"/>
          </a:p>
        </p:txBody>
      </p:sp>
    </p:spTree>
    <p:extLst>
      <p:ext uri="{BB962C8B-B14F-4D97-AF65-F5344CB8AC3E}">
        <p14:creationId xmlns:p14="http://schemas.microsoft.com/office/powerpoint/2010/main" val="1092181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1036015"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036015"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TRANSICIÓN</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La interfaz está lista, pero faltan los valores</a:t>
            </a:r>
            <a:endParaRPr lang="en-US" sz="23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11 / 25</a:t>
            </a:r>
            <a:endParaRPr lang="en-US" sz="800" dirty="0"/>
          </a:p>
        </p:txBody>
      </p:sp>
      <p:sp>
        <p:nvSpPr>
          <p:cNvPr id="6" name="Shape 4"/>
          <p:cNvSpPr/>
          <p:nvPr/>
        </p:nvSpPr>
        <p:spPr>
          <a:xfrm>
            <a:off x="502920" y="1280160"/>
            <a:ext cx="3977640" cy="1005840"/>
          </a:xfrm>
          <a:prstGeom prst="roundRect">
            <a:avLst>
              <a:gd name="adj" fmla="val 7273"/>
            </a:avLst>
          </a:prstGeom>
          <a:solidFill>
            <a:srgbClr val="070C14"/>
          </a:solidFill>
          <a:ln w="12700">
            <a:solidFill>
              <a:srgbClr val="2B3B52"/>
            </a:solidFill>
            <a:prstDash val="solid"/>
          </a:ln>
        </p:spPr>
        <p:txBody>
          <a:bodyPr/>
          <a:lstStyle/>
          <a:p>
            <a:endParaRPr lang="es-CO"/>
          </a:p>
        </p:txBody>
      </p:sp>
      <p:sp>
        <p:nvSpPr>
          <p:cNvPr id="7" name="Text 5"/>
          <p:cNvSpPr txBox="1"/>
          <p:nvPr/>
        </p:nvSpPr>
        <p:spPr>
          <a:xfrm>
            <a:off x="649224" y="1335024"/>
            <a:ext cx="3685032" cy="182880"/>
          </a:xfrm>
          <a:prstGeom prst="rect">
            <a:avLst/>
          </a:prstGeom>
          <a:noFill/>
          <a:ln/>
        </p:spPr>
        <p:txBody>
          <a:bodyPr wrap="square" lIns="0" tIns="0" rIns="0" bIns="0" rtlCol="0" anchor="ctr"/>
          <a:lstStyle/>
          <a:p>
            <a:pPr marL="0" indent="0">
              <a:buNone/>
            </a:pPr>
            <a:r>
              <a:rPr lang="en-US" sz="850" b="1" dirty="0">
                <a:solidFill>
                  <a:srgbClr val="6C7E96"/>
                </a:solidFill>
                <a:latin typeface="Courier New" pitchFamily="34" charset="0"/>
                <a:ea typeface="Courier New" pitchFamily="34" charset="-122"/>
                <a:cs typeface="Courier New" pitchFamily="34" charset="-120"/>
              </a:rPr>
              <a:t>consola</a:t>
            </a:r>
            <a:endParaRPr lang="en-US" sz="850" dirty="0"/>
          </a:p>
        </p:txBody>
      </p:sp>
      <p:sp>
        <p:nvSpPr>
          <p:cNvPr id="8" name="Text 6"/>
          <p:cNvSpPr txBox="1"/>
          <p:nvPr/>
        </p:nvSpPr>
        <p:spPr>
          <a:xfrm>
            <a:off x="649224" y="1554480"/>
            <a:ext cx="3685032" cy="676656"/>
          </a:xfrm>
          <a:prstGeom prst="rect">
            <a:avLst/>
          </a:prstGeom>
          <a:noFill/>
          <a:ln/>
        </p:spPr>
        <p:txBody>
          <a:bodyPr wrap="square" lIns="0" tIns="0" rIns="0" bIns="0" rtlCol="0" anchor="t"/>
          <a:lstStyle/>
          <a:p>
            <a:pPr marL="0" indent="0">
              <a:lnSpc>
                <a:spcPts val="1386"/>
              </a:lnSpc>
              <a:buNone/>
            </a:pPr>
            <a:r>
              <a:rPr lang="en-US" sz="1050" dirty="0">
                <a:solidFill>
                  <a:srgbClr val="3DDC97"/>
                </a:solidFill>
                <a:latin typeface="Courier New" pitchFamily="34" charset="0"/>
                <a:ea typeface="Courier New" pitchFamily="34" charset="-122"/>
                <a:cs typeface="Courier New" pitchFamily="34" charset="-120"/>
              </a:rPr>
              <a:t>Método: POST</a:t>
            </a:r>
            <a:endParaRPr lang="en-US" sz="1050" dirty="0"/>
          </a:p>
          <a:p>
            <a:pPr marL="0" indent="0">
              <a:lnSpc>
                <a:spcPts val="1386"/>
              </a:lnSpc>
              <a:buNone/>
            </a:pPr>
            <a:r>
              <a:rPr lang="en-US" sz="1050" dirty="0">
                <a:solidFill>
                  <a:srgbClr val="3DDC97"/>
                </a:solidFill>
                <a:latin typeface="Courier New" pitchFamily="34" charset="0"/>
                <a:ea typeface="Courier New" pitchFamily="34" charset="-122"/>
                <a:cs typeface="Courier New" pitchFamily="34" charset="-120"/>
              </a:rPr>
              <a:t>URL: /contacto</a:t>
            </a:r>
            <a:endParaRPr lang="en-US" sz="1050" dirty="0"/>
          </a:p>
        </p:txBody>
      </p:sp>
      <p:sp>
        <p:nvSpPr>
          <p:cNvPr id="9" name="Shape 7"/>
          <p:cNvSpPr/>
          <p:nvPr/>
        </p:nvSpPr>
        <p:spPr>
          <a:xfrm>
            <a:off x="4663440" y="1280160"/>
            <a:ext cx="3977640" cy="1005840"/>
          </a:xfrm>
          <a:prstGeom prst="roundRect">
            <a:avLst>
              <a:gd name="adj" fmla="val 7273"/>
            </a:avLst>
          </a:prstGeom>
          <a:solidFill>
            <a:srgbClr val="1A2434"/>
          </a:solidFill>
          <a:ln w="12700">
            <a:solidFill>
              <a:srgbClr val="56C7F2"/>
            </a:solidFill>
            <a:prstDash val="solid"/>
          </a:ln>
        </p:spPr>
        <p:txBody>
          <a:bodyPr/>
          <a:lstStyle/>
          <a:p>
            <a:endParaRPr lang="es-CO"/>
          </a:p>
        </p:txBody>
      </p:sp>
      <p:sp>
        <p:nvSpPr>
          <p:cNvPr id="10" name="Text 8"/>
          <p:cNvSpPr txBox="1"/>
          <p:nvPr/>
        </p:nvSpPr>
        <p:spPr>
          <a:xfrm>
            <a:off x="4864608" y="1371600"/>
            <a:ext cx="3566160" cy="201168"/>
          </a:xfrm>
          <a:prstGeom prst="rect">
            <a:avLst/>
          </a:prstGeom>
          <a:noFill/>
          <a:ln/>
        </p:spPr>
        <p:txBody>
          <a:bodyPr wrap="square" lIns="0" tIns="0" rIns="0" bIns="0" rtlCol="0" anchor="ctr"/>
          <a:lstStyle/>
          <a:p>
            <a:pPr marL="0" indent="0">
              <a:buNone/>
            </a:pPr>
            <a:r>
              <a:rPr lang="en-US" sz="1050" b="1" dirty="0">
                <a:solidFill>
                  <a:srgbClr val="56C7F2"/>
                </a:solidFill>
                <a:latin typeface="Arial" pitchFamily="34" charset="0"/>
                <a:ea typeface="Arial" pitchFamily="34" charset="-122"/>
                <a:cs typeface="Arial" pitchFamily="34" charset="-120"/>
              </a:rPr>
              <a:t>Lo que sí tenemos</a:t>
            </a:r>
            <a:endParaRPr lang="en-US" sz="1050" dirty="0"/>
          </a:p>
        </p:txBody>
      </p:sp>
      <p:sp>
        <p:nvSpPr>
          <p:cNvPr id="11" name="Text 9"/>
          <p:cNvSpPr txBox="1"/>
          <p:nvPr/>
        </p:nvSpPr>
        <p:spPr>
          <a:xfrm>
            <a:off x="4864608" y="1591056"/>
            <a:ext cx="3584448" cy="640080"/>
          </a:xfrm>
          <a:prstGeom prst="rect">
            <a:avLst/>
          </a:prstGeom>
          <a:noFill/>
          <a:ln/>
        </p:spPr>
        <p:txBody>
          <a:bodyPr wrap="square" lIns="0" tIns="0" rIns="0" bIns="0" rtlCol="0" anchor="t"/>
          <a:lstStyle/>
          <a:p>
            <a:pPr marL="0" indent="0">
              <a:buNone/>
            </a:pPr>
            <a:r>
              <a:rPr lang="en-US" sz="1000" dirty="0">
                <a:solidFill>
                  <a:srgbClr val="3DDC97"/>
                </a:solidFill>
                <a:latin typeface="Courier New" pitchFamily="34" charset="0"/>
                <a:ea typeface="Courier New" pitchFamily="34" charset="-122"/>
                <a:cs typeface="Courier New" pitchFamily="34" charset="-120"/>
              </a:rPr>
              <a:t>req.method</a:t>
            </a:r>
            <a:r>
              <a:rPr lang="en-US" sz="1000" dirty="0">
                <a:solidFill>
                  <a:srgbClr val="E8EEF6"/>
                </a:solidFill>
                <a:latin typeface="Calibri" pitchFamily="34" charset="0"/>
                <a:ea typeface="Calibri" pitchFamily="34" charset="-122"/>
                <a:cs typeface="Calibri" pitchFamily="34" charset="-120"/>
              </a:rPr>
              <a:t> contiene POST y </a:t>
            </a:r>
            <a:r>
              <a:rPr lang="en-US" sz="1000" dirty="0">
                <a:solidFill>
                  <a:srgbClr val="3DDC97"/>
                </a:solidFill>
                <a:latin typeface="Courier New" pitchFamily="34" charset="0"/>
                <a:ea typeface="Courier New" pitchFamily="34" charset="-122"/>
                <a:cs typeface="Courier New" pitchFamily="34" charset="-120"/>
              </a:rPr>
              <a:t>req.url</a:t>
            </a:r>
            <a:r>
              <a:rPr lang="en-US" sz="1000" dirty="0">
                <a:solidFill>
                  <a:srgbClr val="E8EEF6"/>
                </a:solidFill>
                <a:latin typeface="Calibri" pitchFamily="34" charset="0"/>
                <a:ea typeface="Calibri" pitchFamily="34" charset="-122"/>
                <a:cs typeface="Calibri" pitchFamily="34" charset="-120"/>
              </a:rPr>
              <a:t> contiene /contacto. Ninguna de las dos propiedades contiene nombre, correo ni mensaje.</a:t>
            </a:r>
            <a:endParaRPr lang="en-US" sz="1000" dirty="0"/>
          </a:p>
        </p:txBody>
      </p:sp>
      <p:sp>
        <p:nvSpPr>
          <p:cNvPr id="12" name="Shape 10"/>
          <p:cNvSpPr/>
          <p:nvPr/>
        </p:nvSpPr>
        <p:spPr>
          <a:xfrm>
            <a:off x="502920" y="2432304"/>
            <a:ext cx="3977640" cy="1005840"/>
          </a:xfrm>
          <a:prstGeom prst="roundRect">
            <a:avLst>
              <a:gd name="adj" fmla="val 7273"/>
            </a:avLst>
          </a:prstGeom>
          <a:solidFill>
            <a:srgbClr val="1A2434"/>
          </a:solidFill>
          <a:ln w="12700">
            <a:solidFill>
              <a:srgbClr val="FFB86C"/>
            </a:solidFill>
            <a:prstDash val="solid"/>
          </a:ln>
        </p:spPr>
        <p:txBody>
          <a:bodyPr/>
          <a:lstStyle/>
          <a:p>
            <a:endParaRPr lang="es-CO"/>
          </a:p>
        </p:txBody>
      </p:sp>
      <p:sp>
        <p:nvSpPr>
          <p:cNvPr id="13" name="Text 11"/>
          <p:cNvSpPr txBox="1"/>
          <p:nvPr/>
        </p:nvSpPr>
        <p:spPr>
          <a:xfrm>
            <a:off x="704088" y="2523744"/>
            <a:ext cx="3566160" cy="201168"/>
          </a:xfrm>
          <a:prstGeom prst="rect">
            <a:avLst/>
          </a:prstGeom>
          <a:noFill/>
          <a:ln/>
        </p:spPr>
        <p:txBody>
          <a:bodyPr wrap="square" lIns="0" tIns="0" rIns="0" bIns="0" rtlCol="0" anchor="ctr"/>
          <a:lstStyle/>
          <a:p>
            <a:pPr marL="0" indent="0">
              <a:buNone/>
            </a:pPr>
            <a:r>
              <a:rPr lang="en-US" sz="1050" b="1" dirty="0">
                <a:solidFill>
                  <a:srgbClr val="FFB86C"/>
                </a:solidFill>
                <a:latin typeface="Arial" pitchFamily="34" charset="0"/>
                <a:ea typeface="Arial" pitchFamily="34" charset="-122"/>
                <a:cs typeface="Arial" pitchFamily="34" charset="-120"/>
              </a:rPr>
              <a:t>Lo que el usuario escribió</a:t>
            </a:r>
            <a:endParaRPr lang="en-US" sz="1050" dirty="0"/>
          </a:p>
        </p:txBody>
      </p:sp>
      <p:sp>
        <p:nvSpPr>
          <p:cNvPr id="14" name="Text 12"/>
          <p:cNvSpPr txBox="1"/>
          <p:nvPr/>
        </p:nvSpPr>
        <p:spPr>
          <a:xfrm>
            <a:off x="704088" y="2761488"/>
            <a:ext cx="3584448" cy="566928"/>
          </a:xfrm>
          <a:prstGeom prst="rect">
            <a:avLst/>
          </a:prstGeom>
          <a:noFill/>
          <a:ln/>
        </p:spPr>
        <p:txBody>
          <a:bodyPr wrap="square" lIns="0" tIns="0" rIns="0" bIns="0" rtlCol="0" anchor="t"/>
          <a:lstStyle/>
          <a:p>
            <a:pPr marL="0" indent="0">
              <a:buNone/>
            </a:pPr>
            <a:r>
              <a:rPr lang="en-US" sz="900" dirty="0">
                <a:solidFill>
                  <a:srgbClr val="D7E1EE"/>
                </a:solidFill>
                <a:latin typeface="Courier New" pitchFamily="34" charset="0"/>
                <a:ea typeface="Courier New" pitchFamily="34" charset="-122"/>
                <a:cs typeface="Courier New" pitchFamily="34" charset="-120"/>
              </a:rPr>
              <a:t>Ana · ana@correo.com · Hola, quiero información sobre el curso.</a:t>
            </a:r>
            <a:endParaRPr lang="en-US" sz="900" dirty="0"/>
          </a:p>
        </p:txBody>
      </p:sp>
      <p:sp>
        <p:nvSpPr>
          <p:cNvPr id="15" name="Shape 13"/>
          <p:cNvSpPr/>
          <p:nvPr/>
        </p:nvSpPr>
        <p:spPr>
          <a:xfrm>
            <a:off x="4663440" y="2432304"/>
            <a:ext cx="3977640" cy="1005840"/>
          </a:xfrm>
          <a:prstGeom prst="roundRect">
            <a:avLst>
              <a:gd name="adj" fmla="val 7273"/>
            </a:avLst>
          </a:prstGeom>
          <a:solidFill>
            <a:srgbClr val="1A2434"/>
          </a:solidFill>
          <a:ln w="12700">
            <a:solidFill>
              <a:srgbClr val="2B3B52"/>
            </a:solidFill>
            <a:prstDash val="solid"/>
          </a:ln>
        </p:spPr>
        <p:txBody>
          <a:bodyPr/>
          <a:lstStyle/>
          <a:p>
            <a:endParaRPr lang="es-CO"/>
          </a:p>
        </p:txBody>
      </p:sp>
      <p:sp>
        <p:nvSpPr>
          <p:cNvPr id="16" name="Text 14"/>
          <p:cNvSpPr txBox="1"/>
          <p:nvPr/>
        </p:nvSpPr>
        <p:spPr>
          <a:xfrm>
            <a:off x="4864608" y="2523744"/>
            <a:ext cx="3566160" cy="201168"/>
          </a:xfrm>
          <a:prstGeom prst="rect">
            <a:avLst/>
          </a:prstGeom>
          <a:noFill/>
          <a:ln/>
        </p:spPr>
        <p:txBody>
          <a:bodyPr wrap="square" lIns="0" tIns="0" rIns="0" bIns="0" rtlCol="0" anchor="ctr"/>
          <a:lstStyle/>
          <a:p>
            <a:pPr marL="0" indent="0">
              <a:buNone/>
            </a:pPr>
            <a:r>
              <a:rPr lang="en-US" sz="1050" b="1" dirty="0">
                <a:solidFill>
                  <a:srgbClr val="93A5BD"/>
                </a:solidFill>
                <a:latin typeface="Arial" pitchFamily="34" charset="0"/>
                <a:ea typeface="Arial" pitchFamily="34" charset="-122"/>
                <a:cs typeface="Arial" pitchFamily="34" charset="-120"/>
              </a:rPr>
              <a:t>¿Dónde viajan esos valores?</a:t>
            </a:r>
            <a:endParaRPr lang="en-US" sz="1050" dirty="0"/>
          </a:p>
        </p:txBody>
      </p:sp>
      <p:sp>
        <p:nvSpPr>
          <p:cNvPr id="17" name="Text 15"/>
          <p:cNvSpPr txBox="1"/>
          <p:nvPr/>
        </p:nvSpPr>
        <p:spPr>
          <a:xfrm>
            <a:off x="4864608" y="2761488"/>
            <a:ext cx="3584448" cy="566928"/>
          </a:xfrm>
          <a:prstGeom prst="rect">
            <a:avLst/>
          </a:prstGeom>
          <a:noFill/>
          <a:ln/>
        </p:spPr>
        <p:txBody>
          <a:bodyPr wrap="square" lIns="0" tIns="0" rIns="0" bIns="0" rtlCol="0" anchor="t"/>
          <a:lstStyle/>
          <a:p>
            <a:pPr marL="0" indent="0">
              <a:buNone/>
            </a:pPr>
            <a:r>
              <a:rPr lang="en-US" sz="1000" dirty="0">
                <a:solidFill>
                  <a:srgbClr val="E8EEF6"/>
                </a:solidFill>
                <a:latin typeface="Calibri" pitchFamily="34" charset="0"/>
                <a:ea typeface="Calibri" pitchFamily="34" charset="-122"/>
                <a:cs typeface="Calibri" pitchFamily="34" charset="-120"/>
              </a:rPr>
              <a:t>No están en la línea de solicitud ni en la ruta. Viajan en una parte de la petición que todavía no hemos leído.</a:t>
            </a:r>
            <a:endParaRPr lang="en-US" sz="1000" dirty="0"/>
          </a:p>
        </p:txBody>
      </p:sp>
      <p:sp>
        <p:nvSpPr>
          <p:cNvPr id="18" name="Shape 16"/>
          <p:cNvSpPr/>
          <p:nvPr/>
        </p:nvSpPr>
        <p:spPr>
          <a:xfrm>
            <a:off x="502920" y="3584448"/>
            <a:ext cx="8138160" cy="658368"/>
          </a:xfrm>
          <a:prstGeom prst="roundRect">
            <a:avLst>
              <a:gd name="adj" fmla="val 11111"/>
            </a:avLst>
          </a:prstGeom>
          <a:solidFill>
            <a:srgbClr val="1A2434"/>
          </a:solidFill>
          <a:ln w="12700">
            <a:solidFill>
              <a:srgbClr val="3DDC97"/>
            </a:solidFill>
            <a:prstDash val="solid"/>
          </a:ln>
        </p:spPr>
        <p:txBody>
          <a:bodyPr/>
          <a:lstStyle/>
          <a:p>
            <a:endParaRPr lang="es-CO"/>
          </a:p>
        </p:txBody>
      </p:sp>
      <p:sp>
        <p:nvSpPr>
          <p:cNvPr id="19" name="Text 17"/>
          <p:cNvSpPr txBox="1"/>
          <p:nvPr/>
        </p:nvSpPr>
        <p:spPr>
          <a:xfrm>
            <a:off x="731520" y="3584448"/>
            <a:ext cx="7680960" cy="658368"/>
          </a:xfrm>
          <a:prstGeom prst="rect">
            <a:avLst/>
          </a:prstGeom>
          <a:noFill/>
          <a:ln/>
        </p:spPr>
        <p:txBody>
          <a:bodyPr wrap="square" lIns="0" tIns="0" rIns="0" bIns="0" rtlCol="0" anchor="ctr"/>
          <a:lstStyle/>
          <a:p>
            <a:pPr marL="0" indent="0">
              <a:buNone/>
            </a:pPr>
            <a:r>
              <a:rPr lang="en-US" sz="1050" b="1" dirty="0">
                <a:solidFill>
                  <a:srgbClr val="3DDC97"/>
                </a:solidFill>
                <a:latin typeface="Arial" pitchFamily="34" charset="0"/>
                <a:ea typeface="Arial" pitchFamily="34" charset="-122"/>
                <a:cs typeface="Arial" pitchFamily="34" charset="-120"/>
              </a:rPr>
              <a:t>Respuesta   </a:t>
            </a:r>
            <a:r>
              <a:rPr lang="en-US" sz="1150" dirty="0">
                <a:solidFill>
                  <a:srgbClr val="E8EEF6"/>
                </a:solidFill>
                <a:latin typeface="Calibri" pitchFamily="34" charset="0"/>
                <a:ea typeface="Calibri" pitchFamily="34" charset="-122"/>
                <a:cs typeface="Calibri" pitchFamily="34" charset="-120"/>
              </a:rPr>
              <a:t>Los datos escritos en el formulario viajan en el cuerpo de la petición HTTP.</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883676"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883676"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CONCEPTO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r>
              <a:rPr lang="es-CO" sz="2300" b="1" dirty="0">
                <a:solidFill>
                  <a:schemeClr val="bg1"/>
                </a:solidFill>
                <a:latin typeface="Arial" panose="020B0604020202020204" pitchFamily="34" charset="0"/>
                <a:cs typeface="Arial" panose="020B0604020202020204" pitchFamily="34" charset="0"/>
              </a:rPr>
              <a:t>Los datos del formulario viajan en el cuerpo de POST</a:t>
            </a:r>
            <a:endParaRPr lang="en-US" sz="2300" b="1" dirty="0">
              <a:solidFill>
                <a:schemeClr val="bg1"/>
              </a:solidFill>
              <a:latin typeface="Arial" panose="020B0604020202020204" pitchFamily="34" charset="0"/>
              <a:cs typeface="Arial" panose="020B0604020202020204" pitchFamily="34" charset="0"/>
            </a:endParaRPr>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12 / 25</a:t>
            </a:r>
            <a:endParaRPr lang="en-US" sz="800" dirty="0"/>
          </a:p>
        </p:txBody>
      </p:sp>
      <p:sp>
        <p:nvSpPr>
          <p:cNvPr id="6" name="Shape 4"/>
          <p:cNvSpPr/>
          <p:nvPr/>
        </p:nvSpPr>
        <p:spPr>
          <a:xfrm>
            <a:off x="502920" y="1280160"/>
            <a:ext cx="4480560" cy="1920240"/>
          </a:xfrm>
          <a:prstGeom prst="roundRect">
            <a:avLst>
              <a:gd name="adj" fmla="val 3810"/>
            </a:avLst>
          </a:prstGeom>
          <a:solidFill>
            <a:srgbClr val="070C14"/>
          </a:solidFill>
          <a:ln w="12700">
            <a:solidFill>
              <a:srgbClr val="2B3B52"/>
            </a:solidFill>
            <a:prstDash val="solid"/>
          </a:ln>
        </p:spPr>
        <p:txBody>
          <a:bodyPr/>
          <a:lstStyle/>
          <a:p>
            <a:endParaRPr lang="es-CO"/>
          </a:p>
        </p:txBody>
      </p:sp>
      <p:sp>
        <p:nvSpPr>
          <p:cNvPr id="8" name="Text 6"/>
          <p:cNvSpPr txBox="1"/>
          <p:nvPr/>
        </p:nvSpPr>
        <p:spPr>
          <a:xfrm>
            <a:off x="649224" y="1456944"/>
            <a:ext cx="4187952" cy="1591056"/>
          </a:xfrm>
          <a:prstGeom prst="rect">
            <a:avLst/>
          </a:prstGeom>
          <a:noFill/>
          <a:ln/>
        </p:spPr>
        <p:txBody>
          <a:bodyPr wrap="square" lIns="0" tIns="0" rIns="0" bIns="0" rtlCol="0" anchor="t"/>
          <a:lstStyle/>
          <a:p>
            <a:pPr>
              <a:lnSpc>
                <a:spcPts val="1188"/>
              </a:lnSpc>
            </a:pPr>
            <a:r>
              <a:rPr lang="es-ES" sz="900" dirty="0">
                <a:solidFill>
                  <a:srgbClr val="3DDC97"/>
                </a:solidFill>
                <a:latin typeface="Courier New" pitchFamily="34" charset="0"/>
                <a:ea typeface="Courier New" pitchFamily="34" charset="-122"/>
                <a:cs typeface="Courier New" pitchFamily="34" charset="-120"/>
              </a:rPr>
              <a:t>Formulario HTML</a:t>
            </a:r>
          </a:p>
          <a:p>
            <a:pPr>
              <a:lnSpc>
                <a:spcPts val="1188"/>
              </a:lnSpc>
            </a:pPr>
            <a:r>
              <a:rPr lang="es-ES" sz="900" dirty="0">
                <a:solidFill>
                  <a:srgbClr val="3DDC97"/>
                </a:solidFill>
                <a:latin typeface="Courier New" pitchFamily="34" charset="0"/>
                <a:ea typeface="Courier New" pitchFamily="34" charset="-122"/>
                <a:cs typeface="Courier New" pitchFamily="34" charset="-120"/>
              </a:rPr>
              <a:t>nombre = Ana</a:t>
            </a:r>
          </a:p>
          <a:p>
            <a:pPr>
              <a:lnSpc>
                <a:spcPts val="1188"/>
              </a:lnSpc>
            </a:pPr>
            <a:r>
              <a:rPr lang="es-ES" sz="900" dirty="0">
                <a:solidFill>
                  <a:srgbClr val="3DDC97"/>
                </a:solidFill>
                <a:latin typeface="Courier New" pitchFamily="34" charset="0"/>
                <a:ea typeface="Courier New" pitchFamily="34" charset="-122"/>
                <a:cs typeface="Courier New" pitchFamily="34" charset="-120"/>
              </a:rPr>
              <a:t>correo = ana@correo.com</a:t>
            </a:r>
          </a:p>
          <a:p>
            <a:pPr>
              <a:lnSpc>
                <a:spcPts val="1188"/>
              </a:lnSpc>
            </a:pPr>
            <a:r>
              <a:rPr lang="es-ES" sz="900" dirty="0">
                <a:solidFill>
                  <a:srgbClr val="3DDC97"/>
                </a:solidFill>
                <a:latin typeface="Courier New" pitchFamily="34" charset="0"/>
                <a:ea typeface="Courier New" pitchFamily="34" charset="-122"/>
                <a:cs typeface="Courier New" pitchFamily="34" charset="-120"/>
              </a:rPr>
              <a:t>mensaje = Hola</a:t>
            </a:r>
          </a:p>
          <a:p>
            <a:pPr>
              <a:lnSpc>
                <a:spcPts val="1188"/>
              </a:lnSpc>
            </a:pPr>
            <a:r>
              <a:rPr lang="es-ES" sz="900" dirty="0">
                <a:solidFill>
                  <a:srgbClr val="3DDC97"/>
                </a:solidFill>
                <a:latin typeface="Courier New" pitchFamily="34" charset="0"/>
                <a:ea typeface="Courier New" pitchFamily="34" charset="-122"/>
                <a:cs typeface="Courier New" pitchFamily="34" charset="-120"/>
              </a:rPr>
              <a:t>        ↓</a:t>
            </a:r>
          </a:p>
          <a:p>
            <a:pPr>
              <a:lnSpc>
                <a:spcPts val="1188"/>
              </a:lnSpc>
            </a:pPr>
            <a:r>
              <a:rPr lang="es-ES" sz="900" dirty="0">
                <a:solidFill>
                  <a:srgbClr val="3DDC97"/>
                </a:solidFill>
                <a:latin typeface="Courier New" pitchFamily="34" charset="0"/>
                <a:ea typeface="Courier New" pitchFamily="34" charset="-122"/>
                <a:cs typeface="Courier New" pitchFamily="34" charset="-120"/>
              </a:rPr>
              <a:t>POST /contacto</a:t>
            </a:r>
          </a:p>
          <a:p>
            <a:pPr>
              <a:lnSpc>
                <a:spcPts val="1188"/>
              </a:lnSpc>
            </a:pPr>
            <a:r>
              <a:rPr lang="es-ES" sz="900" dirty="0">
                <a:solidFill>
                  <a:srgbClr val="3DDC97"/>
                </a:solidFill>
                <a:latin typeface="Courier New" pitchFamily="34" charset="0"/>
                <a:ea typeface="Courier New" pitchFamily="34" charset="-122"/>
                <a:cs typeface="Courier New" pitchFamily="34" charset="-120"/>
              </a:rPr>
              <a:t>        ↓</a:t>
            </a:r>
          </a:p>
          <a:p>
            <a:pPr>
              <a:lnSpc>
                <a:spcPts val="1188"/>
              </a:lnSpc>
            </a:pPr>
            <a:r>
              <a:rPr lang="es-ES" sz="900" dirty="0">
                <a:solidFill>
                  <a:srgbClr val="3DDC97"/>
                </a:solidFill>
                <a:latin typeface="Courier New" pitchFamily="34" charset="0"/>
                <a:ea typeface="Courier New" pitchFamily="34" charset="-122"/>
                <a:cs typeface="Courier New" pitchFamily="34" charset="-120"/>
              </a:rPr>
              <a:t>Cuerpo de la petición</a:t>
            </a:r>
          </a:p>
          <a:p>
            <a:pPr>
              <a:lnSpc>
                <a:spcPts val="1188"/>
              </a:lnSpc>
            </a:pPr>
            <a:r>
              <a:rPr lang="es-ES" sz="900" dirty="0">
                <a:solidFill>
                  <a:srgbClr val="3DDC97"/>
                </a:solidFill>
                <a:latin typeface="Courier New" pitchFamily="34" charset="0"/>
                <a:ea typeface="Courier New" pitchFamily="34" charset="-122"/>
                <a:cs typeface="Courier New" pitchFamily="34" charset="-120"/>
              </a:rPr>
              <a:t>nombre=</a:t>
            </a:r>
            <a:r>
              <a:rPr lang="es-ES" sz="900" dirty="0" err="1">
                <a:solidFill>
                  <a:srgbClr val="3DDC97"/>
                </a:solidFill>
                <a:latin typeface="Courier New" pitchFamily="34" charset="0"/>
                <a:ea typeface="Courier New" pitchFamily="34" charset="-122"/>
                <a:cs typeface="Courier New" pitchFamily="34" charset="-120"/>
              </a:rPr>
              <a:t>Ana&amp;correo</a:t>
            </a:r>
            <a:r>
              <a:rPr lang="es-ES" sz="900" dirty="0">
                <a:solidFill>
                  <a:srgbClr val="3DDC97"/>
                </a:solidFill>
                <a:latin typeface="Courier New" pitchFamily="34" charset="0"/>
                <a:ea typeface="Courier New" pitchFamily="34" charset="-122"/>
                <a:cs typeface="Courier New" pitchFamily="34" charset="-120"/>
              </a:rPr>
              <a:t>=ana%40correo.com&amp;mensaje=Hola</a:t>
            </a:r>
          </a:p>
          <a:p>
            <a:pPr>
              <a:lnSpc>
                <a:spcPts val="1188"/>
              </a:lnSpc>
            </a:pPr>
            <a:r>
              <a:rPr lang="es-ES" sz="900" dirty="0">
                <a:solidFill>
                  <a:srgbClr val="3DDC97"/>
                </a:solidFill>
                <a:latin typeface="Courier New" pitchFamily="34" charset="0"/>
                <a:ea typeface="Courier New" pitchFamily="34" charset="-122"/>
                <a:cs typeface="Courier New" pitchFamily="34" charset="-120"/>
              </a:rPr>
              <a:t>        ↓</a:t>
            </a:r>
          </a:p>
          <a:p>
            <a:pPr>
              <a:lnSpc>
                <a:spcPts val="1188"/>
              </a:lnSpc>
            </a:pPr>
            <a:r>
              <a:rPr lang="es-ES" sz="900" dirty="0">
                <a:solidFill>
                  <a:srgbClr val="3DDC97"/>
                </a:solidFill>
                <a:latin typeface="Courier New" pitchFamily="34" charset="0"/>
                <a:ea typeface="Courier New" pitchFamily="34" charset="-122"/>
                <a:cs typeface="Courier New" pitchFamily="34" charset="-120"/>
              </a:rPr>
              <a:t>Node.js</a:t>
            </a:r>
            <a:endParaRPr lang="en-US" sz="900" dirty="0"/>
          </a:p>
        </p:txBody>
      </p:sp>
      <p:sp>
        <p:nvSpPr>
          <p:cNvPr id="21" name="Shape 19"/>
          <p:cNvSpPr/>
          <p:nvPr/>
        </p:nvSpPr>
        <p:spPr>
          <a:xfrm>
            <a:off x="502920" y="3310128"/>
            <a:ext cx="8138160" cy="859536"/>
          </a:xfrm>
          <a:prstGeom prst="roundRect">
            <a:avLst>
              <a:gd name="adj" fmla="val 8511"/>
            </a:avLst>
          </a:prstGeom>
          <a:solidFill>
            <a:srgbClr val="112A38"/>
          </a:solidFill>
          <a:ln w="12700">
            <a:solidFill>
              <a:srgbClr val="56C7F2"/>
            </a:solidFill>
            <a:prstDash val="solid"/>
          </a:ln>
        </p:spPr>
        <p:txBody>
          <a:bodyPr/>
          <a:lstStyle/>
          <a:p>
            <a:endParaRPr lang="es-CO"/>
          </a:p>
        </p:txBody>
      </p:sp>
      <p:sp>
        <p:nvSpPr>
          <p:cNvPr id="22" name="Text 20"/>
          <p:cNvSpPr txBox="1"/>
          <p:nvPr/>
        </p:nvSpPr>
        <p:spPr>
          <a:xfrm>
            <a:off x="731520" y="3401568"/>
            <a:ext cx="3657600" cy="219456"/>
          </a:xfrm>
          <a:prstGeom prst="rect">
            <a:avLst/>
          </a:prstGeom>
          <a:noFill/>
          <a:ln/>
        </p:spPr>
        <p:txBody>
          <a:bodyPr wrap="square" lIns="0" tIns="0" rIns="0" bIns="0" rtlCol="0" anchor="ctr"/>
          <a:lstStyle/>
          <a:p>
            <a:r>
              <a:rPr lang="es-CO" sz="1000" b="1" dirty="0">
                <a:solidFill>
                  <a:srgbClr val="3DDC97"/>
                </a:solidFill>
                <a:latin typeface="Courier New" panose="02070309020205020404" pitchFamily="49" charset="0"/>
                <a:cs typeface="Courier New" panose="02070309020205020404" pitchFamily="49" charset="0"/>
              </a:rPr>
              <a:t>¿Cómo accedemos al cuerpo en Node.js?</a:t>
            </a:r>
            <a:endParaRPr lang="en-US" sz="1000" b="1" dirty="0">
              <a:solidFill>
                <a:srgbClr val="3DDC97"/>
              </a:solidFill>
              <a:latin typeface="Courier New" panose="02070309020205020404" pitchFamily="49" charset="0"/>
              <a:cs typeface="Courier New" panose="02070309020205020404" pitchFamily="49" charset="0"/>
            </a:endParaRPr>
          </a:p>
        </p:txBody>
      </p:sp>
      <p:sp>
        <p:nvSpPr>
          <p:cNvPr id="23" name="Text 21"/>
          <p:cNvSpPr txBox="1"/>
          <p:nvPr/>
        </p:nvSpPr>
        <p:spPr>
          <a:xfrm>
            <a:off x="731520" y="3639312"/>
            <a:ext cx="7680960" cy="457200"/>
          </a:xfrm>
          <a:prstGeom prst="rect">
            <a:avLst/>
          </a:prstGeom>
          <a:noFill/>
          <a:ln/>
        </p:spPr>
        <p:txBody>
          <a:bodyPr wrap="square" lIns="0" tIns="0" rIns="0" bIns="0" rtlCol="0" anchor="t"/>
          <a:lstStyle/>
          <a:p>
            <a:r>
              <a:rPr lang="en-US" sz="1000" dirty="0" err="1">
                <a:solidFill>
                  <a:srgbClr val="E8EEF6"/>
                </a:solidFill>
                <a:latin typeface="Calibri" pitchFamily="34" charset="0"/>
                <a:ea typeface="Calibri" pitchFamily="34" charset="-122"/>
                <a:cs typeface="Calibri" pitchFamily="34" charset="-120"/>
              </a:rPr>
              <a:t>req.on</a:t>
            </a:r>
            <a:r>
              <a:rPr lang="en-US" sz="1000" dirty="0">
                <a:solidFill>
                  <a:srgbClr val="E8EEF6"/>
                </a:solidFill>
                <a:latin typeface="Calibri" pitchFamily="34" charset="0"/>
                <a:ea typeface="Calibri" pitchFamily="34" charset="-122"/>
                <a:cs typeface="Calibri" pitchFamily="34" charset="-120"/>
              </a:rPr>
              <a:t>('data', ...);</a:t>
            </a:r>
          </a:p>
          <a:p>
            <a:r>
              <a:rPr lang="en-US" sz="1000" dirty="0" err="1">
                <a:solidFill>
                  <a:srgbClr val="E8EEF6"/>
                </a:solidFill>
                <a:latin typeface="Calibri" pitchFamily="34" charset="0"/>
                <a:ea typeface="Calibri" pitchFamily="34" charset="-122"/>
                <a:cs typeface="Calibri" pitchFamily="34" charset="-120"/>
              </a:rPr>
              <a:t>req.on</a:t>
            </a:r>
            <a:r>
              <a:rPr lang="en-US" sz="1000" dirty="0">
                <a:solidFill>
                  <a:srgbClr val="E8EEF6"/>
                </a:solidFill>
                <a:latin typeface="Calibri" pitchFamily="34" charset="0"/>
                <a:ea typeface="Calibri" pitchFamily="34" charset="-122"/>
                <a:cs typeface="Calibri" pitchFamily="34" charset="-120"/>
              </a:rPr>
              <a:t>('end', ...);</a:t>
            </a:r>
            <a:endParaRPr lang="en-US" sz="1000" dirty="0"/>
          </a:p>
        </p:txBody>
      </p:sp>
      <p:sp>
        <p:nvSpPr>
          <p:cNvPr id="25" name="Shape 4">
            <a:extLst>
              <a:ext uri="{FF2B5EF4-FFF2-40B4-BE49-F238E27FC236}">
                <a16:creationId xmlns:a16="http://schemas.microsoft.com/office/drawing/2014/main" id="{1F065C30-ADF5-D096-064A-DF4F4568B68C}"/>
              </a:ext>
            </a:extLst>
          </p:cNvPr>
          <p:cNvSpPr/>
          <p:nvPr/>
        </p:nvSpPr>
        <p:spPr>
          <a:xfrm>
            <a:off x="5129785" y="1280160"/>
            <a:ext cx="3483864" cy="1920240"/>
          </a:xfrm>
          <a:prstGeom prst="roundRect">
            <a:avLst>
              <a:gd name="adj" fmla="val 3810"/>
            </a:avLst>
          </a:prstGeom>
          <a:solidFill>
            <a:srgbClr val="070C14"/>
          </a:solidFill>
          <a:ln w="12700">
            <a:solidFill>
              <a:srgbClr val="2B3B52"/>
            </a:solidFill>
            <a:prstDash val="solid"/>
          </a:ln>
        </p:spPr>
        <p:txBody>
          <a:bodyPr/>
          <a:lstStyle/>
          <a:p>
            <a:endParaRPr lang="es-CO" dirty="0"/>
          </a:p>
        </p:txBody>
      </p:sp>
      <p:sp>
        <p:nvSpPr>
          <p:cNvPr id="27" name="Text 6">
            <a:extLst>
              <a:ext uri="{FF2B5EF4-FFF2-40B4-BE49-F238E27FC236}">
                <a16:creationId xmlns:a16="http://schemas.microsoft.com/office/drawing/2014/main" id="{F34C498F-B2E1-2728-B755-10A844AB367A}"/>
              </a:ext>
            </a:extLst>
          </p:cNvPr>
          <p:cNvSpPr txBox="1"/>
          <p:nvPr/>
        </p:nvSpPr>
        <p:spPr>
          <a:xfrm>
            <a:off x="5273041" y="1436370"/>
            <a:ext cx="3221735" cy="1591056"/>
          </a:xfrm>
          <a:prstGeom prst="rect">
            <a:avLst/>
          </a:prstGeom>
          <a:noFill/>
          <a:ln/>
        </p:spPr>
        <p:txBody>
          <a:bodyPr wrap="square" lIns="0" tIns="0" rIns="0" bIns="0" rtlCol="0" anchor="t"/>
          <a:lstStyle/>
          <a:p>
            <a:pPr>
              <a:lnSpc>
                <a:spcPct val="100000"/>
              </a:lnSpc>
            </a:pPr>
            <a:r>
              <a:rPr lang="es-CO" sz="1000" dirty="0">
                <a:solidFill>
                  <a:schemeClr val="bg1"/>
                </a:solidFill>
                <a:latin typeface="Courier New" panose="02070309020205020404" pitchFamily="49" charset="0"/>
                <a:cs typeface="Courier New" panose="02070309020205020404" pitchFamily="49" charset="0"/>
              </a:rPr>
              <a:t>data recibe los fragmentos del cuerpo y </a:t>
            </a:r>
            <a:r>
              <a:rPr lang="es-CO" sz="1000" dirty="0" err="1">
                <a:solidFill>
                  <a:schemeClr val="bg1"/>
                </a:solidFill>
                <a:latin typeface="Courier New" panose="02070309020205020404" pitchFamily="49" charset="0"/>
                <a:cs typeface="Courier New" panose="02070309020205020404" pitchFamily="49" charset="0"/>
              </a:rPr>
              <a:t>end</a:t>
            </a:r>
            <a:r>
              <a:rPr lang="es-CO" sz="1000" dirty="0">
                <a:solidFill>
                  <a:schemeClr val="bg1"/>
                </a:solidFill>
                <a:latin typeface="Courier New" panose="02070309020205020404" pitchFamily="49" charset="0"/>
                <a:cs typeface="Courier New" panose="02070309020205020404" pitchFamily="49" charset="0"/>
              </a:rPr>
              <a:t> indica que terminó la recepción.</a:t>
            </a:r>
          </a:p>
          <a:p>
            <a:pPr>
              <a:lnSpc>
                <a:spcPct val="100000"/>
              </a:lnSpc>
            </a:pPr>
            <a:endParaRPr lang="es-CO" sz="1000" dirty="0">
              <a:solidFill>
                <a:schemeClr val="bg1"/>
              </a:solidFill>
              <a:latin typeface="Courier New" panose="02070309020205020404" pitchFamily="49" charset="0"/>
              <a:cs typeface="Courier New" panose="02070309020205020404" pitchFamily="49" charset="0"/>
            </a:endParaRPr>
          </a:p>
          <a:p>
            <a:pPr>
              <a:lnSpc>
                <a:spcPct val="100000"/>
              </a:lnSpc>
            </a:pPr>
            <a:r>
              <a:rPr lang="es-CO" sz="1000" dirty="0">
                <a:solidFill>
                  <a:schemeClr val="bg1"/>
                </a:solidFill>
                <a:latin typeface="Courier New" panose="02070309020205020404" pitchFamily="49" charset="0"/>
                <a:cs typeface="Courier New" panose="02070309020205020404" pitchFamily="49" charset="0"/>
              </a:rPr>
              <a:t>El formulario convierte los campos en pares de nombre y valor, y los envía dentro del cuerpo de una petición POST. Node.js recibe esa información mediante </a:t>
            </a:r>
            <a:r>
              <a:rPr lang="es-CO" sz="1000" dirty="0" err="1">
                <a:solidFill>
                  <a:schemeClr val="bg1"/>
                </a:solidFill>
                <a:latin typeface="Courier New" panose="02070309020205020404" pitchFamily="49" charset="0"/>
                <a:cs typeface="Courier New" panose="02070309020205020404" pitchFamily="49" charset="0"/>
              </a:rPr>
              <a:t>req</a:t>
            </a:r>
            <a:r>
              <a:rPr lang="es-CO" sz="1000" dirty="0">
                <a:solidFill>
                  <a:schemeClr val="bg1"/>
                </a:solidFill>
                <a:latin typeface="Courier New" panose="02070309020205020404" pitchFamily="49" charset="0"/>
                <a:cs typeface="Courier New" panose="02070309020205020404" pitchFamily="49" charset="0"/>
              </a:rPr>
              <a:t>, pero debemos leerla utilizando los eventos data y </a:t>
            </a:r>
            <a:r>
              <a:rPr lang="es-CO" sz="1000" dirty="0" err="1">
                <a:solidFill>
                  <a:schemeClr val="bg1"/>
                </a:solidFill>
                <a:latin typeface="Courier New" panose="02070309020205020404" pitchFamily="49" charset="0"/>
                <a:cs typeface="Courier New" panose="02070309020205020404" pitchFamily="49" charset="0"/>
              </a:rPr>
              <a:t>end</a:t>
            </a:r>
            <a:r>
              <a:rPr lang="es-CO" sz="1000" dirty="0">
                <a:solidFill>
                  <a:schemeClr val="bg1"/>
                </a:solidFill>
                <a:latin typeface="Courier New" panose="02070309020205020404" pitchFamily="49" charset="0"/>
                <a:cs typeface="Courier New" panose="02070309020205020404" pitchFamily="49" charset="0"/>
              </a:rPr>
              <a:t>.</a:t>
            </a:r>
            <a:endParaRPr lang="en-US" sz="1000" dirty="0">
              <a:solidFill>
                <a:schemeClr val="bg1"/>
              </a:solidFill>
              <a:latin typeface="Courier New" panose="02070309020205020404" pitchFamily="49" charset="0"/>
              <a:cs typeface="Courier New" panose="02070309020205020404" pitchFamily="49"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883676"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883676"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CONCEPTO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Node.js recibe el cuerpo como un flujo de datos</a:t>
            </a:r>
            <a:endParaRPr lang="en-US" sz="23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13 / 25</a:t>
            </a:r>
            <a:endParaRPr lang="en-US" sz="800" dirty="0"/>
          </a:p>
        </p:txBody>
      </p:sp>
      <p:sp>
        <p:nvSpPr>
          <p:cNvPr id="6" name="Shape 4"/>
          <p:cNvSpPr/>
          <p:nvPr/>
        </p:nvSpPr>
        <p:spPr>
          <a:xfrm>
            <a:off x="502920" y="1280160"/>
            <a:ext cx="8138160" cy="658368"/>
          </a:xfrm>
          <a:prstGeom prst="roundRect">
            <a:avLst>
              <a:gd name="adj" fmla="val 11111"/>
            </a:avLst>
          </a:prstGeom>
          <a:solidFill>
            <a:srgbClr val="1A2434"/>
          </a:solidFill>
          <a:ln w="12700">
            <a:solidFill>
              <a:srgbClr val="2B3B52"/>
            </a:solidFill>
            <a:prstDash val="solid"/>
          </a:ln>
        </p:spPr>
        <p:txBody>
          <a:bodyPr/>
          <a:lstStyle/>
          <a:p>
            <a:endParaRPr lang="es-CO"/>
          </a:p>
        </p:txBody>
      </p:sp>
      <p:sp>
        <p:nvSpPr>
          <p:cNvPr id="7" name="Text 5"/>
          <p:cNvSpPr txBox="1"/>
          <p:nvPr/>
        </p:nvSpPr>
        <p:spPr>
          <a:xfrm>
            <a:off x="777240" y="1280160"/>
            <a:ext cx="7589520" cy="658368"/>
          </a:xfrm>
          <a:prstGeom prst="rect">
            <a:avLst/>
          </a:prstGeom>
          <a:noFill/>
          <a:ln/>
        </p:spPr>
        <p:txBody>
          <a:bodyPr wrap="square" lIns="0" tIns="0" rIns="0" bIns="0" rtlCol="0" anchor="ctr"/>
          <a:lstStyle/>
          <a:p>
            <a:pPr marL="0" indent="0">
              <a:buNone/>
            </a:pPr>
            <a:r>
              <a:rPr lang="en-US" sz="1200" b="1" dirty="0">
                <a:solidFill>
                  <a:srgbClr val="56C7F2"/>
                </a:solidFill>
                <a:latin typeface="Courier New" pitchFamily="34" charset="0"/>
                <a:ea typeface="Courier New" pitchFamily="34" charset="-122"/>
                <a:cs typeface="Courier New" pitchFamily="34" charset="-120"/>
              </a:rPr>
              <a:t>req</a:t>
            </a:r>
            <a:r>
              <a:rPr lang="en-US" sz="1200" dirty="0">
                <a:solidFill>
                  <a:srgbClr val="E8EEF6"/>
                </a:solidFill>
                <a:latin typeface="Calibri" pitchFamily="34" charset="0"/>
                <a:ea typeface="Calibri" pitchFamily="34" charset="-122"/>
                <a:cs typeface="Calibri" pitchFamily="34" charset="-120"/>
              </a:rPr>
              <a:t> representa la petición recibida. El cuerpo no está disponible de inmediato: llega de manera progresiva y puede dividirse en varios fragmentos.</a:t>
            </a:r>
            <a:endParaRPr lang="en-US" sz="1200" dirty="0"/>
          </a:p>
        </p:txBody>
      </p:sp>
      <p:sp>
        <p:nvSpPr>
          <p:cNvPr id="8" name="Text 6"/>
          <p:cNvSpPr txBox="1"/>
          <p:nvPr/>
        </p:nvSpPr>
        <p:spPr>
          <a:xfrm>
            <a:off x="502920" y="2084832"/>
            <a:ext cx="8138160" cy="182880"/>
          </a:xfrm>
          <a:prstGeom prst="rect">
            <a:avLst/>
          </a:prstGeom>
          <a:noFill/>
          <a:ln/>
        </p:spPr>
        <p:txBody>
          <a:bodyPr wrap="square" lIns="0" tIns="0" rIns="0" bIns="0" rtlCol="0" anchor="ctr"/>
          <a:lstStyle/>
          <a:p>
            <a:pPr marL="0" indent="0">
              <a:buNone/>
            </a:pPr>
            <a:r>
              <a:rPr lang="en-US" sz="900" b="1" dirty="0">
                <a:solidFill>
                  <a:srgbClr val="6C7E96"/>
                </a:solidFill>
                <a:latin typeface="Arial" pitchFamily="34" charset="0"/>
                <a:ea typeface="Arial" pitchFamily="34" charset="-122"/>
                <a:cs typeface="Arial" pitchFamily="34" charset="-120"/>
              </a:rPr>
              <a:t>Recepción del cuerpo en el servidor</a:t>
            </a:r>
            <a:endParaRPr lang="en-US" sz="900" dirty="0"/>
          </a:p>
        </p:txBody>
      </p:sp>
      <p:sp>
        <p:nvSpPr>
          <p:cNvPr id="9" name="Shape 7"/>
          <p:cNvSpPr/>
          <p:nvPr/>
        </p:nvSpPr>
        <p:spPr>
          <a:xfrm>
            <a:off x="502920" y="2322576"/>
            <a:ext cx="1437437" cy="420624"/>
          </a:xfrm>
          <a:prstGeom prst="roundRect">
            <a:avLst>
              <a:gd name="adj" fmla="val 19565"/>
            </a:avLst>
          </a:prstGeom>
          <a:solidFill>
            <a:srgbClr val="1A2434"/>
          </a:solidFill>
          <a:ln w="12700">
            <a:solidFill>
              <a:srgbClr val="56C7F2"/>
            </a:solidFill>
            <a:prstDash val="solid"/>
          </a:ln>
        </p:spPr>
        <p:txBody>
          <a:bodyPr/>
          <a:lstStyle/>
          <a:p>
            <a:endParaRPr lang="es-CO"/>
          </a:p>
        </p:txBody>
      </p:sp>
      <p:sp>
        <p:nvSpPr>
          <p:cNvPr id="10" name="Text 8"/>
          <p:cNvSpPr txBox="1"/>
          <p:nvPr/>
        </p:nvSpPr>
        <p:spPr>
          <a:xfrm>
            <a:off x="502920" y="2322576"/>
            <a:ext cx="1437437" cy="420624"/>
          </a:xfrm>
          <a:prstGeom prst="rect">
            <a:avLst/>
          </a:prstGeom>
          <a:noFill/>
          <a:ln/>
        </p:spPr>
        <p:txBody>
          <a:bodyPr wrap="square" lIns="0" tIns="0" rIns="0" bIns="0" rtlCol="0" anchor="ctr"/>
          <a:lstStyle/>
          <a:p>
            <a:pPr marL="0" indent="0" algn="ctr">
              <a:buNone/>
            </a:pPr>
            <a:r>
              <a:rPr lang="en-US" sz="850" b="1" dirty="0">
                <a:solidFill>
                  <a:srgbClr val="56C7F2"/>
                </a:solidFill>
                <a:latin typeface="Arial" pitchFamily="34" charset="0"/>
                <a:ea typeface="Arial" pitchFamily="34" charset="-122"/>
                <a:cs typeface="Arial" pitchFamily="34" charset="-120"/>
              </a:rPr>
              <a:t>fragmento 1</a:t>
            </a:r>
            <a:endParaRPr lang="en-US" sz="850" dirty="0"/>
          </a:p>
        </p:txBody>
      </p:sp>
      <p:sp>
        <p:nvSpPr>
          <p:cNvPr id="11" name="Shape 9"/>
          <p:cNvSpPr/>
          <p:nvPr/>
        </p:nvSpPr>
        <p:spPr>
          <a:xfrm>
            <a:off x="2004365" y="2532888"/>
            <a:ext cx="109728" cy="0"/>
          </a:xfrm>
          <a:prstGeom prst="line">
            <a:avLst/>
          </a:prstGeom>
          <a:noFill/>
          <a:ln w="12700">
            <a:solidFill>
              <a:srgbClr val="3DDC97"/>
            </a:solidFill>
            <a:prstDash val="solid"/>
            <a:tailEnd type="triangle"/>
          </a:ln>
        </p:spPr>
        <p:txBody>
          <a:bodyPr/>
          <a:lstStyle/>
          <a:p>
            <a:endParaRPr lang="es-CO"/>
          </a:p>
        </p:txBody>
      </p:sp>
      <p:sp>
        <p:nvSpPr>
          <p:cNvPr id="12" name="Shape 10"/>
          <p:cNvSpPr/>
          <p:nvPr/>
        </p:nvSpPr>
        <p:spPr>
          <a:xfrm>
            <a:off x="2178101" y="2322576"/>
            <a:ext cx="1437437" cy="420624"/>
          </a:xfrm>
          <a:prstGeom prst="roundRect">
            <a:avLst>
              <a:gd name="adj" fmla="val 19565"/>
            </a:avLst>
          </a:prstGeom>
          <a:solidFill>
            <a:srgbClr val="1A2434"/>
          </a:solidFill>
          <a:ln w="12700">
            <a:solidFill>
              <a:srgbClr val="56C7F2"/>
            </a:solidFill>
            <a:prstDash val="solid"/>
          </a:ln>
        </p:spPr>
        <p:txBody>
          <a:bodyPr/>
          <a:lstStyle/>
          <a:p>
            <a:endParaRPr lang="es-CO"/>
          </a:p>
        </p:txBody>
      </p:sp>
      <p:sp>
        <p:nvSpPr>
          <p:cNvPr id="13" name="Text 11"/>
          <p:cNvSpPr txBox="1"/>
          <p:nvPr/>
        </p:nvSpPr>
        <p:spPr>
          <a:xfrm>
            <a:off x="2178101" y="2322576"/>
            <a:ext cx="1437437" cy="420624"/>
          </a:xfrm>
          <a:prstGeom prst="rect">
            <a:avLst/>
          </a:prstGeom>
          <a:noFill/>
          <a:ln/>
        </p:spPr>
        <p:txBody>
          <a:bodyPr wrap="square" lIns="0" tIns="0" rIns="0" bIns="0" rtlCol="0" anchor="ctr"/>
          <a:lstStyle/>
          <a:p>
            <a:pPr marL="0" indent="0" algn="ctr">
              <a:buNone/>
            </a:pPr>
            <a:r>
              <a:rPr lang="en-US" sz="850" b="1" dirty="0">
                <a:solidFill>
                  <a:srgbClr val="56C7F2"/>
                </a:solidFill>
                <a:latin typeface="Arial" pitchFamily="34" charset="0"/>
                <a:ea typeface="Arial" pitchFamily="34" charset="-122"/>
                <a:cs typeface="Arial" pitchFamily="34" charset="-120"/>
              </a:rPr>
              <a:t>fragmento 2</a:t>
            </a:r>
            <a:endParaRPr lang="en-US" sz="850" dirty="0"/>
          </a:p>
        </p:txBody>
      </p:sp>
      <p:sp>
        <p:nvSpPr>
          <p:cNvPr id="14" name="Shape 12"/>
          <p:cNvSpPr/>
          <p:nvPr/>
        </p:nvSpPr>
        <p:spPr>
          <a:xfrm>
            <a:off x="3679546" y="2532888"/>
            <a:ext cx="109728" cy="0"/>
          </a:xfrm>
          <a:prstGeom prst="line">
            <a:avLst/>
          </a:prstGeom>
          <a:noFill/>
          <a:ln w="12700">
            <a:solidFill>
              <a:srgbClr val="3DDC97"/>
            </a:solidFill>
            <a:prstDash val="solid"/>
            <a:tailEnd type="triangle"/>
          </a:ln>
        </p:spPr>
        <p:txBody>
          <a:bodyPr/>
          <a:lstStyle/>
          <a:p>
            <a:endParaRPr lang="es-CO"/>
          </a:p>
        </p:txBody>
      </p:sp>
      <p:sp>
        <p:nvSpPr>
          <p:cNvPr id="15" name="Shape 13"/>
          <p:cNvSpPr/>
          <p:nvPr/>
        </p:nvSpPr>
        <p:spPr>
          <a:xfrm>
            <a:off x="3853282" y="2322576"/>
            <a:ext cx="1437437" cy="420624"/>
          </a:xfrm>
          <a:prstGeom prst="roundRect">
            <a:avLst>
              <a:gd name="adj" fmla="val 19565"/>
            </a:avLst>
          </a:prstGeom>
          <a:solidFill>
            <a:srgbClr val="1A2434"/>
          </a:solidFill>
          <a:ln w="12700">
            <a:solidFill>
              <a:srgbClr val="56C7F2"/>
            </a:solidFill>
            <a:prstDash val="solid"/>
          </a:ln>
        </p:spPr>
        <p:txBody>
          <a:bodyPr/>
          <a:lstStyle/>
          <a:p>
            <a:endParaRPr lang="es-CO"/>
          </a:p>
        </p:txBody>
      </p:sp>
      <p:sp>
        <p:nvSpPr>
          <p:cNvPr id="16" name="Text 14"/>
          <p:cNvSpPr txBox="1"/>
          <p:nvPr/>
        </p:nvSpPr>
        <p:spPr>
          <a:xfrm>
            <a:off x="3853282" y="2322576"/>
            <a:ext cx="1437437" cy="420624"/>
          </a:xfrm>
          <a:prstGeom prst="rect">
            <a:avLst/>
          </a:prstGeom>
          <a:noFill/>
          <a:ln/>
        </p:spPr>
        <p:txBody>
          <a:bodyPr wrap="square" lIns="0" tIns="0" rIns="0" bIns="0" rtlCol="0" anchor="ctr"/>
          <a:lstStyle/>
          <a:p>
            <a:pPr marL="0" indent="0" algn="ctr">
              <a:buNone/>
            </a:pPr>
            <a:r>
              <a:rPr lang="en-US" sz="850" b="1" dirty="0">
                <a:solidFill>
                  <a:srgbClr val="56C7F2"/>
                </a:solidFill>
                <a:latin typeface="Arial" pitchFamily="34" charset="0"/>
                <a:ea typeface="Arial" pitchFamily="34" charset="-122"/>
                <a:cs typeface="Arial" pitchFamily="34" charset="-120"/>
              </a:rPr>
              <a:t>fragmento 3</a:t>
            </a:r>
            <a:endParaRPr lang="en-US" sz="850" dirty="0"/>
          </a:p>
        </p:txBody>
      </p:sp>
      <p:sp>
        <p:nvSpPr>
          <p:cNvPr id="17" name="Shape 15"/>
          <p:cNvSpPr/>
          <p:nvPr/>
        </p:nvSpPr>
        <p:spPr>
          <a:xfrm>
            <a:off x="5354726" y="2532888"/>
            <a:ext cx="109728" cy="0"/>
          </a:xfrm>
          <a:prstGeom prst="line">
            <a:avLst/>
          </a:prstGeom>
          <a:noFill/>
          <a:ln w="12700">
            <a:solidFill>
              <a:srgbClr val="3DDC97"/>
            </a:solidFill>
            <a:prstDash val="solid"/>
            <a:tailEnd type="triangle"/>
          </a:ln>
        </p:spPr>
        <p:txBody>
          <a:bodyPr/>
          <a:lstStyle/>
          <a:p>
            <a:endParaRPr lang="es-CO"/>
          </a:p>
        </p:txBody>
      </p:sp>
      <p:sp>
        <p:nvSpPr>
          <p:cNvPr id="18" name="Shape 16"/>
          <p:cNvSpPr/>
          <p:nvPr/>
        </p:nvSpPr>
        <p:spPr>
          <a:xfrm>
            <a:off x="5528462" y="2322576"/>
            <a:ext cx="1437437" cy="420624"/>
          </a:xfrm>
          <a:prstGeom prst="roundRect">
            <a:avLst>
              <a:gd name="adj" fmla="val 19565"/>
            </a:avLst>
          </a:prstGeom>
          <a:solidFill>
            <a:srgbClr val="1A2434"/>
          </a:solidFill>
          <a:ln w="12700">
            <a:solidFill>
              <a:srgbClr val="3DDC97"/>
            </a:solidFill>
            <a:prstDash val="solid"/>
          </a:ln>
        </p:spPr>
        <p:txBody>
          <a:bodyPr/>
          <a:lstStyle/>
          <a:p>
            <a:endParaRPr lang="es-CO"/>
          </a:p>
        </p:txBody>
      </p:sp>
      <p:sp>
        <p:nvSpPr>
          <p:cNvPr id="19" name="Text 17"/>
          <p:cNvSpPr txBox="1"/>
          <p:nvPr/>
        </p:nvSpPr>
        <p:spPr>
          <a:xfrm>
            <a:off x="5528462" y="2322576"/>
            <a:ext cx="1437437" cy="420624"/>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evento end</a:t>
            </a:r>
            <a:endParaRPr lang="en-US" sz="850" dirty="0"/>
          </a:p>
        </p:txBody>
      </p:sp>
      <p:sp>
        <p:nvSpPr>
          <p:cNvPr id="20" name="Shape 18"/>
          <p:cNvSpPr/>
          <p:nvPr/>
        </p:nvSpPr>
        <p:spPr>
          <a:xfrm>
            <a:off x="7029907" y="2532888"/>
            <a:ext cx="109728" cy="0"/>
          </a:xfrm>
          <a:prstGeom prst="line">
            <a:avLst/>
          </a:prstGeom>
          <a:noFill/>
          <a:ln w="12700">
            <a:solidFill>
              <a:srgbClr val="3DDC97"/>
            </a:solidFill>
            <a:prstDash val="solid"/>
            <a:tailEnd type="triangle"/>
          </a:ln>
        </p:spPr>
        <p:txBody>
          <a:bodyPr/>
          <a:lstStyle/>
          <a:p>
            <a:endParaRPr lang="es-CO"/>
          </a:p>
        </p:txBody>
      </p:sp>
      <p:sp>
        <p:nvSpPr>
          <p:cNvPr id="21" name="Shape 19"/>
          <p:cNvSpPr/>
          <p:nvPr/>
        </p:nvSpPr>
        <p:spPr>
          <a:xfrm>
            <a:off x="7203643" y="2322576"/>
            <a:ext cx="1437437" cy="420624"/>
          </a:xfrm>
          <a:prstGeom prst="roundRect">
            <a:avLst>
              <a:gd name="adj" fmla="val 19565"/>
            </a:avLst>
          </a:prstGeom>
          <a:solidFill>
            <a:srgbClr val="1A2434"/>
          </a:solidFill>
          <a:ln w="12700">
            <a:solidFill>
              <a:srgbClr val="3DDC97"/>
            </a:solidFill>
            <a:prstDash val="solid"/>
          </a:ln>
        </p:spPr>
        <p:txBody>
          <a:bodyPr/>
          <a:lstStyle/>
          <a:p>
            <a:endParaRPr lang="es-CO"/>
          </a:p>
        </p:txBody>
      </p:sp>
      <p:sp>
        <p:nvSpPr>
          <p:cNvPr id="22" name="Text 20"/>
          <p:cNvSpPr txBox="1"/>
          <p:nvPr/>
        </p:nvSpPr>
        <p:spPr>
          <a:xfrm>
            <a:off x="7203643" y="2322576"/>
            <a:ext cx="1437437" cy="420624"/>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cuerpo completo</a:t>
            </a:r>
            <a:endParaRPr lang="en-US" sz="850" dirty="0"/>
          </a:p>
        </p:txBody>
      </p:sp>
      <p:sp>
        <p:nvSpPr>
          <p:cNvPr id="23" name="Shape 21"/>
          <p:cNvSpPr/>
          <p:nvPr/>
        </p:nvSpPr>
        <p:spPr>
          <a:xfrm>
            <a:off x="502920" y="2980944"/>
            <a:ext cx="2615184" cy="1042416"/>
          </a:xfrm>
          <a:prstGeom prst="roundRect">
            <a:avLst>
              <a:gd name="adj" fmla="val 7018"/>
            </a:avLst>
          </a:prstGeom>
          <a:solidFill>
            <a:srgbClr val="1A2434"/>
          </a:solidFill>
          <a:ln w="12700">
            <a:solidFill>
              <a:srgbClr val="56C7F2"/>
            </a:solidFill>
            <a:prstDash val="solid"/>
          </a:ln>
        </p:spPr>
        <p:txBody>
          <a:bodyPr/>
          <a:lstStyle/>
          <a:p>
            <a:endParaRPr lang="es-CO"/>
          </a:p>
        </p:txBody>
      </p:sp>
      <p:sp>
        <p:nvSpPr>
          <p:cNvPr id="24" name="Text 22"/>
          <p:cNvSpPr txBox="1"/>
          <p:nvPr/>
        </p:nvSpPr>
        <p:spPr>
          <a:xfrm>
            <a:off x="704088" y="3108960"/>
            <a:ext cx="2212848" cy="201168"/>
          </a:xfrm>
          <a:prstGeom prst="rect">
            <a:avLst/>
          </a:prstGeom>
          <a:noFill/>
          <a:ln/>
        </p:spPr>
        <p:txBody>
          <a:bodyPr wrap="square" lIns="0" tIns="0" rIns="0" bIns="0" rtlCol="0" anchor="ctr"/>
          <a:lstStyle/>
          <a:p>
            <a:pPr marL="0" indent="0">
              <a:buNone/>
            </a:pPr>
            <a:r>
              <a:rPr lang="en-US" sz="1050" b="1" dirty="0">
                <a:solidFill>
                  <a:srgbClr val="56C7F2"/>
                </a:solidFill>
                <a:latin typeface="Arial" pitchFamily="34" charset="0"/>
                <a:ea typeface="Arial" pitchFamily="34" charset="-122"/>
                <a:cs typeface="Arial" pitchFamily="34" charset="-120"/>
              </a:rPr>
              <a:t>evento data</a:t>
            </a:r>
            <a:endParaRPr lang="en-US" sz="1050" dirty="0"/>
          </a:p>
        </p:txBody>
      </p:sp>
      <p:sp>
        <p:nvSpPr>
          <p:cNvPr id="25" name="Text 23"/>
          <p:cNvSpPr txBox="1"/>
          <p:nvPr/>
        </p:nvSpPr>
        <p:spPr>
          <a:xfrm>
            <a:off x="704088" y="3346704"/>
            <a:ext cx="2231136" cy="585216"/>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Se produce cada vez que llega un fragmento. Entrega esa porción del cuerpo, no el cuerpo completo.</a:t>
            </a:r>
            <a:endParaRPr lang="en-US" sz="950" dirty="0"/>
          </a:p>
        </p:txBody>
      </p:sp>
      <p:sp>
        <p:nvSpPr>
          <p:cNvPr id="26" name="Shape 24"/>
          <p:cNvSpPr/>
          <p:nvPr/>
        </p:nvSpPr>
        <p:spPr>
          <a:xfrm>
            <a:off x="3264408" y="2980944"/>
            <a:ext cx="2615184" cy="1042416"/>
          </a:xfrm>
          <a:prstGeom prst="roundRect">
            <a:avLst>
              <a:gd name="adj" fmla="val 7018"/>
            </a:avLst>
          </a:prstGeom>
          <a:solidFill>
            <a:srgbClr val="1A2434"/>
          </a:solidFill>
          <a:ln w="12700">
            <a:solidFill>
              <a:srgbClr val="3DDC97"/>
            </a:solidFill>
            <a:prstDash val="solid"/>
          </a:ln>
        </p:spPr>
        <p:txBody>
          <a:bodyPr/>
          <a:lstStyle/>
          <a:p>
            <a:endParaRPr lang="es-CO"/>
          </a:p>
        </p:txBody>
      </p:sp>
      <p:sp>
        <p:nvSpPr>
          <p:cNvPr id="27" name="Text 25"/>
          <p:cNvSpPr txBox="1"/>
          <p:nvPr/>
        </p:nvSpPr>
        <p:spPr>
          <a:xfrm>
            <a:off x="3465576" y="3108960"/>
            <a:ext cx="2212848" cy="201168"/>
          </a:xfrm>
          <a:prstGeom prst="rect">
            <a:avLst/>
          </a:prstGeom>
          <a:noFill/>
          <a:ln/>
        </p:spPr>
        <p:txBody>
          <a:bodyPr wrap="square" lIns="0" tIns="0" rIns="0" bIns="0" rtlCol="0" anchor="ctr"/>
          <a:lstStyle/>
          <a:p>
            <a:pPr marL="0" indent="0">
              <a:buNone/>
            </a:pPr>
            <a:r>
              <a:rPr lang="en-US" sz="1050" b="1" dirty="0">
                <a:solidFill>
                  <a:srgbClr val="3DDC97"/>
                </a:solidFill>
                <a:latin typeface="Arial" pitchFamily="34" charset="0"/>
                <a:ea typeface="Arial" pitchFamily="34" charset="-122"/>
                <a:cs typeface="Arial" pitchFamily="34" charset="-120"/>
              </a:rPr>
              <a:t>evento end</a:t>
            </a:r>
            <a:endParaRPr lang="en-US" sz="1050" dirty="0"/>
          </a:p>
        </p:txBody>
      </p:sp>
      <p:sp>
        <p:nvSpPr>
          <p:cNvPr id="28" name="Text 26"/>
          <p:cNvSpPr txBox="1"/>
          <p:nvPr/>
        </p:nvSpPr>
        <p:spPr>
          <a:xfrm>
            <a:off x="3465576" y="3346704"/>
            <a:ext cx="2231136" cy="585216"/>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Se produce una sola vez, cuando la recepción termina. A partir de ahí el cuerpo ya puede interpretarse.</a:t>
            </a:r>
            <a:endParaRPr lang="en-US" sz="950" dirty="0"/>
          </a:p>
        </p:txBody>
      </p:sp>
      <p:sp>
        <p:nvSpPr>
          <p:cNvPr id="29" name="Shape 27"/>
          <p:cNvSpPr/>
          <p:nvPr/>
        </p:nvSpPr>
        <p:spPr>
          <a:xfrm>
            <a:off x="6025896" y="2980944"/>
            <a:ext cx="2615184" cy="1042416"/>
          </a:xfrm>
          <a:prstGeom prst="roundRect">
            <a:avLst>
              <a:gd name="adj" fmla="val 7018"/>
            </a:avLst>
          </a:prstGeom>
          <a:solidFill>
            <a:srgbClr val="1A2434"/>
          </a:solidFill>
          <a:ln w="12700">
            <a:solidFill>
              <a:srgbClr val="FFB86C"/>
            </a:solidFill>
            <a:prstDash val="solid"/>
          </a:ln>
        </p:spPr>
        <p:txBody>
          <a:bodyPr/>
          <a:lstStyle/>
          <a:p>
            <a:endParaRPr lang="es-CO"/>
          </a:p>
        </p:txBody>
      </p:sp>
      <p:sp>
        <p:nvSpPr>
          <p:cNvPr id="30" name="Text 28"/>
          <p:cNvSpPr txBox="1"/>
          <p:nvPr/>
        </p:nvSpPr>
        <p:spPr>
          <a:xfrm>
            <a:off x="6227064" y="3108960"/>
            <a:ext cx="2212848" cy="201168"/>
          </a:xfrm>
          <a:prstGeom prst="rect">
            <a:avLst/>
          </a:prstGeom>
          <a:noFill/>
          <a:ln/>
        </p:spPr>
        <p:txBody>
          <a:bodyPr wrap="square" lIns="0" tIns="0" rIns="0" bIns="0" rtlCol="0" anchor="ctr"/>
          <a:lstStyle/>
          <a:p>
            <a:pPr marL="0" indent="0">
              <a:buNone/>
            </a:pPr>
            <a:r>
              <a:rPr lang="en-US" sz="1050" b="1" dirty="0">
                <a:solidFill>
                  <a:srgbClr val="FFB86C"/>
                </a:solidFill>
                <a:latin typeface="Arial" pitchFamily="34" charset="0"/>
                <a:ea typeface="Arial" pitchFamily="34" charset="-122"/>
                <a:cs typeface="Arial" pitchFamily="34" charset="-120"/>
              </a:rPr>
              <a:t>Concatenación</a:t>
            </a:r>
            <a:endParaRPr lang="en-US" sz="1050" dirty="0"/>
          </a:p>
        </p:txBody>
      </p:sp>
      <p:sp>
        <p:nvSpPr>
          <p:cNvPr id="31" name="Text 29"/>
          <p:cNvSpPr txBox="1"/>
          <p:nvPr/>
        </p:nvSpPr>
        <p:spPr>
          <a:xfrm>
            <a:off x="6227064" y="3346704"/>
            <a:ext cx="2231136" cy="585216"/>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Los fragmentos se acumulan en una variable de texto hasta que se produce end.</a:t>
            </a:r>
            <a:endParaRPr lang="en-US" sz="950" dirty="0"/>
          </a:p>
        </p:txBody>
      </p:sp>
      <p:sp>
        <p:nvSpPr>
          <p:cNvPr id="32" name="Text 30"/>
          <p:cNvSpPr txBox="1"/>
          <p:nvPr/>
        </p:nvSpPr>
        <p:spPr>
          <a:xfrm>
            <a:off x="502920" y="4133088"/>
            <a:ext cx="8138160" cy="310896"/>
          </a:xfrm>
          <a:prstGeom prst="rect">
            <a:avLst/>
          </a:prstGeom>
          <a:noFill/>
          <a:ln/>
        </p:spPr>
        <p:txBody>
          <a:bodyPr wrap="square" lIns="0" tIns="0" rIns="0" bIns="0" rtlCol="0" anchor="ctr"/>
          <a:lstStyle/>
          <a:p>
            <a:r>
              <a:rPr lang="es-CO" sz="1000" i="1" dirty="0">
                <a:solidFill>
                  <a:schemeClr val="bg2">
                    <a:lumMod val="90000"/>
                  </a:schemeClr>
                </a:solidFill>
              </a:rPr>
              <a:t>El cuerpo no necesariamente llega completo en un solo momento. Node.js lo recibe como un flujo. Cada vez que llega una parte, se ejecuta el evento data y acumulamos ese fragmento. Cuando ya no quedan más datos, se ejecuta </a:t>
            </a:r>
            <a:r>
              <a:rPr lang="es-CO" sz="1000" i="1" dirty="0" err="1">
                <a:solidFill>
                  <a:schemeClr val="bg2">
                    <a:lumMod val="90000"/>
                  </a:schemeClr>
                </a:solidFill>
              </a:rPr>
              <a:t>end</a:t>
            </a:r>
            <a:r>
              <a:rPr lang="es-CO" sz="1000" i="1" dirty="0">
                <a:solidFill>
                  <a:schemeClr val="bg2">
                    <a:lumMod val="90000"/>
                  </a:schemeClr>
                </a:solidFill>
              </a:rPr>
              <a:t>. Solo entonces tenemos el cuerpo completo y podemos interpretarlo</a:t>
            </a:r>
            <a:r>
              <a:rPr lang="en-US" sz="1000" i="1" dirty="0">
                <a:solidFill>
                  <a:schemeClr val="bg2">
                    <a:lumMod val="90000"/>
                  </a:schemeClr>
                </a:solidFill>
                <a:ea typeface="Calibri" pitchFamily="34" charset="-122"/>
                <a:cs typeface="Calibri" pitchFamily="34" charset="-120"/>
              </a:rPr>
              <a:t>.</a:t>
            </a:r>
            <a:endParaRPr lang="en-US" sz="1000" i="1" dirty="0">
              <a:solidFill>
                <a:schemeClr val="bg2">
                  <a:lumMod val="90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77724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777240"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CÓDIGO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Reconstruimos el cuerpo de la petición</a:t>
            </a:r>
            <a:endParaRPr lang="en-US" sz="26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14 / 25</a:t>
            </a:r>
            <a:endParaRPr lang="en-US" sz="800" dirty="0"/>
          </a:p>
        </p:txBody>
      </p:sp>
      <p:sp>
        <p:nvSpPr>
          <p:cNvPr id="6" name="Shape 4"/>
          <p:cNvSpPr/>
          <p:nvPr/>
        </p:nvSpPr>
        <p:spPr>
          <a:xfrm>
            <a:off x="502920" y="1243584"/>
            <a:ext cx="4846320" cy="2615184"/>
          </a:xfrm>
          <a:prstGeom prst="roundRect">
            <a:avLst>
              <a:gd name="adj" fmla="val 2797"/>
            </a:avLst>
          </a:prstGeom>
          <a:solidFill>
            <a:srgbClr val="070C14"/>
          </a:solidFill>
          <a:ln w="12700">
            <a:solidFill>
              <a:srgbClr val="2B3B52"/>
            </a:solidFill>
            <a:prstDash val="solid"/>
          </a:ln>
        </p:spPr>
        <p:txBody>
          <a:bodyPr/>
          <a:lstStyle/>
          <a:p>
            <a:endParaRPr lang="es-CO"/>
          </a:p>
        </p:txBody>
      </p:sp>
      <p:sp>
        <p:nvSpPr>
          <p:cNvPr id="7" name="Text 5"/>
          <p:cNvSpPr txBox="1"/>
          <p:nvPr/>
        </p:nvSpPr>
        <p:spPr>
          <a:xfrm>
            <a:off x="649224" y="1298448"/>
            <a:ext cx="4553712" cy="182880"/>
          </a:xfrm>
          <a:prstGeom prst="rect">
            <a:avLst/>
          </a:prstGeom>
          <a:noFill/>
          <a:ln/>
        </p:spPr>
        <p:txBody>
          <a:bodyPr wrap="square" lIns="0" tIns="0" rIns="0" bIns="0" rtlCol="0" anchor="ctr"/>
          <a:lstStyle/>
          <a:p>
            <a:pPr marL="0" indent="0">
              <a:buNone/>
            </a:pPr>
            <a:r>
              <a:rPr lang="en-US" sz="850" b="1" dirty="0">
                <a:solidFill>
                  <a:srgbClr val="3DDC97"/>
                </a:solidFill>
                <a:latin typeface="Courier New" pitchFamily="34" charset="0"/>
                <a:ea typeface="Courier New" pitchFamily="34" charset="-122"/>
                <a:cs typeface="Courier New" pitchFamily="34" charset="-120"/>
              </a:rPr>
              <a:t>server.js</a:t>
            </a:r>
            <a:endParaRPr lang="en-US" sz="850" dirty="0"/>
          </a:p>
        </p:txBody>
      </p:sp>
      <p:sp>
        <p:nvSpPr>
          <p:cNvPr id="8" name="Text 6"/>
          <p:cNvSpPr txBox="1"/>
          <p:nvPr/>
        </p:nvSpPr>
        <p:spPr>
          <a:xfrm>
            <a:off x="649224" y="1517904"/>
            <a:ext cx="4553712" cy="2286000"/>
          </a:xfrm>
          <a:prstGeom prst="rect">
            <a:avLst/>
          </a:prstGeom>
          <a:noFill/>
          <a:ln/>
        </p:spPr>
        <p:txBody>
          <a:bodyPr wrap="square" lIns="0" tIns="0" rIns="0" bIns="0" rtlCol="0" anchor="t"/>
          <a:lstStyle/>
          <a:p>
            <a:pPr marL="0" indent="0">
              <a:lnSpc>
                <a:spcPts val="1254"/>
              </a:lnSpc>
              <a:buNone/>
            </a:pPr>
            <a:r>
              <a:rPr lang="en-US" sz="950" dirty="0">
                <a:solidFill>
                  <a:srgbClr val="FFB86C"/>
                </a:solidFill>
                <a:latin typeface="Courier New" pitchFamily="34" charset="0"/>
                <a:ea typeface="Courier New" pitchFamily="34" charset="-122"/>
                <a:cs typeface="Courier New" pitchFamily="34" charset="-120"/>
              </a:rPr>
              <a:t>if</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56C7F2"/>
                </a:solidFill>
                <a:latin typeface="Courier New" pitchFamily="34" charset="0"/>
                <a:ea typeface="Courier New" pitchFamily="34" charset="-122"/>
                <a:cs typeface="Courier New" pitchFamily="34" charset="-120"/>
              </a:rPr>
              <a:t>req</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method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FFD479"/>
                </a:solidFill>
                <a:latin typeface="Courier New" pitchFamily="34" charset="0"/>
                <a:ea typeface="Courier New" pitchFamily="34" charset="-122"/>
                <a:cs typeface="Courier New" pitchFamily="34" charset="-120"/>
              </a:rPr>
              <a:t>'POST'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&amp;&amp;</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req</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url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FFD479"/>
                </a:solidFill>
                <a:latin typeface="Courier New" pitchFamily="34" charset="0"/>
                <a:ea typeface="Courier New" pitchFamily="34" charset="-122"/>
                <a:cs typeface="Courier New" pitchFamily="34" charset="-120"/>
              </a:rPr>
              <a:t>'/contacto'</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FFB86C"/>
                </a:solidFill>
                <a:latin typeface="Courier New" pitchFamily="34" charset="0"/>
                <a:ea typeface="Courier New" pitchFamily="34" charset="-122"/>
                <a:cs typeface="Courier New" pitchFamily="34" charset="-120"/>
              </a:rPr>
              <a:t>let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cuerpo</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FFD479"/>
                </a:solidFill>
                <a:latin typeface="Courier New" pitchFamily="34" charset="0"/>
                <a:ea typeface="Courier New" pitchFamily="34" charset="-122"/>
                <a:cs typeface="Courier New" pitchFamily="34" charset="-120"/>
              </a:rPr>
              <a:t>''</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req</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on</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'data'</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fragmento</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=&gt;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cuerpo</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fragmento</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toString</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req</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on</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'end'</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=&gt;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console</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log</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'Cuerpo recibido:'</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err="1">
                <a:solidFill>
                  <a:srgbClr val="56C7F2"/>
                </a:solidFill>
                <a:latin typeface="Courier New" pitchFamily="34" charset="0"/>
                <a:ea typeface="Courier New" pitchFamily="34" charset="-122"/>
                <a:cs typeface="Courier New" pitchFamily="34" charset="-120"/>
              </a:rPr>
              <a:t>cuerpo</a:t>
            </a:r>
            <a:r>
              <a:rPr lang="en-US" sz="950" dirty="0">
                <a:solidFill>
                  <a:srgbClr val="93A5BD"/>
                </a:solidFill>
                <a:latin typeface="Courier New" pitchFamily="34" charset="0"/>
                <a:ea typeface="Courier New" pitchFamily="34" charset="-122"/>
                <a:cs typeface="Courier New" pitchFamily="34" charset="-120"/>
              </a:rPr>
              <a:t>);</a:t>
            </a:r>
          </a:p>
          <a:p>
            <a:pPr lvl="1"/>
            <a:r>
              <a:rPr lang="es-CO" sz="1000" dirty="0"/>
              <a:t>     </a:t>
            </a:r>
            <a:r>
              <a:rPr lang="es-CO" sz="1000" dirty="0" err="1">
                <a:solidFill>
                  <a:srgbClr val="56C7F2"/>
                </a:solidFill>
              </a:rPr>
              <a:t>res</a:t>
            </a:r>
            <a:r>
              <a:rPr lang="es-CO" sz="1000" dirty="0" err="1"/>
              <a:t>.</a:t>
            </a:r>
            <a:r>
              <a:rPr lang="es-CO" sz="1000" dirty="0" err="1">
                <a:solidFill>
                  <a:schemeClr val="bg1"/>
                </a:solidFill>
              </a:rPr>
              <a:t>statusCode</a:t>
            </a:r>
            <a:r>
              <a:rPr lang="es-CO" sz="1000" dirty="0">
                <a:solidFill>
                  <a:schemeClr val="bg1"/>
                </a:solidFill>
              </a:rPr>
              <a:t> = </a:t>
            </a:r>
            <a:r>
              <a:rPr lang="es-CO" sz="1000" dirty="0">
                <a:solidFill>
                  <a:srgbClr val="FFB86C"/>
                </a:solidFill>
              </a:rPr>
              <a:t>200;</a:t>
            </a:r>
          </a:p>
          <a:p>
            <a:pPr lvl="1"/>
            <a:r>
              <a:rPr lang="es-CO" sz="1000" dirty="0">
                <a:solidFill>
                  <a:srgbClr val="FFB86C"/>
                </a:solidFill>
              </a:rPr>
              <a:t>     </a:t>
            </a:r>
            <a:r>
              <a:rPr lang="es-CO" sz="1000" dirty="0" err="1">
                <a:solidFill>
                  <a:srgbClr val="56C7F2"/>
                </a:solidFill>
              </a:rPr>
              <a:t>res</a:t>
            </a:r>
            <a:r>
              <a:rPr lang="es-CO" sz="1000" dirty="0" err="1"/>
              <a:t>.</a:t>
            </a:r>
            <a:r>
              <a:rPr lang="es-CO" sz="1000" dirty="0" err="1">
                <a:solidFill>
                  <a:schemeClr val="bg1"/>
                </a:solidFill>
              </a:rPr>
              <a:t>end</a:t>
            </a:r>
            <a:r>
              <a:rPr lang="es-CO" sz="1000" dirty="0">
                <a:solidFill>
                  <a:schemeClr val="bg1"/>
                </a:solidFill>
              </a:rPr>
              <a:t>(</a:t>
            </a:r>
            <a:r>
              <a:rPr lang="es-CO" sz="1000" dirty="0">
                <a:solidFill>
                  <a:srgbClr val="FFB86C"/>
                </a:solidFill>
              </a:rPr>
              <a:t>'Cuerpo recibido correctamente'</a:t>
            </a:r>
            <a:r>
              <a:rPr lang="es-CO" sz="1000" dirty="0">
                <a:solidFill>
                  <a:schemeClr val="bg1"/>
                </a:solidFill>
              </a:rPr>
              <a:t>);</a:t>
            </a:r>
            <a:endParaRPr lang="en-US" sz="950" dirty="0">
              <a:solidFill>
                <a:schemeClr val="bg1"/>
              </a:solidFill>
            </a:endParaRPr>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FFB86C"/>
                </a:solidFill>
                <a:latin typeface="Courier New" pitchFamily="34" charset="0"/>
                <a:ea typeface="Courier New" pitchFamily="34" charset="-122"/>
                <a:cs typeface="Courier New" pitchFamily="34" charset="-120"/>
              </a:rPr>
              <a:t>return</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93A5BD"/>
                </a:solidFill>
                <a:latin typeface="Courier New" pitchFamily="34" charset="0"/>
                <a:ea typeface="Courier New" pitchFamily="34" charset="-122"/>
                <a:cs typeface="Courier New" pitchFamily="34" charset="-120"/>
              </a:rPr>
              <a:t>}</a:t>
            </a:r>
            <a:endParaRPr lang="en-US" sz="950" dirty="0"/>
          </a:p>
        </p:txBody>
      </p:sp>
      <p:sp>
        <p:nvSpPr>
          <p:cNvPr id="9" name="Shape 7"/>
          <p:cNvSpPr/>
          <p:nvPr/>
        </p:nvSpPr>
        <p:spPr>
          <a:xfrm>
            <a:off x="5532120" y="1243584"/>
            <a:ext cx="3108960" cy="457200"/>
          </a:xfrm>
          <a:prstGeom prst="roundRect">
            <a:avLst>
              <a:gd name="adj" fmla="val 16000"/>
            </a:avLst>
          </a:prstGeom>
          <a:solidFill>
            <a:srgbClr val="1A2434"/>
          </a:solidFill>
          <a:ln w="12700">
            <a:solidFill>
              <a:srgbClr val="56C7F2"/>
            </a:solidFill>
            <a:prstDash val="solid"/>
          </a:ln>
        </p:spPr>
        <p:txBody>
          <a:bodyPr/>
          <a:lstStyle/>
          <a:p>
            <a:endParaRPr lang="es-CO"/>
          </a:p>
        </p:txBody>
      </p:sp>
      <p:sp>
        <p:nvSpPr>
          <p:cNvPr id="10" name="Text 8"/>
          <p:cNvSpPr txBox="1"/>
          <p:nvPr/>
        </p:nvSpPr>
        <p:spPr>
          <a:xfrm>
            <a:off x="5696712" y="1243584"/>
            <a:ext cx="868680" cy="457200"/>
          </a:xfrm>
          <a:prstGeom prst="rect">
            <a:avLst/>
          </a:prstGeom>
          <a:noFill/>
          <a:ln/>
        </p:spPr>
        <p:txBody>
          <a:bodyPr wrap="square" lIns="0" tIns="0" rIns="0" bIns="0" rtlCol="0" anchor="ctr"/>
          <a:lstStyle/>
          <a:p>
            <a:pPr marL="0" indent="0">
              <a:buNone/>
            </a:pPr>
            <a:r>
              <a:rPr lang="en-US" sz="950" b="1" dirty="0">
                <a:solidFill>
                  <a:srgbClr val="56C7F2"/>
                </a:solidFill>
                <a:latin typeface="Courier New" pitchFamily="34" charset="0"/>
                <a:ea typeface="Courier New" pitchFamily="34" charset="-122"/>
                <a:cs typeface="Courier New" pitchFamily="34" charset="-120"/>
              </a:rPr>
              <a:t>cuerpo</a:t>
            </a:r>
            <a:endParaRPr lang="en-US" sz="950" dirty="0"/>
          </a:p>
        </p:txBody>
      </p:sp>
      <p:sp>
        <p:nvSpPr>
          <p:cNvPr id="11" name="Text 9"/>
          <p:cNvSpPr txBox="1"/>
          <p:nvPr/>
        </p:nvSpPr>
        <p:spPr>
          <a:xfrm>
            <a:off x="6565392" y="1243584"/>
            <a:ext cx="1947672" cy="457200"/>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Variable de texto donde se acumula lo recibido. Empieza vacía.</a:t>
            </a:r>
            <a:endParaRPr lang="en-US" sz="850" dirty="0"/>
          </a:p>
        </p:txBody>
      </p:sp>
      <p:sp>
        <p:nvSpPr>
          <p:cNvPr id="12" name="Shape 10"/>
          <p:cNvSpPr/>
          <p:nvPr/>
        </p:nvSpPr>
        <p:spPr>
          <a:xfrm>
            <a:off x="5532120" y="1773936"/>
            <a:ext cx="3108960" cy="457200"/>
          </a:xfrm>
          <a:prstGeom prst="roundRect">
            <a:avLst>
              <a:gd name="adj" fmla="val 16000"/>
            </a:avLst>
          </a:prstGeom>
          <a:solidFill>
            <a:srgbClr val="1A2434"/>
          </a:solidFill>
          <a:ln w="12700">
            <a:solidFill>
              <a:srgbClr val="3DDC97"/>
            </a:solidFill>
            <a:prstDash val="solid"/>
          </a:ln>
        </p:spPr>
        <p:txBody>
          <a:bodyPr/>
          <a:lstStyle/>
          <a:p>
            <a:endParaRPr lang="es-CO"/>
          </a:p>
        </p:txBody>
      </p:sp>
      <p:sp>
        <p:nvSpPr>
          <p:cNvPr id="13" name="Text 11"/>
          <p:cNvSpPr txBox="1"/>
          <p:nvPr/>
        </p:nvSpPr>
        <p:spPr>
          <a:xfrm>
            <a:off x="5696712" y="1773936"/>
            <a:ext cx="868680" cy="457200"/>
          </a:xfrm>
          <a:prstGeom prst="rect">
            <a:avLst/>
          </a:prstGeom>
          <a:noFill/>
          <a:ln/>
        </p:spPr>
        <p:txBody>
          <a:bodyPr wrap="square" lIns="0" tIns="0" rIns="0" bIns="0" rtlCol="0" anchor="ctr"/>
          <a:lstStyle/>
          <a:p>
            <a:pPr marL="0" indent="0">
              <a:buNone/>
            </a:pPr>
            <a:r>
              <a:rPr lang="en-US" sz="950" b="1" dirty="0">
                <a:solidFill>
                  <a:srgbClr val="3DDC97"/>
                </a:solidFill>
                <a:latin typeface="Courier New" pitchFamily="34" charset="0"/>
                <a:ea typeface="Courier New" pitchFamily="34" charset="-122"/>
                <a:cs typeface="Courier New" pitchFamily="34" charset="-120"/>
              </a:rPr>
              <a:t>data</a:t>
            </a:r>
            <a:endParaRPr lang="en-US" sz="950" dirty="0"/>
          </a:p>
        </p:txBody>
      </p:sp>
      <p:sp>
        <p:nvSpPr>
          <p:cNvPr id="14" name="Text 12"/>
          <p:cNvSpPr txBox="1"/>
          <p:nvPr/>
        </p:nvSpPr>
        <p:spPr>
          <a:xfrm>
            <a:off x="6565392" y="1773936"/>
            <a:ext cx="1947672" cy="457200"/>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Evento que se produce con cada fragmento recibido.</a:t>
            </a:r>
            <a:endParaRPr lang="en-US" sz="850" dirty="0"/>
          </a:p>
        </p:txBody>
      </p:sp>
      <p:sp>
        <p:nvSpPr>
          <p:cNvPr id="15" name="Shape 13"/>
          <p:cNvSpPr/>
          <p:nvPr/>
        </p:nvSpPr>
        <p:spPr>
          <a:xfrm>
            <a:off x="5532120" y="2304288"/>
            <a:ext cx="3108960" cy="457200"/>
          </a:xfrm>
          <a:prstGeom prst="roundRect">
            <a:avLst>
              <a:gd name="adj" fmla="val 16000"/>
            </a:avLst>
          </a:prstGeom>
          <a:solidFill>
            <a:srgbClr val="1A2434"/>
          </a:solidFill>
          <a:ln w="12700">
            <a:solidFill>
              <a:srgbClr val="FFB86C"/>
            </a:solidFill>
            <a:prstDash val="solid"/>
          </a:ln>
        </p:spPr>
        <p:txBody>
          <a:bodyPr/>
          <a:lstStyle/>
          <a:p>
            <a:endParaRPr lang="es-CO"/>
          </a:p>
        </p:txBody>
      </p:sp>
      <p:sp>
        <p:nvSpPr>
          <p:cNvPr id="16" name="Text 14"/>
          <p:cNvSpPr txBox="1"/>
          <p:nvPr/>
        </p:nvSpPr>
        <p:spPr>
          <a:xfrm>
            <a:off x="5696712" y="2304288"/>
            <a:ext cx="868680" cy="457200"/>
          </a:xfrm>
          <a:prstGeom prst="rect">
            <a:avLst/>
          </a:prstGeom>
          <a:noFill/>
          <a:ln/>
        </p:spPr>
        <p:txBody>
          <a:bodyPr wrap="square" lIns="0" tIns="0" rIns="0" bIns="0" rtlCol="0" anchor="ctr"/>
          <a:lstStyle/>
          <a:p>
            <a:pPr marL="0" indent="0">
              <a:buNone/>
            </a:pPr>
            <a:r>
              <a:rPr lang="en-US" sz="950" b="1" dirty="0">
                <a:solidFill>
                  <a:srgbClr val="FFB86C"/>
                </a:solidFill>
                <a:latin typeface="Courier New" pitchFamily="34" charset="0"/>
                <a:ea typeface="Courier New" pitchFamily="34" charset="-122"/>
                <a:cs typeface="Courier New" pitchFamily="34" charset="-120"/>
              </a:rPr>
              <a:t>fragmento</a:t>
            </a:r>
            <a:endParaRPr lang="en-US" sz="950" dirty="0"/>
          </a:p>
        </p:txBody>
      </p:sp>
      <p:sp>
        <p:nvSpPr>
          <p:cNvPr id="17" name="Text 15"/>
          <p:cNvSpPr txBox="1"/>
          <p:nvPr/>
        </p:nvSpPr>
        <p:spPr>
          <a:xfrm>
            <a:off x="6565392" y="2304288"/>
            <a:ext cx="1947672" cy="457200"/>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Porción del cuerpo. Se convierte a texto con toString().</a:t>
            </a:r>
            <a:endParaRPr lang="en-US" sz="850" dirty="0"/>
          </a:p>
        </p:txBody>
      </p:sp>
      <p:sp>
        <p:nvSpPr>
          <p:cNvPr id="18" name="Shape 16"/>
          <p:cNvSpPr/>
          <p:nvPr/>
        </p:nvSpPr>
        <p:spPr>
          <a:xfrm>
            <a:off x="5532120" y="2834640"/>
            <a:ext cx="3108960" cy="457200"/>
          </a:xfrm>
          <a:prstGeom prst="roundRect">
            <a:avLst>
              <a:gd name="adj" fmla="val 16000"/>
            </a:avLst>
          </a:prstGeom>
          <a:solidFill>
            <a:srgbClr val="1A2434"/>
          </a:solidFill>
          <a:ln w="12700">
            <a:solidFill>
              <a:srgbClr val="3DDC97"/>
            </a:solidFill>
            <a:prstDash val="solid"/>
          </a:ln>
        </p:spPr>
        <p:txBody>
          <a:bodyPr/>
          <a:lstStyle/>
          <a:p>
            <a:endParaRPr lang="es-CO"/>
          </a:p>
        </p:txBody>
      </p:sp>
      <p:sp>
        <p:nvSpPr>
          <p:cNvPr id="19" name="Text 17"/>
          <p:cNvSpPr txBox="1"/>
          <p:nvPr/>
        </p:nvSpPr>
        <p:spPr>
          <a:xfrm>
            <a:off x="5696712" y="2834640"/>
            <a:ext cx="868680" cy="457200"/>
          </a:xfrm>
          <a:prstGeom prst="rect">
            <a:avLst/>
          </a:prstGeom>
          <a:noFill/>
          <a:ln/>
        </p:spPr>
        <p:txBody>
          <a:bodyPr wrap="square" lIns="0" tIns="0" rIns="0" bIns="0" rtlCol="0" anchor="ctr"/>
          <a:lstStyle/>
          <a:p>
            <a:pPr marL="0" indent="0">
              <a:buNone/>
            </a:pPr>
            <a:r>
              <a:rPr lang="en-US" sz="950" b="1" dirty="0">
                <a:solidFill>
                  <a:srgbClr val="3DDC97"/>
                </a:solidFill>
                <a:latin typeface="Courier New" pitchFamily="34" charset="0"/>
                <a:ea typeface="Courier New" pitchFamily="34" charset="-122"/>
                <a:cs typeface="Courier New" pitchFamily="34" charset="-120"/>
              </a:rPr>
              <a:t>end</a:t>
            </a:r>
            <a:endParaRPr lang="en-US" sz="950" dirty="0"/>
          </a:p>
        </p:txBody>
      </p:sp>
      <p:sp>
        <p:nvSpPr>
          <p:cNvPr id="20" name="Text 18"/>
          <p:cNvSpPr txBox="1"/>
          <p:nvPr/>
        </p:nvSpPr>
        <p:spPr>
          <a:xfrm>
            <a:off x="6565392" y="2834640"/>
            <a:ext cx="1947672" cy="457200"/>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Evento que indica el final. Solo aquí el cuerpo está completo.</a:t>
            </a:r>
            <a:endParaRPr lang="en-US" sz="850" dirty="0"/>
          </a:p>
        </p:txBody>
      </p:sp>
      <p:sp>
        <p:nvSpPr>
          <p:cNvPr id="21" name="Shape 19"/>
          <p:cNvSpPr/>
          <p:nvPr/>
        </p:nvSpPr>
        <p:spPr>
          <a:xfrm>
            <a:off x="5532120" y="3364992"/>
            <a:ext cx="3108960" cy="457200"/>
          </a:xfrm>
          <a:prstGeom prst="roundRect">
            <a:avLst>
              <a:gd name="adj" fmla="val 16000"/>
            </a:avLst>
          </a:prstGeom>
          <a:solidFill>
            <a:srgbClr val="1A2434"/>
          </a:solidFill>
          <a:ln w="12700">
            <a:solidFill>
              <a:srgbClr val="56C7F2"/>
            </a:solidFill>
            <a:prstDash val="solid"/>
          </a:ln>
        </p:spPr>
        <p:txBody>
          <a:bodyPr/>
          <a:lstStyle/>
          <a:p>
            <a:endParaRPr lang="es-CO"/>
          </a:p>
        </p:txBody>
      </p:sp>
      <p:sp>
        <p:nvSpPr>
          <p:cNvPr id="22" name="Text 20"/>
          <p:cNvSpPr txBox="1"/>
          <p:nvPr/>
        </p:nvSpPr>
        <p:spPr>
          <a:xfrm>
            <a:off x="5696712" y="3364992"/>
            <a:ext cx="868680" cy="457200"/>
          </a:xfrm>
          <a:prstGeom prst="rect">
            <a:avLst/>
          </a:prstGeom>
          <a:noFill/>
          <a:ln/>
        </p:spPr>
        <p:txBody>
          <a:bodyPr wrap="square" lIns="0" tIns="0" rIns="0" bIns="0" rtlCol="0" anchor="ctr"/>
          <a:lstStyle/>
          <a:p>
            <a:pPr marL="0" indent="0">
              <a:buNone/>
            </a:pPr>
            <a:r>
              <a:rPr lang="en-US" sz="950" b="1" dirty="0">
                <a:solidFill>
                  <a:srgbClr val="56C7F2"/>
                </a:solidFill>
                <a:latin typeface="Courier New" pitchFamily="34" charset="0"/>
                <a:ea typeface="Courier New" pitchFamily="34" charset="-122"/>
                <a:cs typeface="Courier New" pitchFamily="34" charset="-120"/>
              </a:rPr>
              <a:t>return</a:t>
            </a:r>
            <a:endParaRPr lang="en-US" sz="950" dirty="0"/>
          </a:p>
        </p:txBody>
      </p:sp>
      <p:sp>
        <p:nvSpPr>
          <p:cNvPr id="23" name="Text 21"/>
          <p:cNvSpPr txBox="1"/>
          <p:nvPr/>
        </p:nvSpPr>
        <p:spPr>
          <a:xfrm>
            <a:off x="6565392" y="3364992"/>
            <a:ext cx="1947672" cy="457200"/>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Evita continuar hacia el 404 mientras se espera el cuerpo.</a:t>
            </a:r>
            <a:endParaRPr lang="en-US" sz="850" dirty="0"/>
          </a:p>
        </p:txBody>
      </p:sp>
      <p:sp>
        <p:nvSpPr>
          <p:cNvPr id="24" name="Text 22"/>
          <p:cNvSpPr txBox="1"/>
          <p:nvPr/>
        </p:nvSpPr>
        <p:spPr>
          <a:xfrm>
            <a:off x="502920" y="3968496"/>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Al ejecutarlo, la consola muestra: Cuerpo recibido: nombre=Ana&amp;correo=ana%40correo.com&amp;mensaje=Hola</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77724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777240"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CÓDIGO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URLSearchParams convierte el cuerpo en datos consultables</a:t>
            </a:r>
            <a:endParaRPr lang="en-US" sz="20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15 / 25</a:t>
            </a:r>
            <a:endParaRPr lang="en-US" sz="800" dirty="0"/>
          </a:p>
        </p:txBody>
      </p:sp>
      <p:sp>
        <p:nvSpPr>
          <p:cNvPr id="6" name="Shape 4"/>
          <p:cNvSpPr/>
          <p:nvPr/>
        </p:nvSpPr>
        <p:spPr>
          <a:xfrm>
            <a:off x="502920" y="1243584"/>
            <a:ext cx="4846320" cy="1956816"/>
          </a:xfrm>
          <a:prstGeom prst="roundRect">
            <a:avLst>
              <a:gd name="adj" fmla="val 3738"/>
            </a:avLst>
          </a:prstGeom>
          <a:solidFill>
            <a:srgbClr val="070C14"/>
          </a:solidFill>
          <a:ln w="12700">
            <a:solidFill>
              <a:srgbClr val="2B3B52"/>
            </a:solidFill>
            <a:prstDash val="solid"/>
          </a:ln>
        </p:spPr>
        <p:txBody>
          <a:bodyPr/>
          <a:lstStyle/>
          <a:p>
            <a:endParaRPr lang="es-CO"/>
          </a:p>
        </p:txBody>
      </p:sp>
      <p:sp>
        <p:nvSpPr>
          <p:cNvPr id="7" name="Text 5"/>
          <p:cNvSpPr txBox="1"/>
          <p:nvPr/>
        </p:nvSpPr>
        <p:spPr>
          <a:xfrm>
            <a:off x="649224" y="1298448"/>
            <a:ext cx="4553712" cy="182880"/>
          </a:xfrm>
          <a:prstGeom prst="rect">
            <a:avLst/>
          </a:prstGeom>
          <a:noFill/>
          <a:ln/>
        </p:spPr>
        <p:txBody>
          <a:bodyPr wrap="square" lIns="0" tIns="0" rIns="0" bIns="0" rtlCol="0" anchor="ctr"/>
          <a:lstStyle/>
          <a:p>
            <a:pPr marL="0" indent="0">
              <a:buNone/>
            </a:pPr>
            <a:r>
              <a:rPr lang="en-US" sz="850" b="1" dirty="0">
                <a:solidFill>
                  <a:srgbClr val="3DDC97"/>
                </a:solidFill>
                <a:latin typeface="Courier New" pitchFamily="34" charset="0"/>
                <a:ea typeface="Courier New" pitchFamily="34" charset="-122"/>
                <a:cs typeface="Courier New" pitchFamily="34" charset="-120"/>
              </a:rPr>
              <a:t>dentro de req.on('end', ...)</a:t>
            </a:r>
            <a:endParaRPr lang="en-US" sz="850" dirty="0"/>
          </a:p>
        </p:txBody>
      </p:sp>
      <p:sp>
        <p:nvSpPr>
          <p:cNvPr id="8" name="Text 6"/>
          <p:cNvSpPr txBox="1"/>
          <p:nvPr/>
        </p:nvSpPr>
        <p:spPr>
          <a:xfrm>
            <a:off x="649224" y="1517904"/>
            <a:ext cx="4553712" cy="1627632"/>
          </a:xfrm>
          <a:prstGeom prst="rect">
            <a:avLst/>
          </a:prstGeom>
          <a:noFill/>
          <a:ln/>
        </p:spPr>
        <p:txBody>
          <a:bodyPr wrap="square" lIns="0" tIns="0" rIns="0" bIns="0" rtlCol="0" anchor="t"/>
          <a:lstStyle/>
          <a:p>
            <a:pPr marL="0" indent="0">
              <a:lnSpc>
                <a:spcPts val="1254"/>
              </a:lnSpc>
              <a:buNone/>
            </a:pPr>
            <a:r>
              <a:rPr lang="en-US" sz="950" dirty="0">
                <a:solidFill>
                  <a:srgbClr val="FFB86C"/>
                </a:solidFill>
                <a:latin typeface="Courier New" pitchFamily="34" charset="0"/>
                <a:ea typeface="Courier New" pitchFamily="34" charset="-122"/>
                <a:cs typeface="Courier New" pitchFamily="34" charset="-120"/>
              </a:rPr>
              <a:t>const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datos</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FFB86C"/>
                </a:solidFill>
                <a:latin typeface="Courier New" pitchFamily="34" charset="0"/>
                <a:ea typeface="Courier New" pitchFamily="34" charset="-122"/>
                <a:cs typeface="Courier New" pitchFamily="34" charset="-120"/>
              </a:rPr>
              <a:t>new</a:t>
            </a:r>
            <a:r>
              <a:rPr lang="en-US" sz="950" dirty="0">
                <a:solidFill>
                  <a:srgbClr val="D7E1EE"/>
                </a:solidFill>
                <a:latin typeface="Courier New" pitchFamily="34" charset="0"/>
                <a:ea typeface="Courier New" pitchFamily="34" charset="-122"/>
                <a:cs typeface="Courier New" pitchFamily="34" charset="-120"/>
              </a:rPr>
              <a:t> URLSearchParams</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56C7F2"/>
                </a:solidFill>
                <a:latin typeface="Courier New" pitchFamily="34" charset="0"/>
                <a:ea typeface="Courier New" pitchFamily="34" charset="-122"/>
                <a:cs typeface="Courier New" pitchFamily="34" charset="-120"/>
              </a:rPr>
              <a:t>cuerpo</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254"/>
              </a:lnSpc>
              <a:buNone/>
            </a:pPr>
            <a:r>
              <a:rPr lang="en-US" sz="950" dirty="0">
                <a:solidFill>
                  <a:srgbClr val="FFB86C"/>
                </a:solidFill>
                <a:latin typeface="Courier New" pitchFamily="34" charset="0"/>
                <a:ea typeface="Courier New" pitchFamily="34" charset="-122"/>
                <a:cs typeface="Courier New" pitchFamily="34" charset="-120"/>
              </a:rPr>
              <a:t>const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nombre</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datos</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get</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'nombre'</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FFB86C"/>
                </a:solidFill>
                <a:latin typeface="Courier New" pitchFamily="34" charset="0"/>
                <a:ea typeface="Courier New" pitchFamily="34" charset="-122"/>
                <a:cs typeface="Courier New" pitchFamily="34" charset="-120"/>
              </a:rPr>
              <a:t>const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correo</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datos</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get</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'correo'</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FFB86C"/>
                </a:solidFill>
                <a:latin typeface="Courier New" pitchFamily="34" charset="0"/>
                <a:ea typeface="Courier New" pitchFamily="34" charset="-122"/>
                <a:cs typeface="Courier New" pitchFamily="34" charset="-120"/>
              </a:rPr>
              <a:t>const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mensaje</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datos</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get</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'mensaje'</a:t>
            </a:r>
            <a:r>
              <a:rPr lang="en-US" sz="950" dirty="0">
                <a:solidFill>
                  <a:srgbClr val="93A5BD"/>
                </a:solidFill>
                <a:latin typeface="Courier New" pitchFamily="34" charset="0"/>
                <a:ea typeface="Courier New" pitchFamily="34" charset="-122"/>
                <a:cs typeface="Courier New" pitchFamily="34" charset="-120"/>
              </a:rPr>
              <a:t>);</a:t>
            </a:r>
            <a:endParaRPr lang="en-US" sz="950" dirty="0"/>
          </a:p>
          <a:p>
            <a:pPr marL="0" indent="0">
              <a:lnSpc>
                <a:spcPts val="1254"/>
              </a:lnSpc>
              <a:buNone/>
            </a:pPr>
            <a:r>
              <a:rPr lang="en-US" sz="950" dirty="0">
                <a:solidFill>
                  <a:srgbClr val="D7E1EE"/>
                </a:solidFill>
                <a:latin typeface="Courier New" pitchFamily="34" charset="0"/>
                <a:ea typeface="Courier New" pitchFamily="34" charset="-122"/>
                <a:cs typeface="Courier New" pitchFamily="34" charset="-120"/>
              </a:rPr>
              <a:t> </a:t>
            </a:r>
            <a:endParaRPr lang="en-US" sz="950" dirty="0"/>
          </a:p>
          <a:p>
            <a:pPr marL="0" indent="0">
              <a:lnSpc>
                <a:spcPts val="1254"/>
              </a:lnSpc>
              <a:buNone/>
            </a:pPr>
            <a:r>
              <a:rPr lang="en-US" sz="950" dirty="0">
                <a:solidFill>
                  <a:srgbClr val="56C7F2"/>
                </a:solidFill>
                <a:latin typeface="Courier New" pitchFamily="34" charset="0"/>
                <a:ea typeface="Courier New" pitchFamily="34" charset="-122"/>
                <a:cs typeface="Courier New" pitchFamily="34" charset="-120"/>
              </a:rPr>
              <a:t>console</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log</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FFD479"/>
                </a:solidFill>
                <a:latin typeface="Courier New" pitchFamily="34" charset="0"/>
                <a:ea typeface="Courier New" pitchFamily="34" charset="-122"/>
                <a:cs typeface="Courier New" pitchFamily="34" charset="-120"/>
              </a:rPr>
              <a:t>'Nombre:'</a:t>
            </a:r>
            <a:r>
              <a:rPr lang="en-US" sz="950" dirty="0">
                <a:solidFill>
                  <a:srgbClr val="93A5BD"/>
                </a:solidFill>
                <a:latin typeface="Courier New" pitchFamily="34" charset="0"/>
                <a:ea typeface="Courier New" pitchFamily="34" charset="-122"/>
                <a:cs typeface="Courier New" pitchFamily="34" charset="-120"/>
              </a:rPr>
              <a:t>,</a:t>
            </a:r>
            <a:r>
              <a:rPr lang="en-US" sz="950" dirty="0">
                <a:solidFill>
                  <a:srgbClr val="D7E1EE"/>
                </a:solidFill>
                <a:latin typeface="Courier New" pitchFamily="34" charset="0"/>
                <a:ea typeface="Courier New" pitchFamily="34" charset="-122"/>
                <a:cs typeface="Courier New" pitchFamily="34" charset="-120"/>
              </a:rPr>
              <a:t> </a:t>
            </a:r>
            <a:r>
              <a:rPr lang="en-US" sz="950" dirty="0">
                <a:solidFill>
                  <a:srgbClr val="56C7F2"/>
                </a:solidFill>
                <a:latin typeface="Courier New" pitchFamily="34" charset="0"/>
                <a:ea typeface="Courier New" pitchFamily="34" charset="-122"/>
                <a:cs typeface="Courier New" pitchFamily="34" charset="-120"/>
              </a:rPr>
              <a:t>nombre</a:t>
            </a:r>
            <a:r>
              <a:rPr lang="en-US" sz="950" dirty="0">
                <a:solidFill>
                  <a:srgbClr val="93A5BD"/>
                </a:solidFill>
                <a:latin typeface="Courier New" pitchFamily="34" charset="0"/>
                <a:ea typeface="Courier New" pitchFamily="34" charset="-122"/>
                <a:cs typeface="Courier New" pitchFamily="34" charset="-120"/>
              </a:rPr>
              <a:t>);</a:t>
            </a:r>
            <a:endParaRPr lang="en-US" sz="950" dirty="0"/>
          </a:p>
        </p:txBody>
      </p:sp>
      <p:sp>
        <p:nvSpPr>
          <p:cNvPr id="9" name="Shape 7"/>
          <p:cNvSpPr/>
          <p:nvPr/>
        </p:nvSpPr>
        <p:spPr>
          <a:xfrm>
            <a:off x="5532120" y="1243584"/>
            <a:ext cx="3108960" cy="1956816"/>
          </a:xfrm>
          <a:prstGeom prst="roundRect">
            <a:avLst>
              <a:gd name="adj" fmla="val 3738"/>
            </a:avLst>
          </a:prstGeom>
          <a:solidFill>
            <a:srgbClr val="1A2434"/>
          </a:solidFill>
          <a:ln w="12700">
            <a:solidFill>
              <a:srgbClr val="56C7F2"/>
            </a:solidFill>
            <a:prstDash val="solid"/>
          </a:ln>
        </p:spPr>
        <p:txBody>
          <a:bodyPr/>
          <a:lstStyle/>
          <a:p>
            <a:endParaRPr lang="es-CO"/>
          </a:p>
        </p:txBody>
      </p:sp>
      <p:sp>
        <p:nvSpPr>
          <p:cNvPr id="10" name="Text 8"/>
          <p:cNvSpPr txBox="1"/>
          <p:nvPr/>
        </p:nvSpPr>
        <p:spPr>
          <a:xfrm>
            <a:off x="5715000" y="1353312"/>
            <a:ext cx="2743200" cy="201168"/>
          </a:xfrm>
          <a:prstGeom prst="rect">
            <a:avLst/>
          </a:prstGeom>
          <a:noFill/>
          <a:ln/>
        </p:spPr>
        <p:txBody>
          <a:bodyPr wrap="square" lIns="0" tIns="0" rIns="0" bIns="0" rtlCol="0" anchor="ctr"/>
          <a:lstStyle/>
          <a:p>
            <a:pPr marL="0" indent="0">
              <a:buNone/>
            </a:pPr>
            <a:r>
              <a:rPr lang="en-US" sz="1000" b="1" dirty="0">
                <a:solidFill>
                  <a:srgbClr val="56C7F2"/>
                </a:solidFill>
                <a:latin typeface="Arial" pitchFamily="34" charset="0"/>
                <a:ea typeface="Arial" pitchFamily="34" charset="-122"/>
                <a:cs typeface="Arial" pitchFamily="34" charset="-120"/>
              </a:rPr>
              <a:t>Del atributo name a la clave</a:t>
            </a:r>
            <a:endParaRPr lang="en-US" sz="1000" dirty="0"/>
          </a:p>
        </p:txBody>
      </p:sp>
      <p:sp>
        <p:nvSpPr>
          <p:cNvPr id="11" name="Text 9"/>
          <p:cNvSpPr txBox="1"/>
          <p:nvPr/>
        </p:nvSpPr>
        <p:spPr>
          <a:xfrm>
            <a:off x="5715000" y="1645920"/>
            <a:ext cx="1298448" cy="402336"/>
          </a:xfrm>
          <a:prstGeom prst="rect">
            <a:avLst/>
          </a:prstGeom>
          <a:noFill/>
          <a:ln/>
        </p:spPr>
        <p:txBody>
          <a:bodyPr wrap="square" lIns="0" tIns="0" rIns="0" bIns="0" rtlCol="0" anchor="ctr"/>
          <a:lstStyle/>
          <a:p>
            <a:pPr marL="0" indent="0">
              <a:buNone/>
            </a:pPr>
            <a:r>
              <a:rPr lang="en-US" sz="800" dirty="0">
                <a:solidFill>
                  <a:srgbClr val="FFB86C"/>
                </a:solidFill>
                <a:latin typeface="Courier New" pitchFamily="34" charset="0"/>
                <a:ea typeface="Courier New" pitchFamily="34" charset="-122"/>
                <a:cs typeface="Courier New" pitchFamily="34" charset="-120"/>
              </a:rPr>
              <a:t>name="nombre"</a:t>
            </a:r>
            <a:endParaRPr lang="en-US" sz="800" dirty="0"/>
          </a:p>
        </p:txBody>
      </p:sp>
      <p:sp>
        <p:nvSpPr>
          <p:cNvPr id="12" name="Shape 10"/>
          <p:cNvSpPr/>
          <p:nvPr/>
        </p:nvSpPr>
        <p:spPr>
          <a:xfrm>
            <a:off x="7040880" y="1847088"/>
            <a:ext cx="109728" cy="0"/>
          </a:xfrm>
          <a:prstGeom prst="line">
            <a:avLst/>
          </a:prstGeom>
          <a:noFill/>
          <a:ln w="12700">
            <a:solidFill>
              <a:srgbClr val="56C7F2"/>
            </a:solidFill>
            <a:prstDash val="solid"/>
            <a:tailEnd type="triangle"/>
          </a:ln>
        </p:spPr>
        <p:txBody>
          <a:bodyPr/>
          <a:lstStyle/>
          <a:p>
            <a:endParaRPr lang="es-CO"/>
          </a:p>
        </p:txBody>
      </p:sp>
      <p:sp>
        <p:nvSpPr>
          <p:cNvPr id="13" name="Text 11"/>
          <p:cNvSpPr txBox="1"/>
          <p:nvPr/>
        </p:nvSpPr>
        <p:spPr>
          <a:xfrm>
            <a:off x="7223760" y="1645920"/>
            <a:ext cx="1298448" cy="402336"/>
          </a:xfrm>
          <a:prstGeom prst="rect">
            <a:avLst/>
          </a:prstGeom>
          <a:noFill/>
          <a:ln/>
        </p:spPr>
        <p:txBody>
          <a:bodyPr wrap="square" lIns="0" tIns="0" rIns="0" bIns="0" rtlCol="0" anchor="ctr"/>
          <a:lstStyle/>
          <a:p>
            <a:pPr marL="0" indent="0">
              <a:buNone/>
            </a:pPr>
            <a:r>
              <a:rPr lang="en-US" sz="800" dirty="0">
                <a:solidFill>
                  <a:srgbClr val="3DDC97"/>
                </a:solidFill>
                <a:latin typeface="Courier New" pitchFamily="34" charset="0"/>
                <a:ea typeface="Courier New" pitchFamily="34" charset="-122"/>
                <a:cs typeface="Courier New" pitchFamily="34" charset="-120"/>
              </a:rPr>
              <a:t>datos.get('nombre')</a:t>
            </a:r>
            <a:endParaRPr lang="en-US" sz="800" dirty="0"/>
          </a:p>
        </p:txBody>
      </p:sp>
      <p:sp>
        <p:nvSpPr>
          <p:cNvPr id="14" name="Text 12"/>
          <p:cNvSpPr txBox="1"/>
          <p:nvPr/>
        </p:nvSpPr>
        <p:spPr>
          <a:xfrm>
            <a:off x="5715000" y="2121408"/>
            <a:ext cx="1298448" cy="402336"/>
          </a:xfrm>
          <a:prstGeom prst="rect">
            <a:avLst/>
          </a:prstGeom>
          <a:noFill/>
          <a:ln/>
        </p:spPr>
        <p:txBody>
          <a:bodyPr wrap="square" lIns="0" tIns="0" rIns="0" bIns="0" rtlCol="0" anchor="ctr"/>
          <a:lstStyle/>
          <a:p>
            <a:pPr marL="0" indent="0">
              <a:buNone/>
            </a:pPr>
            <a:r>
              <a:rPr lang="en-US" sz="800" dirty="0">
                <a:solidFill>
                  <a:srgbClr val="FFB86C"/>
                </a:solidFill>
                <a:latin typeface="Courier New" pitchFamily="34" charset="0"/>
                <a:ea typeface="Courier New" pitchFamily="34" charset="-122"/>
                <a:cs typeface="Courier New" pitchFamily="34" charset="-120"/>
              </a:rPr>
              <a:t>name="correo"</a:t>
            </a:r>
            <a:endParaRPr lang="en-US" sz="800" dirty="0"/>
          </a:p>
        </p:txBody>
      </p:sp>
      <p:sp>
        <p:nvSpPr>
          <p:cNvPr id="15" name="Shape 13"/>
          <p:cNvSpPr/>
          <p:nvPr/>
        </p:nvSpPr>
        <p:spPr>
          <a:xfrm>
            <a:off x="7040880" y="2322576"/>
            <a:ext cx="109728" cy="0"/>
          </a:xfrm>
          <a:prstGeom prst="line">
            <a:avLst/>
          </a:prstGeom>
          <a:noFill/>
          <a:ln w="12700">
            <a:solidFill>
              <a:srgbClr val="56C7F2"/>
            </a:solidFill>
            <a:prstDash val="solid"/>
            <a:tailEnd type="triangle"/>
          </a:ln>
        </p:spPr>
        <p:txBody>
          <a:bodyPr/>
          <a:lstStyle/>
          <a:p>
            <a:endParaRPr lang="es-CO"/>
          </a:p>
        </p:txBody>
      </p:sp>
      <p:sp>
        <p:nvSpPr>
          <p:cNvPr id="16" name="Text 14"/>
          <p:cNvSpPr txBox="1"/>
          <p:nvPr/>
        </p:nvSpPr>
        <p:spPr>
          <a:xfrm>
            <a:off x="7223760" y="2121408"/>
            <a:ext cx="1298448" cy="402336"/>
          </a:xfrm>
          <a:prstGeom prst="rect">
            <a:avLst/>
          </a:prstGeom>
          <a:noFill/>
          <a:ln/>
        </p:spPr>
        <p:txBody>
          <a:bodyPr wrap="square" lIns="0" tIns="0" rIns="0" bIns="0" rtlCol="0" anchor="ctr"/>
          <a:lstStyle/>
          <a:p>
            <a:pPr marL="0" indent="0">
              <a:buNone/>
            </a:pPr>
            <a:r>
              <a:rPr lang="en-US" sz="800" dirty="0">
                <a:solidFill>
                  <a:srgbClr val="3DDC97"/>
                </a:solidFill>
                <a:latin typeface="Courier New" pitchFamily="34" charset="0"/>
                <a:ea typeface="Courier New" pitchFamily="34" charset="-122"/>
                <a:cs typeface="Courier New" pitchFamily="34" charset="-120"/>
              </a:rPr>
              <a:t>datos.get('correo')</a:t>
            </a:r>
            <a:endParaRPr lang="en-US" sz="800" dirty="0"/>
          </a:p>
        </p:txBody>
      </p:sp>
      <p:sp>
        <p:nvSpPr>
          <p:cNvPr id="17" name="Text 15"/>
          <p:cNvSpPr txBox="1"/>
          <p:nvPr/>
        </p:nvSpPr>
        <p:spPr>
          <a:xfrm>
            <a:off x="5715000" y="2596896"/>
            <a:ext cx="1298448" cy="402336"/>
          </a:xfrm>
          <a:prstGeom prst="rect">
            <a:avLst/>
          </a:prstGeom>
          <a:noFill/>
          <a:ln/>
        </p:spPr>
        <p:txBody>
          <a:bodyPr wrap="square" lIns="0" tIns="0" rIns="0" bIns="0" rtlCol="0" anchor="ctr"/>
          <a:lstStyle/>
          <a:p>
            <a:pPr marL="0" indent="0">
              <a:buNone/>
            </a:pPr>
            <a:r>
              <a:rPr lang="en-US" sz="800" dirty="0">
                <a:solidFill>
                  <a:srgbClr val="FFB86C"/>
                </a:solidFill>
                <a:latin typeface="Courier New" pitchFamily="34" charset="0"/>
                <a:ea typeface="Courier New" pitchFamily="34" charset="-122"/>
                <a:cs typeface="Courier New" pitchFamily="34" charset="-120"/>
              </a:rPr>
              <a:t>name="mensaje"</a:t>
            </a:r>
            <a:endParaRPr lang="en-US" sz="800" dirty="0"/>
          </a:p>
        </p:txBody>
      </p:sp>
      <p:sp>
        <p:nvSpPr>
          <p:cNvPr id="18" name="Shape 16"/>
          <p:cNvSpPr/>
          <p:nvPr/>
        </p:nvSpPr>
        <p:spPr>
          <a:xfrm>
            <a:off x="7040880" y="2798064"/>
            <a:ext cx="109728" cy="0"/>
          </a:xfrm>
          <a:prstGeom prst="line">
            <a:avLst/>
          </a:prstGeom>
          <a:noFill/>
          <a:ln w="12700">
            <a:solidFill>
              <a:srgbClr val="56C7F2"/>
            </a:solidFill>
            <a:prstDash val="solid"/>
            <a:tailEnd type="triangle"/>
          </a:ln>
        </p:spPr>
        <p:txBody>
          <a:bodyPr/>
          <a:lstStyle/>
          <a:p>
            <a:endParaRPr lang="es-CO"/>
          </a:p>
        </p:txBody>
      </p:sp>
      <p:sp>
        <p:nvSpPr>
          <p:cNvPr id="19" name="Text 17"/>
          <p:cNvSpPr txBox="1"/>
          <p:nvPr/>
        </p:nvSpPr>
        <p:spPr>
          <a:xfrm>
            <a:off x="7223760" y="2596896"/>
            <a:ext cx="1298448" cy="402336"/>
          </a:xfrm>
          <a:prstGeom prst="rect">
            <a:avLst/>
          </a:prstGeom>
          <a:noFill/>
          <a:ln/>
        </p:spPr>
        <p:txBody>
          <a:bodyPr wrap="square" lIns="0" tIns="0" rIns="0" bIns="0" rtlCol="0" anchor="ctr"/>
          <a:lstStyle/>
          <a:p>
            <a:pPr marL="0" indent="0">
              <a:buNone/>
            </a:pPr>
            <a:r>
              <a:rPr lang="en-US" sz="800" dirty="0">
                <a:solidFill>
                  <a:srgbClr val="3DDC97"/>
                </a:solidFill>
                <a:latin typeface="Courier New" pitchFamily="34" charset="0"/>
                <a:ea typeface="Courier New" pitchFamily="34" charset="-122"/>
                <a:cs typeface="Courier New" pitchFamily="34" charset="-120"/>
              </a:rPr>
              <a:t>datos.get('mensaje')</a:t>
            </a:r>
            <a:endParaRPr lang="en-US" sz="800" dirty="0"/>
          </a:p>
        </p:txBody>
      </p:sp>
      <p:sp>
        <p:nvSpPr>
          <p:cNvPr id="20" name="Shape 18"/>
          <p:cNvSpPr/>
          <p:nvPr/>
        </p:nvSpPr>
        <p:spPr>
          <a:xfrm>
            <a:off x="502920" y="3310128"/>
            <a:ext cx="3977640" cy="859536"/>
          </a:xfrm>
          <a:prstGeom prst="roundRect">
            <a:avLst>
              <a:gd name="adj" fmla="val 8511"/>
            </a:avLst>
          </a:prstGeom>
          <a:solidFill>
            <a:srgbClr val="1A2434"/>
          </a:solidFill>
          <a:ln w="12700">
            <a:solidFill>
              <a:srgbClr val="FFB86C"/>
            </a:solidFill>
            <a:prstDash val="solid"/>
          </a:ln>
        </p:spPr>
        <p:txBody>
          <a:bodyPr/>
          <a:lstStyle/>
          <a:p>
            <a:endParaRPr lang="es-CO"/>
          </a:p>
        </p:txBody>
      </p:sp>
      <p:sp>
        <p:nvSpPr>
          <p:cNvPr id="21" name="Text 19"/>
          <p:cNvSpPr txBox="1"/>
          <p:nvPr/>
        </p:nvSpPr>
        <p:spPr>
          <a:xfrm>
            <a:off x="704088" y="3401568"/>
            <a:ext cx="914400" cy="201168"/>
          </a:xfrm>
          <a:prstGeom prst="rect">
            <a:avLst/>
          </a:prstGeom>
          <a:noFill/>
          <a:ln/>
        </p:spPr>
        <p:txBody>
          <a:bodyPr wrap="square" lIns="0" tIns="0" rIns="0" bIns="0" rtlCol="0" anchor="ctr"/>
          <a:lstStyle/>
          <a:p>
            <a:pPr marL="0" indent="0">
              <a:buNone/>
            </a:pPr>
            <a:r>
              <a:rPr lang="en-US" sz="1100" b="1" dirty="0">
                <a:solidFill>
                  <a:srgbClr val="FFB86C"/>
                </a:solidFill>
                <a:latin typeface="Courier New" pitchFamily="34" charset="0"/>
                <a:ea typeface="Courier New" pitchFamily="34" charset="-122"/>
                <a:cs typeface="Courier New" pitchFamily="34" charset="-120"/>
              </a:rPr>
              <a:t>id</a:t>
            </a:r>
            <a:endParaRPr lang="en-US" sz="1100" dirty="0"/>
          </a:p>
        </p:txBody>
      </p:sp>
      <p:sp>
        <p:nvSpPr>
          <p:cNvPr id="22" name="Text 20"/>
          <p:cNvSpPr txBox="1"/>
          <p:nvPr/>
        </p:nvSpPr>
        <p:spPr>
          <a:xfrm>
            <a:off x="704088" y="3621024"/>
            <a:ext cx="3602736" cy="457200"/>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Identifica el elemento dentro del documento HTML. Vincula label con su control y sirve como selector CSS. No se envía al servidor.</a:t>
            </a:r>
            <a:endParaRPr lang="en-US" sz="950" dirty="0"/>
          </a:p>
        </p:txBody>
      </p:sp>
      <p:sp>
        <p:nvSpPr>
          <p:cNvPr id="23" name="Shape 21"/>
          <p:cNvSpPr/>
          <p:nvPr/>
        </p:nvSpPr>
        <p:spPr>
          <a:xfrm>
            <a:off x="4663440" y="3310128"/>
            <a:ext cx="3977640" cy="859536"/>
          </a:xfrm>
          <a:prstGeom prst="roundRect">
            <a:avLst>
              <a:gd name="adj" fmla="val 8511"/>
            </a:avLst>
          </a:prstGeom>
          <a:solidFill>
            <a:srgbClr val="1A2434"/>
          </a:solidFill>
          <a:ln w="12700">
            <a:solidFill>
              <a:srgbClr val="3DDC97"/>
            </a:solidFill>
            <a:prstDash val="solid"/>
          </a:ln>
        </p:spPr>
        <p:txBody>
          <a:bodyPr/>
          <a:lstStyle/>
          <a:p>
            <a:endParaRPr lang="es-CO"/>
          </a:p>
        </p:txBody>
      </p:sp>
      <p:sp>
        <p:nvSpPr>
          <p:cNvPr id="24" name="Text 22"/>
          <p:cNvSpPr txBox="1"/>
          <p:nvPr/>
        </p:nvSpPr>
        <p:spPr>
          <a:xfrm>
            <a:off x="4864608" y="3401568"/>
            <a:ext cx="914400" cy="201168"/>
          </a:xfrm>
          <a:prstGeom prst="rect">
            <a:avLst/>
          </a:prstGeom>
          <a:noFill/>
          <a:ln/>
        </p:spPr>
        <p:txBody>
          <a:bodyPr wrap="square" lIns="0" tIns="0" rIns="0" bIns="0" rtlCol="0" anchor="ctr"/>
          <a:lstStyle/>
          <a:p>
            <a:pPr marL="0" indent="0">
              <a:buNone/>
            </a:pPr>
            <a:r>
              <a:rPr lang="en-US" sz="1100" b="1" dirty="0">
                <a:solidFill>
                  <a:srgbClr val="3DDC97"/>
                </a:solidFill>
                <a:latin typeface="Courier New" pitchFamily="34" charset="0"/>
                <a:ea typeface="Courier New" pitchFamily="34" charset="-122"/>
                <a:cs typeface="Courier New" pitchFamily="34" charset="-120"/>
              </a:rPr>
              <a:t>name</a:t>
            </a:r>
            <a:endParaRPr lang="en-US" sz="1100" dirty="0"/>
          </a:p>
        </p:txBody>
      </p:sp>
      <p:sp>
        <p:nvSpPr>
          <p:cNvPr id="25" name="Text 23"/>
          <p:cNvSpPr txBox="1"/>
          <p:nvPr/>
        </p:nvSpPr>
        <p:spPr>
          <a:xfrm>
            <a:off x="4864608" y="3621024"/>
            <a:ext cx="3602736" cy="457200"/>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Determina la clave con la que el dato viaja al servidor. Sin name, el campo no se envía aunque se vea en pantalla.</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77724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777240"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CÓDIGO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El servidor también debe verificar los datos</a:t>
            </a:r>
            <a:endParaRPr lang="en-US" sz="23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16 / 25</a:t>
            </a:r>
            <a:endParaRPr lang="en-US" sz="800" dirty="0"/>
          </a:p>
        </p:txBody>
      </p:sp>
      <p:sp>
        <p:nvSpPr>
          <p:cNvPr id="6" name="Shape 4"/>
          <p:cNvSpPr/>
          <p:nvPr/>
        </p:nvSpPr>
        <p:spPr>
          <a:xfrm>
            <a:off x="502920" y="1243584"/>
            <a:ext cx="2615184" cy="1005840"/>
          </a:xfrm>
          <a:prstGeom prst="roundRect">
            <a:avLst>
              <a:gd name="adj" fmla="val 7273"/>
            </a:avLst>
          </a:prstGeom>
          <a:solidFill>
            <a:srgbClr val="1A2434"/>
          </a:solidFill>
          <a:ln w="12700">
            <a:solidFill>
              <a:srgbClr val="56C7F2"/>
            </a:solidFill>
            <a:prstDash val="solid"/>
          </a:ln>
        </p:spPr>
        <p:txBody>
          <a:bodyPr/>
          <a:lstStyle/>
          <a:p>
            <a:endParaRPr lang="es-CO"/>
          </a:p>
        </p:txBody>
      </p:sp>
      <p:sp>
        <p:nvSpPr>
          <p:cNvPr id="7" name="Text 5"/>
          <p:cNvSpPr txBox="1"/>
          <p:nvPr/>
        </p:nvSpPr>
        <p:spPr>
          <a:xfrm>
            <a:off x="704088" y="1353312"/>
            <a:ext cx="2231136" cy="201168"/>
          </a:xfrm>
          <a:prstGeom prst="rect">
            <a:avLst/>
          </a:prstGeom>
          <a:noFill/>
          <a:ln/>
        </p:spPr>
        <p:txBody>
          <a:bodyPr wrap="square" lIns="0" tIns="0" rIns="0" bIns="0" rtlCol="0" anchor="ctr"/>
          <a:lstStyle/>
          <a:p>
            <a:pPr marL="0" indent="0">
              <a:buNone/>
            </a:pPr>
            <a:r>
              <a:rPr lang="en-US" sz="1000" b="1" dirty="0">
                <a:solidFill>
                  <a:srgbClr val="56C7F2"/>
                </a:solidFill>
                <a:latin typeface="Arial" pitchFamily="34" charset="0"/>
                <a:ea typeface="Arial" pitchFamily="34" charset="-122"/>
                <a:cs typeface="Arial" pitchFamily="34" charset="-120"/>
              </a:rPr>
              <a:t>required actúa en el navegador</a:t>
            </a:r>
            <a:endParaRPr lang="en-US" sz="1000" dirty="0"/>
          </a:p>
        </p:txBody>
      </p:sp>
      <p:sp>
        <p:nvSpPr>
          <p:cNvPr id="8" name="Text 6"/>
          <p:cNvSpPr txBox="1"/>
          <p:nvPr/>
        </p:nvSpPr>
        <p:spPr>
          <a:xfrm>
            <a:off x="704088" y="1591056"/>
            <a:ext cx="2231136" cy="566928"/>
          </a:xfrm>
          <a:prstGeom prst="rect">
            <a:avLst/>
          </a:prstGeom>
          <a:noFill/>
          <a:ln/>
        </p:spPr>
        <p:txBody>
          <a:bodyPr wrap="square" lIns="0" tIns="0" rIns="0" bIns="0" rtlCol="0" anchor="t"/>
          <a:lstStyle/>
          <a:p>
            <a:pPr marL="0" indent="0">
              <a:buNone/>
            </a:pPr>
            <a:r>
              <a:rPr lang="en-US" sz="900" dirty="0">
                <a:solidFill>
                  <a:srgbClr val="E8EEF6"/>
                </a:solidFill>
                <a:latin typeface="Calibri" pitchFamily="34" charset="0"/>
                <a:ea typeface="Calibri" pitchFamily="34" charset="-122"/>
                <a:cs typeface="Calibri" pitchFamily="34" charset="-120"/>
              </a:rPr>
              <a:t>Impide el envío desde la interfaz. Es una comodidad para el usuario.</a:t>
            </a:r>
            <a:endParaRPr lang="en-US" sz="900" dirty="0"/>
          </a:p>
        </p:txBody>
      </p:sp>
      <p:sp>
        <p:nvSpPr>
          <p:cNvPr id="9" name="Shape 7"/>
          <p:cNvSpPr/>
          <p:nvPr/>
        </p:nvSpPr>
        <p:spPr>
          <a:xfrm>
            <a:off x="3264408" y="1243584"/>
            <a:ext cx="2615184" cy="1005840"/>
          </a:xfrm>
          <a:prstGeom prst="roundRect">
            <a:avLst>
              <a:gd name="adj" fmla="val 7273"/>
            </a:avLst>
          </a:prstGeom>
          <a:solidFill>
            <a:srgbClr val="1A2434"/>
          </a:solidFill>
          <a:ln w="12700">
            <a:solidFill>
              <a:srgbClr val="FFB86C"/>
            </a:solidFill>
            <a:prstDash val="solid"/>
          </a:ln>
        </p:spPr>
        <p:txBody>
          <a:bodyPr/>
          <a:lstStyle/>
          <a:p>
            <a:endParaRPr lang="es-CO"/>
          </a:p>
        </p:txBody>
      </p:sp>
      <p:sp>
        <p:nvSpPr>
          <p:cNvPr id="10" name="Text 8"/>
          <p:cNvSpPr txBox="1"/>
          <p:nvPr/>
        </p:nvSpPr>
        <p:spPr>
          <a:xfrm>
            <a:off x="3465576" y="1353312"/>
            <a:ext cx="2231136" cy="201168"/>
          </a:xfrm>
          <a:prstGeom prst="rect">
            <a:avLst/>
          </a:prstGeom>
          <a:noFill/>
          <a:ln/>
        </p:spPr>
        <p:txBody>
          <a:bodyPr wrap="square" lIns="0" tIns="0" rIns="0" bIns="0" rtlCol="0" anchor="ctr"/>
          <a:lstStyle/>
          <a:p>
            <a:pPr marL="0" indent="0">
              <a:buNone/>
            </a:pPr>
            <a:r>
              <a:rPr lang="en-US" sz="1000" b="1" dirty="0">
                <a:solidFill>
                  <a:srgbClr val="FFB86C"/>
                </a:solidFill>
                <a:latin typeface="Arial" pitchFamily="34" charset="0"/>
                <a:ea typeface="Arial" pitchFamily="34" charset="-122"/>
                <a:cs typeface="Arial" pitchFamily="34" charset="-120"/>
              </a:rPr>
              <a:t>Esa validación puede evitarse</a:t>
            </a:r>
            <a:endParaRPr lang="en-US" sz="1000" dirty="0"/>
          </a:p>
        </p:txBody>
      </p:sp>
      <p:sp>
        <p:nvSpPr>
          <p:cNvPr id="11" name="Text 9"/>
          <p:cNvSpPr txBox="1"/>
          <p:nvPr/>
        </p:nvSpPr>
        <p:spPr>
          <a:xfrm>
            <a:off x="3465576" y="1591056"/>
            <a:ext cx="2231136" cy="566928"/>
          </a:xfrm>
          <a:prstGeom prst="rect">
            <a:avLst/>
          </a:prstGeom>
          <a:noFill/>
          <a:ln/>
        </p:spPr>
        <p:txBody>
          <a:bodyPr wrap="square" lIns="0" tIns="0" rIns="0" bIns="0" rtlCol="0" anchor="t"/>
          <a:lstStyle/>
          <a:p>
            <a:pPr marL="0" indent="0">
              <a:buNone/>
            </a:pPr>
            <a:r>
              <a:rPr lang="en-US" sz="900" dirty="0">
                <a:solidFill>
                  <a:srgbClr val="E8EEF6"/>
                </a:solidFill>
                <a:latin typeface="Calibri" pitchFamily="34" charset="0"/>
                <a:ea typeface="Calibri" pitchFamily="34" charset="-122"/>
                <a:cs typeface="Calibri" pitchFamily="34" charset="-120"/>
              </a:rPr>
              <a:t>Basta con desactivarla desde las herramientas del navegador o enviar la petición con otra herramienta.</a:t>
            </a:r>
            <a:endParaRPr lang="en-US" sz="900" dirty="0"/>
          </a:p>
        </p:txBody>
      </p:sp>
      <p:sp>
        <p:nvSpPr>
          <p:cNvPr id="12" name="Shape 10"/>
          <p:cNvSpPr/>
          <p:nvPr/>
        </p:nvSpPr>
        <p:spPr>
          <a:xfrm>
            <a:off x="6025896" y="1243584"/>
            <a:ext cx="2615184" cy="1005840"/>
          </a:xfrm>
          <a:prstGeom prst="roundRect">
            <a:avLst>
              <a:gd name="adj" fmla="val 7273"/>
            </a:avLst>
          </a:prstGeom>
          <a:solidFill>
            <a:srgbClr val="1A2434"/>
          </a:solidFill>
          <a:ln w="12700">
            <a:solidFill>
              <a:srgbClr val="3DDC97"/>
            </a:solidFill>
            <a:prstDash val="solid"/>
          </a:ln>
        </p:spPr>
        <p:txBody>
          <a:bodyPr/>
          <a:lstStyle/>
          <a:p>
            <a:endParaRPr lang="es-CO"/>
          </a:p>
        </p:txBody>
      </p:sp>
      <p:sp>
        <p:nvSpPr>
          <p:cNvPr id="13" name="Text 11"/>
          <p:cNvSpPr txBox="1"/>
          <p:nvPr/>
        </p:nvSpPr>
        <p:spPr>
          <a:xfrm>
            <a:off x="6227064" y="1353312"/>
            <a:ext cx="2231136" cy="201168"/>
          </a:xfrm>
          <a:prstGeom prst="rect">
            <a:avLst/>
          </a:prstGeom>
          <a:noFill/>
          <a:ln/>
        </p:spPr>
        <p:txBody>
          <a:bodyPr wrap="square" lIns="0" tIns="0" rIns="0" bIns="0" rtlCol="0" anchor="ctr"/>
          <a:lstStyle/>
          <a:p>
            <a:pPr marL="0" indent="0">
              <a:buNone/>
            </a:pPr>
            <a:r>
              <a:rPr lang="en-US" sz="1000" b="1" dirty="0">
                <a:solidFill>
                  <a:srgbClr val="3DDC97"/>
                </a:solidFill>
                <a:latin typeface="Arial" pitchFamily="34" charset="0"/>
                <a:ea typeface="Arial" pitchFamily="34" charset="-122"/>
                <a:cs typeface="Arial" pitchFamily="34" charset="-120"/>
              </a:rPr>
              <a:t>El backend no debe confiar</a:t>
            </a:r>
            <a:endParaRPr lang="en-US" sz="1000" dirty="0"/>
          </a:p>
        </p:txBody>
      </p:sp>
      <p:sp>
        <p:nvSpPr>
          <p:cNvPr id="14" name="Text 12"/>
          <p:cNvSpPr txBox="1"/>
          <p:nvPr/>
        </p:nvSpPr>
        <p:spPr>
          <a:xfrm>
            <a:off x="6227064" y="1591056"/>
            <a:ext cx="2231136" cy="566928"/>
          </a:xfrm>
          <a:prstGeom prst="rect">
            <a:avLst/>
          </a:prstGeom>
          <a:noFill/>
          <a:ln/>
        </p:spPr>
        <p:txBody>
          <a:bodyPr wrap="square" lIns="0" tIns="0" rIns="0" bIns="0" rtlCol="0" anchor="t"/>
          <a:lstStyle/>
          <a:p>
            <a:pPr marL="0" indent="0">
              <a:buNone/>
            </a:pPr>
            <a:r>
              <a:rPr lang="en-US" sz="900" dirty="0">
                <a:solidFill>
                  <a:srgbClr val="E8EEF6"/>
                </a:solidFill>
                <a:latin typeface="Calibri" pitchFamily="34" charset="0"/>
                <a:ea typeface="Calibri" pitchFamily="34" charset="-122"/>
                <a:cs typeface="Calibri" pitchFamily="34" charset="-120"/>
              </a:rPr>
              <a:t>Los datos recibidos son entrada externa. El servidor los verifica siempre, sin excepción.</a:t>
            </a:r>
            <a:endParaRPr lang="en-US" sz="900" dirty="0"/>
          </a:p>
        </p:txBody>
      </p:sp>
      <p:sp>
        <p:nvSpPr>
          <p:cNvPr id="15" name="Shape 13"/>
          <p:cNvSpPr/>
          <p:nvPr/>
        </p:nvSpPr>
        <p:spPr>
          <a:xfrm>
            <a:off x="502920" y="2359152"/>
            <a:ext cx="4846320" cy="1700784"/>
          </a:xfrm>
          <a:prstGeom prst="roundRect">
            <a:avLst>
              <a:gd name="adj" fmla="val 4301"/>
            </a:avLst>
          </a:prstGeom>
          <a:solidFill>
            <a:srgbClr val="070C14"/>
          </a:solidFill>
          <a:ln w="12700">
            <a:solidFill>
              <a:srgbClr val="2B3B52"/>
            </a:solidFill>
            <a:prstDash val="solid"/>
          </a:ln>
        </p:spPr>
        <p:txBody>
          <a:bodyPr/>
          <a:lstStyle/>
          <a:p>
            <a:endParaRPr lang="es-CO"/>
          </a:p>
        </p:txBody>
      </p:sp>
      <p:sp>
        <p:nvSpPr>
          <p:cNvPr id="16" name="Text 14"/>
          <p:cNvSpPr txBox="1"/>
          <p:nvPr/>
        </p:nvSpPr>
        <p:spPr>
          <a:xfrm>
            <a:off x="649224" y="2414016"/>
            <a:ext cx="4553712" cy="182880"/>
          </a:xfrm>
          <a:prstGeom prst="rect">
            <a:avLst/>
          </a:prstGeom>
          <a:noFill/>
          <a:ln/>
        </p:spPr>
        <p:txBody>
          <a:bodyPr wrap="square" lIns="0" tIns="0" rIns="0" bIns="0" rtlCol="0" anchor="ctr"/>
          <a:lstStyle/>
          <a:p>
            <a:pPr marL="0" indent="0">
              <a:buNone/>
            </a:pPr>
            <a:r>
              <a:rPr lang="en-US" sz="850" b="1" dirty="0">
                <a:solidFill>
                  <a:srgbClr val="6C7E96"/>
                </a:solidFill>
                <a:latin typeface="Courier New" pitchFamily="34" charset="0"/>
                <a:ea typeface="Courier New" pitchFamily="34" charset="-122"/>
                <a:cs typeface="Courier New" pitchFamily="34" charset="-120"/>
              </a:rPr>
              <a:t>validación mínima en el servidor</a:t>
            </a:r>
            <a:endParaRPr lang="en-US" sz="850" dirty="0"/>
          </a:p>
        </p:txBody>
      </p:sp>
      <p:sp>
        <p:nvSpPr>
          <p:cNvPr id="17" name="Text 15"/>
          <p:cNvSpPr txBox="1"/>
          <p:nvPr/>
        </p:nvSpPr>
        <p:spPr>
          <a:xfrm>
            <a:off x="649224" y="2633472"/>
            <a:ext cx="4553712" cy="1371600"/>
          </a:xfrm>
          <a:prstGeom prst="rect">
            <a:avLst/>
          </a:prstGeom>
          <a:noFill/>
          <a:ln/>
        </p:spPr>
        <p:txBody>
          <a:bodyPr wrap="square" lIns="0" tIns="0" rIns="0" bIns="0" rtlCol="0" anchor="t"/>
          <a:lstStyle/>
          <a:p>
            <a:pPr marL="0" indent="0">
              <a:lnSpc>
                <a:spcPts val="1188"/>
              </a:lnSpc>
              <a:buNone/>
            </a:pPr>
            <a:r>
              <a:rPr lang="en-US" sz="900" dirty="0">
                <a:solidFill>
                  <a:srgbClr val="FFB86C"/>
                </a:solidFill>
                <a:latin typeface="Courier New" pitchFamily="34" charset="0"/>
                <a:ea typeface="Courier New" pitchFamily="34" charset="-122"/>
                <a:cs typeface="Courier New" pitchFamily="34" charset="-120"/>
              </a:rPr>
              <a:t>if</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56C7F2"/>
                </a:solidFill>
                <a:latin typeface="Courier New" pitchFamily="34" charset="0"/>
                <a:ea typeface="Courier New" pitchFamily="34" charset="-122"/>
                <a:cs typeface="Courier New" pitchFamily="34" charset="-120"/>
              </a:rPr>
              <a:t>nombre</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56C7F2"/>
                </a:solidFill>
                <a:latin typeface="Courier New" pitchFamily="34" charset="0"/>
                <a:ea typeface="Courier New" pitchFamily="34" charset="-122"/>
                <a:cs typeface="Courier New" pitchFamily="34" charset="-120"/>
              </a:rPr>
              <a:t>correo</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56C7F2"/>
                </a:solidFill>
                <a:latin typeface="Courier New" pitchFamily="34" charset="0"/>
                <a:ea typeface="Courier New" pitchFamily="34" charset="-122"/>
                <a:cs typeface="Courier New" pitchFamily="34" charset="-120"/>
              </a:rPr>
              <a:t>mensaje</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res</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writeHead</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FFD479"/>
                </a:solidFill>
                <a:latin typeface="Courier New" pitchFamily="34" charset="0"/>
                <a:ea typeface="Courier New" pitchFamily="34" charset="-122"/>
                <a:cs typeface="Courier New" pitchFamily="34" charset="-120"/>
              </a:rPr>
              <a:t>400</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D479"/>
                </a:solidFill>
                <a:latin typeface="Courier New" pitchFamily="34" charset="0"/>
                <a:ea typeface="Courier New" pitchFamily="34" charset="-122"/>
                <a:cs typeface="Courier New" pitchFamily="34" charset="-120"/>
              </a:rPr>
              <a:t>'Content-Type'</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D479"/>
                </a:solidFill>
                <a:latin typeface="Courier New" pitchFamily="34" charset="0"/>
                <a:ea typeface="Courier New" pitchFamily="34" charset="-122"/>
                <a:cs typeface="Courier New" pitchFamily="34" charset="-120"/>
              </a:rPr>
              <a:t>'text/html; charset=UTF-8'</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B86C"/>
                </a:solidFill>
                <a:latin typeface="Courier New" pitchFamily="34" charset="0"/>
                <a:ea typeface="Courier New" pitchFamily="34" charset="-122"/>
                <a:cs typeface="Courier New" pitchFamily="34" charset="-120"/>
              </a:rPr>
              <a:t>return</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res</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end</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&lt;</a:t>
            </a:r>
            <a:r>
              <a:rPr lang="en-US" sz="900" dirty="0">
                <a:solidFill>
                  <a:srgbClr val="56C7F2"/>
                </a:solidFill>
                <a:latin typeface="Courier New" pitchFamily="34" charset="0"/>
                <a:ea typeface="Courier New" pitchFamily="34" charset="-122"/>
                <a:cs typeface="Courier New" pitchFamily="34" charset="-120"/>
              </a:rPr>
              <a:t>h1</a:t>
            </a:r>
            <a:r>
              <a:rPr lang="en-US" sz="900" dirty="0">
                <a:solidFill>
                  <a:srgbClr val="93A5BD"/>
                </a:solidFill>
                <a:latin typeface="Courier New" pitchFamily="34" charset="0"/>
                <a:ea typeface="Courier New" pitchFamily="34" charset="-122"/>
                <a:cs typeface="Courier New" pitchFamily="34" charset="-120"/>
              </a:rPr>
              <a:t>&gt;</a:t>
            </a:r>
            <a:r>
              <a:rPr lang="en-US" sz="900" dirty="0">
                <a:solidFill>
                  <a:srgbClr val="56C7F2"/>
                </a:solidFill>
                <a:latin typeface="Courier New" pitchFamily="34" charset="0"/>
                <a:ea typeface="Courier New" pitchFamily="34" charset="-122"/>
                <a:cs typeface="Courier New" pitchFamily="34" charset="-120"/>
              </a:rPr>
              <a:t>Solicitud</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incorrecta</a:t>
            </a:r>
            <a:r>
              <a:rPr lang="en-US" sz="900" dirty="0">
                <a:solidFill>
                  <a:srgbClr val="93A5BD"/>
                </a:solidFill>
                <a:latin typeface="Courier New" pitchFamily="34" charset="0"/>
                <a:ea typeface="Courier New" pitchFamily="34" charset="-122"/>
                <a:cs typeface="Courier New" pitchFamily="34" charset="-120"/>
              </a:rPr>
              <a:t>&lt;/</a:t>
            </a:r>
            <a:r>
              <a:rPr lang="en-US" sz="900" dirty="0">
                <a:solidFill>
                  <a:srgbClr val="56C7F2"/>
                </a:solidFill>
                <a:latin typeface="Courier New" pitchFamily="34" charset="0"/>
                <a:ea typeface="Courier New" pitchFamily="34" charset="-122"/>
                <a:cs typeface="Courier New" pitchFamily="34" charset="-120"/>
              </a:rPr>
              <a:t>h1</a:t>
            </a:r>
            <a:r>
              <a:rPr lang="en-US" sz="900" dirty="0">
                <a:solidFill>
                  <a:srgbClr val="93A5BD"/>
                </a:solidFill>
                <a:latin typeface="Courier New" pitchFamily="34" charset="0"/>
                <a:ea typeface="Courier New" pitchFamily="34" charset="-122"/>
                <a:cs typeface="Courier New" pitchFamily="34" charset="-120"/>
              </a:rPr>
              <a:t>&gt;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&lt;</a:t>
            </a:r>
            <a:r>
              <a:rPr lang="en-US" sz="900" dirty="0">
                <a:solidFill>
                  <a:srgbClr val="56C7F2"/>
                </a:solidFill>
                <a:latin typeface="Courier New" pitchFamily="34" charset="0"/>
                <a:ea typeface="Courier New" pitchFamily="34" charset="-122"/>
                <a:cs typeface="Courier New" pitchFamily="34" charset="-120"/>
              </a:rPr>
              <a:t>p</a:t>
            </a:r>
            <a:r>
              <a:rPr lang="en-US" sz="900" dirty="0">
                <a:solidFill>
                  <a:srgbClr val="93A5BD"/>
                </a:solidFill>
                <a:latin typeface="Courier New" pitchFamily="34" charset="0"/>
                <a:ea typeface="Courier New" pitchFamily="34" charset="-122"/>
                <a:cs typeface="Courier New" pitchFamily="34" charset="-120"/>
              </a:rPr>
              <a:t>&gt;</a:t>
            </a:r>
            <a:r>
              <a:rPr lang="en-US" sz="900" dirty="0">
                <a:solidFill>
                  <a:srgbClr val="56C7F2"/>
                </a:solidFill>
                <a:latin typeface="Courier New" pitchFamily="34" charset="0"/>
                <a:ea typeface="Courier New" pitchFamily="34" charset="-122"/>
                <a:cs typeface="Courier New" pitchFamily="34" charset="-120"/>
              </a:rPr>
              <a:t>Todos</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los</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campos</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son</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obligatorios</a:t>
            </a:r>
            <a:r>
              <a:rPr lang="en-US" sz="900" dirty="0">
                <a:solidFill>
                  <a:srgbClr val="93A5BD"/>
                </a:solidFill>
                <a:latin typeface="Courier New" pitchFamily="34" charset="0"/>
                <a:ea typeface="Courier New" pitchFamily="34" charset="-122"/>
                <a:cs typeface="Courier New" pitchFamily="34" charset="-120"/>
              </a:rPr>
              <a:t>.&lt;/</a:t>
            </a:r>
            <a:r>
              <a:rPr lang="en-US" sz="900" dirty="0">
                <a:solidFill>
                  <a:srgbClr val="56C7F2"/>
                </a:solidFill>
                <a:latin typeface="Courier New" pitchFamily="34" charset="0"/>
                <a:ea typeface="Courier New" pitchFamily="34" charset="-122"/>
                <a:cs typeface="Courier New" pitchFamily="34" charset="-120"/>
              </a:rPr>
              <a:t>p</a:t>
            </a:r>
            <a:r>
              <a:rPr lang="en-US" sz="900" dirty="0">
                <a:solidFill>
                  <a:srgbClr val="93A5BD"/>
                </a:solidFill>
                <a:latin typeface="Courier New" pitchFamily="34" charset="0"/>
                <a:ea typeface="Courier New" pitchFamily="34" charset="-122"/>
                <a:cs typeface="Courier New" pitchFamily="34" charset="-120"/>
              </a:rPr>
              <a:t>&gt;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93A5BD"/>
                </a:solidFill>
                <a:latin typeface="Courier New" pitchFamily="34" charset="0"/>
                <a:ea typeface="Courier New" pitchFamily="34" charset="-122"/>
                <a:cs typeface="Courier New" pitchFamily="34" charset="-120"/>
              </a:rPr>
              <a:t>}</a:t>
            </a:r>
            <a:endParaRPr lang="en-US" sz="900" dirty="0"/>
          </a:p>
        </p:txBody>
      </p:sp>
      <p:sp>
        <p:nvSpPr>
          <p:cNvPr id="18" name="Shape 16"/>
          <p:cNvSpPr/>
          <p:nvPr/>
        </p:nvSpPr>
        <p:spPr>
          <a:xfrm>
            <a:off x="5532120" y="2359152"/>
            <a:ext cx="3108960" cy="1700784"/>
          </a:xfrm>
          <a:prstGeom prst="roundRect">
            <a:avLst>
              <a:gd name="adj" fmla="val 4301"/>
            </a:avLst>
          </a:prstGeom>
          <a:solidFill>
            <a:srgbClr val="1A2434"/>
          </a:solidFill>
          <a:ln w="12700">
            <a:solidFill>
              <a:srgbClr val="2B3B52"/>
            </a:solidFill>
            <a:prstDash val="solid"/>
          </a:ln>
        </p:spPr>
        <p:txBody>
          <a:bodyPr/>
          <a:lstStyle/>
          <a:p>
            <a:endParaRPr lang="es-CO"/>
          </a:p>
        </p:txBody>
      </p:sp>
      <p:sp>
        <p:nvSpPr>
          <p:cNvPr id="19" name="Text 17"/>
          <p:cNvSpPr txBox="1"/>
          <p:nvPr/>
        </p:nvSpPr>
        <p:spPr>
          <a:xfrm>
            <a:off x="5715000" y="2468880"/>
            <a:ext cx="2743200" cy="201168"/>
          </a:xfrm>
          <a:prstGeom prst="rect">
            <a:avLst/>
          </a:prstGeom>
          <a:noFill/>
          <a:ln/>
        </p:spPr>
        <p:txBody>
          <a:bodyPr wrap="square" lIns="0" tIns="0" rIns="0" bIns="0" rtlCol="0" anchor="ctr"/>
          <a:lstStyle/>
          <a:p>
            <a:pPr marL="0" indent="0">
              <a:buNone/>
            </a:pPr>
            <a:r>
              <a:rPr lang="en-US" sz="1050" b="1" dirty="0">
                <a:solidFill>
                  <a:srgbClr val="93A5BD"/>
                </a:solidFill>
                <a:latin typeface="Arial" pitchFamily="34" charset="0"/>
                <a:ea typeface="Arial" pitchFamily="34" charset="-122"/>
                <a:cs typeface="Arial" pitchFamily="34" charset="-120"/>
              </a:rPr>
              <a:t>Precisiones</a:t>
            </a:r>
            <a:endParaRPr lang="en-US" sz="1050" dirty="0"/>
          </a:p>
        </p:txBody>
      </p:sp>
      <p:sp>
        <p:nvSpPr>
          <p:cNvPr id="20" name="Text 18"/>
          <p:cNvSpPr txBox="1"/>
          <p:nvPr/>
        </p:nvSpPr>
        <p:spPr>
          <a:xfrm>
            <a:off x="5715000" y="2706624"/>
            <a:ext cx="640080" cy="384048"/>
          </a:xfrm>
          <a:prstGeom prst="rect">
            <a:avLst/>
          </a:prstGeom>
          <a:noFill/>
          <a:ln/>
        </p:spPr>
        <p:txBody>
          <a:bodyPr wrap="square" lIns="0" tIns="0" rIns="0" bIns="0" rtlCol="0" anchor="ctr"/>
          <a:lstStyle/>
          <a:p>
            <a:pPr marL="0" indent="0">
              <a:buNone/>
            </a:pPr>
            <a:r>
              <a:rPr lang="en-US" sz="900" b="1" dirty="0">
                <a:solidFill>
                  <a:srgbClr val="FFB86C"/>
                </a:solidFill>
                <a:latin typeface="Courier New" pitchFamily="34" charset="0"/>
                <a:ea typeface="Courier New" pitchFamily="34" charset="-122"/>
                <a:cs typeface="Courier New" pitchFamily="34" charset="-120"/>
              </a:rPr>
              <a:t>400</a:t>
            </a:r>
            <a:endParaRPr lang="en-US" sz="900" dirty="0"/>
          </a:p>
        </p:txBody>
      </p:sp>
      <p:sp>
        <p:nvSpPr>
          <p:cNvPr id="21" name="Text 19"/>
          <p:cNvSpPr txBox="1"/>
          <p:nvPr/>
        </p:nvSpPr>
        <p:spPr>
          <a:xfrm>
            <a:off x="6382512" y="2706624"/>
            <a:ext cx="2130552" cy="384048"/>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Solicitud incorrecta: el problema está en lo que llegó.</a:t>
            </a:r>
            <a:endParaRPr lang="en-US" sz="850" dirty="0"/>
          </a:p>
        </p:txBody>
      </p:sp>
      <p:sp>
        <p:nvSpPr>
          <p:cNvPr id="22" name="Text 20"/>
          <p:cNvSpPr txBox="1"/>
          <p:nvPr/>
        </p:nvSpPr>
        <p:spPr>
          <a:xfrm>
            <a:off x="5715000" y="3127248"/>
            <a:ext cx="640080" cy="384048"/>
          </a:xfrm>
          <a:prstGeom prst="rect">
            <a:avLst/>
          </a:prstGeom>
          <a:noFill/>
          <a:ln/>
        </p:spPr>
        <p:txBody>
          <a:bodyPr wrap="square" lIns="0" tIns="0" rIns="0" bIns="0" rtlCol="0" anchor="ctr"/>
          <a:lstStyle/>
          <a:p>
            <a:pPr marL="0" indent="0">
              <a:buNone/>
            </a:pPr>
            <a:r>
              <a:rPr lang="en-US" sz="900" b="1" dirty="0">
                <a:solidFill>
                  <a:srgbClr val="56C7F2"/>
                </a:solidFill>
                <a:latin typeface="Courier New" pitchFamily="34" charset="0"/>
                <a:ea typeface="Courier New" pitchFamily="34" charset="-122"/>
                <a:cs typeface="Courier New" pitchFamily="34" charset="-120"/>
              </a:rPr>
              <a:t>trim()</a:t>
            </a:r>
            <a:endParaRPr lang="en-US" sz="900" dirty="0"/>
          </a:p>
        </p:txBody>
      </p:sp>
      <p:sp>
        <p:nvSpPr>
          <p:cNvPr id="23" name="Text 21"/>
          <p:cNvSpPr txBox="1"/>
          <p:nvPr/>
        </p:nvSpPr>
        <p:spPr>
          <a:xfrm>
            <a:off x="6382512" y="3127248"/>
            <a:ext cx="2130552" cy="384048"/>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Conviene aplicarlo para descartar campos con solo espacios.</a:t>
            </a:r>
            <a:endParaRPr lang="en-US" sz="850" dirty="0"/>
          </a:p>
        </p:txBody>
      </p:sp>
      <p:sp>
        <p:nvSpPr>
          <p:cNvPr id="24" name="Text 22"/>
          <p:cNvSpPr txBox="1"/>
          <p:nvPr/>
        </p:nvSpPr>
        <p:spPr>
          <a:xfrm>
            <a:off x="5715000" y="3547872"/>
            <a:ext cx="640080" cy="384048"/>
          </a:xfrm>
          <a:prstGeom prst="rect">
            <a:avLst/>
          </a:prstGeom>
          <a:noFill/>
          <a:ln/>
        </p:spPr>
        <p:txBody>
          <a:bodyPr wrap="square" lIns="0" tIns="0" rIns="0" bIns="0" rtlCol="0" anchor="ctr"/>
          <a:lstStyle/>
          <a:p>
            <a:pPr marL="0" indent="0">
              <a:buNone/>
            </a:pPr>
            <a:r>
              <a:rPr lang="en-US" sz="900" b="1" dirty="0">
                <a:solidFill>
                  <a:srgbClr val="3DDC97"/>
                </a:solidFill>
                <a:latin typeface="Courier New" pitchFamily="34" charset="0"/>
                <a:ea typeface="Courier New" pitchFamily="34" charset="-122"/>
                <a:cs typeface="Courier New" pitchFamily="34" charset="-120"/>
              </a:rPr>
              <a:t>required</a:t>
            </a:r>
            <a:endParaRPr lang="en-US" sz="900" dirty="0"/>
          </a:p>
        </p:txBody>
      </p:sp>
      <p:sp>
        <p:nvSpPr>
          <p:cNvPr id="25" name="Text 23"/>
          <p:cNvSpPr txBox="1"/>
          <p:nvPr/>
        </p:nvSpPr>
        <p:spPr>
          <a:xfrm>
            <a:off x="6382512" y="3547872"/>
            <a:ext cx="2130552" cy="384048"/>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No tiene ninguna relación con req.method ni con el servidor.</a:t>
            </a:r>
            <a:endParaRPr lang="en-US" sz="850" dirty="0"/>
          </a:p>
        </p:txBody>
      </p:sp>
      <p:sp>
        <p:nvSpPr>
          <p:cNvPr id="26" name="Text 24"/>
          <p:cNvSpPr txBox="1"/>
          <p:nvPr/>
        </p:nvSpPr>
        <p:spPr>
          <a:xfrm>
            <a:off x="502920" y="4151376"/>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La validación del navegador y la del servidor no se sustituyen: la primera mejora la experiencia, la segunda protege la aplicación.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1036015"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036015"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TRANSICIÓN</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Los datos llegaron, pero todavía no permanecen</a:t>
            </a:r>
            <a:endParaRPr lang="en-US" sz="23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17 / 25</a:t>
            </a:r>
            <a:endParaRPr lang="en-US" sz="800" dirty="0"/>
          </a:p>
        </p:txBody>
      </p:sp>
      <p:sp>
        <p:nvSpPr>
          <p:cNvPr id="6" name="Text 4"/>
          <p:cNvSpPr txBox="1"/>
          <p:nvPr/>
        </p:nvSpPr>
        <p:spPr>
          <a:xfrm>
            <a:off x="502920" y="1243584"/>
            <a:ext cx="8138160" cy="182880"/>
          </a:xfrm>
          <a:prstGeom prst="rect">
            <a:avLst/>
          </a:prstGeom>
          <a:noFill/>
          <a:ln/>
        </p:spPr>
        <p:txBody>
          <a:bodyPr wrap="square" lIns="0" tIns="0" rIns="0" bIns="0" rtlCol="0" anchor="ctr"/>
          <a:lstStyle/>
          <a:p>
            <a:pPr marL="0" indent="0">
              <a:buNone/>
            </a:pPr>
            <a:r>
              <a:rPr lang="en-US" sz="900" b="1" dirty="0">
                <a:solidFill>
                  <a:srgbClr val="6C7E96"/>
                </a:solidFill>
                <a:latin typeface="Arial" pitchFamily="34" charset="0"/>
                <a:ea typeface="Arial" pitchFamily="34" charset="-122"/>
                <a:cs typeface="Arial" pitchFamily="34" charset="-120"/>
              </a:rPr>
              <a:t>Disponibles en la memoria del proceso</a:t>
            </a:r>
            <a:endParaRPr lang="en-US" sz="900" dirty="0"/>
          </a:p>
        </p:txBody>
      </p:sp>
      <p:sp>
        <p:nvSpPr>
          <p:cNvPr id="7" name="Shape 5"/>
          <p:cNvSpPr/>
          <p:nvPr/>
        </p:nvSpPr>
        <p:spPr>
          <a:xfrm>
            <a:off x="502920" y="1481328"/>
            <a:ext cx="2615184" cy="475488"/>
          </a:xfrm>
          <a:prstGeom prst="roundRect">
            <a:avLst>
              <a:gd name="adj" fmla="val 17308"/>
            </a:avLst>
          </a:prstGeom>
          <a:solidFill>
            <a:srgbClr val="1A2434"/>
          </a:solidFill>
          <a:ln w="12700">
            <a:solidFill>
              <a:srgbClr val="3DDC97"/>
            </a:solidFill>
            <a:prstDash val="solid"/>
          </a:ln>
        </p:spPr>
        <p:txBody>
          <a:bodyPr/>
          <a:lstStyle/>
          <a:p>
            <a:endParaRPr lang="es-CO"/>
          </a:p>
        </p:txBody>
      </p:sp>
      <p:sp>
        <p:nvSpPr>
          <p:cNvPr id="8" name="Text 6"/>
          <p:cNvSpPr txBox="1"/>
          <p:nvPr/>
        </p:nvSpPr>
        <p:spPr>
          <a:xfrm>
            <a:off x="502920" y="1481328"/>
            <a:ext cx="2615184" cy="475488"/>
          </a:xfrm>
          <a:prstGeom prst="rect">
            <a:avLst/>
          </a:prstGeom>
          <a:noFill/>
          <a:ln/>
        </p:spPr>
        <p:txBody>
          <a:bodyPr wrap="square" lIns="0" tIns="0" rIns="0" bIns="0" rtlCol="0" anchor="ctr"/>
          <a:lstStyle/>
          <a:p>
            <a:pPr marL="0" indent="0" algn="ctr">
              <a:buNone/>
            </a:pPr>
            <a:r>
              <a:rPr lang="en-US" sz="1200" b="1" dirty="0">
                <a:solidFill>
                  <a:srgbClr val="3DDC97"/>
                </a:solidFill>
                <a:latin typeface="Arial" pitchFamily="34" charset="0"/>
                <a:ea typeface="Arial" pitchFamily="34" charset="-122"/>
                <a:cs typeface="Arial" pitchFamily="34" charset="-120"/>
              </a:rPr>
              <a:t>nombre</a:t>
            </a:r>
            <a:endParaRPr lang="en-US" sz="1200" dirty="0"/>
          </a:p>
        </p:txBody>
      </p:sp>
      <p:sp>
        <p:nvSpPr>
          <p:cNvPr id="9" name="Shape 7"/>
          <p:cNvSpPr/>
          <p:nvPr/>
        </p:nvSpPr>
        <p:spPr>
          <a:xfrm>
            <a:off x="3264408" y="1481328"/>
            <a:ext cx="2615184" cy="475488"/>
          </a:xfrm>
          <a:prstGeom prst="roundRect">
            <a:avLst>
              <a:gd name="adj" fmla="val 17308"/>
            </a:avLst>
          </a:prstGeom>
          <a:solidFill>
            <a:srgbClr val="1A2434"/>
          </a:solidFill>
          <a:ln w="12700">
            <a:solidFill>
              <a:srgbClr val="3DDC97"/>
            </a:solidFill>
            <a:prstDash val="solid"/>
          </a:ln>
        </p:spPr>
        <p:txBody>
          <a:bodyPr/>
          <a:lstStyle/>
          <a:p>
            <a:endParaRPr lang="es-CO"/>
          </a:p>
        </p:txBody>
      </p:sp>
      <p:sp>
        <p:nvSpPr>
          <p:cNvPr id="10" name="Text 8"/>
          <p:cNvSpPr txBox="1"/>
          <p:nvPr/>
        </p:nvSpPr>
        <p:spPr>
          <a:xfrm>
            <a:off x="3264408" y="1481328"/>
            <a:ext cx="2615184" cy="475488"/>
          </a:xfrm>
          <a:prstGeom prst="rect">
            <a:avLst/>
          </a:prstGeom>
          <a:noFill/>
          <a:ln/>
        </p:spPr>
        <p:txBody>
          <a:bodyPr wrap="square" lIns="0" tIns="0" rIns="0" bIns="0" rtlCol="0" anchor="ctr"/>
          <a:lstStyle/>
          <a:p>
            <a:pPr marL="0" indent="0" algn="ctr">
              <a:buNone/>
            </a:pPr>
            <a:r>
              <a:rPr lang="en-US" sz="1200" b="1" dirty="0">
                <a:solidFill>
                  <a:srgbClr val="3DDC97"/>
                </a:solidFill>
                <a:latin typeface="Arial" pitchFamily="34" charset="0"/>
                <a:ea typeface="Arial" pitchFamily="34" charset="-122"/>
                <a:cs typeface="Arial" pitchFamily="34" charset="-120"/>
              </a:rPr>
              <a:t>correo</a:t>
            </a:r>
            <a:endParaRPr lang="en-US" sz="1200" dirty="0"/>
          </a:p>
        </p:txBody>
      </p:sp>
      <p:sp>
        <p:nvSpPr>
          <p:cNvPr id="11" name="Shape 9"/>
          <p:cNvSpPr/>
          <p:nvPr/>
        </p:nvSpPr>
        <p:spPr>
          <a:xfrm>
            <a:off x="6025896" y="1481328"/>
            <a:ext cx="2615184" cy="475488"/>
          </a:xfrm>
          <a:prstGeom prst="roundRect">
            <a:avLst>
              <a:gd name="adj" fmla="val 17308"/>
            </a:avLst>
          </a:prstGeom>
          <a:solidFill>
            <a:srgbClr val="1A2434"/>
          </a:solidFill>
          <a:ln w="12700">
            <a:solidFill>
              <a:srgbClr val="3DDC97"/>
            </a:solidFill>
            <a:prstDash val="solid"/>
          </a:ln>
        </p:spPr>
        <p:txBody>
          <a:bodyPr/>
          <a:lstStyle/>
          <a:p>
            <a:endParaRPr lang="es-CO"/>
          </a:p>
        </p:txBody>
      </p:sp>
      <p:sp>
        <p:nvSpPr>
          <p:cNvPr id="12" name="Text 10"/>
          <p:cNvSpPr txBox="1"/>
          <p:nvPr/>
        </p:nvSpPr>
        <p:spPr>
          <a:xfrm>
            <a:off x="6025896" y="1481328"/>
            <a:ext cx="2615184" cy="475488"/>
          </a:xfrm>
          <a:prstGeom prst="rect">
            <a:avLst/>
          </a:prstGeom>
          <a:noFill/>
          <a:ln/>
        </p:spPr>
        <p:txBody>
          <a:bodyPr wrap="square" lIns="0" tIns="0" rIns="0" bIns="0" rtlCol="0" anchor="ctr"/>
          <a:lstStyle/>
          <a:p>
            <a:pPr marL="0" indent="0" algn="ctr">
              <a:buNone/>
            </a:pPr>
            <a:r>
              <a:rPr lang="en-US" sz="1200" b="1" dirty="0">
                <a:solidFill>
                  <a:srgbClr val="3DDC97"/>
                </a:solidFill>
                <a:latin typeface="Arial" pitchFamily="34" charset="0"/>
                <a:ea typeface="Arial" pitchFamily="34" charset="-122"/>
                <a:cs typeface="Arial" pitchFamily="34" charset="-120"/>
              </a:rPr>
              <a:t>mensaje</a:t>
            </a:r>
            <a:endParaRPr lang="en-US" sz="1200" dirty="0"/>
          </a:p>
        </p:txBody>
      </p:sp>
      <p:sp>
        <p:nvSpPr>
          <p:cNvPr id="13" name="Shape 11"/>
          <p:cNvSpPr/>
          <p:nvPr/>
        </p:nvSpPr>
        <p:spPr>
          <a:xfrm>
            <a:off x="502920" y="2157984"/>
            <a:ext cx="2615184" cy="1133856"/>
          </a:xfrm>
          <a:prstGeom prst="roundRect">
            <a:avLst>
              <a:gd name="adj" fmla="val 6452"/>
            </a:avLst>
          </a:prstGeom>
          <a:solidFill>
            <a:srgbClr val="1A2434"/>
          </a:solidFill>
          <a:ln w="12700">
            <a:solidFill>
              <a:srgbClr val="3DDC97"/>
            </a:solidFill>
            <a:prstDash val="solid"/>
          </a:ln>
        </p:spPr>
        <p:txBody>
          <a:bodyPr/>
          <a:lstStyle/>
          <a:p>
            <a:endParaRPr lang="es-CO"/>
          </a:p>
        </p:txBody>
      </p:sp>
      <p:sp>
        <p:nvSpPr>
          <p:cNvPr id="14" name="Text 12"/>
          <p:cNvSpPr txBox="1"/>
          <p:nvPr/>
        </p:nvSpPr>
        <p:spPr>
          <a:xfrm>
            <a:off x="704088" y="2286000"/>
            <a:ext cx="2231136" cy="329184"/>
          </a:xfrm>
          <a:prstGeom prst="rect">
            <a:avLst/>
          </a:prstGeom>
          <a:noFill/>
          <a:ln/>
        </p:spPr>
        <p:txBody>
          <a:bodyPr wrap="square" lIns="0" tIns="0" rIns="0" bIns="0" rtlCol="0" anchor="ctr"/>
          <a:lstStyle/>
          <a:p>
            <a:pPr marL="0" indent="0">
              <a:buNone/>
            </a:pPr>
            <a:r>
              <a:rPr lang="en-US" sz="1050" b="1" dirty="0">
                <a:solidFill>
                  <a:srgbClr val="3DDC97"/>
                </a:solidFill>
                <a:latin typeface="Arial" pitchFamily="34" charset="0"/>
                <a:ea typeface="Arial" pitchFamily="34" charset="-122"/>
                <a:cs typeface="Arial" pitchFamily="34" charset="-120"/>
              </a:rPr>
              <a:t>Ya están disponibles</a:t>
            </a:r>
            <a:endParaRPr lang="en-US" sz="1050" dirty="0"/>
          </a:p>
        </p:txBody>
      </p:sp>
      <p:sp>
        <p:nvSpPr>
          <p:cNvPr id="15" name="Text 13"/>
          <p:cNvSpPr txBox="1"/>
          <p:nvPr/>
        </p:nvSpPr>
        <p:spPr>
          <a:xfrm>
            <a:off x="704088" y="2651760"/>
            <a:ext cx="2231136" cy="566928"/>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Node.js interpretó el cuerpo y los valores existen como variables dentro del manejador.</a:t>
            </a:r>
            <a:endParaRPr lang="en-US" sz="950" dirty="0"/>
          </a:p>
        </p:txBody>
      </p:sp>
      <p:sp>
        <p:nvSpPr>
          <p:cNvPr id="16" name="Shape 14"/>
          <p:cNvSpPr/>
          <p:nvPr/>
        </p:nvSpPr>
        <p:spPr>
          <a:xfrm>
            <a:off x="3264408" y="2157984"/>
            <a:ext cx="2615184" cy="1133856"/>
          </a:xfrm>
          <a:prstGeom prst="roundRect">
            <a:avLst>
              <a:gd name="adj" fmla="val 6452"/>
            </a:avLst>
          </a:prstGeom>
          <a:solidFill>
            <a:srgbClr val="1A2434"/>
          </a:solidFill>
          <a:ln w="12700">
            <a:solidFill>
              <a:srgbClr val="FFB86C"/>
            </a:solidFill>
            <a:prstDash val="solid"/>
          </a:ln>
        </p:spPr>
        <p:txBody>
          <a:bodyPr/>
          <a:lstStyle/>
          <a:p>
            <a:endParaRPr lang="es-CO"/>
          </a:p>
        </p:txBody>
      </p:sp>
      <p:sp>
        <p:nvSpPr>
          <p:cNvPr id="17" name="Text 15"/>
          <p:cNvSpPr txBox="1"/>
          <p:nvPr/>
        </p:nvSpPr>
        <p:spPr>
          <a:xfrm>
            <a:off x="3465576" y="2286000"/>
            <a:ext cx="2231136" cy="329184"/>
          </a:xfrm>
          <a:prstGeom prst="rect">
            <a:avLst/>
          </a:prstGeom>
          <a:noFill/>
          <a:ln/>
        </p:spPr>
        <p:txBody>
          <a:bodyPr wrap="square" lIns="0" tIns="0" rIns="0" bIns="0" rtlCol="0" anchor="ctr"/>
          <a:lstStyle/>
          <a:p>
            <a:pPr marL="0" indent="0">
              <a:buNone/>
            </a:pPr>
            <a:r>
              <a:rPr lang="en-US" sz="1050" b="1" dirty="0">
                <a:solidFill>
                  <a:srgbClr val="FFB86C"/>
                </a:solidFill>
                <a:latin typeface="Arial" pitchFamily="34" charset="0"/>
                <a:ea typeface="Arial" pitchFamily="34" charset="-122"/>
                <a:cs typeface="Arial" pitchFamily="34" charset="-120"/>
              </a:rPr>
              <a:t>Todavía no están almacenados</a:t>
            </a:r>
            <a:endParaRPr lang="en-US" sz="1050" dirty="0"/>
          </a:p>
        </p:txBody>
      </p:sp>
      <p:sp>
        <p:nvSpPr>
          <p:cNvPr id="18" name="Text 16"/>
          <p:cNvSpPr txBox="1"/>
          <p:nvPr/>
        </p:nvSpPr>
        <p:spPr>
          <a:xfrm>
            <a:off x="3465576" y="2651760"/>
            <a:ext cx="2231136" cy="566928"/>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Una variable vive mientras dura la ejecución. No es un mecanismo de almacenamiento.</a:t>
            </a:r>
            <a:endParaRPr lang="en-US" sz="950" dirty="0"/>
          </a:p>
        </p:txBody>
      </p:sp>
      <p:sp>
        <p:nvSpPr>
          <p:cNvPr id="19" name="Shape 17"/>
          <p:cNvSpPr/>
          <p:nvPr/>
        </p:nvSpPr>
        <p:spPr>
          <a:xfrm>
            <a:off x="6025896" y="2157984"/>
            <a:ext cx="2615184" cy="1133856"/>
          </a:xfrm>
          <a:prstGeom prst="roundRect">
            <a:avLst>
              <a:gd name="adj" fmla="val 6452"/>
            </a:avLst>
          </a:prstGeom>
          <a:solidFill>
            <a:srgbClr val="1A2434"/>
          </a:solidFill>
          <a:ln w="12700">
            <a:solidFill>
              <a:srgbClr val="56C7F2"/>
            </a:solidFill>
            <a:prstDash val="solid"/>
          </a:ln>
        </p:spPr>
        <p:txBody>
          <a:bodyPr/>
          <a:lstStyle/>
          <a:p>
            <a:endParaRPr lang="es-CO"/>
          </a:p>
        </p:txBody>
      </p:sp>
      <p:sp>
        <p:nvSpPr>
          <p:cNvPr id="20" name="Text 18"/>
          <p:cNvSpPr txBox="1"/>
          <p:nvPr/>
        </p:nvSpPr>
        <p:spPr>
          <a:xfrm>
            <a:off x="6227064" y="2286000"/>
            <a:ext cx="2231136" cy="329184"/>
          </a:xfrm>
          <a:prstGeom prst="rect">
            <a:avLst/>
          </a:prstGeom>
          <a:noFill/>
          <a:ln/>
        </p:spPr>
        <p:txBody>
          <a:bodyPr wrap="square" lIns="0" tIns="0" rIns="0" bIns="0" rtlCol="0" anchor="ctr"/>
          <a:lstStyle/>
          <a:p>
            <a:pPr marL="0" indent="0">
              <a:buNone/>
            </a:pPr>
            <a:r>
              <a:rPr lang="en-US" sz="1050" b="1" dirty="0">
                <a:solidFill>
                  <a:srgbClr val="56C7F2"/>
                </a:solidFill>
                <a:latin typeface="Arial" pitchFamily="34" charset="0"/>
                <a:ea typeface="Arial" pitchFamily="34" charset="-122"/>
                <a:cs typeface="Arial" pitchFamily="34" charset="-120"/>
              </a:rPr>
              <a:t>Terminada la petición, se pierden</a:t>
            </a:r>
            <a:endParaRPr lang="en-US" sz="1050" dirty="0"/>
          </a:p>
        </p:txBody>
      </p:sp>
      <p:sp>
        <p:nvSpPr>
          <p:cNvPr id="21" name="Text 19"/>
          <p:cNvSpPr txBox="1"/>
          <p:nvPr/>
        </p:nvSpPr>
        <p:spPr>
          <a:xfrm>
            <a:off x="6227064" y="2651760"/>
            <a:ext cx="2231136" cy="566928"/>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Al finalizar el manejador desaparecen. Al reiniciar el servidor no queda ningún registro.</a:t>
            </a:r>
            <a:endParaRPr lang="en-US" sz="950" dirty="0"/>
          </a:p>
        </p:txBody>
      </p:sp>
      <p:sp>
        <p:nvSpPr>
          <p:cNvPr id="22" name="Shape 20"/>
          <p:cNvSpPr/>
          <p:nvPr/>
        </p:nvSpPr>
        <p:spPr>
          <a:xfrm>
            <a:off x="502920" y="3438144"/>
            <a:ext cx="8138160" cy="804672"/>
          </a:xfrm>
          <a:prstGeom prst="roundRect">
            <a:avLst>
              <a:gd name="adj" fmla="val 9091"/>
            </a:avLst>
          </a:prstGeom>
          <a:solidFill>
            <a:srgbClr val="112A38"/>
          </a:solidFill>
          <a:ln w="12700">
            <a:solidFill>
              <a:srgbClr val="56C7F2"/>
            </a:solidFill>
            <a:prstDash val="solid"/>
          </a:ln>
        </p:spPr>
        <p:txBody>
          <a:bodyPr/>
          <a:lstStyle/>
          <a:p>
            <a:endParaRPr lang="es-CO"/>
          </a:p>
        </p:txBody>
      </p:sp>
      <p:sp>
        <p:nvSpPr>
          <p:cNvPr id="23" name="Text 21"/>
          <p:cNvSpPr txBox="1"/>
          <p:nvPr/>
        </p:nvSpPr>
        <p:spPr>
          <a:xfrm>
            <a:off x="731520" y="3529584"/>
            <a:ext cx="7680960" cy="256032"/>
          </a:xfrm>
          <a:prstGeom prst="rect">
            <a:avLst/>
          </a:prstGeom>
          <a:noFill/>
          <a:ln/>
        </p:spPr>
        <p:txBody>
          <a:bodyPr wrap="square" lIns="0" tIns="0" rIns="0" bIns="0" rtlCol="0" anchor="ctr"/>
          <a:lstStyle/>
          <a:p>
            <a:pPr marL="0" indent="0">
              <a:buNone/>
            </a:pPr>
            <a:r>
              <a:rPr lang="en-US" sz="1300" b="1" dirty="0">
                <a:solidFill>
                  <a:srgbClr val="56C7F2"/>
                </a:solidFill>
                <a:latin typeface="Arial" pitchFamily="34" charset="0"/>
                <a:ea typeface="Arial" pitchFamily="34" charset="-122"/>
                <a:cs typeface="Arial" pitchFamily="34" charset="-120"/>
              </a:rPr>
              <a:t>¿Cómo conservamos los datos después de finalizar la petición?</a:t>
            </a:r>
            <a:endParaRPr lang="en-US" sz="1300" dirty="0"/>
          </a:p>
        </p:txBody>
      </p:sp>
      <p:sp>
        <p:nvSpPr>
          <p:cNvPr id="24" name="Text 22"/>
          <p:cNvSpPr txBox="1"/>
          <p:nvPr/>
        </p:nvSpPr>
        <p:spPr>
          <a:xfrm>
            <a:off x="731520" y="3803904"/>
            <a:ext cx="7680960" cy="329184"/>
          </a:xfrm>
          <a:prstGeom prst="rect">
            <a:avLst/>
          </a:prstGeom>
          <a:noFill/>
          <a:ln/>
        </p:spPr>
        <p:txBody>
          <a:bodyPr wrap="square" lIns="0" tIns="0" rIns="0" bIns="0" rtlCol="0" anchor="ctr"/>
          <a:lstStyle/>
          <a:p>
            <a:pPr marL="0" indent="0">
              <a:buNone/>
            </a:pPr>
            <a:r>
              <a:rPr lang="en-US" sz="1100" i="1" dirty="0">
                <a:solidFill>
                  <a:srgbClr val="E8EEF6"/>
                </a:solidFill>
                <a:latin typeface="Calibri" pitchFamily="34" charset="0"/>
                <a:ea typeface="Calibri" pitchFamily="34" charset="-122"/>
                <a:cs typeface="Calibri" pitchFamily="34" charset="-120"/>
              </a:rPr>
              <a:t>La respuesta exige un mecanismo externo al proceso: un archivo administrado por un sistema de base de datos.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883676"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883676"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CONCEPTO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SQLite permite conservar información en un archivo</a:t>
            </a:r>
            <a:endParaRPr lang="en-US" sz="23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18 / 25</a:t>
            </a:r>
            <a:endParaRPr lang="en-US" sz="800" dirty="0"/>
          </a:p>
        </p:txBody>
      </p:sp>
      <p:sp>
        <p:nvSpPr>
          <p:cNvPr id="6" name="Shape 4"/>
          <p:cNvSpPr/>
          <p:nvPr/>
        </p:nvSpPr>
        <p:spPr>
          <a:xfrm>
            <a:off x="502920" y="1243584"/>
            <a:ext cx="8138160" cy="731520"/>
          </a:xfrm>
          <a:prstGeom prst="roundRect">
            <a:avLst>
              <a:gd name="adj" fmla="val 10000"/>
            </a:avLst>
          </a:prstGeom>
          <a:solidFill>
            <a:srgbClr val="1A2434"/>
          </a:solidFill>
          <a:ln w="12700">
            <a:solidFill>
              <a:srgbClr val="2B3B52"/>
            </a:solidFill>
            <a:prstDash val="solid"/>
          </a:ln>
        </p:spPr>
        <p:txBody>
          <a:bodyPr/>
          <a:lstStyle/>
          <a:p>
            <a:endParaRPr lang="es-CO"/>
          </a:p>
        </p:txBody>
      </p:sp>
      <p:sp>
        <p:nvSpPr>
          <p:cNvPr id="7" name="Text 5"/>
          <p:cNvSpPr txBox="1"/>
          <p:nvPr/>
        </p:nvSpPr>
        <p:spPr>
          <a:xfrm>
            <a:off x="777240" y="1243584"/>
            <a:ext cx="7589520" cy="731520"/>
          </a:xfrm>
          <a:prstGeom prst="rect">
            <a:avLst/>
          </a:prstGeom>
          <a:noFill/>
          <a:ln/>
        </p:spPr>
        <p:txBody>
          <a:bodyPr wrap="square" lIns="0" tIns="0" rIns="0" bIns="0" rtlCol="0" anchor="ctr"/>
          <a:lstStyle/>
          <a:p>
            <a:pPr marL="0" indent="0">
              <a:buNone/>
            </a:pPr>
            <a:r>
              <a:rPr lang="en-US" sz="1200" b="1" dirty="0">
                <a:solidFill>
                  <a:srgbClr val="3DDC97"/>
                </a:solidFill>
                <a:latin typeface="Calibri" pitchFamily="34" charset="0"/>
                <a:ea typeface="Calibri" pitchFamily="34" charset="-122"/>
                <a:cs typeface="Calibri" pitchFamily="34" charset="-120"/>
              </a:rPr>
              <a:t>SQLite</a:t>
            </a:r>
            <a:r>
              <a:rPr lang="en-US" sz="1200" dirty="0">
                <a:solidFill>
                  <a:srgbClr val="E8EEF6"/>
                </a:solidFill>
                <a:latin typeface="Calibri" pitchFamily="34" charset="0"/>
                <a:ea typeface="Calibri" pitchFamily="34" charset="-122"/>
                <a:cs typeface="Calibri" pitchFamily="34" charset="-120"/>
              </a:rPr>
              <a:t> es un sistema de gestión de base de datos relacional que conserva la información en un archivo local del sistema y no requiere ejecutar un servidor de base de datos independiente.</a:t>
            </a:r>
            <a:endParaRPr lang="en-US" sz="1200" dirty="0"/>
          </a:p>
        </p:txBody>
      </p:sp>
      <p:sp>
        <p:nvSpPr>
          <p:cNvPr id="8" name="Shape 6"/>
          <p:cNvSpPr/>
          <p:nvPr/>
        </p:nvSpPr>
        <p:spPr>
          <a:xfrm>
            <a:off x="502920" y="2103120"/>
            <a:ext cx="2615184" cy="1133856"/>
          </a:xfrm>
          <a:prstGeom prst="roundRect">
            <a:avLst>
              <a:gd name="adj" fmla="val 6452"/>
            </a:avLst>
          </a:prstGeom>
          <a:solidFill>
            <a:srgbClr val="1A2434"/>
          </a:solidFill>
          <a:ln w="12700">
            <a:solidFill>
              <a:srgbClr val="3DDC97"/>
            </a:solidFill>
            <a:prstDash val="solid"/>
          </a:ln>
        </p:spPr>
        <p:txBody>
          <a:bodyPr/>
          <a:lstStyle/>
          <a:p>
            <a:endParaRPr lang="es-CO"/>
          </a:p>
        </p:txBody>
      </p:sp>
      <p:sp>
        <p:nvSpPr>
          <p:cNvPr id="9" name="Text 7"/>
          <p:cNvSpPr txBox="1"/>
          <p:nvPr/>
        </p:nvSpPr>
        <p:spPr>
          <a:xfrm>
            <a:off x="704088" y="2231136"/>
            <a:ext cx="2231136" cy="219456"/>
          </a:xfrm>
          <a:prstGeom prst="rect">
            <a:avLst/>
          </a:prstGeom>
          <a:noFill/>
          <a:ln/>
        </p:spPr>
        <p:txBody>
          <a:bodyPr wrap="square" lIns="0" tIns="0" rIns="0" bIns="0" rtlCol="0" anchor="ctr"/>
          <a:lstStyle/>
          <a:p>
            <a:pPr marL="0" indent="0">
              <a:buNone/>
            </a:pPr>
            <a:r>
              <a:rPr lang="en-US" sz="1150" b="1" dirty="0">
                <a:solidFill>
                  <a:srgbClr val="3DDC97"/>
                </a:solidFill>
                <a:latin typeface="Arial" pitchFamily="34" charset="0"/>
                <a:ea typeface="Arial" pitchFamily="34" charset="-122"/>
                <a:cs typeface="Arial" pitchFamily="34" charset="-120"/>
              </a:rPr>
              <a:t>SQL</a:t>
            </a:r>
            <a:endParaRPr lang="en-US" sz="1150" dirty="0"/>
          </a:p>
        </p:txBody>
      </p:sp>
      <p:sp>
        <p:nvSpPr>
          <p:cNvPr id="10" name="Text 8"/>
          <p:cNvSpPr txBox="1"/>
          <p:nvPr/>
        </p:nvSpPr>
        <p:spPr>
          <a:xfrm>
            <a:off x="704088" y="2505456"/>
            <a:ext cx="2231136" cy="621792"/>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Lenguaje declarativo para definir y manipular los datos. Se expresa qué se quiere, no cómo obtenerlo.</a:t>
            </a:r>
            <a:endParaRPr lang="en-US" sz="950" dirty="0"/>
          </a:p>
        </p:txBody>
      </p:sp>
      <p:sp>
        <p:nvSpPr>
          <p:cNvPr id="11" name="Shape 9"/>
          <p:cNvSpPr/>
          <p:nvPr/>
        </p:nvSpPr>
        <p:spPr>
          <a:xfrm>
            <a:off x="3264408" y="2103120"/>
            <a:ext cx="2615184" cy="1133856"/>
          </a:xfrm>
          <a:prstGeom prst="roundRect">
            <a:avLst>
              <a:gd name="adj" fmla="val 6452"/>
            </a:avLst>
          </a:prstGeom>
          <a:solidFill>
            <a:srgbClr val="1A2434"/>
          </a:solidFill>
          <a:ln w="12700">
            <a:solidFill>
              <a:srgbClr val="56C7F2"/>
            </a:solidFill>
            <a:prstDash val="solid"/>
          </a:ln>
        </p:spPr>
        <p:txBody>
          <a:bodyPr/>
          <a:lstStyle/>
          <a:p>
            <a:endParaRPr lang="es-CO"/>
          </a:p>
        </p:txBody>
      </p:sp>
      <p:sp>
        <p:nvSpPr>
          <p:cNvPr id="12" name="Text 10"/>
          <p:cNvSpPr txBox="1"/>
          <p:nvPr/>
        </p:nvSpPr>
        <p:spPr>
          <a:xfrm>
            <a:off x="3465576" y="2231136"/>
            <a:ext cx="2231136" cy="219456"/>
          </a:xfrm>
          <a:prstGeom prst="rect">
            <a:avLst/>
          </a:prstGeom>
          <a:noFill/>
          <a:ln/>
        </p:spPr>
        <p:txBody>
          <a:bodyPr wrap="square" lIns="0" tIns="0" rIns="0" bIns="0" rtlCol="0" anchor="ctr"/>
          <a:lstStyle/>
          <a:p>
            <a:pPr marL="0" indent="0">
              <a:buNone/>
            </a:pPr>
            <a:r>
              <a:rPr lang="en-US" sz="1150" b="1" dirty="0">
                <a:solidFill>
                  <a:srgbClr val="56C7F2"/>
                </a:solidFill>
                <a:latin typeface="Arial" pitchFamily="34" charset="0"/>
                <a:ea typeface="Arial" pitchFamily="34" charset="-122"/>
                <a:cs typeface="Arial" pitchFamily="34" charset="-120"/>
              </a:rPr>
              <a:t>SQLite</a:t>
            </a:r>
            <a:endParaRPr lang="en-US" sz="1150" dirty="0"/>
          </a:p>
        </p:txBody>
      </p:sp>
      <p:sp>
        <p:nvSpPr>
          <p:cNvPr id="13" name="Text 11"/>
          <p:cNvSpPr txBox="1"/>
          <p:nvPr/>
        </p:nvSpPr>
        <p:spPr>
          <a:xfrm>
            <a:off x="3465576" y="2505456"/>
            <a:ext cx="2231136" cy="621792"/>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El sistema que interpreta ese lenguaje y administra el archivo. SQL y SQLite no son lo mismo.</a:t>
            </a:r>
            <a:endParaRPr lang="en-US" sz="950" dirty="0"/>
          </a:p>
        </p:txBody>
      </p:sp>
      <p:sp>
        <p:nvSpPr>
          <p:cNvPr id="14" name="Shape 12"/>
          <p:cNvSpPr/>
          <p:nvPr/>
        </p:nvSpPr>
        <p:spPr>
          <a:xfrm>
            <a:off x="6025896" y="2103120"/>
            <a:ext cx="2615184" cy="1133856"/>
          </a:xfrm>
          <a:prstGeom prst="roundRect">
            <a:avLst>
              <a:gd name="adj" fmla="val 6452"/>
            </a:avLst>
          </a:prstGeom>
          <a:solidFill>
            <a:srgbClr val="1A2434"/>
          </a:solidFill>
          <a:ln w="12700">
            <a:solidFill>
              <a:srgbClr val="FFB86C"/>
            </a:solidFill>
            <a:prstDash val="solid"/>
          </a:ln>
        </p:spPr>
        <p:txBody>
          <a:bodyPr/>
          <a:lstStyle/>
          <a:p>
            <a:endParaRPr lang="es-CO"/>
          </a:p>
        </p:txBody>
      </p:sp>
      <p:sp>
        <p:nvSpPr>
          <p:cNvPr id="15" name="Text 13"/>
          <p:cNvSpPr txBox="1"/>
          <p:nvPr/>
        </p:nvSpPr>
        <p:spPr>
          <a:xfrm>
            <a:off x="6227064" y="2231136"/>
            <a:ext cx="2231136" cy="219456"/>
          </a:xfrm>
          <a:prstGeom prst="rect">
            <a:avLst/>
          </a:prstGeom>
          <a:noFill/>
          <a:ln/>
        </p:spPr>
        <p:txBody>
          <a:bodyPr wrap="square" lIns="0" tIns="0" rIns="0" bIns="0" rtlCol="0" anchor="ctr"/>
          <a:lstStyle/>
          <a:p>
            <a:pPr marL="0" indent="0">
              <a:buNone/>
            </a:pPr>
            <a:r>
              <a:rPr lang="en-US" sz="1150" b="1" dirty="0">
                <a:solidFill>
                  <a:srgbClr val="FFB86C"/>
                </a:solidFill>
                <a:latin typeface="Arial" pitchFamily="34" charset="0"/>
                <a:ea typeface="Arial" pitchFamily="34" charset="-122"/>
                <a:cs typeface="Arial" pitchFamily="34" charset="-120"/>
              </a:rPr>
              <a:t>node:sqlite</a:t>
            </a:r>
            <a:endParaRPr lang="en-US" sz="1150" dirty="0"/>
          </a:p>
        </p:txBody>
      </p:sp>
      <p:sp>
        <p:nvSpPr>
          <p:cNvPr id="16" name="Text 14"/>
          <p:cNvSpPr txBox="1"/>
          <p:nvPr/>
        </p:nvSpPr>
        <p:spPr>
          <a:xfrm>
            <a:off x="6227064" y="2505456"/>
            <a:ext cx="2231136" cy="621792"/>
          </a:xfrm>
          <a:prstGeom prst="rect">
            <a:avLst/>
          </a:prstGeom>
          <a:noFill/>
          <a:ln/>
        </p:spPr>
        <p:txBody>
          <a:bodyPr wrap="square" lIns="0" tIns="0" rIns="0" bIns="0" rtlCol="0" anchor="t"/>
          <a:lstStyle/>
          <a:p>
            <a:pPr marL="0" indent="0">
              <a:buNone/>
            </a:pPr>
            <a:r>
              <a:rPr lang="en-US" sz="950" dirty="0">
                <a:solidFill>
                  <a:srgbClr val="E8EEF6"/>
                </a:solidFill>
                <a:latin typeface="Calibri" pitchFamily="34" charset="0"/>
                <a:ea typeface="Calibri" pitchFamily="34" charset="-122"/>
                <a:cs typeface="Calibri" pitchFamily="34" charset="-120"/>
              </a:rPr>
              <a:t>Módulo incorporado en Node.js 24. No requiere npm install ni paquetes externos.</a:t>
            </a:r>
            <a:endParaRPr lang="en-US" sz="950" dirty="0"/>
          </a:p>
        </p:txBody>
      </p:sp>
      <p:sp>
        <p:nvSpPr>
          <p:cNvPr id="17" name="Text 15"/>
          <p:cNvSpPr txBox="1"/>
          <p:nvPr/>
        </p:nvSpPr>
        <p:spPr>
          <a:xfrm>
            <a:off x="502920" y="3401568"/>
            <a:ext cx="8138160" cy="182880"/>
          </a:xfrm>
          <a:prstGeom prst="rect">
            <a:avLst/>
          </a:prstGeom>
          <a:noFill/>
          <a:ln/>
        </p:spPr>
        <p:txBody>
          <a:bodyPr wrap="square" lIns="0" tIns="0" rIns="0" bIns="0" rtlCol="0" anchor="ctr"/>
          <a:lstStyle/>
          <a:p>
            <a:pPr marL="0" indent="0">
              <a:buNone/>
            </a:pPr>
            <a:r>
              <a:rPr lang="en-US" sz="900" b="1" dirty="0">
                <a:solidFill>
                  <a:srgbClr val="6C7E96"/>
                </a:solidFill>
                <a:latin typeface="Arial" pitchFamily="34" charset="0"/>
                <a:ea typeface="Arial" pitchFamily="34" charset="-122"/>
                <a:cs typeface="Arial" pitchFamily="34" charset="-120"/>
              </a:rPr>
              <a:t>Vocabulario mínimo de esta sesión</a:t>
            </a:r>
            <a:endParaRPr lang="en-US" sz="900" dirty="0"/>
          </a:p>
        </p:txBody>
      </p:sp>
      <p:sp>
        <p:nvSpPr>
          <p:cNvPr id="18" name="Shape 16"/>
          <p:cNvSpPr/>
          <p:nvPr/>
        </p:nvSpPr>
        <p:spPr>
          <a:xfrm>
            <a:off x="502920" y="3639312"/>
            <a:ext cx="1554480" cy="420624"/>
          </a:xfrm>
          <a:prstGeom prst="roundRect">
            <a:avLst>
              <a:gd name="adj" fmla="val 19565"/>
            </a:avLst>
          </a:prstGeom>
          <a:solidFill>
            <a:srgbClr val="1A2434"/>
          </a:solidFill>
          <a:ln w="12700">
            <a:solidFill>
              <a:srgbClr val="3DDC97"/>
            </a:solidFill>
            <a:prstDash val="solid"/>
          </a:ln>
        </p:spPr>
        <p:txBody>
          <a:bodyPr/>
          <a:lstStyle/>
          <a:p>
            <a:endParaRPr lang="es-CO"/>
          </a:p>
        </p:txBody>
      </p:sp>
      <p:sp>
        <p:nvSpPr>
          <p:cNvPr id="19" name="Text 17"/>
          <p:cNvSpPr txBox="1"/>
          <p:nvPr/>
        </p:nvSpPr>
        <p:spPr>
          <a:xfrm>
            <a:off x="502920" y="3639312"/>
            <a:ext cx="1554480" cy="420624"/>
          </a:xfrm>
          <a:prstGeom prst="rect">
            <a:avLst/>
          </a:prstGeom>
          <a:noFill/>
          <a:ln/>
        </p:spPr>
        <p:txBody>
          <a:bodyPr wrap="square" lIns="0" tIns="0" rIns="0" bIns="0" rtlCol="0" anchor="ctr"/>
          <a:lstStyle/>
          <a:p>
            <a:pPr marL="0" indent="0" algn="ctr">
              <a:buNone/>
            </a:pPr>
            <a:r>
              <a:rPr lang="en-US" sz="950" b="1" dirty="0">
                <a:solidFill>
                  <a:srgbClr val="E8EEF6"/>
                </a:solidFill>
                <a:latin typeface="Arial" pitchFamily="34" charset="0"/>
                <a:ea typeface="Arial" pitchFamily="34" charset="-122"/>
                <a:cs typeface="Arial" pitchFamily="34" charset="-120"/>
              </a:rPr>
              <a:t>Base de datos</a:t>
            </a:r>
            <a:endParaRPr lang="en-US" sz="950" dirty="0"/>
          </a:p>
        </p:txBody>
      </p:sp>
      <p:sp>
        <p:nvSpPr>
          <p:cNvPr id="20" name="Shape 18"/>
          <p:cNvSpPr/>
          <p:nvPr/>
        </p:nvSpPr>
        <p:spPr>
          <a:xfrm>
            <a:off x="2148840" y="3639312"/>
            <a:ext cx="1554480" cy="420624"/>
          </a:xfrm>
          <a:prstGeom prst="roundRect">
            <a:avLst>
              <a:gd name="adj" fmla="val 19565"/>
            </a:avLst>
          </a:prstGeom>
          <a:solidFill>
            <a:srgbClr val="1A2434"/>
          </a:solidFill>
          <a:ln w="12700">
            <a:solidFill>
              <a:srgbClr val="56C7F2"/>
            </a:solidFill>
            <a:prstDash val="solid"/>
          </a:ln>
        </p:spPr>
        <p:txBody>
          <a:bodyPr/>
          <a:lstStyle/>
          <a:p>
            <a:endParaRPr lang="es-CO"/>
          </a:p>
        </p:txBody>
      </p:sp>
      <p:sp>
        <p:nvSpPr>
          <p:cNvPr id="21" name="Text 19"/>
          <p:cNvSpPr txBox="1"/>
          <p:nvPr/>
        </p:nvSpPr>
        <p:spPr>
          <a:xfrm>
            <a:off x="2148840" y="3639312"/>
            <a:ext cx="1554480" cy="420624"/>
          </a:xfrm>
          <a:prstGeom prst="rect">
            <a:avLst/>
          </a:prstGeom>
          <a:noFill/>
          <a:ln/>
        </p:spPr>
        <p:txBody>
          <a:bodyPr wrap="square" lIns="0" tIns="0" rIns="0" bIns="0" rtlCol="0" anchor="ctr"/>
          <a:lstStyle/>
          <a:p>
            <a:pPr marL="0" indent="0" algn="ctr">
              <a:buNone/>
            </a:pPr>
            <a:r>
              <a:rPr lang="en-US" sz="950" b="1" dirty="0">
                <a:solidFill>
                  <a:srgbClr val="E8EEF6"/>
                </a:solidFill>
                <a:latin typeface="Arial" pitchFamily="34" charset="0"/>
                <a:ea typeface="Arial" pitchFamily="34" charset="-122"/>
                <a:cs typeface="Arial" pitchFamily="34" charset="-120"/>
              </a:rPr>
              <a:t>Tabla</a:t>
            </a:r>
            <a:endParaRPr lang="en-US" sz="950" dirty="0"/>
          </a:p>
        </p:txBody>
      </p:sp>
      <p:sp>
        <p:nvSpPr>
          <p:cNvPr id="22" name="Shape 20"/>
          <p:cNvSpPr/>
          <p:nvPr/>
        </p:nvSpPr>
        <p:spPr>
          <a:xfrm>
            <a:off x="3794760" y="3639312"/>
            <a:ext cx="1554480" cy="420624"/>
          </a:xfrm>
          <a:prstGeom prst="roundRect">
            <a:avLst>
              <a:gd name="adj" fmla="val 19565"/>
            </a:avLst>
          </a:prstGeom>
          <a:solidFill>
            <a:srgbClr val="1A2434"/>
          </a:solidFill>
          <a:ln w="12700">
            <a:solidFill>
              <a:srgbClr val="FFB86C"/>
            </a:solidFill>
            <a:prstDash val="solid"/>
          </a:ln>
        </p:spPr>
        <p:txBody>
          <a:bodyPr/>
          <a:lstStyle/>
          <a:p>
            <a:endParaRPr lang="es-CO"/>
          </a:p>
        </p:txBody>
      </p:sp>
      <p:sp>
        <p:nvSpPr>
          <p:cNvPr id="23" name="Text 21"/>
          <p:cNvSpPr txBox="1"/>
          <p:nvPr/>
        </p:nvSpPr>
        <p:spPr>
          <a:xfrm>
            <a:off x="3794760" y="3639312"/>
            <a:ext cx="1554480" cy="420624"/>
          </a:xfrm>
          <a:prstGeom prst="rect">
            <a:avLst/>
          </a:prstGeom>
          <a:noFill/>
          <a:ln/>
        </p:spPr>
        <p:txBody>
          <a:bodyPr wrap="square" lIns="0" tIns="0" rIns="0" bIns="0" rtlCol="0" anchor="ctr"/>
          <a:lstStyle/>
          <a:p>
            <a:pPr marL="0" indent="0" algn="ctr">
              <a:buNone/>
            </a:pPr>
            <a:r>
              <a:rPr lang="en-US" sz="950" b="1" dirty="0">
                <a:solidFill>
                  <a:srgbClr val="E8EEF6"/>
                </a:solidFill>
                <a:latin typeface="Arial" pitchFamily="34" charset="0"/>
                <a:ea typeface="Arial" pitchFamily="34" charset="-122"/>
                <a:cs typeface="Arial" pitchFamily="34" charset="-120"/>
              </a:rPr>
              <a:t>Fila o registro</a:t>
            </a:r>
            <a:endParaRPr lang="en-US" sz="950" dirty="0"/>
          </a:p>
        </p:txBody>
      </p:sp>
      <p:sp>
        <p:nvSpPr>
          <p:cNvPr id="24" name="Shape 22"/>
          <p:cNvSpPr/>
          <p:nvPr/>
        </p:nvSpPr>
        <p:spPr>
          <a:xfrm>
            <a:off x="5440680" y="3639312"/>
            <a:ext cx="1554480" cy="420624"/>
          </a:xfrm>
          <a:prstGeom prst="roundRect">
            <a:avLst>
              <a:gd name="adj" fmla="val 19565"/>
            </a:avLst>
          </a:prstGeom>
          <a:solidFill>
            <a:srgbClr val="1A2434"/>
          </a:solidFill>
          <a:ln w="12700">
            <a:solidFill>
              <a:srgbClr val="3DDC97"/>
            </a:solidFill>
            <a:prstDash val="solid"/>
          </a:ln>
        </p:spPr>
        <p:txBody>
          <a:bodyPr/>
          <a:lstStyle/>
          <a:p>
            <a:endParaRPr lang="es-CO"/>
          </a:p>
        </p:txBody>
      </p:sp>
      <p:sp>
        <p:nvSpPr>
          <p:cNvPr id="25" name="Text 23"/>
          <p:cNvSpPr txBox="1"/>
          <p:nvPr/>
        </p:nvSpPr>
        <p:spPr>
          <a:xfrm>
            <a:off x="5440680" y="3639312"/>
            <a:ext cx="1554480" cy="420624"/>
          </a:xfrm>
          <a:prstGeom prst="rect">
            <a:avLst/>
          </a:prstGeom>
          <a:noFill/>
          <a:ln/>
        </p:spPr>
        <p:txBody>
          <a:bodyPr wrap="square" lIns="0" tIns="0" rIns="0" bIns="0" rtlCol="0" anchor="ctr"/>
          <a:lstStyle/>
          <a:p>
            <a:pPr marL="0" indent="0" algn="ctr">
              <a:buNone/>
            </a:pPr>
            <a:r>
              <a:rPr lang="en-US" sz="950" b="1" dirty="0">
                <a:solidFill>
                  <a:srgbClr val="E8EEF6"/>
                </a:solidFill>
                <a:latin typeface="Arial" pitchFamily="34" charset="0"/>
                <a:ea typeface="Arial" pitchFamily="34" charset="-122"/>
                <a:cs typeface="Arial" pitchFamily="34" charset="-120"/>
              </a:rPr>
              <a:t>Columna</a:t>
            </a:r>
            <a:endParaRPr lang="en-US" sz="950" dirty="0"/>
          </a:p>
        </p:txBody>
      </p:sp>
      <p:sp>
        <p:nvSpPr>
          <p:cNvPr id="26" name="Shape 24"/>
          <p:cNvSpPr/>
          <p:nvPr/>
        </p:nvSpPr>
        <p:spPr>
          <a:xfrm>
            <a:off x="7086600" y="3639312"/>
            <a:ext cx="1554480" cy="420624"/>
          </a:xfrm>
          <a:prstGeom prst="roundRect">
            <a:avLst>
              <a:gd name="adj" fmla="val 19565"/>
            </a:avLst>
          </a:prstGeom>
          <a:solidFill>
            <a:srgbClr val="1A2434"/>
          </a:solidFill>
          <a:ln w="12700">
            <a:solidFill>
              <a:srgbClr val="56C7F2"/>
            </a:solidFill>
            <a:prstDash val="solid"/>
          </a:ln>
        </p:spPr>
        <p:txBody>
          <a:bodyPr/>
          <a:lstStyle/>
          <a:p>
            <a:endParaRPr lang="es-CO"/>
          </a:p>
        </p:txBody>
      </p:sp>
      <p:sp>
        <p:nvSpPr>
          <p:cNvPr id="27" name="Text 25"/>
          <p:cNvSpPr txBox="1"/>
          <p:nvPr/>
        </p:nvSpPr>
        <p:spPr>
          <a:xfrm>
            <a:off x="7086600" y="3639312"/>
            <a:ext cx="1554480" cy="420624"/>
          </a:xfrm>
          <a:prstGeom prst="rect">
            <a:avLst/>
          </a:prstGeom>
          <a:noFill/>
          <a:ln/>
        </p:spPr>
        <p:txBody>
          <a:bodyPr wrap="square" lIns="0" tIns="0" rIns="0" bIns="0" rtlCol="0" anchor="ctr"/>
          <a:lstStyle/>
          <a:p>
            <a:pPr marL="0" indent="0" algn="ctr">
              <a:buNone/>
            </a:pPr>
            <a:r>
              <a:rPr lang="en-US" sz="950" b="1" dirty="0">
                <a:solidFill>
                  <a:srgbClr val="E8EEF6"/>
                </a:solidFill>
                <a:latin typeface="Arial" pitchFamily="34" charset="0"/>
                <a:ea typeface="Arial" pitchFamily="34" charset="-122"/>
                <a:cs typeface="Arial" pitchFamily="34" charset="-120"/>
              </a:rPr>
              <a:t>Clave primaria</a:t>
            </a:r>
            <a:endParaRPr lang="en-US" sz="950" dirty="0"/>
          </a:p>
        </p:txBody>
      </p:sp>
      <p:sp>
        <p:nvSpPr>
          <p:cNvPr id="28" name="Text 26"/>
          <p:cNvSpPr txBox="1"/>
          <p:nvPr/>
        </p:nvSpPr>
        <p:spPr>
          <a:xfrm>
            <a:off x="502920" y="4187952"/>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Una base de datos permite almacenar, organizar y recuperar información de manera controlada.</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1188354"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188354"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ARQUITECTURA</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La tabla contactos representa la información del formulario</a:t>
            </a:r>
            <a:endParaRPr lang="en-US" sz="20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19 / 25</a:t>
            </a:r>
            <a:endParaRPr lang="en-US" sz="800" dirty="0"/>
          </a:p>
        </p:txBody>
      </p:sp>
      <p:sp>
        <p:nvSpPr>
          <p:cNvPr id="6" name="Text 4"/>
          <p:cNvSpPr txBox="1"/>
          <p:nvPr/>
        </p:nvSpPr>
        <p:spPr>
          <a:xfrm>
            <a:off x="502920" y="1207008"/>
            <a:ext cx="4846320" cy="182880"/>
          </a:xfrm>
          <a:prstGeom prst="rect">
            <a:avLst/>
          </a:prstGeom>
          <a:noFill/>
          <a:ln/>
        </p:spPr>
        <p:txBody>
          <a:bodyPr wrap="square" lIns="0" tIns="0" rIns="0" bIns="0" rtlCol="0" anchor="ctr"/>
          <a:lstStyle/>
          <a:p>
            <a:pPr marL="0" indent="0">
              <a:buNone/>
            </a:pPr>
            <a:r>
              <a:rPr lang="en-US" sz="900" b="1" dirty="0">
                <a:solidFill>
                  <a:srgbClr val="3DDC97"/>
                </a:solidFill>
                <a:latin typeface="Arial" pitchFamily="34" charset="0"/>
                <a:ea typeface="Arial" pitchFamily="34" charset="-122"/>
                <a:cs typeface="Arial" pitchFamily="34" charset="-120"/>
              </a:rPr>
              <a:t>Tabla: contactos</a:t>
            </a:r>
            <a:endParaRPr lang="en-US" sz="900" dirty="0"/>
          </a:p>
        </p:txBody>
      </p:sp>
      <p:sp>
        <p:nvSpPr>
          <p:cNvPr id="7" name="Shape 5"/>
          <p:cNvSpPr/>
          <p:nvPr/>
        </p:nvSpPr>
        <p:spPr>
          <a:xfrm>
            <a:off x="502920" y="1444752"/>
            <a:ext cx="4846320" cy="310896"/>
          </a:xfrm>
          <a:prstGeom prst="roundRect">
            <a:avLst>
              <a:gd name="adj" fmla="val 23529"/>
            </a:avLst>
          </a:prstGeom>
          <a:solidFill>
            <a:srgbClr val="070C14"/>
          </a:solidFill>
          <a:ln w="12700">
            <a:solidFill>
              <a:srgbClr val="2B3B52"/>
            </a:solidFill>
            <a:prstDash val="solid"/>
          </a:ln>
        </p:spPr>
        <p:txBody>
          <a:bodyPr/>
          <a:lstStyle/>
          <a:p>
            <a:endParaRPr lang="es-CO"/>
          </a:p>
        </p:txBody>
      </p:sp>
      <p:sp>
        <p:nvSpPr>
          <p:cNvPr id="8" name="Text 6"/>
          <p:cNvSpPr txBox="1"/>
          <p:nvPr/>
        </p:nvSpPr>
        <p:spPr>
          <a:xfrm>
            <a:off x="667512" y="1444752"/>
            <a:ext cx="1097280" cy="310896"/>
          </a:xfrm>
          <a:prstGeom prst="rect">
            <a:avLst/>
          </a:prstGeom>
          <a:noFill/>
          <a:ln/>
        </p:spPr>
        <p:txBody>
          <a:bodyPr wrap="square" lIns="0" tIns="0" rIns="0" bIns="0" rtlCol="0" anchor="ctr"/>
          <a:lstStyle/>
          <a:p>
            <a:pPr marL="0" indent="0">
              <a:buNone/>
            </a:pPr>
            <a:r>
              <a:rPr lang="en-US" sz="900" b="1" dirty="0">
                <a:solidFill>
                  <a:srgbClr val="6C7E96"/>
                </a:solidFill>
                <a:latin typeface="Arial" pitchFamily="34" charset="0"/>
                <a:ea typeface="Arial" pitchFamily="34" charset="-122"/>
                <a:cs typeface="Arial" pitchFamily="34" charset="-120"/>
              </a:rPr>
              <a:t>Columna</a:t>
            </a:r>
            <a:endParaRPr lang="en-US" sz="900" dirty="0"/>
          </a:p>
        </p:txBody>
      </p:sp>
      <p:sp>
        <p:nvSpPr>
          <p:cNvPr id="9" name="Text 7"/>
          <p:cNvSpPr txBox="1"/>
          <p:nvPr/>
        </p:nvSpPr>
        <p:spPr>
          <a:xfrm>
            <a:off x="1764792" y="1444752"/>
            <a:ext cx="914400" cy="310896"/>
          </a:xfrm>
          <a:prstGeom prst="rect">
            <a:avLst/>
          </a:prstGeom>
          <a:noFill/>
          <a:ln/>
        </p:spPr>
        <p:txBody>
          <a:bodyPr wrap="square" lIns="0" tIns="0" rIns="0" bIns="0" rtlCol="0" anchor="ctr"/>
          <a:lstStyle/>
          <a:p>
            <a:pPr marL="0" indent="0">
              <a:buNone/>
            </a:pPr>
            <a:r>
              <a:rPr lang="en-US" sz="900" b="1" dirty="0">
                <a:solidFill>
                  <a:srgbClr val="6C7E96"/>
                </a:solidFill>
                <a:latin typeface="Arial" pitchFamily="34" charset="0"/>
                <a:ea typeface="Arial" pitchFamily="34" charset="-122"/>
                <a:cs typeface="Arial" pitchFamily="34" charset="-120"/>
              </a:rPr>
              <a:t>Tipo</a:t>
            </a:r>
            <a:endParaRPr lang="en-US" sz="900" dirty="0"/>
          </a:p>
        </p:txBody>
      </p:sp>
      <p:sp>
        <p:nvSpPr>
          <p:cNvPr id="10" name="Text 8"/>
          <p:cNvSpPr txBox="1"/>
          <p:nvPr/>
        </p:nvSpPr>
        <p:spPr>
          <a:xfrm>
            <a:off x="2679192" y="1444752"/>
            <a:ext cx="2505456" cy="310896"/>
          </a:xfrm>
          <a:prstGeom prst="rect">
            <a:avLst/>
          </a:prstGeom>
          <a:noFill/>
          <a:ln/>
        </p:spPr>
        <p:txBody>
          <a:bodyPr wrap="square" lIns="0" tIns="0" rIns="0" bIns="0" rtlCol="0" anchor="ctr"/>
          <a:lstStyle/>
          <a:p>
            <a:pPr marL="0" indent="0">
              <a:buNone/>
            </a:pPr>
            <a:r>
              <a:rPr lang="en-US" sz="900" b="1" dirty="0">
                <a:solidFill>
                  <a:srgbClr val="6C7E96"/>
                </a:solidFill>
                <a:latin typeface="Arial" pitchFamily="34" charset="0"/>
                <a:ea typeface="Arial" pitchFamily="34" charset="-122"/>
                <a:cs typeface="Arial" pitchFamily="34" charset="-120"/>
              </a:rPr>
              <a:t>Propósito</a:t>
            </a:r>
            <a:endParaRPr lang="en-US" sz="900" dirty="0"/>
          </a:p>
        </p:txBody>
      </p:sp>
      <p:sp>
        <p:nvSpPr>
          <p:cNvPr id="11" name="Shape 9"/>
          <p:cNvSpPr/>
          <p:nvPr/>
        </p:nvSpPr>
        <p:spPr>
          <a:xfrm>
            <a:off x="502920" y="1792224"/>
            <a:ext cx="4846320" cy="347472"/>
          </a:xfrm>
          <a:prstGeom prst="roundRect">
            <a:avLst>
              <a:gd name="adj" fmla="val 21053"/>
            </a:avLst>
          </a:prstGeom>
          <a:solidFill>
            <a:srgbClr val="1A2434"/>
          </a:solidFill>
          <a:ln w="12700">
            <a:solidFill>
              <a:srgbClr val="2B3B52"/>
            </a:solidFill>
            <a:prstDash val="solid"/>
          </a:ln>
        </p:spPr>
        <p:txBody>
          <a:bodyPr/>
          <a:lstStyle/>
          <a:p>
            <a:endParaRPr lang="es-CO"/>
          </a:p>
        </p:txBody>
      </p:sp>
      <p:sp>
        <p:nvSpPr>
          <p:cNvPr id="12" name="Text 10"/>
          <p:cNvSpPr txBox="1"/>
          <p:nvPr/>
        </p:nvSpPr>
        <p:spPr>
          <a:xfrm>
            <a:off x="667512" y="1792224"/>
            <a:ext cx="1097280" cy="347472"/>
          </a:xfrm>
          <a:prstGeom prst="rect">
            <a:avLst/>
          </a:prstGeom>
          <a:noFill/>
          <a:ln/>
        </p:spPr>
        <p:txBody>
          <a:bodyPr wrap="square" lIns="0" tIns="0" rIns="0" bIns="0" rtlCol="0" anchor="ctr"/>
          <a:lstStyle/>
          <a:p>
            <a:pPr marL="0" indent="0">
              <a:buNone/>
            </a:pPr>
            <a:r>
              <a:rPr lang="en-US" sz="950" b="1" dirty="0">
                <a:solidFill>
                  <a:srgbClr val="3DDC97"/>
                </a:solidFill>
                <a:latin typeface="Courier New" pitchFamily="34" charset="0"/>
                <a:ea typeface="Courier New" pitchFamily="34" charset="-122"/>
                <a:cs typeface="Courier New" pitchFamily="34" charset="-120"/>
              </a:rPr>
              <a:t>id</a:t>
            </a:r>
            <a:endParaRPr lang="en-US" sz="950" dirty="0"/>
          </a:p>
        </p:txBody>
      </p:sp>
      <p:sp>
        <p:nvSpPr>
          <p:cNvPr id="13" name="Text 11"/>
          <p:cNvSpPr txBox="1"/>
          <p:nvPr/>
        </p:nvSpPr>
        <p:spPr>
          <a:xfrm>
            <a:off x="1764792" y="1792224"/>
            <a:ext cx="914400" cy="347472"/>
          </a:xfrm>
          <a:prstGeom prst="rect">
            <a:avLst/>
          </a:prstGeom>
          <a:noFill/>
          <a:ln/>
        </p:spPr>
        <p:txBody>
          <a:bodyPr wrap="square" lIns="0" tIns="0" rIns="0" bIns="0" rtlCol="0" anchor="ctr"/>
          <a:lstStyle/>
          <a:p>
            <a:pPr marL="0" indent="0">
              <a:buNone/>
            </a:pPr>
            <a:r>
              <a:rPr lang="en-US" sz="900" dirty="0">
                <a:solidFill>
                  <a:srgbClr val="FFB86C"/>
                </a:solidFill>
                <a:latin typeface="Courier New" pitchFamily="34" charset="0"/>
                <a:ea typeface="Courier New" pitchFamily="34" charset="-122"/>
                <a:cs typeface="Courier New" pitchFamily="34" charset="-120"/>
              </a:rPr>
              <a:t>INTEGER</a:t>
            </a:r>
            <a:endParaRPr lang="en-US" sz="900" dirty="0"/>
          </a:p>
        </p:txBody>
      </p:sp>
      <p:sp>
        <p:nvSpPr>
          <p:cNvPr id="14" name="Text 12"/>
          <p:cNvSpPr txBox="1"/>
          <p:nvPr/>
        </p:nvSpPr>
        <p:spPr>
          <a:xfrm>
            <a:off x="2679192" y="1792224"/>
            <a:ext cx="2505456" cy="347472"/>
          </a:xfrm>
          <a:prstGeom prst="rect">
            <a:avLst/>
          </a:prstGeom>
          <a:noFill/>
          <a:ln/>
        </p:spPr>
        <p:txBody>
          <a:bodyPr wrap="square" lIns="0" tIns="0" rIns="0" bIns="0" rtlCol="0" anchor="ctr"/>
          <a:lstStyle/>
          <a:p>
            <a:pPr marL="0" indent="0">
              <a:buNone/>
            </a:pPr>
            <a:r>
              <a:rPr lang="en-US" sz="950" dirty="0">
                <a:solidFill>
                  <a:srgbClr val="E8EEF6"/>
                </a:solidFill>
                <a:latin typeface="Calibri" pitchFamily="34" charset="0"/>
                <a:ea typeface="Calibri" pitchFamily="34" charset="-122"/>
                <a:cs typeface="Calibri" pitchFamily="34" charset="-120"/>
              </a:rPr>
              <a:t>Identificador único de cada registro</a:t>
            </a:r>
            <a:endParaRPr lang="en-US" sz="950" dirty="0"/>
          </a:p>
        </p:txBody>
      </p:sp>
      <p:sp>
        <p:nvSpPr>
          <p:cNvPr id="15" name="Shape 13"/>
          <p:cNvSpPr/>
          <p:nvPr/>
        </p:nvSpPr>
        <p:spPr>
          <a:xfrm>
            <a:off x="502920" y="2194560"/>
            <a:ext cx="4846320" cy="347472"/>
          </a:xfrm>
          <a:prstGeom prst="roundRect">
            <a:avLst>
              <a:gd name="adj" fmla="val 21053"/>
            </a:avLst>
          </a:prstGeom>
          <a:solidFill>
            <a:srgbClr val="1A2434"/>
          </a:solidFill>
          <a:ln w="12700">
            <a:solidFill>
              <a:srgbClr val="2B3B52"/>
            </a:solidFill>
            <a:prstDash val="solid"/>
          </a:ln>
        </p:spPr>
        <p:txBody>
          <a:bodyPr/>
          <a:lstStyle/>
          <a:p>
            <a:endParaRPr lang="es-CO"/>
          </a:p>
        </p:txBody>
      </p:sp>
      <p:sp>
        <p:nvSpPr>
          <p:cNvPr id="16" name="Text 14"/>
          <p:cNvSpPr txBox="1"/>
          <p:nvPr/>
        </p:nvSpPr>
        <p:spPr>
          <a:xfrm>
            <a:off x="667512" y="2194560"/>
            <a:ext cx="1097280" cy="347472"/>
          </a:xfrm>
          <a:prstGeom prst="rect">
            <a:avLst/>
          </a:prstGeom>
          <a:noFill/>
          <a:ln/>
        </p:spPr>
        <p:txBody>
          <a:bodyPr wrap="square" lIns="0" tIns="0" rIns="0" bIns="0" rtlCol="0" anchor="ctr"/>
          <a:lstStyle/>
          <a:p>
            <a:pPr marL="0" indent="0">
              <a:buNone/>
            </a:pPr>
            <a:r>
              <a:rPr lang="en-US" sz="950" b="1" dirty="0">
                <a:solidFill>
                  <a:srgbClr val="56C7F2"/>
                </a:solidFill>
                <a:latin typeface="Courier New" pitchFamily="34" charset="0"/>
                <a:ea typeface="Courier New" pitchFamily="34" charset="-122"/>
                <a:cs typeface="Courier New" pitchFamily="34" charset="-120"/>
              </a:rPr>
              <a:t>nombre</a:t>
            </a:r>
            <a:endParaRPr lang="en-US" sz="950" dirty="0"/>
          </a:p>
        </p:txBody>
      </p:sp>
      <p:sp>
        <p:nvSpPr>
          <p:cNvPr id="17" name="Text 15"/>
          <p:cNvSpPr txBox="1"/>
          <p:nvPr/>
        </p:nvSpPr>
        <p:spPr>
          <a:xfrm>
            <a:off x="1764792" y="2194560"/>
            <a:ext cx="914400" cy="347472"/>
          </a:xfrm>
          <a:prstGeom prst="rect">
            <a:avLst/>
          </a:prstGeom>
          <a:noFill/>
          <a:ln/>
        </p:spPr>
        <p:txBody>
          <a:bodyPr wrap="square" lIns="0" tIns="0" rIns="0" bIns="0" rtlCol="0" anchor="ctr"/>
          <a:lstStyle/>
          <a:p>
            <a:pPr marL="0" indent="0">
              <a:buNone/>
            </a:pPr>
            <a:r>
              <a:rPr lang="en-US" sz="900" dirty="0">
                <a:solidFill>
                  <a:srgbClr val="FFB86C"/>
                </a:solidFill>
                <a:latin typeface="Courier New" pitchFamily="34" charset="0"/>
                <a:ea typeface="Courier New" pitchFamily="34" charset="-122"/>
                <a:cs typeface="Courier New" pitchFamily="34" charset="-120"/>
              </a:rPr>
              <a:t>TEXT</a:t>
            </a:r>
            <a:endParaRPr lang="en-US" sz="900" dirty="0"/>
          </a:p>
        </p:txBody>
      </p:sp>
      <p:sp>
        <p:nvSpPr>
          <p:cNvPr id="18" name="Text 16"/>
          <p:cNvSpPr txBox="1"/>
          <p:nvPr/>
        </p:nvSpPr>
        <p:spPr>
          <a:xfrm>
            <a:off x="2679192" y="2194560"/>
            <a:ext cx="2505456" cy="347472"/>
          </a:xfrm>
          <a:prstGeom prst="rect">
            <a:avLst/>
          </a:prstGeom>
          <a:noFill/>
          <a:ln/>
        </p:spPr>
        <p:txBody>
          <a:bodyPr wrap="square" lIns="0" tIns="0" rIns="0" bIns="0" rtlCol="0" anchor="ctr"/>
          <a:lstStyle/>
          <a:p>
            <a:pPr marL="0" indent="0">
              <a:buNone/>
            </a:pPr>
            <a:r>
              <a:rPr lang="en-US" sz="950" dirty="0">
                <a:solidFill>
                  <a:srgbClr val="E8EEF6"/>
                </a:solidFill>
                <a:latin typeface="Calibri" pitchFamily="34" charset="0"/>
                <a:ea typeface="Calibri" pitchFamily="34" charset="-122"/>
                <a:cs typeface="Calibri" pitchFamily="34" charset="-120"/>
              </a:rPr>
              <a:t>Nombre escrito por el usuario</a:t>
            </a:r>
            <a:endParaRPr lang="en-US" sz="950" dirty="0"/>
          </a:p>
        </p:txBody>
      </p:sp>
      <p:sp>
        <p:nvSpPr>
          <p:cNvPr id="19" name="Shape 17"/>
          <p:cNvSpPr/>
          <p:nvPr/>
        </p:nvSpPr>
        <p:spPr>
          <a:xfrm>
            <a:off x="502920" y="2596896"/>
            <a:ext cx="4846320" cy="347472"/>
          </a:xfrm>
          <a:prstGeom prst="roundRect">
            <a:avLst>
              <a:gd name="adj" fmla="val 21053"/>
            </a:avLst>
          </a:prstGeom>
          <a:solidFill>
            <a:srgbClr val="1A2434"/>
          </a:solidFill>
          <a:ln w="12700">
            <a:solidFill>
              <a:srgbClr val="2B3B52"/>
            </a:solidFill>
            <a:prstDash val="solid"/>
          </a:ln>
        </p:spPr>
        <p:txBody>
          <a:bodyPr/>
          <a:lstStyle/>
          <a:p>
            <a:endParaRPr lang="es-CO"/>
          </a:p>
        </p:txBody>
      </p:sp>
      <p:sp>
        <p:nvSpPr>
          <p:cNvPr id="20" name="Text 18"/>
          <p:cNvSpPr txBox="1"/>
          <p:nvPr/>
        </p:nvSpPr>
        <p:spPr>
          <a:xfrm>
            <a:off x="667512" y="2596896"/>
            <a:ext cx="1097280" cy="347472"/>
          </a:xfrm>
          <a:prstGeom prst="rect">
            <a:avLst/>
          </a:prstGeom>
          <a:noFill/>
          <a:ln/>
        </p:spPr>
        <p:txBody>
          <a:bodyPr wrap="square" lIns="0" tIns="0" rIns="0" bIns="0" rtlCol="0" anchor="ctr"/>
          <a:lstStyle/>
          <a:p>
            <a:pPr marL="0" indent="0">
              <a:buNone/>
            </a:pPr>
            <a:r>
              <a:rPr lang="en-US" sz="950" b="1" dirty="0">
                <a:solidFill>
                  <a:srgbClr val="56C7F2"/>
                </a:solidFill>
                <a:latin typeface="Courier New" pitchFamily="34" charset="0"/>
                <a:ea typeface="Courier New" pitchFamily="34" charset="-122"/>
                <a:cs typeface="Courier New" pitchFamily="34" charset="-120"/>
              </a:rPr>
              <a:t>correo</a:t>
            </a:r>
            <a:endParaRPr lang="en-US" sz="950" dirty="0"/>
          </a:p>
        </p:txBody>
      </p:sp>
      <p:sp>
        <p:nvSpPr>
          <p:cNvPr id="21" name="Text 19"/>
          <p:cNvSpPr txBox="1"/>
          <p:nvPr/>
        </p:nvSpPr>
        <p:spPr>
          <a:xfrm>
            <a:off x="1764792" y="2596896"/>
            <a:ext cx="914400" cy="347472"/>
          </a:xfrm>
          <a:prstGeom prst="rect">
            <a:avLst/>
          </a:prstGeom>
          <a:noFill/>
          <a:ln/>
        </p:spPr>
        <p:txBody>
          <a:bodyPr wrap="square" lIns="0" tIns="0" rIns="0" bIns="0" rtlCol="0" anchor="ctr"/>
          <a:lstStyle/>
          <a:p>
            <a:pPr marL="0" indent="0">
              <a:buNone/>
            </a:pPr>
            <a:r>
              <a:rPr lang="en-US" sz="900" dirty="0">
                <a:solidFill>
                  <a:srgbClr val="FFB86C"/>
                </a:solidFill>
                <a:latin typeface="Courier New" pitchFamily="34" charset="0"/>
                <a:ea typeface="Courier New" pitchFamily="34" charset="-122"/>
                <a:cs typeface="Courier New" pitchFamily="34" charset="-120"/>
              </a:rPr>
              <a:t>TEXT</a:t>
            </a:r>
            <a:endParaRPr lang="en-US" sz="900" dirty="0"/>
          </a:p>
        </p:txBody>
      </p:sp>
      <p:sp>
        <p:nvSpPr>
          <p:cNvPr id="22" name="Text 20"/>
          <p:cNvSpPr txBox="1"/>
          <p:nvPr/>
        </p:nvSpPr>
        <p:spPr>
          <a:xfrm>
            <a:off x="2679192" y="2596896"/>
            <a:ext cx="2505456" cy="347472"/>
          </a:xfrm>
          <a:prstGeom prst="rect">
            <a:avLst/>
          </a:prstGeom>
          <a:noFill/>
          <a:ln/>
        </p:spPr>
        <p:txBody>
          <a:bodyPr wrap="square" lIns="0" tIns="0" rIns="0" bIns="0" rtlCol="0" anchor="ctr"/>
          <a:lstStyle/>
          <a:p>
            <a:pPr marL="0" indent="0">
              <a:buNone/>
            </a:pPr>
            <a:r>
              <a:rPr lang="en-US" sz="950" dirty="0">
                <a:solidFill>
                  <a:srgbClr val="E8EEF6"/>
                </a:solidFill>
                <a:latin typeface="Calibri" pitchFamily="34" charset="0"/>
                <a:ea typeface="Calibri" pitchFamily="34" charset="-122"/>
                <a:cs typeface="Calibri" pitchFamily="34" charset="-120"/>
              </a:rPr>
              <a:t>Correo electrónico de contacto</a:t>
            </a:r>
            <a:endParaRPr lang="en-US" sz="950" dirty="0"/>
          </a:p>
        </p:txBody>
      </p:sp>
      <p:sp>
        <p:nvSpPr>
          <p:cNvPr id="23" name="Shape 21"/>
          <p:cNvSpPr/>
          <p:nvPr/>
        </p:nvSpPr>
        <p:spPr>
          <a:xfrm>
            <a:off x="502920" y="2999232"/>
            <a:ext cx="4846320" cy="347472"/>
          </a:xfrm>
          <a:prstGeom prst="roundRect">
            <a:avLst>
              <a:gd name="adj" fmla="val 21053"/>
            </a:avLst>
          </a:prstGeom>
          <a:solidFill>
            <a:srgbClr val="1A2434"/>
          </a:solidFill>
          <a:ln w="12700">
            <a:solidFill>
              <a:srgbClr val="2B3B52"/>
            </a:solidFill>
            <a:prstDash val="solid"/>
          </a:ln>
        </p:spPr>
        <p:txBody>
          <a:bodyPr/>
          <a:lstStyle/>
          <a:p>
            <a:endParaRPr lang="es-CO"/>
          </a:p>
        </p:txBody>
      </p:sp>
      <p:sp>
        <p:nvSpPr>
          <p:cNvPr id="24" name="Text 22"/>
          <p:cNvSpPr txBox="1"/>
          <p:nvPr/>
        </p:nvSpPr>
        <p:spPr>
          <a:xfrm>
            <a:off x="667512" y="2999232"/>
            <a:ext cx="1097280" cy="347472"/>
          </a:xfrm>
          <a:prstGeom prst="rect">
            <a:avLst/>
          </a:prstGeom>
          <a:noFill/>
          <a:ln/>
        </p:spPr>
        <p:txBody>
          <a:bodyPr wrap="square" lIns="0" tIns="0" rIns="0" bIns="0" rtlCol="0" anchor="ctr"/>
          <a:lstStyle/>
          <a:p>
            <a:pPr marL="0" indent="0">
              <a:buNone/>
            </a:pPr>
            <a:r>
              <a:rPr lang="en-US" sz="950" b="1" dirty="0">
                <a:solidFill>
                  <a:srgbClr val="56C7F2"/>
                </a:solidFill>
                <a:latin typeface="Courier New" pitchFamily="34" charset="0"/>
                <a:ea typeface="Courier New" pitchFamily="34" charset="-122"/>
                <a:cs typeface="Courier New" pitchFamily="34" charset="-120"/>
              </a:rPr>
              <a:t>mensaje</a:t>
            </a:r>
            <a:endParaRPr lang="en-US" sz="950" dirty="0"/>
          </a:p>
        </p:txBody>
      </p:sp>
      <p:sp>
        <p:nvSpPr>
          <p:cNvPr id="25" name="Text 23"/>
          <p:cNvSpPr txBox="1"/>
          <p:nvPr/>
        </p:nvSpPr>
        <p:spPr>
          <a:xfrm>
            <a:off x="1764792" y="2999232"/>
            <a:ext cx="914400" cy="347472"/>
          </a:xfrm>
          <a:prstGeom prst="rect">
            <a:avLst/>
          </a:prstGeom>
          <a:noFill/>
          <a:ln/>
        </p:spPr>
        <p:txBody>
          <a:bodyPr wrap="square" lIns="0" tIns="0" rIns="0" bIns="0" rtlCol="0" anchor="ctr"/>
          <a:lstStyle/>
          <a:p>
            <a:pPr marL="0" indent="0">
              <a:buNone/>
            </a:pPr>
            <a:r>
              <a:rPr lang="en-US" sz="900" dirty="0">
                <a:solidFill>
                  <a:srgbClr val="FFB86C"/>
                </a:solidFill>
                <a:latin typeface="Courier New" pitchFamily="34" charset="0"/>
                <a:ea typeface="Courier New" pitchFamily="34" charset="-122"/>
                <a:cs typeface="Courier New" pitchFamily="34" charset="-120"/>
              </a:rPr>
              <a:t>TEXT</a:t>
            </a:r>
            <a:endParaRPr lang="en-US" sz="900" dirty="0"/>
          </a:p>
        </p:txBody>
      </p:sp>
      <p:sp>
        <p:nvSpPr>
          <p:cNvPr id="26" name="Text 24"/>
          <p:cNvSpPr txBox="1"/>
          <p:nvPr/>
        </p:nvSpPr>
        <p:spPr>
          <a:xfrm>
            <a:off x="2679192" y="2999232"/>
            <a:ext cx="2505456" cy="347472"/>
          </a:xfrm>
          <a:prstGeom prst="rect">
            <a:avLst/>
          </a:prstGeom>
          <a:noFill/>
          <a:ln/>
        </p:spPr>
        <p:txBody>
          <a:bodyPr wrap="square" lIns="0" tIns="0" rIns="0" bIns="0" rtlCol="0" anchor="ctr"/>
          <a:lstStyle/>
          <a:p>
            <a:pPr marL="0" indent="0">
              <a:buNone/>
            </a:pPr>
            <a:r>
              <a:rPr lang="en-US" sz="950" dirty="0">
                <a:solidFill>
                  <a:srgbClr val="E8EEF6"/>
                </a:solidFill>
                <a:latin typeface="Calibri" pitchFamily="34" charset="0"/>
                <a:ea typeface="Calibri" pitchFamily="34" charset="-122"/>
                <a:cs typeface="Calibri" pitchFamily="34" charset="-120"/>
              </a:rPr>
              <a:t>Mensaje enviado desde el formulario</a:t>
            </a:r>
            <a:endParaRPr lang="en-US" sz="950" dirty="0"/>
          </a:p>
        </p:txBody>
      </p:sp>
      <p:sp>
        <p:nvSpPr>
          <p:cNvPr id="27" name="Shape 25"/>
          <p:cNvSpPr/>
          <p:nvPr/>
        </p:nvSpPr>
        <p:spPr>
          <a:xfrm>
            <a:off x="5532120" y="1207008"/>
            <a:ext cx="3108960" cy="676656"/>
          </a:xfrm>
          <a:prstGeom prst="roundRect">
            <a:avLst>
              <a:gd name="adj" fmla="val 10811"/>
            </a:avLst>
          </a:prstGeom>
          <a:solidFill>
            <a:srgbClr val="1A2434"/>
          </a:solidFill>
          <a:ln w="12700">
            <a:solidFill>
              <a:srgbClr val="3DDC97"/>
            </a:solidFill>
            <a:prstDash val="solid"/>
          </a:ln>
        </p:spPr>
        <p:txBody>
          <a:bodyPr/>
          <a:lstStyle/>
          <a:p>
            <a:endParaRPr lang="es-CO"/>
          </a:p>
        </p:txBody>
      </p:sp>
      <p:sp>
        <p:nvSpPr>
          <p:cNvPr id="28" name="Text 26"/>
          <p:cNvSpPr txBox="1"/>
          <p:nvPr/>
        </p:nvSpPr>
        <p:spPr>
          <a:xfrm>
            <a:off x="5715000" y="1261872"/>
            <a:ext cx="2743200" cy="201168"/>
          </a:xfrm>
          <a:prstGeom prst="rect">
            <a:avLst/>
          </a:prstGeom>
          <a:noFill/>
          <a:ln/>
        </p:spPr>
        <p:txBody>
          <a:bodyPr wrap="square" lIns="0" tIns="0" rIns="0" bIns="0" rtlCol="0" anchor="ctr"/>
          <a:lstStyle/>
          <a:p>
            <a:pPr marL="0" indent="0">
              <a:buNone/>
            </a:pPr>
            <a:r>
              <a:rPr lang="en-US" sz="950" b="1" dirty="0">
                <a:solidFill>
                  <a:srgbClr val="3DDC97"/>
                </a:solidFill>
                <a:latin typeface="Arial" pitchFamily="34" charset="0"/>
                <a:ea typeface="Arial" pitchFamily="34" charset="-122"/>
                <a:cs typeface="Arial" pitchFamily="34" charset="-120"/>
              </a:rPr>
              <a:t>Cada envío genera una fila</a:t>
            </a:r>
            <a:endParaRPr lang="en-US" sz="950" dirty="0"/>
          </a:p>
        </p:txBody>
      </p:sp>
      <p:sp>
        <p:nvSpPr>
          <p:cNvPr id="29" name="Text 27"/>
          <p:cNvSpPr txBox="1"/>
          <p:nvPr/>
        </p:nvSpPr>
        <p:spPr>
          <a:xfrm>
            <a:off x="5715000" y="1463040"/>
            <a:ext cx="2761488" cy="384048"/>
          </a:xfrm>
          <a:prstGeom prst="rect">
            <a:avLst/>
          </a:prstGeom>
          <a:noFill/>
          <a:ln/>
        </p:spPr>
        <p:txBody>
          <a:bodyPr wrap="square" lIns="0" tIns="0" rIns="0" bIns="0" rtlCol="0" anchor="t"/>
          <a:lstStyle/>
          <a:p>
            <a:pPr marL="0" indent="0">
              <a:buNone/>
            </a:pPr>
            <a:r>
              <a:rPr lang="en-US" sz="850" dirty="0">
                <a:solidFill>
                  <a:srgbClr val="E8EEF6"/>
                </a:solidFill>
                <a:latin typeface="Calibri" pitchFamily="34" charset="0"/>
                <a:ea typeface="Calibri" pitchFamily="34" charset="-122"/>
                <a:cs typeface="Calibri" pitchFamily="34" charset="-120"/>
              </a:rPr>
              <a:t>Un formulario enviado corresponde a un registro nuevo de la tabla.</a:t>
            </a:r>
            <a:endParaRPr lang="en-US" sz="850" dirty="0"/>
          </a:p>
        </p:txBody>
      </p:sp>
      <p:sp>
        <p:nvSpPr>
          <p:cNvPr id="30" name="Shape 28"/>
          <p:cNvSpPr/>
          <p:nvPr/>
        </p:nvSpPr>
        <p:spPr>
          <a:xfrm>
            <a:off x="5532120" y="1984248"/>
            <a:ext cx="3108960" cy="676656"/>
          </a:xfrm>
          <a:prstGeom prst="roundRect">
            <a:avLst>
              <a:gd name="adj" fmla="val 10811"/>
            </a:avLst>
          </a:prstGeom>
          <a:solidFill>
            <a:srgbClr val="1A2434"/>
          </a:solidFill>
          <a:ln w="12700">
            <a:solidFill>
              <a:srgbClr val="56C7F2"/>
            </a:solidFill>
            <a:prstDash val="solid"/>
          </a:ln>
        </p:spPr>
        <p:txBody>
          <a:bodyPr/>
          <a:lstStyle/>
          <a:p>
            <a:endParaRPr lang="es-CO"/>
          </a:p>
        </p:txBody>
      </p:sp>
      <p:sp>
        <p:nvSpPr>
          <p:cNvPr id="31" name="Text 29"/>
          <p:cNvSpPr txBox="1"/>
          <p:nvPr/>
        </p:nvSpPr>
        <p:spPr>
          <a:xfrm>
            <a:off x="5715000" y="2039112"/>
            <a:ext cx="2743200" cy="201168"/>
          </a:xfrm>
          <a:prstGeom prst="rect">
            <a:avLst/>
          </a:prstGeom>
          <a:noFill/>
          <a:ln/>
        </p:spPr>
        <p:txBody>
          <a:bodyPr wrap="square" lIns="0" tIns="0" rIns="0" bIns="0" rtlCol="0" anchor="ctr"/>
          <a:lstStyle/>
          <a:p>
            <a:pPr marL="0" indent="0">
              <a:buNone/>
            </a:pPr>
            <a:r>
              <a:rPr lang="en-US" sz="950" b="1" dirty="0">
                <a:solidFill>
                  <a:srgbClr val="56C7F2"/>
                </a:solidFill>
                <a:latin typeface="Arial" pitchFamily="34" charset="0"/>
                <a:ea typeface="Arial" pitchFamily="34" charset="-122"/>
                <a:cs typeface="Arial" pitchFamily="34" charset="-120"/>
              </a:rPr>
              <a:t>Las columnas son los campos</a:t>
            </a:r>
            <a:endParaRPr lang="en-US" sz="950" dirty="0"/>
          </a:p>
        </p:txBody>
      </p:sp>
      <p:sp>
        <p:nvSpPr>
          <p:cNvPr id="32" name="Text 30"/>
          <p:cNvSpPr txBox="1"/>
          <p:nvPr/>
        </p:nvSpPr>
        <p:spPr>
          <a:xfrm>
            <a:off x="5715000" y="2240280"/>
            <a:ext cx="2761488" cy="384048"/>
          </a:xfrm>
          <a:prstGeom prst="rect">
            <a:avLst/>
          </a:prstGeom>
          <a:noFill/>
          <a:ln/>
        </p:spPr>
        <p:txBody>
          <a:bodyPr wrap="square" lIns="0" tIns="0" rIns="0" bIns="0" rtlCol="0" anchor="t"/>
          <a:lstStyle/>
          <a:p>
            <a:pPr marL="0" indent="0">
              <a:buNone/>
            </a:pPr>
            <a:r>
              <a:rPr lang="en-US" sz="850" dirty="0">
                <a:solidFill>
                  <a:srgbClr val="E8EEF6"/>
                </a:solidFill>
                <a:latin typeface="Calibri" pitchFamily="34" charset="0"/>
                <a:ea typeface="Calibri" pitchFamily="34" charset="-122"/>
                <a:cs typeface="Calibri" pitchFamily="34" charset="-120"/>
              </a:rPr>
              <a:t>Cada atributo name del formulario se corresponde con una columna.</a:t>
            </a:r>
            <a:endParaRPr lang="en-US" sz="850" dirty="0"/>
          </a:p>
        </p:txBody>
      </p:sp>
      <p:sp>
        <p:nvSpPr>
          <p:cNvPr id="33" name="Shape 31"/>
          <p:cNvSpPr/>
          <p:nvPr/>
        </p:nvSpPr>
        <p:spPr>
          <a:xfrm>
            <a:off x="5532120" y="2761488"/>
            <a:ext cx="3108960" cy="676656"/>
          </a:xfrm>
          <a:prstGeom prst="roundRect">
            <a:avLst>
              <a:gd name="adj" fmla="val 10811"/>
            </a:avLst>
          </a:prstGeom>
          <a:solidFill>
            <a:srgbClr val="1A2434"/>
          </a:solidFill>
          <a:ln w="12700">
            <a:solidFill>
              <a:srgbClr val="FFB86C"/>
            </a:solidFill>
            <a:prstDash val="solid"/>
          </a:ln>
        </p:spPr>
        <p:txBody>
          <a:bodyPr/>
          <a:lstStyle/>
          <a:p>
            <a:endParaRPr lang="es-CO"/>
          </a:p>
        </p:txBody>
      </p:sp>
      <p:sp>
        <p:nvSpPr>
          <p:cNvPr id="34" name="Text 32"/>
          <p:cNvSpPr txBox="1"/>
          <p:nvPr/>
        </p:nvSpPr>
        <p:spPr>
          <a:xfrm>
            <a:off x="5715000" y="2816352"/>
            <a:ext cx="2743200" cy="201168"/>
          </a:xfrm>
          <a:prstGeom prst="rect">
            <a:avLst/>
          </a:prstGeom>
          <a:noFill/>
          <a:ln/>
        </p:spPr>
        <p:txBody>
          <a:bodyPr wrap="square" lIns="0" tIns="0" rIns="0" bIns="0" rtlCol="0" anchor="ctr"/>
          <a:lstStyle/>
          <a:p>
            <a:pPr marL="0" indent="0">
              <a:buNone/>
            </a:pPr>
            <a:r>
              <a:rPr lang="en-US" sz="950" b="1" dirty="0">
                <a:solidFill>
                  <a:srgbClr val="FFB86C"/>
                </a:solidFill>
                <a:latin typeface="Arial" pitchFamily="34" charset="0"/>
                <a:ea typeface="Arial" pitchFamily="34" charset="-122"/>
                <a:cs typeface="Arial" pitchFamily="34" charset="-120"/>
              </a:rPr>
              <a:t>id identifica el registro</a:t>
            </a:r>
            <a:endParaRPr lang="en-US" sz="950" dirty="0"/>
          </a:p>
        </p:txBody>
      </p:sp>
      <p:sp>
        <p:nvSpPr>
          <p:cNvPr id="35" name="Text 33"/>
          <p:cNvSpPr txBox="1"/>
          <p:nvPr/>
        </p:nvSpPr>
        <p:spPr>
          <a:xfrm>
            <a:off x="5715000" y="3017520"/>
            <a:ext cx="2761488" cy="384048"/>
          </a:xfrm>
          <a:prstGeom prst="rect">
            <a:avLst/>
          </a:prstGeom>
          <a:noFill/>
          <a:ln/>
        </p:spPr>
        <p:txBody>
          <a:bodyPr wrap="square" lIns="0" tIns="0" rIns="0" bIns="0" rtlCol="0" anchor="t"/>
          <a:lstStyle/>
          <a:p>
            <a:pPr marL="0" indent="0">
              <a:buNone/>
            </a:pPr>
            <a:r>
              <a:rPr lang="en-US" sz="850" dirty="0">
                <a:solidFill>
                  <a:srgbClr val="E8EEF6"/>
                </a:solidFill>
                <a:latin typeface="Calibri" pitchFamily="34" charset="0"/>
                <a:ea typeface="Calibri" pitchFamily="34" charset="-122"/>
                <a:cs typeface="Calibri" pitchFamily="34" charset="-120"/>
              </a:rPr>
              <a:t>Se declara como clave primaria y no se escribe desde el formulario.</a:t>
            </a:r>
            <a:endParaRPr lang="en-US" sz="850" dirty="0"/>
          </a:p>
        </p:txBody>
      </p:sp>
      <p:sp>
        <p:nvSpPr>
          <p:cNvPr id="36" name="Shape 34"/>
          <p:cNvSpPr/>
          <p:nvPr/>
        </p:nvSpPr>
        <p:spPr>
          <a:xfrm>
            <a:off x="5532120" y="3538728"/>
            <a:ext cx="3108960" cy="676656"/>
          </a:xfrm>
          <a:prstGeom prst="roundRect">
            <a:avLst>
              <a:gd name="adj" fmla="val 10811"/>
            </a:avLst>
          </a:prstGeom>
          <a:solidFill>
            <a:srgbClr val="1A2434"/>
          </a:solidFill>
          <a:ln w="12700">
            <a:solidFill>
              <a:srgbClr val="3DDC97"/>
            </a:solidFill>
            <a:prstDash val="solid"/>
          </a:ln>
        </p:spPr>
        <p:txBody>
          <a:bodyPr/>
          <a:lstStyle/>
          <a:p>
            <a:endParaRPr lang="es-CO"/>
          </a:p>
        </p:txBody>
      </p:sp>
      <p:sp>
        <p:nvSpPr>
          <p:cNvPr id="37" name="Text 35"/>
          <p:cNvSpPr txBox="1"/>
          <p:nvPr/>
        </p:nvSpPr>
        <p:spPr>
          <a:xfrm>
            <a:off x="5715000" y="3593592"/>
            <a:ext cx="2743200" cy="201168"/>
          </a:xfrm>
          <a:prstGeom prst="rect">
            <a:avLst/>
          </a:prstGeom>
          <a:noFill/>
          <a:ln/>
        </p:spPr>
        <p:txBody>
          <a:bodyPr wrap="square" lIns="0" tIns="0" rIns="0" bIns="0" rtlCol="0" anchor="ctr"/>
          <a:lstStyle/>
          <a:p>
            <a:pPr marL="0" indent="0">
              <a:buNone/>
            </a:pPr>
            <a:r>
              <a:rPr lang="en-US" sz="950" b="1" dirty="0">
                <a:solidFill>
                  <a:srgbClr val="3DDC97"/>
                </a:solidFill>
                <a:latin typeface="Arial" pitchFamily="34" charset="0"/>
                <a:ea typeface="Arial" pitchFamily="34" charset="-122"/>
                <a:cs typeface="Arial" pitchFamily="34" charset="-120"/>
              </a:rPr>
              <a:t>AUTOINCREMENT lo genera</a:t>
            </a:r>
            <a:endParaRPr lang="en-US" sz="950" dirty="0"/>
          </a:p>
        </p:txBody>
      </p:sp>
      <p:sp>
        <p:nvSpPr>
          <p:cNvPr id="38" name="Text 36"/>
          <p:cNvSpPr txBox="1"/>
          <p:nvPr/>
        </p:nvSpPr>
        <p:spPr>
          <a:xfrm>
            <a:off x="5715000" y="3794760"/>
            <a:ext cx="2761488" cy="384048"/>
          </a:xfrm>
          <a:prstGeom prst="rect">
            <a:avLst/>
          </a:prstGeom>
          <a:noFill/>
          <a:ln/>
        </p:spPr>
        <p:txBody>
          <a:bodyPr wrap="square" lIns="0" tIns="0" rIns="0" bIns="0" rtlCol="0" anchor="t"/>
          <a:lstStyle/>
          <a:p>
            <a:pPr marL="0" indent="0">
              <a:buNone/>
            </a:pPr>
            <a:r>
              <a:rPr lang="en-US" sz="850" dirty="0">
                <a:solidFill>
                  <a:srgbClr val="E8EEF6"/>
                </a:solidFill>
                <a:latin typeface="Calibri" pitchFamily="34" charset="0"/>
                <a:ea typeface="Calibri" pitchFamily="34" charset="-122"/>
                <a:cs typeface="Calibri" pitchFamily="34" charset="-120"/>
              </a:rPr>
              <a:t>SQLite asigna el identificador; Node.js lo recibe después del INSERT.</a:t>
            </a:r>
            <a:endParaRPr lang="en-US" sz="850" dirty="0"/>
          </a:p>
        </p:txBody>
      </p:sp>
      <p:sp>
        <p:nvSpPr>
          <p:cNvPr id="39" name="Text 37"/>
          <p:cNvSpPr txBox="1"/>
          <p:nvPr/>
        </p:nvSpPr>
        <p:spPr>
          <a:xfrm>
            <a:off x="502920" y="4114800"/>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El modelo de esta sesión tiene una sola tabla: las relaciones entre tablas y las llaves foráneas corresponden a sesiones posteriores.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77724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777240"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CÓDIGO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CREATE TABLE define la estructura persistente</a:t>
            </a:r>
            <a:endParaRPr lang="en-US" sz="23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20 / 25</a:t>
            </a:r>
            <a:endParaRPr lang="en-US" sz="800" dirty="0"/>
          </a:p>
        </p:txBody>
      </p:sp>
      <p:sp>
        <p:nvSpPr>
          <p:cNvPr id="6" name="Shape 4"/>
          <p:cNvSpPr/>
          <p:nvPr/>
        </p:nvSpPr>
        <p:spPr>
          <a:xfrm>
            <a:off x="502920" y="1243584"/>
            <a:ext cx="4846320" cy="1920240"/>
          </a:xfrm>
          <a:prstGeom prst="roundRect">
            <a:avLst>
              <a:gd name="adj" fmla="val 3810"/>
            </a:avLst>
          </a:prstGeom>
          <a:solidFill>
            <a:srgbClr val="070C14"/>
          </a:solidFill>
          <a:ln w="12700">
            <a:solidFill>
              <a:srgbClr val="2B3B52"/>
            </a:solidFill>
            <a:prstDash val="solid"/>
          </a:ln>
        </p:spPr>
        <p:txBody>
          <a:bodyPr/>
          <a:lstStyle/>
          <a:p>
            <a:endParaRPr lang="es-CO"/>
          </a:p>
        </p:txBody>
      </p:sp>
      <p:sp>
        <p:nvSpPr>
          <p:cNvPr id="7" name="Text 5"/>
          <p:cNvSpPr txBox="1"/>
          <p:nvPr/>
        </p:nvSpPr>
        <p:spPr>
          <a:xfrm>
            <a:off x="649224" y="1298448"/>
            <a:ext cx="4553712" cy="182880"/>
          </a:xfrm>
          <a:prstGeom prst="rect">
            <a:avLst/>
          </a:prstGeom>
          <a:noFill/>
          <a:ln/>
        </p:spPr>
        <p:txBody>
          <a:bodyPr wrap="square" lIns="0" tIns="0" rIns="0" bIns="0" rtlCol="0" anchor="ctr"/>
          <a:lstStyle/>
          <a:p>
            <a:pPr marL="0" indent="0">
              <a:buNone/>
            </a:pPr>
            <a:r>
              <a:rPr lang="en-US" sz="850" b="1" dirty="0">
                <a:solidFill>
                  <a:srgbClr val="3DDC97"/>
                </a:solidFill>
                <a:latin typeface="Courier New" pitchFamily="34" charset="0"/>
                <a:ea typeface="Courier New" pitchFamily="34" charset="-122"/>
                <a:cs typeface="Courier New" pitchFamily="34" charset="-120"/>
              </a:rPr>
              <a:t>SQL</a:t>
            </a:r>
            <a:endParaRPr lang="en-US" sz="850" dirty="0"/>
          </a:p>
        </p:txBody>
      </p:sp>
      <p:sp>
        <p:nvSpPr>
          <p:cNvPr id="8" name="Text 6"/>
          <p:cNvSpPr txBox="1"/>
          <p:nvPr/>
        </p:nvSpPr>
        <p:spPr>
          <a:xfrm>
            <a:off x="649224" y="1517904"/>
            <a:ext cx="4553712" cy="1591056"/>
          </a:xfrm>
          <a:prstGeom prst="rect">
            <a:avLst/>
          </a:prstGeom>
          <a:noFill/>
          <a:ln/>
        </p:spPr>
        <p:txBody>
          <a:bodyPr wrap="square" lIns="0" tIns="0" rIns="0" bIns="0" rtlCol="0" anchor="t"/>
          <a:lstStyle/>
          <a:p>
            <a:pPr marL="0" indent="0">
              <a:lnSpc>
                <a:spcPts val="1320"/>
              </a:lnSpc>
              <a:buNone/>
            </a:pPr>
            <a:r>
              <a:rPr lang="en-US" sz="1000" dirty="0">
                <a:solidFill>
                  <a:srgbClr val="3DDC97"/>
                </a:solidFill>
                <a:latin typeface="Courier New" pitchFamily="34" charset="0"/>
                <a:ea typeface="Courier New" pitchFamily="34" charset="-122"/>
                <a:cs typeface="Courier New" pitchFamily="34" charset="-120"/>
              </a:rPr>
              <a:t>CREATE</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TABLE</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IF</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NOT</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EXISTS</a:t>
            </a:r>
            <a:r>
              <a:rPr lang="en-US" sz="1000" dirty="0">
                <a:solidFill>
                  <a:srgbClr val="D7E1EE"/>
                </a:solidFill>
                <a:latin typeface="Courier New" pitchFamily="34" charset="0"/>
                <a:ea typeface="Courier New" pitchFamily="34" charset="-122"/>
                <a:cs typeface="Courier New" pitchFamily="34" charset="-120"/>
              </a:rPr>
              <a:t> contactos </a:t>
            </a:r>
            <a:r>
              <a:rPr lang="en-US" sz="1000" dirty="0">
                <a:solidFill>
                  <a:srgbClr val="93A5BD"/>
                </a:solidFill>
                <a:latin typeface="Courier New" pitchFamily="34" charset="0"/>
                <a:ea typeface="Courier New" pitchFamily="34" charset="-122"/>
                <a:cs typeface="Courier New" pitchFamily="34" charset="-120"/>
              </a:rPr>
              <a:t>(</a:t>
            </a:r>
            <a:endParaRPr lang="en-US" sz="1000" dirty="0"/>
          </a:p>
          <a:p>
            <a:pPr marL="0" indent="0">
              <a:lnSpc>
                <a:spcPts val="1320"/>
              </a:lnSpc>
              <a:buNone/>
            </a:pPr>
            <a:r>
              <a:rPr lang="en-US" sz="1000" dirty="0">
                <a:solidFill>
                  <a:srgbClr val="D7E1EE"/>
                </a:solidFill>
                <a:latin typeface="Courier New" pitchFamily="34" charset="0"/>
                <a:ea typeface="Courier New" pitchFamily="34" charset="-122"/>
                <a:cs typeface="Courier New" pitchFamily="34" charset="-120"/>
              </a:rPr>
              <a:t>    id      </a:t>
            </a:r>
            <a:r>
              <a:rPr lang="en-US" sz="1000" dirty="0">
                <a:solidFill>
                  <a:srgbClr val="56C7F2"/>
                </a:solidFill>
                <a:latin typeface="Courier New" pitchFamily="34" charset="0"/>
                <a:ea typeface="Courier New" pitchFamily="34" charset="-122"/>
                <a:cs typeface="Courier New" pitchFamily="34" charset="-120"/>
              </a:rPr>
              <a:t>INTEGER</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PRIMARY</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KEY</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AUTOINCREMENT</a:t>
            </a:r>
            <a:r>
              <a:rPr lang="en-US" sz="1000" dirty="0">
                <a:solidFill>
                  <a:srgbClr val="93A5BD"/>
                </a:solidFill>
                <a:latin typeface="Courier New" pitchFamily="34" charset="0"/>
                <a:ea typeface="Courier New" pitchFamily="34" charset="-122"/>
                <a:cs typeface="Courier New" pitchFamily="34" charset="-120"/>
              </a:rPr>
              <a:t>,</a:t>
            </a:r>
            <a:endParaRPr lang="en-US" sz="1000" dirty="0"/>
          </a:p>
          <a:p>
            <a:pPr marL="0" indent="0">
              <a:lnSpc>
                <a:spcPts val="1320"/>
              </a:lnSpc>
              <a:buNone/>
            </a:pPr>
            <a:r>
              <a:rPr lang="en-US" sz="1000" dirty="0">
                <a:solidFill>
                  <a:srgbClr val="D7E1EE"/>
                </a:solidFill>
                <a:latin typeface="Courier New" pitchFamily="34" charset="0"/>
                <a:ea typeface="Courier New" pitchFamily="34" charset="-122"/>
                <a:cs typeface="Courier New" pitchFamily="34" charset="-120"/>
              </a:rPr>
              <a:t>    nombre  </a:t>
            </a:r>
            <a:r>
              <a:rPr lang="en-US" sz="1000" dirty="0">
                <a:solidFill>
                  <a:srgbClr val="56C7F2"/>
                </a:solidFill>
                <a:latin typeface="Courier New" pitchFamily="34" charset="0"/>
                <a:ea typeface="Courier New" pitchFamily="34" charset="-122"/>
                <a:cs typeface="Courier New" pitchFamily="34" charset="-120"/>
              </a:rPr>
              <a:t>TEXT</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NOT</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NULL</a:t>
            </a:r>
            <a:r>
              <a:rPr lang="en-US" sz="1000" dirty="0">
                <a:solidFill>
                  <a:srgbClr val="93A5BD"/>
                </a:solidFill>
                <a:latin typeface="Courier New" pitchFamily="34" charset="0"/>
                <a:ea typeface="Courier New" pitchFamily="34" charset="-122"/>
                <a:cs typeface="Courier New" pitchFamily="34" charset="-120"/>
              </a:rPr>
              <a:t>,</a:t>
            </a:r>
            <a:endParaRPr lang="en-US" sz="1000" dirty="0"/>
          </a:p>
          <a:p>
            <a:pPr marL="0" indent="0">
              <a:lnSpc>
                <a:spcPts val="1320"/>
              </a:lnSpc>
              <a:buNone/>
            </a:pPr>
            <a:r>
              <a:rPr lang="en-US" sz="1000" dirty="0">
                <a:solidFill>
                  <a:srgbClr val="D7E1EE"/>
                </a:solidFill>
                <a:latin typeface="Courier New" pitchFamily="34" charset="0"/>
                <a:ea typeface="Courier New" pitchFamily="34" charset="-122"/>
                <a:cs typeface="Courier New" pitchFamily="34" charset="-120"/>
              </a:rPr>
              <a:t>    correo  </a:t>
            </a:r>
            <a:r>
              <a:rPr lang="en-US" sz="1000" dirty="0">
                <a:solidFill>
                  <a:srgbClr val="56C7F2"/>
                </a:solidFill>
                <a:latin typeface="Courier New" pitchFamily="34" charset="0"/>
                <a:ea typeface="Courier New" pitchFamily="34" charset="-122"/>
                <a:cs typeface="Courier New" pitchFamily="34" charset="-120"/>
              </a:rPr>
              <a:t>TEXT</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NOT</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NULL</a:t>
            </a:r>
            <a:r>
              <a:rPr lang="en-US" sz="1000" dirty="0">
                <a:solidFill>
                  <a:srgbClr val="93A5BD"/>
                </a:solidFill>
                <a:latin typeface="Courier New" pitchFamily="34" charset="0"/>
                <a:ea typeface="Courier New" pitchFamily="34" charset="-122"/>
                <a:cs typeface="Courier New" pitchFamily="34" charset="-120"/>
              </a:rPr>
              <a:t>,</a:t>
            </a:r>
            <a:endParaRPr lang="en-US" sz="1000" dirty="0"/>
          </a:p>
          <a:p>
            <a:pPr marL="0" indent="0">
              <a:lnSpc>
                <a:spcPts val="1320"/>
              </a:lnSpc>
              <a:buNone/>
            </a:pPr>
            <a:r>
              <a:rPr lang="en-US" sz="1000" dirty="0">
                <a:solidFill>
                  <a:srgbClr val="D7E1EE"/>
                </a:solidFill>
                <a:latin typeface="Courier New" pitchFamily="34" charset="0"/>
                <a:ea typeface="Courier New" pitchFamily="34" charset="-122"/>
                <a:cs typeface="Courier New" pitchFamily="34" charset="-120"/>
              </a:rPr>
              <a:t>    mensaje </a:t>
            </a:r>
            <a:r>
              <a:rPr lang="en-US" sz="1000" dirty="0">
                <a:solidFill>
                  <a:srgbClr val="56C7F2"/>
                </a:solidFill>
                <a:latin typeface="Courier New" pitchFamily="34" charset="0"/>
                <a:ea typeface="Courier New" pitchFamily="34" charset="-122"/>
                <a:cs typeface="Courier New" pitchFamily="34" charset="-120"/>
              </a:rPr>
              <a:t>TEXT</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NOT</a:t>
            </a:r>
            <a:r>
              <a:rPr lang="en-US" sz="1000" dirty="0">
                <a:solidFill>
                  <a:srgbClr val="D7E1EE"/>
                </a:solidFill>
                <a:latin typeface="Courier New" pitchFamily="34" charset="0"/>
                <a:ea typeface="Courier New" pitchFamily="34" charset="-122"/>
                <a:cs typeface="Courier New" pitchFamily="34" charset="-120"/>
              </a:rPr>
              <a:t> </a:t>
            </a:r>
            <a:r>
              <a:rPr lang="en-US" sz="1000" dirty="0">
                <a:solidFill>
                  <a:srgbClr val="3DDC97"/>
                </a:solidFill>
                <a:latin typeface="Courier New" pitchFamily="34" charset="0"/>
                <a:ea typeface="Courier New" pitchFamily="34" charset="-122"/>
                <a:cs typeface="Courier New" pitchFamily="34" charset="-120"/>
              </a:rPr>
              <a:t>NULL</a:t>
            </a:r>
            <a:endParaRPr lang="en-US" sz="1000" dirty="0"/>
          </a:p>
          <a:p>
            <a:pPr marL="0" indent="0">
              <a:lnSpc>
                <a:spcPts val="1320"/>
              </a:lnSpc>
              <a:buNone/>
            </a:pPr>
            <a:r>
              <a:rPr lang="en-US" sz="1000" dirty="0">
                <a:solidFill>
                  <a:srgbClr val="93A5BD"/>
                </a:solidFill>
                <a:latin typeface="Courier New" pitchFamily="34" charset="0"/>
                <a:ea typeface="Courier New" pitchFamily="34" charset="-122"/>
                <a:cs typeface="Courier New" pitchFamily="34" charset="-120"/>
              </a:rPr>
              <a:t>);</a:t>
            </a:r>
            <a:endParaRPr lang="en-US" sz="1000" dirty="0"/>
          </a:p>
        </p:txBody>
      </p:sp>
      <p:sp>
        <p:nvSpPr>
          <p:cNvPr id="9" name="Shape 7"/>
          <p:cNvSpPr/>
          <p:nvPr/>
        </p:nvSpPr>
        <p:spPr>
          <a:xfrm>
            <a:off x="5532120" y="1243584"/>
            <a:ext cx="3108960" cy="347472"/>
          </a:xfrm>
          <a:prstGeom prst="roundRect">
            <a:avLst>
              <a:gd name="adj" fmla="val 21053"/>
            </a:avLst>
          </a:prstGeom>
          <a:solidFill>
            <a:srgbClr val="1A2434"/>
          </a:solidFill>
          <a:ln w="12700">
            <a:solidFill>
              <a:srgbClr val="3DDC97"/>
            </a:solidFill>
            <a:prstDash val="solid"/>
          </a:ln>
        </p:spPr>
        <p:txBody>
          <a:bodyPr/>
          <a:lstStyle/>
          <a:p>
            <a:endParaRPr lang="es-CO"/>
          </a:p>
        </p:txBody>
      </p:sp>
      <p:sp>
        <p:nvSpPr>
          <p:cNvPr id="10" name="Text 8"/>
          <p:cNvSpPr txBox="1"/>
          <p:nvPr/>
        </p:nvSpPr>
        <p:spPr>
          <a:xfrm>
            <a:off x="5696712" y="1243584"/>
            <a:ext cx="1207008" cy="347472"/>
          </a:xfrm>
          <a:prstGeom prst="rect">
            <a:avLst/>
          </a:prstGeom>
          <a:noFill/>
          <a:ln/>
        </p:spPr>
        <p:txBody>
          <a:bodyPr wrap="square" lIns="0" tIns="0" rIns="0" bIns="0" rtlCol="0" anchor="ctr"/>
          <a:lstStyle/>
          <a:p>
            <a:pPr marL="0" indent="0">
              <a:buNone/>
            </a:pPr>
            <a:r>
              <a:rPr lang="en-US" sz="850" b="1" dirty="0">
                <a:solidFill>
                  <a:srgbClr val="3DDC97"/>
                </a:solidFill>
                <a:latin typeface="Courier New" pitchFamily="34" charset="0"/>
                <a:ea typeface="Courier New" pitchFamily="34" charset="-122"/>
                <a:cs typeface="Courier New" pitchFamily="34" charset="-120"/>
              </a:rPr>
              <a:t>CREATE TABLE</a:t>
            </a:r>
            <a:endParaRPr lang="en-US" sz="850" dirty="0"/>
          </a:p>
        </p:txBody>
      </p:sp>
      <p:sp>
        <p:nvSpPr>
          <p:cNvPr id="11" name="Text 9"/>
          <p:cNvSpPr txBox="1"/>
          <p:nvPr/>
        </p:nvSpPr>
        <p:spPr>
          <a:xfrm>
            <a:off x="6903720" y="1243584"/>
            <a:ext cx="1609344" cy="347472"/>
          </a:xfrm>
          <a:prstGeom prst="rect">
            <a:avLst/>
          </a:prstGeom>
          <a:noFill/>
          <a:ln/>
        </p:spPr>
        <p:txBody>
          <a:bodyPr wrap="square" lIns="0" tIns="0" rIns="0" bIns="0" rtlCol="0" anchor="ctr"/>
          <a:lstStyle/>
          <a:p>
            <a:pPr marL="0" indent="0">
              <a:buNone/>
            </a:pPr>
            <a:r>
              <a:rPr lang="en-US" sz="800" dirty="0">
                <a:solidFill>
                  <a:srgbClr val="E8EEF6"/>
                </a:solidFill>
                <a:latin typeface="Calibri" pitchFamily="34" charset="0"/>
                <a:ea typeface="Calibri" pitchFamily="34" charset="-122"/>
                <a:cs typeface="Calibri" pitchFamily="34" charset="-120"/>
              </a:rPr>
              <a:t>Crea la tabla con las columnas declaradas.</a:t>
            </a:r>
            <a:endParaRPr lang="en-US" sz="800" dirty="0"/>
          </a:p>
        </p:txBody>
      </p:sp>
      <p:sp>
        <p:nvSpPr>
          <p:cNvPr id="12" name="Shape 10"/>
          <p:cNvSpPr/>
          <p:nvPr/>
        </p:nvSpPr>
        <p:spPr>
          <a:xfrm>
            <a:off x="5532120" y="1645920"/>
            <a:ext cx="3108960" cy="347472"/>
          </a:xfrm>
          <a:prstGeom prst="roundRect">
            <a:avLst>
              <a:gd name="adj" fmla="val 21053"/>
            </a:avLst>
          </a:prstGeom>
          <a:solidFill>
            <a:srgbClr val="1A2434"/>
          </a:solidFill>
          <a:ln w="12700">
            <a:solidFill>
              <a:srgbClr val="56C7F2"/>
            </a:solidFill>
            <a:prstDash val="solid"/>
          </a:ln>
        </p:spPr>
        <p:txBody>
          <a:bodyPr/>
          <a:lstStyle/>
          <a:p>
            <a:endParaRPr lang="es-CO"/>
          </a:p>
        </p:txBody>
      </p:sp>
      <p:sp>
        <p:nvSpPr>
          <p:cNvPr id="13" name="Text 11"/>
          <p:cNvSpPr txBox="1"/>
          <p:nvPr/>
        </p:nvSpPr>
        <p:spPr>
          <a:xfrm>
            <a:off x="5696712" y="1645920"/>
            <a:ext cx="1207008" cy="347472"/>
          </a:xfrm>
          <a:prstGeom prst="rect">
            <a:avLst/>
          </a:prstGeom>
          <a:noFill/>
          <a:ln/>
        </p:spPr>
        <p:txBody>
          <a:bodyPr wrap="square" lIns="0" tIns="0" rIns="0" bIns="0" rtlCol="0" anchor="ctr"/>
          <a:lstStyle/>
          <a:p>
            <a:pPr marL="0" indent="0">
              <a:buNone/>
            </a:pPr>
            <a:r>
              <a:rPr lang="en-US" sz="850" b="1" dirty="0">
                <a:solidFill>
                  <a:srgbClr val="56C7F2"/>
                </a:solidFill>
                <a:latin typeface="Courier New" pitchFamily="34" charset="0"/>
                <a:ea typeface="Courier New" pitchFamily="34" charset="-122"/>
                <a:cs typeface="Courier New" pitchFamily="34" charset="-120"/>
              </a:rPr>
              <a:t>IF NOT EXISTS</a:t>
            </a:r>
            <a:endParaRPr lang="en-US" sz="850" dirty="0"/>
          </a:p>
        </p:txBody>
      </p:sp>
      <p:sp>
        <p:nvSpPr>
          <p:cNvPr id="14" name="Text 12"/>
          <p:cNvSpPr txBox="1"/>
          <p:nvPr/>
        </p:nvSpPr>
        <p:spPr>
          <a:xfrm>
            <a:off x="6903720" y="1645920"/>
            <a:ext cx="1609344" cy="347472"/>
          </a:xfrm>
          <a:prstGeom prst="rect">
            <a:avLst/>
          </a:prstGeom>
          <a:noFill/>
          <a:ln/>
        </p:spPr>
        <p:txBody>
          <a:bodyPr wrap="square" lIns="0" tIns="0" rIns="0" bIns="0" rtlCol="0" anchor="ctr"/>
          <a:lstStyle/>
          <a:p>
            <a:pPr marL="0" indent="0">
              <a:buNone/>
            </a:pPr>
            <a:r>
              <a:rPr lang="en-US" sz="800" dirty="0">
                <a:solidFill>
                  <a:srgbClr val="E8EEF6"/>
                </a:solidFill>
                <a:latin typeface="Calibri" pitchFamily="34" charset="0"/>
                <a:ea typeface="Calibri" pitchFamily="34" charset="-122"/>
                <a:cs typeface="Calibri" pitchFamily="34" charset="-120"/>
              </a:rPr>
              <a:t>Evita el error si la tabla ya fue creada antes.</a:t>
            </a:r>
            <a:endParaRPr lang="en-US" sz="800" dirty="0"/>
          </a:p>
        </p:txBody>
      </p:sp>
      <p:sp>
        <p:nvSpPr>
          <p:cNvPr id="15" name="Shape 13"/>
          <p:cNvSpPr/>
          <p:nvPr/>
        </p:nvSpPr>
        <p:spPr>
          <a:xfrm>
            <a:off x="5532120" y="2048256"/>
            <a:ext cx="3108960" cy="347472"/>
          </a:xfrm>
          <a:prstGeom prst="roundRect">
            <a:avLst>
              <a:gd name="adj" fmla="val 21053"/>
            </a:avLst>
          </a:prstGeom>
          <a:solidFill>
            <a:srgbClr val="1A2434"/>
          </a:solidFill>
          <a:ln w="12700">
            <a:solidFill>
              <a:srgbClr val="FFB86C"/>
            </a:solidFill>
            <a:prstDash val="solid"/>
          </a:ln>
        </p:spPr>
        <p:txBody>
          <a:bodyPr/>
          <a:lstStyle/>
          <a:p>
            <a:endParaRPr lang="es-CO"/>
          </a:p>
        </p:txBody>
      </p:sp>
      <p:sp>
        <p:nvSpPr>
          <p:cNvPr id="16" name="Text 14"/>
          <p:cNvSpPr txBox="1"/>
          <p:nvPr/>
        </p:nvSpPr>
        <p:spPr>
          <a:xfrm>
            <a:off x="5696712" y="2048256"/>
            <a:ext cx="1207008" cy="347472"/>
          </a:xfrm>
          <a:prstGeom prst="rect">
            <a:avLst/>
          </a:prstGeom>
          <a:noFill/>
          <a:ln/>
        </p:spPr>
        <p:txBody>
          <a:bodyPr wrap="square" lIns="0" tIns="0" rIns="0" bIns="0" rtlCol="0" anchor="ctr"/>
          <a:lstStyle/>
          <a:p>
            <a:pPr marL="0" indent="0">
              <a:buNone/>
            </a:pPr>
            <a:r>
              <a:rPr lang="en-US" sz="850" b="1" dirty="0">
                <a:solidFill>
                  <a:srgbClr val="FFB86C"/>
                </a:solidFill>
                <a:latin typeface="Courier New" pitchFamily="34" charset="0"/>
                <a:ea typeface="Courier New" pitchFamily="34" charset="-122"/>
                <a:cs typeface="Courier New" pitchFamily="34" charset="-120"/>
              </a:rPr>
              <a:t>INTEGER · TEXT</a:t>
            </a:r>
            <a:endParaRPr lang="en-US" sz="850" dirty="0"/>
          </a:p>
        </p:txBody>
      </p:sp>
      <p:sp>
        <p:nvSpPr>
          <p:cNvPr id="17" name="Text 15"/>
          <p:cNvSpPr txBox="1"/>
          <p:nvPr/>
        </p:nvSpPr>
        <p:spPr>
          <a:xfrm>
            <a:off x="6903720" y="2048256"/>
            <a:ext cx="1609344" cy="347472"/>
          </a:xfrm>
          <a:prstGeom prst="rect">
            <a:avLst/>
          </a:prstGeom>
          <a:noFill/>
          <a:ln/>
        </p:spPr>
        <p:txBody>
          <a:bodyPr wrap="square" lIns="0" tIns="0" rIns="0" bIns="0" rtlCol="0" anchor="ctr"/>
          <a:lstStyle/>
          <a:p>
            <a:pPr marL="0" indent="0">
              <a:buNone/>
            </a:pPr>
            <a:r>
              <a:rPr lang="en-US" sz="800" dirty="0">
                <a:solidFill>
                  <a:srgbClr val="E8EEF6"/>
                </a:solidFill>
                <a:latin typeface="Calibri" pitchFamily="34" charset="0"/>
                <a:ea typeface="Calibri" pitchFamily="34" charset="-122"/>
                <a:cs typeface="Calibri" pitchFamily="34" charset="-120"/>
              </a:rPr>
              <a:t>Tipos de datos de cada columna.</a:t>
            </a:r>
            <a:endParaRPr lang="en-US" sz="800" dirty="0"/>
          </a:p>
        </p:txBody>
      </p:sp>
      <p:sp>
        <p:nvSpPr>
          <p:cNvPr id="18" name="Shape 16"/>
          <p:cNvSpPr/>
          <p:nvPr/>
        </p:nvSpPr>
        <p:spPr>
          <a:xfrm>
            <a:off x="5532120" y="2450592"/>
            <a:ext cx="3108960" cy="347472"/>
          </a:xfrm>
          <a:prstGeom prst="roundRect">
            <a:avLst>
              <a:gd name="adj" fmla="val 21053"/>
            </a:avLst>
          </a:prstGeom>
          <a:solidFill>
            <a:srgbClr val="1A2434"/>
          </a:solidFill>
          <a:ln w="12700">
            <a:solidFill>
              <a:srgbClr val="3DDC97"/>
            </a:solidFill>
            <a:prstDash val="solid"/>
          </a:ln>
        </p:spPr>
        <p:txBody>
          <a:bodyPr/>
          <a:lstStyle/>
          <a:p>
            <a:endParaRPr lang="es-CO"/>
          </a:p>
        </p:txBody>
      </p:sp>
      <p:sp>
        <p:nvSpPr>
          <p:cNvPr id="19" name="Text 17"/>
          <p:cNvSpPr txBox="1"/>
          <p:nvPr/>
        </p:nvSpPr>
        <p:spPr>
          <a:xfrm>
            <a:off x="5696712" y="2450592"/>
            <a:ext cx="1207008" cy="347472"/>
          </a:xfrm>
          <a:prstGeom prst="rect">
            <a:avLst/>
          </a:prstGeom>
          <a:noFill/>
          <a:ln/>
        </p:spPr>
        <p:txBody>
          <a:bodyPr wrap="square" lIns="0" tIns="0" rIns="0" bIns="0" rtlCol="0" anchor="ctr"/>
          <a:lstStyle/>
          <a:p>
            <a:pPr marL="0" indent="0">
              <a:buNone/>
            </a:pPr>
            <a:r>
              <a:rPr lang="en-US" sz="850" b="1" dirty="0">
                <a:solidFill>
                  <a:srgbClr val="3DDC97"/>
                </a:solidFill>
                <a:latin typeface="Courier New" pitchFamily="34" charset="0"/>
                <a:ea typeface="Courier New" pitchFamily="34" charset="-122"/>
                <a:cs typeface="Courier New" pitchFamily="34" charset="-120"/>
              </a:rPr>
              <a:t>PRIMARY KEY</a:t>
            </a:r>
            <a:endParaRPr lang="en-US" sz="850" dirty="0"/>
          </a:p>
        </p:txBody>
      </p:sp>
      <p:sp>
        <p:nvSpPr>
          <p:cNvPr id="20" name="Text 18"/>
          <p:cNvSpPr txBox="1"/>
          <p:nvPr/>
        </p:nvSpPr>
        <p:spPr>
          <a:xfrm>
            <a:off x="6903720" y="2450592"/>
            <a:ext cx="1609344" cy="347472"/>
          </a:xfrm>
          <a:prstGeom prst="rect">
            <a:avLst/>
          </a:prstGeom>
          <a:noFill/>
          <a:ln/>
        </p:spPr>
        <p:txBody>
          <a:bodyPr wrap="square" lIns="0" tIns="0" rIns="0" bIns="0" rtlCol="0" anchor="ctr"/>
          <a:lstStyle/>
          <a:p>
            <a:pPr marL="0" indent="0">
              <a:buNone/>
            </a:pPr>
            <a:r>
              <a:rPr lang="en-US" sz="800" dirty="0">
                <a:solidFill>
                  <a:srgbClr val="E8EEF6"/>
                </a:solidFill>
                <a:latin typeface="Calibri" pitchFamily="34" charset="0"/>
                <a:ea typeface="Calibri" pitchFamily="34" charset="-122"/>
                <a:cs typeface="Calibri" pitchFamily="34" charset="-120"/>
              </a:rPr>
              <a:t>Identifica de manera única cada registro.</a:t>
            </a:r>
            <a:endParaRPr lang="en-US" sz="800" dirty="0"/>
          </a:p>
        </p:txBody>
      </p:sp>
      <p:sp>
        <p:nvSpPr>
          <p:cNvPr id="21" name="Shape 19"/>
          <p:cNvSpPr/>
          <p:nvPr/>
        </p:nvSpPr>
        <p:spPr>
          <a:xfrm>
            <a:off x="5532120" y="2852928"/>
            <a:ext cx="3108960" cy="347472"/>
          </a:xfrm>
          <a:prstGeom prst="roundRect">
            <a:avLst>
              <a:gd name="adj" fmla="val 21053"/>
            </a:avLst>
          </a:prstGeom>
          <a:solidFill>
            <a:srgbClr val="1A2434"/>
          </a:solidFill>
          <a:ln w="12700">
            <a:solidFill>
              <a:srgbClr val="56C7F2"/>
            </a:solidFill>
            <a:prstDash val="solid"/>
          </a:ln>
        </p:spPr>
        <p:txBody>
          <a:bodyPr/>
          <a:lstStyle/>
          <a:p>
            <a:endParaRPr lang="es-CO"/>
          </a:p>
        </p:txBody>
      </p:sp>
      <p:sp>
        <p:nvSpPr>
          <p:cNvPr id="22" name="Text 20"/>
          <p:cNvSpPr txBox="1"/>
          <p:nvPr/>
        </p:nvSpPr>
        <p:spPr>
          <a:xfrm>
            <a:off x="5696712" y="2852928"/>
            <a:ext cx="1207008" cy="347472"/>
          </a:xfrm>
          <a:prstGeom prst="rect">
            <a:avLst/>
          </a:prstGeom>
          <a:noFill/>
          <a:ln/>
        </p:spPr>
        <p:txBody>
          <a:bodyPr wrap="square" lIns="0" tIns="0" rIns="0" bIns="0" rtlCol="0" anchor="ctr"/>
          <a:lstStyle/>
          <a:p>
            <a:pPr marL="0" indent="0">
              <a:buNone/>
            </a:pPr>
            <a:r>
              <a:rPr lang="en-US" sz="850" b="1" dirty="0">
                <a:solidFill>
                  <a:srgbClr val="56C7F2"/>
                </a:solidFill>
                <a:latin typeface="Courier New" pitchFamily="34" charset="0"/>
                <a:ea typeface="Courier New" pitchFamily="34" charset="-122"/>
                <a:cs typeface="Courier New" pitchFamily="34" charset="-120"/>
              </a:rPr>
              <a:t>NOT NULL</a:t>
            </a:r>
            <a:endParaRPr lang="en-US" sz="850" dirty="0"/>
          </a:p>
        </p:txBody>
      </p:sp>
      <p:sp>
        <p:nvSpPr>
          <p:cNvPr id="23" name="Text 21"/>
          <p:cNvSpPr txBox="1"/>
          <p:nvPr/>
        </p:nvSpPr>
        <p:spPr>
          <a:xfrm>
            <a:off x="6903720" y="2852928"/>
            <a:ext cx="1609344" cy="347472"/>
          </a:xfrm>
          <a:prstGeom prst="rect">
            <a:avLst/>
          </a:prstGeom>
          <a:noFill/>
          <a:ln/>
        </p:spPr>
        <p:txBody>
          <a:bodyPr wrap="square" lIns="0" tIns="0" rIns="0" bIns="0" rtlCol="0" anchor="ctr"/>
          <a:lstStyle/>
          <a:p>
            <a:pPr marL="0" indent="0">
              <a:buNone/>
            </a:pPr>
            <a:r>
              <a:rPr lang="en-US" sz="800" dirty="0">
                <a:solidFill>
                  <a:srgbClr val="E8EEF6"/>
                </a:solidFill>
                <a:latin typeface="Calibri" pitchFamily="34" charset="0"/>
                <a:ea typeface="Calibri" pitchFamily="34" charset="-122"/>
                <a:cs typeface="Calibri" pitchFamily="34" charset="-120"/>
              </a:rPr>
              <a:t>Impide almacenar valores nulos en la columna.</a:t>
            </a:r>
            <a:endParaRPr lang="en-US" sz="800" dirty="0"/>
          </a:p>
        </p:txBody>
      </p:sp>
      <p:sp>
        <p:nvSpPr>
          <p:cNvPr id="24" name="Shape 22"/>
          <p:cNvSpPr/>
          <p:nvPr/>
        </p:nvSpPr>
        <p:spPr>
          <a:xfrm>
            <a:off x="502920" y="3310128"/>
            <a:ext cx="8138160" cy="822960"/>
          </a:xfrm>
          <a:prstGeom prst="roundRect">
            <a:avLst>
              <a:gd name="adj" fmla="val 8889"/>
            </a:avLst>
          </a:prstGeom>
          <a:solidFill>
            <a:srgbClr val="112A38"/>
          </a:solidFill>
          <a:ln w="12700">
            <a:solidFill>
              <a:srgbClr val="56C7F2"/>
            </a:solidFill>
            <a:prstDash val="solid"/>
          </a:ln>
        </p:spPr>
        <p:txBody>
          <a:bodyPr/>
          <a:lstStyle/>
          <a:p>
            <a:endParaRPr lang="es-CO"/>
          </a:p>
        </p:txBody>
      </p:sp>
      <p:sp>
        <p:nvSpPr>
          <p:cNvPr id="25" name="Text 23"/>
          <p:cNvSpPr txBox="1"/>
          <p:nvPr/>
        </p:nvSpPr>
        <p:spPr>
          <a:xfrm>
            <a:off x="731520" y="3401568"/>
            <a:ext cx="3657600" cy="219456"/>
          </a:xfrm>
          <a:prstGeom prst="rect">
            <a:avLst/>
          </a:prstGeom>
          <a:noFill/>
          <a:ln/>
        </p:spPr>
        <p:txBody>
          <a:bodyPr wrap="square" lIns="0" tIns="0" rIns="0" bIns="0" rtlCol="0" anchor="ctr"/>
          <a:lstStyle/>
          <a:p>
            <a:pPr marL="0" indent="0">
              <a:buNone/>
            </a:pPr>
            <a:r>
              <a:rPr lang="en-US" sz="1100" b="1" dirty="0">
                <a:solidFill>
                  <a:srgbClr val="56C7F2"/>
                </a:solidFill>
                <a:latin typeface="Arial" pitchFamily="34" charset="0"/>
                <a:ea typeface="Arial" pitchFamily="34" charset="-122"/>
                <a:cs typeface="Arial" pitchFamily="34" charset="-120"/>
              </a:rPr>
              <a:t>SQL es declarativo</a:t>
            </a:r>
            <a:endParaRPr lang="en-US" sz="1100" dirty="0"/>
          </a:p>
        </p:txBody>
      </p:sp>
      <p:sp>
        <p:nvSpPr>
          <p:cNvPr id="26" name="Text 24"/>
          <p:cNvSpPr txBox="1"/>
          <p:nvPr/>
        </p:nvSpPr>
        <p:spPr>
          <a:xfrm>
            <a:off x="731520" y="3639312"/>
            <a:ext cx="7680960" cy="420624"/>
          </a:xfrm>
          <a:prstGeom prst="rect">
            <a:avLst/>
          </a:prstGeom>
          <a:noFill/>
          <a:ln/>
        </p:spPr>
        <p:txBody>
          <a:bodyPr wrap="square" lIns="0" tIns="0" rIns="0" bIns="0" rtlCol="0" anchor="t"/>
          <a:lstStyle/>
          <a:p>
            <a:pPr marL="0" indent="0">
              <a:buNone/>
            </a:pPr>
            <a:r>
              <a:rPr lang="en-US" sz="1000" dirty="0">
                <a:solidFill>
                  <a:srgbClr val="E8EEF6"/>
                </a:solidFill>
                <a:latin typeface="Calibri" pitchFamily="34" charset="0"/>
                <a:ea typeface="Calibri" pitchFamily="34" charset="-122"/>
                <a:cs typeface="Calibri" pitchFamily="34" charset="-120"/>
              </a:rPr>
              <a:t>La sentencia describe la estructura que debe existir, no los pasos para construirla. El sistema de base de datos decide cómo hacerlo. Esa es la diferencia con el código imperativo de Node.js que se escribe alrededor.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1112185"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112185"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INTEGRACIÓN</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Node.js abre la base de datos y prepara el INSERT</a:t>
            </a:r>
            <a:endParaRPr lang="en-US" sz="23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21 / 25</a:t>
            </a:r>
            <a:endParaRPr lang="en-US" sz="800" dirty="0"/>
          </a:p>
        </p:txBody>
      </p:sp>
      <p:sp>
        <p:nvSpPr>
          <p:cNvPr id="6" name="Shape 4"/>
          <p:cNvSpPr/>
          <p:nvPr/>
        </p:nvSpPr>
        <p:spPr>
          <a:xfrm>
            <a:off x="502920" y="1243584"/>
            <a:ext cx="4846320" cy="2615184"/>
          </a:xfrm>
          <a:prstGeom prst="roundRect">
            <a:avLst>
              <a:gd name="adj" fmla="val 2797"/>
            </a:avLst>
          </a:prstGeom>
          <a:solidFill>
            <a:srgbClr val="070C14"/>
          </a:solidFill>
          <a:ln w="12700">
            <a:solidFill>
              <a:srgbClr val="2B3B52"/>
            </a:solidFill>
            <a:prstDash val="solid"/>
          </a:ln>
        </p:spPr>
        <p:txBody>
          <a:bodyPr/>
          <a:lstStyle/>
          <a:p>
            <a:endParaRPr lang="es-CO"/>
          </a:p>
        </p:txBody>
      </p:sp>
      <p:sp>
        <p:nvSpPr>
          <p:cNvPr id="7" name="Text 5"/>
          <p:cNvSpPr txBox="1"/>
          <p:nvPr/>
        </p:nvSpPr>
        <p:spPr>
          <a:xfrm>
            <a:off x="649224" y="1298448"/>
            <a:ext cx="4553712" cy="182880"/>
          </a:xfrm>
          <a:prstGeom prst="rect">
            <a:avLst/>
          </a:prstGeom>
          <a:noFill/>
          <a:ln/>
        </p:spPr>
        <p:txBody>
          <a:bodyPr wrap="square" lIns="0" tIns="0" rIns="0" bIns="0" rtlCol="0" anchor="ctr"/>
          <a:lstStyle/>
          <a:p>
            <a:pPr marL="0" indent="0">
              <a:buNone/>
            </a:pPr>
            <a:r>
              <a:rPr lang="en-US" sz="850" b="1" dirty="0">
                <a:solidFill>
                  <a:srgbClr val="3DDC97"/>
                </a:solidFill>
                <a:latin typeface="Courier New" pitchFamily="34" charset="0"/>
                <a:ea typeface="Courier New" pitchFamily="34" charset="-122"/>
                <a:cs typeface="Courier New" pitchFamily="34" charset="-120"/>
              </a:rPr>
              <a:t>server.js  ·  inicio del archivo</a:t>
            </a:r>
            <a:endParaRPr lang="en-US" sz="850" dirty="0"/>
          </a:p>
        </p:txBody>
      </p:sp>
      <p:sp>
        <p:nvSpPr>
          <p:cNvPr id="8" name="Text 6"/>
          <p:cNvSpPr txBox="1"/>
          <p:nvPr/>
        </p:nvSpPr>
        <p:spPr>
          <a:xfrm>
            <a:off x="649224" y="1517904"/>
            <a:ext cx="4553712" cy="2286000"/>
          </a:xfrm>
          <a:prstGeom prst="rect">
            <a:avLst/>
          </a:prstGeom>
          <a:noFill/>
          <a:ln/>
        </p:spPr>
        <p:txBody>
          <a:bodyPr wrap="square" lIns="0" tIns="0" rIns="0" bIns="0" rtlCol="0" anchor="t"/>
          <a:lstStyle/>
          <a:p>
            <a:pPr marL="0" indent="0">
              <a:lnSpc>
                <a:spcPts val="1188"/>
              </a:lnSpc>
              <a:buNone/>
            </a:pPr>
            <a:r>
              <a:rPr lang="en-US" sz="900" dirty="0">
                <a:solidFill>
                  <a:srgbClr val="FFB86C"/>
                </a:solidFill>
                <a:latin typeface="Courier New" pitchFamily="34" charset="0"/>
                <a:ea typeface="Courier New" pitchFamily="34" charset="-122"/>
                <a:cs typeface="Courier New" pitchFamily="34" charset="-120"/>
              </a:rPr>
              <a:t>const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http</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B86C"/>
                </a:solidFill>
                <a:latin typeface="Courier New" pitchFamily="34" charset="0"/>
                <a:ea typeface="Courier New" pitchFamily="34" charset="-122"/>
                <a:cs typeface="Courier New" pitchFamily="34" charset="-120"/>
              </a:rPr>
              <a:t>require</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FFD479"/>
                </a:solidFill>
                <a:latin typeface="Courier New" pitchFamily="34" charset="0"/>
                <a:ea typeface="Courier New" pitchFamily="34" charset="-122"/>
                <a:cs typeface="Courier New" pitchFamily="34" charset="-120"/>
              </a:rPr>
              <a:t>'http'</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FFB86C"/>
                </a:solidFill>
                <a:latin typeface="Courier New" pitchFamily="34" charset="0"/>
                <a:ea typeface="Courier New" pitchFamily="34" charset="-122"/>
                <a:cs typeface="Courier New" pitchFamily="34" charset="-120"/>
              </a:rPr>
              <a:t>const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fs</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B86C"/>
                </a:solidFill>
                <a:latin typeface="Courier New" pitchFamily="34" charset="0"/>
                <a:ea typeface="Courier New" pitchFamily="34" charset="-122"/>
                <a:cs typeface="Courier New" pitchFamily="34" charset="-120"/>
              </a:rPr>
              <a:t>require</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FFD479"/>
                </a:solidFill>
                <a:latin typeface="Courier New" pitchFamily="34" charset="0"/>
                <a:ea typeface="Courier New" pitchFamily="34" charset="-122"/>
                <a:cs typeface="Courier New" pitchFamily="34" charset="-120"/>
              </a:rPr>
              <a:t>'fs'</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FFB86C"/>
                </a:solidFill>
                <a:latin typeface="Courier New" pitchFamily="34" charset="0"/>
                <a:ea typeface="Courier New" pitchFamily="34" charset="-122"/>
                <a:cs typeface="Courier New" pitchFamily="34" charset="-120"/>
              </a:rPr>
              <a:t>const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DatabaseSync</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B86C"/>
                </a:solidFill>
                <a:latin typeface="Courier New" pitchFamily="34" charset="0"/>
                <a:ea typeface="Courier New" pitchFamily="34" charset="-122"/>
                <a:cs typeface="Courier New" pitchFamily="34" charset="-120"/>
              </a:rPr>
              <a:t>require</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FFD479"/>
                </a:solidFill>
                <a:latin typeface="Courier New" pitchFamily="34" charset="0"/>
                <a:ea typeface="Courier New" pitchFamily="34" charset="-122"/>
                <a:cs typeface="Courier New" pitchFamily="34" charset="-120"/>
              </a:rPr>
              <a:t>'node:sqlite'</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endParaRPr lang="en-US" sz="900" dirty="0"/>
          </a:p>
          <a:p>
            <a:pPr marL="0" indent="0">
              <a:lnSpc>
                <a:spcPts val="1188"/>
              </a:lnSpc>
              <a:buNone/>
            </a:pPr>
            <a:r>
              <a:rPr lang="en-US" sz="900" dirty="0">
                <a:solidFill>
                  <a:srgbClr val="FFB86C"/>
                </a:solidFill>
                <a:latin typeface="Courier New" pitchFamily="34" charset="0"/>
                <a:ea typeface="Courier New" pitchFamily="34" charset="-122"/>
                <a:cs typeface="Courier New" pitchFamily="34" charset="-120"/>
              </a:rPr>
              <a:t>const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db</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B86C"/>
                </a:solidFill>
                <a:latin typeface="Courier New" pitchFamily="34" charset="0"/>
                <a:ea typeface="Courier New" pitchFamily="34" charset="-122"/>
                <a:cs typeface="Courier New" pitchFamily="34" charset="-120"/>
              </a:rPr>
              <a:t>new</a:t>
            </a:r>
            <a:r>
              <a:rPr lang="en-US" sz="900" dirty="0">
                <a:solidFill>
                  <a:srgbClr val="D7E1EE"/>
                </a:solidFill>
                <a:latin typeface="Courier New" pitchFamily="34" charset="0"/>
                <a:ea typeface="Courier New" pitchFamily="34" charset="-122"/>
                <a:cs typeface="Courier New" pitchFamily="34" charset="-120"/>
              </a:rPr>
              <a:t> DatabaseSync</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FFD479"/>
                </a:solidFill>
                <a:latin typeface="Courier New" pitchFamily="34" charset="0"/>
                <a:ea typeface="Courier New" pitchFamily="34" charset="-122"/>
                <a:cs typeface="Courier New" pitchFamily="34" charset="-120"/>
              </a:rPr>
              <a:t>'contactos.db'</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56C7F2"/>
                </a:solidFill>
                <a:latin typeface="Courier New" pitchFamily="34" charset="0"/>
                <a:ea typeface="Courier New" pitchFamily="34" charset="-122"/>
                <a:cs typeface="Courier New" pitchFamily="34" charset="-120"/>
              </a:rPr>
              <a:t>db</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exec</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CREATE</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TABLE</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IF</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NOT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EXISTS</a:t>
            </a:r>
            <a:r>
              <a:rPr lang="en-US" sz="900" dirty="0">
                <a:solidFill>
                  <a:srgbClr val="D7E1EE"/>
                </a:solidFill>
                <a:latin typeface="Courier New" pitchFamily="34" charset="0"/>
                <a:ea typeface="Courier New" pitchFamily="34" charset="-122"/>
                <a:cs typeface="Courier New" pitchFamily="34" charset="-120"/>
              </a:rPr>
              <a:t> contactos </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id</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INTEGER</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PRIMARY</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KEY</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AUTOINCREMENT</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nombre</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TEXT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NOT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NULL</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correo</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TEXT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NOT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NULL</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mensaje</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TEXT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NOT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NULL</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FFB86C"/>
                </a:solidFill>
                <a:latin typeface="Courier New" pitchFamily="34" charset="0"/>
                <a:ea typeface="Courier New" pitchFamily="34" charset="-122"/>
                <a:cs typeface="Courier New" pitchFamily="34" charset="-120"/>
              </a:rPr>
              <a:t>const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insertarContacto</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db</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prepare</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INSERT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INTO</a:t>
            </a:r>
            <a:r>
              <a:rPr lang="en-US" sz="900" dirty="0">
                <a:solidFill>
                  <a:srgbClr val="D7E1EE"/>
                </a:solidFill>
                <a:latin typeface="Courier New" pitchFamily="34" charset="0"/>
                <a:ea typeface="Courier New" pitchFamily="34" charset="-122"/>
                <a:cs typeface="Courier New" pitchFamily="34" charset="-120"/>
              </a:rPr>
              <a:t> contactos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56C7F2"/>
                </a:solidFill>
                <a:latin typeface="Courier New" pitchFamily="34" charset="0"/>
                <a:ea typeface="Courier New" pitchFamily="34" charset="-122"/>
                <a:cs typeface="Courier New" pitchFamily="34" charset="-120"/>
              </a:rPr>
              <a:t>nombre</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correo</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mensaje</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VALUES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endParaRPr lang="en-US" sz="900" dirty="0"/>
          </a:p>
        </p:txBody>
      </p:sp>
      <p:sp>
        <p:nvSpPr>
          <p:cNvPr id="9" name="Shape 7"/>
          <p:cNvSpPr/>
          <p:nvPr/>
        </p:nvSpPr>
        <p:spPr>
          <a:xfrm>
            <a:off x="5532120" y="1243584"/>
            <a:ext cx="3108960" cy="457200"/>
          </a:xfrm>
          <a:prstGeom prst="roundRect">
            <a:avLst>
              <a:gd name="adj" fmla="val 16000"/>
            </a:avLst>
          </a:prstGeom>
          <a:solidFill>
            <a:srgbClr val="1A2434"/>
          </a:solidFill>
          <a:ln w="12700">
            <a:solidFill>
              <a:srgbClr val="3DDC97"/>
            </a:solidFill>
            <a:prstDash val="solid"/>
          </a:ln>
        </p:spPr>
        <p:txBody>
          <a:bodyPr/>
          <a:lstStyle/>
          <a:p>
            <a:endParaRPr lang="es-CO"/>
          </a:p>
        </p:txBody>
      </p:sp>
      <p:sp>
        <p:nvSpPr>
          <p:cNvPr id="10" name="Text 8"/>
          <p:cNvSpPr txBox="1"/>
          <p:nvPr/>
        </p:nvSpPr>
        <p:spPr>
          <a:xfrm>
            <a:off x="5696712" y="1243584"/>
            <a:ext cx="1115568" cy="457200"/>
          </a:xfrm>
          <a:prstGeom prst="rect">
            <a:avLst/>
          </a:prstGeom>
          <a:noFill/>
          <a:ln/>
        </p:spPr>
        <p:txBody>
          <a:bodyPr wrap="square" lIns="0" tIns="0" rIns="0" bIns="0" rtlCol="0" anchor="ctr"/>
          <a:lstStyle/>
          <a:p>
            <a:pPr marL="0" indent="0">
              <a:buNone/>
            </a:pPr>
            <a:r>
              <a:rPr lang="en-US" sz="850" b="1" dirty="0">
                <a:solidFill>
                  <a:srgbClr val="3DDC97"/>
                </a:solidFill>
                <a:latin typeface="Courier New" pitchFamily="34" charset="0"/>
                <a:ea typeface="Courier New" pitchFamily="34" charset="-122"/>
                <a:cs typeface="Courier New" pitchFamily="34" charset="-120"/>
              </a:rPr>
              <a:t>DatabaseSync</a:t>
            </a:r>
            <a:endParaRPr lang="en-US" sz="850" dirty="0"/>
          </a:p>
        </p:txBody>
      </p:sp>
      <p:sp>
        <p:nvSpPr>
          <p:cNvPr id="11" name="Text 9"/>
          <p:cNvSpPr txBox="1"/>
          <p:nvPr/>
        </p:nvSpPr>
        <p:spPr>
          <a:xfrm>
            <a:off x="6812280" y="1243584"/>
            <a:ext cx="1700784" cy="457200"/>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Abre contactos.db o lo crea si no existe.</a:t>
            </a:r>
            <a:endParaRPr lang="en-US" sz="850" dirty="0"/>
          </a:p>
        </p:txBody>
      </p:sp>
      <p:sp>
        <p:nvSpPr>
          <p:cNvPr id="12" name="Shape 10"/>
          <p:cNvSpPr/>
          <p:nvPr/>
        </p:nvSpPr>
        <p:spPr>
          <a:xfrm>
            <a:off x="5532120" y="1773936"/>
            <a:ext cx="3108960" cy="457200"/>
          </a:xfrm>
          <a:prstGeom prst="roundRect">
            <a:avLst>
              <a:gd name="adj" fmla="val 16000"/>
            </a:avLst>
          </a:prstGeom>
          <a:solidFill>
            <a:srgbClr val="1A2434"/>
          </a:solidFill>
          <a:ln w="12700">
            <a:solidFill>
              <a:srgbClr val="56C7F2"/>
            </a:solidFill>
            <a:prstDash val="solid"/>
          </a:ln>
        </p:spPr>
        <p:txBody>
          <a:bodyPr/>
          <a:lstStyle/>
          <a:p>
            <a:endParaRPr lang="es-CO"/>
          </a:p>
        </p:txBody>
      </p:sp>
      <p:sp>
        <p:nvSpPr>
          <p:cNvPr id="13" name="Text 11"/>
          <p:cNvSpPr txBox="1"/>
          <p:nvPr/>
        </p:nvSpPr>
        <p:spPr>
          <a:xfrm>
            <a:off x="5696712" y="1773936"/>
            <a:ext cx="1115568" cy="457200"/>
          </a:xfrm>
          <a:prstGeom prst="rect">
            <a:avLst/>
          </a:prstGeom>
          <a:noFill/>
          <a:ln/>
        </p:spPr>
        <p:txBody>
          <a:bodyPr wrap="square" lIns="0" tIns="0" rIns="0" bIns="0" rtlCol="0" anchor="ctr"/>
          <a:lstStyle/>
          <a:p>
            <a:pPr marL="0" indent="0">
              <a:buNone/>
            </a:pPr>
            <a:r>
              <a:rPr lang="en-US" sz="850" b="1" dirty="0">
                <a:solidFill>
                  <a:srgbClr val="56C7F2"/>
                </a:solidFill>
                <a:latin typeface="Courier New" pitchFamily="34" charset="0"/>
                <a:ea typeface="Courier New" pitchFamily="34" charset="-122"/>
                <a:cs typeface="Courier New" pitchFamily="34" charset="-120"/>
              </a:rPr>
              <a:t>db.exec</a:t>
            </a:r>
            <a:endParaRPr lang="en-US" sz="850" dirty="0"/>
          </a:p>
        </p:txBody>
      </p:sp>
      <p:sp>
        <p:nvSpPr>
          <p:cNvPr id="14" name="Text 12"/>
          <p:cNvSpPr txBox="1"/>
          <p:nvPr/>
        </p:nvSpPr>
        <p:spPr>
          <a:xfrm>
            <a:off x="6812280" y="1773936"/>
            <a:ext cx="1700784" cy="457200"/>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Ejecuta la creación de la tabla al arrancar.</a:t>
            </a:r>
            <a:endParaRPr lang="en-US" sz="850" dirty="0"/>
          </a:p>
        </p:txBody>
      </p:sp>
      <p:sp>
        <p:nvSpPr>
          <p:cNvPr id="15" name="Shape 13"/>
          <p:cNvSpPr/>
          <p:nvPr/>
        </p:nvSpPr>
        <p:spPr>
          <a:xfrm>
            <a:off x="5532120" y="2304288"/>
            <a:ext cx="3108960" cy="457200"/>
          </a:xfrm>
          <a:prstGeom prst="roundRect">
            <a:avLst>
              <a:gd name="adj" fmla="val 16000"/>
            </a:avLst>
          </a:prstGeom>
          <a:solidFill>
            <a:srgbClr val="1A2434"/>
          </a:solidFill>
          <a:ln w="12700">
            <a:solidFill>
              <a:srgbClr val="FFB86C"/>
            </a:solidFill>
            <a:prstDash val="solid"/>
          </a:ln>
        </p:spPr>
        <p:txBody>
          <a:bodyPr/>
          <a:lstStyle/>
          <a:p>
            <a:endParaRPr lang="es-CO"/>
          </a:p>
        </p:txBody>
      </p:sp>
      <p:sp>
        <p:nvSpPr>
          <p:cNvPr id="16" name="Text 14"/>
          <p:cNvSpPr txBox="1"/>
          <p:nvPr/>
        </p:nvSpPr>
        <p:spPr>
          <a:xfrm>
            <a:off x="5696712" y="2304288"/>
            <a:ext cx="1115568" cy="457200"/>
          </a:xfrm>
          <a:prstGeom prst="rect">
            <a:avLst/>
          </a:prstGeom>
          <a:noFill/>
          <a:ln/>
        </p:spPr>
        <p:txBody>
          <a:bodyPr wrap="square" lIns="0" tIns="0" rIns="0" bIns="0" rtlCol="0" anchor="ctr"/>
          <a:lstStyle/>
          <a:p>
            <a:pPr marL="0" indent="0">
              <a:buNone/>
            </a:pPr>
            <a:r>
              <a:rPr lang="en-US" sz="850" b="1" dirty="0">
                <a:solidFill>
                  <a:srgbClr val="FFB86C"/>
                </a:solidFill>
                <a:latin typeface="Courier New" pitchFamily="34" charset="0"/>
                <a:ea typeface="Courier New" pitchFamily="34" charset="-122"/>
                <a:cs typeface="Courier New" pitchFamily="34" charset="-120"/>
              </a:rPr>
              <a:t>db.prepare</a:t>
            </a:r>
            <a:endParaRPr lang="en-US" sz="850" dirty="0"/>
          </a:p>
        </p:txBody>
      </p:sp>
      <p:sp>
        <p:nvSpPr>
          <p:cNvPr id="17" name="Text 15"/>
          <p:cNvSpPr txBox="1"/>
          <p:nvPr/>
        </p:nvSpPr>
        <p:spPr>
          <a:xfrm>
            <a:off x="6812280" y="2304288"/>
            <a:ext cx="1700784" cy="457200"/>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Prepara una sentencia reutilizable, una sola vez.</a:t>
            </a:r>
            <a:endParaRPr lang="en-US" sz="850" dirty="0"/>
          </a:p>
        </p:txBody>
      </p:sp>
      <p:sp>
        <p:nvSpPr>
          <p:cNvPr id="18" name="Shape 16"/>
          <p:cNvSpPr/>
          <p:nvPr/>
        </p:nvSpPr>
        <p:spPr>
          <a:xfrm>
            <a:off x="5532120" y="2834640"/>
            <a:ext cx="3108960" cy="457200"/>
          </a:xfrm>
          <a:prstGeom prst="roundRect">
            <a:avLst>
              <a:gd name="adj" fmla="val 16000"/>
            </a:avLst>
          </a:prstGeom>
          <a:solidFill>
            <a:srgbClr val="1A2434"/>
          </a:solidFill>
          <a:ln w="12700">
            <a:solidFill>
              <a:srgbClr val="3DDC97"/>
            </a:solidFill>
            <a:prstDash val="solid"/>
          </a:ln>
        </p:spPr>
        <p:txBody>
          <a:bodyPr/>
          <a:lstStyle/>
          <a:p>
            <a:endParaRPr lang="es-CO"/>
          </a:p>
        </p:txBody>
      </p:sp>
      <p:sp>
        <p:nvSpPr>
          <p:cNvPr id="19" name="Text 17"/>
          <p:cNvSpPr txBox="1"/>
          <p:nvPr/>
        </p:nvSpPr>
        <p:spPr>
          <a:xfrm>
            <a:off x="5696712" y="2834640"/>
            <a:ext cx="1115568" cy="457200"/>
          </a:xfrm>
          <a:prstGeom prst="rect">
            <a:avLst/>
          </a:prstGeom>
          <a:noFill/>
          <a:ln/>
        </p:spPr>
        <p:txBody>
          <a:bodyPr wrap="square" lIns="0" tIns="0" rIns="0" bIns="0" rtlCol="0" anchor="ctr"/>
          <a:lstStyle/>
          <a:p>
            <a:pPr marL="0" indent="0">
              <a:buNone/>
            </a:pPr>
            <a:r>
              <a:rPr lang="en-US" sz="850" b="1" dirty="0">
                <a:solidFill>
                  <a:srgbClr val="3DDC97"/>
                </a:solidFill>
                <a:latin typeface="Courier New" pitchFamily="34" charset="0"/>
                <a:ea typeface="Courier New" pitchFamily="34" charset="-122"/>
                <a:cs typeface="Courier New" pitchFamily="34" charset="-120"/>
              </a:rPr>
              <a:t>?  ?  ?</a:t>
            </a:r>
            <a:endParaRPr lang="en-US" sz="850" dirty="0"/>
          </a:p>
        </p:txBody>
      </p:sp>
      <p:sp>
        <p:nvSpPr>
          <p:cNvPr id="20" name="Text 18"/>
          <p:cNvSpPr txBox="1"/>
          <p:nvPr/>
        </p:nvSpPr>
        <p:spPr>
          <a:xfrm>
            <a:off x="6812280" y="2834640"/>
            <a:ext cx="1700784" cy="457200"/>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Marcadores de parámetro. El valor se envía aparte.</a:t>
            </a:r>
            <a:endParaRPr lang="en-US" sz="850" dirty="0"/>
          </a:p>
        </p:txBody>
      </p:sp>
      <p:sp>
        <p:nvSpPr>
          <p:cNvPr id="21" name="Shape 19"/>
          <p:cNvSpPr/>
          <p:nvPr/>
        </p:nvSpPr>
        <p:spPr>
          <a:xfrm>
            <a:off x="5532120" y="3364992"/>
            <a:ext cx="3108960" cy="457200"/>
          </a:xfrm>
          <a:prstGeom prst="roundRect">
            <a:avLst>
              <a:gd name="adj" fmla="val 16000"/>
            </a:avLst>
          </a:prstGeom>
          <a:solidFill>
            <a:srgbClr val="1A2434"/>
          </a:solidFill>
          <a:ln w="12700">
            <a:solidFill>
              <a:srgbClr val="56C7F2"/>
            </a:solidFill>
            <a:prstDash val="solid"/>
          </a:ln>
        </p:spPr>
        <p:txBody>
          <a:bodyPr/>
          <a:lstStyle/>
          <a:p>
            <a:endParaRPr lang="es-CO"/>
          </a:p>
        </p:txBody>
      </p:sp>
      <p:sp>
        <p:nvSpPr>
          <p:cNvPr id="22" name="Text 20"/>
          <p:cNvSpPr txBox="1"/>
          <p:nvPr/>
        </p:nvSpPr>
        <p:spPr>
          <a:xfrm>
            <a:off x="5696712" y="3364992"/>
            <a:ext cx="1115568" cy="457200"/>
          </a:xfrm>
          <a:prstGeom prst="rect">
            <a:avLst/>
          </a:prstGeom>
          <a:noFill/>
          <a:ln/>
        </p:spPr>
        <p:txBody>
          <a:bodyPr wrap="square" lIns="0" tIns="0" rIns="0" bIns="0" rtlCol="0" anchor="ctr"/>
          <a:lstStyle/>
          <a:p>
            <a:pPr marL="0" indent="0">
              <a:buNone/>
            </a:pPr>
            <a:r>
              <a:rPr lang="en-US" sz="850" b="1" dirty="0">
                <a:solidFill>
                  <a:srgbClr val="56C7F2"/>
                </a:solidFill>
                <a:latin typeface="Courier New" pitchFamily="34" charset="0"/>
                <a:ea typeface="Courier New" pitchFamily="34" charset="-122"/>
                <a:cs typeface="Courier New" pitchFamily="34" charset="-120"/>
              </a:rPr>
              <a:t>Sin concatenar</a:t>
            </a:r>
            <a:endParaRPr lang="en-US" sz="850" dirty="0"/>
          </a:p>
        </p:txBody>
      </p:sp>
      <p:sp>
        <p:nvSpPr>
          <p:cNvPr id="23" name="Text 21"/>
          <p:cNvSpPr txBox="1"/>
          <p:nvPr/>
        </p:nvSpPr>
        <p:spPr>
          <a:xfrm>
            <a:off x="6812280" y="3364992"/>
            <a:ext cx="1700784" cy="457200"/>
          </a:xfrm>
          <a:prstGeom prst="rect">
            <a:avLst/>
          </a:prstGeom>
          <a:noFill/>
          <a:ln/>
        </p:spPr>
        <p:txBody>
          <a:bodyPr wrap="square" lIns="0" tIns="0" rIns="0" bIns="0" rtlCol="0" anchor="ctr"/>
          <a:lstStyle/>
          <a:p>
            <a:pPr marL="0" indent="0">
              <a:buNone/>
            </a:pPr>
            <a:r>
              <a:rPr lang="en-US" sz="850" dirty="0">
                <a:solidFill>
                  <a:srgbClr val="E8EEF6"/>
                </a:solidFill>
                <a:latin typeface="Calibri" pitchFamily="34" charset="0"/>
                <a:ea typeface="Calibri" pitchFamily="34" charset="-122"/>
                <a:cs typeface="Calibri" pitchFamily="34" charset="-120"/>
              </a:rPr>
              <a:t>Los datos del usuario nunca se unen al texto del SQL.</a:t>
            </a:r>
            <a:endParaRPr lang="en-US" sz="850" dirty="0"/>
          </a:p>
        </p:txBody>
      </p:sp>
      <p:sp>
        <p:nvSpPr>
          <p:cNvPr id="24" name="Text 22"/>
          <p:cNvSpPr txBox="1"/>
          <p:nvPr/>
        </p:nvSpPr>
        <p:spPr>
          <a:xfrm>
            <a:off x="502920" y="3968496"/>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Este bloque se ejecuta una sola vez, al iniciar el servidor: no debe colocarse dentro del manejador de peticiones.</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77724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777240"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CÓDIGO</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INSERT convierte el formulario en un registro persistente</a:t>
            </a:r>
            <a:endParaRPr lang="en-US" sz="20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22 / 25</a:t>
            </a:r>
            <a:endParaRPr lang="en-US" sz="800" dirty="0"/>
          </a:p>
        </p:txBody>
      </p:sp>
      <p:sp>
        <p:nvSpPr>
          <p:cNvPr id="6" name="Shape 4"/>
          <p:cNvSpPr/>
          <p:nvPr/>
        </p:nvSpPr>
        <p:spPr>
          <a:xfrm>
            <a:off x="502920" y="1243584"/>
            <a:ext cx="4846320" cy="2833116"/>
          </a:xfrm>
          <a:prstGeom prst="roundRect">
            <a:avLst>
              <a:gd name="adj" fmla="val 2797"/>
            </a:avLst>
          </a:prstGeom>
          <a:solidFill>
            <a:srgbClr val="070C14"/>
          </a:solidFill>
          <a:ln w="12700">
            <a:solidFill>
              <a:srgbClr val="2B3B52"/>
            </a:solidFill>
            <a:prstDash val="solid"/>
          </a:ln>
        </p:spPr>
        <p:txBody>
          <a:bodyPr/>
          <a:lstStyle/>
          <a:p>
            <a:endParaRPr lang="es-CO"/>
          </a:p>
        </p:txBody>
      </p:sp>
      <p:sp>
        <p:nvSpPr>
          <p:cNvPr id="7" name="Text 5"/>
          <p:cNvSpPr txBox="1"/>
          <p:nvPr/>
        </p:nvSpPr>
        <p:spPr>
          <a:xfrm>
            <a:off x="649224" y="1298448"/>
            <a:ext cx="4553712" cy="182880"/>
          </a:xfrm>
          <a:prstGeom prst="rect">
            <a:avLst/>
          </a:prstGeom>
          <a:noFill/>
          <a:ln/>
        </p:spPr>
        <p:txBody>
          <a:bodyPr wrap="square" lIns="0" tIns="0" rIns="0" bIns="0" rtlCol="0" anchor="ctr"/>
          <a:lstStyle/>
          <a:p>
            <a:pPr marL="0" indent="0">
              <a:buNone/>
            </a:pPr>
            <a:r>
              <a:rPr lang="en-US" sz="850" b="1" dirty="0">
                <a:solidFill>
                  <a:srgbClr val="3DDC97"/>
                </a:solidFill>
                <a:latin typeface="Courier New" pitchFamily="34" charset="0"/>
                <a:ea typeface="Courier New" pitchFamily="34" charset="-122"/>
                <a:cs typeface="Courier New" pitchFamily="34" charset="-120"/>
              </a:rPr>
              <a:t>dentro de req.on('end', ...), tras validar</a:t>
            </a:r>
            <a:endParaRPr lang="en-US" sz="850" dirty="0"/>
          </a:p>
        </p:txBody>
      </p:sp>
      <p:sp>
        <p:nvSpPr>
          <p:cNvPr id="8" name="Text 6"/>
          <p:cNvSpPr txBox="1"/>
          <p:nvPr/>
        </p:nvSpPr>
        <p:spPr>
          <a:xfrm>
            <a:off x="630936" y="1472184"/>
            <a:ext cx="4553712" cy="2286000"/>
          </a:xfrm>
          <a:prstGeom prst="rect">
            <a:avLst/>
          </a:prstGeom>
          <a:noFill/>
          <a:ln/>
        </p:spPr>
        <p:txBody>
          <a:bodyPr wrap="square" lIns="0" tIns="0" rIns="0" bIns="0" rtlCol="0" anchor="t"/>
          <a:lstStyle/>
          <a:p>
            <a:pPr marL="0" indent="0">
              <a:lnSpc>
                <a:spcPts val="1188"/>
              </a:lnSpc>
              <a:buNone/>
            </a:pPr>
            <a:r>
              <a:rPr lang="en-US" sz="900" dirty="0">
                <a:solidFill>
                  <a:srgbClr val="FFB86C"/>
                </a:solidFill>
                <a:latin typeface="Courier New" pitchFamily="34" charset="0"/>
                <a:ea typeface="Courier New" pitchFamily="34" charset="-122"/>
                <a:cs typeface="Courier New" pitchFamily="34" charset="-120"/>
              </a:rPr>
              <a:t>const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resultado</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insertarContacto</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run</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nombre</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correo</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mensaje</a:t>
            </a:r>
            <a:endParaRPr lang="en-US" sz="900" dirty="0"/>
          </a:p>
          <a:p>
            <a:pPr marL="0" indent="0">
              <a:lnSpc>
                <a:spcPts val="1188"/>
              </a:lnSpc>
              <a:buNone/>
            </a:pP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endParaRPr lang="en-US" sz="900" dirty="0"/>
          </a:p>
          <a:p>
            <a:pPr marL="0" indent="0">
              <a:lnSpc>
                <a:spcPts val="1188"/>
              </a:lnSpc>
              <a:buNone/>
            </a:pPr>
            <a:r>
              <a:rPr lang="en-US" sz="900" dirty="0">
                <a:solidFill>
                  <a:srgbClr val="56C7F2"/>
                </a:solidFill>
                <a:latin typeface="Courier New" pitchFamily="34" charset="0"/>
                <a:ea typeface="Courier New" pitchFamily="34" charset="-122"/>
                <a:cs typeface="Courier New" pitchFamily="34" charset="-120"/>
              </a:rPr>
              <a:t>console</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log</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D479"/>
                </a:solidFill>
                <a:latin typeface="Courier New" pitchFamily="34" charset="0"/>
                <a:ea typeface="Courier New" pitchFamily="34" charset="-122"/>
                <a:cs typeface="Courier New" pitchFamily="34" charset="-120"/>
              </a:rPr>
              <a:t>'Contacto almacenado con id:'</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56C7F2"/>
                </a:solidFill>
                <a:latin typeface="Courier New" pitchFamily="34" charset="0"/>
                <a:ea typeface="Courier New" pitchFamily="34" charset="-122"/>
                <a:cs typeface="Courier New" pitchFamily="34" charset="-120"/>
              </a:rPr>
              <a:t>resultado</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lastInsertRowid</a:t>
            </a:r>
            <a:endParaRPr lang="en-US" sz="900" dirty="0"/>
          </a:p>
          <a:p>
            <a:pPr marL="0" indent="0">
              <a:lnSpc>
                <a:spcPts val="1188"/>
              </a:lnSpc>
              <a:buNone/>
            </a:pP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endParaRPr lang="en-US" sz="900" dirty="0"/>
          </a:p>
          <a:p>
            <a:pPr marL="0" indent="0">
              <a:lnSpc>
                <a:spcPts val="1188"/>
              </a:lnSpc>
              <a:buNone/>
            </a:pPr>
            <a:r>
              <a:rPr lang="en-US" sz="900" dirty="0">
                <a:solidFill>
                  <a:srgbClr val="56C7F2"/>
                </a:solidFill>
                <a:latin typeface="Courier New" pitchFamily="34" charset="0"/>
                <a:ea typeface="Courier New" pitchFamily="34" charset="-122"/>
                <a:cs typeface="Courier New" pitchFamily="34" charset="-120"/>
              </a:rPr>
              <a:t>res</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writeHead</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FFD479"/>
                </a:solidFill>
                <a:latin typeface="Courier New" pitchFamily="34" charset="0"/>
                <a:ea typeface="Courier New" pitchFamily="34" charset="-122"/>
                <a:cs typeface="Courier New" pitchFamily="34" charset="-120"/>
              </a:rPr>
              <a:t>201</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93A5BD"/>
                </a:solidFill>
                <a:latin typeface="Courier New" pitchFamily="34" charset="0"/>
                <a:ea typeface="Courier New" pitchFamily="34" charset="-122"/>
                <a:cs typeface="Courier New" pitchFamily="34" charset="-120"/>
              </a:rPr>
              <a:t>{</a:t>
            </a:r>
            <a:endParaRPr lang="en-US" sz="900" dirty="0"/>
          </a:p>
          <a:p>
            <a:pPr marL="0" indent="0">
              <a:lnSpc>
                <a:spcPts val="1188"/>
              </a:lnSpc>
              <a:buNone/>
            </a:pP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D479"/>
                </a:solidFill>
                <a:latin typeface="Courier New" pitchFamily="34" charset="0"/>
                <a:ea typeface="Courier New" pitchFamily="34" charset="-122"/>
                <a:cs typeface="Courier New" pitchFamily="34" charset="-120"/>
              </a:rPr>
              <a:t>'Content-Type'</a:t>
            </a:r>
            <a:r>
              <a:rPr lang="en-US" sz="900" dirty="0">
                <a:solidFill>
                  <a:srgbClr val="93A5BD"/>
                </a:solidFill>
                <a:latin typeface="Courier New" pitchFamily="34" charset="0"/>
                <a:ea typeface="Courier New" pitchFamily="34" charset="-122"/>
                <a:cs typeface="Courier New" pitchFamily="34" charset="-120"/>
              </a:rPr>
              <a:t>:</a:t>
            </a:r>
            <a:r>
              <a:rPr lang="en-US" sz="900" dirty="0">
                <a:solidFill>
                  <a:srgbClr val="D7E1EE"/>
                </a:solidFill>
                <a:latin typeface="Courier New" pitchFamily="34" charset="0"/>
                <a:ea typeface="Courier New" pitchFamily="34" charset="-122"/>
                <a:cs typeface="Courier New" pitchFamily="34" charset="-120"/>
              </a:rPr>
              <a:t> </a:t>
            </a:r>
            <a:r>
              <a:rPr lang="en-US" sz="900" dirty="0">
                <a:solidFill>
                  <a:srgbClr val="FFD479"/>
                </a:solidFill>
                <a:latin typeface="Courier New" pitchFamily="34" charset="0"/>
                <a:ea typeface="Courier New" pitchFamily="34" charset="-122"/>
                <a:cs typeface="Courier New" pitchFamily="34" charset="-120"/>
              </a:rPr>
              <a:t>'text/html; charset=UTF-8'</a:t>
            </a:r>
            <a:endParaRPr lang="en-US" sz="900" dirty="0"/>
          </a:p>
          <a:p>
            <a:pPr marL="0" indent="0">
              <a:lnSpc>
                <a:spcPts val="1188"/>
              </a:lnSpc>
              <a:buNone/>
            </a:pPr>
            <a:r>
              <a:rPr lang="en-US" sz="900" dirty="0">
                <a:solidFill>
                  <a:srgbClr val="93A5BD"/>
                </a:solidFill>
                <a:latin typeface="Courier New" pitchFamily="34" charset="0"/>
                <a:ea typeface="Courier New" pitchFamily="34" charset="-122"/>
                <a:cs typeface="Courier New" pitchFamily="34" charset="-120"/>
              </a:rPr>
              <a:t>});</a:t>
            </a:r>
            <a:endParaRPr lang="en-US" sz="900" dirty="0"/>
          </a:p>
          <a:p>
            <a:r>
              <a:rPr lang="en-US" sz="900" dirty="0">
                <a:solidFill>
                  <a:srgbClr val="FFB86C"/>
                </a:solidFill>
                <a:latin typeface="Courier New" pitchFamily="34" charset="0"/>
                <a:ea typeface="Courier New" pitchFamily="34" charset="-122"/>
                <a:cs typeface="Courier New" pitchFamily="34" charset="-120"/>
              </a:rPr>
              <a:t>return</a:t>
            </a:r>
            <a:r>
              <a:rPr lang="en-US" sz="900" dirty="0">
                <a:solidFill>
                  <a:srgbClr val="D7E1EE"/>
                </a:solidFill>
                <a:latin typeface="Courier New" pitchFamily="34" charset="0"/>
                <a:ea typeface="Courier New" pitchFamily="34" charset="-122"/>
                <a:cs typeface="Courier New" pitchFamily="34" charset="-120"/>
              </a:rPr>
              <a:t> </a:t>
            </a:r>
            <a:r>
              <a:rPr lang="en-US" sz="900" dirty="0" err="1">
                <a:solidFill>
                  <a:srgbClr val="56C7F2"/>
                </a:solidFill>
                <a:latin typeface="Courier New" pitchFamily="34" charset="0"/>
                <a:ea typeface="Courier New" pitchFamily="34" charset="-122"/>
                <a:cs typeface="Courier New" pitchFamily="34" charset="-120"/>
              </a:rPr>
              <a:t>res</a:t>
            </a:r>
            <a:r>
              <a:rPr lang="en-US" sz="900" dirty="0" err="1">
                <a:solidFill>
                  <a:srgbClr val="93A5BD"/>
                </a:solidFill>
                <a:latin typeface="Courier New" pitchFamily="34" charset="0"/>
                <a:ea typeface="Courier New" pitchFamily="34" charset="-122"/>
                <a:cs typeface="Courier New" pitchFamily="34" charset="-120"/>
              </a:rPr>
              <a:t>.</a:t>
            </a:r>
            <a:r>
              <a:rPr lang="en-US" sz="900" dirty="0" err="1">
                <a:solidFill>
                  <a:srgbClr val="D7E1EE"/>
                </a:solidFill>
                <a:latin typeface="Courier New" pitchFamily="34" charset="0"/>
                <a:ea typeface="Courier New" pitchFamily="34" charset="-122"/>
                <a:cs typeface="Courier New" pitchFamily="34" charset="-120"/>
              </a:rPr>
              <a:t>end</a:t>
            </a:r>
            <a:r>
              <a:rPr lang="en-US" sz="900" dirty="0">
                <a:solidFill>
                  <a:srgbClr val="93A5BD"/>
                </a:solidFill>
                <a:latin typeface="Courier New" pitchFamily="34" charset="0"/>
                <a:ea typeface="Courier New" pitchFamily="34" charset="-122"/>
                <a:cs typeface="Courier New" pitchFamily="34" charset="-120"/>
              </a:rPr>
              <a:t>(</a:t>
            </a:r>
            <a:r>
              <a:rPr lang="es-CO" sz="900" dirty="0">
                <a:solidFill>
                  <a:srgbClr val="3DDC97"/>
                </a:solidFill>
              </a:rPr>
              <a:t>&lt;h1&gt;Contacto registrado&lt;/h1&gt; &lt;p&gt;La información fue almacenada correctamente.&lt;/p&gt; &lt;a </a:t>
            </a:r>
            <a:r>
              <a:rPr lang="es-CO" sz="900" dirty="0" err="1">
                <a:solidFill>
                  <a:srgbClr val="3DDC97"/>
                </a:solidFill>
              </a:rPr>
              <a:t>href</a:t>
            </a:r>
            <a:r>
              <a:rPr lang="es-CO" sz="900" dirty="0">
                <a:solidFill>
                  <a:srgbClr val="3DDC97"/>
                </a:solidFill>
              </a:rPr>
              <a:t>="/contacto"&gt;Registrar otro contacto&lt;/a&gt;</a:t>
            </a:r>
            <a:endParaRPr lang="en-US" sz="900" dirty="0">
              <a:solidFill>
                <a:srgbClr val="3DDC97"/>
              </a:solidFill>
              <a:latin typeface="Courier New" pitchFamily="34" charset="0"/>
              <a:ea typeface="Courier New" pitchFamily="34" charset="-122"/>
              <a:cs typeface="Courier New" pitchFamily="34" charset="-120"/>
            </a:endParaRPr>
          </a:p>
          <a:p>
            <a:pPr marL="0" indent="0">
              <a:lnSpc>
                <a:spcPts val="1188"/>
              </a:lnSpc>
              <a:buNone/>
            </a:pPr>
            <a:r>
              <a:rPr lang="en-US" sz="900" dirty="0">
                <a:solidFill>
                  <a:srgbClr val="93A5BD"/>
                </a:solidFill>
                <a:latin typeface="Courier New" pitchFamily="34" charset="0"/>
                <a:ea typeface="Courier New" pitchFamily="34" charset="-122"/>
                <a:cs typeface="Courier New" pitchFamily="34" charset="-120"/>
              </a:rPr>
              <a:t>);</a:t>
            </a:r>
            <a:endParaRPr lang="en-US" sz="900" dirty="0"/>
          </a:p>
        </p:txBody>
      </p:sp>
      <p:sp>
        <p:nvSpPr>
          <p:cNvPr id="9" name="Shape 7"/>
          <p:cNvSpPr/>
          <p:nvPr/>
        </p:nvSpPr>
        <p:spPr>
          <a:xfrm>
            <a:off x="5532120" y="1243584"/>
            <a:ext cx="3108960" cy="457200"/>
          </a:xfrm>
          <a:prstGeom prst="roundRect">
            <a:avLst>
              <a:gd name="adj" fmla="val 16000"/>
            </a:avLst>
          </a:prstGeom>
          <a:solidFill>
            <a:srgbClr val="1A2434"/>
          </a:solidFill>
          <a:ln w="12700">
            <a:solidFill>
              <a:srgbClr val="3DDC97"/>
            </a:solidFill>
            <a:prstDash val="solid"/>
          </a:ln>
        </p:spPr>
        <p:txBody>
          <a:bodyPr/>
          <a:lstStyle/>
          <a:p>
            <a:endParaRPr lang="es-CO"/>
          </a:p>
        </p:txBody>
      </p:sp>
      <p:sp>
        <p:nvSpPr>
          <p:cNvPr id="10" name="Text 8"/>
          <p:cNvSpPr txBox="1"/>
          <p:nvPr/>
        </p:nvSpPr>
        <p:spPr>
          <a:xfrm>
            <a:off x="5696712" y="1243584"/>
            <a:ext cx="1188720" cy="457200"/>
          </a:xfrm>
          <a:prstGeom prst="rect">
            <a:avLst/>
          </a:prstGeom>
          <a:noFill/>
          <a:ln/>
        </p:spPr>
        <p:txBody>
          <a:bodyPr wrap="square" lIns="0" tIns="0" rIns="0" bIns="0" rtlCol="0" anchor="ctr"/>
          <a:lstStyle/>
          <a:p>
            <a:pPr marL="0" indent="0">
              <a:buNone/>
            </a:pPr>
            <a:r>
              <a:rPr lang="en-US" sz="800" b="1" dirty="0">
                <a:solidFill>
                  <a:srgbClr val="3DDC97"/>
                </a:solidFill>
                <a:latin typeface="Courier New" pitchFamily="34" charset="0"/>
                <a:ea typeface="Courier New" pitchFamily="34" charset="-122"/>
                <a:cs typeface="Courier New" pitchFamily="34" charset="-120"/>
              </a:rPr>
              <a:t>INSERT</a:t>
            </a:r>
            <a:endParaRPr lang="en-US" sz="800" dirty="0"/>
          </a:p>
        </p:txBody>
      </p:sp>
      <p:sp>
        <p:nvSpPr>
          <p:cNvPr id="11" name="Text 9"/>
          <p:cNvSpPr txBox="1"/>
          <p:nvPr/>
        </p:nvSpPr>
        <p:spPr>
          <a:xfrm>
            <a:off x="6885432" y="1243584"/>
            <a:ext cx="1627632" cy="457200"/>
          </a:xfrm>
          <a:prstGeom prst="rect">
            <a:avLst/>
          </a:prstGeom>
          <a:noFill/>
          <a:ln/>
        </p:spPr>
        <p:txBody>
          <a:bodyPr wrap="square" lIns="0" tIns="0" rIns="0" bIns="0" rtlCol="0" anchor="ctr"/>
          <a:lstStyle/>
          <a:p>
            <a:pPr marL="0" indent="0">
              <a:buNone/>
            </a:pPr>
            <a:r>
              <a:rPr lang="en-US" sz="800" dirty="0">
                <a:solidFill>
                  <a:srgbClr val="E8EEF6"/>
                </a:solidFill>
                <a:latin typeface="Calibri" pitchFamily="34" charset="0"/>
                <a:ea typeface="Calibri" pitchFamily="34" charset="-122"/>
                <a:cs typeface="Calibri" pitchFamily="34" charset="-120"/>
              </a:rPr>
              <a:t>Agrega una fila nueva a la tabla contactos.</a:t>
            </a:r>
            <a:endParaRPr lang="en-US" sz="800" dirty="0"/>
          </a:p>
        </p:txBody>
      </p:sp>
      <p:sp>
        <p:nvSpPr>
          <p:cNvPr id="12" name="Shape 10"/>
          <p:cNvSpPr/>
          <p:nvPr/>
        </p:nvSpPr>
        <p:spPr>
          <a:xfrm>
            <a:off x="5532120" y="1773936"/>
            <a:ext cx="3108960" cy="457200"/>
          </a:xfrm>
          <a:prstGeom prst="roundRect">
            <a:avLst>
              <a:gd name="adj" fmla="val 16000"/>
            </a:avLst>
          </a:prstGeom>
          <a:solidFill>
            <a:srgbClr val="1A2434"/>
          </a:solidFill>
          <a:ln w="12700">
            <a:solidFill>
              <a:srgbClr val="56C7F2"/>
            </a:solidFill>
            <a:prstDash val="solid"/>
          </a:ln>
        </p:spPr>
        <p:txBody>
          <a:bodyPr/>
          <a:lstStyle/>
          <a:p>
            <a:endParaRPr lang="es-CO"/>
          </a:p>
        </p:txBody>
      </p:sp>
      <p:sp>
        <p:nvSpPr>
          <p:cNvPr id="13" name="Text 11"/>
          <p:cNvSpPr txBox="1"/>
          <p:nvPr/>
        </p:nvSpPr>
        <p:spPr>
          <a:xfrm>
            <a:off x="5696712" y="1773936"/>
            <a:ext cx="1188720" cy="457200"/>
          </a:xfrm>
          <a:prstGeom prst="rect">
            <a:avLst/>
          </a:prstGeom>
          <a:noFill/>
          <a:ln/>
        </p:spPr>
        <p:txBody>
          <a:bodyPr wrap="square" lIns="0" tIns="0" rIns="0" bIns="0" rtlCol="0" anchor="ctr"/>
          <a:lstStyle/>
          <a:p>
            <a:pPr marL="0" indent="0">
              <a:buNone/>
            </a:pPr>
            <a:r>
              <a:rPr lang="en-US" sz="800" b="1" dirty="0">
                <a:solidFill>
                  <a:srgbClr val="56C7F2"/>
                </a:solidFill>
                <a:latin typeface="Courier New" pitchFamily="34" charset="0"/>
                <a:ea typeface="Courier New" pitchFamily="34" charset="-122"/>
                <a:cs typeface="Courier New" pitchFamily="34" charset="-120"/>
              </a:rPr>
              <a:t>Orden</a:t>
            </a:r>
            <a:endParaRPr lang="en-US" sz="800" dirty="0"/>
          </a:p>
        </p:txBody>
      </p:sp>
      <p:sp>
        <p:nvSpPr>
          <p:cNvPr id="14" name="Text 12"/>
          <p:cNvSpPr txBox="1"/>
          <p:nvPr/>
        </p:nvSpPr>
        <p:spPr>
          <a:xfrm>
            <a:off x="6885432" y="1773936"/>
            <a:ext cx="1627632" cy="457200"/>
          </a:xfrm>
          <a:prstGeom prst="rect">
            <a:avLst/>
          </a:prstGeom>
          <a:noFill/>
          <a:ln/>
        </p:spPr>
        <p:txBody>
          <a:bodyPr wrap="square" lIns="0" tIns="0" rIns="0" bIns="0" rtlCol="0" anchor="ctr"/>
          <a:lstStyle/>
          <a:p>
            <a:pPr marL="0" indent="0">
              <a:buNone/>
            </a:pPr>
            <a:r>
              <a:rPr lang="en-US" sz="800" dirty="0">
                <a:solidFill>
                  <a:srgbClr val="E8EEF6"/>
                </a:solidFill>
                <a:latin typeface="Calibri" pitchFamily="34" charset="0"/>
                <a:ea typeface="Calibri" pitchFamily="34" charset="-122"/>
                <a:cs typeface="Calibri" pitchFamily="34" charset="-120"/>
              </a:rPr>
              <a:t>Los valores sustituyen los parámetros en el mismo orden declarado.</a:t>
            </a:r>
            <a:endParaRPr lang="en-US" sz="800" dirty="0"/>
          </a:p>
        </p:txBody>
      </p:sp>
      <p:sp>
        <p:nvSpPr>
          <p:cNvPr id="15" name="Shape 13"/>
          <p:cNvSpPr/>
          <p:nvPr/>
        </p:nvSpPr>
        <p:spPr>
          <a:xfrm>
            <a:off x="5532120" y="2304288"/>
            <a:ext cx="3108960" cy="457200"/>
          </a:xfrm>
          <a:prstGeom prst="roundRect">
            <a:avLst>
              <a:gd name="adj" fmla="val 16000"/>
            </a:avLst>
          </a:prstGeom>
          <a:solidFill>
            <a:srgbClr val="1A2434"/>
          </a:solidFill>
          <a:ln w="12700">
            <a:solidFill>
              <a:srgbClr val="FFB86C"/>
            </a:solidFill>
            <a:prstDash val="solid"/>
          </a:ln>
        </p:spPr>
        <p:txBody>
          <a:bodyPr/>
          <a:lstStyle/>
          <a:p>
            <a:endParaRPr lang="es-CO"/>
          </a:p>
        </p:txBody>
      </p:sp>
      <p:sp>
        <p:nvSpPr>
          <p:cNvPr id="16" name="Text 14"/>
          <p:cNvSpPr txBox="1"/>
          <p:nvPr/>
        </p:nvSpPr>
        <p:spPr>
          <a:xfrm>
            <a:off x="5696712" y="2304288"/>
            <a:ext cx="1188720" cy="457200"/>
          </a:xfrm>
          <a:prstGeom prst="rect">
            <a:avLst/>
          </a:prstGeom>
          <a:noFill/>
          <a:ln/>
        </p:spPr>
        <p:txBody>
          <a:bodyPr wrap="square" lIns="0" tIns="0" rIns="0" bIns="0" rtlCol="0" anchor="ctr"/>
          <a:lstStyle/>
          <a:p>
            <a:pPr marL="0" indent="0">
              <a:buNone/>
            </a:pPr>
            <a:r>
              <a:rPr lang="en-US" sz="800" b="1" dirty="0">
                <a:solidFill>
                  <a:srgbClr val="FFB86C"/>
                </a:solidFill>
                <a:latin typeface="Courier New" pitchFamily="34" charset="0"/>
                <a:ea typeface="Courier New" pitchFamily="34" charset="-122"/>
                <a:cs typeface="Courier New" pitchFamily="34" charset="-120"/>
              </a:rPr>
              <a:t>lastInsertRowid</a:t>
            </a:r>
            <a:endParaRPr lang="en-US" sz="800" dirty="0"/>
          </a:p>
        </p:txBody>
      </p:sp>
      <p:sp>
        <p:nvSpPr>
          <p:cNvPr id="17" name="Text 15"/>
          <p:cNvSpPr txBox="1"/>
          <p:nvPr/>
        </p:nvSpPr>
        <p:spPr>
          <a:xfrm>
            <a:off x="6885432" y="2304288"/>
            <a:ext cx="1627632" cy="457200"/>
          </a:xfrm>
          <a:prstGeom prst="rect">
            <a:avLst/>
          </a:prstGeom>
          <a:noFill/>
          <a:ln/>
        </p:spPr>
        <p:txBody>
          <a:bodyPr wrap="square" lIns="0" tIns="0" rIns="0" bIns="0" rtlCol="0" anchor="ctr"/>
          <a:lstStyle/>
          <a:p>
            <a:pPr marL="0" indent="0">
              <a:buNone/>
            </a:pPr>
            <a:r>
              <a:rPr lang="en-US" sz="800" dirty="0">
                <a:solidFill>
                  <a:srgbClr val="E8EEF6"/>
                </a:solidFill>
                <a:latin typeface="Calibri" pitchFamily="34" charset="0"/>
                <a:ea typeface="Calibri" pitchFamily="34" charset="-122"/>
                <a:cs typeface="Calibri" pitchFamily="34" charset="-120"/>
              </a:rPr>
              <a:t>Identificador generado por SQLite para la fila insertada.</a:t>
            </a:r>
            <a:endParaRPr lang="en-US" sz="800" dirty="0"/>
          </a:p>
        </p:txBody>
      </p:sp>
      <p:sp>
        <p:nvSpPr>
          <p:cNvPr id="18" name="Shape 16"/>
          <p:cNvSpPr/>
          <p:nvPr/>
        </p:nvSpPr>
        <p:spPr>
          <a:xfrm>
            <a:off x="5532120" y="2834640"/>
            <a:ext cx="3108960" cy="457200"/>
          </a:xfrm>
          <a:prstGeom prst="roundRect">
            <a:avLst>
              <a:gd name="adj" fmla="val 16000"/>
            </a:avLst>
          </a:prstGeom>
          <a:solidFill>
            <a:srgbClr val="1A2434"/>
          </a:solidFill>
          <a:ln w="12700">
            <a:solidFill>
              <a:srgbClr val="3DDC97"/>
            </a:solidFill>
            <a:prstDash val="solid"/>
          </a:ln>
        </p:spPr>
        <p:txBody>
          <a:bodyPr/>
          <a:lstStyle/>
          <a:p>
            <a:endParaRPr lang="es-CO"/>
          </a:p>
        </p:txBody>
      </p:sp>
      <p:sp>
        <p:nvSpPr>
          <p:cNvPr id="19" name="Text 17"/>
          <p:cNvSpPr txBox="1"/>
          <p:nvPr/>
        </p:nvSpPr>
        <p:spPr>
          <a:xfrm>
            <a:off x="5696712" y="2834640"/>
            <a:ext cx="1188720" cy="457200"/>
          </a:xfrm>
          <a:prstGeom prst="rect">
            <a:avLst/>
          </a:prstGeom>
          <a:noFill/>
          <a:ln/>
        </p:spPr>
        <p:txBody>
          <a:bodyPr wrap="square" lIns="0" tIns="0" rIns="0" bIns="0" rtlCol="0" anchor="ctr"/>
          <a:lstStyle/>
          <a:p>
            <a:pPr marL="0" indent="0">
              <a:buNone/>
            </a:pPr>
            <a:r>
              <a:rPr lang="en-US" sz="800" b="1" dirty="0">
                <a:solidFill>
                  <a:srgbClr val="3DDC97"/>
                </a:solidFill>
                <a:latin typeface="Courier New" pitchFamily="34" charset="0"/>
                <a:ea typeface="Courier New" pitchFamily="34" charset="-122"/>
                <a:cs typeface="Courier New" pitchFamily="34" charset="-120"/>
              </a:rPr>
              <a:t>201 Created</a:t>
            </a:r>
            <a:endParaRPr lang="en-US" sz="800" dirty="0"/>
          </a:p>
        </p:txBody>
      </p:sp>
      <p:sp>
        <p:nvSpPr>
          <p:cNvPr id="20" name="Text 18"/>
          <p:cNvSpPr txBox="1"/>
          <p:nvPr/>
        </p:nvSpPr>
        <p:spPr>
          <a:xfrm>
            <a:off x="6885432" y="2834640"/>
            <a:ext cx="1627632" cy="457200"/>
          </a:xfrm>
          <a:prstGeom prst="rect">
            <a:avLst/>
          </a:prstGeom>
          <a:noFill/>
          <a:ln/>
        </p:spPr>
        <p:txBody>
          <a:bodyPr wrap="square" lIns="0" tIns="0" rIns="0" bIns="0" rtlCol="0" anchor="ctr"/>
          <a:lstStyle/>
          <a:p>
            <a:pPr marL="0" indent="0">
              <a:buNone/>
            </a:pPr>
            <a:r>
              <a:rPr lang="en-US" sz="800" dirty="0">
                <a:solidFill>
                  <a:srgbClr val="E8EEF6"/>
                </a:solidFill>
                <a:latin typeface="Calibri" pitchFamily="34" charset="0"/>
                <a:ea typeface="Calibri" pitchFamily="34" charset="-122"/>
                <a:cs typeface="Calibri" pitchFamily="34" charset="-120"/>
              </a:rPr>
              <a:t>Comunica que la petición creó un recurso nuevo.</a:t>
            </a:r>
            <a:endParaRPr lang="en-US" sz="800" dirty="0"/>
          </a:p>
        </p:txBody>
      </p:sp>
      <p:sp>
        <p:nvSpPr>
          <p:cNvPr id="21" name="Shape 19"/>
          <p:cNvSpPr/>
          <p:nvPr/>
        </p:nvSpPr>
        <p:spPr>
          <a:xfrm>
            <a:off x="5532120" y="3364992"/>
            <a:ext cx="3108960" cy="457200"/>
          </a:xfrm>
          <a:prstGeom prst="roundRect">
            <a:avLst>
              <a:gd name="adj" fmla="val 16000"/>
            </a:avLst>
          </a:prstGeom>
          <a:solidFill>
            <a:srgbClr val="1A2434"/>
          </a:solidFill>
          <a:ln w="12700">
            <a:solidFill>
              <a:srgbClr val="56C7F2"/>
            </a:solidFill>
            <a:prstDash val="solid"/>
          </a:ln>
        </p:spPr>
        <p:txBody>
          <a:bodyPr/>
          <a:lstStyle/>
          <a:p>
            <a:endParaRPr lang="es-CO"/>
          </a:p>
        </p:txBody>
      </p:sp>
      <p:sp>
        <p:nvSpPr>
          <p:cNvPr id="22" name="Text 20"/>
          <p:cNvSpPr txBox="1"/>
          <p:nvPr/>
        </p:nvSpPr>
        <p:spPr>
          <a:xfrm>
            <a:off x="5696712" y="3364992"/>
            <a:ext cx="1188720" cy="457200"/>
          </a:xfrm>
          <a:prstGeom prst="rect">
            <a:avLst/>
          </a:prstGeom>
          <a:noFill/>
          <a:ln/>
        </p:spPr>
        <p:txBody>
          <a:bodyPr wrap="square" lIns="0" tIns="0" rIns="0" bIns="0" rtlCol="0" anchor="ctr"/>
          <a:lstStyle/>
          <a:p>
            <a:pPr marL="0" indent="0">
              <a:buNone/>
            </a:pPr>
            <a:r>
              <a:rPr lang="en-US" sz="800" b="1" dirty="0">
                <a:solidFill>
                  <a:srgbClr val="56C7F2"/>
                </a:solidFill>
                <a:latin typeface="Courier New" pitchFamily="34" charset="0"/>
                <a:ea typeface="Courier New" pitchFamily="34" charset="-122"/>
                <a:cs typeface="Courier New" pitchFamily="34" charset="-120"/>
              </a:rPr>
              <a:t>Respuesta segura</a:t>
            </a:r>
            <a:endParaRPr lang="en-US" sz="800" dirty="0"/>
          </a:p>
        </p:txBody>
      </p:sp>
      <p:sp>
        <p:nvSpPr>
          <p:cNvPr id="23" name="Text 21"/>
          <p:cNvSpPr txBox="1"/>
          <p:nvPr/>
        </p:nvSpPr>
        <p:spPr>
          <a:xfrm>
            <a:off x="6885432" y="3364992"/>
            <a:ext cx="1627632" cy="457200"/>
          </a:xfrm>
          <a:prstGeom prst="rect">
            <a:avLst/>
          </a:prstGeom>
          <a:noFill/>
          <a:ln/>
        </p:spPr>
        <p:txBody>
          <a:bodyPr wrap="square" lIns="0" tIns="0" rIns="0" bIns="0" rtlCol="0" anchor="ctr"/>
          <a:lstStyle/>
          <a:p>
            <a:pPr marL="0" indent="0">
              <a:buNone/>
            </a:pPr>
            <a:r>
              <a:rPr lang="en-US" sz="800" dirty="0">
                <a:solidFill>
                  <a:srgbClr val="E8EEF6"/>
                </a:solidFill>
                <a:latin typeface="Calibri" pitchFamily="34" charset="0"/>
                <a:ea typeface="Calibri" pitchFamily="34" charset="-122"/>
                <a:cs typeface="Calibri" pitchFamily="34" charset="-120"/>
              </a:rPr>
              <a:t>La confirmación no refleja el contenido escrito por el usuario.</a:t>
            </a:r>
            <a:endParaRPr lang="en-US" sz="800" dirty="0"/>
          </a:p>
        </p:txBody>
      </p:sp>
      <p:sp>
        <p:nvSpPr>
          <p:cNvPr id="24" name="Text 22"/>
          <p:cNvSpPr txBox="1"/>
          <p:nvPr/>
        </p:nvSpPr>
        <p:spPr>
          <a:xfrm>
            <a:off x="502920" y="4253484"/>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En la consola aparece: Contacto almacenado con id: 1. En el navegador, la confirmación con código 201.</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17100A"/>
        </a:solidFill>
        <a:effectLst/>
      </p:bgPr>
    </p:bg>
    <p:spTree>
      <p:nvGrpSpPr>
        <p:cNvPr id="1" name=""/>
        <p:cNvGrpSpPr/>
        <p:nvPr/>
      </p:nvGrpSpPr>
      <p:grpSpPr>
        <a:xfrm>
          <a:off x="0" y="0"/>
          <a:ext cx="0" cy="0"/>
          <a:chOff x="0" y="0"/>
          <a:chExt cx="0" cy="0"/>
        </a:xfrm>
      </p:grpSpPr>
      <p:sp>
        <p:nvSpPr>
          <p:cNvPr id="2" name="Shape 0"/>
          <p:cNvSpPr/>
          <p:nvPr/>
        </p:nvSpPr>
        <p:spPr>
          <a:xfrm>
            <a:off x="502920" y="365760"/>
            <a:ext cx="1264524" cy="228600"/>
          </a:xfrm>
          <a:prstGeom prst="roundRect">
            <a:avLst>
              <a:gd name="adj" fmla="val 48000"/>
            </a:avLst>
          </a:prstGeom>
          <a:solidFill>
            <a:srgbClr val="35210F"/>
          </a:solidFill>
          <a:ln w="9525">
            <a:solidFill>
              <a:srgbClr val="FF8A3D"/>
            </a:solidFill>
            <a:prstDash val="solid"/>
          </a:ln>
        </p:spPr>
        <p:txBody>
          <a:bodyPr/>
          <a:lstStyle/>
          <a:p>
            <a:endParaRPr lang="es-CO"/>
          </a:p>
        </p:txBody>
      </p:sp>
      <p:sp>
        <p:nvSpPr>
          <p:cNvPr id="3" name="Text 1"/>
          <p:cNvSpPr txBox="1"/>
          <p:nvPr/>
        </p:nvSpPr>
        <p:spPr>
          <a:xfrm>
            <a:off x="502920" y="365760"/>
            <a:ext cx="1264524" cy="228600"/>
          </a:xfrm>
          <a:prstGeom prst="rect">
            <a:avLst/>
          </a:prstGeom>
          <a:noFill/>
          <a:ln/>
        </p:spPr>
        <p:txBody>
          <a:bodyPr wrap="square" lIns="0" tIns="0" rIns="0" bIns="0" rtlCol="0" anchor="ctr"/>
          <a:lstStyle/>
          <a:p>
            <a:pPr marL="0" indent="0" algn="ctr">
              <a:buNone/>
            </a:pPr>
            <a:r>
              <a:rPr lang="en-US" sz="850" b="1" dirty="0">
                <a:solidFill>
                  <a:srgbClr val="FF8A3D"/>
                </a:solidFill>
                <a:latin typeface="Arial" pitchFamily="34" charset="0"/>
                <a:ea typeface="Arial" pitchFamily="34" charset="-122"/>
                <a:cs typeface="Arial" pitchFamily="34" charset="-120"/>
              </a:rPr>
              <a:t>LABORATORIO 05</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Del formulario a la base de datos</a:t>
            </a:r>
            <a:endParaRPr lang="en-US" sz="26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23 / 25</a:t>
            </a:r>
            <a:endParaRPr lang="en-US" sz="800" dirty="0"/>
          </a:p>
        </p:txBody>
      </p:sp>
      <p:sp>
        <p:nvSpPr>
          <p:cNvPr id="6" name="Shape 4"/>
          <p:cNvSpPr/>
          <p:nvPr/>
        </p:nvSpPr>
        <p:spPr>
          <a:xfrm>
            <a:off x="502920" y="1207008"/>
            <a:ext cx="4846320" cy="2258568"/>
          </a:xfrm>
          <a:prstGeom prst="roundRect">
            <a:avLst>
              <a:gd name="adj" fmla="val 2469"/>
            </a:avLst>
          </a:prstGeom>
          <a:solidFill>
            <a:srgbClr val="1A2434"/>
          </a:solidFill>
          <a:ln w="12700">
            <a:solidFill>
              <a:srgbClr val="FF8A3D"/>
            </a:solidFill>
            <a:prstDash val="solid"/>
          </a:ln>
        </p:spPr>
        <p:txBody>
          <a:bodyPr/>
          <a:lstStyle/>
          <a:p>
            <a:endParaRPr lang="es-CO" dirty="0"/>
          </a:p>
        </p:txBody>
      </p:sp>
      <p:sp>
        <p:nvSpPr>
          <p:cNvPr id="7" name="Text 5"/>
          <p:cNvSpPr txBox="1"/>
          <p:nvPr/>
        </p:nvSpPr>
        <p:spPr>
          <a:xfrm>
            <a:off x="704088" y="1316736"/>
            <a:ext cx="4480560" cy="201168"/>
          </a:xfrm>
          <a:prstGeom prst="rect">
            <a:avLst/>
          </a:prstGeom>
          <a:noFill/>
          <a:ln/>
        </p:spPr>
        <p:txBody>
          <a:bodyPr wrap="square" lIns="0" tIns="0" rIns="0" bIns="0" rtlCol="0" anchor="ctr"/>
          <a:lstStyle/>
          <a:p>
            <a:pPr marL="0" indent="0">
              <a:buNone/>
            </a:pPr>
            <a:r>
              <a:rPr lang="en-US" sz="1050" b="1" dirty="0">
                <a:solidFill>
                  <a:srgbClr val="FF8A3D"/>
                </a:solidFill>
                <a:latin typeface="Arial" pitchFamily="34" charset="0"/>
                <a:ea typeface="Arial" pitchFamily="34" charset="-122"/>
                <a:cs typeface="Arial" pitchFamily="34" charset="-120"/>
              </a:rPr>
              <a:t>Secuencia de trabajo</a:t>
            </a:r>
            <a:endParaRPr lang="en-US" sz="1050" dirty="0"/>
          </a:p>
        </p:txBody>
      </p:sp>
      <p:sp>
        <p:nvSpPr>
          <p:cNvPr id="32" name="Shape 30"/>
          <p:cNvSpPr/>
          <p:nvPr/>
        </p:nvSpPr>
        <p:spPr>
          <a:xfrm>
            <a:off x="5532120" y="1207008"/>
            <a:ext cx="3108960" cy="2962656"/>
          </a:xfrm>
          <a:prstGeom prst="roundRect">
            <a:avLst>
              <a:gd name="adj" fmla="val 2469"/>
            </a:avLst>
          </a:prstGeom>
          <a:solidFill>
            <a:srgbClr val="070C14"/>
          </a:solidFill>
          <a:ln w="12700">
            <a:solidFill>
              <a:srgbClr val="2B3B52"/>
            </a:solidFill>
            <a:prstDash val="solid"/>
          </a:ln>
        </p:spPr>
        <p:txBody>
          <a:bodyPr/>
          <a:lstStyle/>
          <a:p>
            <a:endParaRPr lang="es-CO"/>
          </a:p>
        </p:txBody>
      </p:sp>
      <p:sp>
        <p:nvSpPr>
          <p:cNvPr id="33" name="Text 31"/>
          <p:cNvSpPr txBox="1"/>
          <p:nvPr/>
        </p:nvSpPr>
        <p:spPr>
          <a:xfrm>
            <a:off x="5715000" y="1316736"/>
            <a:ext cx="2743200" cy="201168"/>
          </a:xfrm>
          <a:prstGeom prst="rect">
            <a:avLst/>
          </a:prstGeom>
          <a:noFill/>
          <a:ln/>
        </p:spPr>
        <p:txBody>
          <a:bodyPr wrap="square" lIns="0" tIns="0" rIns="0" bIns="0" rtlCol="0" anchor="ctr"/>
          <a:lstStyle/>
          <a:p>
            <a:pPr marL="0" indent="0">
              <a:buNone/>
            </a:pPr>
            <a:r>
              <a:rPr lang="en-US" sz="850" b="1" dirty="0">
                <a:solidFill>
                  <a:srgbClr val="FF8A3D"/>
                </a:solidFill>
                <a:latin typeface="Courier New" pitchFamily="34" charset="0"/>
                <a:ea typeface="Courier New" pitchFamily="34" charset="-122"/>
                <a:cs typeface="Courier New" pitchFamily="34" charset="-120"/>
              </a:rPr>
              <a:t>Pruebas requeridas</a:t>
            </a:r>
            <a:endParaRPr lang="en-US" sz="850" dirty="0"/>
          </a:p>
        </p:txBody>
      </p:sp>
      <p:sp>
        <p:nvSpPr>
          <p:cNvPr id="34" name="Text 32"/>
          <p:cNvSpPr txBox="1"/>
          <p:nvPr/>
        </p:nvSpPr>
        <p:spPr>
          <a:xfrm>
            <a:off x="5715000" y="1609344"/>
            <a:ext cx="2743200" cy="182880"/>
          </a:xfrm>
          <a:prstGeom prst="rect">
            <a:avLst/>
          </a:prstGeom>
          <a:noFill/>
          <a:ln/>
        </p:spPr>
        <p:txBody>
          <a:bodyPr wrap="square" lIns="0" tIns="0" rIns="0" bIns="0" rtlCol="0" anchor="ctr"/>
          <a:lstStyle/>
          <a:p>
            <a:pPr marL="0" indent="0">
              <a:buNone/>
            </a:pPr>
            <a:r>
              <a:rPr lang="en-US" sz="900" b="1" dirty="0">
                <a:solidFill>
                  <a:srgbClr val="E8EEF6"/>
                </a:solidFill>
                <a:latin typeface="Arial" pitchFamily="34" charset="0"/>
                <a:ea typeface="Arial" pitchFamily="34" charset="-122"/>
                <a:cs typeface="Arial" pitchFamily="34" charset="-120"/>
              </a:rPr>
              <a:t>Envío correcto</a:t>
            </a:r>
            <a:endParaRPr lang="en-US" sz="900" dirty="0"/>
          </a:p>
        </p:txBody>
      </p:sp>
      <p:sp>
        <p:nvSpPr>
          <p:cNvPr id="35" name="Text 33"/>
          <p:cNvSpPr txBox="1"/>
          <p:nvPr/>
        </p:nvSpPr>
        <p:spPr>
          <a:xfrm>
            <a:off x="5715000" y="1783080"/>
            <a:ext cx="2761488" cy="201168"/>
          </a:xfrm>
          <a:prstGeom prst="rect">
            <a:avLst/>
          </a:prstGeom>
          <a:noFill/>
          <a:ln/>
        </p:spPr>
        <p:txBody>
          <a:bodyPr wrap="square" lIns="0" tIns="0" rIns="0" bIns="0" rtlCol="0" anchor="ctr"/>
          <a:lstStyle/>
          <a:p>
            <a:pPr marL="0" indent="0">
              <a:buNone/>
            </a:pPr>
            <a:r>
              <a:rPr lang="en-US" sz="850" dirty="0">
                <a:solidFill>
                  <a:srgbClr val="93A5BD"/>
                </a:solidFill>
                <a:latin typeface="Calibri" pitchFamily="34" charset="0"/>
                <a:ea typeface="Calibri" pitchFamily="34" charset="-122"/>
                <a:cs typeface="Calibri" pitchFamily="34" charset="-120"/>
              </a:rPr>
              <a:t>Responde 201 y muestra el identificador.</a:t>
            </a:r>
            <a:endParaRPr lang="en-US" sz="850" dirty="0"/>
          </a:p>
        </p:txBody>
      </p:sp>
      <p:sp>
        <p:nvSpPr>
          <p:cNvPr id="36" name="Text 34"/>
          <p:cNvSpPr txBox="1"/>
          <p:nvPr/>
        </p:nvSpPr>
        <p:spPr>
          <a:xfrm>
            <a:off x="5715000" y="2029968"/>
            <a:ext cx="2743200" cy="182880"/>
          </a:xfrm>
          <a:prstGeom prst="rect">
            <a:avLst/>
          </a:prstGeom>
          <a:noFill/>
          <a:ln/>
        </p:spPr>
        <p:txBody>
          <a:bodyPr wrap="square" lIns="0" tIns="0" rIns="0" bIns="0" rtlCol="0" anchor="ctr"/>
          <a:lstStyle/>
          <a:p>
            <a:pPr marL="0" indent="0">
              <a:buNone/>
            </a:pPr>
            <a:r>
              <a:rPr lang="en-US" sz="900" b="1" dirty="0">
                <a:solidFill>
                  <a:srgbClr val="E8EEF6"/>
                </a:solidFill>
                <a:latin typeface="Arial" pitchFamily="34" charset="0"/>
                <a:ea typeface="Arial" pitchFamily="34" charset="-122"/>
                <a:cs typeface="Arial" pitchFamily="34" charset="-120"/>
              </a:rPr>
              <a:t>Campo vacío</a:t>
            </a:r>
            <a:endParaRPr lang="en-US" sz="900" dirty="0"/>
          </a:p>
        </p:txBody>
      </p:sp>
      <p:sp>
        <p:nvSpPr>
          <p:cNvPr id="37" name="Text 35"/>
          <p:cNvSpPr txBox="1"/>
          <p:nvPr/>
        </p:nvSpPr>
        <p:spPr>
          <a:xfrm>
            <a:off x="5715000" y="2203704"/>
            <a:ext cx="2761488" cy="201168"/>
          </a:xfrm>
          <a:prstGeom prst="rect">
            <a:avLst/>
          </a:prstGeom>
          <a:noFill/>
          <a:ln/>
        </p:spPr>
        <p:txBody>
          <a:bodyPr wrap="square" lIns="0" tIns="0" rIns="0" bIns="0" rtlCol="0" anchor="ctr"/>
          <a:lstStyle/>
          <a:p>
            <a:pPr marL="0" indent="0">
              <a:buNone/>
            </a:pPr>
            <a:r>
              <a:rPr lang="en-US" sz="850" dirty="0">
                <a:solidFill>
                  <a:srgbClr val="93A5BD"/>
                </a:solidFill>
                <a:latin typeface="Calibri" pitchFamily="34" charset="0"/>
                <a:ea typeface="Calibri" pitchFamily="34" charset="-122"/>
                <a:cs typeface="Calibri" pitchFamily="34" charset="-120"/>
              </a:rPr>
              <a:t>Responde 400 y no inserta ninguna fila.</a:t>
            </a:r>
            <a:endParaRPr lang="en-US" sz="850" dirty="0"/>
          </a:p>
        </p:txBody>
      </p:sp>
      <p:sp>
        <p:nvSpPr>
          <p:cNvPr id="38" name="Text 36"/>
          <p:cNvSpPr txBox="1"/>
          <p:nvPr/>
        </p:nvSpPr>
        <p:spPr>
          <a:xfrm>
            <a:off x="5715000" y="2450592"/>
            <a:ext cx="2743200" cy="182880"/>
          </a:xfrm>
          <a:prstGeom prst="rect">
            <a:avLst/>
          </a:prstGeom>
          <a:noFill/>
          <a:ln/>
        </p:spPr>
        <p:txBody>
          <a:bodyPr wrap="square" lIns="0" tIns="0" rIns="0" bIns="0" rtlCol="0" anchor="ctr"/>
          <a:lstStyle/>
          <a:p>
            <a:pPr marL="0" indent="0">
              <a:buNone/>
            </a:pPr>
            <a:r>
              <a:rPr lang="en-US" sz="900" b="1" dirty="0">
                <a:solidFill>
                  <a:srgbClr val="E8EEF6"/>
                </a:solidFill>
                <a:latin typeface="Arial" pitchFamily="34" charset="0"/>
                <a:ea typeface="Arial" pitchFamily="34" charset="-122"/>
                <a:cs typeface="Arial" pitchFamily="34" charset="-120"/>
              </a:rPr>
              <a:t>Correo con @</a:t>
            </a:r>
            <a:endParaRPr lang="en-US" sz="900" dirty="0"/>
          </a:p>
        </p:txBody>
      </p:sp>
      <p:sp>
        <p:nvSpPr>
          <p:cNvPr id="39" name="Text 37"/>
          <p:cNvSpPr txBox="1"/>
          <p:nvPr/>
        </p:nvSpPr>
        <p:spPr>
          <a:xfrm>
            <a:off x="5715000" y="2624328"/>
            <a:ext cx="2761488" cy="201168"/>
          </a:xfrm>
          <a:prstGeom prst="rect">
            <a:avLst/>
          </a:prstGeom>
          <a:noFill/>
          <a:ln/>
        </p:spPr>
        <p:txBody>
          <a:bodyPr wrap="square" lIns="0" tIns="0" rIns="0" bIns="0" rtlCol="0" anchor="ctr"/>
          <a:lstStyle/>
          <a:p>
            <a:pPr marL="0" indent="0">
              <a:buNone/>
            </a:pPr>
            <a:r>
              <a:rPr lang="en-US" sz="850" dirty="0">
                <a:solidFill>
                  <a:srgbClr val="93A5BD"/>
                </a:solidFill>
                <a:latin typeface="Calibri" pitchFamily="34" charset="0"/>
                <a:ea typeface="Calibri" pitchFamily="34" charset="-122"/>
                <a:cs typeface="Calibri" pitchFamily="34" charset="-120"/>
              </a:rPr>
              <a:t>Se recibe decodificado, sin %40.</a:t>
            </a:r>
            <a:endParaRPr lang="en-US" sz="850" dirty="0"/>
          </a:p>
        </p:txBody>
      </p:sp>
      <p:sp>
        <p:nvSpPr>
          <p:cNvPr id="40" name="Text 38"/>
          <p:cNvSpPr txBox="1"/>
          <p:nvPr/>
        </p:nvSpPr>
        <p:spPr>
          <a:xfrm>
            <a:off x="5715000" y="2871216"/>
            <a:ext cx="2743200" cy="182880"/>
          </a:xfrm>
          <a:prstGeom prst="rect">
            <a:avLst/>
          </a:prstGeom>
          <a:noFill/>
          <a:ln/>
        </p:spPr>
        <p:txBody>
          <a:bodyPr wrap="square" lIns="0" tIns="0" rIns="0" bIns="0" rtlCol="0" anchor="ctr"/>
          <a:lstStyle/>
          <a:p>
            <a:pPr marL="0" indent="0">
              <a:buNone/>
            </a:pPr>
            <a:r>
              <a:rPr lang="en-US" sz="900" b="1" dirty="0">
                <a:solidFill>
                  <a:srgbClr val="E8EEF6"/>
                </a:solidFill>
                <a:latin typeface="Arial" pitchFamily="34" charset="0"/>
                <a:ea typeface="Arial" pitchFamily="34" charset="-122"/>
                <a:cs typeface="Arial" pitchFamily="34" charset="-120"/>
              </a:rPr>
              <a:t>Mensaje con espacios</a:t>
            </a:r>
            <a:endParaRPr lang="en-US" sz="900" dirty="0"/>
          </a:p>
        </p:txBody>
      </p:sp>
      <p:sp>
        <p:nvSpPr>
          <p:cNvPr id="41" name="Text 39"/>
          <p:cNvSpPr txBox="1"/>
          <p:nvPr/>
        </p:nvSpPr>
        <p:spPr>
          <a:xfrm>
            <a:off x="5715000" y="3044952"/>
            <a:ext cx="2761488" cy="201168"/>
          </a:xfrm>
          <a:prstGeom prst="rect">
            <a:avLst/>
          </a:prstGeom>
          <a:noFill/>
          <a:ln/>
        </p:spPr>
        <p:txBody>
          <a:bodyPr wrap="square" lIns="0" tIns="0" rIns="0" bIns="0" rtlCol="0" anchor="ctr"/>
          <a:lstStyle/>
          <a:p>
            <a:pPr marL="0" indent="0">
              <a:buNone/>
            </a:pPr>
            <a:r>
              <a:rPr lang="en-US" sz="850" dirty="0">
                <a:solidFill>
                  <a:srgbClr val="93A5BD"/>
                </a:solidFill>
                <a:latin typeface="Calibri" pitchFamily="34" charset="0"/>
                <a:ea typeface="Calibri" pitchFamily="34" charset="-122"/>
                <a:cs typeface="Calibri" pitchFamily="34" charset="-120"/>
              </a:rPr>
              <a:t>Se conserva el texto completo.</a:t>
            </a:r>
            <a:endParaRPr lang="en-US" sz="850" dirty="0"/>
          </a:p>
        </p:txBody>
      </p:sp>
      <p:sp>
        <p:nvSpPr>
          <p:cNvPr id="42" name="Text 40"/>
          <p:cNvSpPr txBox="1"/>
          <p:nvPr/>
        </p:nvSpPr>
        <p:spPr>
          <a:xfrm>
            <a:off x="5715000" y="3291840"/>
            <a:ext cx="2743200" cy="182880"/>
          </a:xfrm>
          <a:prstGeom prst="rect">
            <a:avLst/>
          </a:prstGeom>
          <a:noFill/>
          <a:ln/>
        </p:spPr>
        <p:txBody>
          <a:bodyPr wrap="square" lIns="0" tIns="0" rIns="0" bIns="0" rtlCol="0" anchor="ctr"/>
          <a:lstStyle/>
          <a:p>
            <a:pPr marL="0" indent="0">
              <a:buNone/>
            </a:pPr>
            <a:r>
              <a:rPr lang="en-US" sz="900" b="1" dirty="0">
                <a:solidFill>
                  <a:srgbClr val="E8EEF6"/>
                </a:solidFill>
                <a:latin typeface="Arial" pitchFamily="34" charset="0"/>
                <a:ea typeface="Arial" pitchFamily="34" charset="-122"/>
                <a:cs typeface="Arial" pitchFamily="34" charset="-120"/>
              </a:rPr>
              <a:t>Texto con tildes</a:t>
            </a:r>
            <a:endParaRPr lang="en-US" sz="900" dirty="0"/>
          </a:p>
        </p:txBody>
      </p:sp>
      <p:sp>
        <p:nvSpPr>
          <p:cNvPr id="43" name="Text 41"/>
          <p:cNvSpPr txBox="1"/>
          <p:nvPr/>
        </p:nvSpPr>
        <p:spPr>
          <a:xfrm>
            <a:off x="5715000" y="3465576"/>
            <a:ext cx="2761488" cy="201168"/>
          </a:xfrm>
          <a:prstGeom prst="rect">
            <a:avLst/>
          </a:prstGeom>
          <a:noFill/>
          <a:ln/>
        </p:spPr>
        <p:txBody>
          <a:bodyPr wrap="square" lIns="0" tIns="0" rIns="0" bIns="0" rtlCol="0" anchor="ctr"/>
          <a:lstStyle/>
          <a:p>
            <a:pPr marL="0" indent="0">
              <a:buNone/>
            </a:pPr>
            <a:r>
              <a:rPr lang="en-US" sz="850" dirty="0">
                <a:solidFill>
                  <a:srgbClr val="93A5BD"/>
                </a:solidFill>
                <a:latin typeface="Calibri" pitchFamily="34" charset="0"/>
                <a:ea typeface="Calibri" pitchFamily="34" charset="-122"/>
                <a:cs typeface="Calibri" pitchFamily="34" charset="-120"/>
              </a:rPr>
              <a:t>Se almacena correctamente en UTF-8.</a:t>
            </a:r>
            <a:endParaRPr lang="en-US" sz="850" dirty="0"/>
          </a:p>
        </p:txBody>
      </p:sp>
      <p:sp>
        <p:nvSpPr>
          <p:cNvPr id="44" name="Text 42"/>
          <p:cNvSpPr txBox="1"/>
          <p:nvPr/>
        </p:nvSpPr>
        <p:spPr>
          <a:xfrm>
            <a:off x="5715000" y="3712464"/>
            <a:ext cx="2743200" cy="182880"/>
          </a:xfrm>
          <a:prstGeom prst="rect">
            <a:avLst/>
          </a:prstGeom>
          <a:noFill/>
          <a:ln/>
        </p:spPr>
        <p:txBody>
          <a:bodyPr wrap="square" lIns="0" tIns="0" rIns="0" bIns="0" rtlCol="0" anchor="ctr"/>
          <a:lstStyle/>
          <a:p>
            <a:pPr marL="0" indent="0">
              <a:buNone/>
            </a:pPr>
            <a:r>
              <a:rPr lang="en-US" sz="900" b="1" dirty="0">
                <a:solidFill>
                  <a:srgbClr val="E8EEF6"/>
                </a:solidFill>
                <a:latin typeface="Arial" pitchFamily="34" charset="0"/>
                <a:ea typeface="Arial" pitchFamily="34" charset="-122"/>
                <a:cs typeface="Arial" pitchFamily="34" charset="-120"/>
              </a:rPr>
              <a:t>Segundo envío</a:t>
            </a:r>
            <a:endParaRPr lang="en-US" sz="900" dirty="0"/>
          </a:p>
        </p:txBody>
      </p:sp>
      <p:sp>
        <p:nvSpPr>
          <p:cNvPr id="45" name="Text 43"/>
          <p:cNvSpPr txBox="1"/>
          <p:nvPr/>
        </p:nvSpPr>
        <p:spPr>
          <a:xfrm>
            <a:off x="5715000" y="3886200"/>
            <a:ext cx="2761488" cy="201168"/>
          </a:xfrm>
          <a:prstGeom prst="rect">
            <a:avLst/>
          </a:prstGeom>
          <a:noFill/>
          <a:ln/>
        </p:spPr>
        <p:txBody>
          <a:bodyPr wrap="square" lIns="0" tIns="0" rIns="0" bIns="0" rtlCol="0" anchor="ctr"/>
          <a:lstStyle/>
          <a:p>
            <a:pPr marL="0" indent="0">
              <a:buNone/>
            </a:pPr>
            <a:r>
              <a:rPr lang="en-US" sz="850" dirty="0">
                <a:solidFill>
                  <a:srgbClr val="93A5BD"/>
                </a:solidFill>
                <a:latin typeface="Calibri" pitchFamily="34" charset="0"/>
                <a:ea typeface="Calibri" pitchFamily="34" charset="-122"/>
                <a:cs typeface="Calibri" pitchFamily="34" charset="-120"/>
              </a:rPr>
              <a:t>Genera un identificador distinto.</a:t>
            </a:r>
            <a:endParaRPr lang="en-US" sz="850" dirty="0"/>
          </a:p>
        </p:txBody>
      </p:sp>
      <p:sp>
        <p:nvSpPr>
          <p:cNvPr id="47" name="CuadroTexto 46">
            <a:extLst>
              <a:ext uri="{FF2B5EF4-FFF2-40B4-BE49-F238E27FC236}">
                <a16:creationId xmlns:a16="http://schemas.microsoft.com/office/drawing/2014/main" id="{DC3FB7FF-0D50-11E6-EAD1-F800E2F8BBCC}"/>
              </a:ext>
            </a:extLst>
          </p:cNvPr>
          <p:cNvSpPr txBox="1"/>
          <p:nvPr/>
        </p:nvSpPr>
        <p:spPr>
          <a:xfrm>
            <a:off x="612648" y="1638330"/>
            <a:ext cx="4572000" cy="1569660"/>
          </a:xfrm>
          <a:prstGeom prst="rect">
            <a:avLst/>
          </a:prstGeom>
          <a:noFill/>
        </p:spPr>
        <p:txBody>
          <a:bodyPr wrap="square">
            <a:spAutoFit/>
          </a:bodyPr>
          <a:lstStyle/>
          <a:p>
            <a:pPr marL="342900" lvl="0" indent="-342900">
              <a:buFont typeface="Arial" panose="020B0604020202020204" pitchFamily="34" charset="0"/>
              <a:buChar char="•"/>
            </a:pPr>
            <a:r>
              <a:rPr lang="es-CO" sz="800" dirty="0">
                <a:solidFill>
                  <a:schemeClr val="bg1"/>
                </a:solidFill>
                <a:latin typeface="Courier New" panose="02070309020205020404" pitchFamily="49" charset="0"/>
                <a:cs typeface="Courier New" panose="02070309020205020404" pitchFamily="49" charset="0"/>
              </a:rPr>
              <a:t>Abrir el proyecto terminado del Laboratorio 04. </a:t>
            </a:r>
          </a:p>
          <a:p>
            <a:pPr marL="342900" lvl="0" indent="-342900">
              <a:buFont typeface="Arial" panose="020B0604020202020204" pitchFamily="34" charset="0"/>
              <a:buChar char="•"/>
            </a:pPr>
            <a:r>
              <a:rPr lang="es-CO" sz="800" dirty="0">
                <a:solidFill>
                  <a:schemeClr val="bg1"/>
                </a:solidFill>
                <a:latin typeface="Courier New" panose="02070309020205020404" pitchFamily="49" charset="0"/>
                <a:cs typeface="Courier New" panose="02070309020205020404" pitchFamily="49" charset="0"/>
              </a:rPr>
              <a:t>Verificar /contacto, /styles.css y POST /contacto.</a:t>
            </a:r>
          </a:p>
          <a:p>
            <a:pPr marL="342900" lvl="0" indent="-342900">
              <a:buFont typeface="Arial" panose="020B0604020202020204" pitchFamily="34" charset="0"/>
              <a:buChar char="•"/>
            </a:pPr>
            <a:r>
              <a:rPr lang="es-CO" sz="800" dirty="0">
                <a:solidFill>
                  <a:schemeClr val="bg1"/>
                </a:solidFill>
                <a:latin typeface="Courier New" panose="02070309020205020404" pitchFamily="49" charset="0"/>
                <a:cs typeface="Courier New" panose="02070309020205020404" pitchFamily="49" charset="0"/>
              </a:rPr>
              <a:t>Importar </a:t>
            </a:r>
            <a:r>
              <a:rPr lang="es-CO" sz="800" dirty="0" err="1">
                <a:solidFill>
                  <a:schemeClr val="bg1"/>
                </a:solidFill>
                <a:latin typeface="Courier New" panose="02070309020205020404" pitchFamily="49" charset="0"/>
                <a:cs typeface="Courier New" panose="02070309020205020404" pitchFamily="49" charset="0"/>
              </a:rPr>
              <a:t>DatabaseSync</a:t>
            </a:r>
            <a:r>
              <a:rPr lang="es-CO" sz="800" dirty="0">
                <a:solidFill>
                  <a:schemeClr val="bg1"/>
                </a:solidFill>
                <a:latin typeface="Courier New" panose="02070309020205020404" pitchFamily="49" charset="0"/>
                <a:cs typeface="Courier New" panose="02070309020205020404" pitchFamily="49" charset="0"/>
              </a:rPr>
              <a:t> desde </a:t>
            </a:r>
            <a:r>
              <a:rPr lang="es-CO" sz="800" dirty="0" err="1">
                <a:solidFill>
                  <a:schemeClr val="bg1"/>
                </a:solidFill>
                <a:latin typeface="Courier New" panose="02070309020205020404" pitchFamily="49" charset="0"/>
                <a:cs typeface="Courier New" panose="02070309020205020404" pitchFamily="49" charset="0"/>
              </a:rPr>
              <a:t>node:sqlite</a:t>
            </a:r>
            <a:r>
              <a:rPr lang="es-CO" sz="800" dirty="0">
                <a:solidFill>
                  <a:schemeClr val="bg1"/>
                </a:solidFill>
                <a:latin typeface="Courier New" panose="02070309020205020404" pitchFamily="49" charset="0"/>
                <a:cs typeface="Courier New" panose="02070309020205020404" pitchFamily="49" charset="0"/>
              </a:rPr>
              <a:t>. </a:t>
            </a:r>
          </a:p>
          <a:p>
            <a:pPr marL="342900" lvl="0" indent="-342900">
              <a:buFont typeface="Arial" panose="020B0604020202020204" pitchFamily="34" charset="0"/>
              <a:buChar char="•"/>
            </a:pPr>
            <a:r>
              <a:rPr lang="es-CO" sz="800" dirty="0">
                <a:solidFill>
                  <a:schemeClr val="bg1"/>
                </a:solidFill>
                <a:latin typeface="Courier New" panose="02070309020205020404" pitchFamily="49" charset="0"/>
                <a:cs typeface="Courier New" panose="02070309020205020404" pitchFamily="49" charset="0"/>
              </a:rPr>
              <a:t>Abrir o crear </a:t>
            </a:r>
            <a:r>
              <a:rPr lang="es-CO" sz="800" dirty="0" err="1">
                <a:solidFill>
                  <a:schemeClr val="bg1"/>
                </a:solidFill>
                <a:latin typeface="Courier New" panose="02070309020205020404" pitchFamily="49" charset="0"/>
                <a:cs typeface="Courier New" panose="02070309020205020404" pitchFamily="49" charset="0"/>
              </a:rPr>
              <a:t>contactos.db</a:t>
            </a:r>
            <a:r>
              <a:rPr lang="es-CO" sz="800" dirty="0">
                <a:solidFill>
                  <a:schemeClr val="bg1"/>
                </a:solidFill>
                <a:latin typeface="Courier New" panose="02070309020205020404" pitchFamily="49" charset="0"/>
                <a:cs typeface="Courier New" panose="02070309020205020404" pitchFamily="49" charset="0"/>
              </a:rPr>
              <a:t>. </a:t>
            </a:r>
          </a:p>
          <a:p>
            <a:pPr marL="342900" lvl="0" indent="-342900">
              <a:buFont typeface="Arial" panose="020B0604020202020204" pitchFamily="34" charset="0"/>
              <a:buChar char="•"/>
            </a:pPr>
            <a:r>
              <a:rPr lang="es-CO" sz="800" dirty="0">
                <a:solidFill>
                  <a:schemeClr val="bg1"/>
                </a:solidFill>
                <a:latin typeface="Courier New" panose="02070309020205020404" pitchFamily="49" charset="0"/>
                <a:cs typeface="Courier New" panose="02070309020205020404" pitchFamily="49" charset="0"/>
              </a:rPr>
              <a:t>Crear la tabla contactos. </a:t>
            </a:r>
          </a:p>
          <a:p>
            <a:pPr marL="342900" lvl="0" indent="-342900">
              <a:buFont typeface="Arial" panose="020B0604020202020204" pitchFamily="34" charset="0"/>
              <a:buChar char="•"/>
            </a:pPr>
            <a:r>
              <a:rPr lang="es-CO" sz="800" dirty="0">
                <a:solidFill>
                  <a:schemeClr val="bg1"/>
                </a:solidFill>
                <a:latin typeface="Courier New" panose="02070309020205020404" pitchFamily="49" charset="0"/>
                <a:cs typeface="Courier New" panose="02070309020205020404" pitchFamily="49" charset="0"/>
              </a:rPr>
              <a:t>Preparar el INSERT parametrizado.</a:t>
            </a:r>
          </a:p>
          <a:p>
            <a:pPr marL="342900" lvl="0" indent="-342900">
              <a:buFont typeface="Arial" panose="020B0604020202020204" pitchFamily="34" charset="0"/>
              <a:buChar char="•"/>
            </a:pPr>
            <a:r>
              <a:rPr lang="es-CO" sz="800" dirty="0">
                <a:solidFill>
                  <a:schemeClr val="bg1"/>
                </a:solidFill>
                <a:latin typeface="Courier New" panose="02070309020205020404" pitchFamily="49" charset="0"/>
                <a:cs typeface="Courier New" panose="02070309020205020404" pitchFamily="49" charset="0"/>
              </a:rPr>
              <a:t>Modificar la ruta POST /contacto. </a:t>
            </a:r>
          </a:p>
          <a:p>
            <a:pPr marL="342900" lvl="0" indent="-342900">
              <a:buFont typeface="Arial" panose="020B0604020202020204" pitchFamily="34" charset="0"/>
              <a:buChar char="•"/>
            </a:pPr>
            <a:r>
              <a:rPr lang="es-CO" sz="800" dirty="0">
                <a:solidFill>
                  <a:schemeClr val="bg1"/>
                </a:solidFill>
                <a:latin typeface="Courier New" panose="02070309020205020404" pitchFamily="49" charset="0"/>
                <a:cs typeface="Courier New" panose="02070309020205020404" pitchFamily="49" charset="0"/>
              </a:rPr>
              <a:t>Reconstruir el cuerpo con data y </a:t>
            </a:r>
            <a:r>
              <a:rPr lang="es-CO" sz="800" dirty="0" err="1">
                <a:solidFill>
                  <a:schemeClr val="bg1"/>
                </a:solidFill>
                <a:latin typeface="Courier New" panose="02070309020205020404" pitchFamily="49" charset="0"/>
                <a:cs typeface="Courier New" panose="02070309020205020404" pitchFamily="49" charset="0"/>
              </a:rPr>
              <a:t>end</a:t>
            </a:r>
            <a:r>
              <a:rPr lang="es-CO" sz="800" dirty="0">
                <a:solidFill>
                  <a:schemeClr val="bg1"/>
                </a:solidFill>
                <a:latin typeface="Courier New" panose="02070309020205020404" pitchFamily="49" charset="0"/>
                <a:cs typeface="Courier New" panose="02070309020205020404" pitchFamily="49" charset="0"/>
              </a:rPr>
              <a:t>. </a:t>
            </a:r>
          </a:p>
          <a:p>
            <a:pPr marL="342900" lvl="0" indent="-342900">
              <a:buFont typeface="Arial" panose="020B0604020202020204" pitchFamily="34" charset="0"/>
              <a:buChar char="•"/>
            </a:pPr>
            <a:r>
              <a:rPr lang="es-CO" sz="800" dirty="0">
                <a:solidFill>
                  <a:schemeClr val="bg1"/>
                </a:solidFill>
                <a:latin typeface="Courier New" panose="02070309020205020404" pitchFamily="49" charset="0"/>
                <a:cs typeface="Courier New" panose="02070309020205020404" pitchFamily="49" charset="0"/>
              </a:rPr>
              <a:t>Interpretarlo con </a:t>
            </a:r>
            <a:r>
              <a:rPr lang="es-CO" sz="800" dirty="0" err="1">
                <a:solidFill>
                  <a:schemeClr val="bg1"/>
                </a:solidFill>
                <a:latin typeface="Courier New" panose="02070309020205020404" pitchFamily="49" charset="0"/>
                <a:cs typeface="Courier New" panose="02070309020205020404" pitchFamily="49" charset="0"/>
              </a:rPr>
              <a:t>URLSearchParams</a:t>
            </a:r>
            <a:r>
              <a:rPr lang="es-CO" sz="800" dirty="0">
                <a:solidFill>
                  <a:schemeClr val="bg1"/>
                </a:solidFill>
                <a:latin typeface="Courier New" panose="02070309020205020404" pitchFamily="49" charset="0"/>
                <a:cs typeface="Courier New" panose="02070309020205020404" pitchFamily="49" charset="0"/>
              </a:rPr>
              <a:t>. </a:t>
            </a:r>
          </a:p>
          <a:p>
            <a:pPr marL="342900" lvl="0" indent="-342900">
              <a:buFont typeface="Arial" panose="020B0604020202020204" pitchFamily="34" charset="0"/>
              <a:buChar char="•"/>
            </a:pPr>
            <a:r>
              <a:rPr lang="es-CO" sz="800" dirty="0">
                <a:solidFill>
                  <a:schemeClr val="bg1"/>
                </a:solidFill>
                <a:latin typeface="Courier New" panose="02070309020205020404" pitchFamily="49" charset="0"/>
                <a:cs typeface="Courier New" panose="02070309020205020404" pitchFamily="49" charset="0"/>
              </a:rPr>
              <a:t>Validar nombre, correo y mensaje. </a:t>
            </a:r>
          </a:p>
          <a:p>
            <a:pPr marL="342900" lvl="0" indent="-342900">
              <a:buFont typeface="Arial" panose="020B0604020202020204" pitchFamily="34" charset="0"/>
              <a:buChar char="•"/>
            </a:pPr>
            <a:r>
              <a:rPr lang="es-CO" sz="800" dirty="0">
                <a:solidFill>
                  <a:schemeClr val="bg1"/>
                </a:solidFill>
                <a:latin typeface="Courier New" panose="02070309020205020404" pitchFamily="49" charset="0"/>
                <a:cs typeface="Courier New" panose="02070309020205020404" pitchFamily="49" charset="0"/>
              </a:rPr>
              <a:t>Ejecutar </a:t>
            </a:r>
            <a:r>
              <a:rPr lang="es-CO" sz="800" dirty="0" err="1">
                <a:solidFill>
                  <a:schemeClr val="bg1"/>
                </a:solidFill>
                <a:latin typeface="Courier New" panose="02070309020205020404" pitchFamily="49" charset="0"/>
                <a:cs typeface="Courier New" panose="02070309020205020404" pitchFamily="49" charset="0"/>
              </a:rPr>
              <a:t>insertarContacto.run</a:t>
            </a:r>
            <a:r>
              <a:rPr lang="es-CO" sz="800" dirty="0">
                <a:solidFill>
                  <a:schemeClr val="bg1"/>
                </a:solidFill>
                <a:latin typeface="Courier New" panose="02070309020205020404" pitchFamily="49" charset="0"/>
                <a:cs typeface="Courier New" panose="02070309020205020404" pitchFamily="49" charset="0"/>
              </a:rPr>
              <a:t>(). </a:t>
            </a:r>
          </a:p>
          <a:p>
            <a:pPr marL="342900" lvl="0" indent="-342900">
              <a:buFont typeface="Arial" panose="020B0604020202020204" pitchFamily="34" charset="0"/>
              <a:buChar char="•"/>
            </a:pPr>
            <a:r>
              <a:rPr lang="es-CO" sz="800" dirty="0">
                <a:solidFill>
                  <a:schemeClr val="bg1"/>
                </a:solidFill>
                <a:latin typeface="Courier New" panose="02070309020205020404" pitchFamily="49" charset="0"/>
                <a:cs typeface="Courier New" panose="02070309020205020404" pitchFamily="49" charset="0"/>
              </a:rPr>
              <a:t>Mostrar </a:t>
            </a:r>
            <a:r>
              <a:rPr lang="es-CO" sz="800" dirty="0" err="1">
                <a:solidFill>
                  <a:schemeClr val="bg1"/>
                </a:solidFill>
                <a:latin typeface="Courier New" panose="02070309020205020404" pitchFamily="49" charset="0"/>
                <a:cs typeface="Courier New" panose="02070309020205020404" pitchFamily="49" charset="0"/>
              </a:rPr>
              <a:t>lastInsertRowid</a:t>
            </a:r>
            <a:r>
              <a:rPr lang="es-CO" sz="800" dirty="0">
                <a:solidFill>
                  <a:schemeClr val="bg1"/>
                </a:solidFill>
                <a:latin typeface="Courier New" panose="02070309020205020404" pitchFamily="49" charset="0"/>
                <a:cs typeface="Courier New" panose="02070309020205020404" pitchFamily="49" charset="0"/>
              </a:rPr>
              <a:t> y responder con código 201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1112185"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1112185"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INTEGRACIÓN</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La aplicación ya completa el recorrido hasta la persistencia</a:t>
            </a:r>
            <a:endParaRPr lang="en-US" sz="20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24 / 25</a:t>
            </a:r>
            <a:endParaRPr lang="en-US" sz="800" dirty="0"/>
          </a:p>
        </p:txBody>
      </p:sp>
      <p:sp>
        <p:nvSpPr>
          <p:cNvPr id="6" name="Text 4"/>
          <p:cNvSpPr txBox="1"/>
          <p:nvPr/>
        </p:nvSpPr>
        <p:spPr>
          <a:xfrm>
            <a:off x="502920" y="1188720"/>
            <a:ext cx="8138160" cy="182880"/>
          </a:xfrm>
          <a:prstGeom prst="rect">
            <a:avLst/>
          </a:prstGeom>
          <a:noFill/>
          <a:ln/>
        </p:spPr>
        <p:txBody>
          <a:bodyPr wrap="square" lIns="0" tIns="0" rIns="0" bIns="0" rtlCol="0" anchor="ctr"/>
          <a:lstStyle/>
          <a:p>
            <a:pPr marL="0" indent="0">
              <a:buNone/>
            </a:pPr>
            <a:r>
              <a:rPr lang="en-US" sz="900" b="1" dirty="0">
                <a:solidFill>
                  <a:srgbClr val="6C7E96"/>
                </a:solidFill>
                <a:latin typeface="Arial" pitchFamily="34" charset="0"/>
                <a:ea typeface="Arial" pitchFamily="34" charset="-122"/>
                <a:cs typeface="Arial" pitchFamily="34" charset="-120"/>
              </a:rPr>
              <a:t>Recorrido completo de una operación</a:t>
            </a:r>
            <a:endParaRPr lang="en-US" sz="900" dirty="0"/>
          </a:p>
        </p:txBody>
      </p:sp>
      <p:sp>
        <p:nvSpPr>
          <p:cNvPr id="7" name="Shape 5"/>
          <p:cNvSpPr/>
          <p:nvPr/>
        </p:nvSpPr>
        <p:spPr>
          <a:xfrm>
            <a:off x="502920" y="1426464"/>
            <a:ext cx="1437437" cy="402336"/>
          </a:xfrm>
          <a:prstGeom prst="roundRect">
            <a:avLst>
              <a:gd name="adj" fmla="val 20455"/>
            </a:avLst>
          </a:prstGeom>
          <a:solidFill>
            <a:srgbClr val="1A2434"/>
          </a:solidFill>
          <a:ln w="12700">
            <a:solidFill>
              <a:srgbClr val="2B3B52"/>
            </a:solidFill>
            <a:prstDash val="solid"/>
          </a:ln>
        </p:spPr>
        <p:txBody>
          <a:bodyPr/>
          <a:lstStyle/>
          <a:p>
            <a:endParaRPr lang="es-CO"/>
          </a:p>
        </p:txBody>
      </p:sp>
      <p:sp>
        <p:nvSpPr>
          <p:cNvPr id="8" name="Text 6"/>
          <p:cNvSpPr txBox="1"/>
          <p:nvPr/>
        </p:nvSpPr>
        <p:spPr>
          <a:xfrm>
            <a:off x="502920" y="1426464"/>
            <a:ext cx="1437437" cy="402336"/>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Usuario</a:t>
            </a:r>
            <a:endParaRPr lang="en-US" sz="800" dirty="0"/>
          </a:p>
        </p:txBody>
      </p:sp>
      <p:sp>
        <p:nvSpPr>
          <p:cNvPr id="9" name="Shape 7"/>
          <p:cNvSpPr/>
          <p:nvPr/>
        </p:nvSpPr>
        <p:spPr>
          <a:xfrm>
            <a:off x="2004365" y="1627632"/>
            <a:ext cx="109728" cy="0"/>
          </a:xfrm>
          <a:prstGeom prst="line">
            <a:avLst/>
          </a:prstGeom>
          <a:noFill/>
          <a:ln w="12700">
            <a:solidFill>
              <a:srgbClr val="3DDC97"/>
            </a:solidFill>
            <a:prstDash val="solid"/>
            <a:tailEnd type="triangle"/>
          </a:ln>
        </p:spPr>
        <p:txBody>
          <a:bodyPr/>
          <a:lstStyle/>
          <a:p>
            <a:endParaRPr lang="es-CO"/>
          </a:p>
        </p:txBody>
      </p:sp>
      <p:sp>
        <p:nvSpPr>
          <p:cNvPr id="10" name="Shape 8"/>
          <p:cNvSpPr/>
          <p:nvPr/>
        </p:nvSpPr>
        <p:spPr>
          <a:xfrm>
            <a:off x="2178101" y="1426464"/>
            <a:ext cx="1437437" cy="402336"/>
          </a:xfrm>
          <a:prstGeom prst="roundRect">
            <a:avLst>
              <a:gd name="adj" fmla="val 20455"/>
            </a:avLst>
          </a:prstGeom>
          <a:solidFill>
            <a:srgbClr val="1A2434"/>
          </a:solidFill>
          <a:ln w="12700">
            <a:solidFill>
              <a:srgbClr val="3DDC97"/>
            </a:solidFill>
            <a:prstDash val="solid"/>
          </a:ln>
        </p:spPr>
        <p:txBody>
          <a:bodyPr/>
          <a:lstStyle/>
          <a:p>
            <a:endParaRPr lang="es-CO"/>
          </a:p>
        </p:txBody>
      </p:sp>
      <p:sp>
        <p:nvSpPr>
          <p:cNvPr id="11" name="Text 9"/>
          <p:cNvSpPr txBox="1"/>
          <p:nvPr/>
        </p:nvSpPr>
        <p:spPr>
          <a:xfrm>
            <a:off x="2178101" y="1426464"/>
            <a:ext cx="1437437" cy="402336"/>
          </a:xfrm>
          <a:prstGeom prst="rect">
            <a:avLst/>
          </a:prstGeom>
          <a:noFill/>
          <a:ln/>
        </p:spPr>
        <p:txBody>
          <a:bodyPr wrap="square" lIns="0" tIns="0" rIns="0" bIns="0" rtlCol="0" anchor="ctr"/>
          <a:lstStyle/>
          <a:p>
            <a:pPr marL="0" indent="0" algn="ctr">
              <a:buNone/>
            </a:pPr>
            <a:r>
              <a:rPr lang="en-US" sz="800" b="1" dirty="0">
                <a:solidFill>
                  <a:srgbClr val="3DDC97"/>
                </a:solidFill>
                <a:latin typeface="Arial" pitchFamily="34" charset="0"/>
                <a:ea typeface="Arial" pitchFamily="34" charset="-122"/>
                <a:cs typeface="Arial" pitchFamily="34" charset="-120"/>
              </a:rPr>
              <a:t>contacto.html</a:t>
            </a:r>
            <a:endParaRPr lang="en-US" sz="800" dirty="0"/>
          </a:p>
        </p:txBody>
      </p:sp>
      <p:sp>
        <p:nvSpPr>
          <p:cNvPr id="12" name="Shape 10"/>
          <p:cNvSpPr/>
          <p:nvPr/>
        </p:nvSpPr>
        <p:spPr>
          <a:xfrm>
            <a:off x="3679546" y="1627632"/>
            <a:ext cx="109728" cy="0"/>
          </a:xfrm>
          <a:prstGeom prst="line">
            <a:avLst/>
          </a:prstGeom>
          <a:noFill/>
          <a:ln w="12700">
            <a:solidFill>
              <a:srgbClr val="3DDC97"/>
            </a:solidFill>
            <a:prstDash val="solid"/>
            <a:tailEnd type="triangle"/>
          </a:ln>
        </p:spPr>
        <p:txBody>
          <a:bodyPr/>
          <a:lstStyle/>
          <a:p>
            <a:endParaRPr lang="es-CO"/>
          </a:p>
        </p:txBody>
      </p:sp>
      <p:sp>
        <p:nvSpPr>
          <p:cNvPr id="13" name="Shape 11"/>
          <p:cNvSpPr/>
          <p:nvPr/>
        </p:nvSpPr>
        <p:spPr>
          <a:xfrm>
            <a:off x="3853282" y="1426464"/>
            <a:ext cx="1437437" cy="402336"/>
          </a:xfrm>
          <a:prstGeom prst="roundRect">
            <a:avLst>
              <a:gd name="adj" fmla="val 20455"/>
            </a:avLst>
          </a:prstGeom>
          <a:solidFill>
            <a:srgbClr val="1A2434"/>
          </a:solidFill>
          <a:ln w="12700">
            <a:solidFill>
              <a:srgbClr val="56C7F2"/>
            </a:solidFill>
            <a:prstDash val="solid"/>
          </a:ln>
        </p:spPr>
        <p:txBody>
          <a:bodyPr/>
          <a:lstStyle/>
          <a:p>
            <a:endParaRPr lang="es-CO"/>
          </a:p>
        </p:txBody>
      </p:sp>
      <p:sp>
        <p:nvSpPr>
          <p:cNvPr id="14" name="Text 12"/>
          <p:cNvSpPr txBox="1"/>
          <p:nvPr/>
        </p:nvSpPr>
        <p:spPr>
          <a:xfrm>
            <a:off x="3853282" y="1426464"/>
            <a:ext cx="1437437" cy="402336"/>
          </a:xfrm>
          <a:prstGeom prst="rect">
            <a:avLst/>
          </a:prstGeom>
          <a:noFill/>
          <a:ln/>
        </p:spPr>
        <p:txBody>
          <a:bodyPr wrap="square" lIns="0" tIns="0" rIns="0" bIns="0" rtlCol="0" anchor="ctr"/>
          <a:lstStyle/>
          <a:p>
            <a:pPr marL="0" indent="0" algn="ctr">
              <a:buNone/>
            </a:pPr>
            <a:r>
              <a:rPr lang="en-US" sz="800" b="1" dirty="0">
                <a:solidFill>
                  <a:srgbClr val="56C7F2"/>
                </a:solidFill>
                <a:latin typeface="Arial" pitchFamily="34" charset="0"/>
                <a:ea typeface="Arial" pitchFamily="34" charset="-122"/>
                <a:cs typeface="Arial" pitchFamily="34" charset="-120"/>
              </a:rPr>
              <a:t>styles.css</a:t>
            </a:r>
            <a:endParaRPr lang="en-US" sz="800" dirty="0"/>
          </a:p>
        </p:txBody>
      </p:sp>
      <p:sp>
        <p:nvSpPr>
          <p:cNvPr id="15" name="Shape 13"/>
          <p:cNvSpPr/>
          <p:nvPr/>
        </p:nvSpPr>
        <p:spPr>
          <a:xfrm>
            <a:off x="5354726" y="1627632"/>
            <a:ext cx="109728" cy="0"/>
          </a:xfrm>
          <a:prstGeom prst="line">
            <a:avLst/>
          </a:prstGeom>
          <a:noFill/>
          <a:ln w="12700">
            <a:solidFill>
              <a:srgbClr val="3DDC97"/>
            </a:solidFill>
            <a:prstDash val="solid"/>
            <a:tailEnd type="triangle"/>
          </a:ln>
        </p:spPr>
        <p:txBody>
          <a:bodyPr/>
          <a:lstStyle/>
          <a:p>
            <a:endParaRPr lang="es-CO"/>
          </a:p>
        </p:txBody>
      </p:sp>
      <p:sp>
        <p:nvSpPr>
          <p:cNvPr id="16" name="Shape 14"/>
          <p:cNvSpPr/>
          <p:nvPr/>
        </p:nvSpPr>
        <p:spPr>
          <a:xfrm>
            <a:off x="5528462" y="1426464"/>
            <a:ext cx="1437437" cy="402336"/>
          </a:xfrm>
          <a:prstGeom prst="roundRect">
            <a:avLst>
              <a:gd name="adj" fmla="val 20455"/>
            </a:avLst>
          </a:prstGeom>
          <a:solidFill>
            <a:srgbClr val="1A2434"/>
          </a:solidFill>
          <a:ln w="12700">
            <a:solidFill>
              <a:srgbClr val="FFB86C"/>
            </a:solidFill>
            <a:prstDash val="solid"/>
          </a:ln>
        </p:spPr>
        <p:txBody>
          <a:bodyPr/>
          <a:lstStyle/>
          <a:p>
            <a:endParaRPr lang="es-CO"/>
          </a:p>
        </p:txBody>
      </p:sp>
      <p:sp>
        <p:nvSpPr>
          <p:cNvPr id="17" name="Text 15"/>
          <p:cNvSpPr txBox="1"/>
          <p:nvPr/>
        </p:nvSpPr>
        <p:spPr>
          <a:xfrm>
            <a:off x="5528462" y="1426464"/>
            <a:ext cx="1437437" cy="402336"/>
          </a:xfrm>
          <a:prstGeom prst="rect">
            <a:avLst/>
          </a:prstGeom>
          <a:noFill/>
          <a:ln/>
        </p:spPr>
        <p:txBody>
          <a:bodyPr wrap="square" lIns="0" tIns="0" rIns="0" bIns="0" rtlCol="0" anchor="ctr"/>
          <a:lstStyle/>
          <a:p>
            <a:pPr marL="0" indent="0" algn="ctr">
              <a:buNone/>
            </a:pPr>
            <a:r>
              <a:rPr lang="en-US" sz="800" b="1" dirty="0">
                <a:solidFill>
                  <a:srgbClr val="FFB86C"/>
                </a:solidFill>
                <a:latin typeface="Arial" pitchFamily="34" charset="0"/>
                <a:ea typeface="Arial" pitchFamily="34" charset="-122"/>
                <a:cs typeface="Arial" pitchFamily="34" charset="-120"/>
              </a:rPr>
              <a:t>POST /contacto</a:t>
            </a:r>
            <a:endParaRPr lang="en-US" sz="800" dirty="0"/>
          </a:p>
        </p:txBody>
      </p:sp>
      <p:sp>
        <p:nvSpPr>
          <p:cNvPr id="18" name="Shape 16"/>
          <p:cNvSpPr/>
          <p:nvPr/>
        </p:nvSpPr>
        <p:spPr>
          <a:xfrm>
            <a:off x="7029907" y="1627632"/>
            <a:ext cx="109728" cy="0"/>
          </a:xfrm>
          <a:prstGeom prst="line">
            <a:avLst/>
          </a:prstGeom>
          <a:noFill/>
          <a:ln w="12700">
            <a:solidFill>
              <a:srgbClr val="3DDC97"/>
            </a:solidFill>
            <a:prstDash val="solid"/>
            <a:tailEnd type="triangle"/>
          </a:ln>
        </p:spPr>
        <p:txBody>
          <a:bodyPr/>
          <a:lstStyle/>
          <a:p>
            <a:endParaRPr lang="es-CO"/>
          </a:p>
        </p:txBody>
      </p:sp>
      <p:sp>
        <p:nvSpPr>
          <p:cNvPr id="19" name="Shape 17"/>
          <p:cNvSpPr/>
          <p:nvPr/>
        </p:nvSpPr>
        <p:spPr>
          <a:xfrm>
            <a:off x="7203643" y="1426464"/>
            <a:ext cx="1437437" cy="402336"/>
          </a:xfrm>
          <a:prstGeom prst="roundRect">
            <a:avLst>
              <a:gd name="adj" fmla="val 20455"/>
            </a:avLst>
          </a:prstGeom>
          <a:solidFill>
            <a:srgbClr val="1A2434"/>
          </a:solidFill>
          <a:ln w="12700">
            <a:solidFill>
              <a:srgbClr val="FFB86C"/>
            </a:solidFill>
            <a:prstDash val="solid"/>
          </a:ln>
        </p:spPr>
        <p:txBody>
          <a:bodyPr/>
          <a:lstStyle/>
          <a:p>
            <a:endParaRPr lang="es-CO"/>
          </a:p>
        </p:txBody>
      </p:sp>
      <p:sp>
        <p:nvSpPr>
          <p:cNvPr id="20" name="Text 18"/>
          <p:cNvSpPr txBox="1"/>
          <p:nvPr/>
        </p:nvSpPr>
        <p:spPr>
          <a:xfrm>
            <a:off x="7203643" y="1426464"/>
            <a:ext cx="1437437" cy="402336"/>
          </a:xfrm>
          <a:prstGeom prst="rect">
            <a:avLst/>
          </a:prstGeom>
          <a:noFill/>
          <a:ln/>
        </p:spPr>
        <p:txBody>
          <a:bodyPr wrap="square" lIns="0" tIns="0" rIns="0" bIns="0" rtlCol="0" anchor="ctr"/>
          <a:lstStyle/>
          <a:p>
            <a:pPr marL="0" indent="0" algn="ctr">
              <a:buNone/>
            </a:pPr>
            <a:r>
              <a:rPr lang="en-US" sz="800" b="1" dirty="0">
                <a:solidFill>
                  <a:srgbClr val="FFB86C"/>
                </a:solidFill>
                <a:latin typeface="Arial" pitchFamily="34" charset="0"/>
                <a:ea typeface="Arial" pitchFamily="34" charset="-122"/>
                <a:cs typeface="Arial" pitchFamily="34" charset="-120"/>
              </a:rPr>
              <a:t>cuerpo HTTP</a:t>
            </a:r>
            <a:endParaRPr lang="en-US" sz="800" dirty="0"/>
          </a:p>
        </p:txBody>
      </p:sp>
      <p:sp>
        <p:nvSpPr>
          <p:cNvPr id="21" name="Shape 19"/>
          <p:cNvSpPr/>
          <p:nvPr/>
        </p:nvSpPr>
        <p:spPr>
          <a:xfrm>
            <a:off x="502920" y="1975104"/>
            <a:ext cx="1158240" cy="402336"/>
          </a:xfrm>
          <a:prstGeom prst="roundRect">
            <a:avLst>
              <a:gd name="adj" fmla="val 20455"/>
            </a:avLst>
          </a:prstGeom>
          <a:solidFill>
            <a:srgbClr val="1A2434"/>
          </a:solidFill>
          <a:ln w="12700">
            <a:solidFill>
              <a:srgbClr val="2B3B52"/>
            </a:solidFill>
            <a:prstDash val="solid"/>
          </a:ln>
        </p:spPr>
        <p:txBody>
          <a:bodyPr/>
          <a:lstStyle/>
          <a:p>
            <a:endParaRPr lang="es-CO"/>
          </a:p>
        </p:txBody>
      </p:sp>
      <p:sp>
        <p:nvSpPr>
          <p:cNvPr id="22" name="Text 20"/>
          <p:cNvSpPr txBox="1"/>
          <p:nvPr/>
        </p:nvSpPr>
        <p:spPr>
          <a:xfrm>
            <a:off x="502920" y="1975104"/>
            <a:ext cx="1158240" cy="402336"/>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Node.js</a:t>
            </a:r>
            <a:endParaRPr lang="en-US" sz="800" dirty="0"/>
          </a:p>
        </p:txBody>
      </p:sp>
      <p:sp>
        <p:nvSpPr>
          <p:cNvPr id="23" name="Shape 21"/>
          <p:cNvSpPr/>
          <p:nvPr/>
        </p:nvSpPr>
        <p:spPr>
          <a:xfrm>
            <a:off x="1725168" y="2176272"/>
            <a:ext cx="109728" cy="0"/>
          </a:xfrm>
          <a:prstGeom prst="line">
            <a:avLst/>
          </a:prstGeom>
          <a:noFill/>
          <a:ln w="12700">
            <a:solidFill>
              <a:srgbClr val="3DDC97"/>
            </a:solidFill>
            <a:prstDash val="solid"/>
            <a:tailEnd type="triangle"/>
          </a:ln>
        </p:spPr>
        <p:txBody>
          <a:bodyPr/>
          <a:lstStyle/>
          <a:p>
            <a:endParaRPr lang="es-CO"/>
          </a:p>
        </p:txBody>
      </p:sp>
      <p:sp>
        <p:nvSpPr>
          <p:cNvPr id="24" name="Shape 22"/>
          <p:cNvSpPr/>
          <p:nvPr/>
        </p:nvSpPr>
        <p:spPr>
          <a:xfrm>
            <a:off x="1898904" y="1975104"/>
            <a:ext cx="1158240" cy="402336"/>
          </a:xfrm>
          <a:prstGeom prst="roundRect">
            <a:avLst>
              <a:gd name="adj" fmla="val 20455"/>
            </a:avLst>
          </a:prstGeom>
          <a:solidFill>
            <a:srgbClr val="1A2434"/>
          </a:solidFill>
          <a:ln w="12700">
            <a:solidFill>
              <a:srgbClr val="56C7F2"/>
            </a:solidFill>
            <a:prstDash val="solid"/>
          </a:ln>
        </p:spPr>
        <p:txBody>
          <a:bodyPr/>
          <a:lstStyle/>
          <a:p>
            <a:endParaRPr lang="es-CO"/>
          </a:p>
        </p:txBody>
      </p:sp>
      <p:sp>
        <p:nvSpPr>
          <p:cNvPr id="25" name="Text 23"/>
          <p:cNvSpPr txBox="1"/>
          <p:nvPr/>
        </p:nvSpPr>
        <p:spPr>
          <a:xfrm>
            <a:off x="1898904" y="1975104"/>
            <a:ext cx="1158240" cy="402336"/>
          </a:xfrm>
          <a:prstGeom prst="rect">
            <a:avLst/>
          </a:prstGeom>
          <a:noFill/>
          <a:ln/>
        </p:spPr>
        <p:txBody>
          <a:bodyPr wrap="square" lIns="0" tIns="0" rIns="0" bIns="0" rtlCol="0" anchor="ctr"/>
          <a:lstStyle/>
          <a:p>
            <a:pPr marL="0" indent="0" algn="ctr">
              <a:buNone/>
            </a:pPr>
            <a:r>
              <a:rPr lang="en-US" sz="800" b="1" dirty="0">
                <a:solidFill>
                  <a:srgbClr val="56C7F2"/>
                </a:solidFill>
                <a:latin typeface="Arial" pitchFamily="34" charset="0"/>
                <a:ea typeface="Arial" pitchFamily="34" charset="-122"/>
                <a:cs typeface="Arial" pitchFamily="34" charset="-120"/>
              </a:rPr>
              <a:t>URLSearchParams</a:t>
            </a:r>
            <a:endParaRPr lang="en-US" sz="800" dirty="0"/>
          </a:p>
        </p:txBody>
      </p:sp>
      <p:sp>
        <p:nvSpPr>
          <p:cNvPr id="26" name="Shape 24"/>
          <p:cNvSpPr/>
          <p:nvPr/>
        </p:nvSpPr>
        <p:spPr>
          <a:xfrm>
            <a:off x="3121152" y="2176272"/>
            <a:ext cx="109728" cy="0"/>
          </a:xfrm>
          <a:prstGeom prst="line">
            <a:avLst/>
          </a:prstGeom>
          <a:noFill/>
          <a:ln w="12700">
            <a:solidFill>
              <a:srgbClr val="3DDC97"/>
            </a:solidFill>
            <a:prstDash val="solid"/>
            <a:tailEnd type="triangle"/>
          </a:ln>
        </p:spPr>
        <p:txBody>
          <a:bodyPr/>
          <a:lstStyle/>
          <a:p>
            <a:endParaRPr lang="es-CO"/>
          </a:p>
        </p:txBody>
      </p:sp>
      <p:sp>
        <p:nvSpPr>
          <p:cNvPr id="27" name="Shape 25"/>
          <p:cNvSpPr/>
          <p:nvPr/>
        </p:nvSpPr>
        <p:spPr>
          <a:xfrm>
            <a:off x="3294888" y="1975104"/>
            <a:ext cx="1158240" cy="402336"/>
          </a:xfrm>
          <a:prstGeom prst="roundRect">
            <a:avLst>
              <a:gd name="adj" fmla="val 20455"/>
            </a:avLst>
          </a:prstGeom>
          <a:solidFill>
            <a:srgbClr val="1A2434"/>
          </a:solidFill>
          <a:ln w="12700">
            <a:solidFill>
              <a:srgbClr val="FFB86C"/>
            </a:solidFill>
            <a:prstDash val="solid"/>
          </a:ln>
        </p:spPr>
        <p:txBody>
          <a:bodyPr/>
          <a:lstStyle/>
          <a:p>
            <a:endParaRPr lang="es-CO"/>
          </a:p>
        </p:txBody>
      </p:sp>
      <p:sp>
        <p:nvSpPr>
          <p:cNvPr id="28" name="Text 26"/>
          <p:cNvSpPr txBox="1"/>
          <p:nvPr/>
        </p:nvSpPr>
        <p:spPr>
          <a:xfrm>
            <a:off x="3294888" y="1975104"/>
            <a:ext cx="1158240" cy="402336"/>
          </a:xfrm>
          <a:prstGeom prst="rect">
            <a:avLst/>
          </a:prstGeom>
          <a:noFill/>
          <a:ln/>
        </p:spPr>
        <p:txBody>
          <a:bodyPr wrap="square" lIns="0" tIns="0" rIns="0" bIns="0" rtlCol="0" anchor="ctr"/>
          <a:lstStyle/>
          <a:p>
            <a:pPr marL="0" indent="0" algn="ctr">
              <a:buNone/>
            </a:pPr>
            <a:r>
              <a:rPr lang="en-US" sz="800" b="1" dirty="0">
                <a:solidFill>
                  <a:srgbClr val="FFB86C"/>
                </a:solidFill>
                <a:latin typeface="Arial" pitchFamily="34" charset="0"/>
                <a:ea typeface="Arial" pitchFamily="34" charset="-122"/>
                <a:cs typeface="Arial" pitchFamily="34" charset="-120"/>
              </a:rPr>
              <a:t>validación</a:t>
            </a:r>
            <a:endParaRPr lang="en-US" sz="800" dirty="0"/>
          </a:p>
        </p:txBody>
      </p:sp>
      <p:sp>
        <p:nvSpPr>
          <p:cNvPr id="29" name="Shape 27"/>
          <p:cNvSpPr/>
          <p:nvPr/>
        </p:nvSpPr>
        <p:spPr>
          <a:xfrm>
            <a:off x="4517136" y="2176272"/>
            <a:ext cx="109728" cy="0"/>
          </a:xfrm>
          <a:prstGeom prst="line">
            <a:avLst/>
          </a:prstGeom>
          <a:noFill/>
          <a:ln w="12700">
            <a:solidFill>
              <a:srgbClr val="3DDC97"/>
            </a:solidFill>
            <a:prstDash val="solid"/>
            <a:tailEnd type="triangle"/>
          </a:ln>
        </p:spPr>
        <p:txBody>
          <a:bodyPr/>
          <a:lstStyle/>
          <a:p>
            <a:endParaRPr lang="es-CO"/>
          </a:p>
        </p:txBody>
      </p:sp>
      <p:sp>
        <p:nvSpPr>
          <p:cNvPr id="30" name="Shape 28"/>
          <p:cNvSpPr/>
          <p:nvPr/>
        </p:nvSpPr>
        <p:spPr>
          <a:xfrm>
            <a:off x="4690872" y="1975104"/>
            <a:ext cx="1158240" cy="402336"/>
          </a:xfrm>
          <a:prstGeom prst="roundRect">
            <a:avLst>
              <a:gd name="adj" fmla="val 20455"/>
            </a:avLst>
          </a:prstGeom>
          <a:solidFill>
            <a:srgbClr val="1A2434"/>
          </a:solidFill>
          <a:ln w="12700">
            <a:solidFill>
              <a:srgbClr val="3DDC97"/>
            </a:solidFill>
            <a:prstDash val="solid"/>
          </a:ln>
        </p:spPr>
        <p:txBody>
          <a:bodyPr/>
          <a:lstStyle/>
          <a:p>
            <a:endParaRPr lang="es-CO"/>
          </a:p>
        </p:txBody>
      </p:sp>
      <p:sp>
        <p:nvSpPr>
          <p:cNvPr id="31" name="Text 29"/>
          <p:cNvSpPr txBox="1"/>
          <p:nvPr/>
        </p:nvSpPr>
        <p:spPr>
          <a:xfrm>
            <a:off x="4690872" y="1975104"/>
            <a:ext cx="1158240" cy="402336"/>
          </a:xfrm>
          <a:prstGeom prst="rect">
            <a:avLst/>
          </a:prstGeom>
          <a:noFill/>
          <a:ln/>
        </p:spPr>
        <p:txBody>
          <a:bodyPr wrap="square" lIns="0" tIns="0" rIns="0" bIns="0" rtlCol="0" anchor="ctr"/>
          <a:lstStyle/>
          <a:p>
            <a:pPr marL="0" indent="0" algn="ctr">
              <a:buNone/>
            </a:pPr>
            <a:r>
              <a:rPr lang="en-US" sz="800" b="1" dirty="0">
                <a:solidFill>
                  <a:srgbClr val="3DDC97"/>
                </a:solidFill>
                <a:latin typeface="Arial" pitchFamily="34" charset="0"/>
                <a:ea typeface="Arial" pitchFamily="34" charset="-122"/>
                <a:cs typeface="Arial" pitchFamily="34" charset="-120"/>
              </a:rPr>
              <a:t>INSERT</a:t>
            </a:r>
            <a:endParaRPr lang="en-US" sz="800" dirty="0"/>
          </a:p>
        </p:txBody>
      </p:sp>
      <p:sp>
        <p:nvSpPr>
          <p:cNvPr id="32" name="Shape 30"/>
          <p:cNvSpPr/>
          <p:nvPr/>
        </p:nvSpPr>
        <p:spPr>
          <a:xfrm>
            <a:off x="5913120" y="2176272"/>
            <a:ext cx="109728" cy="0"/>
          </a:xfrm>
          <a:prstGeom prst="line">
            <a:avLst/>
          </a:prstGeom>
          <a:noFill/>
          <a:ln w="12700">
            <a:solidFill>
              <a:srgbClr val="3DDC97"/>
            </a:solidFill>
            <a:prstDash val="solid"/>
            <a:tailEnd type="triangle"/>
          </a:ln>
        </p:spPr>
        <p:txBody>
          <a:bodyPr/>
          <a:lstStyle/>
          <a:p>
            <a:endParaRPr lang="es-CO"/>
          </a:p>
        </p:txBody>
      </p:sp>
      <p:sp>
        <p:nvSpPr>
          <p:cNvPr id="33" name="Shape 31"/>
          <p:cNvSpPr/>
          <p:nvPr/>
        </p:nvSpPr>
        <p:spPr>
          <a:xfrm>
            <a:off x="6086856" y="1975104"/>
            <a:ext cx="1158240" cy="402336"/>
          </a:xfrm>
          <a:prstGeom prst="roundRect">
            <a:avLst>
              <a:gd name="adj" fmla="val 20455"/>
            </a:avLst>
          </a:prstGeom>
          <a:solidFill>
            <a:srgbClr val="1A2434"/>
          </a:solidFill>
          <a:ln w="12700">
            <a:solidFill>
              <a:srgbClr val="3DDC97"/>
            </a:solidFill>
            <a:prstDash val="solid"/>
          </a:ln>
        </p:spPr>
        <p:txBody>
          <a:bodyPr/>
          <a:lstStyle/>
          <a:p>
            <a:endParaRPr lang="es-CO"/>
          </a:p>
        </p:txBody>
      </p:sp>
      <p:sp>
        <p:nvSpPr>
          <p:cNvPr id="34" name="Text 32"/>
          <p:cNvSpPr txBox="1"/>
          <p:nvPr/>
        </p:nvSpPr>
        <p:spPr>
          <a:xfrm>
            <a:off x="6086856" y="1975104"/>
            <a:ext cx="1158240" cy="402336"/>
          </a:xfrm>
          <a:prstGeom prst="rect">
            <a:avLst/>
          </a:prstGeom>
          <a:noFill/>
          <a:ln/>
        </p:spPr>
        <p:txBody>
          <a:bodyPr wrap="square" lIns="0" tIns="0" rIns="0" bIns="0" rtlCol="0" anchor="ctr"/>
          <a:lstStyle/>
          <a:p>
            <a:pPr marL="0" indent="0" algn="ctr">
              <a:buNone/>
            </a:pPr>
            <a:r>
              <a:rPr lang="en-US" sz="800" b="1" dirty="0">
                <a:solidFill>
                  <a:srgbClr val="3DDC97"/>
                </a:solidFill>
                <a:latin typeface="Arial" pitchFamily="34" charset="0"/>
                <a:ea typeface="Arial" pitchFamily="34" charset="-122"/>
                <a:cs typeface="Arial" pitchFamily="34" charset="-120"/>
              </a:rPr>
              <a:t>contactos.db</a:t>
            </a:r>
            <a:endParaRPr lang="en-US" sz="800" dirty="0"/>
          </a:p>
        </p:txBody>
      </p:sp>
      <p:sp>
        <p:nvSpPr>
          <p:cNvPr id="35" name="Shape 33"/>
          <p:cNvSpPr/>
          <p:nvPr/>
        </p:nvSpPr>
        <p:spPr>
          <a:xfrm>
            <a:off x="7309104" y="2176272"/>
            <a:ext cx="109728" cy="0"/>
          </a:xfrm>
          <a:prstGeom prst="line">
            <a:avLst/>
          </a:prstGeom>
          <a:noFill/>
          <a:ln w="12700">
            <a:solidFill>
              <a:srgbClr val="3DDC97"/>
            </a:solidFill>
            <a:prstDash val="solid"/>
            <a:tailEnd type="triangle"/>
          </a:ln>
        </p:spPr>
        <p:txBody>
          <a:bodyPr/>
          <a:lstStyle/>
          <a:p>
            <a:endParaRPr lang="es-CO"/>
          </a:p>
        </p:txBody>
      </p:sp>
      <p:sp>
        <p:nvSpPr>
          <p:cNvPr id="36" name="Shape 34"/>
          <p:cNvSpPr/>
          <p:nvPr/>
        </p:nvSpPr>
        <p:spPr>
          <a:xfrm>
            <a:off x="7482840" y="1975104"/>
            <a:ext cx="1158240" cy="402336"/>
          </a:xfrm>
          <a:prstGeom prst="roundRect">
            <a:avLst>
              <a:gd name="adj" fmla="val 20455"/>
            </a:avLst>
          </a:prstGeom>
          <a:solidFill>
            <a:srgbClr val="1A2434"/>
          </a:solidFill>
          <a:ln w="12700">
            <a:solidFill>
              <a:srgbClr val="56C7F2"/>
            </a:solidFill>
            <a:prstDash val="solid"/>
          </a:ln>
        </p:spPr>
        <p:txBody>
          <a:bodyPr/>
          <a:lstStyle/>
          <a:p>
            <a:endParaRPr lang="es-CO"/>
          </a:p>
        </p:txBody>
      </p:sp>
      <p:sp>
        <p:nvSpPr>
          <p:cNvPr id="37" name="Text 35"/>
          <p:cNvSpPr txBox="1"/>
          <p:nvPr/>
        </p:nvSpPr>
        <p:spPr>
          <a:xfrm>
            <a:off x="7482840" y="1975104"/>
            <a:ext cx="1158240" cy="402336"/>
          </a:xfrm>
          <a:prstGeom prst="rect">
            <a:avLst/>
          </a:prstGeom>
          <a:noFill/>
          <a:ln/>
        </p:spPr>
        <p:txBody>
          <a:bodyPr wrap="square" lIns="0" tIns="0" rIns="0" bIns="0" rtlCol="0" anchor="ctr"/>
          <a:lstStyle/>
          <a:p>
            <a:pPr marL="0" indent="0" algn="ctr">
              <a:buNone/>
            </a:pPr>
            <a:r>
              <a:rPr lang="en-US" sz="800" b="1" dirty="0">
                <a:solidFill>
                  <a:srgbClr val="56C7F2"/>
                </a:solidFill>
                <a:latin typeface="Arial" pitchFamily="34" charset="0"/>
                <a:ea typeface="Arial" pitchFamily="34" charset="-122"/>
                <a:cs typeface="Arial" pitchFamily="34" charset="-120"/>
              </a:rPr>
              <a:t>201 Created</a:t>
            </a:r>
            <a:endParaRPr lang="en-US" sz="800" dirty="0"/>
          </a:p>
        </p:txBody>
      </p:sp>
      <p:sp>
        <p:nvSpPr>
          <p:cNvPr id="38" name="Shape 36"/>
          <p:cNvSpPr/>
          <p:nvPr/>
        </p:nvSpPr>
        <p:spPr>
          <a:xfrm>
            <a:off x="502920" y="2615184"/>
            <a:ext cx="1554480" cy="1225296"/>
          </a:xfrm>
          <a:prstGeom prst="roundRect">
            <a:avLst>
              <a:gd name="adj" fmla="val 5970"/>
            </a:avLst>
          </a:prstGeom>
          <a:solidFill>
            <a:srgbClr val="1A2434"/>
          </a:solidFill>
          <a:ln w="12700">
            <a:solidFill>
              <a:srgbClr val="3DDC97"/>
            </a:solidFill>
            <a:prstDash val="solid"/>
          </a:ln>
        </p:spPr>
        <p:txBody>
          <a:bodyPr/>
          <a:lstStyle/>
          <a:p>
            <a:endParaRPr lang="es-CO"/>
          </a:p>
        </p:txBody>
      </p:sp>
      <p:sp>
        <p:nvSpPr>
          <p:cNvPr id="39" name="Text 37"/>
          <p:cNvSpPr txBox="1"/>
          <p:nvPr/>
        </p:nvSpPr>
        <p:spPr>
          <a:xfrm>
            <a:off x="649224" y="2743200"/>
            <a:ext cx="1261872" cy="219456"/>
          </a:xfrm>
          <a:prstGeom prst="rect">
            <a:avLst/>
          </a:prstGeom>
          <a:noFill/>
          <a:ln/>
        </p:spPr>
        <p:txBody>
          <a:bodyPr wrap="square" lIns="0" tIns="0" rIns="0" bIns="0" rtlCol="0" anchor="ctr"/>
          <a:lstStyle/>
          <a:p>
            <a:pPr marL="0" indent="0">
              <a:buNone/>
            </a:pPr>
            <a:r>
              <a:rPr lang="en-US" sz="1000" b="1" dirty="0">
                <a:solidFill>
                  <a:srgbClr val="3DDC97"/>
                </a:solidFill>
                <a:latin typeface="Arial" pitchFamily="34" charset="0"/>
                <a:ea typeface="Arial" pitchFamily="34" charset="-122"/>
                <a:cs typeface="Arial" pitchFamily="34" charset="-120"/>
              </a:rPr>
              <a:t>El navegador</a:t>
            </a:r>
            <a:endParaRPr lang="en-US" sz="1000" dirty="0"/>
          </a:p>
        </p:txBody>
      </p:sp>
      <p:sp>
        <p:nvSpPr>
          <p:cNvPr id="40" name="Text 38"/>
          <p:cNvSpPr txBox="1"/>
          <p:nvPr/>
        </p:nvSpPr>
        <p:spPr>
          <a:xfrm>
            <a:off x="649224" y="2999232"/>
            <a:ext cx="1280160" cy="731520"/>
          </a:xfrm>
          <a:prstGeom prst="rect">
            <a:avLst/>
          </a:prstGeom>
          <a:noFill/>
          <a:ln/>
        </p:spPr>
        <p:txBody>
          <a:bodyPr wrap="square" lIns="0" tIns="0" rIns="0" bIns="0" rtlCol="0" anchor="t"/>
          <a:lstStyle/>
          <a:p>
            <a:pPr marL="0" indent="0">
              <a:buNone/>
            </a:pPr>
            <a:r>
              <a:rPr lang="en-US" sz="900" dirty="0">
                <a:solidFill>
                  <a:srgbClr val="E8EEF6"/>
                </a:solidFill>
                <a:latin typeface="Calibri" pitchFamily="34" charset="0"/>
                <a:ea typeface="Calibri" pitchFamily="34" charset="-122"/>
                <a:cs typeface="Calibri" pitchFamily="34" charset="-120"/>
              </a:rPr>
              <a:t>Captura los datos y presenta el documento con estilos.</a:t>
            </a:r>
            <a:endParaRPr lang="en-US" sz="900" dirty="0"/>
          </a:p>
        </p:txBody>
      </p:sp>
      <p:sp>
        <p:nvSpPr>
          <p:cNvPr id="41" name="Shape 39"/>
          <p:cNvSpPr/>
          <p:nvPr/>
        </p:nvSpPr>
        <p:spPr>
          <a:xfrm>
            <a:off x="2148840" y="2615184"/>
            <a:ext cx="1554480" cy="1225296"/>
          </a:xfrm>
          <a:prstGeom prst="roundRect">
            <a:avLst>
              <a:gd name="adj" fmla="val 5970"/>
            </a:avLst>
          </a:prstGeom>
          <a:solidFill>
            <a:srgbClr val="1A2434"/>
          </a:solidFill>
          <a:ln w="12700">
            <a:solidFill>
              <a:srgbClr val="56C7F2"/>
            </a:solidFill>
            <a:prstDash val="solid"/>
          </a:ln>
        </p:spPr>
        <p:txBody>
          <a:bodyPr/>
          <a:lstStyle/>
          <a:p>
            <a:endParaRPr lang="es-CO"/>
          </a:p>
        </p:txBody>
      </p:sp>
      <p:sp>
        <p:nvSpPr>
          <p:cNvPr id="42" name="Text 40"/>
          <p:cNvSpPr txBox="1"/>
          <p:nvPr/>
        </p:nvSpPr>
        <p:spPr>
          <a:xfrm>
            <a:off x="2295144" y="2743200"/>
            <a:ext cx="1261872" cy="219456"/>
          </a:xfrm>
          <a:prstGeom prst="rect">
            <a:avLst/>
          </a:prstGeom>
          <a:noFill/>
          <a:ln/>
        </p:spPr>
        <p:txBody>
          <a:bodyPr wrap="square" lIns="0" tIns="0" rIns="0" bIns="0" rtlCol="0" anchor="ctr"/>
          <a:lstStyle/>
          <a:p>
            <a:pPr marL="0" indent="0">
              <a:buNone/>
            </a:pPr>
            <a:r>
              <a:rPr lang="en-US" sz="1000" b="1" dirty="0">
                <a:solidFill>
                  <a:srgbClr val="56C7F2"/>
                </a:solidFill>
                <a:latin typeface="Arial" pitchFamily="34" charset="0"/>
                <a:ea typeface="Arial" pitchFamily="34" charset="-122"/>
                <a:cs typeface="Arial" pitchFamily="34" charset="-120"/>
              </a:rPr>
              <a:t>HTTP</a:t>
            </a:r>
            <a:endParaRPr lang="en-US" sz="1000" dirty="0"/>
          </a:p>
        </p:txBody>
      </p:sp>
      <p:sp>
        <p:nvSpPr>
          <p:cNvPr id="43" name="Text 41"/>
          <p:cNvSpPr txBox="1"/>
          <p:nvPr/>
        </p:nvSpPr>
        <p:spPr>
          <a:xfrm>
            <a:off x="2295144" y="2999232"/>
            <a:ext cx="1280160" cy="731520"/>
          </a:xfrm>
          <a:prstGeom prst="rect">
            <a:avLst/>
          </a:prstGeom>
          <a:noFill/>
          <a:ln/>
        </p:spPr>
        <p:txBody>
          <a:bodyPr wrap="square" lIns="0" tIns="0" rIns="0" bIns="0" rtlCol="0" anchor="t"/>
          <a:lstStyle/>
          <a:p>
            <a:pPr marL="0" indent="0">
              <a:buNone/>
            </a:pPr>
            <a:r>
              <a:rPr lang="en-US" sz="900" dirty="0">
                <a:solidFill>
                  <a:srgbClr val="E8EEF6"/>
                </a:solidFill>
                <a:latin typeface="Calibri" pitchFamily="34" charset="0"/>
                <a:ea typeface="Calibri" pitchFamily="34" charset="-122"/>
                <a:cs typeface="Calibri" pitchFamily="34" charset="-120"/>
              </a:rPr>
              <a:t>Transporta la petición y su cuerpo hacia el servidor.</a:t>
            </a:r>
            <a:endParaRPr lang="en-US" sz="900" dirty="0"/>
          </a:p>
        </p:txBody>
      </p:sp>
      <p:sp>
        <p:nvSpPr>
          <p:cNvPr id="44" name="Shape 42"/>
          <p:cNvSpPr/>
          <p:nvPr/>
        </p:nvSpPr>
        <p:spPr>
          <a:xfrm>
            <a:off x="3794760" y="2615184"/>
            <a:ext cx="1554480" cy="1225296"/>
          </a:xfrm>
          <a:prstGeom prst="roundRect">
            <a:avLst>
              <a:gd name="adj" fmla="val 5970"/>
            </a:avLst>
          </a:prstGeom>
          <a:solidFill>
            <a:srgbClr val="1A2434"/>
          </a:solidFill>
          <a:ln w="12700">
            <a:solidFill>
              <a:srgbClr val="FFB86C"/>
            </a:solidFill>
            <a:prstDash val="solid"/>
          </a:ln>
        </p:spPr>
        <p:txBody>
          <a:bodyPr/>
          <a:lstStyle/>
          <a:p>
            <a:endParaRPr lang="es-CO"/>
          </a:p>
        </p:txBody>
      </p:sp>
      <p:sp>
        <p:nvSpPr>
          <p:cNvPr id="45" name="Text 43"/>
          <p:cNvSpPr txBox="1"/>
          <p:nvPr/>
        </p:nvSpPr>
        <p:spPr>
          <a:xfrm>
            <a:off x="3941064" y="2743200"/>
            <a:ext cx="1261872" cy="219456"/>
          </a:xfrm>
          <a:prstGeom prst="rect">
            <a:avLst/>
          </a:prstGeom>
          <a:noFill/>
          <a:ln/>
        </p:spPr>
        <p:txBody>
          <a:bodyPr wrap="square" lIns="0" tIns="0" rIns="0" bIns="0" rtlCol="0" anchor="ctr"/>
          <a:lstStyle/>
          <a:p>
            <a:pPr marL="0" indent="0">
              <a:buNone/>
            </a:pPr>
            <a:r>
              <a:rPr lang="en-US" sz="1000" b="1" dirty="0">
                <a:solidFill>
                  <a:srgbClr val="FFB86C"/>
                </a:solidFill>
                <a:latin typeface="Arial" pitchFamily="34" charset="0"/>
                <a:ea typeface="Arial" pitchFamily="34" charset="-122"/>
                <a:cs typeface="Arial" pitchFamily="34" charset="-120"/>
              </a:rPr>
              <a:t>Node.js</a:t>
            </a:r>
            <a:endParaRPr lang="en-US" sz="1000" dirty="0"/>
          </a:p>
        </p:txBody>
      </p:sp>
      <p:sp>
        <p:nvSpPr>
          <p:cNvPr id="46" name="Text 44"/>
          <p:cNvSpPr txBox="1"/>
          <p:nvPr/>
        </p:nvSpPr>
        <p:spPr>
          <a:xfrm>
            <a:off x="3941064" y="2999232"/>
            <a:ext cx="1280160" cy="731520"/>
          </a:xfrm>
          <a:prstGeom prst="rect">
            <a:avLst/>
          </a:prstGeom>
          <a:noFill/>
          <a:ln/>
        </p:spPr>
        <p:txBody>
          <a:bodyPr wrap="square" lIns="0" tIns="0" rIns="0" bIns="0" rtlCol="0" anchor="t"/>
          <a:lstStyle/>
          <a:p>
            <a:pPr marL="0" indent="0">
              <a:buNone/>
            </a:pPr>
            <a:r>
              <a:rPr lang="en-US" sz="900" dirty="0">
                <a:solidFill>
                  <a:srgbClr val="E8EEF6"/>
                </a:solidFill>
                <a:latin typeface="Calibri" pitchFamily="34" charset="0"/>
                <a:ea typeface="Calibri" pitchFamily="34" charset="-122"/>
                <a:cs typeface="Calibri" pitchFamily="34" charset="-120"/>
              </a:rPr>
              <a:t>Interpreta el cuerpo, valida y decide la respuesta.</a:t>
            </a:r>
            <a:endParaRPr lang="en-US" sz="900" dirty="0"/>
          </a:p>
        </p:txBody>
      </p:sp>
      <p:sp>
        <p:nvSpPr>
          <p:cNvPr id="47" name="Shape 45"/>
          <p:cNvSpPr/>
          <p:nvPr/>
        </p:nvSpPr>
        <p:spPr>
          <a:xfrm>
            <a:off x="5440680" y="2615184"/>
            <a:ext cx="1554480" cy="1225296"/>
          </a:xfrm>
          <a:prstGeom prst="roundRect">
            <a:avLst>
              <a:gd name="adj" fmla="val 5970"/>
            </a:avLst>
          </a:prstGeom>
          <a:solidFill>
            <a:srgbClr val="1A2434"/>
          </a:solidFill>
          <a:ln w="12700">
            <a:solidFill>
              <a:srgbClr val="3DDC97"/>
            </a:solidFill>
            <a:prstDash val="solid"/>
          </a:ln>
        </p:spPr>
        <p:txBody>
          <a:bodyPr/>
          <a:lstStyle/>
          <a:p>
            <a:endParaRPr lang="es-CO"/>
          </a:p>
        </p:txBody>
      </p:sp>
      <p:sp>
        <p:nvSpPr>
          <p:cNvPr id="48" name="Text 46"/>
          <p:cNvSpPr txBox="1"/>
          <p:nvPr/>
        </p:nvSpPr>
        <p:spPr>
          <a:xfrm>
            <a:off x="5586984" y="2743200"/>
            <a:ext cx="1261872" cy="219456"/>
          </a:xfrm>
          <a:prstGeom prst="rect">
            <a:avLst/>
          </a:prstGeom>
          <a:noFill/>
          <a:ln/>
        </p:spPr>
        <p:txBody>
          <a:bodyPr wrap="square" lIns="0" tIns="0" rIns="0" bIns="0" rtlCol="0" anchor="ctr"/>
          <a:lstStyle/>
          <a:p>
            <a:pPr marL="0" indent="0">
              <a:buNone/>
            </a:pPr>
            <a:r>
              <a:rPr lang="en-US" sz="1000" b="1" dirty="0">
                <a:solidFill>
                  <a:srgbClr val="3DDC97"/>
                </a:solidFill>
                <a:latin typeface="Arial" pitchFamily="34" charset="0"/>
                <a:ea typeface="Arial" pitchFamily="34" charset="-122"/>
                <a:cs typeface="Arial" pitchFamily="34" charset="-120"/>
              </a:rPr>
              <a:t>SQL</a:t>
            </a:r>
            <a:endParaRPr lang="en-US" sz="1000" dirty="0"/>
          </a:p>
        </p:txBody>
      </p:sp>
      <p:sp>
        <p:nvSpPr>
          <p:cNvPr id="49" name="Text 47"/>
          <p:cNvSpPr txBox="1"/>
          <p:nvPr/>
        </p:nvSpPr>
        <p:spPr>
          <a:xfrm>
            <a:off x="5586984" y="2999232"/>
            <a:ext cx="1280160" cy="731520"/>
          </a:xfrm>
          <a:prstGeom prst="rect">
            <a:avLst/>
          </a:prstGeom>
          <a:noFill/>
          <a:ln/>
        </p:spPr>
        <p:txBody>
          <a:bodyPr wrap="square" lIns="0" tIns="0" rIns="0" bIns="0" rtlCol="0" anchor="t"/>
          <a:lstStyle/>
          <a:p>
            <a:pPr marL="0" indent="0">
              <a:buNone/>
            </a:pPr>
            <a:r>
              <a:rPr lang="en-US" sz="900" dirty="0">
                <a:solidFill>
                  <a:srgbClr val="E8EEF6"/>
                </a:solidFill>
                <a:latin typeface="Calibri" pitchFamily="34" charset="0"/>
                <a:ea typeface="Calibri" pitchFamily="34" charset="-122"/>
                <a:cs typeface="Calibri" pitchFamily="34" charset="-120"/>
              </a:rPr>
              <a:t>Expresa la operación que debe realizarse sobre los datos.</a:t>
            </a:r>
            <a:endParaRPr lang="en-US" sz="900" dirty="0"/>
          </a:p>
        </p:txBody>
      </p:sp>
      <p:sp>
        <p:nvSpPr>
          <p:cNvPr id="50" name="Shape 48"/>
          <p:cNvSpPr/>
          <p:nvPr/>
        </p:nvSpPr>
        <p:spPr>
          <a:xfrm>
            <a:off x="7086600" y="2615184"/>
            <a:ext cx="1554480" cy="1225296"/>
          </a:xfrm>
          <a:prstGeom prst="roundRect">
            <a:avLst>
              <a:gd name="adj" fmla="val 5970"/>
            </a:avLst>
          </a:prstGeom>
          <a:solidFill>
            <a:srgbClr val="1A2434"/>
          </a:solidFill>
          <a:ln w="12700">
            <a:solidFill>
              <a:srgbClr val="56C7F2"/>
            </a:solidFill>
            <a:prstDash val="solid"/>
          </a:ln>
        </p:spPr>
        <p:txBody>
          <a:bodyPr/>
          <a:lstStyle/>
          <a:p>
            <a:endParaRPr lang="es-CO"/>
          </a:p>
        </p:txBody>
      </p:sp>
      <p:sp>
        <p:nvSpPr>
          <p:cNvPr id="51" name="Text 49"/>
          <p:cNvSpPr txBox="1"/>
          <p:nvPr/>
        </p:nvSpPr>
        <p:spPr>
          <a:xfrm>
            <a:off x="7232904" y="2743200"/>
            <a:ext cx="1261872" cy="219456"/>
          </a:xfrm>
          <a:prstGeom prst="rect">
            <a:avLst/>
          </a:prstGeom>
          <a:noFill/>
          <a:ln/>
        </p:spPr>
        <p:txBody>
          <a:bodyPr wrap="square" lIns="0" tIns="0" rIns="0" bIns="0" rtlCol="0" anchor="ctr"/>
          <a:lstStyle/>
          <a:p>
            <a:pPr marL="0" indent="0">
              <a:buNone/>
            </a:pPr>
            <a:r>
              <a:rPr lang="en-US" sz="1000" b="1" dirty="0">
                <a:solidFill>
                  <a:srgbClr val="56C7F2"/>
                </a:solidFill>
                <a:latin typeface="Arial" pitchFamily="34" charset="0"/>
                <a:ea typeface="Arial" pitchFamily="34" charset="-122"/>
                <a:cs typeface="Arial" pitchFamily="34" charset="-120"/>
              </a:rPr>
              <a:t>SQLite</a:t>
            </a:r>
            <a:endParaRPr lang="en-US" sz="1000" dirty="0"/>
          </a:p>
        </p:txBody>
      </p:sp>
      <p:sp>
        <p:nvSpPr>
          <p:cNvPr id="52" name="Text 50"/>
          <p:cNvSpPr txBox="1"/>
          <p:nvPr/>
        </p:nvSpPr>
        <p:spPr>
          <a:xfrm>
            <a:off x="7232904" y="2999232"/>
            <a:ext cx="1280160" cy="731520"/>
          </a:xfrm>
          <a:prstGeom prst="rect">
            <a:avLst/>
          </a:prstGeom>
          <a:noFill/>
          <a:ln/>
        </p:spPr>
        <p:txBody>
          <a:bodyPr wrap="square" lIns="0" tIns="0" rIns="0" bIns="0" rtlCol="0" anchor="t"/>
          <a:lstStyle/>
          <a:p>
            <a:pPr marL="0" indent="0">
              <a:buNone/>
            </a:pPr>
            <a:r>
              <a:rPr lang="en-US" sz="900" dirty="0">
                <a:solidFill>
                  <a:srgbClr val="E8EEF6"/>
                </a:solidFill>
                <a:latin typeface="Calibri" pitchFamily="34" charset="0"/>
                <a:ea typeface="Calibri" pitchFamily="34" charset="-122"/>
                <a:cs typeface="Calibri" pitchFamily="34" charset="-120"/>
              </a:rPr>
              <a:t>Conserva el registro en un archivo del sistema.</a:t>
            </a:r>
            <a:endParaRPr lang="en-US" sz="900" dirty="0"/>
          </a:p>
        </p:txBody>
      </p:sp>
      <p:sp>
        <p:nvSpPr>
          <p:cNvPr id="53" name="Text 51"/>
          <p:cNvSpPr txBox="1"/>
          <p:nvPr/>
        </p:nvSpPr>
        <p:spPr>
          <a:xfrm>
            <a:off x="502920" y="3968496"/>
            <a:ext cx="8138160" cy="310896"/>
          </a:xfrm>
          <a:prstGeom prst="rect">
            <a:avLst/>
          </a:prstGeom>
          <a:noFill/>
          <a:ln/>
        </p:spPr>
        <p:txBody>
          <a:bodyPr wrap="square" lIns="0" tIns="0" rIns="0" bIns="0" rtlCol="0" anchor="ctr"/>
          <a:lstStyle/>
          <a:p>
            <a:pPr marL="0" indent="0">
              <a:buNone/>
            </a:pPr>
            <a:r>
              <a:rPr lang="en-US" sz="1100" i="1" dirty="0">
                <a:solidFill>
                  <a:srgbClr val="93A5BD"/>
                </a:solidFill>
                <a:latin typeface="Calibri" pitchFamily="34" charset="0"/>
                <a:ea typeface="Calibri" pitchFamily="34" charset="-122"/>
                <a:cs typeface="Calibri" pitchFamily="34" charset="-120"/>
              </a:rPr>
              <a:t>Cada capa cumple una responsabilidad distinta: ninguna sustituye a las otras y todas participan en la misma operación.</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0A101B"/>
        </a:solidFill>
        <a:effectLst/>
      </p:bgPr>
    </p:bg>
    <p:spTree>
      <p:nvGrpSpPr>
        <p:cNvPr id="1" name=""/>
        <p:cNvGrpSpPr/>
        <p:nvPr/>
      </p:nvGrpSpPr>
      <p:grpSpPr>
        <a:xfrm>
          <a:off x="0" y="0"/>
          <a:ext cx="0" cy="0"/>
          <a:chOff x="0" y="0"/>
          <a:chExt cx="0" cy="0"/>
        </a:xfrm>
      </p:grpSpPr>
      <p:sp>
        <p:nvSpPr>
          <p:cNvPr id="2" name="Shape 0"/>
          <p:cNvSpPr/>
          <p:nvPr/>
        </p:nvSpPr>
        <p:spPr>
          <a:xfrm>
            <a:off x="502920" y="365760"/>
            <a:ext cx="777240" cy="228600"/>
          </a:xfrm>
          <a:prstGeom prst="roundRect">
            <a:avLst>
              <a:gd name="adj" fmla="val 48000"/>
            </a:avLst>
          </a:prstGeom>
          <a:solidFill>
            <a:srgbClr val="132A24"/>
          </a:solidFill>
          <a:ln w="9525">
            <a:solidFill>
              <a:srgbClr val="3DDC97"/>
            </a:solidFill>
            <a:prstDash val="solid"/>
          </a:ln>
        </p:spPr>
        <p:txBody>
          <a:bodyPr/>
          <a:lstStyle/>
          <a:p>
            <a:endParaRPr lang="es-CO"/>
          </a:p>
        </p:txBody>
      </p:sp>
      <p:sp>
        <p:nvSpPr>
          <p:cNvPr id="3" name="Text 1"/>
          <p:cNvSpPr txBox="1"/>
          <p:nvPr/>
        </p:nvSpPr>
        <p:spPr>
          <a:xfrm>
            <a:off x="502920" y="365760"/>
            <a:ext cx="777240" cy="228600"/>
          </a:xfrm>
          <a:prstGeom prst="rect">
            <a:avLst/>
          </a:prstGeom>
          <a:noFill/>
          <a:ln/>
        </p:spPr>
        <p:txBody>
          <a:bodyPr wrap="square" lIns="0" tIns="0" rIns="0" bIns="0" rtlCol="0" anchor="ctr"/>
          <a:lstStyle/>
          <a:p>
            <a:pPr marL="0" indent="0" algn="ctr">
              <a:buNone/>
            </a:pPr>
            <a:r>
              <a:rPr lang="en-US" sz="850" b="1" dirty="0">
                <a:solidFill>
                  <a:srgbClr val="3DDC97"/>
                </a:solidFill>
                <a:latin typeface="Arial" pitchFamily="34" charset="0"/>
                <a:ea typeface="Arial" pitchFamily="34" charset="-122"/>
                <a:cs typeface="Arial" pitchFamily="34" charset="-120"/>
              </a:rPr>
              <a:t>CIERRE</a:t>
            </a:r>
            <a:endParaRPr lang="en-US" sz="850" dirty="0"/>
          </a:p>
        </p:txBody>
      </p:sp>
      <p:sp>
        <p:nvSpPr>
          <p:cNvPr id="4" name="Text 2"/>
          <p:cNvSpPr txBox="1"/>
          <p:nvPr/>
        </p:nvSpPr>
        <p:spPr>
          <a:xfrm>
            <a:off x="475488" y="658368"/>
            <a:ext cx="8138160" cy="438912"/>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Los datos ya no solamente llegan: ahora permanecen</a:t>
            </a:r>
            <a:endParaRPr lang="en-US" sz="2300" dirty="0"/>
          </a:p>
        </p:txBody>
      </p:sp>
      <p:sp>
        <p:nvSpPr>
          <p:cNvPr id="5" name="Text 3"/>
          <p:cNvSpPr txBox="1"/>
          <p:nvPr/>
        </p:nvSpPr>
        <p:spPr>
          <a:xfrm>
            <a:off x="6309360" y="4718304"/>
            <a:ext cx="2331720" cy="201168"/>
          </a:xfrm>
          <a:prstGeom prst="rect">
            <a:avLst/>
          </a:prstGeom>
          <a:noFill/>
          <a:ln/>
        </p:spPr>
        <p:txBody>
          <a:bodyPr wrap="square" lIns="0" tIns="0" rIns="0" bIns="0" rtlCol="0" anchor="ctr"/>
          <a:lstStyle/>
          <a:p>
            <a:pPr marL="0" indent="0" algn="r">
              <a:buNone/>
            </a:pPr>
            <a:r>
              <a:rPr lang="en-US" sz="800" dirty="0">
                <a:solidFill>
                  <a:srgbClr val="6C7E96"/>
                </a:solidFill>
                <a:latin typeface="Arial" pitchFamily="34" charset="0"/>
                <a:ea typeface="Arial" pitchFamily="34" charset="-122"/>
                <a:cs typeface="Arial" pitchFamily="34" charset="-120"/>
              </a:rPr>
              <a:t>Sesión 03  ·  25 / 25</a:t>
            </a:r>
            <a:endParaRPr lang="en-US" sz="800" dirty="0"/>
          </a:p>
        </p:txBody>
      </p:sp>
      <p:sp>
        <p:nvSpPr>
          <p:cNvPr id="6" name="Shape 4"/>
          <p:cNvSpPr/>
          <p:nvPr/>
        </p:nvSpPr>
        <p:spPr>
          <a:xfrm>
            <a:off x="502920" y="1188720"/>
            <a:ext cx="1554480" cy="329184"/>
          </a:xfrm>
          <a:prstGeom prst="roundRect">
            <a:avLst>
              <a:gd name="adj" fmla="val 25000"/>
            </a:avLst>
          </a:prstGeom>
          <a:solidFill>
            <a:srgbClr val="1A2434"/>
          </a:solidFill>
          <a:ln w="12700">
            <a:solidFill>
              <a:srgbClr val="3DDC97"/>
            </a:solidFill>
            <a:prstDash val="solid"/>
          </a:ln>
        </p:spPr>
        <p:txBody>
          <a:bodyPr/>
          <a:lstStyle/>
          <a:p>
            <a:endParaRPr lang="es-CO"/>
          </a:p>
        </p:txBody>
      </p:sp>
      <p:sp>
        <p:nvSpPr>
          <p:cNvPr id="7" name="Text 5"/>
          <p:cNvSpPr txBox="1"/>
          <p:nvPr/>
        </p:nvSpPr>
        <p:spPr>
          <a:xfrm>
            <a:off x="502920" y="1188720"/>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CSS</a:t>
            </a:r>
            <a:endParaRPr lang="en-US" sz="800" dirty="0"/>
          </a:p>
        </p:txBody>
      </p:sp>
      <p:sp>
        <p:nvSpPr>
          <p:cNvPr id="8" name="Shape 6"/>
          <p:cNvSpPr/>
          <p:nvPr/>
        </p:nvSpPr>
        <p:spPr>
          <a:xfrm>
            <a:off x="2148840" y="1188720"/>
            <a:ext cx="1554480" cy="329184"/>
          </a:xfrm>
          <a:prstGeom prst="roundRect">
            <a:avLst>
              <a:gd name="adj" fmla="val 25000"/>
            </a:avLst>
          </a:prstGeom>
          <a:solidFill>
            <a:srgbClr val="1A2434"/>
          </a:solidFill>
          <a:ln w="12700">
            <a:solidFill>
              <a:srgbClr val="56C7F2"/>
            </a:solidFill>
            <a:prstDash val="solid"/>
          </a:ln>
        </p:spPr>
        <p:txBody>
          <a:bodyPr/>
          <a:lstStyle/>
          <a:p>
            <a:endParaRPr lang="es-CO"/>
          </a:p>
        </p:txBody>
      </p:sp>
      <p:sp>
        <p:nvSpPr>
          <p:cNvPr id="9" name="Text 7"/>
          <p:cNvSpPr txBox="1"/>
          <p:nvPr/>
        </p:nvSpPr>
        <p:spPr>
          <a:xfrm>
            <a:off x="2148840" y="1188720"/>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selector</a:t>
            </a:r>
            <a:endParaRPr lang="en-US" sz="800" dirty="0"/>
          </a:p>
        </p:txBody>
      </p:sp>
      <p:sp>
        <p:nvSpPr>
          <p:cNvPr id="10" name="Shape 8"/>
          <p:cNvSpPr/>
          <p:nvPr/>
        </p:nvSpPr>
        <p:spPr>
          <a:xfrm>
            <a:off x="3794760" y="1188720"/>
            <a:ext cx="1554480" cy="329184"/>
          </a:xfrm>
          <a:prstGeom prst="roundRect">
            <a:avLst>
              <a:gd name="adj" fmla="val 25000"/>
            </a:avLst>
          </a:prstGeom>
          <a:solidFill>
            <a:srgbClr val="1A2434"/>
          </a:solidFill>
          <a:ln w="12700">
            <a:solidFill>
              <a:srgbClr val="FFB86C"/>
            </a:solidFill>
            <a:prstDash val="solid"/>
          </a:ln>
        </p:spPr>
        <p:txBody>
          <a:bodyPr/>
          <a:lstStyle/>
          <a:p>
            <a:endParaRPr lang="es-CO"/>
          </a:p>
        </p:txBody>
      </p:sp>
      <p:sp>
        <p:nvSpPr>
          <p:cNvPr id="11" name="Text 9"/>
          <p:cNvSpPr txBox="1"/>
          <p:nvPr/>
        </p:nvSpPr>
        <p:spPr>
          <a:xfrm>
            <a:off x="3794760" y="1188720"/>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cascada</a:t>
            </a:r>
            <a:endParaRPr lang="en-US" sz="800" dirty="0"/>
          </a:p>
        </p:txBody>
      </p:sp>
      <p:sp>
        <p:nvSpPr>
          <p:cNvPr id="12" name="Shape 10"/>
          <p:cNvSpPr/>
          <p:nvPr/>
        </p:nvSpPr>
        <p:spPr>
          <a:xfrm>
            <a:off x="5440680" y="1188720"/>
            <a:ext cx="1554480" cy="329184"/>
          </a:xfrm>
          <a:prstGeom prst="roundRect">
            <a:avLst>
              <a:gd name="adj" fmla="val 25000"/>
            </a:avLst>
          </a:prstGeom>
          <a:solidFill>
            <a:srgbClr val="1A2434"/>
          </a:solidFill>
          <a:ln w="12700">
            <a:solidFill>
              <a:srgbClr val="3DDC97"/>
            </a:solidFill>
            <a:prstDash val="solid"/>
          </a:ln>
        </p:spPr>
        <p:txBody>
          <a:bodyPr/>
          <a:lstStyle/>
          <a:p>
            <a:endParaRPr lang="es-CO"/>
          </a:p>
        </p:txBody>
      </p:sp>
      <p:sp>
        <p:nvSpPr>
          <p:cNvPr id="13" name="Text 11"/>
          <p:cNvSpPr txBox="1"/>
          <p:nvPr/>
        </p:nvSpPr>
        <p:spPr>
          <a:xfrm>
            <a:off x="5440680" y="1188720"/>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styles.css</a:t>
            </a:r>
            <a:endParaRPr lang="en-US" sz="800" dirty="0"/>
          </a:p>
        </p:txBody>
      </p:sp>
      <p:sp>
        <p:nvSpPr>
          <p:cNvPr id="14" name="Shape 12"/>
          <p:cNvSpPr/>
          <p:nvPr/>
        </p:nvSpPr>
        <p:spPr>
          <a:xfrm>
            <a:off x="7086600" y="1188720"/>
            <a:ext cx="1554480" cy="329184"/>
          </a:xfrm>
          <a:prstGeom prst="roundRect">
            <a:avLst>
              <a:gd name="adj" fmla="val 25000"/>
            </a:avLst>
          </a:prstGeom>
          <a:solidFill>
            <a:srgbClr val="1A2434"/>
          </a:solidFill>
          <a:ln w="12700">
            <a:solidFill>
              <a:srgbClr val="56C7F2"/>
            </a:solidFill>
            <a:prstDash val="solid"/>
          </a:ln>
        </p:spPr>
        <p:txBody>
          <a:bodyPr/>
          <a:lstStyle/>
          <a:p>
            <a:endParaRPr lang="es-CO"/>
          </a:p>
        </p:txBody>
      </p:sp>
      <p:sp>
        <p:nvSpPr>
          <p:cNvPr id="15" name="Text 13"/>
          <p:cNvSpPr txBox="1"/>
          <p:nvPr/>
        </p:nvSpPr>
        <p:spPr>
          <a:xfrm>
            <a:off x="7086600" y="1188720"/>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GET /styles.css</a:t>
            </a:r>
            <a:endParaRPr lang="en-US" sz="800" dirty="0"/>
          </a:p>
        </p:txBody>
      </p:sp>
      <p:sp>
        <p:nvSpPr>
          <p:cNvPr id="16" name="Shape 14"/>
          <p:cNvSpPr/>
          <p:nvPr/>
        </p:nvSpPr>
        <p:spPr>
          <a:xfrm>
            <a:off x="502920" y="1591056"/>
            <a:ext cx="1554480" cy="329184"/>
          </a:xfrm>
          <a:prstGeom prst="roundRect">
            <a:avLst>
              <a:gd name="adj" fmla="val 25000"/>
            </a:avLst>
          </a:prstGeom>
          <a:solidFill>
            <a:srgbClr val="1A2434"/>
          </a:solidFill>
          <a:ln w="12700">
            <a:solidFill>
              <a:srgbClr val="FFB86C"/>
            </a:solidFill>
            <a:prstDash val="solid"/>
          </a:ln>
        </p:spPr>
        <p:txBody>
          <a:bodyPr/>
          <a:lstStyle/>
          <a:p>
            <a:endParaRPr lang="es-CO"/>
          </a:p>
        </p:txBody>
      </p:sp>
      <p:sp>
        <p:nvSpPr>
          <p:cNvPr id="17" name="Text 15"/>
          <p:cNvSpPr txBox="1"/>
          <p:nvPr/>
        </p:nvSpPr>
        <p:spPr>
          <a:xfrm>
            <a:off x="502920" y="1591056"/>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text/css</a:t>
            </a:r>
            <a:endParaRPr lang="en-US" sz="800" dirty="0"/>
          </a:p>
        </p:txBody>
      </p:sp>
      <p:sp>
        <p:nvSpPr>
          <p:cNvPr id="18" name="Shape 16"/>
          <p:cNvSpPr/>
          <p:nvPr/>
        </p:nvSpPr>
        <p:spPr>
          <a:xfrm>
            <a:off x="2148840" y="1591056"/>
            <a:ext cx="1554480" cy="329184"/>
          </a:xfrm>
          <a:prstGeom prst="roundRect">
            <a:avLst>
              <a:gd name="adj" fmla="val 25000"/>
            </a:avLst>
          </a:prstGeom>
          <a:solidFill>
            <a:srgbClr val="1A2434"/>
          </a:solidFill>
          <a:ln w="12700">
            <a:solidFill>
              <a:srgbClr val="3DDC97"/>
            </a:solidFill>
            <a:prstDash val="solid"/>
          </a:ln>
        </p:spPr>
        <p:txBody>
          <a:bodyPr/>
          <a:lstStyle/>
          <a:p>
            <a:endParaRPr lang="es-CO"/>
          </a:p>
        </p:txBody>
      </p:sp>
      <p:sp>
        <p:nvSpPr>
          <p:cNvPr id="19" name="Text 17"/>
          <p:cNvSpPr txBox="1"/>
          <p:nvPr/>
        </p:nvSpPr>
        <p:spPr>
          <a:xfrm>
            <a:off x="2148840" y="1591056"/>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cuerpo HTTP</a:t>
            </a:r>
            <a:endParaRPr lang="en-US" sz="800" dirty="0"/>
          </a:p>
        </p:txBody>
      </p:sp>
      <p:sp>
        <p:nvSpPr>
          <p:cNvPr id="20" name="Shape 18"/>
          <p:cNvSpPr/>
          <p:nvPr/>
        </p:nvSpPr>
        <p:spPr>
          <a:xfrm>
            <a:off x="3794760" y="1591056"/>
            <a:ext cx="1554480" cy="329184"/>
          </a:xfrm>
          <a:prstGeom prst="roundRect">
            <a:avLst>
              <a:gd name="adj" fmla="val 25000"/>
            </a:avLst>
          </a:prstGeom>
          <a:solidFill>
            <a:srgbClr val="1A2434"/>
          </a:solidFill>
          <a:ln w="12700">
            <a:solidFill>
              <a:srgbClr val="56C7F2"/>
            </a:solidFill>
            <a:prstDash val="solid"/>
          </a:ln>
        </p:spPr>
        <p:txBody>
          <a:bodyPr/>
          <a:lstStyle/>
          <a:p>
            <a:endParaRPr lang="es-CO"/>
          </a:p>
        </p:txBody>
      </p:sp>
      <p:sp>
        <p:nvSpPr>
          <p:cNvPr id="21" name="Text 19"/>
          <p:cNvSpPr txBox="1"/>
          <p:nvPr/>
        </p:nvSpPr>
        <p:spPr>
          <a:xfrm>
            <a:off x="3794760" y="1591056"/>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data · end</a:t>
            </a:r>
            <a:endParaRPr lang="en-US" sz="800" dirty="0"/>
          </a:p>
        </p:txBody>
      </p:sp>
      <p:sp>
        <p:nvSpPr>
          <p:cNvPr id="22" name="Shape 20"/>
          <p:cNvSpPr/>
          <p:nvPr/>
        </p:nvSpPr>
        <p:spPr>
          <a:xfrm>
            <a:off x="5440680" y="1591056"/>
            <a:ext cx="1554480" cy="329184"/>
          </a:xfrm>
          <a:prstGeom prst="roundRect">
            <a:avLst>
              <a:gd name="adj" fmla="val 25000"/>
            </a:avLst>
          </a:prstGeom>
          <a:solidFill>
            <a:srgbClr val="1A2434"/>
          </a:solidFill>
          <a:ln w="12700">
            <a:solidFill>
              <a:srgbClr val="FFB86C"/>
            </a:solidFill>
            <a:prstDash val="solid"/>
          </a:ln>
        </p:spPr>
        <p:txBody>
          <a:bodyPr/>
          <a:lstStyle/>
          <a:p>
            <a:endParaRPr lang="es-CO"/>
          </a:p>
        </p:txBody>
      </p:sp>
      <p:sp>
        <p:nvSpPr>
          <p:cNvPr id="23" name="Text 21"/>
          <p:cNvSpPr txBox="1"/>
          <p:nvPr/>
        </p:nvSpPr>
        <p:spPr>
          <a:xfrm>
            <a:off x="5440680" y="1591056"/>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URLSearchParams</a:t>
            </a:r>
            <a:endParaRPr lang="en-US" sz="800" dirty="0"/>
          </a:p>
        </p:txBody>
      </p:sp>
      <p:sp>
        <p:nvSpPr>
          <p:cNvPr id="24" name="Shape 22"/>
          <p:cNvSpPr/>
          <p:nvPr/>
        </p:nvSpPr>
        <p:spPr>
          <a:xfrm>
            <a:off x="7086600" y="1591056"/>
            <a:ext cx="1554480" cy="329184"/>
          </a:xfrm>
          <a:prstGeom prst="roundRect">
            <a:avLst>
              <a:gd name="adj" fmla="val 25000"/>
            </a:avLst>
          </a:prstGeom>
          <a:solidFill>
            <a:srgbClr val="1A2434"/>
          </a:solidFill>
          <a:ln w="12700">
            <a:solidFill>
              <a:srgbClr val="3DDC97"/>
            </a:solidFill>
            <a:prstDash val="solid"/>
          </a:ln>
        </p:spPr>
        <p:txBody>
          <a:bodyPr/>
          <a:lstStyle/>
          <a:p>
            <a:endParaRPr lang="es-CO"/>
          </a:p>
        </p:txBody>
      </p:sp>
      <p:sp>
        <p:nvSpPr>
          <p:cNvPr id="25" name="Text 23"/>
          <p:cNvSpPr txBox="1"/>
          <p:nvPr/>
        </p:nvSpPr>
        <p:spPr>
          <a:xfrm>
            <a:off x="7086600" y="1591056"/>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validación</a:t>
            </a:r>
            <a:endParaRPr lang="en-US" sz="800" dirty="0"/>
          </a:p>
        </p:txBody>
      </p:sp>
      <p:sp>
        <p:nvSpPr>
          <p:cNvPr id="26" name="Shape 24"/>
          <p:cNvSpPr/>
          <p:nvPr/>
        </p:nvSpPr>
        <p:spPr>
          <a:xfrm>
            <a:off x="502920" y="1993392"/>
            <a:ext cx="1554480" cy="329184"/>
          </a:xfrm>
          <a:prstGeom prst="roundRect">
            <a:avLst>
              <a:gd name="adj" fmla="val 25000"/>
            </a:avLst>
          </a:prstGeom>
          <a:solidFill>
            <a:srgbClr val="1A2434"/>
          </a:solidFill>
          <a:ln w="12700">
            <a:solidFill>
              <a:srgbClr val="56C7F2"/>
            </a:solidFill>
            <a:prstDash val="solid"/>
          </a:ln>
        </p:spPr>
        <p:txBody>
          <a:bodyPr/>
          <a:lstStyle/>
          <a:p>
            <a:endParaRPr lang="es-CO"/>
          </a:p>
        </p:txBody>
      </p:sp>
      <p:sp>
        <p:nvSpPr>
          <p:cNvPr id="27" name="Text 25"/>
          <p:cNvSpPr txBox="1"/>
          <p:nvPr/>
        </p:nvSpPr>
        <p:spPr>
          <a:xfrm>
            <a:off x="502920" y="1993392"/>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400</a:t>
            </a:r>
            <a:endParaRPr lang="en-US" sz="800" dirty="0"/>
          </a:p>
        </p:txBody>
      </p:sp>
      <p:sp>
        <p:nvSpPr>
          <p:cNvPr id="28" name="Shape 26"/>
          <p:cNvSpPr/>
          <p:nvPr/>
        </p:nvSpPr>
        <p:spPr>
          <a:xfrm>
            <a:off x="2148840" y="1993392"/>
            <a:ext cx="1554480" cy="329184"/>
          </a:xfrm>
          <a:prstGeom prst="roundRect">
            <a:avLst>
              <a:gd name="adj" fmla="val 25000"/>
            </a:avLst>
          </a:prstGeom>
          <a:solidFill>
            <a:srgbClr val="1A2434"/>
          </a:solidFill>
          <a:ln w="12700">
            <a:solidFill>
              <a:srgbClr val="FFB86C"/>
            </a:solidFill>
            <a:prstDash val="solid"/>
          </a:ln>
        </p:spPr>
        <p:txBody>
          <a:bodyPr/>
          <a:lstStyle/>
          <a:p>
            <a:endParaRPr lang="es-CO"/>
          </a:p>
        </p:txBody>
      </p:sp>
      <p:sp>
        <p:nvSpPr>
          <p:cNvPr id="29" name="Text 27"/>
          <p:cNvSpPr txBox="1"/>
          <p:nvPr/>
        </p:nvSpPr>
        <p:spPr>
          <a:xfrm>
            <a:off x="2148840" y="1993392"/>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SQL</a:t>
            </a:r>
            <a:endParaRPr lang="en-US" sz="800" dirty="0"/>
          </a:p>
        </p:txBody>
      </p:sp>
      <p:sp>
        <p:nvSpPr>
          <p:cNvPr id="30" name="Shape 28"/>
          <p:cNvSpPr/>
          <p:nvPr/>
        </p:nvSpPr>
        <p:spPr>
          <a:xfrm>
            <a:off x="3794760" y="1993392"/>
            <a:ext cx="1554480" cy="329184"/>
          </a:xfrm>
          <a:prstGeom prst="roundRect">
            <a:avLst>
              <a:gd name="adj" fmla="val 25000"/>
            </a:avLst>
          </a:prstGeom>
          <a:solidFill>
            <a:srgbClr val="1A2434"/>
          </a:solidFill>
          <a:ln w="12700">
            <a:solidFill>
              <a:srgbClr val="3DDC97"/>
            </a:solidFill>
            <a:prstDash val="solid"/>
          </a:ln>
        </p:spPr>
        <p:txBody>
          <a:bodyPr/>
          <a:lstStyle/>
          <a:p>
            <a:endParaRPr lang="es-CO"/>
          </a:p>
        </p:txBody>
      </p:sp>
      <p:sp>
        <p:nvSpPr>
          <p:cNvPr id="31" name="Text 29"/>
          <p:cNvSpPr txBox="1"/>
          <p:nvPr/>
        </p:nvSpPr>
        <p:spPr>
          <a:xfrm>
            <a:off x="3794760" y="1993392"/>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SQLite</a:t>
            </a:r>
            <a:endParaRPr lang="en-US" sz="800" dirty="0"/>
          </a:p>
        </p:txBody>
      </p:sp>
      <p:sp>
        <p:nvSpPr>
          <p:cNvPr id="32" name="Shape 30"/>
          <p:cNvSpPr/>
          <p:nvPr/>
        </p:nvSpPr>
        <p:spPr>
          <a:xfrm>
            <a:off x="5440680" y="1993392"/>
            <a:ext cx="1554480" cy="329184"/>
          </a:xfrm>
          <a:prstGeom prst="roundRect">
            <a:avLst>
              <a:gd name="adj" fmla="val 25000"/>
            </a:avLst>
          </a:prstGeom>
          <a:solidFill>
            <a:srgbClr val="1A2434"/>
          </a:solidFill>
          <a:ln w="12700">
            <a:solidFill>
              <a:srgbClr val="56C7F2"/>
            </a:solidFill>
            <a:prstDash val="solid"/>
          </a:ln>
        </p:spPr>
        <p:txBody>
          <a:bodyPr/>
          <a:lstStyle/>
          <a:p>
            <a:endParaRPr lang="es-CO"/>
          </a:p>
        </p:txBody>
      </p:sp>
      <p:sp>
        <p:nvSpPr>
          <p:cNvPr id="33" name="Text 31"/>
          <p:cNvSpPr txBox="1"/>
          <p:nvPr/>
        </p:nvSpPr>
        <p:spPr>
          <a:xfrm>
            <a:off x="5440680" y="1993392"/>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node:sqlite</a:t>
            </a:r>
            <a:endParaRPr lang="en-US" sz="800" dirty="0"/>
          </a:p>
        </p:txBody>
      </p:sp>
      <p:sp>
        <p:nvSpPr>
          <p:cNvPr id="34" name="Shape 32"/>
          <p:cNvSpPr/>
          <p:nvPr/>
        </p:nvSpPr>
        <p:spPr>
          <a:xfrm>
            <a:off x="7086600" y="1993392"/>
            <a:ext cx="1554480" cy="329184"/>
          </a:xfrm>
          <a:prstGeom prst="roundRect">
            <a:avLst>
              <a:gd name="adj" fmla="val 25000"/>
            </a:avLst>
          </a:prstGeom>
          <a:solidFill>
            <a:srgbClr val="1A2434"/>
          </a:solidFill>
          <a:ln w="12700">
            <a:solidFill>
              <a:srgbClr val="FFB86C"/>
            </a:solidFill>
            <a:prstDash val="solid"/>
          </a:ln>
        </p:spPr>
        <p:txBody>
          <a:bodyPr/>
          <a:lstStyle/>
          <a:p>
            <a:endParaRPr lang="es-CO"/>
          </a:p>
        </p:txBody>
      </p:sp>
      <p:sp>
        <p:nvSpPr>
          <p:cNvPr id="35" name="Text 33"/>
          <p:cNvSpPr txBox="1"/>
          <p:nvPr/>
        </p:nvSpPr>
        <p:spPr>
          <a:xfrm>
            <a:off x="7086600" y="1993392"/>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CREATE TABLE</a:t>
            </a:r>
            <a:endParaRPr lang="en-US" sz="800" dirty="0"/>
          </a:p>
        </p:txBody>
      </p:sp>
      <p:sp>
        <p:nvSpPr>
          <p:cNvPr id="36" name="Shape 34"/>
          <p:cNvSpPr/>
          <p:nvPr/>
        </p:nvSpPr>
        <p:spPr>
          <a:xfrm>
            <a:off x="502920" y="2395728"/>
            <a:ext cx="1554480" cy="329184"/>
          </a:xfrm>
          <a:prstGeom prst="roundRect">
            <a:avLst>
              <a:gd name="adj" fmla="val 25000"/>
            </a:avLst>
          </a:prstGeom>
          <a:solidFill>
            <a:srgbClr val="1A2434"/>
          </a:solidFill>
          <a:ln w="12700">
            <a:solidFill>
              <a:srgbClr val="3DDC97"/>
            </a:solidFill>
            <a:prstDash val="solid"/>
          </a:ln>
        </p:spPr>
        <p:txBody>
          <a:bodyPr/>
          <a:lstStyle/>
          <a:p>
            <a:endParaRPr lang="es-CO"/>
          </a:p>
        </p:txBody>
      </p:sp>
      <p:sp>
        <p:nvSpPr>
          <p:cNvPr id="37" name="Text 35"/>
          <p:cNvSpPr txBox="1"/>
          <p:nvPr/>
        </p:nvSpPr>
        <p:spPr>
          <a:xfrm>
            <a:off x="502920" y="2395728"/>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INSERT</a:t>
            </a:r>
            <a:endParaRPr lang="en-US" sz="800" dirty="0"/>
          </a:p>
        </p:txBody>
      </p:sp>
      <p:sp>
        <p:nvSpPr>
          <p:cNvPr id="38" name="Shape 36"/>
          <p:cNvSpPr/>
          <p:nvPr/>
        </p:nvSpPr>
        <p:spPr>
          <a:xfrm>
            <a:off x="2148840" y="2395728"/>
            <a:ext cx="1554480" cy="329184"/>
          </a:xfrm>
          <a:prstGeom prst="roundRect">
            <a:avLst>
              <a:gd name="adj" fmla="val 25000"/>
            </a:avLst>
          </a:prstGeom>
          <a:solidFill>
            <a:srgbClr val="1A2434"/>
          </a:solidFill>
          <a:ln w="12700">
            <a:solidFill>
              <a:srgbClr val="56C7F2"/>
            </a:solidFill>
            <a:prstDash val="solid"/>
          </a:ln>
        </p:spPr>
        <p:txBody>
          <a:bodyPr/>
          <a:lstStyle/>
          <a:p>
            <a:endParaRPr lang="es-CO"/>
          </a:p>
        </p:txBody>
      </p:sp>
      <p:sp>
        <p:nvSpPr>
          <p:cNvPr id="39" name="Text 37"/>
          <p:cNvSpPr txBox="1"/>
          <p:nvPr/>
        </p:nvSpPr>
        <p:spPr>
          <a:xfrm>
            <a:off x="2148840" y="2395728"/>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parámetros</a:t>
            </a:r>
            <a:endParaRPr lang="en-US" sz="800" dirty="0"/>
          </a:p>
        </p:txBody>
      </p:sp>
      <p:sp>
        <p:nvSpPr>
          <p:cNvPr id="40" name="Shape 38"/>
          <p:cNvSpPr/>
          <p:nvPr/>
        </p:nvSpPr>
        <p:spPr>
          <a:xfrm>
            <a:off x="3794760" y="2395728"/>
            <a:ext cx="1554480" cy="329184"/>
          </a:xfrm>
          <a:prstGeom prst="roundRect">
            <a:avLst>
              <a:gd name="adj" fmla="val 25000"/>
            </a:avLst>
          </a:prstGeom>
          <a:solidFill>
            <a:srgbClr val="1A2434"/>
          </a:solidFill>
          <a:ln w="12700">
            <a:solidFill>
              <a:srgbClr val="FFB86C"/>
            </a:solidFill>
            <a:prstDash val="solid"/>
          </a:ln>
        </p:spPr>
        <p:txBody>
          <a:bodyPr/>
          <a:lstStyle/>
          <a:p>
            <a:endParaRPr lang="es-CO"/>
          </a:p>
        </p:txBody>
      </p:sp>
      <p:sp>
        <p:nvSpPr>
          <p:cNvPr id="41" name="Text 39"/>
          <p:cNvSpPr txBox="1"/>
          <p:nvPr/>
        </p:nvSpPr>
        <p:spPr>
          <a:xfrm>
            <a:off x="3794760" y="2395728"/>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lastInsertRowid</a:t>
            </a:r>
            <a:endParaRPr lang="en-US" sz="800" dirty="0"/>
          </a:p>
        </p:txBody>
      </p:sp>
      <p:sp>
        <p:nvSpPr>
          <p:cNvPr id="42" name="Shape 40"/>
          <p:cNvSpPr/>
          <p:nvPr/>
        </p:nvSpPr>
        <p:spPr>
          <a:xfrm>
            <a:off x="5440680" y="2395728"/>
            <a:ext cx="1554480" cy="329184"/>
          </a:xfrm>
          <a:prstGeom prst="roundRect">
            <a:avLst>
              <a:gd name="adj" fmla="val 25000"/>
            </a:avLst>
          </a:prstGeom>
          <a:solidFill>
            <a:srgbClr val="1A2434"/>
          </a:solidFill>
          <a:ln w="12700">
            <a:solidFill>
              <a:srgbClr val="3DDC97"/>
            </a:solidFill>
            <a:prstDash val="solid"/>
          </a:ln>
        </p:spPr>
        <p:txBody>
          <a:bodyPr/>
          <a:lstStyle/>
          <a:p>
            <a:endParaRPr lang="es-CO"/>
          </a:p>
        </p:txBody>
      </p:sp>
      <p:sp>
        <p:nvSpPr>
          <p:cNvPr id="43" name="Text 41"/>
          <p:cNvSpPr txBox="1"/>
          <p:nvPr/>
        </p:nvSpPr>
        <p:spPr>
          <a:xfrm>
            <a:off x="5440680" y="2395728"/>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201 Created</a:t>
            </a:r>
            <a:endParaRPr lang="en-US" sz="800" dirty="0"/>
          </a:p>
        </p:txBody>
      </p:sp>
      <p:sp>
        <p:nvSpPr>
          <p:cNvPr id="44" name="Shape 42"/>
          <p:cNvSpPr/>
          <p:nvPr/>
        </p:nvSpPr>
        <p:spPr>
          <a:xfrm>
            <a:off x="7086600" y="2395728"/>
            <a:ext cx="1554480" cy="329184"/>
          </a:xfrm>
          <a:prstGeom prst="roundRect">
            <a:avLst>
              <a:gd name="adj" fmla="val 25000"/>
            </a:avLst>
          </a:prstGeom>
          <a:solidFill>
            <a:srgbClr val="1A2434"/>
          </a:solidFill>
          <a:ln w="12700">
            <a:solidFill>
              <a:srgbClr val="56C7F2"/>
            </a:solidFill>
            <a:prstDash val="solid"/>
          </a:ln>
        </p:spPr>
        <p:txBody>
          <a:bodyPr/>
          <a:lstStyle/>
          <a:p>
            <a:endParaRPr lang="es-CO"/>
          </a:p>
        </p:txBody>
      </p:sp>
      <p:sp>
        <p:nvSpPr>
          <p:cNvPr id="45" name="Text 43"/>
          <p:cNvSpPr txBox="1"/>
          <p:nvPr/>
        </p:nvSpPr>
        <p:spPr>
          <a:xfrm>
            <a:off x="7086600" y="2395728"/>
            <a:ext cx="1554480" cy="329184"/>
          </a:xfrm>
          <a:prstGeom prst="rect">
            <a:avLst/>
          </a:prstGeom>
          <a:noFill/>
          <a:ln/>
        </p:spPr>
        <p:txBody>
          <a:bodyPr wrap="square" lIns="0" tIns="0" rIns="0" bIns="0" rtlCol="0" anchor="ctr"/>
          <a:lstStyle/>
          <a:p>
            <a:pPr marL="0" indent="0" algn="ctr">
              <a:buNone/>
            </a:pPr>
            <a:r>
              <a:rPr lang="en-US" sz="800" b="1" dirty="0">
                <a:solidFill>
                  <a:srgbClr val="E8EEF6"/>
                </a:solidFill>
                <a:latin typeface="Arial" pitchFamily="34" charset="0"/>
                <a:ea typeface="Arial" pitchFamily="34" charset="-122"/>
                <a:cs typeface="Arial" pitchFamily="34" charset="-120"/>
              </a:rPr>
              <a:t>contactos.db</a:t>
            </a:r>
            <a:endParaRPr lang="en-US" sz="800" dirty="0"/>
          </a:p>
        </p:txBody>
      </p:sp>
      <p:sp>
        <p:nvSpPr>
          <p:cNvPr id="46" name="Shape 44"/>
          <p:cNvSpPr/>
          <p:nvPr/>
        </p:nvSpPr>
        <p:spPr>
          <a:xfrm>
            <a:off x="502920" y="2871216"/>
            <a:ext cx="8138160" cy="768096"/>
          </a:xfrm>
          <a:prstGeom prst="roundRect">
            <a:avLst>
              <a:gd name="adj" fmla="val 9524"/>
            </a:avLst>
          </a:prstGeom>
          <a:solidFill>
            <a:srgbClr val="1A2434"/>
          </a:solidFill>
          <a:ln w="12700">
            <a:solidFill>
              <a:srgbClr val="3DDC97"/>
            </a:solidFill>
            <a:prstDash val="solid"/>
          </a:ln>
        </p:spPr>
        <p:txBody>
          <a:bodyPr/>
          <a:lstStyle/>
          <a:p>
            <a:endParaRPr lang="es-CO"/>
          </a:p>
        </p:txBody>
      </p:sp>
      <p:sp>
        <p:nvSpPr>
          <p:cNvPr id="47" name="Text 45"/>
          <p:cNvSpPr txBox="1"/>
          <p:nvPr/>
        </p:nvSpPr>
        <p:spPr>
          <a:xfrm>
            <a:off x="731520" y="2980944"/>
            <a:ext cx="3657600" cy="219456"/>
          </a:xfrm>
          <a:prstGeom prst="rect">
            <a:avLst/>
          </a:prstGeom>
          <a:noFill/>
          <a:ln/>
        </p:spPr>
        <p:txBody>
          <a:bodyPr wrap="square" lIns="0" tIns="0" rIns="0" bIns="0" rtlCol="0" anchor="ctr"/>
          <a:lstStyle/>
          <a:p>
            <a:pPr marL="0" indent="0">
              <a:buNone/>
            </a:pPr>
            <a:r>
              <a:rPr lang="en-US" sz="1200" b="1" dirty="0">
                <a:solidFill>
                  <a:srgbClr val="3DDC97"/>
                </a:solidFill>
                <a:latin typeface="Arial" pitchFamily="34" charset="0"/>
                <a:ea typeface="Arial" pitchFamily="34" charset="-122"/>
                <a:cs typeface="Arial" pitchFamily="34" charset="-120"/>
              </a:rPr>
              <a:t>Idea central de la sesión</a:t>
            </a:r>
            <a:endParaRPr lang="en-US" sz="1200" dirty="0"/>
          </a:p>
        </p:txBody>
      </p:sp>
      <p:sp>
        <p:nvSpPr>
          <p:cNvPr id="48" name="Text 46"/>
          <p:cNvSpPr txBox="1"/>
          <p:nvPr/>
        </p:nvSpPr>
        <p:spPr>
          <a:xfrm>
            <a:off x="731520" y="3218688"/>
            <a:ext cx="7680960" cy="347472"/>
          </a:xfrm>
          <a:prstGeom prst="rect">
            <a:avLst/>
          </a:prstGeom>
          <a:noFill/>
          <a:ln/>
        </p:spPr>
        <p:txBody>
          <a:bodyPr wrap="square" lIns="0" tIns="0" rIns="0" bIns="0" rtlCol="0" anchor="ctr"/>
          <a:lstStyle/>
          <a:p>
            <a:pPr marL="0" indent="0">
              <a:buNone/>
            </a:pPr>
            <a:r>
              <a:rPr lang="en-US" sz="1050" dirty="0">
                <a:solidFill>
                  <a:srgbClr val="E8EEF6"/>
                </a:solidFill>
                <a:latin typeface="Calibri" pitchFamily="34" charset="0"/>
                <a:ea typeface="Calibri" pitchFamily="34" charset="-122"/>
                <a:cs typeface="Calibri" pitchFamily="34" charset="-120"/>
              </a:rPr>
              <a:t>Una aplicación Web integra interfaz, comunicación, lógica y persistencia. HTML estructura, CSS presenta, HTTP transporta, Node.js recibe y valida, URLSearchParams interpreta, SQL inserta y SQLite almacena.</a:t>
            </a:r>
            <a:endParaRPr lang="en-US" sz="1050" dirty="0"/>
          </a:p>
        </p:txBody>
      </p:sp>
      <p:sp>
        <p:nvSpPr>
          <p:cNvPr id="49" name="Shape 47"/>
          <p:cNvSpPr/>
          <p:nvPr/>
        </p:nvSpPr>
        <p:spPr>
          <a:xfrm>
            <a:off x="502920" y="3749040"/>
            <a:ext cx="8138160" cy="786384"/>
          </a:xfrm>
          <a:prstGeom prst="roundRect">
            <a:avLst>
              <a:gd name="adj" fmla="val 9302"/>
            </a:avLst>
          </a:prstGeom>
          <a:solidFill>
            <a:srgbClr val="112A38"/>
          </a:solidFill>
          <a:ln w="12700">
            <a:solidFill>
              <a:srgbClr val="56C7F2"/>
            </a:solidFill>
            <a:prstDash val="solid"/>
          </a:ln>
        </p:spPr>
        <p:txBody>
          <a:bodyPr/>
          <a:lstStyle/>
          <a:p>
            <a:endParaRPr lang="es-CO"/>
          </a:p>
        </p:txBody>
      </p:sp>
      <p:sp>
        <p:nvSpPr>
          <p:cNvPr id="50" name="Text 48"/>
          <p:cNvSpPr txBox="1"/>
          <p:nvPr/>
        </p:nvSpPr>
        <p:spPr>
          <a:xfrm>
            <a:off x="731520" y="3840480"/>
            <a:ext cx="7680960" cy="219456"/>
          </a:xfrm>
          <a:prstGeom prst="rect">
            <a:avLst/>
          </a:prstGeom>
          <a:noFill/>
          <a:ln/>
        </p:spPr>
        <p:txBody>
          <a:bodyPr wrap="square" lIns="0" tIns="0" rIns="0" bIns="0" rtlCol="0" anchor="ctr"/>
          <a:lstStyle/>
          <a:p>
            <a:pPr marL="0" indent="0">
              <a:buNone/>
            </a:pPr>
            <a:r>
              <a:rPr lang="en-US" sz="1100" b="1" dirty="0">
                <a:solidFill>
                  <a:srgbClr val="56C7F2"/>
                </a:solidFill>
                <a:latin typeface="Arial" pitchFamily="34" charset="0"/>
                <a:ea typeface="Arial" pitchFamily="34" charset="-122"/>
                <a:cs typeface="Arial" pitchFamily="34" charset="-120"/>
              </a:rPr>
              <a:t>Sesión 04 → Consulta de registros y construcción del CRUD</a:t>
            </a:r>
            <a:endParaRPr lang="en-US" sz="1100" dirty="0"/>
          </a:p>
        </p:txBody>
      </p:sp>
      <p:sp>
        <p:nvSpPr>
          <p:cNvPr id="51" name="Text 49"/>
          <p:cNvSpPr txBox="1"/>
          <p:nvPr/>
        </p:nvSpPr>
        <p:spPr>
          <a:xfrm>
            <a:off x="731520" y="4078224"/>
            <a:ext cx="7680960" cy="365760"/>
          </a:xfrm>
          <a:prstGeom prst="rect">
            <a:avLst/>
          </a:prstGeom>
          <a:noFill/>
          <a:ln/>
        </p:spPr>
        <p:txBody>
          <a:bodyPr wrap="square" lIns="0" tIns="0" rIns="0" bIns="0" rtlCol="0" anchor="ctr"/>
          <a:lstStyle/>
          <a:p>
            <a:pPr marL="0" indent="0">
              <a:buNone/>
            </a:pPr>
            <a:r>
              <a:rPr lang="en-US" sz="1050" i="1" dirty="0">
                <a:solidFill>
                  <a:srgbClr val="E8EEF6"/>
                </a:solidFill>
                <a:latin typeface="Calibri" pitchFamily="34" charset="0"/>
                <a:ea typeface="Calibri" pitchFamily="34" charset="-122"/>
                <a:cs typeface="Calibri" pitchFamily="34" charset="-120"/>
              </a:rPr>
              <a:t>SELECT · ruta GET /contactos · presentación de los registros almacenados · UPDATE · DELETE · relación entre las operaciones CRUD y los métodos HTTP.</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338</TotalTime>
  <Words>9504</Words>
  <Application>Microsoft Office PowerPoint</Application>
  <PresentationFormat>Presentación en pantalla (16:9)</PresentationFormat>
  <Paragraphs>640</Paragraphs>
  <Slides>26</Slides>
  <Notes>26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26</vt:i4>
      </vt:variant>
    </vt:vector>
  </HeadingPairs>
  <TitlesOfParts>
    <vt:vector size="30" baseType="lpstr">
      <vt:lpstr>Arial</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Cooperativa de Colombia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Sesion 03 - De la interfaz a la persistencia</dc:title>
  <dc:subject>Ingenieria Web - Sesion 03</dc:subject>
  <dc:creator>Luis Miguel Gomez Meneses</dc:creator>
  <cp:lastModifiedBy>LUIS MIGUEL GOMEZ MENESES</cp:lastModifiedBy>
  <cp:revision>5</cp:revision>
  <dcterms:created xsi:type="dcterms:W3CDTF">2026-09-06T16:56:37Z</dcterms:created>
  <dcterms:modified xsi:type="dcterms:W3CDTF">2026-09-07T00:44:07Z</dcterms:modified>
</cp:coreProperties>
</file>