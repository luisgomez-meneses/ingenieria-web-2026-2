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DC97"/>
    <a:srgbClr val="FFB86C"/>
    <a:srgbClr val="56C7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94610"/>
  </p:normalViewPr>
  <p:slideViewPr>
    <p:cSldViewPr snapToGrid="0" snapToObjects="1">
      <p:cViewPr varScale="1">
        <p:scale>
          <a:sx n="87" d="100"/>
          <a:sy n="87" d="100"/>
        </p:scale>
        <p:origin x="108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919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APERTURA · 2 minutos (acumulado: 2 de 120).</a:t>
            </a:r>
          </a:p>
          <a:p>
            <a:endParaRPr lang="es-CO"/>
          </a:p>
          <a:p>
            <a:r>
              <a:rPr lang="es-CO" dirty="0"/>
              <a:t>Qué decir: "Hasta ahora la aplicación guarda contactos. Hoy la vamos a poner a responder preguntas: ¿qué contactos hay registrados? Para eso construimos una API web y la consumimos desde una página".</a:t>
            </a:r>
          </a:p>
          <a:p>
            <a:endParaRPr lang="es-CO"/>
          </a:p>
          <a:p>
            <a:r>
              <a:rPr lang="es-CO" dirty="0"/>
              <a:t>Recorrido de hoy en una frase: el navegador solicita datos con fetch(), Node.js los consulta en SQLite con SELECT, los devuelve como JSON y la página los presenta en una tabla. La línea inferior de la portada resume ese recorrido.</a:t>
            </a:r>
          </a:p>
          <a:p>
            <a:endParaRPr lang="es-CO"/>
          </a:p>
          <a:p>
            <a:r>
              <a:rPr lang="es-CO" dirty="0"/>
              <a:t>Verificación previa del docente (antes de iniciar la clase):</a:t>
            </a:r>
          </a:p>
          <a:p>
            <a:r>
              <a:rPr lang="es-CO" dirty="0"/>
              <a:t>- node -v debe mostrar v24.11.0.</a:t>
            </a:r>
          </a:p>
          <a:p>
            <a:r>
              <a:rPr lang="es-CO" dirty="0"/>
              <a:t>- El proyecto del Laboratorio 05 debe estar disponible: server_rutas.js, contacto.html, styles.css y contactos.db.</a:t>
            </a:r>
          </a:p>
          <a:p>
            <a:r>
              <a:rPr lang="es-CO" dirty="0"/>
              <a:t>- contactos.db debe tener al menos dos contactos ficticios (por ejemplo, Ana y Beatriz, con correos @example.com).</a:t>
            </a:r>
          </a:p>
          <a:p>
            <a:endParaRPr lang="es-CO"/>
          </a:p>
          <a:p>
            <a:r>
              <a:rPr lang="es-CO" dirty="0"/>
              <a:t>Término que aparecerá desde el inicio: API (Application Programming Interface, interfaz de programación de aplicaciones). Se define con precisión en la diapositiva 4.</a:t>
            </a:r>
          </a:p>
          <a:p>
            <a:endParaRPr lang="es-CO"/>
          </a:p>
          <a:p>
            <a:r>
              <a:rPr lang="es-CO" dirty="0"/>
              <a:t>Nota de alcance: esta sesión es conceptual y demostrativa. Los laboratorios los ejecuta el docente; el trabajo independiente de los estudiantes se presenta como tarea en la diapositiva 23.</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OBJETIVOS · 3 minutos (acumulado: 5 de 120).</a:t>
            </a:r>
          </a:p>
          <a:p>
            <a:endParaRPr lang="es-CO"/>
          </a:p>
          <a:p>
            <a:r>
              <a:rPr lang="es-CO" dirty="0"/>
              <a:t>Leer los cuatro objetivos y relacionarlos con el recorrido inferior. Los dos primeros se trabajan en el bloque conceptual (diapositivas 4 a 14). Los dos últimos se trabajan en el Laboratorio 06.</a:t>
            </a:r>
          </a:p>
          <a:p>
            <a:endParaRPr lang="es-CO"/>
          </a:p>
          <a:p>
            <a:r>
              <a:rPr lang="es-CO" dirty="0"/>
              <a:t>Aclarar la dinámica: los laboratorios de hoy son demostraciones del docente. Los estudiantes observan, responden preguntas y, al final, reciben una tarea que resuelven por su cuenta con el código compartido.</a:t>
            </a:r>
          </a:p>
          <a:p>
            <a:endParaRPr lang="es-CO"/>
          </a:p>
          <a:p>
            <a:r>
              <a:rPr lang="es-CO" dirty="0"/>
              <a:t>Distribución del tiempo:</a:t>
            </a:r>
          </a:p>
          <a:p>
            <a:r>
              <a:rPr lang="es-CO" dirty="0"/>
              <a:t>- 55 minutos: explicación conceptual (diapositivas 1 a 14).</a:t>
            </a:r>
          </a:p>
          <a:p>
            <a:r>
              <a:rPr lang="es-CO" dirty="0"/>
              <a:t>- 25 minutos: Laboratorio 06, Parte A: crear la API (diapositivas 15 a 17).</a:t>
            </a:r>
          </a:p>
          <a:p>
            <a:r>
              <a:rPr lang="es-CO" dirty="0"/>
              <a:t>- 25 minutos: Laboratorio 06, Parte B: consumir la API (diapositivas 18 a 20).</a:t>
            </a:r>
          </a:p>
          <a:p>
            <a:r>
              <a:rPr lang="es-CO" dirty="0"/>
              <a:t>- 10 minutos: comprobación y preguntas (diapositivas 21 y 22).</a:t>
            </a:r>
          </a:p>
          <a:p>
            <a:r>
              <a:rPr lang="es-CO" dirty="0"/>
              <a:t>- 5 minutos: tarea y cierre (diapositivas 23 y 24).</a:t>
            </a:r>
          </a:p>
          <a:p>
            <a:endParaRPr lang="es-CO"/>
          </a:p>
          <a:p>
            <a:r>
              <a:rPr lang="es-CO" dirty="0"/>
              <a:t>Pregunta de entrada: "¿Qué aplicaciones que usan a diario solicitan datos a otra aplicación?". Respuestas esperadas: aplicaciones del clima, de pagos, de mapas, redes sociales. Sirve para anticipar que la comunicación entre aplicaciones es cotidiana.</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PUNTO DE PARTIDA · 3 minutos (acumulado: 8 de 120).</a:t>
            </a:r>
          </a:p>
          <a:p>
            <a:endParaRPr lang="es-CO"/>
          </a:p>
          <a:p>
            <a:r>
              <a:rPr lang="es-CO" dirty="0"/>
              <a:t>Recordar lo que ya funciona en el Laboratorio 05: contacto.html envía el formulario con POST /contacto; server_rutas.js reconstruye el cuerpo con data y end, lo interpreta con URLSearchParams, valida y ejecuta insertarContacto.run(). La consola muestra el identificador generado por SQLite.</a:t>
            </a:r>
          </a:p>
          <a:p>
            <a:endParaRPr lang="es-CO"/>
          </a:p>
          <a:p>
            <a:r>
              <a:rPr lang="es-CO" dirty="0"/>
              <a:t>Idea que conviene fijar: los datos ya permanecen en contactos.db, pero ninguna parte de la aplicación los consulta. Guardar y consultar son dos operaciones distintas y hoy se agrega la segunda.</a:t>
            </a:r>
          </a:p>
          <a:p>
            <a:endParaRPr lang="es-CO"/>
          </a:p>
          <a:p>
            <a:r>
              <a:rPr lang="es-CO" dirty="0"/>
              <a:t>Pregunta breve: "Si quiero ver los contactos guardados, ¿qué sentencia SQL necesito?". Respuesta esperada: SELECT. Confusión posible: pensar que contactos.db puede abrirse directamente desde el navegador. El navegador solo se comunica con el servidor mediante HTTP; el archivo de la base de datos permanece del lado del servidor.</a:t>
            </a:r>
          </a:p>
          <a:p>
            <a:endParaRPr lang="es-CO"/>
          </a:p>
          <a:p>
            <a:r>
              <a:rPr lang="es-CO" dirty="0"/>
              <a:t>Las tres tarjetas inferiores ordenan la sesión: lo que ya existe (INSERT), lo que se construye en la Parte A (consulta y API) y lo que se construye en la Parte B (página que muestra los datos).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5 minutos (acumulado: 13 de 120).</a:t>
            </a:r>
          </a:p>
          <a:p>
            <a:endParaRPr lang="es-CO"/>
          </a:p>
          <a:p>
            <a:r>
              <a:rPr lang="es-CO" dirty="0"/>
              <a:t>Explicación sugerida: "Una API web permite que una aplicación solicite datos o acciones a otra mediante una interfaz definida. La interfaz es el acuerdo: qué dirección se usa, con qué método, qué se envía y qué se recibe".</a:t>
            </a:r>
          </a:p>
          <a:p>
            <a:endParaRPr lang="es-CO"/>
          </a:p>
          <a:p>
            <a:r>
              <a:rPr lang="es-CO" dirty="0"/>
              <a:t>Términos nuevos:</a:t>
            </a:r>
          </a:p>
          <a:p>
            <a:r>
              <a:rPr lang="es-CO" dirty="0"/>
              <a:t>- API: interfaz de programación de aplicaciones. Es un conjunto de operaciones que un componente ofrece a otros, con reglas de uso precisas.</a:t>
            </a:r>
          </a:p>
          <a:p>
            <a:r>
              <a:rPr lang="es-CO" dirty="0"/>
              <a:t>- API web: API a la que se accede mediante la web, normalmente con HTTP.</a:t>
            </a:r>
          </a:p>
          <a:p>
            <a:r>
              <a:rPr lang="es-CO" dirty="0"/>
              <a:t>- Cliente: el programa que inicia la solicitud. Hoy es el JavaScript de la página contactos.html que se ejecuta en el navegador.</a:t>
            </a:r>
          </a:p>
          <a:p>
            <a:r>
              <a:rPr lang="es-CO" dirty="0"/>
              <a:t>- Servidor: el programa que recibe la solicitud y produce la respuesta. Hoy es Node.js con server_rutas.js.</a:t>
            </a:r>
          </a:p>
          <a:p>
            <a:endParaRPr lang="es-CO"/>
          </a:p>
          <a:p>
            <a:r>
              <a:rPr lang="es-CO" dirty="0"/>
              <a:t>Precisión: API es un concepto general. db.prepare() y all() forman parte de la API del módulo node:sqlite y se usan sin ninguna comunicación web. Esta clase se centra en API web.</a:t>
            </a:r>
          </a:p>
          <a:p>
            <a:endParaRPr lang="es-CO"/>
          </a:p>
          <a:p>
            <a:r>
              <a:rPr lang="es-CO" dirty="0"/>
              <a:t>Precisión sobre roles: cliente y servidor describen funciones dentro de la comunicación. En la demostración ambos pertenecen a la misma aplicación web y se ejecutan en la misma computadora (localhost:3000).</a:t>
            </a:r>
          </a:p>
          <a:p>
            <a:endParaRPr lang="es-CO"/>
          </a:p>
          <a:p>
            <a:r>
              <a:rPr lang="es-CO" dirty="0"/>
              <a:t>Pregunta de comprensión: "En la aplicación de hoy, ¿quién inicia la comunicación?". Respuesta esperada: el JavaScript del navegador, cuando se pulsa el botón. Confusión frecuente: decir que el cliente es "el usuario". El usuario pulsa el botón; el programa que envía la solicitud es el cliente.</a:t>
            </a:r>
          </a:p>
          <a:p>
            <a:endParaRPr lang="es-CO"/>
          </a:p>
          <a:p>
            <a:r>
              <a:rPr lang="es-CO" dirty="0"/>
              <a:t>Referencia: MDN Web Docs, "Introduction to web APIs" y "An overview of HTTP".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5 minutos (acumulado: 18 de 120).</a:t>
            </a:r>
          </a:p>
          <a:p>
            <a:endParaRPr lang="es-CO"/>
          </a:p>
          <a:p>
            <a:r>
              <a:rPr lang="es-CO" dirty="0"/>
              <a:t>Esta diapositiva es un EJEMPLO ILUSTRATIVO de mensajes HTTP. Los estudiantes ya usaron GET y POST; hoy se examinan las partes del mensaje que importan para una API.</a:t>
            </a:r>
          </a:p>
          <a:p>
            <a:endParaRPr lang="es-CO"/>
          </a:p>
          <a:p>
            <a:r>
              <a:rPr lang="es-CO" dirty="0"/>
              <a:t>Recorrer la solicitud: primera línea con método, ruta y versión; encabezado Host; encabezado Accept, que indica el formato que el cliente puede interpretar.</a:t>
            </a:r>
          </a:p>
          <a:p>
            <a:endParaRPr lang="es-CO"/>
          </a:p>
          <a:p>
            <a:r>
              <a:rPr lang="es-CO" dirty="0"/>
              <a:t>Recorrer la respuesta: línea de estado (200 OK), encabezado Content-Type: application/json, línea vacía y cuerpo. La línea vacía separa encabezados y cuerpo.</a:t>
            </a:r>
          </a:p>
          <a:p>
            <a:endParaRPr lang="es-CO"/>
          </a:p>
          <a:p>
            <a:r>
              <a:rPr lang="es-CO" dirty="0"/>
              <a:t>Términos nuevos:</a:t>
            </a:r>
          </a:p>
          <a:p>
            <a:r>
              <a:rPr lang="es-CO" dirty="0"/>
              <a:t>- Método: indica la acción solicitada sobre el recurso (GET, POST, PUT, DELETE, entre otros).</a:t>
            </a:r>
          </a:p>
          <a:p>
            <a:r>
              <a:rPr lang="es-CO" dirty="0"/>
              <a:t>- Código de estado: número de tres cifras que resume el resultado. 200: éxito; 201: recurso creado; 400: solicitud incorrecta; 404: recurso no encontrado; 500: error en el servidor.</a:t>
            </a:r>
          </a:p>
          <a:p>
            <a:r>
              <a:rPr lang="es-CO" dirty="0"/>
              <a:t>- Content-Type: encabezado que declara el tipo de medio del cuerpo. application/json indica un documento JSON.</a:t>
            </a:r>
          </a:p>
          <a:p>
            <a:r>
              <a:rPr lang="es-CO" dirty="0"/>
              <a:t>- Cuerpo: contenido que viaja después de los encabezados.</a:t>
            </a:r>
          </a:p>
          <a:p>
            <a:endParaRPr lang="es-CO"/>
          </a:p>
          <a:p>
            <a:r>
              <a:rPr lang="es-CO" dirty="0"/>
              <a:t>Pregunta de comprensión: "¿En qué parte de la respuesta viajan los contactos?". Respuesta esperada: en el cuerpo. Confusión posible: creer que Content-Type contiene los datos; solo los describe.</a:t>
            </a:r>
          </a:p>
          <a:p>
            <a:endParaRPr lang="es-CO"/>
          </a:p>
          <a:p>
            <a:r>
              <a:rPr lang="es-CO" dirty="0"/>
              <a:t>Dato útil para el laboratorio: en la especificación de JSON (RFC 8259) la codificación es UTF-8 y el tipo application/json no define un parámetro charset; por eso el servidor declarará simplemente application/json.</a:t>
            </a:r>
          </a:p>
          <a:p>
            <a:endParaRPr lang="es-CO"/>
          </a:p>
          <a:p>
            <a:r>
              <a:rPr lang="es-CO" dirty="0"/>
              <a:t>Referencias: RFC 9110, HTTP Semantics (https://www.rfc-editor.org/rfc/rfc9110). MDN, "HTTP messages" (https://developer.mozilla.org/en-US/docs/Web/HTTP/Guides/Messages).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4 minutos (acumulado: 22 de 120).</a:t>
            </a:r>
          </a:p>
          <a:p>
            <a:endParaRPr lang="es-CO"/>
          </a:p>
          <a:p>
            <a:r>
              <a:rPr lang="es-CO" dirty="0"/>
              <a:t>EJEMPLO ILUSTRATIVO con datos ficticios.</a:t>
            </a:r>
          </a:p>
          <a:p>
            <a:endParaRPr lang="es-CO"/>
          </a:p>
          <a:p>
            <a:r>
              <a:rPr lang="es-CO" dirty="0"/>
              <a:t>Explicación sugerida: "JSON toma la notación de objetos de JavaScript, pero es un formato de texto independiente del lenguaje. Lo pueden leer y escribir JavaScript, Python, Java o C#".</a:t>
            </a:r>
          </a:p>
          <a:p>
            <a:endParaRPr lang="es-CO"/>
          </a:p>
          <a:p>
            <a:r>
              <a:rPr lang="es-CO" dirty="0"/>
              <a:t>Reglas que conviene mencionar:</a:t>
            </a:r>
          </a:p>
          <a:p>
            <a:r>
              <a:rPr lang="es-CO" dirty="0"/>
              <a:t>- Las claves siempre van entre comillas dobles.</a:t>
            </a:r>
          </a:p>
          <a:p>
            <a:r>
              <a:rPr lang="es-CO" dirty="0"/>
              <a:t>- Los textos también usan comillas dobles; las comillas simples no son válidas en JSON.</a:t>
            </a:r>
          </a:p>
          <a:p>
            <a:r>
              <a:rPr lang="es-CO" dirty="0"/>
              <a:t>- No se permiten comentarios ni comas después del último elemento.</a:t>
            </a:r>
          </a:p>
          <a:p>
            <a:r>
              <a:rPr lang="es-CO" dirty="0"/>
              <a:t>- Los valores posibles son: texto, número, true, false, null, objeto y arreglo.</a:t>
            </a:r>
          </a:p>
          <a:p>
            <a:endParaRPr lang="es-CO"/>
          </a:p>
          <a:p>
            <a:r>
              <a:rPr lang="es-CO" dirty="0"/>
              <a:t>Relación con el laboratorio: la tabla contactos tiene las columnas id, nombre, correo y mensaje. Cada fila se representará como un objeto con esas claves y la consulta completa como un arreglo.</a:t>
            </a:r>
          </a:p>
          <a:p>
            <a:endParaRPr lang="es-CO"/>
          </a:p>
          <a:p>
            <a:r>
              <a:rPr lang="es-CO" dirty="0"/>
              <a:t>Pregunta de comprensión: "¿Qué representa el corchete que abre la segunda caja?". Respuesta esperada: una lista (arreglo) de contactos. Confusión frecuente: creer que JSON y un objeto de JavaScript son lo mismo. JSON es texto; el objeto existe en la memoria del programa. En la Parte A y la Parte B se usan JSON.stringify() y Response.json() para pasar de uno a otro.</a:t>
            </a:r>
          </a:p>
          <a:p>
            <a:endParaRPr lang="es-CO"/>
          </a:p>
          <a:p>
            <a:r>
              <a:rPr lang="es-CO" dirty="0"/>
              <a:t>Referencias: RFC 8259, The JavaScript Object Notation (JSON) Data Interchange Format (https://www.rfc-editor.org/rfc/rfc8259). MDN, "Working with JSON".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3 minutos (acumulado: 25 de 120).</a:t>
            </a:r>
          </a:p>
          <a:p>
            <a:endParaRPr lang="es-CO"/>
          </a:p>
          <a:p>
            <a:r>
              <a:rPr lang="es-CO" dirty="0"/>
              <a:t>EJEMPLO ILUSTRATIVO: el mismo contacto de la diapositiva 6, ahora en XML.</a:t>
            </a:r>
          </a:p>
          <a:p>
            <a:endParaRPr lang="es-CO"/>
          </a:p>
          <a:p>
            <a:r>
              <a:rPr lang="es-CO" dirty="0"/>
              <a:t>Explicación sugerida: "XML organiza la información en elementos. Cada elemento tiene una etiqueta de apertura, un contenido y una etiqueta de cierre. Todo documento tiene un elemento raíz".</a:t>
            </a:r>
          </a:p>
          <a:p>
            <a:endParaRPr lang="es-CO"/>
          </a:p>
          <a:p>
            <a:r>
              <a:rPr lang="es-CO" dirty="0"/>
              <a:t>Términos nuevos:</a:t>
            </a:r>
          </a:p>
          <a:p>
            <a:r>
              <a:rPr lang="es-CO" dirty="0"/>
              <a:t>- Elemento: unidad del documento delimitada por etiquetas, por ejemplo &lt;nombre&gt;Ana&lt;/nombre&gt;.</a:t>
            </a:r>
          </a:p>
          <a:p>
            <a:r>
              <a:rPr lang="es-CO" dirty="0"/>
              <a:t>- Atributo: par nombre-valor dentro de la etiqueta de apertura, por ejemplo id="1".</a:t>
            </a:r>
          </a:p>
          <a:p>
            <a:r>
              <a:rPr lang="es-CO" dirty="0"/>
              <a:t>- Elemento raíz: el elemento que contiene a todos los demás; aquí, &lt;contacto&gt;.</a:t>
            </a:r>
          </a:p>
          <a:p>
            <a:r>
              <a:rPr lang="es-CO" dirty="0"/>
              <a:t>- Espacio de nombres (xmlns): identificador que distingue elementos con el mismo nombre pero de vocabularios diferentes. SOAP lo usa en la diapositiva 10.</a:t>
            </a:r>
          </a:p>
          <a:p>
            <a:endParaRPr lang="es-CO"/>
          </a:p>
          <a:p>
            <a:r>
              <a:rPr lang="es-CO" dirty="0"/>
              <a:t>Pregunta de comprensión: "¿Qué tienen en común este documento y el JSON anterior?". Respuesta esperada: representan los mismos datos. Confusión posible: pensar que XML es un lenguaje de programación. XML describe estructura y contenido; no ejecuta instrucciones.</a:t>
            </a:r>
          </a:p>
          <a:p>
            <a:endParaRPr lang="es-CO"/>
          </a:p>
          <a:p>
            <a:r>
              <a:rPr lang="es-CO" dirty="0"/>
              <a:t>Observación: en este ejemplo id se representa como atributo para mostrar esa posibilidad. También podría representarse como elemento (&lt;id&gt;1&lt;/id&gt;). La elección depende del diseño del vocabulario.</a:t>
            </a:r>
          </a:p>
          <a:p>
            <a:endParaRPr lang="es-CO"/>
          </a:p>
          <a:p>
            <a:r>
              <a:rPr lang="es-CO" dirty="0"/>
              <a:t>Referencia: W3C, Extensible Markup Language (XML) 1.0 (Fifth Edition) (https://www.w3.org/TR/xml/).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3 minutos (acumulado: 28 de 120).</a:t>
            </a:r>
          </a:p>
          <a:p>
            <a:endParaRPr lang="es-CO"/>
          </a:p>
          <a:p>
            <a:r>
              <a:rPr lang="es-CO" dirty="0"/>
              <a:t>EJEMPLO ILUSTRATIVO: el mismo contacto de las diapositivas 6 y 7, ahora en YAML.</a:t>
            </a:r>
          </a:p>
          <a:p>
            <a:endParaRPr lang="es-CO"/>
          </a:p>
          <a:p>
            <a:r>
              <a:rPr lang="es-CO" dirty="0"/>
              <a:t>Explicación sugerida: "YAML busca que los datos sean fáciles de leer para una persona. Usa pares clave: valor y expresa la jerarquía con indentación".</a:t>
            </a:r>
          </a:p>
          <a:p>
            <a:endParaRPr lang="es-CO"/>
          </a:p>
          <a:p>
            <a:r>
              <a:rPr lang="es-CO" dirty="0"/>
              <a:t>Reglas mínimas:</a:t>
            </a:r>
          </a:p>
          <a:p>
            <a:r>
              <a:rPr lang="es-CO" dirty="0"/>
              <a:t>- Después de los dos puntos va un espacio.</a:t>
            </a:r>
          </a:p>
          <a:p>
            <a:r>
              <a:rPr lang="es-CO" dirty="0"/>
              <a:t>- La indentación se hace con espacios. La especificación no admite tabulaciones para indentar.</a:t>
            </a:r>
          </a:p>
          <a:p>
            <a:r>
              <a:rPr lang="es-CO" dirty="0"/>
              <a:t>- El guion seguido de un espacio inicia un elemento de lista.</a:t>
            </a:r>
          </a:p>
          <a:p>
            <a:r>
              <a:rPr lang="es-CO" dirty="0"/>
              <a:t>- Los textos pueden escribirse sin comillas cuando no generan ambigüedad.</a:t>
            </a:r>
          </a:p>
          <a:p>
            <a:endParaRPr lang="es-CO"/>
          </a:p>
          <a:p>
            <a:r>
              <a:rPr lang="es-CO" dirty="0"/>
              <a:t>Pregunta de comprensión: "¿Cómo sabe YAML que nombre pertenece al primer contacto de la lista?". Respuesta esperada: por la indentación bajo el guion. Confusión frecuente: mezclar tabulaciones y espacios; el archivo deja de ser válido o cambia su estructura.</a:t>
            </a:r>
          </a:p>
          <a:p>
            <a:endParaRPr lang="es-CO"/>
          </a:p>
          <a:p>
            <a:r>
              <a:rPr lang="es-CO" dirty="0"/>
              <a:t>Cierre del bloque de formatos: JSON, XML y YAML representan los mismos datos con reglas de escritura diferentes. Ninguno de ellos define por sí solo cómo se diseña una API; esa es la función de REST, SOAP o GraphQL, que se presentan a continuación.</a:t>
            </a:r>
          </a:p>
          <a:p>
            <a:endParaRPr lang="es-CO"/>
          </a:p>
          <a:p>
            <a:r>
              <a:rPr lang="es-CO" dirty="0"/>
              <a:t>Referencia: YAML Ain't Markup Language (YAML) version 1.2.2 (https://yaml.org/spec/1.2.2/).</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5 minutos (acumulado: 33 de 120).</a:t>
            </a:r>
          </a:p>
          <a:p>
            <a:endParaRPr lang="es-CO"/>
          </a:p>
          <a:p>
            <a:r>
              <a:rPr lang="es-CO" dirty="0"/>
              <a:t>Explicación sugerida: "REST es un estilo de arquitectura descrito por Roy Fielding en su tesis doctoral (2000). Un estilo es un conjunto de restricciones que, si se respetan, producen ciertas propiedades del sistema: escalabilidad, independencia entre componentes, posibilidad de usar caché".</a:t>
            </a:r>
          </a:p>
          <a:p>
            <a:endParaRPr lang="es-CO"/>
          </a:p>
          <a:p>
            <a:r>
              <a:rPr lang="es-CO" dirty="0"/>
              <a:t>Términos nuevos:</a:t>
            </a:r>
          </a:p>
          <a:p>
            <a:r>
              <a:rPr lang="es-CO" dirty="0"/>
              <a:t>- Recurso: cualquier información que se puede nombrar; aquí, la colección de contactos o un contacto específico.</a:t>
            </a:r>
          </a:p>
          <a:p>
            <a:r>
              <a:rPr lang="es-CO" dirty="0"/>
              <a:t>- Dirección (URI): identificador del recurso, por ejemplo /api/contactos/1.</a:t>
            </a:r>
          </a:p>
          <a:p>
            <a:r>
              <a:rPr lang="es-CO" dirty="0"/>
              <a:t>- Representación: la forma en que viaja el estado del recurso; hoy, un documento JSON.</a:t>
            </a:r>
          </a:p>
          <a:p>
            <a:r>
              <a:rPr lang="es-CO" dirty="0"/>
              <a:t>- Sin estado: cada solicitud contiene lo necesario para ser atendida; el servidor no depende de solicitudes anteriores del mismo cliente.</a:t>
            </a:r>
          </a:p>
          <a:p>
            <a:r>
              <a:rPr lang="es-CO" dirty="0"/>
              <a:t>- Interfaz uniforme: los recursos se manipulan con un conjunto común de operaciones y mensajes autodescriptivos.</a:t>
            </a:r>
          </a:p>
          <a:p>
            <a:endParaRPr lang="es-CO"/>
          </a:p>
          <a:p>
            <a:r>
              <a:rPr lang="es-CO" dirty="0"/>
              <a:t>Lectura de la tabla: la misma dirección /api/contactos admite GET para consultar y POST para crear. El método expresa la acción; la dirección nombra el recurso. Solo la primera fila se implementa hoy; las demás son ejemplos de diseño.</a:t>
            </a:r>
          </a:p>
          <a:p>
            <a:endParaRPr lang="es-CO"/>
          </a:p>
          <a:p>
            <a:r>
              <a:rPr lang="es-CO" dirty="0"/>
              <a:t>Precisión obligatoria: REST no exige JSON. Una API REST puede usar JSON, XML, HTML u otros formatos. Además, devolver JSON en una ruta no basta para afirmar que una API cumple todas las restricciones de REST. Por eso hablamos de "introducción práctica a REST".</a:t>
            </a:r>
          </a:p>
          <a:p>
            <a:endParaRPr lang="es-CO"/>
          </a:p>
          <a:p>
            <a:r>
              <a:rPr lang="es-CO" dirty="0"/>
              <a:t>Pregunta de comprensión: "¿La ruta POST /contacto del Laboratorio 05 forma parte de la API?". Respuesta esperada: atiende un formulario HTML y responde HTML para una persona; la ruta /api/contactos responde datos para un programa. Confusión frecuente: creer que REST es un protocolo o una biblioteca.</a:t>
            </a:r>
          </a:p>
          <a:p>
            <a:endParaRPr lang="es-CO"/>
          </a:p>
          <a:p>
            <a:r>
              <a:rPr lang="es-CO" dirty="0"/>
              <a:t>Referencia: Fielding, R. T. (2000). Architectural Styles and the Design of Network-based Software Architectures, capítulo 5 (https://ics.uci.edu/~fielding/pubs/dissertation/rest_arch_style.htm).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4 minutos (acumulado: 37 de 120). Introducción conceptual; SOAP no se implementa hoy.</a:t>
            </a:r>
          </a:p>
          <a:p>
            <a:endParaRPr lang="es-CO"/>
          </a:p>
          <a:p>
            <a:r>
              <a:rPr lang="es-CO" dirty="0"/>
              <a:t>EJEMPLO ILUSTRATIVO de un mensaje SOAP 1.2. El espacio de nombres http://example.com/contactos es inventado para el ejemplo.</a:t>
            </a:r>
          </a:p>
          <a:p>
            <a:endParaRPr lang="es-CO"/>
          </a:p>
          <a:p>
            <a:r>
              <a:rPr lang="es-CO" dirty="0"/>
              <a:t>Explicación sugerida: "SOAP define un sobre XML con reglas precisas. Todo mensaje tiene un Envelope, que puede tener un Header y siempre tiene un Body. La aplicación coloca su contenido dentro del Body".</a:t>
            </a:r>
          </a:p>
          <a:p>
            <a:endParaRPr lang="es-CO"/>
          </a:p>
          <a:p>
            <a:r>
              <a:rPr lang="es-CO" dirty="0"/>
              <a:t>Términos nuevos:</a:t>
            </a:r>
          </a:p>
          <a:p>
            <a:r>
              <a:rPr lang="es-CO" dirty="0"/>
              <a:t>- Protocolo de mensajería: conjunto de reglas sobre la estructura de los mensajes y la manera de procesarlos.</a:t>
            </a:r>
          </a:p>
          <a:p>
            <a:r>
              <a:rPr lang="es-CO" dirty="0"/>
              <a:t>- Envelope: elemento raíz; identifica el documento como mensaje SOAP. El espacio de nombres de SOAP 1.2 es http://www.w3.org/2003/05/soap-envelope.</a:t>
            </a:r>
          </a:p>
          <a:p>
            <a:r>
              <a:rPr lang="es-CO" dirty="0"/>
              <a:t>- Header: bloques opcionales, por ejemplo información de seguridad o de enrutamiento.</a:t>
            </a:r>
          </a:p>
          <a:p>
            <a:r>
              <a:rPr lang="es-CO" dirty="0"/>
              <a:t>- Body: contenido destinado al receptor final.</a:t>
            </a:r>
          </a:p>
          <a:p>
            <a:r>
              <a:rPr lang="es-CO" dirty="0"/>
              <a:t>- Fault: estructura para comunicar errores dentro del Body.</a:t>
            </a:r>
          </a:p>
          <a:p>
            <a:endParaRPr lang="es-CO"/>
          </a:p>
          <a:p>
            <a:r>
              <a:rPr lang="es-CO" dirty="0"/>
              <a:t>Relación con la clase: SOAP y el ejemplo REST pueden usar HTTP como transporte. Con SOAP, la operación se expresa dentro del mensaje XML. En el enfoque REST del laboratorio, la dirección identifica el recurso y el método HTTP expresa la acción.</a:t>
            </a:r>
          </a:p>
          <a:p>
            <a:endParaRPr lang="es-CO"/>
          </a:p>
          <a:p>
            <a:r>
              <a:rPr lang="es-CO" dirty="0"/>
              <a:t>Pregunta de comprensión: "¿Qué elemento es obligatorio además de Envelope?". Respuesta esperada: Body. Confusión frecuente: creer que SOAP es un formato de datos como XML. SOAP es un protocolo que usa XML para construir sus mensajes.</a:t>
            </a:r>
          </a:p>
          <a:p>
            <a:endParaRPr lang="es-CO"/>
          </a:p>
          <a:p>
            <a:r>
              <a:rPr lang="es-CO" dirty="0"/>
              <a:t>Contexto de uso: SOAP sigue presente en integraciones empresariales, sistemas financieros y servicios gubernamentales que requieren contratos formales.</a:t>
            </a:r>
          </a:p>
          <a:p>
            <a:endParaRPr lang="es-CO"/>
          </a:p>
          <a:p>
            <a:r>
              <a:rPr lang="es-CO" dirty="0"/>
              <a:t>Referencia: W3C, SOAP Version 1.2 Part 1: Messaging Framework (Second Edition), Recomendación del 27 de abril de 2007 (https://www.w3.org/TR/soap12-part1/).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5 minutos (acumulado: 42 de 120). Introducción conceptual; GraphQL no se implementa hoy.</a:t>
            </a:r>
          </a:p>
          <a:p>
            <a:endParaRPr lang="es-CO"/>
          </a:p>
          <a:p>
            <a:r>
              <a:rPr lang="es-CO" dirty="0"/>
              <a:t>EJEMPLO ILUSTRATIVO. Recorrer las tres cajas en orden.</a:t>
            </a:r>
          </a:p>
          <a:p>
            <a:endParaRPr lang="es-CO"/>
          </a:p>
          <a:p>
            <a:r>
              <a:rPr lang="es-CO" dirty="0"/>
              <a:t>1. Esquema: el servidor declara los tipos y campos que ofrece. Contacto tiene cuatro campos. Query define los puntos de entrada de lectura; aquí, contactos devuelve una lista de Contacto. El signo ! indica que el valor no puede ser nulo.</a:t>
            </a:r>
          </a:p>
          <a:p>
            <a:r>
              <a:rPr lang="es-CO" dirty="0"/>
              <a:t>2. Consulta: el cliente pide solamente nombre y correo.</a:t>
            </a:r>
          </a:p>
          <a:p>
            <a:r>
              <a:rPr lang="es-CO" dirty="0"/>
              <a:t>3. Respuesta: el resultado conserva la forma de la consulta y aparece dentro de data. JSON es el formato de respuesta más habitual.</a:t>
            </a:r>
          </a:p>
          <a:p>
            <a:endParaRPr lang="es-CO"/>
          </a:p>
          <a:p>
            <a:r>
              <a:rPr lang="es-CO" dirty="0"/>
              <a:t>Explicación sugerida: "En el enfoque de recursos, el servidor decide qué campos incluye la respuesta de cada ruta. En GraphQL, el servidor publica un esquema y el cliente selecciona los campos que necesita dentro de ese esquema".</a:t>
            </a:r>
          </a:p>
          <a:p>
            <a:endParaRPr lang="es-CO"/>
          </a:p>
          <a:p>
            <a:r>
              <a:rPr lang="es-CO" dirty="0"/>
              <a:t>Precisión obligatoria: GraphQL no da acceso directo del cliente a la base de datos. Para cada campo, el servidor ejecuta funciones (llamadas resolvers en la documentación) que obtienen los datos de donde corresponda: una base de datos, otro servicio o un archivo. El cliente nunca ve SQLite ni escribe SQL.</a:t>
            </a:r>
          </a:p>
          <a:p>
            <a:endParaRPr lang="es-CO"/>
          </a:p>
          <a:p>
            <a:r>
              <a:rPr lang="es-CO" dirty="0"/>
              <a:t>Términos nuevos:</a:t>
            </a:r>
          </a:p>
          <a:p>
            <a:r>
              <a:rPr lang="es-CO" dirty="0"/>
              <a:t>- Esquema: descripción de los tipos y campos disponibles.</a:t>
            </a:r>
          </a:p>
          <a:p>
            <a:r>
              <a:rPr lang="es-CO" dirty="0"/>
              <a:t>- Consulta (query): operación de lectura escrita en el lenguaje GraphQL.</a:t>
            </a:r>
          </a:p>
          <a:p>
            <a:r>
              <a:rPr lang="es-CO" dirty="0"/>
              <a:t>- Mutación (mutation): operación para modificar datos. Se menciona, pero no se desarrolla.</a:t>
            </a:r>
          </a:p>
          <a:p>
            <a:endParaRPr lang="es-CO"/>
          </a:p>
          <a:p>
            <a:r>
              <a:rPr lang="es-CO" dirty="0"/>
              <a:t>Pregunta de comprensión: "¿Puede el cliente pedir un campo telefono?". Respuesta esperada: no, porque el esquema no lo define; el servidor rechazaría la consulta en la validación. Confusión frecuente: confundir GraphQL con SQL por la palabra "consulta".</a:t>
            </a:r>
          </a:p>
          <a:p>
            <a:endParaRPr lang="es-CO"/>
          </a:p>
          <a:p>
            <a:r>
              <a:rPr lang="es-CO" dirty="0"/>
              <a:t>Referencia: GraphQL Foundation, "Introduction to GraphQL" (https://graphql.org/learn/) y la especificación (https://spec.graphql.org/).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COMPARACIÓN · 4 minutos (acumulado: 46 de 120).</a:t>
            </a:r>
          </a:p>
          <a:p>
            <a:endParaRPr lang="es-CO"/>
          </a:p>
          <a:p>
            <a:r>
              <a:rPr lang="es-CO" dirty="0"/>
              <a:t>La columna clave es "Tipo de tecnología". REST es un estilo de arquitectura; SOAP es un protocolo de mensajería; GraphQL es un lenguaje de consultas con su sistema de ejecución. Por eso compararlos como si fueran tres productos equivalentes produce confusiones.</a:t>
            </a:r>
          </a:p>
          <a:p>
            <a:endParaRPr lang="es-CO"/>
          </a:p>
          <a:p>
            <a:r>
              <a:rPr lang="es-CO" dirty="0"/>
              <a:t>Lectura de las demás columnas:</a:t>
            </a:r>
          </a:p>
          <a:p>
            <a:r>
              <a:rPr lang="es-CO" dirty="0"/>
              <a:t>- Formato: REST no impone formato (JSON es frecuente); SOAP usa XML; GraphQL suele responder en JSON.</a:t>
            </a:r>
          </a:p>
          <a:p>
            <a:r>
              <a:rPr lang="es-CO" dirty="0"/>
              <a:t>- Forma de solicitar: REST usa direcciones de recursos y métodos HTTP; SOAP envía un mensaje con Envelope y Body; GraphQL envía una consulta que selecciona campos.</a:t>
            </a:r>
          </a:p>
          <a:p>
            <a:r>
              <a:rPr lang="es-CO" dirty="0"/>
              <a:t>- Descripción: una API HTTP puede describirse con OpenAPI; un servicio SOAP suele describirse con WSDL; GraphQL publica su esquema, que puede consultarse mediante introspección.</a:t>
            </a:r>
          </a:p>
          <a:p>
            <a:endParaRPr lang="es-CO"/>
          </a:p>
          <a:p>
            <a:r>
              <a:rPr lang="es-CO" dirty="0"/>
              <a:t>Pregunta de comprensión: "¿Cuál de los tres define obligatoriamente el formato XML?". Respuesta esperada: SOAP. Segunda pregunta: "¿REST obliga a usar JSON?". Respuesta esperada: no; JSON es una elección frecuente.</a:t>
            </a:r>
          </a:p>
          <a:p>
            <a:endParaRPr lang="es-CO"/>
          </a:p>
          <a:p>
            <a:r>
              <a:rPr lang="es-CO" dirty="0"/>
              <a:t>Confusión frecuente: presentar GraphQL como "el reemplazo de REST". En la práctica conviven y cada uno responde a necesidades distintas; la elección depende de los clientes, de los contratos que se deben cumplir y de la forma de los datos.</a:t>
            </a:r>
          </a:p>
          <a:p>
            <a:endParaRPr lang="es-CO"/>
          </a:p>
          <a:p>
            <a:r>
              <a:rPr lang="es-CO" dirty="0"/>
              <a:t>Referencias: Fielding (2000), capítulo 5; W3C SOAP 1.2 Part 1; graphql.org/learn; OpenAPI Specification; W3C WSDL 2.0 Part 1.</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4 minutos (acumulado: 50 de 120). Introducción conceptual.</a:t>
            </a:r>
          </a:p>
          <a:p>
            <a:endParaRPr lang="es-CO"/>
          </a:p>
          <a:p>
            <a:r>
              <a:rPr lang="es-CO" dirty="0"/>
              <a:t>EJEMPLO ILUSTRATIVO y ABREVIADO de un documento WSDL 2.0. Los puntos suspensivos indican partes omitidas; el documento no está completo ni se ejecuta en clase.</a:t>
            </a:r>
          </a:p>
          <a:p>
            <a:endParaRPr lang="es-CO"/>
          </a:p>
          <a:p>
            <a:r>
              <a:rPr lang="es-CO" dirty="0"/>
              <a:t>Explicación sugerida: "Un documento WSDL es un contrato legible por programas. Dice qué operaciones tiene el servicio, qué mensaje recibe cada operación, qué mensaje devuelve, con qué protocolo se comunica y en qué dirección se encuentra".</a:t>
            </a:r>
          </a:p>
          <a:p>
            <a:endParaRPr lang="es-CO"/>
          </a:p>
          <a:p>
            <a:r>
              <a:rPr lang="es-CO" dirty="0"/>
              <a:t>Términos nuevos:</a:t>
            </a:r>
          </a:p>
          <a:p>
            <a:r>
              <a:rPr lang="es-CO" dirty="0"/>
              <a:t>- Operación: acción que ofrece el servicio; aquí, consultarContactos.</a:t>
            </a:r>
          </a:p>
          <a:p>
            <a:r>
              <a:rPr lang="es-CO" dirty="0"/>
              <a:t>- input y output: mensaje de entrada y mensaje de salida de la operación. El atributo pattern (in-out) indica que hay una solicitud y una respuesta.</a:t>
            </a:r>
          </a:p>
          <a:p>
            <a:r>
              <a:rPr lang="es-CO" dirty="0"/>
              <a:t>- types: definiciones de la estructura de los mensajes, normalmente con XML Schema.</a:t>
            </a:r>
          </a:p>
          <a:p>
            <a:r>
              <a:rPr lang="es-CO" dirty="0"/>
              <a:t>- binding: une la interfaz abstracta con un protocolo concreto, por ejemplo SOAP sobre HTTP.</a:t>
            </a:r>
          </a:p>
          <a:p>
            <a:r>
              <a:rPr lang="es-CO" dirty="0"/>
              <a:t>- service: indica la dirección (endpoint) donde el servicio está disponible.</a:t>
            </a:r>
          </a:p>
          <a:p>
            <a:endParaRPr lang="es-CO"/>
          </a:p>
          <a:p>
            <a:r>
              <a:rPr lang="es-CO" dirty="0"/>
              <a:t>Precisión histórica útil: WSDL 1.1 (Nota del W3C, 2001) sigue siendo muy común en servicios SOAP existentes y usa elementos como message y portType. WSDL 2.0 es la Recomendación del W3C de 2007 y usa interface. La idea central es la misma en ambas versiones.</a:t>
            </a:r>
          </a:p>
          <a:p>
            <a:endParaRPr lang="es-CO"/>
          </a:p>
          <a:p>
            <a:r>
              <a:rPr lang="es-CO" dirty="0"/>
              <a:t>Pregunta de comprensión: "¿Qué parte del documento dice qué recibe y qué devuelve consultarContactos?". Respuesta esperada: input y output. Confusión frecuente: creer que WSDL implementa el servicio. WSDL lo describe; el servicio se programa aparte.</a:t>
            </a:r>
          </a:p>
          <a:p>
            <a:endParaRPr lang="es-CO"/>
          </a:p>
          <a:p>
            <a:r>
              <a:rPr lang="es-CO" dirty="0"/>
              <a:t>Referencia: W3C, Web Services Description Language (WSDL) Version 2.0 Part 1: Core Language, Recomendación del 26 de junio de 2007 (https://www.w3.org/TR/wsdl20/).</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CONCEPTO · 5 minutos (acumulado: 55 de 120). Cierre del bloque conceptual.</a:t>
            </a:r>
          </a:p>
          <a:p>
            <a:endParaRPr lang="es-CO"/>
          </a:p>
          <a:p>
            <a:r>
              <a:rPr lang="es-CO" dirty="0"/>
              <a:t>Este documento describe la ruta que se construirá en la Parte A del laboratorio; el resultado real se observa en la diapositiva 17.</a:t>
            </a:r>
          </a:p>
          <a:p>
            <a:endParaRPr lang="es-CO"/>
          </a:p>
          <a:p>
            <a:r>
              <a:rPr lang="es-CO" dirty="0"/>
              <a:t>Recorrido del documento:</a:t>
            </a:r>
          </a:p>
          <a:p>
            <a:r>
              <a:rPr lang="es-CO" dirty="0"/>
              <a:t>- openapi: versión de la especificación usada por el documento (3.1.0 en este ejemplo; consultar la versión vigente en spec.openapis.org).</a:t>
            </a:r>
          </a:p>
          <a:p>
            <a:r>
              <a:rPr lang="es-CO" dirty="0"/>
              <a:t>- info: título y versión de la API.</a:t>
            </a:r>
          </a:p>
          <a:p>
            <a:r>
              <a:rPr lang="es-CO" dirty="0"/>
              <a:t>- paths: rutas disponibles; dentro de /api/contactos, la operación get.</a:t>
            </a:r>
          </a:p>
          <a:p>
            <a:r>
              <a:rPr lang="es-CO" dirty="0"/>
              <a:t>- responses: respuestas posibles; '200' se escribe entre comillas porque las claves de respuesta son textos.</a:t>
            </a:r>
          </a:p>
          <a:p>
            <a:r>
              <a:rPr lang="es-CO" dirty="0"/>
              <a:t>- content → application/json: tipo de medio de la respuesta.</a:t>
            </a:r>
          </a:p>
          <a:p>
            <a:r>
              <a:rPr lang="es-CO" dirty="0"/>
              <a:t>- schema: estructura del cuerpo; un arreglo de objetos.</a:t>
            </a:r>
          </a:p>
          <a:p>
            <a:endParaRPr lang="es-CO"/>
          </a:p>
          <a:p>
            <a:r>
              <a:rPr lang="es-CO" dirty="0"/>
              <a:t>Por espacio, el esquema de cada contacto está abreviado. La versión completa, para mostrar si se pregunta, agrega bajo items:</a:t>
            </a:r>
          </a:p>
          <a:p>
            <a:r>
              <a:rPr lang="es-CO" dirty="0"/>
              <a:t>    properties:</a:t>
            </a:r>
          </a:p>
          <a:p>
            <a:r>
              <a:rPr lang="es-CO" dirty="0"/>
              <a:t>      id: { type: integer }</a:t>
            </a:r>
          </a:p>
          <a:p>
            <a:r>
              <a:rPr lang="es-CO" dirty="0"/>
              <a:t>      nombre: { type: string }</a:t>
            </a:r>
          </a:p>
          <a:p>
            <a:r>
              <a:rPr lang="es-CO" dirty="0"/>
              <a:t>      correo: { type: string }</a:t>
            </a:r>
          </a:p>
          <a:p>
            <a:r>
              <a:rPr lang="es-CO" dirty="0"/>
              <a:t>      mensaje: { type: string }</a:t>
            </a:r>
          </a:p>
          <a:p>
            <a:endParaRPr lang="es-CO"/>
          </a:p>
          <a:p>
            <a:r>
              <a:rPr lang="es-CO" dirty="0"/>
              <a:t>Idea central: una descripción OpenAPI escrita en YAML puede documentar una API que responde en JSON. YAML es el formato del documento que describe; JSON es el formato de la respuesta que se describe. La especificación aclara que los cuerpos de las solicitudes y respuestas no tienen que ser JSON ni YAML.</a:t>
            </a:r>
          </a:p>
          <a:p>
            <a:endParaRPr lang="es-CO"/>
          </a:p>
          <a:p>
            <a:r>
              <a:rPr lang="es-CO" dirty="0"/>
              <a:t>Relación con WSDL: ambos describen servicios. WSDL se asocia a servicios descritos en XML, como SOAP; OpenAPI describe API HTTP.</a:t>
            </a:r>
          </a:p>
          <a:p>
            <a:endParaRPr lang="es-CO"/>
          </a:p>
          <a:p>
            <a:r>
              <a:rPr lang="es-CO" dirty="0"/>
              <a:t>Pregunta de comprensión: "Si el archivo openapi.yaml está en YAML, ¿la API responde en YAML?". Respuesta esperada: no; responde en el formato indicado en content, aquí application/json. Esta es la confusión más probable de la diapositiva.</a:t>
            </a:r>
          </a:p>
          <a:p>
            <a:endParaRPr lang="es-CO"/>
          </a:p>
          <a:p>
            <a:r>
              <a:rPr lang="es-CO" dirty="0"/>
              <a:t>Referencia: OpenAPI Initiative, OpenAPI Specification (https://spec.openapis.org/oas/latest.html).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LABORATORIO 06 · PRESENTACIÓN · 5 minutos (acumulado: 60 de 120). Inicio del bloque de la Parte A.</a:t>
            </a:r>
          </a:p>
          <a:p>
            <a:endParaRPr lang="es-CO"/>
          </a:p>
          <a:p>
            <a:r>
              <a:rPr lang="es-CO" dirty="0"/>
              <a:t>Aclarar la dinámica: el docente realiza la demostración en su computadora y la proyecta. Los estudiantes siguen el razonamiento, responden las preguntas de control y conservan el código compartido para resolver la tarea.</a:t>
            </a:r>
          </a:p>
          <a:p>
            <a:endParaRPr lang="es-CO"/>
          </a:p>
          <a:p>
            <a:r>
              <a:rPr lang="es-CO" dirty="0"/>
              <a:t>Acciones concretas antes de la Parte A:</a:t>
            </a:r>
          </a:p>
          <a:p>
            <a:r>
              <a:rPr lang="es-CO" dirty="0"/>
              <a:t>1. Abrir en el editor la carpeta del proyecto del Laboratorio 05.</a:t>
            </a:r>
          </a:p>
          <a:p>
            <a:r>
              <a:rPr lang="es-CO" dirty="0"/>
              <a:t>2. Verificar que existan server_rutas.js, contacto.html, styles.css y contactos.db.</a:t>
            </a:r>
          </a:p>
          <a:p>
            <a:r>
              <a:rPr lang="es-CO" dirty="0"/>
              <a:t>3. Ejecutar node server_rutas.js y abrir http://localhost:3000/contacto para confirmar que el formulario sigue funcionando.</a:t>
            </a:r>
          </a:p>
          <a:p>
            <a:r>
              <a:rPr lang="es-CO" dirty="0"/>
              <a:t>4. Si contactos.db está vacío, registrar dos contactos ficticios desde el formulario:</a:t>
            </a:r>
          </a:p>
          <a:p>
            <a:r>
              <a:rPr lang="es-CO" dirty="0"/>
              <a:t>   - Ana · ana@example.com · Hola, quiero información del curso.</a:t>
            </a:r>
          </a:p>
          <a:p>
            <a:r>
              <a:rPr lang="es-CO" dirty="0"/>
              <a:t>   - Beatriz · beatriz@example.com · Solicito el horario de atención.</a:t>
            </a:r>
          </a:p>
          <a:p>
            <a:endParaRPr lang="es-CO"/>
          </a:p>
          <a:p>
            <a:r>
              <a:rPr lang="es-CO" dirty="0"/>
              <a:t>Resultado esperado al final del laboratorio:</a:t>
            </a:r>
          </a:p>
          <a:p>
            <a:r>
              <a:rPr lang="es-CO" dirty="0"/>
              <a:t>- http://localhost:3000/api/contactos muestra un arreglo JSON.</a:t>
            </a:r>
          </a:p>
          <a:p>
            <a:r>
              <a:rPr lang="es-CO" dirty="0"/>
              <a:t>- http://localhost:3000/contactos muestra una tabla con id, nombre y correo al pulsar "Consultar contactos".</a:t>
            </a:r>
          </a:p>
          <a:p>
            <a:endParaRPr lang="es-CO"/>
          </a:p>
          <a:p>
            <a:r>
              <a:rPr lang="es-CO" dirty="0"/>
              <a:t>Alcance: se usa el mismo servidor Node.js del curso, con CommonJS y el módulo node:http. No se incorpora Express, autenticación, Docker ni servicios externos. La página y la API se sirven desde el mismo servidor (mismo origen), por eso fetch() usa una ruta relativa.</a:t>
            </a:r>
          </a:p>
          <a:p>
            <a:endParaRPr lang="es-CO"/>
          </a:p>
          <a:p>
            <a:r>
              <a:rPr lang="es-CO" dirty="0"/>
              <a:t>Aviso previsible en la terminal: Node.js puede mostrar ExperimentalWarning al cargar node:sqlite. Es un aviso informativo y no impide la ejecución.</a:t>
            </a:r>
          </a:p>
          <a:p>
            <a:endParaRPr lang="es-CO"/>
          </a:p>
          <a:p>
            <a:r>
              <a:rPr lang="es-CO" dirty="0"/>
              <a:t>Pregunta de comprensión: "¿Qué parte del laboratorio actúa como servidor y cuál como cliente?". Respuesta esperada: la Parte A construye el servidor de la API; la Parte B construye el cliente en el navegador.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LABORATORIO 06 · PARTE A · 8 minutos (acumulado: 68 de 120).</a:t>
            </a:r>
          </a:p>
          <a:p>
            <a:endParaRPr lang="es-CO"/>
          </a:p>
          <a:p>
            <a:r>
              <a:rPr lang="es-CO" dirty="0"/>
              <a:t>Acciones del docente:</a:t>
            </a:r>
          </a:p>
          <a:p>
            <a:r>
              <a:rPr lang="es-CO" dirty="0"/>
              <a:t>1. Abrir server_rutas.js.</a:t>
            </a:r>
          </a:p>
          <a:p>
            <a:r>
              <a:rPr lang="es-CO" dirty="0"/>
              <a:t>2. Ubicar la declaración de insertarContacto, al inicio del archivo y antes de http.createServer.</a:t>
            </a:r>
          </a:p>
          <a:p>
            <a:r>
              <a:rPr lang="es-CO" dirty="0"/>
              <a:t>3. Escribir inmediatamente después la declaración de consultarContactos que aparece en la caja central.</a:t>
            </a:r>
          </a:p>
          <a:p>
            <a:r>
              <a:rPr lang="es-CO" dirty="0"/>
              <a:t>4. Comprobación temporal de los datos ficticios: agregar después de la declaración la línea</a:t>
            </a:r>
          </a:p>
          <a:p>
            <a:r>
              <a:rPr lang="es-CO" dirty="0"/>
              <a:t>       console.log(consultarContactos.all());</a:t>
            </a:r>
          </a:p>
          <a:p>
            <a:r>
              <a:rPr lang="es-CO" dirty="0"/>
              <a:t>   reiniciar el servidor (Ctrl+C y node server_rutas.js) y observar en la terminal el arreglo con Ana y Beatriz. Después, borrar esa línea.</a:t>
            </a:r>
          </a:p>
          <a:p>
            <a:endParaRPr lang="es-CO"/>
          </a:p>
          <a:p>
            <a:r>
              <a:rPr lang="es-CO" dirty="0"/>
              <a:t>Explicación de términos:</a:t>
            </a:r>
          </a:p>
          <a:p>
            <a:r>
              <a:rPr lang="es-CO" dirty="0"/>
              <a:t>- db.prepare(sql): recibe el texto SQL y devuelve una sentencia preparada (objeto StatementSync). La preparación se hace una sola vez, al iniciar el servidor; luego la sentencia se ejecuta cuantas veces se necesite.</a:t>
            </a:r>
          </a:p>
          <a:p>
            <a:r>
              <a:rPr lang="es-CO" dirty="0"/>
              <a:t>- all(): ejecuta la sentencia preparada y devuelve un arreglo con todas las filas del resultado. Cada fila es un objeto cuyas propiedades tienen los nombres de las columnas.</a:t>
            </a:r>
          </a:p>
          <a:p>
            <a:r>
              <a:rPr lang="es-CO" dirty="0"/>
              <a:t>- SELECT con columnas explícitas: se listan id, nombre, correo y mensaje en lugar de *. Así la API devuelve exactamente las columnas acordadas aunque la tabla cambie en el futuro.</a:t>
            </a:r>
          </a:p>
          <a:p>
            <a:r>
              <a:rPr lang="es-CO" dirty="0"/>
              <a:t>- ORDER BY id: define un orden predecible para la lista.</a:t>
            </a:r>
          </a:p>
          <a:p>
            <a:endParaRPr lang="es-CO"/>
          </a:p>
          <a:p>
            <a:r>
              <a:rPr lang="es-CO" dirty="0"/>
              <a:t>Ubicación correcta: la preparación va fuera del manejador de peticiones, igual que insertarContacto en el Laboratorio 05. Error probable: preparar la sentencia dentro de http.createServer; funciona, pero repite el trabajo en cada solicitud.</a:t>
            </a:r>
          </a:p>
          <a:p>
            <a:endParaRPr lang="es-CO"/>
          </a:p>
          <a:p>
            <a:r>
              <a:rPr lang="es-CO" dirty="0"/>
              <a:t>Pregunta de comprensión: "¿Qué tipo de valor devuelve all()?". Respuesta esperada: un arreglo de objetos de JavaScript. Confusión frecuente: creer que all() devuelve texto JSON. La conversión a texto se hace en la ruta con JSON.stringify().</a:t>
            </a:r>
          </a:p>
          <a:p>
            <a:endParaRPr lang="es-CO"/>
          </a:p>
          <a:p>
            <a:r>
              <a:rPr lang="es-CO" dirty="0"/>
              <a:t>Si la tabla está vacía, all() devuelve un arreglo vacío [] y no produce error. Ese caso se atiende en la Parte B.</a:t>
            </a:r>
          </a:p>
          <a:p>
            <a:endParaRPr lang="es-CO"/>
          </a:p>
          <a:p>
            <a:r>
              <a:rPr lang="es-CO" dirty="0"/>
              <a:t>Referencia: Node.js v24 Documentation, "SQLite": DatabaseSync, database.prepare(sql) y statement.all() (https://nodejs.org/docs/latest-v24.x/api/sqlite.html).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LABORATORIO 06 · PARTE A · 12 minutos (acumulado: 80 de 120). Fin de la Parte A.</a:t>
            </a:r>
          </a:p>
          <a:p>
            <a:endParaRPr lang="es-CO"/>
          </a:p>
          <a:p>
            <a:r>
              <a:rPr lang="es-CO" dirty="0"/>
              <a:t>Acciones del docente:</a:t>
            </a:r>
          </a:p>
          <a:p>
            <a:r>
              <a:rPr lang="es-CO" dirty="0"/>
              <a:t>1. En server_rutas.js, dentro de la función que recibe (req, res) en http.createServer, ubicar las rutas existentes: GET /contacto, GET /styles.css y POST /contacto.</a:t>
            </a:r>
          </a:p>
          <a:p>
            <a:r>
              <a:rPr lang="es-CO" dirty="0"/>
              <a:t>2. Escribir el bloque de la ruta GET /api/contactos después de las rutas existentes y ANTES de las líneas finales que responden 404.</a:t>
            </a:r>
          </a:p>
          <a:p>
            <a:r>
              <a:rPr lang="es-CO" dirty="0"/>
              <a:t>3. Guardar, detener el servidor con Ctrl+C y ejecutarlo de nuevo con node server_rutas.js.</a:t>
            </a:r>
          </a:p>
          <a:p>
            <a:r>
              <a:rPr lang="es-CO" dirty="0"/>
              <a:t>4. Abrir http://localhost:3000/api/contactos en el navegador.</a:t>
            </a:r>
          </a:p>
          <a:p>
            <a:r>
              <a:rPr lang="es-CO" dirty="0"/>
              <a:t>5. Abrir las herramientas del navegador (F12), pestaña Red, recargar y seleccionar la solicitud api/contactos: mostrar Estado 200 y Content-Type: application/json.</a:t>
            </a:r>
          </a:p>
          <a:p>
            <a:endParaRPr lang="es-CO"/>
          </a:p>
          <a:p>
            <a:r>
              <a:rPr lang="es-CO" dirty="0"/>
              <a:t>Resultado esperado (RESULTADO DE LA DEMOSTRACIÓN con datos ficticios): un arreglo JSON con Ana y Beatriz. Firefox lo muestra con un visor de JSON; Chrome y Edge lo muestran como texto (pueden ofrecer una opción para darle formato). El contenido es el mismo.</a:t>
            </a:r>
          </a:p>
          <a:p>
            <a:endParaRPr lang="es-CO"/>
          </a:p>
          <a:p>
            <a:r>
              <a:rPr lang="es-CO" dirty="0"/>
              <a:t>Explicación de términos:</a:t>
            </a:r>
          </a:p>
          <a:p>
            <a:r>
              <a:rPr lang="es-CO" dirty="0"/>
              <a:t>- res.writeHead(estado, encabezados): envía la línea de estado y los encabezados de la respuesta.</a:t>
            </a:r>
          </a:p>
          <a:p>
            <a:r>
              <a:rPr lang="es-CO" dirty="0"/>
              <a:t>- 'Content-Type': 'application/json': declara que el cuerpo es un documento JSON. Según RFC 8259, JSON se codifica en UTF-8 y application/json no define el parámetro charset.</a:t>
            </a:r>
          </a:p>
          <a:p>
            <a:r>
              <a:rPr lang="es-CO" dirty="0"/>
              <a:t>- JSON.stringify(valor): convierte un valor de JavaScript (aquí, el arreglo de objetos) en texto JSON.</a:t>
            </a:r>
          </a:p>
          <a:p>
            <a:r>
              <a:rPr lang="es-CO" dirty="0"/>
              <a:t>- res.end(texto): escribe el cuerpo y finaliza la respuesta.</a:t>
            </a:r>
          </a:p>
          <a:p>
            <a:r>
              <a:rPr lang="es-CO" dirty="0"/>
              <a:t>- return: termina la ejecución del manejador. Sin return, la ejecución continuaría hasta las líneas del 404 e intentaría enviar una segunda respuesta; Node.js informaría el error ERR_HTTP_HEADERS_SENT.</a:t>
            </a:r>
          </a:p>
          <a:p>
            <a:r>
              <a:rPr lang="es-CO" dirty="0"/>
              <a:t>- try/catch: si la consulta falla (por ejemplo, la tabla no existe), el servidor responde 500 con un mensaje JSON en lugar de detenerse.</a:t>
            </a:r>
          </a:p>
          <a:p>
            <a:endParaRPr lang="es-CO"/>
          </a:p>
          <a:p>
            <a:r>
              <a:rPr lang="es-CO" dirty="0"/>
              <a:t>Pregunta de comprensión: "¿Qué ocurre si se omite JSON.stringify() y se escribe res.end(contactos)?". Respuesta esperada: res.end() espera texto o datos binarios; al recibir un arreglo, Node.js lanza un error de tipo. Confusión frecuente: creer que el navegador "recibe objetos". Por HTTP siempre viaja texto (bytes); el objeto se reconstruye en el cliente.</a:t>
            </a:r>
          </a:p>
          <a:p>
            <a:endParaRPr lang="es-CO"/>
          </a:p>
          <a:p>
            <a:r>
              <a:rPr lang="es-CO" dirty="0"/>
              <a:t>Segunda pregunta: "¿Por qué el nuevo contacto aparecerá sin reiniciar el servidor?". Respuesta esperada: all() se ejecuta en cada solicitud y consulta el estado actual de contactos.db.</a:t>
            </a:r>
          </a:p>
          <a:p>
            <a:endParaRPr lang="es-CO"/>
          </a:p>
          <a:p>
            <a:r>
              <a:rPr lang="es-CO" dirty="0"/>
              <a:t>Referencias: Node.js v24 Documentation, "HTTP": response.writeHead() y response.end() (https://nodejs.org/docs/latest-v24.x/api/http.html). MDN, JSON.stringify().</a:t>
            </a:r>
          </a:p>
          <a:p>
            <a:endParaRPr lang="es-CO"/>
          </a:p>
          <a:p>
            <a:r>
              <a:rPr lang="es-CO" dirty="0"/>
              <a:t>CÓDIGO DE REFERENCIA · server_rutas.js completo (Laboratorio 05 + Laboratorio 06)</a:t>
            </a:r>
          </a:p>
          <a:p>
            <a:endParaRPr lang="es-CO"/>
          </a:p>
          <a:p>
            <a:r>
              <a:rPr lang="es-CO" dirty="0"/>
              <a:t>const http = require('http');</a:t>
            </a:r>
          </a:p>
          <a:p>
            <a:r>
              <a:rPr lang="es-CO" dirty="0"/>
              <a:t>const fs = require('fs');</a:t>
            </a:r>
          </a:p>
          <a:p>
            <a:r>
              <a:rPr lang="es-CO" dirty="0"/>
              <a:t>const { DatabaseSync } = require('node:sqlite');</a:t>
            </a:r>
          </a:p>
          <a:p>
            <a:endParaRPr lang="es-CO"/>
          </a:p>
          <a:p>
            <a:r>
              <a:rPr lang="es-CO" dirty="0"/>
              <a:t>const db = new DatabaseSync('contactos.db');</a:t>
            </a:r>
          </a:p>
          <a:p>
            <a:endParaRPr lang="es-CO"/>
          </a:p>
          <a:p>
            <a:r>
              <a:rPr lang="es-CO" dirty="0"/>
              <a:t>db.exec(`</a:t>
            </a:r>
          </a:p>
          <a:p>
            <a:r>
              <a:rPr lang="es-CO" dirty="0"/>
              <a:t>    CREATE TABLE IF NOT EXISTS contactos (</a:t>
            </a:r>
          </a:p>
          <a:p>
            <a:r>
              <a:rPr lang="es-CO" dirty="0"/>
              <a:t>        id INTEGER PRIMARY KEY AUTOINCREMENT,</a:t>
            </a:r>
          </a:p>
          <a:p>
            <a:r>
              <a:rPr lang="es-CO" dirty="0"/>
              <a:t>        nombre TEXT NOT NULL,</a:t>
            </a:r>
          </a:p>
          <a:p>
            <a:r>
              <a:rPr lang="es-CO" dirty="0"/>
              <a:t>        correo TEXT NOT NULL,</a:t>
            </a:r>
          </a:p>
          <a:p>
            <a:r>
              <a:rPr lang="es-CO" dirty="0"/>
              <a:t>        mensaje TEXT NOT NULL</a:t>
            </a:r>
          </a:p>
          <a:p>
            <a:r>
              <a:rPr lang="es-CO" dirty="0"/>
              <a:t>    )`);</a:t>
            </a:r>
          </a:p>
          <a:p>
            <a:endParaRPr lang="es-CO"/>
          </a:p>
          <a:p>
            <a:r>
              <a:rPr lang="es-CO" dirty="0"/>
              <a:t>const insertarContacto = db.prepare(`</a:t>
            </a:r>
          </a:p>
          <a:p>
            <a:r>
              <a:rPr lang="es-CO" dirty="0"/>
              <a:t>    INSERT INTO contactos (nombre, correo, mensaje)</a:t>
            </a:r>
          </a:p>
          <a:p>
            <a:r>
              <a:rPr lang="es-CO" dirty="0"/>
              <a:t>    VALUES (?, ?, ?)`);</a:t>
            </a:r>
          </a:p>
          <a:p>
            <a:endParaRPr lang="es-CO"/>
          </a:p>
          <a:p>
            <a:r>
              <a:rPr lang="es-CO" dirty="0"/>
              <a:t>// NUEVO · Laboratorio 06</a:t>
            </a:r>
          </a:p>
          <a:p>
            <a:r>
              <a:rPr lang="es-CO" dirty="0"/>
              <a:t>const consultarContactos = db.prepare(`</a:t>
            </a:r>
          </a:p>
          <a:p>
            <a:r>
              <a:rPr lang="es-CO" dirty="0"/>
              <a:t>    SELECT id, nombre, correo, mensaje</a:t>
            </a:r>
          </a:p>
          <a:p>
            <a:r>
              <a:rPr lang="es-CO" dirty="0"/>
              <a:t>    FROM contactos</a:t>
            </a:r>
          </a:p>
          <a:p>
            <a:r>
              <a:rPr lang="es-CO" dirty="0"/>
              <a:t>    ORDER BY id`);</a:t>
            </a:r>
          </a:p>
          <a:p>
            <a:endParaRPr lang="es-CO"/>
          </a:p>
          <a:p>
            <a:r>
              <a:rPr lang="es-CO" dirty="0"/>
              <a:t>const server = http.createServer((req, res) =&gt; {</a:t>
            </a:r>
          </a:p>
          <a:p>
            <a:r>
              <a:rPr lang="es-CO" dirty="0"/>
              <a:t>    console.log('Método:', req.method);</a:t>
            </a:r>
          </a:p>
          <a:p>
            <a:r>
              <a:rPr lang="es-CO" dirty="0"/>
              <a:t>    console.log('URL:', req.url);</a:t>
            </a:r>
          </a:p>
          <a:p>
            <a:endParaRPr lang="es-CO"/>
          </a:p>
          <a:p>
            <a:r>
              <a:rPr lang="es-CO" dirty="0"/>
              <a:t>    if (req.method === 'GET' &amp;&amp; (req.url === '/' || req.url === '/contacto')) {</a:t>
            </a:r>
          </a:p>
          <a:p>
            <a:r>
              <a:rPr lang="es-CO" dirty="0"/>
              <a:t>        const html = fs.readFileSync('contacto.html');</a:t>
            </a:r>
          </a:p>
          <a:p>
            <a:r>
              <a:rPr lang="es-CO" dirty="0"/>
              <a:t>        res.writeHead(200, { 'Content-Type': 'text/html; charset=UTF-8' });</a:t>
            </a:r>
          </a:p>
          <a:p>
            <a:r>
              <a:rPr lang="es-CO" dirty="0"/>
              <a:t>        return res.end(html);</a:t>
            </a:r>
          </a:p>
          <a:p>
            <a:r>
              <a:rPr lang="es-CO" dirty="0"/>
              <a:t>    }</a:t>
            </a:r>
          </a:p>
          <a:p>
            <a:endParaRPr lang="es-CO"/>
          </a:p>
          <a:p>
            <a:r>
              <a:rPr lang="es-CO" dirty="0"/>
              <a:t>    if (req.method === 'GET' &amp;&amp; req.url === '/styles.css') {</a:t>
            </a:r>
          </a:p>
          <a:p>
            <a:r>
              <a:rPr lang="es-CO" dirty="0"/>
              <a:t>        const css = fs.readFileSync('styles.css');</a:t>
            </a:r>
          </a:p>
          <a:p>
            <a:r>
              <a:rPr lang="es-CO" dirty="0"/>
              <a:t>        res.writeHead(200, { 'Content-Type': 'text/css; charset=UTF-8' });</a:t>
            </a:r>
          </a:p>
          <a:p>
            <a:r>
              <a:rPr lang="es-CO" dirty="0"/>
              <a:t>        return res.end(css);</a:t>
            </a:r>
          </a:p>
          <a:p>
            <a:r>
              <a:rPr lang="es-CO" dirty="0"/>
              <a:t>    }</a:t>
            </a:r>
          </a:p>
          <a:p>
            <a:endParaRPr lang="es-CO"/>
          </a:p>
          <a:p>
            <a:r>
              <a:rPr lang="es-CO" dirty="0"/>
              <a:t>    // NUEVO · Laboratorio 06 · página que consume la API</a:t>
            </a:r>
          </a:p>
          <a:p>
            <a:r>
              <a:rPr lang="es-CO" dirty="0"/>
              <a:t>    if (req.method === 'GET' &amp;&amp; req.url === '/contactos') {</a:t>
            </a:r>
          </a:p>
          <a:p>
            <a:r>
              <a:rPr lang="es-CO" dirty="0"/>
              <a:t>        const html = fs.readFileSync('contactos.html');</a:t>
            </a:r>
          </a:p>
          <a:p>
            <a:r>
              <a:rPr lang="es-CO" dirty="0"/>
              <a:t>        res.writeHead(200, { 'Content-Type': 'text/html; charset=UTF-8' });</a:t>
            </a:r>
          </a:p>
          <a:p>
            <a:r>
              <a:rPr lang="es-CO" dirty="0"/>
              <a:t>        return res.end(html);</a:t>
            </a:r>
          </a:p>
          <a:p>
            <a:r>
              <a:rPr lang="es-CO" dirty="0"/>
              <a:t>    }</a:t>
            </a:r>
          </a:p>
          <a:p>
            <a:endParaRPr lang="es-CO"/>
          </a:p>
          <a:p>
            <a:r>
              <a:rPr lang="es-CO" dirty="0"/>
              <a:t>    // NUEVO · Laboratorio 06 · API web</a:t>
            </a:r>
          </a:p>
          <a:p>
            <a:r>
              <a:rPr lang="es-CO" dirty="0"/>
              <a:t>    if (req.method === 'GET' &amp;&amp; req.url === '/api/contactos') {</a:t>
            </a:r>
          </a:p>
          <a:p>
            <a:r>
              <a:rPr lang="es-CO" dirty="0"/>
              <a:t>        try {</a:t>
            </a:r>
          </a:p>
          <a:p>
            <a:r>
              <a:rPr lang="es-CO" dirty="0"/>
              <a:t>            const contactos = consultarContactos.all();</a:t>
            </a:r>
          </a:p>
          <a:p>
            <a:r>
              <a:rPr lang="es-CO" dirty="0"/>
              <a:t>            res.writeHead(200, { 'Content-Type': 'application/json' });</a:t>
            </a:r>
          </a:p>
          <a:p>
            <a:r>
              <a:rPr lang="es-CO" dirty="0"/>
              <a:t>            return res.end(JSON.stringify(contactos));</a:t>
            </a:r>
          </a:p>
          <a:p>
            <a:r>
              <a:rPr lang="es-CO" dirty="0"/>
              <a:t>        } catch (error) {</a:t>
            </a:r>
          </a:p>
          <a:p>
            <a:r>
              <a:rPr lang="es-CO" dirty="0"/>
              <a:t>            console.error('Error al consultar:', error);</a:t>
            </a:r>
          </a:p>
          <a:p>
            <a:r>
              <a:rPr lang="es-CO" dirty="0"/>
              <a:t>            res.writeHead(500, { 'Content-Type': 'application/json' });</a:t>
            </a:r>
          </a:p>
          <a:p>
            <a:r>
              <a:rPr lang="es-CO" dirty="0"/>
              <a:t>            return res.end(JSON.stringify({ error: 'No fue posible consultar los contactos' }));</a:t>
            </a:r>
          </a:p>
          <a:p>
            <a:r>
              <a:rPr lang="es-CO" dirty="0"/>
              <a:t>        }</a:t>
            </a:r>
          </a:p>
          <a:p>
            <a:r>
              <a:rPr lang="es-CO" dirty="0"/>
              <a:t>    }</a:t>
            </a:r>
          </a:p>
          <a:p>
            <a:endParaRPr lang="es-CO"/>
          </a:p>
          <a:p>
            <a:r>
              <a:rPr lang="es-CO" dirty="0"/>
              <a:t>    if (req.method === 'POST' &amp;&amp; req.url === '/contacto') {</a:t>
            </a:r>
          </a:p>
          <a:p>
            <a:r>
              <a:rPr lang="es-CO" dirty="0"/>
              <a:t>        // ... sin cambios respecto al Laboratorio 05:</a:t>
            </a:r>
          </a:p>
          <a:p>
            <a:r>
              <a:rPr lang="es-CO" dirty="0"/>
              <a:t>        // data y end, URLSearchParams, validación, insertarContacto.run()</a:t>
            </a:r>
          </a:p>
          <a:p>
            <a:r>
              <a:rPr lang="es-CO" dirty="0"/>
              <a:t>        // y respuesta 201 o 400 dentro de req.on('end', ...).</a:t>
            </a:r>
          </a:p>
          <a:p>
            <a:r>
              <a:rPr lang="es-CO" dirty="0"/>
              <a:t>        return;</a:t>
            </a:r>
          </a:p>
          <a:p>
            <a:r>
              <a:rPr lang="es-CO" dirty="0"/>
              <a:t>    }</a:t>
            </a:r>
          </a:p>
          <a:p>
            <a:endParaRPr lang="es-CO"/>
          </a:p>
          <a:p>
            <a:r>
              <a:rPr lang="es-CO" dirty="0"/>
              <a:t>    res.writeHead(404, { 'Content-Type': 'text/html; charset=UTF-8' });</a:t>
            </a:r>
          </a:p>
          <a:p>
            <a:r>
              <a:rPr lang="es-CO" dirty="0"/>
              <a:t>    return res.end('&lt;h1&gt;404 - Página no encontrada&lt;/h1&gt;');</a:t>
            </a:r>
          </a:p>
          <a:p>
            <a:r>
              <a:rPr lang="es-CO" dirty="0"/>
              <a:t>});</a:t>
            </a:r>
          </a:p>
          <a:p>
            <a:endParaRPr lang="es-CO"/>
          </a:p>
          <a:p>
            <a:r>
              <a:rPr lang="es-CO" dirty="0"/>
              <a:t>server.listen(3000, () =&gt; {</a:t>
            </a:r>
          </a:p>
          <a:p>
            <a:r>
              <a:rPr lang="es-CO" dirty="0"/>
              <a:t>    console.log('Servidor disponible en http://localhost:3000');</a:t>
            </a:r>
          </a:p>
          <a:p>
            <a:r>
              <a:rPr lang="es-CO" dirty="0"/>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LABORATORIO 06 · PARTE B · 7 minutos (acumulado: 87 de 120). Inicio de la Parte B.</a:t>
            </a:r>
          </a:p>
          <a:p>
            <a:endParaRPr lang="es-CO"/>
          </a:p>
          <a:p>
            <a:r>
              <a:rPr lang="es-CO" dirty="0"/>
              <a:t>Acciones del docente:</a:t>
            </a:r>
          </a:p>
          <a:p>
            <a:r>
              <a:rPr lang="es-CO" dirty="0"/>
              <a:t>1. Crear el archivo contactos.html en la misma carpeta de server_rutas.js. Usar el código de referencia completo que aparece al final de estas notas.</a:t>
            </a:r>
          </a:p>
          <a:p>
            <a:r>
              <a:rPr lang="es-CO" dirty="0"/>
              <a:t>2. En server_rutas.js, agregar la ruta GET /contactos (caja derecha) junto a las demás rutas GET y antes del 404.</a:t>
            </a:r>
          </a:p>
          <a:p>
            <a:r>
              <a:rPr lang="es-CO" dirty="0"/>
              <a:t>3. Reiniciar el servidor y abrir http://localhost:3000/contactos. Debe verse el título, el botón y la tabla vacía (solo encabezados).</a:t>
            </a:r>
          </a:p>
          <a:p>
            <a:endParaRPr lang="es-CO"/>
          </a:p>
          <a:p>
            <a:r>
              <a:rPr lang="es-CO" dirty="0"/>
              <a:t>Explicación:</a:t>
            </a:r>
          </a:p>
          <a:p>
            <a:r>
              <a:rPr lang="es-CO" dirty="0"/>
              <a:t>- La página y la API están en el mismo servidor: /contactos entrega HTML para una persona; /api/contactos entrega datos JSON para un programa.</a:t>
            </a:r>
          </a:p>
          <a:p>
            <a:r>
              <a:rPr lang="es-CO" dirty="0"/>
              <a:t>- type="button" indica que el botón no envía ningún formulario; su acción la define JavaScript.</a:t>
            </a:r>
          </a:p>
          <a:p>
            <a:r>
              <a:rPr lang="es-CO" dirty="0"/>
              <a:t>- Cada id conecta el HTML con el JavaScript: btnConsultar (botón), estado (mensajes) y cuerpoTabla (tbody donde se agregan filas).</a:t>
            </a:r>
          </a:p>
          <a:p>
            <a:r>
              <a:rPr lang="es-CO" dirty="0"/>
              <a:t>- document.getElementById(id): devuelve el elemento del documento que tiene ese identificador.</a:t>
            </a:r>
          </a:p>
          <a:p>
            <a:r>
              <a:rPr lang="es-CO" dirty="0"/>
              <a:t>- El elemento &lt;script&gt; se coloca al final de &lt;body&gt;; así, cuando se ejecuta, los elementos ya existen.</a:t>
            </a:r>
          </a:p>
          <a:p>
            <a:endParaRPr lang="es-CO"/>
          </a:p>
          <a:p>
            <a:r>
              <a:rPr lang="es-CO" dirty="0"/>
              <a:t>Coherencia de nombres (revisar en voz alta): ruta /api/contactos · archivo contactos.html · tabla contactos · identificadores btnConsultar, estado y cuerpoTabla · columnas id, nombre, correo, mensaje.</a:t>
            </a:r>
          </a:p>
          <a:p>
            <a:endParaRPr lang="es-CO"/>
          </a:p>
          <a:p>
            <a:r>
              <a:rPr lang="es-CO" dirty="0"/>
              <a:t>Pregunta de comprensión: "¿Cuántas solicitudes HTTP hace el navegador al abrir /contactos, antes de pulsar el botón?". Respuesta esperada: dos, una por contactos.html y otra por styles.css. La solicitud a /api/contactos ocurre después, al pulsar el botón.</a:t>
            </a:r>
          </a:p>
          <a:p>
            <a:endParaRPr lang="es-CO"/>
          </a:p>
          <a:p>
            <a:r>
              <a:rPr lang="es-CO" dirty="0"/>
              <a:t>Confusión frecuente: abrir contactos.html con doble clic desde el explorador de archivos. La página se abriría con file:// y fetch('/api/contactos') no llegaría al servidor. Siempre se abre desde http://localhost:3000/contactos.</a:t>
            </a:r>
          </a:p>
          <a:p>
            <a:endParaRPr lang="es-CO"/>
          </a:p>
          <a:p>
            <a:r>
              <a:rPr lang="es-CO" dirty="0"/>
              <a:t>CÓDIGO DE REFERENCIA · contactos.html completo</a:t>
            </a:r>
          </a:p>
          <a:p>
            <a:endParaRPr lang="es-CO"/>
          </a:p>
          <a:p>
            <a:r>
              <a:rPr lang="es-CO" dirty="0"/>
              <a:t>&lt;!DOCTYPE html&gt;</a:t>
            </a:r>
          </a:p>
          <a:p>
            <a:r>
              <a:rPr lang="es-CO" dirty="0"/>
              <a:t>&lt;html lang="es"&gt;</a:t>
            </a:r>
          </a:p>
          <a:p>
            <a:r>
              <a:rPr lang="es-CO" dirty="0"/>
              <a:t>&lt;head&gt;</a:t>
            </a:r>
          </a:p>
          <a:p>
            <a:r>
              <a:rPr lang="es-CO" dirty="0"/>
              <a:t>    &lt;meta charset="UTF-8"&gt;</a:t>
            </a:r>
          </a:p>
          <a:p>
            <a:r>
              <a:rPr lang="es-CO" dirty="0"/>
              <a:t>    &lt;meta name="viewport" content="width=device-width, initial-scale=1"&gt;</a:t>
            </a:r>
          </a:p>
          <a:p>
            <a:r>
              <a:rPr lang="es-CO" dirty="0"/>
              <a:t>    &lt;title&gt;Contactos registrados&lt;/title&gt;</a:t>
            </a:r>
          </a:p>
          <a:p>
            <a:r>
              <a:rPr lang="es-CO" dirty="0"/>
              <a:t>    &lt;link rel="stylesheet" href="/styles.css"&gt;</a:t>
            </a:r>
          </a:p>
          <a:p>
            <a:r>
              <a:rPr lang="es-CO" dirty="0"/>
              <a:t>&lt;/head&gt;</a:t>
            </a:r>
          </a:p>
          <a:p>
            <a:r>
              <a:rPr lang="es-CO" dirty="0"/>
              <a:t>&lt;body&gt;</a:t>
            </a:r>
          </a:p>
          <a:p>
            <a:r>
              <a:rPr lang="es-CO" dirty="0"/>
              <a:t>    &lt;main&gt;</a:t>
            </a:r>
          </a:p>
          <a:p>
            <a:r>
              <a:rPr lang="es-CO" dirty="0"/>
              <a:t>        &lt;h1&gt;Contactos registrados&lt;/h1&gt;</a:t>
            </a:r>
          </a:p>
          <a:p>
            <a:r>
              <a:rPr lang="es-CO" dirty="0"/>
              <a:t>        &lt;button id="btnConsultar" type="button"&gt;Consultar contactos&lt;/button&gt;</a:t>
            </a:r>
          </a:p>
          <a:p>
            <a:r>
              <a:rPr lang="es-CO" dirty="0"/>
              <a:t>        &lt;p id="estado"&gt;&lt;/p&gt;</a:t>
            </a:r>
          </a:p>
          <a:p>
            <a:r>
              <a:rPr lang="es-CO" dirty="0"/>
              <a:t>        &lt;table&gt;</a:t>
            </a:r>
          </a:p>
          <a:p>
            <a:r>
              <a:rPr lang="es-CO" dirty="0"/>
              <a:t>            &lt;thead&gt;</a:t>
            </a:r>
          </a:p>
          <a:p>
            <a:r>
              <a:rPr lang="es-CO" dirty="0"/>
              <a:t>                &lt;tr&gt;&lt;th&gt;id&lt;/th&gt;&lt;th&gt;nombre&lt;/th&gt;&lt;th&gt;correo&lt;/th&gt;&lt;/tr&gt;</a:t>
            </a:r>
          </a:p>
          <a:p>
            <a:r>
              <a:rPr lang="es-CO" dirty="0"/>
              <a:t>            &lt;/thead&gt;</a:t>
            </a:r>
          </a:p>
          <a:p>
            <a:r>
              <a:rPr lang="es-CO" dirty="0"/>
              <a:t>            &lt;tbody id="cuerpoTabla"&gt;&lt;/tbody&gt;</a:t>
            </a:r>
          </a:p>
          <a:p>
            <a:r>
              <a:rPr lang="es-CO" dirty="0"/>
              <a:t>        &lt;/table&gt;</a:t>
            </a:r>
          </a:p>
          <a:p>
            <a:r>
              <a:rPr lang="es-CO" dirty="0"/>
              <a:t>        &lt;p&gt;&lt;a href="/contacto"&gt;Registrar otro contacto&lt;/a&gt;&lt;/p&gt;</a:t>
            </a:r>
          </a:p>
          <a:p>
            <a:r>
              <a:rPr lang="es-CO" dirty="0"/>
              <a:t>    &lt;/main&gt;</a:t>
            </a:r>
          </a:p>
          <a:p>
            <a:endParaRPr lang="es-CO"/>
          </a:p>
          <a:p>
            <a:r>
              <a:rPr lang="es-CO" dirty="0"/>
              <a:t>    &lt;script&gt;</a:t>
            </a:r>
          </a:p>
          <a:p>
            <a:r>
              <a:rPr lang="es-CO" dirty="0"/>
              <a:t>        const boton = document.getElementById('btnConsultar');</a:t>
            </a:r>
          </a:p>
          <a:p>
            <a:r>
              <a:rPr lang="es-CO" dirty="0"/>
              <a:t>        const estado = document.getElementById('estado');</a:t>
            </a:r>
          </a:p>
          <a:p>
            <a:r>
              <a:rPr lang="es-CO" dirty="0"/>
              <a:t>        const cuerpoTabla = document.getElementById('cuerpoTabla');</a:t>
            </a:r>
          </a:p>
          <a:p>
            <a:endParaRPr lang="es-CO"/>
          </a:p>
          <a:p>
            <a:r>
              <a:rPr lang="es-CO" dirty="0"/>
              <a:t>        async function cargarContactos() {</a:t>
            </a:r>
          </a:p>
          <a:p>
            <a:r>
              <a:rPr lang="es-CO" dirty="0"/>
              <a:t>            estado.textContent = 'Consultando...';</a:t>
            </a:r>
          </a:p>
          <a:p>
            <a:r>
              <a:rPr lang="es-CO" dirty="0"/>
              <a:t>            cuerpoTabla.replaceChildren();</a:t>
            </a:r>
          </a:p>
          <a:p>
            <a:r>
              <a:rPr lang="es-CO" dirty="0"/>
              <a:t>            try {</a:t>
            </a:r>
          </a:p>
          <a:p>
            <a:r>
              <a:rPr lang="es-CO" dirty="0"/>
              <a:t>                const respuesta = await fetch('/api/contactos');</a:t>
            </a:r>
          </a:p>
          <a:p>
            <a:r>
              <a:rPr lang="es-CO" dirty="0"/>
              <a:t>                if (!respuesta.ok) {</a:t>
            </a:r>
          </a:p>
          <a:p>
            <a:r>
              <a:rPr lang="es-CO" dirty="0"/>
              <a:t>                    throw new Error(`Estado HTTP ${respuesta.status}`);</a:t>
            </a:r>
          </a:p>
          <a:p>
            <a:r>
              <a:rPr lang="es-CO" dirty="0"/>
              <a:t>                }</a:t>
            </a:r>
          </a:p>
          <a:p>
            <a:r>
              <a:rPr lang="es-CO" dirty="0"/>
              <a:t>                const contactos = await respuesta.json();</a:t>
            </a:r>
          </a:p>
          <a:p>
            <a:r>
              <a:rPr lang="es-CO" dirty="0"/>
              <a:t>                mostrarContactos(contactos);</a:t>
            </a:r>
          </a:p>
          <a:p>
            <a:r>
              <a:rPr lang="es-CO" dirty="0"/>
              <a:t>            } catch (error) {</a:t>
            </a:r>
          </a:p>
          <a:p>
            <a:r>
              <a:rPr lang="es-CO" dirty="0"/>
              <a:t>                console.error(error);</a:t>
            </a:r>
          </a:p>
          <a:p>
            <a:r>
              <a:rPr lang="es-CO" dirty="0"/>
              <a:t>                estado.textContent = 'No fue posible consultar los contactos.';</a:t>
            </a:r>
          </a:p>
          <a:p>
            <a:r>
              <a:rPr lang="es-CO" dirty="0"/>
              <a:t>            }</a:t>
            </a:r>
          </a:p>
          <a:p>
            <a:r>
              <a:rPr lang="es-CO" dirty="0"/>
              <a:t>        }</a:t>
            </a:r>
          </a:p>
          <a:p>
            <a:endParaRPr lang="es-CO"/>
          </a:p>
          <a:p>
            <a:r>
              <a:rPr lang="es-CO" dirty="0"/>
              <a:t>        function mostrarContactos(contactos) {</a:t>
            </a:r>
          </a:p>
          <a:p>
            <a:r>
              <a:rPr lang="es-CO" dirty="0"/>
              <a:t>            if (contactos.length === 0) {</a:t>
            </a:r>
          </a:p>
          <a:p>
            <a:r>
              <a:rPr lang="es-CO" dirty="0"/>
              <a:t>                estado.textContent = 'No hay contactos registrados.';</a:t>
            </a:r>
          </a:p>
          <a:p>
            <a:r>
              <a:rPr lang="es-CO" dirty="0"/>
              <a:t>                return;</a:t>
            </a:r>
          </a:p>
          <a:p>
            <a:r>
              <a:rPr lang="es-CO" dirty="0"/>
              <a:t>            }</a:t>
            </a:r>
          </a:p>
          <a:p>
            <a:r>
              <a:rPr lang="es-CO" dirty="0"/>
              <a:t>            for (const contacto of contactos) {</a:t>
            </a:r>
          </a:p>
          <a:p>
            <a:r>
              <a:rPr lang="es-CO" dirty="0"/>
              <a:t>                const fila = document.createElement('tr');</a:t>
            </a:r>
          </a:p>
          <a:p>
            <a:r>
              <a:rPr lang="es-CO" dirty="0"/>
              <a:t>                agregarCelda(fila, contacto.id);</a:t>
            </a:r>
          </a:p>
          <a:p>
            <a:r>
              <a:rPr lang="es-CO" dirty="0"/>
              <a:t>                agregarCelda(fila, contacto.nombre);</a:t>
            </a:r>
          </a:p>
          <a:p>
            <a:r>
              <a:rPr lang="es-CO" dirty="0"/>
              <a:t>                agregarCelda(fila, contacto.correo);</a:t>
            </a:r>
          </a:p>
          <a:p>
            <a:r>
              <a:rPr lang="es-CO" dirty="0"/>
              <a:t>                cuerpoTabla.appendChild(fila);</a:t>
            </a:r>
          </a:p>
          <a:p>
            <a:r>
              <a:rPr lang="es-CO" dirty="0"/>
              <a:t>            }</a:t>
            </a:r>
          </a:p>
          <a:p>
            <a:r>
              <a:rPr lang="es-CO" dirty="0"/>
              <a:t>            estado.textContent = '';</a:t>
            </a:r>
          </a:p>
          <a:p>
            <a:r>
              <a:rPr lang="es-CO" dirty="0"/>
              <a:t>        }</a:t>
            </a:r>
          </a:p>
          <a:p>
            <a:endParaRPr lang="es-CO"/>
          </a:p>
          <a:p>
            <a:r>
              <a:rPr lang="es-CO" dirty="0"/>
              <a:t>        // Función auxiliar: crea una celda y asigna el valor como texto</a:t>
            </a:r>
          </a:p>
          <a:p>
            <a:r>
              <a:rPr lang="es-CO" dirty="0"/>
              <a:t>        function agregarCelda(fila, valor) {</a:t>
            </a:r>
          </a:p>
          <a:p>
            <a:r>
              <a:rPr lang="es-CO" dirty="0"/>
              <a:t>            const celda = document.createElement('td');</a:t>
            </a:r>
          </a:p>
          <a:p>
            <a:r>
              <a:rPr lang="es-CO" dirty="0"/>
              <a:t>            celda.textContent = valor;</a:t>
            </a:r>
          </a:p>
          <a:p>
            <a:r>
              <a:rPr lang="es-CO" dirty="0"/>
              <a:t>            fila.appendChild(celda);</a:t>
            </a:r>
          </a:p>
          <a:p>
            <a:r>
              <a:rPr lang="es-CO" dirty="0"/>
              <a:t>        }</a:t>
            </a:r>
          </a:p>
          <a:p>
            <a:endParaRPr lang="es-CO"/>
          </a:p>
          <a:p>
            <a:r>
              <a:rPr lang="es-CO" dirty="0"/>
              <a:t>        boton.addEventListener('click', cargarContactos);</a:t>
            </a:r>
          </a:p>
          <a:p>
            <a:r>
              <a:rPr lang="es-CO" dirty="0"/>
              <a:t>    &lt;/script&gt;</a:t>
            </a:r>
          </a:p>
          <a:p>
            <a:r>
              <a:rPr lang="es-CO" dirty="0"/>
              <a:t>&lt;/body&gt;</a:t>
            </a:r>
          </a:p>
          <a:p>
            <a:r>
              <a:rPr lang="es-CO" dirty="0"/>
              <a:t>&lt;/html&gt;</a:t>
            </a:r>
          </a:p>
          <a:p>
            <a:endParaRPr lang="es-CO"/>
          </a:p>
          <a:p>
            <a:r>
              <a:rPr lang="es-CO" dirty="0"/>
              <a:t>Estilos opcionales para la tabla (agregar al final de styles.css):</a:t>
            </a:r>
          </a:p>
          <a:p>
            <a:r>
              <a:rPr lang="es-CO" dirty="0"/>
              <a:t>table { width: 100%; border-collapse: collapse; margin-top: 12px; }</a:t>
            </a:r>
          </a:p>
          <a:p>
            <a:r>
              <a:rPr lang="es-CO" dirty="0"/>
              <a:t>th, td { border: 1px solid #ccd3dc; padding: 8px; text-align: left;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LABORATORIO 06 · PARTE B · 9 minutos (acumulado: 96 de 120).</a:t>
            </a:r>
          </a:p>
          <a:p>
            <a:endParaRPr lang="es-CO"/>
          </a:p>
          <a:p>
            <a:r>
              <a:rPr lang="es-CO" dirty="0"/>
              <a:t>Acciones del docente:</a:t>
            </a:r>
          </a:p>
          <a:p>
            <a:r>
              <a:rPr lang="es-CO" dirty="0"/>
              <a:t>1. En contactos.html, dentro de &lt;script&gt; y después de las tres constantes (boton, estado, cuerpoTabla), escribir la función cargarContactos().</a:t>
            </a:r>
          </a:p>
          <a:p>
            <a:r>
              <a:rPr lang="es-CO" dirty="0"/>
              <a:t>2. Escribir al final del script la línea boton.addEventListener('click', cargarContactos).</a:t>
            </a:r>
          </a:p>
          <a:p>
            <a:r>
              <a:rPr lang="es-CO" dirty="0"/>
              <a:t>3. Todavía falta mostrarContactos(); se escribe en la diapositiva siguiente. Si se prueba ahora, la consola del navegador mostrará que la función no está definida: es un buen momento para explicar por qué se construye por partes.</a:t>
            </a:r>
          </a:p>
          <a:p>
            <a:endParaRPr lang="es-CO"/>
          </a:p>
          <a:p>
            <a:r>
              <a:rPr lang="es-CO" dirty="0"/>
              <a:t>Explicación con palabras sencillas:</a:t>
            </a:r>
          </a:p>
          <a:p>
            <a:r>
              <a:rPr lang="es-CO" dirty="0"/>
              <a:t>- fetch('/api/contactos'): el navegador envía una solicitud GET a esa ruta del mismo servidor. fetch() devuelve una promesa, es decir, un valor que estará disponible más adelante.</a:t>
            </a:r>
          </a:p>
          <a:p>
            <a:r>
              <a:rPr lang="es-CO" dirty="0"/>
              <a:t>- await: espera a que la promesa se cumpla y entrega su resultado. Mientras tanto, la página sigue respondiendo. Solo se puede usar dentro de una función declarada con async.</a:t>
            </a:r>
          </a:p>
          <a:p>
            <a:r>
              <a:rPr lang="es-CO" dirty="0"/>
              <a:t>- respuesta: objeto Response con el estado, los encabezados y el cuerpo.</a:t>
            </a:r>
          </a:p>
          <a:p>
            <a:r>
              <a:rPr lang="es-CO" dirty="0"/>
              <a:t>- respuesta.ok: vale true si el estado está entre 200 y 299. fetch() no considera error un estado 404 o 500; por eso se revisa ok explícitamente.</a:t>
            </a:r>
          </a:p>
          <a:p>
            <a:r>
              <a:rPr lang="es-CO" dirty="0"/>
              <a:t>- throw new Error(...): si el estado indica fallo, se genera un error para que lo atienda catch.</a:t>
            </a:r>
          </a:p>
          <a:p>
            <a:r>
              <a:rPr lang="es-CO" dirty="0"/>
              <a:t>- respuesta.json(): lee el cuerpo completo y lo interpreta como JSON. Devuelve una promesa; por eso también lleva await. El resultado es un valor de JavaScript: aquí, un arreglo de contactos.</a:t>
            </a:r>
          </a:p>
          <a:p>
            <a:r>
              <a:rPr lang="es-CO" dirty="0"/>
              <a:t>- catch: atiende los fallos de red (servidor detenido) y los estados no satisfactorios. Muestra un mensaje en #estado y registra el detalle en la consola.</a:t>
            </a:r>
          </a:p>
          <a:p>
            <a:r>
              <a:rPr lang="es-CO" dirty="0"/>
              <a:t>- cuerpoTabla.replaceChildren(): vacía la tabla antes de cada consulta para no duplicar filas al pulsar el botón varias veces.</a:t>
            </a:r>
          </a:p>
          <a:p>
            <a:endParaRPr lang="es-CO"/>
          </a:p>
          <a:p>
            <a:r>
              <a:rPr lang="es-CO" dirty="0"/>
              <a:t>Diferencia central (franja inferior):</a:t>
            </a:r>
          </a:p>
          <a:p>
            <a:r>
              <a:rPr lang="es-CO" dirty="0"/>
              <a:t>- JSON.stringify() se ejecuta en el servidor y convierte datos en texto JSON para enviarlos.</a:t>
            </a:r>
          </a:p>
          <a:p>
            <a:r>
              <a:rPr lang="es-CO" dirty="0"/>
              <a:t>- respuesta.json() (método json() de Response) se ejecuta en el navegador e interpreta el texto JSON recibido.</a:t>
            </a:r>
          </a:p>
          <a:p>
            <a:endParaRPr lang="es-CO"/>
          </a:p>
          <a:p>
            <a:r>
              <a:rPr lang="es-CO" dirty="0"/>
              <a:t>Pregunta de comprensión: "Si el servidor responde 500, ¿fetch() genera un error por sí solo?". Respuesta esperada: no; la promesa se cumple con una respuesta cuyo ok es false. Por eso existe la comprobación if (!respuesta.ok).</a:t>
            </a:r>
          </a:p>
          <a:p>
            <a:endParaRPr lang="es-CO"/>
          </a:p>
          <a:p>
            <a:r>
              <a:rPr lang="es-CO" dirty="0"/>
              <a:t>Referencias: MDN, "Using the Fetch API" (https://developer.mozilla.org/en-US/docs/Web/API/Fetch_API/Using_Fetch); MDN, "Response: ok property" y "Response: json() method"; MDN, "async function" y "await".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LABORATORIO 06 · PARTE B · 9 minutos (acumulado: 105 de 120). Fin de la Parte B.</a:t>
            </a:r>
          </a:p>
          <a:p>
            <a:endParaRPr lang="es-CO"/>
          </a:p>
          <a:p>
            <a:r>
              <a:rPr lang="es-CO" dirty="0"/>
              <a:t>Acciones del docente:</a:t>
            </a:r>
          </a:p>
          <a:p>
            <a:r>
              <a:rPr lang="es-CO" dirty="0"/>
              <a:t>1. En contactos.html, dentro de &lt;script&gt;, escribir mostrarContactos() y la función auxiliar agregarCelda() antes de la línea boton.addEventListener(...).</a:t>
            </a:r>
          </a:p>
          <a:p>
            <a:r>
              <a:rPr lang="es-CO" dirty="0"/>
              <a:t>2. Guardar y recargar http://localhost:3000/contactos (no es necesario reiniciar el servidor, porque solo cambió el HTML y server_rutas.js lo lee en cada solicitud).</a:t>
            </a:r>
          </a:p>
          <a:p>
            <a:r>
              <a:rPr lang="es-CO" dirty="0"/>
              <a:t>3. Pulsar "Consultar contactos". Resultado esperado (RESULTADO DE LA DEMOSTRACIÓN): dos filas, Ana y Beatriz, con id, nombre y correo.</a:t>
            </a:r>
          </a:p>
          <a:p>
            <a:r>
              <a:rPr lang="es-CO" dirty="0"/>
              <a:t>4. En la pestaña Red, señalar la solicitud a api/contactos generada al pulsar el botón.</a:t>
            </a:r>
          </a:p>
          <a:p>
            <a:endParaRPr lang="es-CO"/>
          </a:p>
          <a:p>
            <a:r>
              <a:rPr lang="es-CO" dirty="0"/>
              <a:t>Implementación de la función auxiliar (también en la diapositiva y en el código de referencia de la diapositiva 18):</a:t>
            </a:r>
          </a:p>
          <a:p>
            <a:r>
              <a:rPr lang="es-CO" dirty="0"/>
              <a:t>function agregarCelda(fila, valor) {</a:t>
            </a:r>
          </a:p>
          <a:p>
            <a:r>
              <a:rPr lang="es-CO" dirty="0"/>
              <a:t>    const celda = document.createElement('td');</a:t>
            </a:r>
          </a:p>
          <a:p>
            <a:r>
              <a:rPr lang="es-CO" dirty="0"/>
              <a:t>    celda.textContent = valor;</a:t>
            </a:r>
          </a:p>
          <a:p>
            <a:r>
              <a:rPr lang="es-CO" dirty="0"/>
              <a:t>    fila.appendChild(celda);</a:t>
            </a:r>
          </a:p>
          <a:p>
            <a:r>
              <a:rPr lang="es-CO" dirty="0"/>
              <a:t>}</a:t>
            </a:r>
          </a:p>
          <a:p>
            <a:endParaRPr lang="es-CO"/>
          </a:p>
          <a:p>
            <a:r>
              <a:rPr lang="es-CO" dirty="0"/>
              <a:t>Explicación:</a:t>
            </a:r>
          </a:p>
          <a:p>
            <a:r>
              <a:rPr lang="es-CO" dirty="0"/>
              <a:t>- contactos.length === 0: si la API devuelve un arreglo vacío, se informa "No hay contactos registrados." y la función termina.</a:t>
            </a:r>
          </a:p>
          <a:p>
            <a:r>
              <a:rPr lang="es-CO" dirty="0"/>
              <a:t>- for...of: recorre cada objeto del arreglo.</a:t>
            </a:r>
          </a:p>
          <a:p>
            <a:r>
              <a:rPr lang="es-CO" dirty="0"/>
              <a:t>- document.createElement('tr') y ('td'): crean elementos nuevos en memoria.</a:t>
            </a:r>
          </a:p>
          <a:p>
            <a:r>
              <a:rPr lang="es-CO" dirty="0"/>
              <a:t>- textContent: asigna el valor como texto. Si un usuario hubiera escrito &lt;b&gt;Ana&lt;/b&gt; en el formulario, la tabla mostraría literalmente esos caracteres y el navegador no los interpretaría como HTML. Esta práctica evita que datos proporcionados por usuarios inserten código en la página.</a:t>
            </a:r>
          </a:p>
          <a:p>
            <a:r>
              <a:rPr lang="es-CO" dirty="0"/>
              <a:t>- appendChild(): agrega la celda a la fila y la fila al tbody.</a:t>
            </a:r>
          </a:p>
          <a:p>
            <a:r>
              <a:rPr lang="es-CO" dirty="0"/>
              <a:t>- La columna mensaje llega en el JSON, pero esta versión no la muestra; agregarla es parte de la tarea.</a:t>
            </a:r>
          </a:p>
          <a:p>
            <a:endParaRPr lang="es-CO"/>
          </a:p>
          <a:p>
            <a:r>
              <a:rPr lang="es-CO" dirty="0"/>
              <a:t>Prueba de seguridad opcional (1 minuto): registrar desde el formulario un contacto cuyo nombre sea &lt;i&gt;Prueba&lt;/i&gt;, consultar y mostrar que aparece como texto.</a:t>
            </a:r>
          </a:p>
          <a:p>
            <a:endParaRPr lang="es-CO"/>
          </a:p>
          <a:p>
            <a:r>
              <a:rPr lang="es-CO" dirty="0"/>
              <a:t>Pregunta de comprensión: "¿Por qué se usa textContent para mostrar el nombre?". Respuesta esperada: porque trata el valor como texto; el contenido escrito por usuarios no se interpreta como HTML. Confusión frecuente: usar innerHTML con plantillas de texto; funciona con datos inofensivos, pero interpreta cualquier etiqueta incluida en los datos.</a:t>
            </a:r>
          </a:p>
          <a:p>
            <a:endParaRPr lang="es-CO"/>
          </a:p>
          <a:p>
            <a:r>
              <a:rPr lang="es-CO" dirty="0"/>
              <a:t>Referencias: MDN, "Document: createElement() method"; MDN, "Node: textContent property" (https://developer.mozilla.org/en-US/docs/Web/API/Node/textContent).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COMPROBACIÓN · 6 minutos (acumulado: 111 de 120).</a:t>
            </a:r>
          </a:p>
          <a:p>
            <a:endParaRPr lang="es-CO"/>
          </a:p>
          <a:p>
            <a:r>
              <a:rPr lang="es-CO" dirty="0"/>
              <a:t>Acciones del docente (RESULTADO DE LA DEMOSTRACIÓN con datos ficticios):</a:t>
            </a:r>
          </a:p>
          <a:p>
            <a:r>
              <a:rPr lang="es-CO" dirty="0"/>
              <a:t>1. Abrir http://localhost:3000/contactos y pulsar "Consultar contactos": aparecen Ana y Beatriz.</a:t>
            </a:r>
          </a:p>
          <a:p>
            <a:r>
              <a:rPr lang="es-CO" dirty="0"/>
              <a:t>2. Abrir http://localhost:3000/contacto y registrar: Carlos · carlos@example.com · Quisiera recibir el programa del curso.</a:t>
            </a:r>
          </a:p>
          <a:p>
            <a:r>
              <a:rPr lang="es-CO" dirty="0"/>
              <a:t>3. Observar la respuesta 201 del formulario y, en la terminal, "Contacto almacenado con id: 3".</a:t>
            </a:r>
          </a:p>
          <a:p>
            <a:r>
              <a:rPr lang="es-CO" dirty="0"/>
              <a:t>4. Volver a /contactos y pulsar de nuevo el botón: aparece la fila 3, Carlos.</a:t>
            </a:r>
          </a:p>
          <a:p>
            <a:r>
              <a:rPr lang="es-CO" dirty="0"/>
              <a:t>5. En la pestaña Red, abrir la última solicitud a api/contactos: estado 200, Content-Type: application/json y tres objetos en la respuesta.</a:t>
            </a:r>
          </a:p>
          <a:p>
            <a:endParaRPr lang="es-CO"/>
          </a:p>
          <a:p>
            <a:r>
              <a:rPr lang="es-CO" dirty="0"/>
              <a:t>Casos adicionales:</a:t>
            </a:r>
          </a:p>
          <a:p>
            <a:r>
              <a:rPr lang="es-CO" dirty="0"/>
              <a:t>- Lista vacía: detener el servidor, renombrar contactos.db como contactos_respaldo.db, iniciar el servidor (se crea una base nueva y vacía) y consultar. Mensaje esperado: "No hay contactos registrados." Al terminar, detener el servidor y restaurar el nombre original del archivo.</a:t>
            </a:r>
          </a:p>
          <a:p>
            <a:r>
              <a:rPr lang="es-CO" dirty="0"/>
              <a:t>- Respuesta fallida: con la página abierta, detener el servidor con Ctrl+C y pulsar el botón. fetch() no obtiene respuesta y la ejecución pasa a catch. Mensaje esperado: "No fue posible consultar los contactos." Variante: cambiar temporalmente la ruta de fetch a '/api/contacto'; el servidor responde 404, respuesta.ok vale false y aparece el mismo mensaje. Restaurar la ruta al terminar.</a:t>
            </a:r>
          </a:p>
          <a:p>
            <a:endParaRPr lang="es-CO"/>
          </a:p>
          <a:p>
            <a:r>
              <a:rPr lang="es-CO" dirty="0"/>
              <a:t>Pregunta de comprensión: "¿Por qué Carlos aparece sin reiniciar el servidor?". Respuesta esperada: cada clic genera una nueva solicitud y consultarContactos.all() consulta el estado actual de la base.</a:t>
            </a:r>
          </a:p>
          <a:p>
            <a:endParaRPr lang="es-CO"/>
          </a:p>
          <a:p>
            <a:r>
              <a:rPr lang="es-CO" dirty="0"/>
              <a:t>Confusión posible: creer que la página "se actualiza sola". La tabla cambia únicamente cuando se pulsa el botón y se realiza una nueva solicitud.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PREGUNTAS · 4 minutos (acumulado: 115 de 120).</a:t>
            </a:r>
          </a:p>
          <a:p>
            <a:endParaRPr lang="es-CO"/>
          </a:p>
          <a:p>
            <a:r>
              <a:rPr lang="es-CO" dirty="0"/>
              <a:t>Usar la franja superior como guía: pedir a un estudiante que narre el recorrido de izquierda a derecha y luego formular las preguntas. Dar pocos segundos por pregunta.</a:t>
            </a:r>
          </a:p>
          <a:p>
            <a:endParaRPr lang="es-CO"/>
          </a:p>
          <a:p>
            <a:r>
              <a:rPr lang="es-CO" dirty="0"/>
              <a:t>Respuestas esperadas:</a:t>
            </a:r>
          </a:p>
          <a:p>
            <a:r>
              <a:rPr lang="es-CO" dirty="0"/>
              <a:t>01. Cliente: el JavaScript de contactos.html que se ejecuta en el navegador. Servidor: Node.js con server_rutas.js. Ambos forman parte de la misma aplicación web.</a:t>
            </a:r>
          </a:p>
          <a:p>
            <a:r>
              <a:rPr lang="es-CO" dirty="0"/>
              <a:t>02. Método GET, ruta /api/contactos, estado 200 cuando la consulta es correcta.</a:t>
            </a:r>
          </a:p>
          <a:p>
            <a:r>
              <a:rPr lang="es-CO" dirty="0"/>
              <a:t>03. Son objetos de JavaScript en el servidor después de all() y en el navegador después de respuesta.json(). Son texto JSON entre JSON.stringify() y respuesta.json(), es decir, mientras viajan en el cuerpo de la respuesta HTTP.</a:t>
            </a:r>
          </a:p>
          <a:p>
            <a:r>
              <a:rPr lang="es-CO" dirty="0"/>
              <a:t>04. Declara que el cuerpo es un documento JSON (application/json), para que el cliente sepa cómo interpretarlo.</a:t>
            </a:r>
          </a:p>
          <a:p>
            <a:r>
              <a:rPr lang="es-CO" dirty="0"/>
              <a:t>05. Si falla: "No fue posible consultar los contactos." Si la lista llega vacía: "No hay contactos registrados."</a:t>
            </a:r>
          </a:p>
          <a:p>
            <a:r>
              <a:rPr lang="es-CO" dirty="0"/>
              <a:t>06. No. REST es un estilo con varias restricciones (recursos identificados, interfaz uniforme, ausencia de estado, entre otras). Devolver JSON es una decisión de formato; la ruta de hoy es una introducción práctica a REST.</a:t>
            </a:r>
          </a:p>
          <a:p>
            <a:endParaRPr lang="es-CO"/>
          </a:p>
          <a:p>
            <a:r>
              <a:rPr lang="es-CO" dirty="0"/>
              <a:t>Confusiones que pueden aparecer:</a:t>
            </a:r>
          </a:p>
          <a:p>
            <a:r>
              <a:rPr lang="es-CO" dirty="0"/>
              <a:t>- Afirmar que SQLite envía los datos al navegador. SQLite solo responde al servidor; el navegador nunca accede al archivo.</a:t>
            </a:r>
          </a:p>
          <a:p>
            <a:r>
              <a:rPr lang="es-CO" dirty="0"/>
              <a:t>- Confundir JSON.stringify() con respuesta.json(). El primero produce texto; el segundo lo interpreta.</a:t>
            </a:r>
          </a:p>
          <a:p>
            <a:r>
              <a:rPr lang="es-CO" dirty="0"/>
              <a:t>- Pensar que el navegador consulta la base cada vez que se abre la página. La consulta ocurre al pulsar el botón.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TAREA · 3 minutos (acumulado: 118 de 120).</a:t>
            </a:r>
          </a:p>
          <a:p>
            <a:endParaRPr lang="es-CO"/>
          </a:p>
          <a:p>
            <a:r>
              <a:rPr lang="es-CO" dirty="0"/>
              <a:t>Presentar la tarea como trabajo independiente posterior a la demostración. Los estudiantes parten del código compartido por el docente (server_rutas.js y contactos.html del Laboratorio 06).</a:t>
            </a:r>
          </a:p>
          <a:p>
            <a:endParaRPr lang="es-CO"/>
          </a:p>
          <a:p>
            <a:r>
              <a:rPr lang="es-CO" dirty="0"/>
              <a:t>Explicación de cada punto:</a:t>
            </a:r>
          </a:p>
          <a:p>
            <a:r>
              <a:rPr lang="es-CO" dirty="0"/>
              <a:t>1. Columna mensaje: la API ya devuelve mensaje en cada objeto. El cambio corresponde a la página: un encabezado más en la tabla y una celda más por fila.</a:t>
            </a:r>
          </a:p>
          <a:p>
            <a:r>
              <a:rPr lang="es-CO" dirty="0"/>
              <a:t>2. Total de contactos: el arreglo recibido tiene la propiedad length. Se espera que el total se muestre en la página, por ejemplo en el elemento #estado.</a:t>
            </a:r>
          </a:p>
          <a:p>
            <a:r>
              <a:rPr lang="es-CO" dirty="0"/>
              <a:t>3. Dos contactos ficticios: registrarlos desde /contacto con correos @example.com y comprobar que aparecen al consultar.</a:t>
            </a:r>
          </a:p>
          <a:p>
            <a:r>
              <a:rPr lang="es-CO" dirty="0"/>
              <a:t>4. Explicación: redactar con sus palabras quién es el cliente, quién es el servidor y qué función cumple JSON en la comunicación.</a:t>
            </a:r>
          </a:p>
          <a:p>
            <a:endParaRPr lang="es-CO"/>
          </a:p>
          <a:p>
            <a:r>
              <a:rPr lang="es-CO" dirty="0"/>
              <a:t>Criterios de revisión sugeridos para el docente: la tabla muestra la columna mensaje para todos los registros; el total coincide con el número de filas; los valores se presentan con textContent; la página sigue atendiendo la lista vacía y la respuesta fallida; la explicación usa los términos cliente, servidor, solicitud, respuesta y JSON con precisión.</a:t>
            </a:r>
          </a:p>
          <a:p>
            <a:endParaRPr lang="es-CO"/>
          </a:p>
          <a:p>
            <a:r>
              <a:rPr lang="es-CO" dirty="0"/>
              <a:t>Pregunta para cerrar la instrucción: "¿Hace falta modificar la consulta SQL para mostrar el mensaje?". Respuesta esperada: no; el SELECT ya recupera mensaje. Confusión frecuente: modificar server_rutas.js sin necesidad.</a:t>
            </a:r>
          </a:p>
          <a:p>
            <a:endParaRPr lang="es-CO"/>
          </a:p>
          <a:p>
            <a:r>
              <a:rPr lang="es-CO" dirty="0"/>
              <a:t>La fecha de entrega, el porcentaje de evaluación y el número de la tarea se informan por los canales habituales del curso; no se fijan en esta presentación.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Notes Placeholder 2"/>
          <p:cNvSpPr>
            <a:spLocks noGrp="1"/>
          </p:cNvSpPr>
          <p:nvPr>
            <p:ph type="body" idx="1"/>
          </p:nvPr>
        </p:nvSpPr>
        <p:spPr/>
        <p:txBody>
          <a:bodyPr/>
          <a:lstStyle/>
          <a:p>
            <a:r>
              <a:rPr lang="es-CO" dirty="0"/>
              <a:t>CIERRE · 2 minutos (acumulado: 120 de 120).</a:t>
            </a:r>
          </a:p>
          <a:p>
            <a:endParaRPr lang="es-CO"/>
          </a:p>
          <a:p>
            <a:r>
              <a:rPr lang="es-CO" dirty="0"/>
              <a:t>Síntesis sugerida: "Hoy la aplicación pasó de guardar datos a ofrecerlos mediante una interfaz definida. El navegador actúa como cliente, Node.js como servidor, HTTP transporta la solicitud y la respuesta, y JSON representa los contactos mientras viajan".</a:t>
            </a:r>
          </a:p>
          <a:p>
            <a:endParaRPr lang="es-CO"/>
          </a:p>
          <a:p>
            <a:r>
              <a:rPr lang="es-CO" dirty="0"/>
              <a:t>Recordar la distinción de categorías trabajada en la sesión:</a:t>
            </a:r>
          </a:p>
          <a:p>
            <a:r>
              <a:rPr lang="es-CO" dirty="0"/>
              <a:t>- Formatos de datos: JSON, XML y YAML.</a:t>
            </a:r>
          </a:p>
          <a:p>
            <a:r>
              <a:rPr lang="es-CO" dirty="0"/>
              <a:t>- Enfoques de API: REST (estilo de arquitectura), SOAP (protocolo de mensajería) y GraphQL (lenguaje de consultas y sistema de ejecución).</a:t>
            </a:r>
          </a:p>
          <a:p>
            <a:r>
              <a:rPr lang="es-CO" dirty="0"/>
              <a:t>- Documentos que describen servicios: WSDL y OpenAPI.</a:t>
            </a:r>
          </a:p>
          <a:p>
            <a:endParaRPr lang="es-CO"/>
          </a:p>
          <a:p>
            <a:r>
              <a:rPr lang="es-CO" dirty="0"/>
              <a:t>Indicar que el proyecto (server_rutas.js, contacto.html, contactos.html, styles.css y contactos.db) debe conservarse para la tarea.</a:t>
            </a:r>
          </a:p>
          <a:p>
            <a:endParaRPr lang="es-CO"/>
          </a:p>
          <a:p>
            <a:r>
              <a:rPr lang="es-CO" dirty="0"/>
              <a:t>Referencias completas:</a:t>
            </a:r>
          </a:p>
          <a:p>
            <a:r>
              <a:rPr lang="es-CO" dirty="0"/>
              <a:t>- Node.js. Node.js v24 Documentation: SQLite. https://nodejs.org/docs/latest-v24.x/api/sqlite.html</a:t>
            </a:r>
          </a:p>
          <a:p>
            <a:r>
              <a:rPr lang="es-CO" dirty="0"/>
              <a:t>- Node.js. Node.js v24 Documentation: HTTP. https://nodejs.org/docs/latest-v24.x/api/http.html</a:t>
            </a:r>
          </a:p>
          <a:p>
            <a:r>
              <a:rPr lang="es-CO" dirty="0"/>
              <a:t>- MDN Web Docs. Using the Fetch API. https://developer.mozilla.org/en-US/docs/Web/API/Fetch_API/Using_Fetch</a:t>
            </a:r>
          </a:p>
          <a:p>
            <a:r>
              <a:rPr lang="es-CO" dirty="0"/>
              <a:t>- MDN Web Docs. Response: json() method. https://developer.mozilla.org/en-US/docs/Web/API/Response/json</a:t>
            </a:r>
          </a:p>
          <a:p>
            <a:r>
              <a:rPr lang="es-CO" dirty="0"/>
              <a:t>- MDN Web Docs. Node: textContent property. https://developer.mozilla.org/en-US/docs/Web/API/Node/textContent</a:t>
            </a:r>
          </a:p>
          <a:p>
            <a:r>
              <a:rPr lang="es-CO" dirty="0"/>
              <a:t>- Fielding, R. T. (2000). Architectural Styles and the Design of Network-based Software Architectures. Tesis doctoral, University of California, Irvine. Capítulo 5: Representational State Transfer (REST). https://ics.uci.edu/~fielding/pubs/dissertation/rest_arch_style.htm</a:t>
            </a:r>
          </a:p>
          <a:p>
            <a:r>
              <a:rPr lang="es-CO" dirty="0"/>
              <a:t>- W3C (2007). SOAP Version 1.2 Part 1: Messaging Framework (Second Edition). https://www.w3.org/TR/soap12-part1/</a:t>
            </a:r>
          </a:p>
          <a:p>
            <a:r>
              <a:rPr lang="es-CO" dirty="0"/>
              <a:t>- W3C (2007). Web Services Description Language (WSDL) Version 2.0 Part 1: Core Language. https://www.w3.org/TR/wsdl20/</a:t>
            </a:r>
          </a:p>
          <a:p>
            <a:r>
              <a:rPr lang="es-CO" dirty="0"/>
              <a:t>- W3C (2008). Extensible Markup Language (XML) 1.0 (Fifth Edition). https://www.w3.org/TR/xml/</a:t>
            </a:r>
          </a:p>
          <a:p>
            <a:r>
              <a:rPr lang="es-CO" dirty="0"/>
              <a:t>- GraphQL Foundation. Introduction to GraphQL. https://graphql.org/learn/</a:t>
            </a:r>
          </a:p>
          <a:p>
            <a:r>
              <a:rPr lang="es-CO" dirty="0"/>
              <a:t>- OpenAPI Initiative. OpenAPI Specification. https://spec.openapis.org/oas/latest.html</a:t>
            </a:r>
          </a:p>
          <a:p>
            <a:r>
              <a:rPr lang="es-CO" dirty="0"/>
              <a:t>- YAML Language Development Team (2021). YAML Ain't Markup Language (YAML) version 1.2.2. https://yaml.org/spec/1.2.2/</a:t>
            </a:r>
          </a:p>
          <a:p>
            <a:r>
              <a:rPr lang="es-CO" dirty="0"/>
              <a:t>- Bray, T. (Ed.) (2017). RFC 8259: The JavaScript Object Notation (JSON) Data Interchange Format. https://www.rfc-editor.org/rfc/rfc8259</a:t>
            </a:r>
          </a:p>
          <a:p>
            <a:r>
              <a:rPr lang="es-CO" dirty="0"/>
              <a:t>- Fielding, R., Nottingham, M. y Reschke, J. (Eds.) (2022). RFC 9110: HTTP Semantics. https://www.rfc-editor.org/rfc/rfc9110</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cxnSp>
        <p:nvCxnSpPr>
          <p:cNvPr id="2" name="Connector 1"/>
          <p:cNvCxnSpPr/>
          <p:nvPr/>
        </p:nvCxnSpPr>
        <p:spPr>
          <a:xfrm>
            <a:off x="6537960" y="1143000"/>
            <a:ext cx="1097280" cy="64008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7635240" y="1783080"/>
            <a:ext cx="0" cy="100584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03720" y="2788920"/>
            <a:ext cx="1188720" cy="64008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92440" y="3429000"/>
            <a:ext cx="0" cy="548639"/>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6483096" y="1088136"/>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580375" y="1728216"/>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848856" y="2734056"/>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037575" y="3374136"/>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300216" y="3922776"/>
            <a:ext cx="109728" cy="109728"/>
          </a:xfrm>
          <a:prstGeom prst="ellipse">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6355080" y="3977639"/>
            <a:ext cx="228600" cy="0"/>
          </a:xfrm>
          <a:prstGeom prst="line">
            <a:avLst/>
          </a:prstGeom>
          <a:ln w="12700">
            <a:solidFill>
              <a:srgbClr val="1E3346"/>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868680"/>
            <a:ext cx="1728216"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02920" y="868680"/>
            <a:ext cx="1728216" cy="228600"/>
          </a:xfrm>
          <a:prstGeom prst="rect">
            <a:avLst/>
          </a:prstGeom>
          <a:noFill/>
        </p:spPr>
        <p:txBody>
          <a:bodyPr wrap="square" lIns="0" tIns="0" rIns="0" bIns="0" anchor="ctr">
            <a:spAutoFit/>
          </a:bodyPr>
          <a:lstStyle/>
          <a:p>
            <a:pPr algn="ctr"/>
            <a:r>
              <a:rPr lang="es-CO" sz="850" b="1" i="0">
                <a:solidFill>
                  <a:srgbClr val="3DDC97"/>
                </a:solidFill>
                <a:latin typeface="Arial"/>
              </a:rPr>
              <a:t>INGENIERÍA WEB</a:t>
            </a:r>
          </a:p>
        </p:txBody>
      </p:sp>
      <p:sp>
        <p:nvSpPr>
          <p:cNvPr id="14" name="TextBox 13"/>
          <p:cNvSpPr txBox="1"/>
          <p:nvPr/>
        </p:nvSpPr>
        <p:spPr>
          <a:xfrm>
            <a:off x="475488" y="1243584"/>
            <a:ext cx="5852160" cy="658368"/>
          </a:xfrm>
          <a:prstGeom prst="rect">
            <a:avLst/>
          </a:prstGeom>
          <a:noFill/>
        </p:spPr>
        <p:txBody>
          <a:bodyPr wrap="square" lIns="0" tIns="0" rIns="0" bIns="0" anchor="ctr">
            <a:spAutoFit/>
          </a:bodyPr>
          <a:lstStyle/>
          <a:p>
            <a:pPr algn="l"/>
            <a:r>
              <a:rPr lang="es-CO" sz="4000" b="1" i="0">
                <a:solidFill>
                  <a:srgbClr val="FFFFFF"/>
                </a:solidFill>
                <a:latin typeface="Arial"/>
              </a:rPr>
              <a:t>Servicios web y API</a:t>
            </a:r>
          </a:p>
        </p:txBody>
      </p:sp>
      <p:sp>
        <p:nvSpPr>
          <p:cNvPr id="15" name="TextBox 14"/>
          <p:cNvSpPr txBox="1"/>
          <p:nvPr/>
        </p:nvSpPr>
        <p:spPr>
          <a:xfrm>
            <a:off x="475488" y="1901952"/>
            <a:ext cx="5852160" cy="420624"/>
          </a:xfrm>
          <a:prstGeom prst="rect">
            <a:avLst/>
          </a:prstGeom>
          <a:noFill/>
        </p:spPr>
        <p:txBody>
          <a:bodyPr wrap="square" lIns="0" tIns="0" rIns="0" bIns="0" anchor="ctr">
            <a:spAutoFit/>
          </a:bodyPr>
          <a:lstStyle/>
          <a:p>
            <a:pPr algn="l"/>
            <a:r>
              <a:rPr lang="es-CO" sz="2400" b="1" i="0">
                <a:solidFill>
                  <a:srgbClr val="3DDC97"/>
                </a:solidFill>
                <a:latin typeface="Arial"/>
              </a:rPr>
              <a:t>Comunicación entre aplicaciones</a:t>
            </a:r>
          </a:p>
        </p:txBody>
      </p:sp>
      <p:sp>
        <p:nvSpPr>
          <p:cNvPr id="16" name="TextBox 15"/>
          <p:cNvSpPr txBox="1"/>
          <p:nvPr/>
        </p:nvSpPr>
        <p:spPr>
          <a:xfrm>
            <a:off x="475488" y="2331720"/>
            <a:ext cx="5852160" cy="274320"/>
          </a:xfrm>
          <a:prstGeom prst="rect">
            <a:avLst/>
          </a:prstGeom>
          <a:noFill/>
        </p:spPr>
        <p:txBody>
          <a:bodyPr wrap="square" lIns="0" tIns="0" rIns="0" bIns="0" anchor="ctr">
            <a:spAutoFit/>
          </a:bodyPr>
          <a:lstStyle/>
          <a:p>
            <a:pPr algn="l"/>
            <a:r>
              <a:rPr lang="es-CO" sz="1300" b="0" i="0">
                <a:solidFill>
                  <a:srgbClr val="E8EEF6"/>
                </a:solidFill>
                <a:latin typeface="Arial"/>
              </a:rPr>
              <a:t>Creación y consumo de una API de contactos con Node.js y SQLite</a:t>
            </a:r>
          </a:p>
        </p:txBody>
      </p:sp>
      <p:sp>
        <p:nvSpPr>
          <p:cNvPr id="17" name="TextBox 16"/>
          <p:cNvSpPr txBox="1"/>
          <p:nvPr/>
        </p:nvSpPr>
        <p:spPr>
          <a:xfrm>
            <a:off x="475488" y="2724912"/>
            <a:ext cx="5852160" cy="868680"/>
          </a:xfrm>
          <a:prstGeom prst="rect">
            <a:avLst/>
          </a:prstGeom>
          <a:noFill/>
        </p:spPr>
        <p:txBody>
          <a:bodyPr wrap="square" lIns="0" tIns="0" rIns="0" bIns="0" anchor="t">
            <a:spAutoFit/>
          </a:bodyPr>
          <a:lstStyle/>
          <a:p>
            <a:pPr algn="l">
              <a:lnSpc>
                <a:spcPts val="1700"/>
              </a:lnSpc>
            </a:pPr>
            <a:r>
              <a:rPr lang="es-CO" sz="1250" b="1" i="0">
                <a:solidFill>
                  <a:srgbClr val="E8EEF6"/>
                </a:solidFill>
                <a:latin typeface="Calibri"/>
              </a:rPr>
              <a:t>Luis Miguel Gómez Meneses</a:t>
            </a:r>
          </a:p>
          <a:p>
            <a:pPr algn="l">
              <a:lnSpc>
                <a:spcPts val="1700"/>
              </a:lnSpc>
            </a:pPr>
            <a:r>
              <a:rPr lang="es-CO" sz="1250" b="1" i="0">
                <a:solidFill>
                  <a:srgbClr val="E8EEF6"/>
                </a:solidFill>
                <a:latin typeface="Calibri"/>
              </a:rPr>
              <a:t>Programa de Ingeniería de Software · Semestre VIII</a:t>
            </a:r>
          </a:p>
          <a:p>
            <a:pPr algn="l">
              <a:lnSpc>
                <a:spcPts val="1700"/>
              </a:lnSpc>
            </a:pPr>
            <a:r>
              <a:rPr lang="es-CO" sz="1250" b="1" i="0">
                <a:solidFill>
                  <a:srgbClr val="E8EEF6"/>
                </a:solidFill>
                <a:latin typeface="Calibri"/>
              </a:rPr>
              <a:t>Universidad Cooperativa de Colombia</a:t>
            </a:r>
          </a:p>
        </p:txBody>
      </p:sp>
      <p:sp>
        <p:nvSpPr>
          <p:cNvPr id="18" name="Rounded Rectangle 17"/>
          <p:cNvSpPr/>
          <p:nvPr/>
        </p:nvSpPr>
        <p:spPr>
          <a:xfrm>
            <a:off x="502920" y="3767328"/>
            <a:ext cx="4160520" cy="713232"/>
          </a:xfrm>
          <a:prstGeom prst="roundRect">
            <a:avLst>
              <a:gd name="adj" fmla="val 10256"/>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9224" y="3822191"/>
            <a:ext cx="3886200" cy="603504"/>
          </a:xfrm>
          <a:prstGeom prst="rect">
            <a:avLst/>
          </a:prstGeom>
          <a:noFill/>
        </p:spPr>
        <p:txBody>
          <a:bodyPr wrap="square" lIns="0" tIns="0" rIns="0" bIns="0" anchor="ctr">
            <a:spAutoFit/>
          </a:bodyPr>
          <a:lstStyle/>
          <a:p>
            <a:pPr algn="l">
              <a:lnSpc>
                <a:spcPts val="1500"/>
              </a:lnSpc>
            </a:pPr>
            <a:r>
              <a:rPr lang="es-CO" sz="1000" b="0" i="0">
                <a:solidFill>
                  <a:srgbClr val="56C7F2"/>
                </a:solidFill>
                <a:latin typeface="Courier New"/>
              </a:rPr>
              <a:t>fetch</a:t>
            </a:r>
            <a:r>
              <a:rPr lang="es-CO" sz="1000" b="0" i="0">
                <a:solidFill>
                  <a:srgbClr val="93A5BD"/>
                </a:solidFill>
                <a:latin typeface="Courier New"/>
              </a:rPr>
              <a:t>(</a:t>
            </a:r>
            <a:r>
              <a:rPr lang="es-CO" sz="1000" b="0" i="0">
                <a:solidFill>
                  <a:srgbClr val="FFD479"/>
                </a:solidFill>
                <a:latin typeface="Courier New"/>
              </a:rPr>
              <a:t>'/api/contactos'</a:t>
            </a:r>
            <a:r>
              <a:rPr lang="es-CO" sz="1000" b="0" i="0">
                <a:solidFill>
                  <a:srgbClr val="93A5BD"/>
                </a:solidFill>
                <a:latin typeface="Courier New"/>
              </a:rPr>
              <a:t>)</a:t>
            </a:r>
          </a:p>
          <a:p>
            <a:pPr algn="l">
              <a:lnSpc>
                <a:spcPts val="1500"/>
              </a:lnSpc>
            </a:pPr>
            <a:r>
              <a:rPr lang="es-CO" sz="1000" b="0" i="0">
                <a:solidFill>
                  <a:srgbClr val="3DDC97"/>
                </a:solidFill>
                <a:latin typeface="Courier New"/>
              </a:rPr>
              <a:t>GET /api/contactos → 200 · application/json</a:t>
            </a:r>
          </a:p>
        </p:txBody>
      </p:sp>
      <p:sp>
        <p:nvSpPr>
          <p:cNvPr id="20" name="TextBox 19"/>
          <p:cNvSpPr txBox="1"/>
          <p:nvPr/>
        </p:nvSpPr>
        <p:spPr>
          <a:xfrm>
            <a:off x="4800600" y="3767328"/>
            <a:ext cx="3840480" cy="713232"/>
          </a:xfrm>
          <a:prstGeom prst="rect">
            <a:avLst/>
          </a:prstGeom>
          <a:noFill/>
        </p:spPr>
        <p:txBody>
          <a:bodyPr wrap="square" lIns="0" tIns="0" rIns="0" bIns="0" anchor="ctr">
            <a:spAutoFit/>
          </a:bodyPr>
          <a:lstStyle/>
          <a:p>
            <a:pPr algn="l"/>
            <a:r>
              <a:rPr lang="es-CO" sz="850" b="0" i="0">
                <a:solidFill>
                  <a:srgbClr val="93A5BD"/>
                </a:solidFill>
                <a:latin typeface="Courier New"/>
              </a:rPr>
              <a:t>navegador → fetch() → Node.js → SELECT → JSON → tabla</a:t>
            </a:r>
          </a:p>
        </p:txBody>
      </p:sp>
      <p:sp>
        <p:nvSpPr>
          <p:cNvPr id="21" name="TextBox 20"/>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01 / 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248156"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248156" cy="228600"/>
          </a:xfrm>
          <a:prstGeom prst="rect">
            <a:avLst/>
          </a:prstGeom>
          <a:noFill/>
        </p:spPr>
        <p:txBody>
          <a:bodyPr wrap="square" lIns="0" tIns="0" rIns="0" bIns="0" anchor="ctr">
            <a:spAutoFit/>
          </a:bodyPr>
          <a:lstStyle/>
          <a:p>
            <a:pPr algn="ctr"/>
            <a:r>
              <a:rPr lang="es-CO" sz="850" b="1" i="0">
                <a:solidFill>
                  <a:srgbClr val="3DDC97"/>
                </a:solidFill>
                <a:latin typeface="Arial"/>
              </a:rPr>
              <a:t>OBJETIVOS</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Objetivos y recorrido de la sesión</a:t>
            </a:r>
          </a:p>
        </p:txBody>
      </p:sp>
      <p:sp>
        <p:nvSpPr>
          <p:cNvPr id="5" name="TextBox 4"/>
          <p:cNvSpPr txBox="1"/>
          <p:nvPr/>
        </p:nvSpPr>
        <p:spPr>
          <a:xfrm>
            <a:off x="475488" y="1097280"/>
            <a:ext cx="8138160" cy="237744"/>
          </a:xfrm>
          <a:prstGeom prst="rect">
            <a:avLst/>
          </a:prstGeom>
          <a:noFill/>
        </p:spPr>
        <p:txBody>
          <a:bodyPr wrap="square" lIns="0" tIns="0" rIns="0" bIns="0" anchor="t">
            <a:spAutoFit/>
          </a:bodyPr>
          <a:lstStyle/>
          <a:p>
            <a:pPr algn="l"/>
            <a:r>
              <a:rPr lang="es-CO" sz="1100" b="0" i="0">
                <a:solidFill>
                  <a:srgbClr val="93A5BD"/>
                </a:solidFill>
                <a:latin typeface="Calibri"/>
              </a:rPr>
              <a:t>Al finalizar la sesión, el estudiante podrá:</a:t>
            </a:r>
          </a:p>
        </p:txBody>
      </p:sp>
      <p:sp>
        <p:nvSpPr>
          <p:cNvPr id="6" name="Rounded Rectangle 5"/>
          <p:cNvSpPr/>
          <p:nvPr/>
        </p:nvSpPr>
        <p:spPr>
          <a:xfrm>
            <a:off x="502920" y="1417320"/>
            <a:ext cx="3931920" cy="914400"/>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04088" y="1673352"/>
            <a:ext cx="402336" cy="402336"/>
          </a:xfrm>
          <a:prstGeom prst="roundRect">
            <a:avLst>
              <a:gd name="adj" fmla="val 50000"/>
            </a:avLst>
          </a:prstGeom>
          <a:solidFill>
            <a:srgbClr val="132A2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04088" y="1673352"/>
            <a:ext cx="402336" cy="402336"/>
          </a:xfrm>
          <a:prstGeom prst="rect">
            <a:avLst/>
          </a:prstGeom>
          <a:noFill/>
        </p:spPr>
        <p:txBody>
          <a:bodyPr wrap="square" lIns="0" tIns="0" rIns="0" bIns="0" anchor="ctr">
            <a:spAutoFit/>
          </a:bodyPr>
          <a:lstStyle/>
          <a:p>
            <a:pPr algn="ctr"/>
            <a:r>
              <a:rPr lang="es-CO" sz="1100" b="1" i="0">
                <a:solidFill>
                  <a:srgbClr val="3DDC97"/>
                </a:solidFill>
                <a:latin typeface="Arial"/>
              </a:rPr>
              <a:t>01</a:t>
            </a:r>
          </a:p>
        </p:txBody>
      </p:sp>
      <p:sp>
        <p:nvSpPr>
          <p:cNvPr id="9" name="TextBox 8"/>
          <p:cNvSpPr txBox="1"/>
          <p:nvPr/>
        </p:nvSpPr>
        <p:spPr>
          <a:xfrm>
            <a:off x="1271016" y="1417320"/>
            <a:ext cx="3017520" cy="914400"/>
          </a:xfrm>
          <a:prstGeom prst="rect">
            <a:avLst/>
          </a:prstGeom>
          <a:noFill/>
        </p:spPr>
        <p:txBody>
          <a:bodyPr wrap="square" lIns="0" tIns="0" rIns="0" bIns="0" anchor="ctr">
            <a:spAutoFit/>
          </a:bodyPr>
          <a:lstStyle/>
          <a:p>
            <a:pPr algn="l">
              <a:lnSpc>
                <a:spcPts val="1400"/>
              </a:lnSpc>
            </a:pPr>
            <a:r>
              <a:rPr lang="es-CO" sz="1150" b="0" i="0">
                <a:solidFill>
                  <a:srgbClr val="E8EEF6"/>
                </a:solidFill>
                <a:latin typeface="Calibri"/>
              </a:rPr>
              <a:t>Identificar cliente, servidor, solicitud y respuesta en una comunicación HTTP.</a:t>
            </a:r>
          </a:p>
        </p:txBody>
      </p:sp>
      <p:sp>
        <p:nvSpPr>
          <p:cNvPr id="10" name="Rounded Rectangle 9"/>
          <p:cNvSpPr/>
          <p:nvPr/>
        </p:nvSpPr>
        <p:spPr>
          <a:xfrm>
            <a:off x="4709160" y="1417320"/>
            <a:ext cx="3931920" cy="914400"/>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4910328" y="1673352"/>
            <a:ext cx="402336" cy="402336"/>
          </a:xfrm>
          <a:prstGeom prst="roundRect">
            <a:avLst>
              <a:gd name="adj" fmla="val 50000"/>
            </a:avLst>
          </a:prstGeom>
          <a:solidFill>
            <a:srgbClr val="132A2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910328" y="1673352"/>
            <a:ext cx="402336" cy="402336"/>
          </a:xfrm>
          <a:prstGeom prst="rect">
            <a:avLst/>
          </a:prstGeom>
          <a:noFill/>
        </p:spPr>
        <p:txBody>
          <a:bodyPr wrap="square" lIns="0" tIns="0" rIns="0" bIns="0" anchor="ctr">
            <a:spAutoFit/>
          </a:bodyPr>
          <a:lstStyle/>
          <a:p>
            <a:pPr algn="ctr"/>
            <a:r>
              <a:rPr lang="es-CO" sz="1100" b="1" i="0">
                <a:solidFill>
                  <a:srgbClr val="3DDC97"/>
                </a:solidFill>
                <a:latin typeface="Arial"/>
              </a:rPr>
              <a:t>02</a:t>
            </a:r>
          </a:p>
        </p:txBody>
      </p:sp>
      <p:sp>
        <p:nvSpPr>
          <p:cNvPr id="13" name="TextBox 12"/>
          <p:cNvSpPr txBox="1"/>
          <p:nvPr/>
        </p:nvSpPr>
        <p:spPr>
          <a:xfrm>
            <a:off x="5477256" y="1417320"/>
            <a:ext cx="3017520" cy="914400"/>
          </a:xfrm>
          <a:prstGeom prst="rect">
            <a:avLst/>
          </a:prstGeom>
          <a:noFill/>
        </p:spPr>
        <p:txBody>
          <a:bodyPr wrap="square" lIns="0" tIns="0" rIns="0" bIns="0" anchor="ctr">
            <a:spAutoFit/>
          </a:bodyPr>
          <a:lstStyle/>
          <a:p>
            <a:pPr algn="l">
              <a:lnSpc>
                <a:spcPts val="1400"/>
              </a:lnSpc>
            </a:pPr>
            <a:r>
              <a:rPr lang="es-CO" sz="1150" b="0" i="0" dirty="0">
                <a:solidFill>
                  <a:srgbClr val="E8EEF6"/>
                </a:solidFill>
                <a:latin typeface="Calibri"/>
              </a:rPr>
              <a:t>Diferenciar formatos de datos, enfoques de API y documentos que describen servicios.</a:t>
            </a:r>
          </a:p>
        </p:txBody>
      </p:sp>
      <p:sp>
        <p:nvSpPr>
          <p:cNvPr id="14" name="Rounded Rectangle 13"/>
          <p:cNvSpPr/>
          <p:nvPr/>
        </p:nvSpPr>
        <p:spPr>
          <a:xfrm>
            <a:off x="502920" y="2487168"/>
            <a:ext cx="3931920" cy="914400"/>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704088" y="2743200"/>
            <a:ext cx="402336" cy="402336"/>
          </a:xfrm>
          <a:prstGeom prst="roundRect">
            <a:avLst>
              <a:gd name="adj" fmla="val 50000"/>
            </a:avLst>
          </a:prstGeom>
          <a:solidFill>
            <a:srgbClr val="132A2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04088" y="2743200"/>
            <a:ext cx="402336" cy="402336"/>
          </a:xfrm>
          <a:prstGeom prst="rect">
            <a:avLst/>
          </a:prstGeom>
          <a:noFill/>
        </p:spPr>
        <p:txBody>
          <a:bodyPr wrap="square" lIns="0" tIns="0" rIns="0" bIns="0" anchor="ctr">
            <a:spAutoFit/>
          </a:bodyPr>
          <a:lstStyle/>
          <a:p>
            <a:pPr algn="ctr"/>
            <a:r>
              <a:rPr lang="es-CO" sz="1100" b="1" i="0">
                <a:solidFill>
                  <a:srgbClr val="3DDC97"/>
                </a:solidFill>
                <a:latin typeface="Arial"/>
              </a:rPr>
              <a:t>03</a:t>
            </a:r>
          </a:p>
        </p:txBody>
      </p:sp>
      <p:sp>
        <p:nvSpPr>
          <p:cNvPr id="17" name="TextBox 16"/>
          <p:cNvSpPr txBox="1"/>
          <p:nvPr/>
        </p:nvSpPr>
        <p:spPr>
          <a:xfrm>
            <a:off x="1271016" y="2487168"/>
            <a:ext cx="3017520" cy="914400"/>
          </a:xfrm>
          <a:prstGeom prst="rect">
            <a:avLst/>
          </a:prstGeom>
          <a:noFill/>
        </p:spPr>
        <p:txBody>
          <a:bodyPr wrap="square" lIns="0" tIns="0" rIns="0" bIns="0" anchor="ctr">
            <a:spAutoFit/>
          </a:bodyPr>
          <a:lstStyle/>
          <a:p>
            <a:pPr algn="l">
              <a:lnSpc>
                <a:spcPts val="1400"/>
              </a:lnSpc>
            </a:pPr>
            <a:r>
              <a:rPr lang="es-CO" sz="1150" b="0" i="0">
                <a:solidFill>
                  <a:srgbClr val="E8EEF6"/>
                </a:solidFill>
                <a:latin typeface="Calibri"/>
              </a:rPr>
              <a:t>Explicar cómo Node.js consulta SQLite y devuelve una respuesta JSON.</a:t>
            </a:r>
          </a:p>
        </p:txBody>
      </p:sp>
      <p:sp>
        <p:nvSpPr>
          <p:cNvPr id="18" name="Rounded Rectangle 17"/>
          <p:cNvSpPr/>
          <p:nvPr/>
        </p:nvSpPr>
        <p:spPr>
          <a:xfrm>
            <a:off x="4709160" y="2487168"/>
            <a:ext cx="3931920" cy="914400"/>
          </a:xfrm>
          <a:prstGeom prst="roundRect">
            <a:avLst>
              <a:gd name="adj" fmla="val 8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4910328" y="2743200"/>
            <a:ext cx="402336" cy="402336"/>
          </a:xfrm>
          <a:prstGeom prst="roundRect">
            <a:avLst>
              <a:gd name="adj" fmla="val 50000"/>
            </a:avLst>
          </a:prstGeom>
          <a:solidFill>
            <a:srgbClr val="132A2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910328" y="2743200"/>
            <a:ext cx="402336" cy="402336"/>
          </a:xfrm>
          <a:prstGeom prst="rect">
            <a:avLst/>
          </a:prstGeom>
          <a:noFill/>
        </p:spPr>
        <p:txBody>
          <a:bodyPr wrap="square" lIns="0" tIns="0" rIns="0" bIns="0" anchor="ctr">
            <a:spAutoFit/>
          </a:bodyPr>
          <a:lstStyle/>
          <a:p>
            <a:pPr algn="ctr"/>
            <a:r>
              <a:rPr lang="es-CO" sz="1100" b="1" i="0">
                <a:solidFill>
                  <a:srgbClr val="3DDC97"/>
                </a:solidFill>
                <a:latin typeface="Arial"/>
              </a:rPr>
              <a:t>04</a:t>
            </a:r>
          </a:p>
        </p:txBody>
      </p:sp>
      <p:sp>
        <p:nvSpPr>
          <p:cNvPr id="21" name="TextBox 20"/>
          <p:cNvSpPr txBox="1"/>
          <p:nvPr/>
        </p:nvSpPr>
        <p:spPr>
          <a:xfrm>
            <a:off x="5477256" y="2487168"/>
            <a:ext cx="3017520" cy="914400"/>
          </a:xfrm>
          <a:prstGeom prst="rect">
            <a:avLst/>
          </a:prstGeom>
          <a:noFill/>
        </p:spPr>
        <p:txBody>
          <a:bodyPr wrap="square" lIns="0" tIns="0" rIns="0" bIns="0" anchor="ctr">
            <a:spAutoFit/>
          </a:bodyPr>
          <a:lstStyle/>
          <a:p>
            <a:pPr algn="l">
              <a:lnSpc>
                <a:spcPts val="1400"/>
              </a:lnSpc>
            </a:pPr>
            <a:r>
              <a:rPr lang="es-CO" sz="1150" b="0" i="0">
                <a:solidFill>
                  <a:srgbClr val="E8EEF6"/>
                </a:solidFill>
                <a:latin typeface="Calibri"/>
              </a:rPr>
              <a:t>Explicar cómo una página utiliza esa API para mostrar los contactos.</a:t>
            </a:r>
          </a:p>
        </p:txBody>
      </p:sp>
      <p:sp>
        <p:nvSpPr>
          <p:cNvPr id="22" name="TextBox 21"/>
          <p:cNvSpPr txBox="1"/>
          <p:nvPr/>
        </p:nvSpPr>
        <p:spPr>
          <a:xfrm>
            <a:off x="502920" y="3584448"/>
            <a:ext cx="8138160" cy="219456"/>
          </a:xfrm>
          <a:prstGeom prst="rect">
            <a:avLst/>
          </a:prstGeom>
          <a:noFill/>
        </p:spPr>
        <p:txBody>
          <a:bodyPr wrap="square" lIns="0" tIns="0" rIns="0" bIns="0" anchor="t">
            <a:spAutoFit/>
          </a:bodyPr>
          <a:lstStyle/>
          <a:p>
            <a:pPr algn="l"/>
            <a:r>
              <a:rPr lang="es-CO" sz="950" b="1" i="0">
                <a:solidFill>
                  <a:srgbClr val="6C7E96"/>
                </a:solidFill>
                <a:latin typeface="Arial"/>
              </a:rPr>
              <a:t>Recorrido de la sesión · 120 minutos</a:t>
            </a:r>
          </a:p>
        </p:txBody>
      </p:sp>
      <p:sp>
        <p:nvSpPr>
          <p:cNvPr id="23" name="Rounded Rectangle 22"/>
          <p:cNvSpPr/>
          <p:nvPr/>
        </p:nvSpPr>
        <p:spPr>
          <a:xfrm>
            <a:off x="502920" y="3840480"/>
            <a:ext cx="1517904" cy="548640"/>
          </a:xfrm>
          <a:prstGeom prst="roundRect">
            <a:avLst>
              <a:gd name="adj" fmla="val 1333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02920" y="3877056"/>
            <a:ext cx="1517904" cy="256032"/>
          </a:xfrm>
          <a:prstGeom prst="rect">
            <a:avLst/>
          </a:prstGeom>
          <a:noFill/>
        </p:spPr>
        <p:txBody>
          <a:bodyPr wrap="square" lIns="0" tIns="0" rIns="0" bIns="0" anchor="ctr">
            <a:spAutoFit/>
          </a:bodyPr>
          <a:lstStyle/>
          <a:p>
            <a:pPr algn="ctr"/>
            <a:r>
              <a:rPr lang="es-CO" sz="1000" b="1" i="0">
                <a:solidFill>
                  <a:srgbClr val="3DDC97"/>
                </a:solidFill>
                <a:latin typeface="Arial"/>
              </a:rPr>
              <a:t>Conceptos</a:t>
            </a:r>
          </a:p>
        </p:txBody>
      </p:sp>
      <p:sp>
        <p:nvSpPr>
          <p:cNvPr id="25" name="TextBox 24"/>
          <p:cNvSpPr txBox="1"/>
          <p:nvPr/>
        </p:nvSpPr>
        <p:spPr>
          <a:xfrm>
            <a:off x="502920" y="4114800"/>
            <a:ext cx="1517904" cy="219456"/>
          </a:xfrm>
          <a:prstGeom prst="rect">
            <a:avLst/>
          </a:prstGeom>
          <a:noFill/>
        </p:spPr>
        <p:txBody>
          <a:bodyPr wrap="square" lIns="0" tIns="0" rIns="0" bIns="0" anchor="ctr">
            <a:spAutoFit/>
          </a:bodyPr>
          <a:lstStyle/>
          <a:p>
            <a:pPr algn="ctr"/>
            <a:r>
              <a:rPr lang="es-CO" sz="950" b="0" i="0">
                <a:solidFill>
                  <a:srgbClr val="E8EEF6"/>
                </a:solidFill>
                <a:latin typeface="Calibri"/>
              </a:rPr>
              <a:t>55 min</a:t>
            </a:r>
          </a:p>
        </p:txBody>
      </p:sp>
      <p:sp>
        <p:nvSpPr>
          <p:cNvPr id="26" name="Rounded Rectangle 25"/>
          <p:cNvSpPr/>
          <p:nvPr/>
        </p:nvSpPr>
        <p:spPr>
          <a:xfrm>
            <a:off x="2157984" y="3840480"/>
            <a:ext cx="1517904" cy="548640"/>
          </a:xfrm>
          <a:prstGeom prst="roundRect">
            <a:avLst>
              <a:gd name="adj" fmla="val 13333"/>
            </a:avLst>
          </a:prstGeom>
          <a:solidFill>
            <a:srgbClr val="1A243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2157984" y="3877056"/>
            <a:ext cx="1517904" cy="256032"/>
          </a:xfrm>
          <a:prstGeom prst="rect">
            <a:avLst/>
          </a:prstGeom>
          <a:noFill/>
        </p:spPr>
        <p:txBody>
          <a:bodyPr wrap="square" lIns="0" tIns="0" rIns="0" bIns="0" anchor="ctr">
            <a:spAutoFit/>
          </a:bodyPr>
          <a:lstStyle/>
          <a:p>
            <a:pPr algn="ctr"/>
            <a:r>
              <a:rPr lang="es-CO" sz="1000" b="1" i="0">
                <a:solidFill>
                  <a:srgbClr val="FF8A3D"/>
                </a:solidFill>
                <a:latin typeface="Arial"/>
              </a:rPr>
              <a:t>Lab 06 · Parte A</a:t>
            </a:r>
          </a:p>
        </p:txBody>
      </p:sp>
      <p:sp>
        <p:nvSpPr>
          <p:cNvPr id="28" name="TextBox 27"/>
          <p:cNvSpPr txBox="1"/>
          <p:nvPr/>
        </p:nvSpPr>
        <p:spPr>
          <a:xfrm>
            <a:off x="2157984" y="4114800"/>
            <a:ext cx="1517904" cy="219456"/>
          </a:xfrm>
          <a:prstGeom prst="rect">
            <a:avLst/>
          </a:prstGeom>
          <a:noFill/>
        </p:spPr>
        <p:txBody>
          <a:bodyPr wrap="square" lIns="0" tIns="0" rIns="0" bIns="0" anchor="ctr">
            <a:spAutoFit/>
          </a:bodyPr>
          <a:lstStyle/>
          <a:p>
            <a:pPr algn="ctr"/>
            <a:r>
              <a:rPr lang="es-CO" sz="950" b="0" i="0">
                <a:solidFill>
                  <a:srgbClr val="E8EEF6"/>
                </a:solidFill>
                <a:latin typeface="Calibri"/>
              </a:rPr>
              <a:t>25 min</a:t>
            </a:r>
          </a:p>
        </p:txBody>
      </p:sp>
      <p:sp>
        <p:nvSpPr>
          <p:cNvPr id="29" name="Rounded Rectangle 28"/>
          <p:cNvSpPr/>
          <p:nvPr/>
        </p:nvSpPr>
        <p:spPr>
          <a:xfrm>
            <a:off x="3813048" y="3840480"/>
            <a:ext cx="1517904" cy="548640"/>
          </a:xfrm>
          <a:prstGeom prst="roundRect">
            <a:avLst>
              <a:gd name="adj" fmla="val 13333"/>
            </a:avLst>
          </a:prstGeom>
          <a:solidFill>
            <a:srgbClr val="1A243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3813048" y="3877056"/>
            <a:ext cx="1517904" cy="256032"/>
          </a:xfrm>
          <a:prstGeom prst="rect">
            <a:avLst/>
          </a:prstGeom>
          <a:noFill/>
        </p:spPr>
        <p:txBody>
          <a:bodyPr wrap="square" lIns="0" tIns="0" rIns="0" bIns="0" anchor="ctr">
            <a:spAutoFit/>
          </a:bodyPr>
          <a:lstStyle/>
          <a:p>
            <a:pPr algn="ctr"/>
            <a:r>
              <a:rPr lang="es-CO" sz="1000" b="1" i="0">
                <a:solidFill>
                  <a:srgbClr val="FF8A3D"/>
                </a:solidFill>
                <a:latin typeface="Arial"/>
              </a:rPr>
              <a:t>Lab 06 · Parte B</a:t>
            </a:r>
          </a:p>
        </p:txBody>
      </p:sp>
      <p:sp>
        <p:nvSpPr>
          <p:cNvPr id="31" name="TextBox 30"/>
          <p:cNvSpPr txBox="1"/>
          <p:nvPr/>
        </p:nvSpPr>
        <p:spPr>
          <a:xfrm>
            <a:off x="3813048" y="4114800"/>
            <a:ext cx="1517904" cy="219456"/>
          </a:xfrm>
          <a:prstGeom prst="rect">
            <a:avLst/>
          </a:prstGeom>
          <a:noFill/>
        </p:spPr>
        <p:txBody>
          <a:bodyPr wrap="square" lIns="0" tIns="0" rIns="0" bIns="0" anchor="ctr">
            <a:spAutoFit/>
          </a:bodyPr>
          <a:lstStyle/>
          <a:p>
            <a:pPr algn="ctr"/>
            <a:r>
              <a:rPr lang="es-CO" sz="950" b="0" i="0">
                <a:solidFill>
                  <a:srgbClr val="E8EEF6"/>
                </a:solidFill>
                <a:latin typeface="Calibri"/>
              </a:rPr>
              <a:t>25 min</a:t>
            </a:r>
          </a:p>
        </p:txBody>
      </p:sp>
      <p:sp>
        <p:nvSpPr>
          <p:cNvPr id="32" name="Rounded Rectangle 31"/>
          <p:cNvSpPr/>
          <p:nvPr/>
        </p:nvSpPr>
        <p:spPr>
          <a:xfrm>
            <a:off x="5468112" y="3840480"/>
            <a:ext cx="1517904" cy="548640"/>
          </a:xfrm>
          <a:prstGeom prst="roundRect">
            <a:avLst>
              <a:gd name="adj" fmla="val 13333"/>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468112" y="3877056"/>
            <a:ext cx="1517904" cy="256032"/>
          </a:xfrm>
          <a:prstGeom prst="rect">
            <a:avLst/>
          </a:prstGeom>
          <a:noFill/>
        </p:spPr>
        <p:txBody>
          <a:bodyPr wrap="square" lIns="0" tIns="0" rIns="0" bIns="0" anchor="ctr">
            <a:spAutoFit/>
          </a:bodyPr>
          <a:lstStyle/>
          <a:p>
            <a:pPr algn="ctr"/>
            <a:r>
              <a:rPr lang="es-CO" sz="1000" b="1" i="0">
                <a:solidFill>
                  <a:srgbClr val="56C7F2"/>
                </a:solidFill>
                <a:latin typeface="Arial"/>
              </a:rPr>
              <a:t>Comprobación</a:t>
            </a:r>
          </a:p>
        </p:txBody>
      </p:sp>
      <p:sp>
        <p:nvSpPr>
          <p:cNvPr id="34" name="TextBox 33"/>
          <p:cNvSpPr txBox="1"/>
          <p:nvPr/>
        </p:nvSpPr>
        <p:spPr>
          <a:xfrm>
            <a:off x="5468112" y="4114800"/>
            <a:ext cx="1517904" cy="219456"/>
          </a:xfrm>
          <a:prstGeom prst="rect">
            <a:avLst/>
          </a:prstGeom>
          <a:noFill/>
        </p:spPr>
        <p:txBody>
          <a:bodyPr wrap="square" lIns="0" tIns="0" rIns="0" bIns="0" anchor="ctr">
            <a:spAutoFit/>
          </a:bodyPr>
          <a:lstStyle/>
          <a:p>
            <a:pPr algn="ctr"/>
            <a:r>
              <a:rPr lang="es-CO" sz="950" b="0" i="0">
                <a:solidFill>
                  <a:srgbClr val="E8EEF6"/>
                </a:solidFill>
                <a:latin typeface="Calibri"/>
              </a:rPr>
              <a:t>10 min</a:t>
            </a:r>
          </a:p>
        </p:txBody>
      </p:sp>
      <p:sp>
        <p:nvSpPr>
          <p:cNvPr id="35" name="Rounded Rectangle 34"/>
          <p:cNvSpPr/>
          <p:nvPr/>
        </p:nvSpPr>
        <p:spPr>
          <a:xfrm>
            <a:off x="7123175" y="3840480"/>
            <a:ext cx="1517904" cy="548640"/>
          </a:xfrm>
          <a:prstGeom prst="roundRect">
            <a:avLst>
              <a:gd name="adj" fmla="val 13333"/>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7123175" y="3877056"/>
            <a:ext cx="1517904" cy="256032"/>
          </a:xfrm>
          <a:prstGeom prst="rect">
            <a:avLst/>
          </a:prstGeom>
          <a:noFill/>
        </p:spPr>
        <p:txBody>
          <a:bodyPr wrap="square" lIns="0" tIns="0" rIns="0" bIns="0" anchor="ctr">
            <a:spAutoFit/>
          </a:bodyPr>
          <a:lstStyle/>
          <a:p>
            <a:pPr algn="ctr"/>
            <a:r>
              <a:rPr lang="es-CO" sz="1000" b="1" i="0">
                <a:solidFill>
                  <a:srgbClr val="FFD479"/>
                </a:solidFill>
                <a:latin typeface="Arial"/>
              </a:rPr>
              <a:t>Tarea y cierre</a:t>
            </a:r>
          </a:p>
        </p:txBody>
      </p:sp>
      <p:sp>
        <p:nvSpPr>
          <p:cNvPr id="37" name="TextBox 36"/>
          <p:cNvSpPr txBox="1"/>
          <p:nvPr/>
        </p:nvSpPr>
        <p:spPr>
          <a:xfrm>
            <a:off x="7123175" y="4114800"/>
            <a:ext cx="1517904" cy="219456"/>
          </a:xfrm>
          <a:prstGeom prst="rect">
            <a:avLst/>
          </a:prstGeom>
          <a:noFill/>
        </p:spPr>
        <p:txBody>
          <a:bodyPr wrap="square" lIns="0" tIns="0" rIns="0" bIns="0" anchor="ctr">
            <a:spAutoFit/>
          </a:bodyPr>
          <a:lstStyle/>
          <a:p>
            <a:pPr algn="ctr"/>
            <a:r>
              <a:rPr lang="es-CO" sz="950" b="0" i="0">
                <a:solidFill>
                  <a:srgbClr val="E8EEF6"/>
                </a:solidFill>
                <a:latin typeface="Calibri"/>
              </a:rPr>
              <a:t>5 min</a:t>
            </a:r>
          </a:p>
        </p:txBody>
      </p:sp>
      <p:sp>
        <p:nvSpPr>
          <p:cNvPr id="38" name="TextBox 37"/>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02 / 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5544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554480" cy="228600"/>
          </a:xfrm>
          <a:prstGeom prst="rect">
            <a:avLst/>
          </a:prstGeom>
          <a:noFill/>
        </p:spPr>
        <p:txBody>
          <a:bodyPr wrap="square" lIns="0" tIns="0" rIns="0" bIns="0" anchor="ctr">
            <a:spAutoFit/>
          </a:bodyPr>
          <a:lstStyle/>
          <a:p>
            <a:pPr algn="ctr"/>
            <a:r>
              <a:rPr lang="es-CO" sz="850" b="1" i="0">
                <a:solidFill>
                  <a:srgbClr val="3DDC97"/>
                </a:solidFill>
                <a:latin typeface="Arial"/>
              </a:rPr>
              <a:t>PUNTO DE PARTIDA</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El formulario ya guarda contactos en SQLite</a:t>
            </a:r>
          </a:p>
        </p:txBody>
      </p:sp>
      <p:sp>
        <p:nvSpPr>
          <p:cNvPr id="5" name="Rounded Rectangle 4"/>
          <p:cNvSpPr/>
          <p:nvPr/>
        </p:nvSpPr>
        <p:spPr>
          <a:xfrm>
            <a:off x="502920" y="1225296"/>
            <a:ext cx="4572000" cy="1261872"/>
          </a:xfrm>
          <a:prstGeom prst="roundRect">
            <a:avLst>
              <a:gd name="adj" fmla="val 5797"/>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6" name="TextBox 5"/>
          <p:cNvSpPr txBox="1"/>
          <p:nvPr/>
        </p:nvSpPr>
        <p:spPr>
          <a:xfrm>
            <a:off x="649224" y="1296106"/>
            <a:ext cx="4279392" cy="169277"/>
          </a:xfrm>
          <a:prstGeom prst="rect">
            <a:avLst/>
          </a:prstGeom>
          <a:noFill/>
        </p:spPr>
        <p:txBody>
          <a:bodyPr wrap="square" lIns="0" tIns="0" rIns="0" bIns="0" anchor="ctr">
            <a:spAutoFit/>
          </a:bodyPr>
          <a:lstStyle/>
          <a:p>
            <a:pPr algn="l"/>
            <a:r>
              <a:rPr lang="es-CO" sz="1100" b="1" i="0">
                <a:solidFill>
                  <a:srgbClr val="3DDC97"/>
                </a:solidFill>
                <a:latin typeface="Courier New"/>
              </a:rPr>
              <a:t>server_rutas.js · Laboratorio 05</a:t>
            </a:r>
          </a:p>
        </p:txBody>
      </p:sp>
      <p:sp>
        <p:nvSpPr>
          <p:cNvPr id="7" name="TextBox 6"/>
          <p:cNvSpPr txBox="1"/>
          <p:nvPr/>
        </p:nvSpPr>
        <p:spPr>
          <a:xfrm>
            <a:off x="649224" y="1517904"/>
            <a:ext cx="4279392" cy="769441"/>
          </a:xfrm>
          <a:prstGeom prst="rect">
            <a:avLst/>
          </a:prstGeom>
          <a:noFill/>
        </p:spPr>
        <p:txBody>
          <a:bodyPr wrap="square" lIns="0" tIns="0" rIns="0" bIns="0" anchor="t">
            <a:spAutoFit/>
          </a:bodyPr>
          <a:lstStyle/>
          <a:p>
            <a:pPr algn="l">
              <a:lnSpc>
                <a:spcPts val="1230"/>
              </a:lnSpc>
            </a:pPr>
            <a:r>
              <a:rPr lang="es-CO" sz="1100" b="0" i="0" dirty="0" err="1">
                <a:solidFill>
                  <a:srgbClr val="FFB86C"/>
                </a:solidFill>
                <a:latin typeface="Courier New"/>
              </a:rPr>
              <a:t>const</a:t>
            </a:r>
            <a:r>
              <a:rPr lang="es-CO" sz="1100" b="0" i="0" dirty="0">
                <a:solidFill>
                  <a:srgbClr val="D7E1EE"/>
                </a:solidFill>
                <a:latin typeface="Courier New"/>
              </a:rPr>
              <a:t> resultado </a:t>
            </a:r>
            <a:r>
              <a:rPr lang="es-CO" sz="1100" b="0" i="0" dirty="0">
                <a:solidFill>
                  <a:srgbClr val="93A5BD"/>
                </a:solidFill>
                <a:latin typeface="Courier New"/>
              </a:rPr>
              <a:t>=</a:t>
            </a:r>
            <a:r>
              <a:rPr lang="es-CO" sz="1100" b="0" i="0" dirty="0">
                <a:solidFill>
                  <a:srgbClr val="D7E1EE"/>
                </a:solidFill>
                <a:latin typeface="Courier New"/>
              </a:rPr>
              <a:t> </a:t>
            </a:r>
            <a:r>
              <a:rPr lang="es-CO" sz="1100" b="0" i="0" dirty="0" err="1">
                <a:solidFill>
                  <a:srgbClr val="D7E1EE"/>
                </a:solidFill>
                <a:latin typeface="Courier New"/>
              </a:rPr>
              <a:t>insertarContacto</a:t>
            </a:r>
            <a:r>
              <a:rPr lang="es-CO" sz="1100" b="0" i="0" dirty="0" err="1">
                <a:solidFill>
                  <a:srgbClr val="93A5BD"/>
                </a:solidFill>
                <a:latin typeface="Courier New"/>
              </a:rPr>
              <a:t>.</a:t>
            </a:r>
            <a:r>
              <a:rPr lang="es-CO" sz="1100" b="0" i="0" dirty="0" err="1">
                <a:solidFill>
                  <a:srgbClr val="56C7F2"/>
                </a:solidFill>
                <a:latin typeface="Courier New"/>
              </a:rPr>
              <a:t>run</a:t>
            </a:r>
            <a:r>
              <a:rPr lang="es-CO" sz="1100" b="0" i="0" dirty="0">
                <a:solidFill>
                  <a:srgbClr val="93A5BD"/>
                </a:solidFill>
                <a:latin typeface="Courier New"/>
              </a:rPr>
              <a:t>(</a:t>
            </a:r>
          </a:p>
          <a:p>
            <a:pPr algn="l">
              <a:lnSpc>
                <a:spcPts val="1230"/>
              </a:lnSpc>
            </a:pPr>
            <a:r>
              <a:rPr lang="es-CO" sz="1100" b="0" i="0" dirty="0">
                <a:solidFill>
                  <a:srgbClr val="D7E1EE"/>
                </a:solidFill>
                <a:latin typeface="Courier New"/>
              </a:rPr>
              <a:t>    nombre</a:t>
            </a:r>
            <a:r>
              <a:rPr lang="es-CO" sz="1100" b="0" i="0" dirty="0">
                <a:solidFill>
                  <a:srgbClr val="93A5BD"/>
                </a:solidFill>
                <a:latin typeface="Courier New"/>
              </a:rPr>
              <a:t>,</a:t>
            </a:r>
            <a:r>
              <a:rPr lang="es-CO" sz="1100" b="0" i="0" dirty="0">
                <a:solidFill>
                  <a:srgbClr val="D7E1EE"/>
                </a:solidFill>
                <a:latin typeface="Courier New"/>
              </a:rPr>
              <a:t> correo</a:t>
            </a:r>
            <a:r>
              <a:rPr lang="es-CO" sz="1100" b="0" i="0" dirty="0">
                <a:solidFill>
                  <a:srgbClr val="93A5BD"/>
                </a:solidFill>
                <a:latin typeface="Courier New"/>
              </a:rPr>
              <a:t>,</a:t>
            </a:r>
            <a:r>
              <a:rPr lang="es-CO" sz="1100" b="0" i="0" dirty="0">
                <a:solidFill>
                  <a:srgbClr val="D7E1EE"/>
                </a:solidFill>
                <a:latin typeface="Courier New"/>
              </a:rPr>
              <a:t> mensaje</a:t>
            </a:r>
          </a:p>
          <a:p>
            <a:pPr algn="l">
              <a:lnSpc>
                <a:spcPts val="1230"/>
              </a:lnSpc>
            </a:pPr>
            <a:r>
              <a:rPr lang="es-CO" sz="1100" b="0" i="0" dirty="0">
                <a:solidFill>
                  <a:srgbClr val="93A5BD"/>
                </a:solidFill>
                <a:latin typeface="Courier New"/>
              </a:rPr>
              <a:t>);</a:t>
            </a:r>
          </a:p>
          <a:p>
            <a:pPr algn="l">
              <a:lnSpc>
                <a:spcPts val="1230"/>
              </a:lnSpc>
            </a:pPr>
            <a:r>
              <a:rPr lang="es-CO" sz="1100" b="0" i="0" dirty="0">
                <a:solidFill>
                  <a:srgbClr val="D7E1EE"/>
                </a:solidFill>
                <a:latin typeface="Courier New"/>
              </a:rPr>
              <a:t>console</a:t>
            </a:r>
            <a:r>
              <a:rPr lang="es-CO" sz="1100" b="0" i="0" dirty="0">
                <a:solidFill>
                  <a:srgbClr val="93A5BD"/>
                </a:solidFill>
                <a:latin typeface="Courier New"/>
              </a:rPr>
              <a:t>.</a:t>
            </a:r>
            <a:r>
              <a:rPr lang="es-CO" sz="1100" b="0" i="0" dirty="0">
                <a:solidFill>
                  <a:srgbClr val="56C7F2"/>
                </a:solidFill>
                <a:latin typeface="Courier New"/>
              </a:rPr>
              <a:t>log</a:t>
            </a:r>
            <a:r>
              <a:rPr lang="es-CO" sz="1100" b="0" i="0" dirty="0">
                <a:solidFill>
                  <a:srgbClr val="93A5BD"/>
                </a:solidFill>
                <a:latin typeface="Courier New"/>
              </a:rPr>
              <a:t>(</a:t>
            </a:r>
            <a:r>
              <a:rPr lang="es-CO" sz="1100" b="0" i="0" dirty="0">
                <a:solidFill>
                  <a:srgbClr val="FFD479"/>
                </a:solidFill>
                <a:latin typeface="Courier New"/>
              </a:rPr>
              <a:t>'Contacto almacenado con id:'</a:t>
            </a:r>
            <a:r>
              <a:rPr lang="es-CO" sz="1100" b="0" i="0" dirty="0">
                <a:solidFill>
                  <a:srgbClr val="93A5BD"/>
                </a:solidFill>
                <a:latin typeface="Courier New"/>
              </a:rPr>
              <a:t>,</a:t>
            </a:r>
          </a:p>
          <a:p>
            <a:pPr algn="l">
              <a:lnSpc>
                <a:spcPts val="1230"/>
              </a:lnSpc>
            </a:pPr>
            <a:r>
              <a:rPr lang="es-CO" sz="1100" b="0" i="0" dirty="0">
                <a:solidFill>
                  <a:srgbClr val="D7E1EE"/>
                </a:solidFill>
                <a:latin typeface="Courier New"/>
              </a:rPr>
              <a:t>    </a:t>
            </a:r>
            <a:r>
              <a:rPr lang="es-CO" sz="1100" b="0" i="0" dirty="0" err="1">
                <a:solidFill>
                  <a:srgbClr val="D7E1EE"/>
                </a:solidFill>
                <a:latin typeface="Courier New"/>
              </a:rPr>
              <a:t>resultado</a:t>
            </a:r>
            <a:r>
              <a:rPr lang="es-CO" sz="1100" b="0" i="0" dirty="0" err="1">
                <a:solidFill>
                  <a:srgbClr val="93A5BD"/>
                </a:solidFill>
                <a:latin typeface="Courier New"/>
              </a:rPr>
              <a:t>.</a:t>
            </a:r>
            <a:r>
              <a:rPr lang="es-CO" sz="1100" b="0" i="0" dirty="0" err="1">
                <a:solidFill>
                  <a:srgbClr val="56C7F2"/>
                </a:solidFill>
                <a:latin typeface="Courier New"/>
              </a:rPr>
              <a:t>lastInsertRowid</a:t>
            </a:r>
            <a:r>
              <a:rPr lang="es-CO" sz="1100" b="0" i="0" dirty="0">
                <a:solidFill>
                  <a:srgbClr val="93A5BD"/>
                </a:solidFill>
                <a:latin typeface="Courier New"/>
              </a:rPr>
              <a:t>);</a:t>
            </a:r>
          </a:p>
        </p:txBody>
      </p:sp>
      <p:sp>
        <p:nvSpPr>
          <p:cNvPr id="8" name="Rounded Rectangle 7"/>
          <p:cNvSpPr/>
          <p:nvPr/>
        </p:nvSpPr>
        <p:spPr>
          <a:xfrm>
            <a:off x="5257800" y="1225296"/>
            <a:ext cx="3383280" cy="1261872"/>
          </a:xfrm>
          <a:prstGeom prst="roundRect">
            <a:avLst>
              <a:gd name="adj" fmla="val 5797"/>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9" name="TextBox 8"/>
          <p:cNvSpPr txBox="1"/>
          <p:nvPr/>
        </p:nvSpPr>
        <p:spPr>
          <a:xfrm>
            <a:off x="5404104" y="1296106"/>
            <a:ext cx="3090672" cy="169277"/>
          </a:xfrm>
          <a:prstGeom prst="rect">
            <a:avLst/>
          </a:prstGeom>
          <a:noFill/>
        </p:spPr>
        <p:txBody>
          <a:bodyPr wrap="square" lIns="0" tIns="0" rIns="0" bIns="0" anchor="ctr">
            <a:spAutoFit/>
          </a:bodyPr>
          <a:lstStyle/>
          <a:p>
            <a:pPr algn="l"/>
            <a:r>
              <a:rPr lang="es-CO" sz="1100" b="1" i="0">
                <a:solidFill>
                  <a:srgbClr val="6C7E96"/>
                </a:solidFill>
                <a:latin typeface="Courier New"/>
              </a:rPr>
              <a:t>consola del servidor</a:t>
            </a:r>
          </a:p>
        </p:txBody>
      </p:sp>
      <p:sp>
        <p:nvSpPr>
          <p:cNvPr id="10" name="TextBox 9"/>
          <p:cNvSpPr txBox="1"/>
          <p:nvPr/>
        </p:nvSpPr>
        <p:spPr>
          <a:xfrm>
            <a:off x="5404104" y="1517904"/>
            <a:ext cx="3090672" cy="311624"/>
          </a:xfrm>
          <a:prstGeom prst="rect">
            <a:avLst/>
          </a:prstGeom>
          <a:noFill/>
        </p:spPr>
        <p:txBody>
          <a:bodyPr wrap="square" lIns="0" tIns="0" rIns="0" bIns="0" anchor="t">
            <a:spAutoFit/>
          </a:bodyPr>
          <a:lstStyle/>
          <a:p>
            <a:pPr algn="l">
              <a:lnSpc>
                <a:spcPts val="1230"/>
              </a:lnSpc>
            </a:pPr>
            <a:r>
              <a:rPr lang="es-CO" sz="1100" b="0" i="0">
                <a:solidFill>
                  <a:srgbClr val="3DDC97"/>
                </a:solidFill>
                <a:latin typeface="Courier New"/>
              </a:rPr>
              <a:t>Contacto almacenado con id: 1</a:t>
            </a:r>
          </a:p>
          <a:p>
            <a:pPr algn="l">
              <a:lnSpc>
                <a:spcPts val="1230"/>
              </a:lnSpc>
            </a:pPr>
            <a:r>
              <a:rPr lang="es-CO" sz="1100" b="0" i="0">
                <a:solidFill>
                  <a:srgbClr val="3DDC97"/>
                </a:solidFill>
                <a:latin typeface="Courier New"/>
              </a:rPr>
              <a:t>Contacto almacenado con id: 2</a:t>
            </a:r>
          </a:p>
        </p:txBody>
      </p:sp>
      <p:sp>
        <p:nvSpPr>
          <p:cNvPr id="11" name="Rounded Rectangle 10"/>
          <p:cNvSpPr/>
          <p:nvPr/>
        </p:nvSpPr>
        <p:spPr>
          <a:xfrm>
            <a:off x="502920" y="2670048"/>
            <a:ext cx="1719072" cy="384048"/>
          </a:xfrm>
          <a:prstGeom prst="roundRect">
            <a:avLst>
              <a:gd name="adj" fmla="val 42857"/>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TextBox 11"/>
          <p:cNvSpPr txBox="1"/>
          <p:nvPr/>
        </p:nvSpPr>
        <p:spPr>
          <a:xfrm>
            <a:off x="548640" y="2777434"/>
            <a:ext cx="1627631" cy="169277"/>
          </a:xfrm>
          <a:prstGeom prst="rect">
            <a:avLst/>
          </a:prstGeom>
          <a:noFill/>
        </p:spPr>
        <p:txBody>
          <a:bodyPr wrap="square" lIns="0" tIns="0" rIns="0" bIns="0" anchor="ctr">
            <a:spAutoFit/>
          </a:bodyPr>
          <a:lstStyle/>
          <a:p>
            <a:pPr algn="ctr"/>
            <a:r>
              <a:rPr lang="es-CO" sz="1100" b="1" i="0" dirty="0">
                <a:solidFill>
                  <a:srgbClr val="3DDC97"/>
                </a:solidFill>
                <a:latin typeface="Courier New"/>
              </a:rPr>
              <a:t>contacto.html</a:t>
            </a:r>
          </a:p>
        </p:txBody>
      </p:sp>
      <p:cxnSp>
        <p:nvCxnSpPr>
          <p:cNvPr id="13" name="Connector 12"/>
          <p:cNvCxnSpPr/>
          <p:nvPr/>
        </p:nvCxnSpPr>
        <p:spPr>
          <a:xfrm>
            <a:off x="2240280" y="2862072"/>
            <a:ext cx="365759"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42615" y="2670048"/>
            <a:ext cx="1719072" cy="384048"/>
          </a:xfrm>
          <a:prstGeom prst="roundRect">
            <a:avLst>
              <a:gd name="adj" fmla="val 42857"/>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5" name="TextBox 14"/>
          <p:cNvSpPr txBox="1"/>
          <p:nvPr/>
        </p:nvSpPr>
        <p:spPr>
          <a:xfrm>
            <a:off x="2688335" y="2777434"/>
            <a:ext cx="1627631" cy="169277"/>
          </a:xfrm>
          <a:prstGeom prst="rect">
            <a:avLst/>
          </a:prstGeom>
          <a:noFill/>
        </p:spPr>
        <p:txBody>
          <a:bodyPr wrap="square" lIns="0" tIns="0" rIns="0" bIns="0" anchor="ctr">
            <a:spAutoFit/>
          </a:bodyPr>
          <a:lstStyle/>
          <a:p>
            <a:pPr algn="ctr"/>
            <a:r>
              <a:rPr lang="es-CO" sz="1100" b="1" i="0">
                <a:solidFill>
                  <a:srgbClr val="56C7F2"/>
                </a:solidFill>
                <a:latin typeface="Courier New"/>
              </a:rPr>
              <a:t>POST /contacto</a:t>
            </a:r>
          </a:p>
        </p:txBody>
      </p:sp>
      <p:cxnSp>
        <p:nvCxnSpPr>
          <p:cNvPr id="16" name="Connector 15"/>
          <p:cNvCxnSpPr/>
          <p:nvPr/>
        </p:nvCxnSpPr>
        <p:spPr>
          <a:xfrm>
            <a:off x="4379975" y="2862072"/>
            <a:ext cx="365761"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782312" y="2670048"/>
            <a:ext cx="1719072" cy="384048"/>
          </a:xfrm>
          <a:prstGeom prst="roundRect">
            <a:avLst>
              <a:gd name="adj" fmla="val 42857"/>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8" name="TextBox 17"/>
          <p:cNvSpPr txBox="1"/>
          <p:nvPr/>
        </p:nvSpPr>
        <p:spPr>
          <a:xfrm>
            <a:off x="4828031" y="2777434"/>
            <a:ext cx="1627631" cy="169277"/>
          </a:xfrm>
          <a:prstGeom prst="rect">
            <a:avLst/>
          </a:prstGeom>
          <a:noFill/>
        </p:spPr>
        <p:txBody>
          <a:bodyPr wrap="square" lIns="0" tIns="0" rIns="0" bIns="0" anchor="ctr">
            <a:spAutoFit/>
          </a:bodyPr>
          <a:lstStyle/>
          <a:p>
            <a:pPr algn="ctr"/>
            <a:r>
              <a:rPr lang="es-CO" sz="1100" b="1" i="0" dirty="0">
                <a:solidFill>
                  <a:srgbClr val="E8EEF6"/>
                </a:solidFill>
                <a:latin typeface="Courier New"/>
              </a:rPr>
              <a:t>server.js</a:t>
            </a:r>
          </a:p>
        </p:txBody>
      </p:sp>
      <p:cxnSp>
        <p:nvCxnSpPr>
          <p:cNvPr id="19" name="Connector 18"/>
          <p:cNvCxnSpPr/>
          <p:nvPr/>
        </p:nvCxnSpPr>
        <p:spPr>
          <a:xfrm>
            <a:off x="6519671" y="2862072"/>
            <a:ext cx="36576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922007" y="2670048"/>
            <a:ext cx="1719072" cy="384048"/>
          </a:xfrm>
          <a:prstGeom prst="roundRect">
            <a:avLst>
              <a:gd name="adj" fmla="val 42857"/>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1" name="TextBox 20"/>
          <p:cNvSpPr txBox="1"/>
          <p:nvPr/>
        </p:nvSpPr>
        <p:spPr>
          <a:xfrm>
            <a:off x="6967727" y="2777434"/>
            <a:ext cx="1627631" cy="169277"/>
          </a:xfrm>
          <a:prstGeom prst="rect">
            <a:avLst/>
          </a:prstGeom>
          <a:noFill/>
        </p:spPr>
        <p:txBody>
          <a:bodyPr wrap="square" lIns="0" tIns="0" rIns="0" bIns="0" anchor="ctr">
            <a:spAutoFit/>
          </a:bodyPr>
          <a:lstStyle/>
          <a:p>
            <a:pPr algn="ctr"/>
            <a:r>
              <a:rPr lang="es-CO" sz="1100" b="1" i="0">
                <a:solidFill>
                  <a:srgbClr val="FFB86C"/>
                </a:solidFill>
                <a:latin typeface="Courier New"/>
              </a:rPr>
              <a:t>contactos.db</a:t>
            </a:r>
          </a:p>
        </p:txBody>
      </p:sp>
      <p:sp>
        <p:nvSpPr>
          <p:cNvPr id="22" name="Rounded Rectangle 21"/>
          <p:cNvSpPr/>
          <p:nvPr/>
        </p:nvSpPr>
        <p:spPr>
          <a:xfrm>
            <a:off x="502920" y="3255264"/>
            <a:ext cx="2615184" cy="987552"/>
          </a:xfrm>
          <a:prstGeom prst="roundRect">
            <a:avLst>
              <a:gd name="adj" fmla="val 7407"/>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3" name="TextBox 22"/>
          <p:cNvSpPr txBox="1"/>
          <p:nvPr/>
        </p:nvSpPr>
        <p:spPr>
          <a:xfrm>
            <a:off x="630936" y="3362650"/>
            <a:ext cx="2359152" cy="169277"/>
          </a:xfrm>
          <a:prstGeom prst="rect">
            <a:avLst/>
          </a:prstGeom>
          <a:noFill/>
        </p:spPr>
        <p:txBody>
          <a:bodyPr wrap="square" lIns="0" tIns="0" rIns="0" bIns="0" anchor="ctr">
            <a:spAutoFit/>
          </a:bodyPr>
          <a:lstStyle/>
          <a:p>
            <a:pPr algn="l"/>
            <a:r>
              <a:rPr lang="es-CO" sz="1100" b="1" i="0">
                <a:solidFill>
                  <a:srgbClr val="3DDC97"/>
                </a:solidFill>
                <a:latin typeface="Arial"/>
              </a:rPr>
              <a:t>Ya funciona</a:t>
            </a:r>
          </a:p>
        </p:txBody>
      </p:sp>
      <p:sp>
        <p:nvSpPr>
          <p:cNvPr id="24" name="TextBox 23"/>
          <p:cNvSpPr txBox="1"/>
          <p:nvPr/>
        </p:nvSpPr>
        <p:spPr>
          <a:xfrm>
            <a:off x="630936" y="3584448"/>
            <a:ext cx="2359152" cy="307777"/>
          </a:xfrm>
          <a:prstGeom prst="rect">
            <a:avLst/>
          </a:prstGeom>
          <a:noFill/>
        </p:spPr>
        <p:txBody>
          <a:bodyPr wrap="square" lIns="0" tIns="0" rIns="0" bIns="0" anchor="t">
            <a:spAutoFit/>
          </a:bodyPr>
          <a:lstStyle/>
          <a:p>
            <a:pPr algn="l">
              <a:lnSpc>
                <a:spcPts val="1180"/>
              </a:lnSpc>
            </a:pPr>
            <a:r>
              <a:rPr lang="es-CO" sz="1100" b="0" i="0">
                <a:solidFill>
                  <a:srgbClr val="E8EEF6"/>
                </a:solidFill>
                <a:latin typeface="Calibri"/>
              </a:rPr>
              <a:t>El formulario envía datos y el servidor los guarda con INSERT.</a:t>
            </a:r>
          </a:p>
        </p:txBody>
      </p:sp>
      <p:sp>
        <p:nvSpPr>
          <p:cNvPr id="25" name="Rounded Rectangle 24"/>
          <p:cNvSpPr/>
          <p:nvPr/>
        </p:nvSpPr>
        <p:spPr>
          <a:xfrm>
            <a:off x="3264408" y="3255264"/>
            <a:ext cx="2615184" cy="987552"/>
          </a:xfrm>
          <a:prstGeom prst="roundRect">
            <a:avLst>
              <a:gd name="adj" fmla="val 7407"/>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6" name="TextBox 25"/>
          <p:cNvSpPr txBox="1"/>
          <p:nvPr/>
        </p:nvSpPr>
        <p:spPr>
          <a:xfrm>
            <a:off x="3392424" y="3362650"/>
            <a:ext cx="2359152" cy="169277"/>
          </a:xfrm>
          <a:prstGeom prst="rect">
            <a:avLst/>
          </a:prstGeom>
          <a:noFill/>
        </p:spPr>
        <p:txBody>
          <a:bodyPr wrap="square" lIns="0" tIns="0" rIns="0" bIns="0" anchor="ctr">
            <a:spAutoFit/>
          </a:bodyPr>
          <a:lstStyle/>
          <a:p>
            <a:pPr algn="l"/>
            <a:r>
              <a:rPr lang="es-CO" sz="1100" b="1" i="0">
                <a:solidFill>
                  <a:srgbClr val="56C7F2"/>
                </a:solidFill>
                <a:latin typeface="Arial"/>
              </a:rPr>
              <a:t>Falta consultar</a:t>
            </a:r>
          </a:p>
        </p:txBody>
      </p:sp>
      <p:sp>
        <p:nvSpPr>
          <p:cNvPr id="27" name="TextBox 26"/>
          <p:cNvSpPr txBox="1"/>
          <p:nvPr/>
        </p:nvSpPr>
        <p:spPr>
          <a:xfrm>
            <a:off x="3392424" y="3584448"/>
            <a:ext cx="2359152" cy="307777"/>
          </a:xfrm>
          <a:prstGeom prst="rect">
            <a:avLst/>
          </a:prstGeom>
          <a:noFill/>
        </p:spPr>
        <p:txBody>
          <a:bodyPr wrap="square" lIns="0" tIns="0" rIns="0" bIns="0" anchor="t">
            <a:spAutoFit/>
          </a:bodyPr>
          <a:lstStyle/>
          <a:p>
            <a:pPr algn="l">
              <a:lnSpc>
                <a:spcPts val="1180"/>
              </a:lnSpc>
            </a:pPr>
            <a:r>
              <a:rPr lang="es-CO" sz="1100" b="0" i="0">
                <a:solidFill>
                  <a:srgbClr val="E8EEF6"/>
                </a:solidFill>
                <a:latin typeface="Calibri"/>
              </a:rPr>
              <a:t>Recuperar los registros guardados con SELECT.</a:t>
            </a:r>
          </a:p>
        </p:txBody>
      </p:sp>
      <p:sp>
        <p:nvSpPr>
          <p:cNvPr id="28" name="Rounded Rectangle 27"/>
          <p:cNvSpPr/>
          <p:nvPr/>
        </p:nvSpPr>
        <p:spPr>
          <a:xfrm>
            <a:off x="6025896" y="3255264"/>
            <a:ext cx="2615184" cy="987552"/>
          </a:xfrm>
          <a:prstGeom prst="roundRect">
            <a:avLst>
              <a:gd name="adj" fmla="val 7407"/>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9" name="TextBox 28"/>
          <p:cNvSpPr txBox="1"/>
          <p:nvPr/>
        </p:nvSpPr>
        <p:spPr>
          <a:xfrm>
            <a:off x="6153912" y="3362650"/>
            <a:ext cx="2359152" cy="169277"/>
          </a:xfrm>
          <a:prstGeom prst="rect">
            <a:avLst/>
          </a:prstGeom>
          <a:noFill/>
        </p:spPr>
        <p:txBody>
          <a:bodyPr wrap="square" lIns="0" tIns="0" rIns="0" bIns="0" anchor="ctr">
            <a:spAutoFit/>
          </a:bodyPr>
          <a:lstStyle/>
          <a:p>
            <a:pPr algn="l"/>
            <a:r>
              <a:rPr lang="es-CO" sz="1100" b="1" i="0">
                <a:solidFill>
                  <a:srgbClr val="FFB86C"/>
                </a:solidFill>
                <a:latin typeface="Arial"/>
              </a:rPr>
              <a:t>Falta mostrar</a:t>
            </a:r>
          </a:p>
        </p:txBody>
      </p:sp>
      <p:sp>
        <p:nvSpPr>
          <p:cNvPr id="30" name="TextBox 29"/>
          <p:cNvSpPr txBox="1"/>
          <p:nvPr/>
        </p:nvSpPr>
        <p:spPr>
          <a:xfrm>
            <a:off x="6153912" y="3584448"/>
            <a:ext cx="2359152" cy="307777"/>
          </a:xfrm>
          <a:prstGeom prst="rect">
            <a:avLst/>
          </a:prstGeom>
          <a:noFill/>
        </p:spPr>
        <p:txBody>
          <a:bodyPr wrap="square" lIns="0" tIns="0" rIns="0" bIns="0" anchor="t">
            <a:spAutoFit/>
          </a:bodyPr>
          <a:lstStyle/>
          <a:p>
            <a:pPr algn="l">
              <a:lnSpc>
                <a:spcPts val="1180"/>
              </a:lnSpc>
            </a:pPr>
            <a:r>
              <a:rPr lang="es-CO" sz="1100" b="0" i="0">
                <a:solidFill>
                  <a:srgbClr val="E8EEF6"/>
                </a:solidFill>
                <a:latin typeface="Calibri"/>
              </a:rPr>
              <a:t>Presentar los contactos en una página del navegador.</a:t>
            </a:r>
          </a:p>
        </p:txBody>
      </p:sp>
      <p:sp>
        <p:nvSpPr>
          <p:cNvPr id="31" name="TextBox 30"/>
          <p:cNvSpPr txBox="1"/>
          <p:nvPr/>
        </p:nvSpPr>
        <p:spPr>
          <a:xfrm>
            <a:off x="502920" y="4377634"/>
            <a:ext cx="8138160" cy="169277"/>
          </a:xfrm>
          <a:prstGeom prst="rect">
            <a:avLst/>
          </a:prstGeom>
          <a:noFill/>
        </p:spPr>
        <p:txBody>
          <a:bodyPr wrap="square" lIns="0" tIns="0" rIns="0" bIns="0" anchor="ctr">
            <a:spAutoFit/>
          </a:bodyPr>
          <a:lstStyle/>
          <a:p>
            <a:pPr algn="l"/>
            <a:r>
              <a:rPr lang="es-CO" sz="1100" b="0" i="1">
                <a:solidFill>
                  <a:srgbClr val="93A5BD"/>
                </a:solidFill>
                <a:latin typeface="Calibri"/>
              </a:rPr>
              <a:t>La pregunta de hoy: ¿cómo solicita una página los contactos guardados y cómo los presenta?</a:t>
            </a:r>
          </a:p>
        </p:txBody>
      </p:sp>
      <p:sp>
        <p:nvSpPr>
          <p:cNvPr id="32" name="TextBox 31"/>
          <p:cNvSpPr txBox="1"/>
          <p:nvPr/>
        </p:nvSpPr>
        <p:spPr>
          <a:xfrm>
            <a:off x="6309360" y="4741944"/>
            <a:ext cx="2331720" cy="153888"/>
          </a:xfrm>
          <a:prstGeom prst="rect">
            <a:avLst/>
          </a:prstGeom>
          <a:noFill/>
        </p:spPr>
        <p:txBody>
          <a:bodyPr wrap="square" lIns="0" tIns="0" rIns="0" bIns="0" anchor="ctr">
            <a:spAutoFit/>
          </a:bodyPr>
          <a:lstStyle/>
          <a:p>
            <a:pPr algn="r"/>
            <a:r>
              <a:rPr lang="es-CO" sz="1000" b="0" i="0">
                <a:solidFill>
                  <a:srgbClr val="6C7E96"/>
                </a:solidFill>
                <a:latin typeface="Arial"/>
              </a:rPr>
              <a:t>Ingeniería Web  ·  03 / 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400" b="1" i="0">
                <a:solidFill>
                  <a:srgbClr val="FFFFFF"/>
                </a:solidFill>
                <a:latin typeface="Arial"/>
              </a:rPr>
              <a:t>Una API web conecta un cliente con un servidor</a:t>
            </a:r>
          </a:p>
        </p:txBody>
      </p:sp>
      <p:sp>
        <p:nvSpPr>
          <p:cNvPr id="5" name="Rounded Rectangle 4"/>
          <p:cNvSpPr/>
          <p:nvPr/>
        </p:nvSpPr>
        <p:spPr>
          <a:xfrm>
            <a:off x="502920" y="1188720"/>
            <a:ext cx="8138160" cy="566928"/>
          </a:xfrm>
          <a:prstGeom prst="roundRect">
            <a:avLst>
              <a:gd name="adj" fmla="val 1290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6" name="TextBox 5"/>
          <p:cNvSpPr txBox="1"/>
          <p:nvPr/>
        </p:nvSpPr>
        <p:spPr>
          <a:xfrm>
            <a:off x="685800" y="1387545"/>
            <a:ext cx="7772400" cy="169277"/>
          </a:xfrm>
          <a:prstGeom prst="rect">
            <a:avLst/>
          </a:prstGeom>
          <a:noFill/>
        </p:spPr>
        <p:txBody>
          <a:bodyPr wrap="square" lIns="0" tIns="0" rIns="0" bIns="0" anchor="ctr">
            <a:spAutoFit/>
          </a:bodyPr>
          <a:lstStyle/>
          <a:p>
            <a:pPr algn="l"/>
            <a:r>
              <a:rPr lang="es-CO" sz="1100" b="1" i="0">
                <a:solidFill>
                  <a:srgbClr val="3DDC97"/>
                </a:solidFill>
                <a:latin typeface="Arial"/>
              </a:rPr>
              <a:t>Idea central  </a:t>
            </a:r>
            <a:r>
              <a:rPr lang="es-CO" sz="1100" b="0" i="0">
                <a:solidFill>
                  <a:srgbClr val="E8EEF6"/>
                </a:solidFill>
                <a:latin typeface="Calibri"/>
              </a:rPr>
              <a:t>Una API web permite que una aplicación solicite datos o acciones a otra mediante una interfaz definida.</a:t>
            </a:r>
          </a:p>
        </p:txBody>
      </p:sp>
      <p:sp>
        <p:nvSpPr>
          <p:cNvPr id="7" name="Rounded Rectangle 6"/>
          <p:cNvSpPr/>
          <p:nvPr/>
        </p:nvSpPr>
        <p:spPr>
          <a:xfrm>
            <a:off x="502920" y="1938528"/>
            <a:ext cx="2103120" cy="1371600"/>
          </a:xfrm>
          <a:prstGeom prst="roundRect">
            <a:avLst>
              <a:gd name="adj" fmla="val 5333"/>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8" name="TextBox 7"/>
          <p:cNvSpPr txBox="1"/>
          <p:nvPr/>
        </p:nvSpPr>
        <p:spPr>
          <a:xfrm>
            <a:off x="640080" y="2036769"/>
            <a:ext cx="1828800" cy="169277"/>
          </a:xfrm>
          <a:prstGeom prst="rect">
            <a:avLst/>
          </a:prstGeom>
          <a:noFill/>
        </p:spPr>
        <p:txBody>
          <a:bodyPr wrap="square" lIns="0" tIns="0" rIns="0" bIns="0" anchor="ctr">
            <a:spAutoFit/>
          </a:bodyPr>
          <a:lstStyle/>
          <a:p>
            <a:pPr algn="l"/>
            <a:r>
              <a:rPr lang="es-CO" sz="1100" b="1" i="0">
                <a:solidFill>
                  <a:srgbClr val="56C7F2"/>
                </a:solidFill>
                <a:latin typeface="Arial"/>
              </a:rPr>
              <a:t>Cliente</a:t>
            </a:r>
          </a:p>
        </p:txBody>
      </p:sp>
      <p:sp>
        <p:nvSpPr>
          <p:cNvPr id="9" name="TextBox 8"/>
          <p:cNvSpPr txBox="1"/>
          <p:nvPr/>
        </p:nvSpPr>
        <p:spPr>
          <a:xfrm>
            <a:off x="640080" y="2267712"/>
            <a:ext cx="1828800" cy="500137"/>
          </a:xfrm>
          <a:prstGeom prst="rect">
            <a:avLst/>
          </a:prstGeom>
          <a:noFill/>
        </p:spPr>
        <p:txBody>
          <a:bodyPr wrap="square" lIns="0" tIns="0" rIns="0" bIns="0" anchor="t">
            <a:spAutoFit/>
          </a:bodyPr>
          <a:lstStyle/>
          <a:p>
            <a:pPr algn="l">
              <a:lnSpc>
                <a:spcPts val="1250"/>
              </a:lnSpc>
            </a:pPr>
            <a:r>
              <a:rPr lang="es-CO" sz="1100" b="0" i="0" dirty="0">
                <a:solidFill>
                  <a:srgbClr val="E8EEF6"/>
                </a:solidFill>
                <a:latin typeface="Calibri"/>
              </a:rPr>
              <a:t>JavaScript en el navegador (contactos.html). Inicia la solicitud.</a:t>
            </a:r>
          </a:p>
        </p:txBody>
      </p:sp>
      <p:sp>
        <p:nvSpPr>
          <p:cNvPr id="10" name="Rounded Rectangle 9"/>
          <p:cNvSpPr/>
          <p:nvPr/>
        </p:nvSpPr>
        <p:spPr>
          <a:xfrm>
            <a:off x="3120390" y="1938528"/>
            <a:ext cx="2103120" cy="1371600"/>
          </a:xfrm>
          <a:prstGeom prst="roundRect">
            <a:avLst>
              <a:gd name="adj" fmla="val 5333"/>
            </a:avLst>
          </a:prstGeom>
          <a:solidFill>
            <a:srgbClr val="070C1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1" name="TextBox 10"/>
          <p:cNvSpPr txBox="1"/>
          <p:nvPr/>
        </p:nvSpPr>
        <p:spPr>
          <a:xfrm>
            <a:off x="3257550" y="2036769"/>
            <a:ext cx="1828800" cy="169277"/>
          </a:xfrm>
          <a:prstGeom prst="rect">
            <a:avLst/>
          </a:prstGeom>
          <a:noFill/>
        </p:spPr>
        <p:txBody>
          <a:bodyPr wrap="square" lIns="0" tIns="0" rIns="0" bIns="0" anchor="ctr">
            <a:spAutoFit/>
          </a:bodyPr>
          <a:lstStyle/>
          <a:p>
            <a:pPr algn="l"/>
            <a:r>
              <a:rPr lang="es-CO" sz="1100" b="1" i="0">
                <a:solidFill>
                  <a:srgbClr val="3DDC97"/>
                </a:solidFill>
                <a:latin typeface="Arial"/>
              </a:rPr>
              <a:t>Interfaz definida</a:t>
            </a:r>
          </a:p>
        </p:txBody>
      </p:sp>
      <p:sp>
        <p:nvSpPr>
          <p:cNvPr id="12" name="TextBox 11"/>
          <p:cNvSpPr txBox="1"/>
          <p:nvPr/>
        </p:nvSpPr>
        <p:spPr>
          <a:xfrm>
            <a:off x="3257550" y="2338521"/>
            <a:ext cx="1828800" cy="169277"/>
          </a:xfrm>
          <a:prstGeom prst="rect">
            <a:avLst/>
          </a:prstGeom>
          <a:noFill/>
        </p:spPr>
        <p:txBody>
          <a:bodyPr wrap="square" lIns="0" tIns="0" rIns="0" bIns="0" anchor="ctr">
            <a:spAutoFit/>
          </a:bodyPr>
          <a:lstStyle/>
          <a:p>
            <a:pPr algn="l"/>
            <a:r>
              <a:rPr lang="es-CO" sz="1100" b="0" i="0" dirty="0">
                <a:solidFill>
                  <a:srgbClr val="FFD479"/>
                </a:solidFill>
                <a:latin typeface="Courier New"/>
              </a:rPr>
              <a:t>GET /api/contactos</a:t>
            </a:r>
          </a:p>
        </p:txBody>
      </p:sp>
      <p:sp>
        <p:nvSpPr>
          <p:cNvPr id="13" name="TextBox 12"/>
          <p:cNvSpPr txBox="1"/>
          <p:nvPr/>
        </p:nvSpPr>
        <p:spPr>
          <a:xfrm>
            <a:off x="3257550" y="2578608"/>
            <a:ext cx="1828800" cy="333425"/>
          </a:xfrm>
          <a:prstGeom prst="rect">
            <a:avLst/>
          </a:prstGeom>
          <a:noFill/>
        </p:spPr>
        <p:txBody>
          <a:bodyPr wrap="square" lIns="0" tIns="0" rIns="0" bIns="0" anchor="t">
            <a:spAutoFit/>
          </a:bodyPr>
          <a:lstStyle/>
          <a:p>
            <a:pPr algn="l">
              <a:lnSpc>
                <a:spcPts val="1250"/>
              </a:lnSpc>
            </a:pPr>
            <a:r>
              <a:rPr lang="es-CO" sz="1100" b="0" i="0" dirty="0">
                <a:solidFill>
                  <a:srgbClr val="E8EEF6"/>
                </a:solidFill>
                <a:latin typeface="Calibri"/>
              </a:rPr>
              <a:t>Método, ruta y formato de respuesta acordados.</a:t>
            </a:r>
          </a:p>
        </p:txBody>
      </p:sp>
      <p:sp>
        <p:nvSpPr>
          <p:cNvPr id="14" name="Rounded Rectangle 13"/>
          <p:cNvSpPr/>
          <p:nvPr/>
        </p:nvSpPr>
        <p:spPr>
          <a:xfrm>
            <a:off x="5680710" y="1938528"/>
            <a:ext cx="1600200" cy="1371600"/>
          </a:xfrm>
          <a:prstGeom prst="roundRect">
            <a:avLst>
              <a:gd name="adj" fmla="val 5333"/>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5" name="TextBox 14"/>
          <p:cNvSpPr txBox="1"/>
          <p:nvPr/>
        </p:nvSpPr>
        <p:spPr>
          <a:xfrm>
            <a:off x="5799582" y="2036769"/>
            <a:ext cx="1371600" cy="169277"/>
          </a:xfrm>
          <a:prstGeom prst="rect">
            <a:avLst/>
          </a:prstGeom>
          <a:noFill/>
        </p:spPr>
        <p:txBody>
          <a:bodyPr wrap="square" lIns="0" tIns="0" rIns="0" bIns="0" anchor="ctr">
            <a:spAutoFit/>
          </a:bodyPr>
          <a:lstStyle/>
          <a:p>
            <a:pPr algn="l"/>
            <a:r>
              <a:rPr lang="es-CO" sz="1100" b="1" i="0">
                <a:solidFill>
                  <a:srgbClr val="FFB86C"/>
                </a:solidFill>
                <a:latin typeface="Arial"/>
              </a:rPr>
              <a:t>Servidor</a:t>
            </a:r>
          </a:p>
        </p:txBody>
      </p:sp>
      <p:sp>
        <p:nvSpPr>
          <p:cNvPr id="16" name="TextBox 15"/>
          <p:cNvSpPr txBox="1"/>
          <p:nvPr/>
        </p:nvSpPr>
        <p:spPr>
          <a:xfrm>
            <a:off x="5799582" y="2267712"/>
            <a:ext cx="1371600" cy="500137"/>
          </a:xfrm>
          <a:prstGeom prst="rect">
            <a:avLst/>
          </a:prstGeom>
          <a:noFill/>
        </p:spPr>
        <p:txBody>
          <a:bodyPr wrap="square" lIns="0" tIns="0" rIns="0" bIns="0" anchor="t">
            <a:spAutoFit/>
          </a:bodyPr>
          <a:lstStyle/>
          <a:p>
            <a:pPr algn="l">
              <a:lnSpc>
                <a:spcPts val="1250"/>
              </a:lnSpc>
            </a:pPr>
            <a:r>
              <a:rPr lang="es-CO" sz="1100" b="0" i="0" dirty="0">
                <a:solidFill>
                  <a:srgbClr val="E8EEF6"/>
                </a:solidFill>
                <a:latin typeface="Calibri"/>
              </a:rPr>
              <a:t>Node.js (server_rutas.js). Atiende y responde.</a:t>
            </a:r>
          </a:p>
        </p:txBody>
      </p:sp>
      <p:sp>
        <p:nvSpPr>
          <p:cNvPr id="17" name="Rounded Rectangle 16"/>
          <p:cNvSpPr/>
          <p:nvPr/>
        </p:nvSpPr>
        <p:spPr>
          <a:xfrm>
            <a:off x="7692390" y="2212848"/>
            <a:ext cx="1005840" cy="822960"/>
          </a:xfrm>
          <a:prstGeom prst="roundRect">
            <a:avLst>
              <a:gd name="adj" fmla="val 8888"/>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8" name="TextBox 17"/>
          <p:cNvSpPr txBox="1"/>
          <p:nvPr/>
        </p:nvSpPr>
        <p:spPr>
          <a:xfrm>
            <a:off x="7692390" y="2370412"/>
            <a:ext cx="1005840" cy="507831"/>
          </a:xfrm>
          <a:prstGeom prst="rect">
            <a:avLst/>
          </a:prstGeom>
          <a:noFill/>
        </p:spPr>
        <p:txBody>
          <a:bodyPr wrap="square" lIns="0" tIns="0" rIns="0" bIns="0" anchor="ctr">
            <a:spAutoFit/>
          </a:bodyPr>
          <a:lstStyle/>
          <a:p>
            <a:pPr algn="ctr"/>
            <a:r>
              <a:rPr lang="es-CO" sz="1100" b="0" i="0">
                <a:solidFill>
                  <a:srgbClr val="93A5BD"/>
                </a:solidFill>
                <a:latin typeface="Courier New"/>
              </a:rPr>
              <a:t>SQLite</a:t>
            </a:r>
          </a:p>
          <a:p>
            <a:pPr algn="ctr"/>
            <a:r>
              <a:rPr lang="es-CO" sz="1100" b="0" i="0">
                <a:solidFill>
                  <a:srgbClr val="93A5BD"/>
                </a:solidFill>
                <a:latin typeface="Courier New"/>
              </a:rPr>
              <a:t>contactos.db</a:t>
            </a:r>
          </a:p>
        </p:txBody>
      </p:sp>
      <p:cxnSp>
        <p:nvCxnSpPr>
          <p:cNvPr id="19" name="Connector 18"/>
          <p:cNvCxnSpPr>
            <a:cxnSpLocks/>
          </p:cNvCxnSpPr>
          <p:nvPr/>
        </p:nvCxnSpPr>
        <p:spPr>
          <a:xfrm>
            <a:off x="2624328" y="2377440"/>
            <a:ext cx="496062" cy="0"/>
          </a:xfrm>
          <a:prstGeom prst="line">
            <a:avLst/>
          </a:prstGeom>
          <a:ln w="15875">
            <a:solidFill>
              <a:srgbClr val="56C7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241798" y="2377440"/>
            <a:ext cx="420624" cy="0"/>
          </a:xfrm>
          <a:prstGeom prst="line">
            <a:avLst/>
          </a:prstGeom>
          <a:ln w="15875">
            <a:solidFill>
              <a:srgbClr val="56C7F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241798" y="2926080"/>
            <a:ext cx="420624" cy="0"/>
          </a:xfrm>
          <a:prstGeom prst="line">
            <a:avLst/>
          </a:prstGeom>
          <a:ln w="15875">
            <a:solidFill>
              <a:srgbClr val="3DDC9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a:cxnSpLocks/>
          </p:cNvCxnSpPr>
          <p:nvPr/>
        </p:nvCxnSpPr>
        <p:spPr>
          <a:xfrm flipH="1">
            <a:off x="2624328" y="2926080"/>
            <a:ext cx="464439" cy="0"/>
          </a:xfrm>
          <a:prstGeom prst="line">
            <a:avLst/>
          </a:prstGeom>
          <a:ln w="15875">
            <a:solidFill>
              <a:srgbClr val="3DDC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598039" y="2159543"/>
            <a:ext cx="548640" cy="153888"/>
          </a:xfrm>
          <a:prstGeom prst="rect">
            <a:avLst/>
          </a:prstGeom>
          <a:noFill/>
        </p:spPr>
        <p:txBody>
          <a:bodyPr wrap="square" lIns="0" tIns="0" rIns="0" bIns="0" anchor="t">
            <a:spAutoFit/>
          </a:bodyPr>
          <a:lstStyle/>
          <a:p>
            <a:pPr algn="ctr"/>
            <a:r>
              <a:rPr lang="es-CO" sz="1000" b="0" i="0" dirty="0">
                <a:solidFill>
                  <a:srgbClr val="56C7F2"/>
                </a:solidFill>
                <a:latin typeface="Calibri"/>
              </a:rPr>
              <a:t>solicitud</a:t>
            </a:r>
          </a:p>
        </p:txBody>
      </p:sp>
      <p:sp>
        <p:nvSpPr>
          <p:cNvPr id="24" name="TextBox 23"/>
          <p:cNvSpPr txBox="1"/>
          <p:nvPr/>
        </p:nvSpPr>
        <p:spPr>
          <a:xfrm>
            <a:off x="2587752" y="2745320"/>
            <a:ext cx="548640" cy="138499"/>
          </a:xfrm>
          <a:prstGeom prst="rect">
            <a:avLst/>
          </a:prstGeom>
          <a:noFill/>
        </p:spPr>
        <p:txBody>
          <a:bodyPr wrap="square" lIns="0" tIns="0" rIns="0" bIns="0" anchor="t">
            <a:spAutoFit/>
          </a:bodyPr>
          <a:lstStyle/>
          <a:p>
            <a:pPr algn="ctr"/>
            <a:r>
              <a:rPr lang="es-CO" sz="900" b="0" i="0" dirty="0">
                <a:solidFill>
                  <a:srgbClr val="3DDC97"/>
                </a:solidFill>
                <a:latin typeface="Calibri"/>
              </a:rPr>
              <a:t>respuesta</a:t>
            </a:r>
          </a:p>
        </p:txBody>
      </p:sp>
      <p:cxnSp>
        <p:nvCxnSpPr>
          <p:cNvPr id="25" name="Connector 24"/>
          <p:cNvCxnSpPr/>
          <p:nvPr/>
        </p:nvCxnSpPr>
        <p:spPr>
          <a:xfrm>
            <a:off x="7299198" y="2624328"/>
            <a:ext cx="374904" cy="0"/>
          </a:xfrm>
          <a:prstGeom prst="line">
            <a:avLst/>
          </a:prstGeom>
          <a:ln w="12700">
            <a:solidFill>
              <a:srgbClr val="2B3B52"/>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2920" y="3493008"/>
            <a:ext cx="2615184" cy="822960"/>
          </a:xfrm>
          <a:prstGeom prst="roundRect">
            <a:avLst>
              <a:gd name="adj" fmla="val 8888"/>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7" name="TextBox 26"/>
          <p:cNvSpPr txBox="1"/>
          <p:nvPr/>
        </p:nvSpPr>
        <p:spPr>
          <a:xfrm>
            <a:off x="630936" y="3600393"/>
            <a:ext cx="2359152" cy="169277"/>
          </a:xfrm>
          <a:prstGeom prst="rect">
            <a:avLst/>
          </a:prstGeom>
          <a:noFill/>
        </p:spPr>
        <p:txBody>
          <a:bodyPr wrap="square" lIns="0" tIns="0" rIns="0" bIns="0" anchor="ctr">
            <a:spAutoFit/>
          </a:bodyPr>
          <a:lstStyle/>
          <a:p>
            <a:pPr algn="l"/>
            <a:r>
              <a:rPr lang="es-CO" sz="1100" b="1" i="0">
                <a:solidFill>
                  <a:srgbClr val="E8EEF6"/>
                </a:solidFill>
                <a:latin typeface="Arial"/>
              </a:rPr>
              <a:t>API: concepto general</a:t>
            </a:r>
          </a:p>
        </p:txBody>
      </p:sp>
      <p:sp>
        <p:nvSpPr>
          <p:cNvPr id="28" name="TextBox 27"/>
          <p:cNvSpPr txBox="1"/>
          <p:nvPr/>
        </p:nvSpPr>
        <p:spPr>
          <a:xfrm>
            <a:off x="630936" y="3822191"/>
            <a:ext cx="2359152" cy="284117"/>
          </a:xfrm>
          <a:prstGeom prst="rect">
            <a:avLst/>
          </a:prstGeom>
          <a:noFill/>
        </p:spPr>
        <p:txBody>
          <a:bodyPr wrap="square" lIns="0" tIns="0" rIns="0" bIns="0" anchor="t">
            <a:spAutoFit/>
          </a:bodyPr>
          <a:lstStyle/>
          <a:p>
            <a:pPr algn="l">
              <a:lnSpc>
                <a:spcPts val="1121"/>
              </a:lnSpc>
            </a:pPr>
            <a:r>
              <a:rPr lang="es-CO" sz="1100" b="0" i="0" dirty="0">
                <a:solidFill>
                  <a:srgbClr val="E8EEF6"/>
                </a:solidFill>
                <a:latin typeface="Calibri"/>
              </a:rPr>
              <a:t>También existen API de bibliotecas y módulos, como </a:t>
            </a:r>
            <a:r>
              <a:rPr lang="es-CO" sz="1100" b="0" i="0" dirty="0" err="1">
                <a:solidFill>
                  <a:srgbClr val="E8EEF6"/>
                </a:solidFill>
                <a:latin typeface="Calibri"/>
              </a:rPr>
              <a:t>node:sqlite</a:t>
            </a:r>
            <a:r>
              <a:rPr lang="es-CO" sz="1100" b="0" i="0" dirty="0">
                <a:solidFill>
                  <a:srgbClr val="E8EEF6"/>
                </a:solidFill>
                <a:latin typeface="Calibri"/>
              </a:rPr>
              <a:t>.</a:t>
            </a:r>
          </a:p>
        </p:txBody>
      </p:sp>
      <p:sp>
        <p:nvSpPr>
          <p:cNvPr id="29" name="Rounded Rectangle 28"/>
          <p:cNvSpPr/>
          <p:nvPr/>
        </p:nvSpPr>
        <p:spPr>
          <a:xfrm>
            <a:off x="3264408" y="3493008"/>
            <a:ext cx="2615184" cy="822960"/>
          </a:xfrm>
          <a:prstGeom prst="roundRect">
            <a:avLst>
              <a:gd name="adj" fmla="val 8888"/>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0" name="TextBox 29"/>
          <p:cNvSpPr txBox="1"/>
          <p:nvPr/>
        </p:nvSpPr>
        <p:spPr>
          <a:xfrm>
            <a:off x="3392424" y="3600393"/>
            <a:ext cx="2359152" cy="169277"/>
          </a:xfrm>
          <a:prstGeom prst="rect">
            <a:avLst/>
          </a:prstGeom>
          <a:noFill/>
        </p:spPr>
        <p:txBody>
          <a:bodyPr wrap="square" lIns="0" tIns="0" rIns="0" bIns="0" anchor="ctr">
            <a:spAutoFit/>
          </a:bodyPr>
          <a:lstStyle/>
          <a:p>
            <a:pPr algn="l"/>
            <a:r>
              <a:rPr lang="es-CO" sz="1100" b="1" i="0">
                <a:solidFill>
                  <a:srgbClr val="3DDC97"/>
                </a:solidFill>
                <a:latin typeface="Arial"/>
              </a:rPr>
              <a:t>API web</a:t>
            </a:r>
          </a:p>
        </p:txBody>
      </p:sp>
      <p:sp>
        <p:nvSpPr>
          <p:cNvPr id="31" name="TextBox 30"/>
          <p:cNvSpPr txBox="1"/>
          <p:nvPr/>
        </p:nvSpPr>
        <p:spPr>
          <a:xfrm>
            <a:off x="3392424" y="3822191"/>
            <a:ext cx="2359152" cy="284117"/>
          </a:xfrm>
          <a:prstGeom prst="rect">
            <a:avLst/>
          </a:prstGeom>
          <a:noFill/>
        </p:spPr>
        <p:txBody>
          <a:bodyPr wrap="square" lIns="0" tIns="0" rIns="0" bIns="0" anchor="t">
            <a:spAutoFit/>
          </a:bodyPr>
          <a:lstStyle/>
          <a:p>
            <a:pPr algn="l">
              <a:lnSpc>
                <a:spcPts val="1121"/>
              </a:lnSpc>
            </a:pPr>
            <a:r>
              <a:rPr lang="es-CO" sz="1100" b="0" i="0">
                <a:solidFill>
                  <a:srgbClr val="E8EEF6"/>
                </a:solidFill>
                <a:latin typeface="Calibri"/>
              </a:rPr>
              <a:t>La interfaz se usa mediante la web, con solicitudes y respuestas HTTP.</a:t>
            </a:r>
          </a:p>
        </p:txBody>
      </p:sp>
      <p:sp>
        <p:nvSpPr>
          <p:cNvPr id="32" name="Rounded Rectangle 31"/>
          <p:cNvSpPr/>
          <p:nvPr/>
        </p:nvSpPr>
        <p:spPr>
          <a:xfrm>
            <a:off x="6025896" y="3493008"/>
            <a:ext cx="2615184" cy="822960"/>
          </a:xfrm>
          <a:prstGeom prst="roundRect">
            <a:avLst>
              <a:gd name="adj" fmla="val 8888"/>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3" name="TextBox 32"/>
          <p:cNvSpPr txBox="1"/>
          <p:nvPr/>
        </p:nvSpPr>
        <p:spPr>
          <a:xfrm>
            <a:off x="6153912" y="3600393"/>
            <a:ext cx="2359152" cy="169277"/>
          </a:xfrm>
          <a:prstGeom prst="rect">
            <a:avLst/>
          </a:prstGeom>
          <a:noFill/>
        </p:spPr>
        <p:txBody>
          <a:bodyPr wrap="square" lIns="0" tIns="0" rIns="0" bIns="0" anchor="ctr">
            <a:spAutoFit/>
          </a:bodyPr>
          <a:lstStyle/>
          <a:p>
            <a:pPr algn="l"/>
            <a:r>
              <a:rPr lang="es-CO" sz="1100" b="1" i="0">
                <a:solidFill>
                  <a:srgbClr val="56C7F2"/>
                </a:solidFill>
                <a:latin typeface="Arial"/>
              </a:rPr>
              <a:t>Roles en una misma aplicación</a:t>
            </a:r>
          </a:p>
        </p:txBody>
      </p:sp>
      <p:sp>
        <p:nvSpPr>
          <p:cNvPr id="34" name="TextBox 33"/>
          <p:cNvSpPr txBox="1"/>
          <p:nvPr/>
        </p:nvSpPr>
        <p:spPr>
          <a:xfrm>
            <a:off x="6153912" y="3822191"/>
            <a:ext cx="2359152" cy="284117"/>
          </a:xfrm>
          <a:prstGeom prst="rect">
            <a:avLst/>
          </a:prstGeom>
          <a:noFill/>
        </p:spPr>
        <p:txBody>
          <a:bodyPr wrap="square" lIns="0" tIns="0" rIns="0" bIns="0" anchor="t">
            <a:spAutoFit/>
          </a:bodyPr>
          <a:lstStyle/>
          <a:p>
            <a:pPr algn="l">
              <a:lnSpc>
                <a:spcPts val="1121"/>
              </a:lnSpc>
            </a:pPr>
            <a:r>
              <a:rPr lang="es-CO" sz="1100" b="0" i="0">
                <a:solidFill>
                  <a:srgbClr val="E8EEF6"/>
                </a:solidFill>
                <a:latin typeface="Calibri"/>
              </a:rPr>
              <a:t>Navegador y Node.js pueden pertenecer al mismo proyecto.</a:t>
            </a:r>
          </a:p>
        </p:txBody>
      </p:sp>
      <p:sp>
        <p:nvSpPr>
          <p:cNvPr id="35" name="TextBox 34"/>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04 / 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Solicitud y respuesta HTTP</a:t>
            </a:r>
          </a:p>
        </p:txBody>
      </p:sp>
      <p:sp>
        <p:nvSpPr>
          <p:cNvPr id="5" name="TextBox 4"/>
          <p:cNvSpPr txBox="1"/>
          <p:nvPr/>
        </p:nvSpPr>
        <p:spPr>
          <a:xfrm>
            <a:off x="475488" y="1078992"/>
            <a:ext cx="8138160" cy="256032"/>
          </a:xfrm>
          <a:prstGeom prst="rect">
            <a:avLst/>
          </a:prstGeom>
          <a:noFill/>
        </p:spPr>
        <p:txBody>
          <a:bodyPr wrap="square" lIns="0" tIns="0" rIns="0" bIns="0" anchor="t">
            <a:spAutoFit/>
          </a:bodyPr>
          <a:lstStyle/>
          <a:p>
            <a:pPr algn="l"/>
            <a:r>
              <a:rPr lang="es-CO" sz="1150" b="1" i="0">
                <a:solidFill>
                  <a:srgbClr val="3DDC97"/>
                </a:solidFill>
                <a:latin typeface="Calibri"/>
              </a:rPr>
              <a:t>HTTP</a:t>
            </a:r>
            <a:r>
              <a:rPr lang="es-CO" sz="1150" b="0" i="0">
                <a:solidFill>
                  <a:srgbClr val="E8EEF6"/>
                </a:solidFill>
                <a:latin typeface="Calibri"/>
              </a:rPr>
              <a:t> es el protocolo que define cómo se intercambian solicitudes y respuestas entre cliente y servidor.</a:t>
            </a:r>
          </a:p>
        </p:txBody>
      </p:sp>
      <p:sp>
        <p:nvSpPr>
          <p:cNvPr id="6" name="Rounded Rectangle 5"/>
          <p:cNvSpPr/>
          <p:nvPr/>
        </p:nvSpPr>
        <p:spPr>
          <a:xfrm>
            <a:off x="502920" y="1417320"/>
            <a:ext cx="1455724"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02920" y="1417320"/>
            <a:ext cx="1455724" cy="182880"/>
          </a:xfrm>
          <a:prstGeom prst="rect">
            <a:avLst/>
          </a:prstGeom>
          <a:noFill/>
        </p:spPr>
        <p:txBody>
          <a:bodyPr wrap="square" lIns="0" tIns="0" rIns="0" bIns="0" anchor="ctr">
            <a:spAutoFit/>
          </a:bodyPr>
          <a:lstStyle/>
          <a:p>
            <a:pPr algn="ctr"/>
            <a:r>
              <a:rPr lang="es-CO" sz="700" b="1" i="0">
                <a:solidFill>
                  <a:srgbClr val="56C7F2"/>
                </a:solidFill>
                <a:latin typeface="Arial"/>
              </a:rPr>
              <a:t>EJEMPLO ILUSTRATIVO</a:t>
            </a:r>
          </a:p>
        </p:txBody>
      </p:sp>
      <p:sp>
        <p:nvSpPr>
          <p:cNvPr id="8" name="Rounded Rectangle 7"/>
          <p:cNvSpPr/>
          <p:nvPr/>
        </p:nvSpPr>
        <p:spPr>
          <a:xfrm>
            <a:off x="502920" y="1664208"/>
            <a:ext cx="3977639" cy="987552"/>
          </a:xfrm>
          <a:prstGeom prst="roundRect">
            <a:avLst>
              <a:gd name="adj" fmla="val 7407"/>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9224" y="1742712"/>
            <a:ext cx="3685031" cy="153888"/>
          </a:xfrm>
          <a:prstGeom prst="rect">
            <a:avLst/>
          </a:prstGeom>
          <a:noFill/>
        </p:spPr>
        <p:txBody>
          <a:bodyPr wrap="square" lIns="0" tIns="0" rIns="0" bIns="0" anchor="ctr">
            <a:spAutoFit/>
          </a:bodyPr>
          <a:lstStyle/>
          <a:p>
            <a:pPr algn="l"/>
            <a:r>
              <a:rPr lang="es-CO" sz="1000" b="1" i="0">
                <a:solidFill>
                  <a:srgbClr val="56C7F2"/>
                </a:solidFill>
                <a:latin typeface="Courier New"/>
              </a:rPr>
              <a:t>solicitud · cliente → servidor</a:t>
            </a:r>
          </a:p>
        </p:txBody>
      </p:sp>
      <p:sp>
        <p:nvSpPr>
          <p:cNvPr id="10" name="TextBox 9"/>
          <p:cNvSpPr txBox="1"/>
          <p:nvPr/>
        </p:nvSpPr>
        <p:spPr>
          <a:xfrm>
            <a:off x="649224" y="1956816"/>
            <a:ext cx="3685031" cy="461665"/>
          </a:xfrm>
          <a:prstGeom prst="rect">
            <a:avLst/>
          </a:prstGeom>
          <a:noFill/>
        </p:spPr>
        <p:txBody>
          <a:bodyPr wrap="square" lIns="0" tIns="0" rIns="0" bIns="0" anchor="t">
            <a:spAutoFit/>
          </a:bodyPr>
          <a:lstStyle/>
          <a:p>
            <a:pPr algn="l">
              <a:lnSpc>
                <a:spcPts val="1230"/>
              </a:lnSpc>
            </a:pPr>
            <a:r>
              <a:rPr lang="es-CO" sz="1000" b="0" i="0" dirty="0">
                <a:solidFill>
                  <a:srgbClr val="FFB86C"/>
                </a:solidFill>
                <a:latin typeface="Courier New"/>
              </a:rPr>
              <a:t>GET</a:t>
            </a:r>
            <a:r>
              <a:rPr lang="es-CO" sz="1000" b="0" i="0" dirty="0">
                <a:solidFill>
                  <a:srgbClr val="D7E1EE"/>
                </a:solidFill>
                <a:latin typeface="Courier New"/>
              </a:rPr>
              <a:t> </a:t>
            </a:r>
            <a:r>
              <a:rPr lang="es-CO" sz="1000" b="0" i="0" dirty="0">
                <a:solidFill>
                  <a:srgbClr val="56C7F2"/>
                </a:solidFill>
                <a:latin typeface="Courier New"/>
              </a:rPr>
              <a:t>/api/contactos</a:t>
            </a:r>
            <a:r>
              <a:rPr lang="es-CO" sz="1000" b="0" i="0" dirty="0">
                <a:solidFill>
                  <a:srgbClr val="D7E1EE"/>
                </a:solidFill>
                <a:latin typeface="Courier New"/>
              </a:rPr>
              <a:t> </a:t>
            </a:r>
            <a:r>
              <a:rPr lang="es-CO" sz="1000" b="0" i="0" dirty="0">
                <a:solidFill>
                  <a:srgbClr val="6C7E96"/>
                </a:solidFill>
                <a:latin typeface="Courier New"/>
              </a:rPr>
              <a:t>HTTP/1.1</a:t>
            </a:r>
          </a:p>
          <a:p>
            <a:pPr algn="l">
              <a:lnSpc>
                <a:spcPts val="1230"/>
              </a:lnSpc>
            </a:pPr>
            <a:r>
              <a:rPr lang="es-CO" sz="1000" b="0" i="0" dirty="0">
                <a:solidFill>
                  <a:srgbClr val="56C7F2"/>
                </a:solidFill>
                <a:latin typeface="Courier New"/>
              </a:rPr>
              <a:t>Host</a:t>
            </a:r>
            <a:r>
              <a:rPr lang="es-CO" sz="1000" b="0" i="0" dirty="0">
                <a:solidFill>
                  <a:srgbClr val="93A5BD"/>
                </a:solidFill>
                <a:latin typeface="Courier New"/>
              </a:rPr>
              <a:t>:</a:t>
            </a:r>
            <a:r>
              <a:rPr lang="es-CO" sz="1000" b="0" i="0" dirty="0">
                <a:solidFill>
                  <a:srgbClr val="D7E1EE"/>
                </a:solidFill>
                <a:latin typeface="Courier New"/>
              </a:rPr>
              <a:t> localhost:3000</a:t>
            </a:r>
          </a:p>
          <a:p>
            <a:pPr algn="l">
              <a:lnSpc>
                <a:spcPts val="1230"/>
              </a:lnSpc>
            </a:pPr>
            <a:r>
              <a:rPr lang="es-CO" sz="1000" b="0" i="0" dirty="0" err="1">
                <a:solidFill>
                  <a:srgbClr val="56C7F2"/>
                </a:solidFill>
                <a:latin typeface="Courier New"/>
              </a:rPr>
              <a:t>Accept</a:t>
            </a:r>
            <a:r>
              <a:rPr lang="es-CO" sz="1000" b="0" i="0" dirty="0">
                <a:solidFill>
                  <a:srgbClr val="93A5BD"/>
                </a:solidFill>
                <a:latin typeface="Courier New"/>
              </a:rPr>
              <a:t>:</a:t>
            </a:r>
            <a:r>
              <a:rPr lang="es-CO" sz="1000" b="0" i="0" dirty="0">
                <a:solidFill>
                  <a:srgbClr val="D7E1EE"/>
                </a:solidFill>
                <a:latin typeface="Courier New"/>
              </a:rPr>
              <a:t> </a:t>
            </a:r>
            <a:r>
              <a:rPr lang="es-CO" sz="1000" b="0" i="0" dirty="0" err="1">
                <a:solidFill>
                  <a:srgbClr val="D7E1EE"/>
                </a:solidFill>
                <a:latin typeface="Courier New"/>
              </a:rPr>
              <a:t>application</a:t>
            </a:r>
            <a:r>
              <a:rPr lang="es-CO" sz="1000" b="0" i="0" dirty="0">
                <a:solidFill>
                  <a:srgbClr val="D7E1EE"/>
                </a:solidFill>
                <a:latin typeface="Courier New"/>
              </a:rPr>
              <a:t>/</a:t>
            </a:r>
            <a:r>
              <a:rPr lang="es-CO" sz="1000" b="0" i="0" dirty="0" err="1">
                <a:solidFill>
                  <a:srgbClr val="D7E1EE"/>
                </a:solidFill>
                <a:latin typeface="Courier New"/>
              </a:rPr>
              <a:t>json</a:t>
            </a:r>
            <a:endParaRPr lang="es-CO" sz="1000" b="0" i="0" dirty="0">
              <a:solidFill>
                <a:srgbClr val="D7E1EE"/>
              </a:solidFill>
              <a:latin typeface="Courier New"/>
            </a:endParaRPr>
          </a:p>
        </p:txBody>
      </p:sp>
      <p:sp>
        <p:nvSpPr>
          <p:cNvPr id="11" name="Rounded Rectangle 10"/>
          <p:cNvSpPr/>
          <p:nvPr/>
        </p:nvSpPr>
        <p:spPr>
          <a:xfrm>
            <a:off x="502920" y="2761488"/>
            <a:ext cx="3977639" cy="1481328"/>
          </a:xfrm>
          <a:prstGeom prst="roundRect">
            <a:avLst>
              <a:gd name="adj" fmla="val 4938"/>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9224" y="2839992"/>
            <a:ext cx="3685031" cy="153888"/>
          </a:xfrm>
          <a:prstGeom prst="rect">
            <a:avLst/>
          </a:prstGeom>
          <a:noFill/>
        </p:spPr>
        <p:txBody>
          <a:bodyPr wrap="square" lIns="0" tIns="0" rIns="0" bIns="0" anchor="ctr">
            <a:spAutoFit/>
          </a:bodyPr>
          <a:lstStyle/>
          <a:p>
            <a:pPr algn="l"/>
            <a:r>
              <a:rPr lang="es-CO" sz="1000" b="1" i="0">
                <a:solidFill>
                  <a:srgbClr val="3DDC97"/>
                </a:solidFill>
                <a:latin typeface="Courier New"/>
              </a:rPr>
              <a:t>respuesta · servidor → cliente</a:t>
            </a:r>
          </a:p>
        </p:txBody>
      </p:sp>
      <p:sp>
        <p:nvSpPr>
          <p:cNvPr id="13" name="TextBox 12"/>
          <p:cNvSpPr txBox="1"/>
          <p:nvPr/>
        </p:nvSpPr>
        <p:spPr>
          <a:xfrm>
            <a:off x="649224" y="3054096"/>
            <a:ext cx="3685031" cy="769441"/>
          </a:xfrm>
          <a:prstGeom prst="rect">
            <a:avLst/>
          </a:prstGeom>
          <a:noFill/>
        </p:spPr>
        <p:txBody>
          <a:bodyPr wrap="square" lIns="0" tIns="0" rIns="0" bIns="0" anchor="t">
            <a:spAutoFit/>
          </a:bodyPr>
          <a:lstStyle/>
          <a:p>
            <a:pPr algn="l">
              <a:lnSpc>
                <a:spcPts val="1230"/>
              </a:lnSpc>
            </a:pPr>
            <a:r>
              <a:rPr lang="es-CO" sz="1000" b="0" i="0" dirty="0">
                <a:solidFill>
                  <a:srgbClr val="6C7E96"/>
                </a:solidFill>
                <a:latin typeface="Courier New"/>
              </a:rPr>
              <a:t>HTTP/1.1</a:t>
            </a:r>
            <a:r>
              <a:rPr lang="es-CO" sz="1000" b="0" i="0" dirty="0">
                <a:solidFill>
                  <a:srgbClr val="D7E1EE"/>
                </a:solidFill>
                <a:latin typeface="Courier New"/>
              </a:rPr>
              <a:t> </a:t>
            </a:r>
            <a:r>
              <a:rPr lang="es-CO" sz="1000" b="0" i="0" dirty="0">
                <a:solidFill>
                  <a:srgbClr val="3DDC97"/>
                </a:solidFill>
                <a:latin typeface="Courier New"/>
              </a:rPr>
              <a:t>200</a:t>
            </a:r>
            <a:r>
              <a:rPr lang="es-CO" sz="1000" b="0" i="0" dirty="0">
                <a:solidFill>
                  <a:srgbClr val="D7E1EE"/>
                </a:solidFill>
                <a:latin typeface="Courier New"/>
              </a:rPr>
              <a:t> OK</a:t>
            </a:r>
          </a:p>
          <a:p>
            <a:pPr algn="l">
              <a:lnSpc>
                <a:spcPts val="1230"/>
              </a:lnSpc>
            </a:pPr>
            <a:r>
              <a:rPr lang="es-CO" sz="1000" b="0" i="0" dirty="0">
                <a:solidFill>
                  <a:srgbClr val="56C7F2"/>
                </a:solidFill>
                <a:latin typeface="Courier New"/>
              </a:rPr>
              <a:t>Content-</a:t>
            </a:r>
            <a:r>
              <a:rPr lang="es-CO" sz="1000" b="0" i="0" dirty="0" err="1">
                <a:solidFill>
                  <a:srgbClr val="56C7F2"/>
                </a:solidFill>
                <a:latin typeface="Courier New"/>
              </a:rPr>
              <a:t>Type</a:t>
            </a:r>
            <a:r>
              <a:rPr lang="es-CO" sz="1000" b="0" i="0" dirty="0">
                <a:solidFill>
                  <a:srgbClr val="93A5BD"/>
                </a:solidFill>
                <a:latin typeface="Courier New"/>
              </a:rPr>
              <a:t>:</a:t>
            </a:r>
            <a:r>
              <a:rPr lang="es-CO" sz="1000" b="0" i="0" dirty="0">
                <a:solidFill>
                  <a:srgbClr val="D7E1EE"/>
                </a:solidFill>
                <a:latin typeface="Courier New"/>
              </a:rPr>
              <a:t> </a:t>
            </a:r>
            <a:r>
              <a:rPr lang="es-CO" sz="1000" b="0" i="0" dirty="0" err="1">
                <a:solidFill>
                  <a:srgbClr val="D7E1EE"/>
                </a:solidFill>
                <a:latin typeface="Courier New"/>
              </a:rPr>
              <a:t>application</a:t>
            </a:r>
            <a:r>
              <a:rPr lang="es-CO" sz="1000" b="0" i="0" dirty="0">
                <a:solidFill>
                  <a:srgbClr val="D7E1EE"/>
                </a:solidFill>
                <a:latin typeface="Courier New"/>
              </a:rPr>
              <a:t>/</a:t>
            </a:r>
            <a:r>
              <a:rPr lang="es-CO" sz="1000" b="0" i="0" dirty="0" err="1">
                <a:solidFill>
                  <a:srgbClr val="D7E1EE"/>
                </a:solidFill>
                <a:latin typeface="Courier New"/>
              </a:rPr>
              <a:t>json</a:t>
            </a:r>
            <a:endParaRPr lang="es-CO" sz="1000" b="0" i="0" dirty="0">
              <a:solidFill>
                <a:srgbClr val="D7E1EE"/>
              </a:solidFill>
              <a:latin typeface="Courier New"/>
            </a:endParaRPr>
          </a:p>
          <a:p>
            <a:pPr algn="l">
              <a:lnSpc>
                <a:spcPts val="1230"/>
              </a:lnSpc>
            </a:pPr>
            <a:endParaRPr lang="es-CO" sz="1000" b="0" i="0" dirty="0">
              <a:solidFill>
                <a:srgbClr val="D7E1EE"/>
              </a:solidFill>
              <a:latin typeface="Courier New"/>
            </a:endParaRPr>
          </a:p>
          <a:p>
            <a:pPr algn="l">
              <a:lnSpc>
                <a:spcPts val="1230"/>
              </a:lnSpc>
            </a:pPr>
            <a:r>
              <a:rPr lang="es-CO" sz="1000" b="0" i="0" dirty="0">
                <a:solidFill>
                  <a:srgbClr val="93A5BD"/>
                </a:solidFill>
                <a:latin typeface="Courier New"/>
              </a:rPr>
              <a:t>[{</a:t>
            </a:r>
            <a:r>
              <a:rPr lang="es-CO" sz="1000" b="0" i="0" dirty="0">
                <a:solidFill>
                  <a:srgbClr val="56C7F2"/>
                </a:solidFill>
                <a:latin typeface="Courier New"/>
              </a:rPr>
              <a:t>"id"</a:t>
            </a:r>
            <a:r>
              <a:rPr lang="es-CO" sz="1000" b="0" i="0" dirty="0">
                <a:solidFill>
                  <a:srgbClr val="93A5BD"/>
                </a:solidFill>
                <a:latin typeface="Courier New"/>
              </a:rPr>
              <a:t>:</a:t>
            </a:r>
            <a:r>
              <a:rPr lang="es-CO" sz="1000" b="0" i="0" dirty="0">
                <a:solidFill>
                  <a:srgbClr val="3DDC97"/>
                </a:solidFill>
                <a:latin typeface="Courier New"/>
              </a:rPr>
              <a:t>1</a:t>
            </a:r>
            <a:r>
              <a:rPr lang="es-CO" sz="1000" b="0" i="0" dirty="0">
                <a:solidFill>
                  <a:srgbClr val="93A5BD"/>
                </a:solidFill>
                <a:latin typeface="Courier New"/>
              </a:rPr>
              <a:t>,</a:t>
            </a:r>
            <a:r>
              <a:rPr lang="es-CO" sz="1000" b="0" i="0" dirty="0">
                <a:solidFill>
                  <a:srgbClr val="56C7F2"/>
                </a:solidFill>
                <a:latin typeface="Courier New"/>
              </a:rPr>
              <a:t>"nombre"</a:t>
            </a:r>
            <a:r>
              <a:rPr lang="es-CO" sz="1000" b="0" i="0" dirty="0">
                <a:solidFill>
                  <a:srgbClr val="93A5BD"/>
                </a:solidFill>
                <a:latin typeface="Courier New"/>
              </a:rPr>
              <a:t>:</a:t>
            </a:r>
            <a:r>
              <a:rPr lang="es-CO" sz="1000" b="0" i="0" dirty="0">
                <a:solidFill>
                  <a:srgbClr val="FFD479"/>
                </a:solidFill>
                <a:latin typeface="Courier New"/>
              </a:rPr>
              <a:t>"Ana"</a:t>
            </a:r>
            <a:r>
              <a:rPr lang="es-CO" sz="1000" b="0" i="0" dirty="0">
                <a:solidFill>
                  <a:srgbClr val="93A5BD"/>
                </a:solidFill>
                <a:latin typeface="Courier New"/>
              </a:rPr>
              <a:t>,</a:t>
            </a:r>
          </a:p>
          <a:p>
            <a:pPr algn="l">
              <a:lnSpc>
                <a:spcPts val="1230"/>
              </a:lnSpc>
            </a:pPr>
            <a:r>
              <a:rPr lang="es-CO" sz="1000" b="0" i="0" dirty="0">
                <a:solidFill>
                  <a:srgbClr val="D7E1EE"/>
                </a:solidFill>
                <a:latin typeface="Courier New"/>
              </a:rPr>
              <a:t>  </a:t>
            </a:r>
            <a:r>
              <a:rPr lang="es-CO" sz="1000" b="0" i="0" dirty="0">
                <a:solidFill>
                  <a:srgbClr val="56C7F2"/>
                </a:solidFill>
                <a:latin typeface="Courier New"/>
              </a:rPr>
              <a:t>"</a:t>
            </a:r>
            <a:r>
              <a:rPr lang="es-CO" sz="1000" b="0" i="0" dirty="0" err="1">
                <a:solidFill>
                  <a:srgbClr val="56C7F2"/>
                </a:solidFill>
                <a:latin typeface="Courier New"/>
              </a:rPr>
              <a:t>correo"</a:t>
            </a:r>
            <a:r>
              <a:rPr lang="es-CO" sz="1000" b="0" i="0" dirty="0" err="1">
                <a:solidFill>
                  <a:srgbClr val="93A5BD"/>
                </a:solidFill>
                <a:latin typeface="Courier New"/>
              </a:rPr>
              <a:t>:</a:t>
            </a:r>
            <a:r>
              <a:rPr lang="es-CO" sz="1000" b="0" i="0" dirty="0" err="1">
                <a:solidFill>
                  <a:srgbClr val="FFD479"/>
                </a:solidFill>
                <a:latin typeface="Courier New"/>
              </a:rPr>
              <a:t>"ana@example.com</a:t>
            </a:r>
            <a:r>
              <a:rPr lang="es-CO" sz="1000" b="0" i="0" dirty="0">
                <a:solidFill>
                  <a:srgbClr val="FFD479"/>
                </a:solidFill>
                <a:latin typeface="Courier New"/>
              </a:rPr>
              <a:t>"</a:t>
            </a:r>
            <a:r>
              <a:rPr lang="es-CO" sz="1000" b="0" i="0" dirty="0">
                <a:solidFill>
                  <a:srgbClr val="93A5BD"/>
                </a:solidFill>
                <a:latin typeface="Courier New"/>
              </a:rPr>
              <a:t>}]</a:t>
            </a:r>
          </a:p>
        </p:txBody>
      </p:sp>
      <p:sp>
        <p:nvSpPr>
          <p:cNvPr id="14" name="Rounded Rectangle 13"/>
          <p:cNvSpPr/>
          <p:nvPr/>
        </p:nvSpPr>
        <p:spPr>
          <a:xfrm>
            <a:off x="4663440" y="1664208"/>
            <a:ext cx="3977639" cy="566928"/>
          </a:xfrm>
          <a:prstGeom prst="roundRect">
            <a:avLst>
              <a:gd name="adj" fmla="val 12903"/>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791456" y="1700784"/>
            <a:ext cx="1188720" cy="237744"/>
          </a:xfrm>
          <a:prstGeom prst="rect">
            <a:avLst/>
          </a:prstGeom>
          <a:noFill/>
        </p:spPr>
        <p:txBody>
          <a:bodyPr wrap="square" lIns="0" tIns="0" rIns="0" bIns="0" anchor="ctr">
            <a:spAutoFit/>
          </a:bodyPr>
          <a:lstStyle/>
          <a:p>
            <a:pPr algn="l"/>
            <a:r>
              <a:rPr lang="es-CO" sz="1050" b="1" i="0">
                <a:solidFill>
                  <a:srgbClr val="FFB86C"/>
                </a:solidFill>
                <a:latin typeface="Arial"/>
              </a:rPr>
              <a:t>Método</a:t>
            </a:r>
          </a:p>
        </p:txBody>
      </p:sp>
      <p:sp>
        <p:nvSpPr>
          <p:cNvPr id="16" name="TextBox 15"/>
          <p:cNvSpPr txBox="1"/>
          <p:nvPr/>
        </p:nvSpPr>
        <p:spPr>
          <a:xfrm>
            <a:off x="4791456" y="1947672"/>
            <a:ext cx="1188720" cy="237744"/>
          </a:xfrm>
          <a:prstGeom prst="rect">
            <a:avLst/>
          </a:prstGeom>
          <a:noFill/>
        </p:spPr>
        <p:txBody>
          <a:bodyPr wrap="square" lIns="0" tIns="0" rIns="0" bIns="0" anchor="ctr">
            <a:spAutoFit/>
          </a:bodyPr>
          <a:lstStyle/>
          <a:p>
            <a:pPr algn="l"/>
            <a:r>
              <a:rPr lang="es-CO" sz="850" b="0" i="0">
                <a:solidFill>
                  <a:srgbClr val="93A5BD"/>
                </a:solidFill>
                <a:latin typeface="Courier New"/>
              </a:rPr>
              <a:t>GET</a:t>
            </a:r>
          </a:p>
        </p:txBody>
      </p:sp>
      <p:sp>
        <p:nvSpPr>
          <p:cNvPr id="17" name="TextBox 16"/>
          <p:cNvSpPr txBox="1"/>
          <p:nvPr/>
        </p:nvSpPr>
        <p:spPr>
          <a:xfrm>
            <a:off x="6035040" y="1664208"/>
            <a:ext cx="2487168" cy="566928"/>
          </a:xfrm>
          <a:prstGeom prst="rect">
            <a:avLst/>
          </a:prstGeom>
          <a:noFill/>
        </p:spPr>
        <p:txBody>
          <a:bodyPr wrap="square" lIns="0" tIns="0" rIns="0" bIns="0" anchor="ctr">
            <a:spAutoFit/>
          </a:bodyPr>
          <a:lstStyle/>
          <a:p>
            <a:pPr algn="l">
              <a:lnSpc>
                <a:spcPts val="1150"/>
              </a:lnSpc>
            </a:pPr>
            <a:r>
              <a:rPr lang="es-CO" sz="950" b="0" i="0">
                <a:solidFill>
                  <a:srgbClr val="E8EEF6"/>
                </a:solidFill>
                <a:latin typeface="Calibri"/>
              </a:rPr>
              <a:t>Acción solicitada. GET pide una representación del recurso.</a:t>
            </a:r>
          </a:p>
        </p:txBody>
      </p:sp>
      <p:sp>
        <p:nvSpPr>
          <p:cNvPr id="18" name="Rounded Rectangle 17"/>
          <p:cNvSpPr/>
          <p:nvPr/>
        </p:nvSpPr>
        <p:spPr>
          <a:xfrm>
            <a:off x="4663440" y="2313432"/>
            <a:ext cx="3977639" cy="566928"/>
          </a:xfrm>
          <a:prstGeom prst="roundRect">
            <a:avLst>
              <a:gd name="adj" fmla="val 12903"/>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791456" y="2350008"/>
            <a:ext cx="1188720" cy="237744"/>
          </a:xfrm>
          <a:prstGeom prst="rect">
            <a:avLst/>
          </a:prstGeom>
          <a:noFill/>
        </p:spPr>
        <p:txBody>
          <a:bodyPr wrap="square" lIns="0" tIns="0" rIns="0" bIns="0" anchor="ctr">
            <a:spAutoFit/>
          </a:bodyPr>
          <a:lstStyle/>
          <a:p>
            <a:pPr algn="l"/>
            <a:r>
              <a:rPr lang="es-CO" sz="1050" b="1" i="0">
                <a:solidFill>
                  <a:srgbClr val="56C7F2"/>
                </a:solidFill>
                <a:latin typeface="Arial"/>
              </a:rPr>
              <a:t>Ruta</a:t>
            </a:r>
          </a:p>
        </p:txBody>
      </p:sp>
      <p:sp>
        <p:nvSpPr>
          <p:cNvPr id="20" name="TextBox 19"/>
          <p:cNvSpPr txBox="1"/>
          <p:nvPr/>
        </p:nvSpPr>
        <p:spPr>
          <a:xfrm>
            <a:off x="4791456" y="2596896"/>
            <a:ext cx="1188720" cy="237744"/>
          </a:xfrm>
          <a:prstGeom prst="rect">
            <a:avLst/>
          </a:prstGeom>
          <a:noFill/>
        </p:spPr>
        <p:txBody>
          <a:bodyPr wrap="square" lIns="0" tIns="0" rIns="0" bIns="0" anchor="ctr">
            <a:spAutoFit/>
          </a:bodyPr>
          <a:lstStyle/>
          <a:p>
            <a:pPr algn="l"/>
            <a:r>
              <a:rPr lang="es-CO" sz="850" b="0" i="0">
                <a:solidFill>
                  <a:srgbClr val="93A5BD"/>
                </a:solidFill>
                <a:latin typeface="Courier New"/>
              </a:rPr>
              <a:t>/api/contactos</a:t>
            </a:r>
          </a:p>
        </p:txBody>
      </p:sp>
      <p:sp>
        <p:nvSpPr>
          <p:cNvPr id="21" name="TextBox 20"/>
          <p:cNvSpPr txBox="1"/>
          <p:nvPr/>
        </p:nvSpPr>
        <p:spPr>
          <a:xfrm>
            <a:off x="6035040" y="2313432"/>
            <a:ext cx="2487168" cy="566928"/>
          </a:xfrm>
          <a:prstGeom prst="rect">
            <a:avLst/>
          </a:prstGeom>
          <a:noFill/>
        </p:spPr>
        <p:txBody>
          <a:bodyPr wrap="square" lIns="0" tIns="0" rIns="0" bIns="0" anchor="ctr">
            <a:spAutoFit/>
          </a:bodyPr>
          <a:lstStyle/>
          <a:p>
            <a:pPr algn="l">
              <a:lnSpc>
                <a:spcPts val="1150"/>
              </a:lnSpc>
            </a:pPr>
            <a:r>
              <a:rPr lang="es-CO" sz="950" b="0" i="0">
                <a:solidFill>
                  <a:srgbClr val="E8EEF6"/>
                </a:solidFill>
                <a:latin typeface="Calibri"/>
              </a:rPr>
              <a:t>Recurso que se solicita dentro del servidor.</a:t>
            </a:r>
          </a:p>
        </p:txBody>
      </p:sp>
      <p:sp>
        <p:nvSpPr>
          <p:cNvPr id="22" name="Rounded Rectangle 21"/>
          <p:cNvSpPr/>
          <p:nvPr/>
        </p:nvSpPr>
        <p:spPr>
          <a:xfrm>
            <a:off x="4663440" y="2962656"/>
            <a:ext cx="3977639" cy="566928"/>
          </a:xfrm>
          <a:prstGeom prst="roundRect">
            <a:avLst>
              <a:gd name="adj" fmla="val 1290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791456" y="2999232"/>
            <a:ext cx="1188720" cy="237744"/>
          </a:xfrm>
          <a:prstGeom prst="rect">
            <a:avLst/>
          </a:prstGeom>
          <a:noFill/>
        </p:spPr>
        <p:txBody>
          <a:bodyPr wrap="square" lIns="0" tIns="0" rIns="0" bIns="0" anchor="ctr">
            <a:spAutoFit/>
          </a:bodyPr>
          <a:lstStyle/>
          <a:p>
            <a:pPr algn="l"/>
            <a:r>
              <a:rPr lang="es-CO" sz="1050" b="1" i="0">
                <a:solidFill>
                  <a:srgbClr val="3DDC97"/>
                </a:solidFill>
                <a:latin typeface="Arial"/>
              </a:rPr>
              <a:t>Estado</a:t>
            </a:r>
          </a:p>
        </p:txBody>
      </p:sp>
      <p:sp>
        <p:nvSpPr>
          <p:cNvPr id="24" name="TextBox 23"/>
          <p:cNvSpPr txBox="1"/>
          <p:nvPr/>
        </p:nvSpPr>
        <p:spPr>
          <a:xfrm>
            <a:off x="4791456" y="3246120"/>
            <a:ext cx="1188720" cy="237744"/>
          </a:xfrm>
          <a:prstGeom prst="rect">
            <a:avLst/>
          </a:prstGeom>
          <a:noFill/>
        </p:spPr>
        <p:txBody>
          <a:bodyPr wrap="square" lIns="0" tIns="0" rIns="0" bIns="0" anchor="ctr">
            <a:spAutoFit/>
          </a:bodyPr>
          <a:lstStyle/>
          <a:p>
            <a:pPr algn="l"/>
            <a:r>
              <a:rPr lang="es-CO" sz="850" b="0" i="0">
                <a:solidFill>
                  <a:srgbClr val="93A5BD"/>
                </a:solidFill>
                <a:latin typeface="Courier New"/>
              </a:rPr>
              <a:t>200 OK</a:t>
            </a:r>
          </a:p>
        </p:txBody>
      </p:sp>
      <p:sp>
        <p:nvSpPr>
          <p:cNvPr id="25" name="TextBox 24"/>
          <p:cNvSpPr txBox="1"/>
          <p:nvPr/>
        </p:nvSpPr>
        <p:spPr>
          <a:xfrm>
            <a:off x="6035040" y="2962656"/>
            <a:ext cx="2487168" cy="566928"/>
          </a:xfrm>
          <a:prstGeom prst="rect">
            <a:avLst/>
          </a:prstGeom>
          <a:noFill/>
        </p:spPr>
        <p:txBody>
          <a:bodyPr wrap="square" lIns="0" tIns="0" rIns="0" bIns="0" anchor="ctr">
            <a:spAutoFit/>
          </a:bodyPr>
          <a:lstStyle/>
          <a:p>
            <a:pPr algn="l">
              <a:lnSpc>
                <a:spcPts val="1150"/>
              </a:lnSpc>
            </a:pPr>
            <a:r>
              <a:rPr lang="es-CO" sz="950" b="0" i="0">
                <a:solidFill>
                  <a:srgbClr val="E8EEF6"/>
                </a:solidFill>
                <a:latin typeface="Calibri"/>
              </a:rPr>
              <a:t>Código que informa el resultado de la solicitud.</a:t>
            </a:r>
          </a:p>
        </p:txBody>
      </p:sp>
      <p:sp>
        <p:nvSpPr>
          <p:cNvPr id="26" name="Rounded Rectangle 25"/>
          <p:cNvSpPr/>
          <p:nvPr/>
        </p:nvSpPr>
        <p:spPr>
          <a:xfrm>
            <a:off x="4663440" y="3611880"/>
            <a:ext cx="3977639" cy="566928"/>
          </a:xfrm>
          <a:prstGeom prst="roundRect">
            <a:avLst>
              <a:gd name="adj" fmla="val 12903"/>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791456" y="3686537"/>
            <a:ext cx="1188720" cy="161583"/>
          </a:xfrm>
          <a:prstGeom prst="rect">
            <a:avLst/>
          </a:prstGeom>
          <a:noFill/>
        </p:spPr>
        <p:txBody>
          <a:bodyPr wrap="square" lIns="0" tIns="0" rIns="0" bIns="0" anchor="ctr">
            <a:spAutoFit/>
          </a:bodyPr>
          <a:lstStyle/>
          <a:p>
            <a:pPr algn="l"/>
            <a:r>
              <a:rPr lang="es-CO" sz="1050" b="1" i="0" dirty="0">
                <a:solidFill>
                  <a:srgbClr val="FFD479"/>
                </a:solidFill>
                <a:latin typeface="Arial"/>
              </a:rPr>
              <a:t>Content-</a:t>
            </a:r>
            <a:r>
              <a:rPr lang="es-CO" sz="1050" b="1" i="0" dirty="0" err="1">
                <a:solidFill>
                  <a:srgbClr val="FFD479"/>
                </a:solidFill>
                <a:latin typeface="Arial"/>
              </a:rPr>
              <a:t>Type</a:t>
            </a:r>
            <a:endParaRPr lang="es-CO" sz="1050" b="1" i="0" dirty="0">
              <a:solidFill>
                <a:srgbClr val="FFD479"/>
              </a:solidFill>
              <a:latin typeface="Arial"/>
            </a:endParaRPr>
          </a:p>
        </p:txBody>
      </p:sp>
      <p:sp>
        <p:nvSpPr>
          <p:cNvPr id="28" name="TextBox 27"/>
          <p:cNvSpPr txBox="1"/>
          <p:nvPr/>
        </p:nvSpPr>
        <p:spPr>
          <a:xfrm>
            <a:off x="4791456" y="3895344"/>
            <a:ext cx="1188720" cy="237744"/>
          </a:xfrm>
          <a:prstGeom prst="rect">
            <a:avLst/>
          </a:prstGeom>
          <a:noFill/>
        </p:spPr>
        <p:txBody>
          <a:bodyPr wrap="square" lIns="0" tIns="0" rIns="0" bIns="0" anchor="ctr">
            <a:spAutoFit/>
          </a:bodyPr>
          <a:lstStyle/>
          <a:p>
            <a:pPr algn="l"/>
            <a:r>
              <a:rPr lang="es-CO" sz="850" b="0" i="0">
                <a:solidFill>
                  <a:srgbClr val="93A5BD"/>
                </a:solidFill>
                <a:latin typeface="Courier New"/>
              </a:rPr>
              <a:t>Content-Type</a:t>
            </a:r>
          </a:p>
        </p:txBody>
      </p:sp>
      <p:sp>
        <p:nvSpPr>
          <p:cNvPr id="29" name="TextBox 28"/>
          <p:cNvSpPr txBox="1"/>
          <p:nvPr/>
        </p:nvSpPr>
        <p:spPr>
          <a:xfrm>
            <a:off x="6035040" y="3611880"/>
            <a:ext cx="2487168" cy="566928"/>
          </a:xfrm>
          <a:prstGeom prst="rect">
            <a:avLst/>
          </a:prstGeom>
          <a:noFill/>
        </p:spPr>
        <p:txBody>
          <a:bodyPr wrap="square" lIns="0" tIns="0" rIns="0" bIns="0" anchor="ctr">
            <a:spAutoFit/>
          </a:bodyPr>
          <a:lstStyle/>
          <a:p>
            <a:pPr algn="l">
              <a:lnSpc>
                <a:spcPts val="1150"/>
              </a:lnSpc>
            </a:pPr>
            <a:r>
              <a:rPr lang="es-CO" sz="950" b="0" i="0">
                <a:solidFill>
                  <a:srgbClr val="E8EEF6"/>
                </a:solidFill>
                <a:latin typeface="Calibri"/>
              </a:rPr>
              <a:t>Encabezado que declara el formato del cuerpo.</a:t>
            </a:r>
          </a:p>
        </p:txBody>
      </p:sp>
      <p:sp>
        <p:nvSpPr>
          <p:cNvPr id="30" name="TextBox 29"/>
          <p:cNvSpPr txBox="1"/>
          <p:nvPr/>
        </p:nvSpPr>
        <p:spPr>
          <a:xfrm>
            <a:off x="502920" y="4315968"/>
            <a:ext cx="8138160" cy="292608"/>
          </a:xfrm>
          <a:prstGeom prst="rect">
            <a:avLst/>
          </a:prstGeom>
          <a:noFill/>
        </p:spPr>
        <p:txBody>
          <a:bodyPr wrap="square" lIns="0" tIns="0" rIns="0" bIns="0" anchor="ctr">
            <a:spAutoFit/>
          </a:bodyPr>
          <a:lstStyle/>
          <a:p>
            <a:pPr algn="l"/>
            <a:r>
              <a:rPr lang="es-CO" sz="1050" b="0" i="1">
                <a:solidFill>
                  <a:srgbClr val="93A5BD"/>
                </a:solidFill>
                <a:latin typeface="Calibri"/>
              </a:rPr>
              <a:t>El cuerpo de la respuesta contiene los datos; los encabezados describen cómo interpretarlos.</a:t>
            </a:r>
          </a:p>
        </p:txBody>
      </p:sp>
      <p:sp>
        <p:nvSpPr>
          <p:cNvPr id="31" name="TextBox 30"/>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05 / 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JSON: un contacto y una lista de contactos</a:t>
            </a:r>
          </a:p>
        </p:txBody>
      </p:sp>
      <p:sp>
        <p:nvSpPr>
          <p:cNvPr id="5" name="TextBox 4"/>
          <p:cNvSpPr txBox="1"/>
          <p:nvPr/>
        </p:nvSpPr>
        <p:spPr>
          <a:xfrm>
            <a:off x="475488" y="1078992"/>
            <a:ext cx="8138160" cy="176972"/>
          </a:xfrm>
          <a:prstGeom prst="rect">
            <a:avLst/>
          </a:prstGeom>
          <a:noFill/>
        </p:spPr>
        <p:txBody>
          <a:bodyPr wrap="square" lIns="0" tIns="0" rIns="0" bIns="0" anchor="t">
            <a:spAutoFit/>
          </a:bodyPr>
          <a:lstStyle/>
          <a:p>
            <a:pPr algn="l"/>
            <a:r>
              <a:rPr lang="es-CO" sz="1150" b="1" i="0" dirty="0">
                <a:solidFill>
                  <a:srgbClr val="3DDC97"/>
                </a:solidFill>
                <a:latin typeface="Calibri"/>
              </a:rPr>
              <a:t>JSON</a:t>
            </a:r>
            <a:r>
              <a:rPr lang="es-CO" sz="1150" b="0" i="0" dirty="0">
                <a:solidFill>
                  <a:srgbClr val="E8EEF6"/>
                </a:solidFill>
                <a:latin typeface="Calibri"/>
              </a:rPr>
              <a:t> (JavaScript </a:t>
            </a:r>
            <a:r>
              <a:rPr lang="es-CO" sz="1150" b="0" i="0" dirty="0" err="1">
                <a:solidFill>
                  <a:srgbClr val="E8EEF6"/>
                </a:solidFill>
                <a:latin typeface="Calibri"/>
              </a:rPr>
              <a:t>Object</a:t>
            </a:r>
            <a:r>
              <a:rPr lang="es-CO" sz="1150" b="0" i="0" dirty="0">
                <a:solidFill>
                  <a:srgbClr val="E8EEF6"/>
                </a:solidFill>
                <a:latin typeface="Calibri"/>
              </a:rPr>
              <a:t> </a:t>
            </a:r>
            <a:r>
              <a:rPr lang="es-CO" sz="1150" b="0" i="0" dirty="0" err="1">
                <a:solidFill>
                  <a:srgbClr val="E8EEF6"/>
                </a:solidFill>
                <a:latin typeface="Calibri"/>
              </a:rPr>
              <a:t>Notation</a:t>
            </a:r>
            <a:r>
              <a:rPr lang="es-CO" sz="1150" b="0" i="0" dirty="0">
                <a:solidFill>
                  <a:srgbClr val="E8EEF6"/>
                </a:solidFill>
                <a:latin typeface="Calibri"/>
              </a:rPr>
              <a:t>) es un formato de texto para representar datos.</a:t>
            </a:r>
          </a:p>
        </p:txBody>
      </p:sp>
      <p:sp>
        <p:nvSpPr>
          <p:cNvPr id="6" name="Rounded Rectangle 5"/>
          <p:cNvSpPr/>
          <p:nvPr/>
        </p:nvSpPr>
        <p:spPr>
          <a:xfrm>
            <a:off x="502920" y="1417320"/>
            <a:ext cx="1455724"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02920" y="1417320"/>
            <a:ext cx="1455724" cy="182880"/>
          </a:xfrm>
          <a:prstGeom prst="rect">
            <a:avLst/>
          </a:prstGeom>
          <a:noFill/>
        </p:spPr>
        <p:txBody>
          <a:bodyPr wrap="square" lIns="0" tIns="0" rIns="0" bIns="0" anchor="ctr">
            <a:spAutoFit/>
          </a:bodyPr>
          <a:lstStyle/>
          <a:p>
            <a:pPr algn="ctr"/>
            <a:r>
              <a:rPr lang="es-CO" sz="700" b="1" i="0">
                <a:solidFill>
                  <a:srgbClr val="56C7F2"/>
                </a:solidFill>
                <a:latin typeface="Arial"/>
              </a:rPr>
              <a:t>EJEMPLO ILUSTRATIVO</a:t>
            </a:r>
          </a:p>
        </p:txBody>
      </p:sp>
      <p:sp>
        <p:nvSpPr>
          <p:cNvPr id="8" name="Rounded Rectangle 7"/>
          <p:cNvSpPr/>
          <p:nvPr/>
        </p:nvSpPr>
        <p:spPr>
          <a:xfrm>
            <a:off x="502920" y="1664208"/>
            <a:ext cx="2834640" cy="1572768"/>
          </a:xfrm>
          <a:prstGeom prst="roundRect">
            <a:avLst>
              <a:gd name="adj" fmla="val 4651"/>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9224" y="1742712"/>
            <a:ext cx="2542032" cy="153888"/>
          </a:xfrm>
          <a:prstGeom prst="rect">
            <a:avLst/>
          </a:prstGeom>
          <a:noFill/>
        </p:spPr>
        <p:txBody>
          <a:bodyPr wrap="square" lIns="0" tIns="0" rIns="0" bIns="0" anchor="ctr">
            <a:spAutoFit/>
          </a:bodyPr>
          <a:lstStyle/>
          <a:p>
            <a:pPr algn="l"/>
            <a:r>
              <a:rPr lang="es-CO" sz="1000" b="1" i="0" dirty="0">
                <a:solidFill>
                  <a:srgbClr val="3DDC97"/>
                </a:solidFill>
                <a:latin typeface="Courier New"/>
              </a:rPr>
              <a:t>un contacto · objeto</a:t>
            </a:r>
          </a:p>
        </p:txBody>
      </p:sp>
      <p:sp>
        <p:nvSpPr>
          <p:cNvPr id="10" name="TextBox 9"/>
          <p:cNvSpPr txBox="1"/>
          <p:nvPr/>
        </p:nvSpPr>
        <p:spPr>
          <a:xfrm>
            <a:off x="649224" y="1956816"/>
            <a:ext cx="2542032" cy="923330"/>
          </a:xfrm>
          <a:prstGeom prst="rect">
            <a:avLst/>
          </a:prstGeom>
          <a:noFill/>
        </p:spPr>
        <p:txBody>
          <a:bodyPr wrap="square" lIns="0" tIns="0" rIns="0" bIns="0" anchor="t">
            <a:spAutoFit/>
          </a:bodyPr>
          <a:lstStyle/>
          <a:p>
            <a:pPr algn="l">
              <a:lnSpc>
                <a:spcPts val="1230"/>
              </a:lnSpc>
            </a:pPr>
            <a:r>
              <a:rPr lang="es-CO" sz="1000" b="0" i="0">
                <a:solidFill>
                  <a:srgbClr val="93A5BD"/>
                </a:solidFill>
                <a:latin typeface="Courier New"/>
              </a:rPr>
              <a:t>{</a:t>
            </a:r>
          </a:p>
          <a:p>
            <a:pPr algn="l">
              <a:lnSpc>
                <a:spcPts val="1230"/>
              </a:lnSpc>
            </a:pPr>
            <a:r>
              <a:rPr lang="es-CO" sz="1000" b="0" i="0">
                <a:solidFill>
                  <a:srgbClr val="D7E1EE"/>
                </a:solidFill>
                <a:latin typeface="Courier New"/>
              </a:rPr>
              <a:t>  </a:t>
            </a:r>
            <a:r>
              <a:rPr lang="es-CO" sz="1000" b="0" i="0">
                <a:solidFill>
                  <a:srgbClr val="56C7F2"/>
                </a:solidFill>
                <a:latin typeface="Courier New"/>
              </a:rPr>
              <a:t>"id"</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3DDC97"/>
                </a:solidFill>
                <a:latin typeface="Courier New"/>
              </a:rPr>
              <a:t>1</a:t>
            </a:r>
            <a:r>
              <a:rPr lang="es-CO" sz="1000" b="0" i="0">
                <a:solidFill>
                  <a:srgbClr val="93A5BD"/>
                </a:solidFill>
                <a:latin typeface="Courier New"/>
              </a:rPr>
              <a:t>,</a:t>
            </a:r>
          </a:p>
          <a:p>
            <a:pPr algn="l">
              <a:lnSpc>
                <a:spcPts val="1230"/>
              </a:lnSpc>
            </a:pPr>
            <a:r>
              <a:rPr lang="es-CO" sz="1000" b="0" i="0">
                <a:solidFill>
                  <a:srgbClr val="D7E1EE"/>
                </a:solidFill>
                <a:latin typeface="Courier New"/>
              </a:rPr>
              <a:t>  </a:t>
            </a:r>
            <a:r>
              <a:rPr lang="es-CO" sz="1000" b="0" i="0">
                <a:solidFill>
                  <a:srgbClr val="56C7F2"/>
                </a:solidFill>
                <a:latin typeface="Courier New"/>
              </a:rPr>
              <a:t>"nombre"</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FFD479"/>
                </a:solidFill>
                <a:latin typeface="Courier New"/>
              </a:rPr>
              <a:t>"Ana"</a:t>
            </a:r>
            <a:r>
              <a:rPr lang="es-CO" sz="1000" b="0" i="0">
                <a:solidFill>
                  <a:srgbClr val="93A5BD"/>
                </a:solidFill>
                <a:latin typeface="Courier New"/>
              </a:rPr>
              <a:t>,</a:t>
            </a:r>
          </a:p>
          <a:p>
            <a:pPr algn="l">
              <a:lnSpc>
                <a:spcPts val="1230"/>
              </a:lnSpc>
            </a:pPr>
            <a:r>
              <a:rPr lang="es-CO" sz="1000" b="0" i="0">
                <a:solidFill>
                  <a:srgbClr val="D7E1EE"/>
                </a:solidFill>
                <a:latin typeface="Courier New"/>
              </a:rPr>
              <a:t>  </a:t>
            </a:r>
            <a:r>
              <a:rPr lang="es-CO" sz="1000" b="0" i="0">
                <a:solidFill>
                  <a:srgbClr val="56C7F2"/>
                </a:solidFill>
                <a:latin typeface="Courier New"/>
              </a:rPr>
              <a:t>"correo"</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FFD479"/>
                </a:solidFill>
                <a:latin typeface="Courier New"/>
              </a:rPr>
              <a:t>"ana@example.com"</a:t>
            </a:r>
            <a:r>
              <a:rPr lang="es-CO" sz="1000" b="0" i="0">
                <a:solidFill>
                  <a:srgbClr val="93A5BD"/>
                </a:solidFill>
                <a:latin typeface="Courier New"/>
              </a:rPr>
              <a:t>,</a:t>
            </a:r>
          </a:p>
          <a:p>
            <a:pPr algn="l">
              <a:lnSpc>
                <a:spcPts val="1230"/>
              </a:lnSpc>
            </a:pPr>
            <a:r>
              <a:rPr lang="es-CO" sz="1000" b="0" i="0">
                <a:solidFill>
                  <a:srgbClr val="D7E1EE"/>
                </a:solidFill>
                <a:latin typeface="Courier New"/>
              </a:rPr>
              <a:t>  </a:t>
            </a:r>
            <a:r>
              <a:rPr lang="es-CO" sz="1000" b="0" i="0">
                <a:solidFill>
                  <a:srgbClr val="56C7F2"/>
                </a:solidFill>
                <a:latin typeface="Courier New"/>
              </a:rPr>
              <a:t>"mensaje"</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FFD479"/>
                </a:solidFill>
                <a:latin typeface="Courier New"/>
              </a:rPr>
              <a:t>"Hola"</a:t>
            </a:r>
          </a:p>
          <a:p>
            <a:pPr algn="l">
              <a:lnSpc>
                <a:spcPts val="1230"/>
              </a:lnSpc>
            </a:pPr>
            <a:r>
              <a:rPr lang="es-CO" sz="1000" b="0" i="0">
                <a:solidFill>
                  <a:srgbClr val="93A5BD"/>
                </a:solidFill>
                <a:latin typeface="Courier New"/>
              </a:rPr>
              <a:t>}</a:t>
            </a:r>
          </a:p>
        </p:txBody>
      </p:sp>
      <p:sp>
        <p:nvSpPr>
          <p:cNvPr id="11" name="Rounded Rectangle 10"/>
          <p:cNvSpPr/>
          <p:nvPr/>
        </p:nvSpPr>
        <p:spPr>
          <a:xfrm>
            <a:off x="3456432" y="1664208"/>
            <a:ext cx="2834640" cy="1572768"/>
          </a:xfrm>
          <a:prstGeom prst="roundRect">
            <a:avLst>
              <a:gd name="adj" fmla="val 4651"/>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602736" y="1742712"/>
            <a:ext cx="2542032" cy="153888"/>
          </a:xfrm>
          <a:prstGeom prst="rect">
            <a:avLst/>
          </a:prstGeom>
          <a:noFill/>
        </p:spPr>
        <p:txBody>
          <a:bodyPr wrap="square" lIns="0" tIns="0" rIns="0" bIns="0" anchor="ctr">
            <a:spAutoFit/>
          </a:bodyPr>
          <a:lstStyle/>
          <a:p>
            <a:pPr algn="l"/>
            <a:r>
              <a:rPr lang="es-CO" sz="1000" b="1" i="0">
                <a:solidFill>
                  <a:srgbClr val="3DDC97"/>
                </a:solidFill>
                <a:latin typeface="Courier New"/>
              </a:rPr>
              <a:t>lista · arreglo</a:t>
            </a:r>
          </a:p>
        </p:txBody>
      </p:sp>
      <p:sp>
        <p:nvSpPr>
          <p:cNvPr id="13" name="TextBox 12"/>
          <p:cNvSpPr txBox="1"/>
          <p:nvPr/>
        </p:nvSpPr>
        <p:spPr>
          <a:xfrm>
            <a:off x="3602736" y="1956816"/>
            <a:ext cx="2542032" cy="923330"/>
          </a:xfrm>
          <a:prstGeom prst="rect">
            <a:avLst/>
          </a:prstGeom>
          <a:noFill/>
        </p:spPr>
        <p:txBody>
          <a:bodyPr wrap="square" lIns="0" tIns="0" rIns="0" bIns="0" anchor="t">
            <a:spAutoFit/>
          </a:bodyPr>
          <a:lstStyle/>
          <a:p>
            <a:pPr algn="l">
              <a:lnSpc>
                <a:spcPts val="1230"/>
              </a:lnSpc>
            </a:pPr>
            <a:r>
              <a:rPr lang="es-CO" sz="1000" b="0" i="0">
                <a:solidFill>
                  <a:srgbClr val="93A5BD"/>
                </a:solidFill>
                <a:latin typeface="Courier New"/>
              </a:rPr>
              <a:t>[</a:t>
            </a:r>
          </a:p>
          <a:p>
            <a:pPr algn="l">
              <a:lnSpc>
                <a:spcPts val="1230"/>
              </a:lnSpc>
            </a:pPr>
            <a:r>
              <a:rPr lang="es-CO" sz="1000" b="0" i="0">
                <a:solidFill>
                  <a:srgbClr val="D7E1EE"/>
                </a:solidFill>
                <a:latin typeface="Courier New"/>
              </a:rPr>
              <a:t>  </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56C7F2"/>
                </a:solidFill>
                <a:latin typeface="Courier New"/>
              </a:rPr>
              <a:t>"id"</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3DDC97"/>
                </a:solidFill>
                <a:latin typeface="Courier New"/>
              </a:rPr>
              <a:t>1</a:t>
            </a:r>
            <a:r>
              <a:rPr lang="es-CO" sz="1000" b="0" i="0">
                <a:solidFill>
                  <a:srgbClr val="93A5BD"/>
                </a:solidFill>
                <a:latin typeface="Courier New"/>
              </a:rPr>
              <a:t>,</a:t>
            </a:r>
          </a:p>
          <a:p>
            <a:pPr algn="l">
              <a:lnSpc>
                <a:spcPts val="1230"/>
              </a:lnSpc>
            </a:pPr>
            <a:r>
              <a:rPr lang="es-CO" sz="1000" b="0" i="0">
                <a:solidFill>
                  <a:srgbClr val="D7E1EE"/>
                </a:solidFill>
                <a:latin typeface="Courier New"/>
              </a:rPr>
              <a:t>    </a:t>
            </a:r>
            <a:r>
              <a:rPr lang="es-CO" sz="1000" b="0" i="0">
                <a:solidFill>
                  <a:srgbClr val="56C7F2"/>
                </a:solidFill>
                <a:latin typeface="Courier New"/>
              </a:rPr>
              <a:t>"nombre"</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FFD479"/>
                </a:solidFill>
                <a:latin typeface="Courier New"/>
              </a:rPr>
              <a:t>"Ana"</a:t>
            </a:r>
            <a:r>
              <a:rPr lang="es-CO" sz="1000" b="0" i="0">
                <a:solidFill>
                  <a:srgbClr val="D7E1EE"/>
                </a:solidFill>
                <a:latin typeface="Courier New"/>
              </a:rPr>
              <a:t> </a:t>
            </a:r>
            <a:r>
              <a:rPr lang="es-CO" sz="1000" b="0" i="0">
                <a:solidFill>
                  <a:srgbClr val="93A5BD"/>
                </a:solidFill>
                <a:latin typeface="Courier New"/>
              </a:rPr>
              <a:t>},</a:t>
            </a:r>
          </a:p>
          <a:p>
            <a:pPr algn="l">
              <a:lnSpc>
                <a:spcPts val="1230"/>
              </a:lnSpc>
            </a:pPr>
            <a:r>
              <a:rPr lang="es-CO" sz="1000" b="0" i="0">
                <a:solidFill>
                  <a:srgbClr val="D7E1EE"/>
                </a:solidFill>
                <a:latin typeface="Courier New"/>
              </a:rPr>
              <a:t>  </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56C7F2"/>
                </a:solidFill>
                <a:latin typeface="Courier New"/>
              </a:rPr>
              <a:t>"id"</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3DDC97"/>
                </a:solidFill>
                <a:latin typeface="Courier New"/>
              </a:rPr>
              <a:t>2</a:t>
            </a:r>
            <a:r>
              <a:rPr lang="es-CO" sz="1000" b="0" i="0">
                <a:solidFill>
                  <a:srgbClr val="93A5BD"/>
                </a:solidFill>
                <a:latin typeface="Courier New"/>
              </a:rPr>
              <a:t>,</a:t>
            </a:r>
          </a:p>
          <a:p>
            <a:pPr algn="l">
              <a:lnSpc>
                <a:spcPts val="1230"/>
              </a:lnSpc>
            </a:pPr>
            <a:r>
              <a:rPr lang="es-CO" sz="1000" b="0" i="0">
                <a:solidFill>
                  <a:srgbClr val="D7E1EE"/>
                </a:solidFill>
                <a:latin typeface="Courier New"/>
              </a:rPr>
              <a:t>    </a:t>
            </a:r>
            <a:r>
              <a:rPr lang="es-CO" sz="1000" b="0" i="0">
                <a:solidFill>
                  <a:srgbClr val="56C7F2"/>
                </a:solidFill>
                <a:latin typeface="Courier New"/>
              </a:rPr>
              <a:t>"nombre"</a:t>
            </a:r>
            <a:r>
              <a:rPr lang="es-CO" sz="1000" b="0" i="0">
                <a:solidFill>
                  <a:srgbClr val="93A5BD"/>
                </a:solidFill>
                <a:latin typeface="Courier New"/>
              </a:rPr>
              <a:t>:</a:t>
            </a:r>
            <a:r>
              <a:rPr lang="es-CO" sz="1000" b="0" i="0">
                <a:solidFill>
                  <a:srgbClr val="D7E1EE"/>
                </a:solidFill>
                <a:latin typeface="Courier New"/>
              </a:rPr>
              <a:t> </a:t>
            </a:r>
            <a:r>
              <a:rPr lang="es-CO" sz="1000" b="0" i="0">
                <a:solidFill>
                  <a:srgbClr val="FFD479"/>
                </a:solidFill>
                <a:latin typeface="Courier New"/>
              </a:rPr>
              <a:t>"Beatriz"</a:t>
            </a:r>
            <a:r>
              <a:rPr lang="es-CO" sz="1000" b="0" i="0">
                <a:solidFill>
                  <a:srgbClr val="D7E1EE"/>
                </a:solidFill>
                <a:latin typeface="Courier New"/>
              </a:rPr>
              <a:t> </a:t>
            </a:r>
            <a:r>
              <a:rPr lang="es-CO" sz="1000" b="0" i="0">
                <a:solidFill>
                  <a:srgbClr val="93A5BD"/>
                </a:solidFill>
                <a:latin typeface="Courier New"/>
              </a:rPr>
              <a:t>}</a:t>
            </a:r>
          </a:p>
          <a:p>
            <a:pPr algn="l">
              <a:lnSpc>
                <a:spcPts val="1230"/>
              </a:lnSpc>
            </a:pPr>
            <a:r>
              <a:rPr lang="es-CO" sz="1000" b="0" i="0">
                <a:solidFill>
                  <a:srgbClr val="93A5BD"/>
                </a:solidFill>
                <a:latin typeface="Courier New"/>
              </a:rPr>
              <a:t>]</a:t>
            </a:r>
          </a:p>
        </p:txBody>
      </p:sp>
      <p:sp>
        <p:nvSpPr>
          <p:cNvPr id="14" name="Rounded Rectangle 13"/>
          <p:cNvSpPr/>
          <p:nvPr/>
        </p:nvSpPr>
        <p:spPr>
          <a:xfrm>
            <a:off x="6409944" y="1664208"/>
            <a:ext cx="2231136" cy="347472"/>
          </a:xfrm>
          <a:prstGeom prst="roundRect">
            <a:avLst>
              <a:gd name="adj" fmla="val 21052"/>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01384" y="1761000"/>
            <a:ext cx="566928" cy="153888"/>
          </a:xfrm>
          <a:prstGeom prst="rect">
            <a:avLst/>
          </a:prstGeom>
          <a:noFill/>
        </p:spPr>
        <p:txBody>
          <a:bodyPr wrap="square" lIns="0" tIns="0" rIns="0" bIns="0" anchor="ctr">
            <a:spAutoFit/>
          </a:bodyPr>
          <a:lstStyle/>
          <a:p>
            <a:pPr algn="l"/>
            <a:r>
              <a:rPr lang="es-CO" sz="1000" b="1" i="0">
                <a:solidFill>
                  <a:srgbClr val="56C7F2"/>
                </a:solidFill>
                <a:latin typeface="Courier New"/>
              </a:rPr>
              <a:t>{ }</a:t>
            </a:r>
          </a:p>
        </p:txBody>
      </p:sp>
      <p:sp>
        <p:nvSpPr>
          <p:cNvPr id="16" name="TextBox 15"/>
          <p:cNvSpPr txBox="1"/>
          <p:nvPr/>
        </p:nvSpPr>
        <p:spPr>
          <a:xfrm>
            <a:off x="7059168" y="1772926"/>
            <a:ext cx="1536192" cy="130036"/>
          </a:xfrm>
          <a:prstGeom prst="rect">
            <a:avLst/>
          </a:prstGeom>
          <a:noFill/>
        </p:spPr>
        <p:txBody>
          <a:bodyPr wrap="square" lIns="0" tIns="0" rIns="0" bIns="0" anchor="ctr">
            <a:spAutoFit/>
          </a:bodyPr>
          <a:lstStyle/>
          <a:p>
            <a:pPr algn="l">
              <a:lnSpc>
                <a:spcPts val="950"/>
              </a:lnSpc>
            </a:pPr>
            <a:r>
              <a:rPr lang="es-CO" sz="1000" b="0" i="0">
                <a:solidFill>
                  <a:srgbClr val="E8EEF6"/>
                </a:solidFill>
                <a:latin typeface="Calibri"/>
              </a:rPr>
              <a:t>Objeto: pares clave-valor.</a:t>
            </a:r>
          </a:p>
        </p:txBody>
      </p:sp>
      <p:sp>
        <p:nvSpPr>
          <p:cNvPr id="17" name="Rounded Rectangle 16"/>
          <p:cNvSpPr/>
          <p:nvPr/>
        </p:nvSpPr>
        <p:spPr>
          <a:xfrm>
            <a:off x="6409944" y="2072944"/>
            <a:ext cx="2231136" cy="347472"/>
          </a:xfrm>
          <a:prstGeom prst="roundRect">
            <a:avLst>
              <a:gd name="adj" fmla="val 21052"/>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01384" y="2169736"/>
            <a:ext cx="566928" cy="153888"/>
          </a:xfrm>
          <a:prstGeom prst="rect">
            <a:avLst/>
          </a:prstGeom>
          <a:noFill/>
        </p:spPr>
        <p:txBody>
          <a:bodyPr wrap="square" lIns="0" tIns="0" rIns="0" bIns="0" anchor="ctr">
            <a:spAutoFit/>
          </a:bodyPr>
          <a:lstStyle/>
          <a:p>
            <a:pPr algn="l"/>
            <a:r>
              <a:rPr lang="es-CO" sz="1000" b="1" i="0">
                <a:solidFill>
                  <a:srgbClr val="3DDC97"/>
                </a:solidFill>
                <a:latin typeface="Courier New"/>
              </a:rPr>
              <a:t>[ ]</a:t>
            </a:r>
          </a:p>
        </p:txBody>
      </p:sp>
      <p:sp>
        <p:nvSpPr>
          <p:cNvPr id="19" name="TextBox 18"/>
          <p:cNvSpPr txBox="1"/>
          <p:nvPr/>
        </p:nvSpPr>
        <p:spPr>
          <a:xfrm>
            <a:off x="7059168" y="2181662"/>
            <a:ext cx="1536192" cy="130036"/>
          </a:xfrm>
          <a:prstGeom prst="rect">
            <a:avLst/>
          </a:prstGeom>
          <a:noFill/>
        </p:spPr>
        <p:txBody>
          <a:bodyPr wrap="square" lIns="0" tIns="0" rIns="0" bIns="0" anchor="ctr">
            <a:spAutoFit/>
          </a:bodyPr>
          <a:lstStyle/>
          <a:p>
            <a:pPr algn="l">
              <a:lnSpc>
                <a:spcPts val="950"/>
              </a:lnSpc>
            </a:pPr>
            <a:r>
              <a:rPr lang="es-CO" sz="1000" b="0" i="0">
                <a:solidFill>
                  <a:srgbClr val="E8EEF6"/>
                </a:solidFill>
                <a:latin typeface="Calibri"/>
              </a:rPr>
              <a:t>Arreglo: lista ordenada.</a:t>
            </a:r>
          </a:p>
        </p:txBody>
      </p:sp>
      <p:sp>
        <p:nvSpPr>
          <p:cNvPr id="20" name="Rounded Rectangle 19"/>
          <p:cNvSpPr/>
          <p:nvPr/>
        </p:nvSpPr>
        <p:spPr>
          <a:xfrm>
            <a:off x="6409944" y="2481681"/>
            <a:ext cx="2231136" cy="347472"/>
          </a:xfrm>
          <a:prstGeom prst="roundRect">
            <a:avLst>
              <a:gd name="adj" fmla="val 21052"/>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501384" y="2578473"/>
            <a:ext cx="566928" cy="153888"/>
          </a:xfrm>
          <a:prstGeom prst="rect">
            <a:avLst/>
          </a:prstGeom>
          <a:noFill/>
        </p:spPr>
        <p:txBody>
          <a:bodyPr wrap="square" lIns="0" tIns="0" rIns="0" bIns="0" anchor="ctr">
            <a:spAutoFit/>
          </a:bodyPr>
          <a:lstStyle/>
          <a:p>
            <a:pPr algn="l"/>
            <a:r>
              <a:rPr lang="es-CO" sz="1000" b="1" i="0">
                <a:solidFill>
                  <a:srgbClr val="FFD479"/>
                </a:solidFill>
                <a:latin typeface="Courier New"/>
              </a:rPr>
              <a:t>"clave"</a:t>
            </a:r>
          </a:p>
        </p:txBody>
      </p:sp>
      <p:sp>
        <p:nvSpPr>
          <p:cNvPr id="22" name="TextBox 21"/>
          <p:cNvSpPr txBox="1"/>
          <p:nvPr/>
        </p:nvSpPr>
        <p:spPr>
          <a:xfrm>
            <a:off x="7059168" y="2526279"/>
            <a:ext cx="1536192" cy="258276"/>
          </a:xfrm>
          <a:prstGeom prst="rect">
            <a:avLst/>
          </a:prstGeom>
          <a:noFill/>
        </p:spPr>
        <p:txBody>
          <a:bodyPr wrap="square" lIns="0" tIns="0" rIns="0" bIns="0" anchor="ctr">
            <a:spAutoFit/>
          </a:bodyPr>
          <a:lstStyle/>
          <a:p>
            <a:pPr algn="l">
              <a:lnSpc>
                <a:spcPts val="950"/>
              </a:lnSpc>
            </a:pPr>
            <a:r>
              <a:rPr lang="es-CO" sz="1000" b="0" i="0">
                <a:solidFill>
                  <a:srgbClr val="E8EEF6"/>
                </a:solidFill>
                <a:latin typeface="Calibri"/>
              </a:rPr>
              <a:t>Siempre entre comillas dobles.</a:t>
            </a:r>
          </a:p>
        </p:txBody>
      </p:sp>
      <p:sp>
        <p:nvSpPr>
          <p:cNvPr id="23" name="Rounded Rectangle 22"/>
          <p:cNvSpPr/>
          <p:nvPr/>
        </p:nvSpPr>
        <p:spPr>
          <a:xfrm>
            <a:off x="6409944" y="2890418"/>
            <a:ext cx="2231136" cy="347472"/>
          </a:xfrm>
          <a:prstGeom prst="roundRect">
            <a:avLst>
              <a:gd name="adj" fmla="val 21052"/>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501384" y="2987210"/>
            <a:ext cx="566928" cy="153888"/>
          </a:xfrm>
          <a:prstGeom prst="rect">
            <a:avLst/>
          </a:prstGeom>
          <a:noFill/>
        </p:spPr>
        <p:txBody>
          <a:bodyPr wrap="square" lIns="0" tIns="0" rIns="0" bIns="0" anchor="ctr">
            <a:spAutoFit/>
          </a:bodyPr>
          <a:lstStyle/>
          <a:p>
            <a:pPr algn="l"/>
            <a:r>
              <a:rPr lang="es-CO" sz="1000" b="1" i="0">
                <a:solidFill>
                  <a:srgbClr val="FFB86C"/>
                </a:solidFill>
                <a:latin typeface="Courier New"/>
              </a:rPr>
              <a:t>valores</a:t>
            </a:r>
          </a:p>
        </p:txBody>
      </p:sp>
      <p:sp>
        <p:nvSpPr>
          <p:cNvPr id="25" name="TextBox 24"/>
          <p:cNvSpPr txBox="1"/>
          <p:nvPr/>
        </p:nvSpPr>
        <p:spPr>
          <a:xfrm>
            <a:off x="7059168" y="2935016"/>
            <a:ext cx="1536192" cy="258276"/>
          </a:xfrm>
          <a:prstGeom prst="rect">
            <a:avLst/>
          </a:prstGeom>
          <a:noFill/>
        </p:spPr>
        <p:txBody>
          <a:bodyPr wrap="square" lIns="0" tIns="0" rIns="0" bIns="0" anchor="ctr">
            <a:spAutoFit/>
          </a:bodyPr>
          <a:lstStyle/>
          <a:p>
            <a:pPr algn="l">
              <a:lnSpc>
                <a:spcPts val="950"/>
              </a:lnSpc>
            </a:pPr>
            <a:r>
              <a:rPr lang="es-CO" sz="1000" b="0" i="0">
                <a:solidFill>
                  <a:srgbClr val="E8EEF6"/>
                </a:solidFill>
                <a:latin typeface="Calibri"/>
              </a:rPr>
              <a:t>Texto, número, booleano, null, objeto o arreglo.</a:t>
            </a:r>
          </a:p>
        </p:txBody>
      </p:sp>
      <p:sp>
        <p:nvSpPr>
          <p:cNvPr id="26" name="Rounded Rectangle 25"/>
          <p:cNvSpPr/>
          <p:nvPr/>
        </p:nvSpPr>
        <p:spPr>
          <a:xfrm>
            <a:off x="502920" y="3383280"/>
            <a:ext cx="8138160" cy="841248"/>
          </a:xfrm>
          <a:prstGeom prst="roundRect">
            <a:avLst>
              <a:gd name="adj" fmla="val 8695"/>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7" name="TextBox 26"/>
          <p:cNvSpPr txBox="1"/>
          <p:nvPr/>
        </p:nvSpPr>
        <p:spPr>
          <a:xfrm>
            <a:off x="685800" y="3472378"/>
            <a:ext cx="7772400" cy="169277"/>
          </a:xfrm>
          <a:prstGeom prst="rect">
            <a:avLst/>
          </a:prstGeom>
          <a:noFill/>
        </p:spPr>
        <p:txBody>
          <a:bodyPr wrap="square" lIns="0" tIns="0" rIns="0" bIns="0" anchor="ctr">
            <a:spAutoFit/>
          </a:bodyPr>
          <a:lstStyle/>
          <a:p>
            <a:pPr algn="l"/>
            <a:r>
              <a:rPr lang="es-CO" sz="1100" b="1" i="0" dirty="0">
                <a:solidFill>
                  <a:srgbClr val="3DDC97"/>
                </a:solidFill>
                <a:latin typeface="Arial"/>
              </a:rPr>
              <a:t>Cada fila de la tabla contactos se representa como un objeto</a:t>
            </a:r>
          </a:p>
        </p:txBody>
      </p:sp>
      <p:sp>
        <p:nvSpPr>
          <p:cNvPr id="28" name="TextBox 27"/>
          <p:cNvSpPr txBox="1"/>
          <p:nvPr/>
        </p:nvSpPr>
        <p:spPr>
          <a:xfrm>
            <a:off x="685800" y="3694176"/>
            <a:ext cx="7772400" cy="333425"/>
          </a:xfrm>
          <a:prstGeom prst="rect">
            <a:avLst/>
          </a:prstGeom>
          <a:noFill/>
        </p:spPr>
        <p:txBody>
          <a:bodyPr wrap="square" lIns="0" tIns="0" rIns="0" bIns="0" anchor="t">
            <a:spAutoFit/>
          </a:bodyPr>
          <a:lstStyle/>
          <a:p>
            <a:pPr algn="l">
              <a:lnSpc>
                <a:spcPts val="1300"/>
              </a:lnSpc>
            </a:pPr>
            <a:r>
              <a:rPr lang="es-CO" sz="1100" b="0" i="0">
                <a:solidFill>
                  <a:srgbClr val="E8EEF6"/>
                </a:solidFill>
                <a:latin typeface="Calibri"/>
              </a:rPr>
              <a:t>Las columnas id, nombre, correo y mensaje se convierten en claves. La consulta completa se representa como un arreglo de objetos: esa será la respuesta de GET /api/contactos.</a:t>
            </a:r>
          </a:p>
        </p:txBody>
      </p:sp>
      <p:sp>
        <p:nvSpPr>
          <p:cNvPr id="29" name="TextBox 28"/>
          <p:cNvSpPr txBox="1"/>
          <p:nvPr/>
        </p:nvSpPr>
        <p:spPr>
          <a:xfrm>
            <a:off x="502920" y="4377634"/>
            <a:ext cx="8138160" cy="169277"/>
          </a:xfrm>
          <a:prstGeom prst="rect">
            <a:avLst/>
          </a:prstGeom>
          <a:noFill/>
        </p:spPr>
        <p:txBody>
          <a:bodyPr wrap="square" lIns="0" tIns="0" rIns="0" bIns="0" anchor="ctr">
            <a:spAutoFit/>
          </a:bodyPr>
          <a:lstStyle/>
          <a:p>
            <a:pPr algn="l"/>
            <a:r>
              <a:rPr lang="es-CO" sz="1100" b="0" i="1">
                <a:solidFill>
                  <a:srgbClr val="93A5BD"/>
                </a:solidFill>
                <a:latin typeface="Calibri"/>
              </a:rPr>
              <a:t>JSON es texto: para usarlo en JavaScript, el programa lo convierte en valores (objetos, arreglos, números).</a:t>
            </a:r>
          </a:p>
        </p:txBody>
      </p:sp>
      <p:sp>
        <p:nvSpPr>
          <p:cNvPr id="30" name="TextBox 29"/>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06 / 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XML: el mismo contacto mediante etiquetas</a:t>
            </a:r>
          </a:p>
        </p:txBody>
      </p:sp>
      <p:sp>
        <p:nvSpPr>
          <p:cNvPr id="5" name="TextBox 4"/>
          <p:cNvSpPr txBox="1"/>
          <p:nvPr/>
        </p:nvSpPr>
        <p:spPr>
          <a:xfrm>
            <a:off x="475488" y="1078992"/>
            <a:ext cx="8138160" cy="256032"/>
          </a:xfrm>
          <a:prstGeom prst="rect">
            <a:avLst/>
          </a:prstGeom>
          <a:noFill/>
        </p:spPr>
        <p:txBody>
          <a:bodyPr wrap="square" lIns="0" tIns="0" rIns="0" bIns="0" anchor="t">
            <a:spAutoFit/>
          </a:bodyPr>
          <a:lstStyle/>
          <a:p>
            <a:pPr algn="l"/>
            <a:r>
              <a:rPr lang="es-CO" sz="1150" b="1" i="0">
                <a:solidFill>
                  <a:srgbClr val="3DDC97"/>
                </a:solidFill>
                <a:latin typeface="Calibri"/>
              </a:rPr>
              <a:t>XML</a:t>
            </a:r>
            <a:r>
              <a:rPr lang="es-CO" sz="1150" b="0" i="0">
                <a:solidFill>
                  <a:srgbClr val="E8EEF6"/>
                </a:solidFill>
                <a:latin typeface="Calibri"/>
              </a:rPr>
              <a:t> (Extensible Markup Language) representa datos con elementos delimitados por etiquetas.</a:t>
            </a:r>
          </a:p>
        </p:txBody>
      </p:sp>
      <p:sp>
        <p:nvSpPr>
          <p:cNvPr id="6" name="Rounded Rectangle 5"/>
          <p:cNvSpPr/>
          <p:nvPr/>
        </p:nvSpPr>
        <p:spPr>
          <a:xfrm>
            <a:off x="502920" y="1417320"/>
            <a:ext cx="1455724"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02920" y="1417320"/>
            <a:ext cx="1455724" cy="182880"/>
          </a:xfrm>
          <a:prstGeom prst="rect">
            <a:avLst/>
          </a:prstGeom>
          <a:noFill/>
        </p:spPr>
        <p:txBody>
          <a:bodyPr wrap="square" lIns="0" tIns="0" rIns="0" bIns="0" anchor="ctr">
            <a:spAutoFit/>
          </a:bodyPr>
          <a:lstStyle/>
          <a:p>
            <a:pPr algn="ctr"/>
            <a:r>
              <a:rPr lang="es-CO" sz="700" b="1" i="0">
                <a:solidFill>
                  <a:srgbClr val="56C7F2"/>
                </a:solidFill>
                <a:latin typeface="Arial"/>
              </a:rPr>
              <a:t>EJEMPLO ILUSTRATIVO</a:t>
            </a:r>
          </a:p>
        </p:txBody>
      </p:sp>
      <p:sp>
        <p:nvSpPr>
          <p:cNvPr id="8" name="Rounded Rectangle 7"/>
          <p:cNvSpPr/>
          <p:nvPr/>
        </p:nvSpPr>
        <p:spPr>
          <a:xfrm>
            <a:off x="502920" y="1664208"/>
            <a:ext cx="4480560" cy="1920240"/>
          </a:xfrm>
          <a:prstGeom prst="roundRect">
            <a:avLst>
              <a:gd name="adj" fmla="val 3809"/>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9224" y="1728216"/>
            <a:ext cx="4187952" cy="182880"/>
          </a:xfrm>
          <a:prstGeom prst="rect">
            <a:avLst/>
          </a:prstGeom>
          <a:noFill/>
        </p:spPr>
        <p:txBody>
          <a:bodyPr wrap="square" lIns="0" tIns="0" rIns="0" bIns="0" anchor="ctr">
            <a:spAutoFit/>
          </a:bodyPr>
          <a:lstStyle/>
          <a:p>
            <a:pPr algn="l"/>
            <a:r>
              <a:rPr lang="es-CO" sz="850" b="1" i="0">
                <a:solidFill>
                  <a:srgbClr val="3DDC97"/>
                </a:solidFill>
                <a:latin typeface="Courier New"/>
              </a:rPr>
              <a:t>contacto.xml</a:t>
            </a:r>
          </a:p>
        </p:txBody>
      </p:sp>
      <p:sp>
        <p:nvSpPr>
          <p:cNvPr id="10" name="TextBox 9"/>
          <p:cNvSpPr txBox="1"/>
          <p:nvPr/>
        </p:nvSpPr>
        <p:spPr>
          <a:xfrm>
            <a:off x="649224" y="1956816"/>
            <a:ext cx="4187952" cy="1581911"/>
          </a:xfrm>
          <a:prstGeom prst="rect">
            <a:avLst/>
          </a:prstGeom>
          <a:noFill/>
        </p:spPr>
        <p:txBody>
          <a:bodyPr wrap="square" lIns="0" tIns="0" rIns="0" bIns="0" anchor="t">
            <a:spAutoFit/>
          </a:bodyPr>
          <a:lstStyle/>
          <a:p>
            <a:pPr algn="l">
              <a:lnSpc>
                <a:spcPts val="1230"/>
              </a:lnSpc>
            </a:pPr>
            <a:r>
              <a:rPr lang="es-CO" sz="950" b="0" i="0">
                <a:solidFill>
                  <a:srgbClr val="56C7F2"/>
                </a:solidFill>
                <a:latin typeface="Courier New"/>
              </a:rPr>
              <a:t>&lt;?xml</a:t>
            </a:r>
            <a:r>
              <a:rPr lang="es-CO" sz="950" b="0" i="0">
                <a:solidFill>
                  <a:srgbClr val="D7E1EE"/>
                </a:solidFill>
                <a:latin typeface="Courier New"/>
              </a:rPr>
              <a:t> </a:t>
            </a:r>
            <a:r>
              <a:rPr lang="es-CO" sz="950" b="0" i="0">
                <a:solidFill>
                  <a:srgbClr val="3DDC97"/>
                </a:solidFill>
                <a:latin typeface="Courier New"/>
              </a:rPr>
              <a:t>version</a:t>
            </a:r>
            <a:r>
              <a:rPr lang="es-CO" sz="950" b="0" i="0">
                <a:solidFill>
                  <a:srgbClr val="56C7F2"/>
                </a:solidFill>
                <a:latin typeface="Courier New"/>
              </a:rPr>
              <a:t>=</a:t>
            </a:r>
            <a:r>
              <a:rPr lang="es-CO" sz="950" b="0" i="0">
                <a:solidFill>
                  <a:srgbClr val="FFD479"/>
                </a:solidFill>
                <a:latin typeface="Courier New"/>
              </a:rPr>
              <a:t>"1.0"</a:t>
            </a:r>
            <a:r>
              <a:rPr lang="es-CO" sz="950" b="0" i="0">
                <a:solidFill>
                  <a:srgbClr val="D7E1EE"/>
                </a:solidFill>
                <a:latin typeface="Courier New"/>
              </a:rPr>
              <a:t> </a:t>
            </a:r>
            <a:r>
              <a:rPr lang="es-CO" sz="950" b="0" i="0">
                <a:solidFill>
                  <a:srgbClr val="3DDC97"/>
                </a:solidFill>
                <a:latin typeface="Courier New"/>
              </a:rPr>
              <a:t>encoding</a:t>
            </a:r>
            <a:r>
              <a:rPr lang="es-CO" sz="950" b="0" i="0">
                <a:solidFill>
                  <a:srgbClr val="56C7F2"/>
                </a:solidFill>
                <a:latin typeface="Courier New"/>
              </a:rPr>
              <a:t>=</a:t>
            </a:r>
            <a:r>
              <a:rPr lang="es-CO" sz="950" b="0" i="0">
                <a:solidFill>
                  <a:srgbClr val="FFD479"/>
                </a:solidFill>
                <a:latin typeface="Courier New"/>
              </a:rPr>
              <a:t>"UTF-8"</a:t>
            </a:r>
            <a:r>
              <a:rPr lang="es-CO" sz="950" b="0" i="0">
                <a:solidFill>
                  <a:srgbClr val="56C7F2"/>
                </a:solidFill>
                <a:latin typeface="Courier New"/>
              </a:rPr>
              <a:t>?&gt;</a:t>
            </a:r>
          </a:p>
          <a:p>
            <a:pPr algn="l">
              <a:lnSpc>
                <a:spcPts val="1230"/>
              </a:lnSpc>
            </a:pPr>
            <a:r>
              <a:rPr lang="es-CO" sz="950" b="0" i="0">
                <a:solidFill>
                  <a:srgbClr val="56C7F2"/>
                </a:solidFill>
                <a:latin typeface="Courier New"/>
              </a:rPr>
              <a:t>&lt;contacto</a:t>
            </a:r>
            <a:r>
              <a:rPr lang="es-CO" sz="950" b="0" i="0">
                <a:solidFill>
                  <a:srgbClr val="D7E1EE"/>
                </a:solidFill>
                <a:latin typeface="Courier New"/>
              </a:rPr>
              <a:t> </a:t>
            </a:r>
            <a:r>
              <a:rPr lang="es-CO" sz="950" b="0" i="0">
                <a:solidFill>
                  <a:srgbClr val="3DDC97"/>
                </a:solidFill>
                <a:latin typeface="Courier New"/>
              </a:rPr>
              <a:t>id</a:t>
            </a:r>
            <a:r>
              <a:rPr lang="es-CO" sz="950" b="0" i="0">
                <a:solidFill>
                  <a:srgbClr val="56C7F2"/>
                </a:solidFill>
                <a:latin typeface="Courier New"/>
              </a:rPr>
              <a:t>=</a:t>
            </a:r>
            <a:r>
              <a:rPr lang="es-CO" sz="950" b="0" i="0">
                <a:solidFill>
                  <a:srgbClr val="FFD479"/>
                </a:solidFill>
                <a:latin typeface="Courier New"/>
              </a:rPr>
              <a:t>"1"</a:t>
            </a:r>
            <a:r>
              <a:rPr lang="es-CO" sz="950" b="0" i="0">
                <a:solidFill>
                  <a:srgbClr val="56C7F2"/>
                </a:solidFill>
                <a:latin typeface="Courier New"/>
              </a:rPr>
              <a:t>&gt;</a:t>
            </a:r>
          </a:p>
          <a:p>
            <a:pPr algn="l">
              <a:lnSpc>
                <a:spcPts val="1230"/>
              </a:lnSpc>
            </a:pPr>
            <a:r>
              <a:rPr lang="es-CO" sz="950" b="0" i="0">
                <a:solidFill>
                  <a:srgbClr val="D7E1EE"/>
                </a:solidFill>
                <a:latin typeface="Courier New"/>
              </a:rPr>
              <a:t>  </a:t>
            </a:r>
            <a:r>
              <a:rPr lang="es-CO" sz="950" b="0" i="0">
                <a:solidFill>
                  <a:srgbClr val="56C7F2"/>
                </a:solidFill>
                <a:latin typeface="Courier New"/>
              </a:rPr>
              <a:t>&lt;nombre&gt;</a:t>
            </a:r>
            <a:r>
              <a:rPr lang="es-CO" sz="950" b="0" i="0">
                <a:solidFill>
                  <a:srgbClr val="D7E1EE"/>
                </a:solidFill>
                <a:latin typeface="Courier New"/>
              </a:rPr>
              <a:t>Ana</a:t>
            </a:r>
            <a:r>
              <a:rPr lang="es-CO" sz="950" b="0" i="0">
                <a:solidFill>
                  <a:srgbClr val="56C7F2"/>
                </a:solidFill>
                <a:latin typeface="Courier New"/>
              </a:rPr>
              <a:t>&lt;/nombre&gt;</a:t>
            </a:r>
          </a:p>
          <a:p>
            <a:pPr algn="l">
              <a:lnSpc>
                <a:spcPts val="1230"/>
              </a:lnSpc>
            </a:pPr>
            <a:r>
              <a:rPr lang="es-CO" sz="950" b="0" i="0">
                <a:solidFill>
                  <a:srgbClr val="D7E1EE"/>
                </a:solidFill>
                <a:latin typeface="Courier New"/>
              </a:rPr>
              <a:t>  </a:t>
            </a:r>
            <a:r>
              <a:rPr lang="es-CO" sz="950" b="0" i="0">
                <a:solidFill>
                  <a:srgbClr val="56C7F2"/>
                </a:solidFill>
                <a:latin typeface="Courier New"/>
              </a:rPr>
              <a:t>&lt;correo&gt;</a:t>
            </a:r>
            <a:r>
              <a:rPr lang="es-CO" sz="950" b="0" i="0">
                <a:solidFill>
                  <a:srgbClr val="D7E1EE"/>
                </a:solidFill>
                <a:latin typeface="Courier New"/>
              </a:rPr>
              <a:t>ana@example.com</a:t>
            </a:r>
            <a:r>
              <a:rPr lang="es-CO" sz="950" b="0" i="0">
                <a:solidFill>
                  <a:srgbClr val="56C7F2"/>
                </a:solidFill>
                <a:latin typeface="Courier New"/>
              </a:rPr>
              <a:t>&lt;/correo&gt;</a:t>
            </a:r>
          </a:p>
          <a:p>
            <a:pPr algn="l">
              <a:lnSpc>
                <a:spcPts val="1230"/>
              </a:lnSpc>
            </a:pPr>
            <a:r>
              <a:rPr lang="es-CO" sz="950" b="0" i="0">
                <a:solidFill>
                  <a:srgbClr val="D7E1EE"/>
                </a:solidFill>
                <a:latin typeface="Courier New"/>
              </a:rPr>
              <a:t>  </a:t>
            </a:r>
            <a:r>
              <a:rPr lang="es-CO" sz="950" b="0" i="0">
                <a:solidFill>
                  <a:srgbClr val="56C7F2"/>
                </a:solidFill>
                <a:latin typeface="Courier New"/>
              </a:rPr>
              <a:t>&lt;mensaje&gt;</a:t>
            </a:r>
            <a:r>
              <a:rPr lang="es-CO" sz="950" b="0" i="0">
                <a:solidFill>
                  <a:srgbClr val="D7E1EE"/>
                </a:solidFill>
                <a:latin typeface="Courier New"/>
              </a:rPr>
              <a:t>Hola</a:t>
            </a:r>
            <a:r>
              <a:rPr lang="es-CO" sz="950" b="0" i="0">
                <a:solidFill>
                  <a:srgbClr val="56C7F2"/>
                </a:solidFill>
                <a:latin typeface="Courier New"/>
              </a:rPr>
              <a:t>&lt;/mensaje&gt;</a:t>
            </a:r>
          </a:p>
          <a:p>
            <a:pPr algn="l">
              <a:lnSpc>
                <a:spcPts val="1230"/>
              </a:lnSpc>
            </a:pPr>
            <a:r>
              <a:rPr lang="es-CO" sz="950" b="0" i="0">
                <a:solidFill>
                  <a:srgbClr val="56C7F2"/>
                </a:solidFill>
                <a:latin typeface="Courier New"/>
              </a:rPr>
              <a:t>&lt;/contacto&gt;</a:t>
            </a:r>
          </a:p>
        </p:txBody>
      </p:sp>
      <p:sp>
        <p:nvSpPr>
          <p:cNvPr id="11" name="Rounded Rectangle 10"/>
          <p:cNvSpPr/>
          <p:nvPr/>
        </p:nvSpPr>
        <p:spPr>
          <a:xfrm>
            <a:off x="5120640" y="1664208"/>
            <a:ext cx="3520440" cy="420624"/>
          </a:xfrm>
          <a:prstGeom prst="roundRect">
            <a:avLst>
              <a:gd name="adj" fmla="val 17391"/>
            </a:avLst>
          </a:prstGeom>
          <a:solidFill>
            <a:srgbClr val="1A2434"/>
          </a:solidFill>
          <a:ln w="12700">
            <a:solidFill>
              <a:srgbClr val="6C7E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248655" y="1664208"/>
            <a:ext cx="914400" cy="420624"/>
          </a:xfrm>
          <a:prstGeom prst="rect">
            <a:avLst/>
          </a:prstGeom>
          <a:noFill/>
        </p:spPr>
        <p:txBody>
          <a:bodyPr wrap="square" lIns="0" tIns="0" rIns="0" bIns="0" anchor="ctr">
            <a:spAutoFit/>
          </a:bodyPr>
          <a:lstStyle/>
          <a:p>
            <a:pPr algn="l"/>
            <a:r>
              <a:rPr lang="es-CO" sz="950" b="1" i="0">
                <a:solidFill>
                  <a:srgbClr val="6C7E96"/>
                </a:solidFill>
                <a:latin typeface="Arial"/>
              </a:rPr>
              <a:t>Declaración</a:t>
            </a:r>
          </a:p>
        </p:txBody>
      </p:sp>
      <p:sp>
        <p:nvSpPr>
          <p:cNvPr id="13" name="TextBox 12"/>
          <p:cNvSpPr txBox="1"/>
          <p:nvPr/>
        </p:nvSpPr>
        <p:spPr>
          <a:xfrm>
            <a:off x="6236207" y="1664208"/>
            <a:ext cx="2276856" cy="42062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Primera línea opcional: versión y codificación.</a:t>
            </a:r>
          </a:p>
        </p:txBody>
      </p:sp>
      <p:sp>
        <p:nvSpPr>
          <p:cNvPr id="14" name="Rounded Rectangle 13"/>
          <p:cNvSpPr/>
          <p:nvPr/>
        </p:nvSpPr>
        <p:spPr>
          <a:xfrm>
            <a:off x="5120640" y="2162556"/>
            <a:ext cx="3520440" cy="420624"/>
          </a:xfrm>
          <a:prstGeom prst="roundRect">
            <a:avLst>
              <a:gd name="adj" fmla="val 17391"/>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48655" y="2162556"/>
            <a:ext cx="914400" cy="420624"/>
          </a:xfrm>
          <a:prstGeom prst="rect">
            <a:avLst/>
          </a:prstGeom>
          <a:noFill/>
        </p:spPr>
        <p:txBody>
          <a:bodyPr wrap="square" lIns="0" tIns="0" rIns="0" bIns="0" anchor="ctr">
            <a:spAutoFit/>
          </a:bodyPr>
          <a:lstStyle/>
          <a:p>
            <a:pPr algn="l"/>
            <a:r>
              <a:rPr lang="es-CO" sz="950" b="1" i="0">
                <a:solidFill>
                  <a:srgbClr val="56C7F2"/>
                </a:solidFill>
                <a:latin typeface="Arial"/>
              </a:rPr>
              <a:t>Elemento</a:t>
            </a:r>
          </a:p>
        </p:txBody>
      </p:sp>
      <p:sp>
        <p:nvSpPr>
          <p:cNvPr id="16" name="TextBox 15"/>
          <p:cNvSpPr txBox="1"/>
          <p:nvPr/>
        </p:nvSpPr>
        <p:spPr>
          <a:xfrm>
            <a:off x="6236207" y="2162556"/>
            <a:ext cx="2276856" cy="42062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Etiqueta de apertura, contenido y etiqueta de cierre.</a:t>
            </a:r>
          </a:p>
        </p:txBody>
      </p:sp>
      <p:sp>
        <p:nvSpPr>
          <p:cNvPr id="17" name="Rounded Rectangle 16"/>
          <p:cNvSpPr/>
          <p:nvPr/>
        </p:nvSpPr>
        <p:spPr>
          <a:xfrm>
            <a:off x="5120640" y="2660904"/>
            <a:ext cx="3520440" cy="420624"/>
          </a:xfrm>
          <a:prstGeom prst="roundRect">
            <a:avLst>
              <a:gd name="adj" fmla="val 17391"/>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248655" y="2660904"/>
            <a:ext cx="914400" cy="420624"/>
          </a:xfrm>
          <a:prstGeom prst="rect">
            <a:avLst/>
          </a:prstGeom>
          <a:noFill/>
        </p:spPr>
        <p:txBody>
          <a:bodyPr wrap="square" lIns="0" tIns="0" rIns="0" bIns="0" anchor="ctr">
            <a:spAutoFit/>
          </a:bodyPr>
          <a:lstStyle/>
          <a:p>
            <a:pPr algn="l"/>
            <a:r>
              <a:rPr lang="es-CO" sz="950" b="1" i="0">
                <a:solidFill>
                  <a:srgbClr val="3DDC97"/>
                </a:solidFill>
                <a:latin typeface="Arial"/>
              </a:rPr>
              <a:t>Raíz</a:t>
            </a:r>
          </a:p>
        </p:txBody>
      </p:sp>
      <p:sp>
        <p:nvSpPr>
          <p:cNvPr id="19" name="TextBox 18"/>
          <p:cNvSpPr txBox="1"/>
          <p:nvPr/>
        </p:nvSpPr>
        <p:spPr>
          <a:xfrm>
            <a:off x="6236207" y="2660904"/>
            <a:ext cx="2276856" cy="42062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Un único elemento contiene a todos los demás.</a:t>
            </a:r>
          </a:p>
        </p:txBody>
      </p:sp>
      <p:sp>
        <p:nvSpPr>
          <p:cNvPr id="20" name="Rounded Rectangle 19"/>
          <p:cNvSpPr/>
          <p:nvPr/>
        </p:nvSpPr>
        <p:spPr>
          <a:xfrm>
            <a:off x="5120640" y="3159252"/>
            <a:ext cx="3520440" cy="420624"/>
          </a:xfrm>
          <a:prstGeom prst="roundRect">
            <a:avLst>
              <a:gd name="adj" fmla="val 17391"/>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248655" y="3159252"/>
            <a:ext cx="914400" cy="420624"/>
          </a:xfrm>
          <a:prstGeom prst="rect">
            <a:avLst/>
          </a:prstGeom>
          <a:noFill/>
        </p:spPr>
        <p:txBody>
          <a:bodyPr wrap="square" lIns="0" tIns="0" rIns="0" bIns="0" anchor="ctr">
            <a:spAutoFit/>
          </a:bodyPr>
          <a:lstStyle/>
          <a:p>
            <a:pPr algn="l"/>
            <a:r>
              <a:rPr lang="es-CO" sz="950" b="1" i="0">
                <a:solidFill>
                  <a:srgbClr val="FFD479"/>
                </a:solidFill>
                <a:latin typeface="Arial"/>
              </a:rPr>
              <a:t>Atributo</a:t>
            </a:r>
          </a:p>
        </p:txBody>
      </p:sp>
      <p:sp>
        <p:nvSpPr>
          <p:cNvPr id="22" name="TextBox 21"/>
          <p:cNvSpPr txBox="1"/>
          <p:nvPr/>
        </p:nvSpPr>
        <p:spPr>
          <a:xfrm>
            <a:off x="6236207" y="3159252"/>
            <a:ext cx="2276856" cy="42062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Dato dentro de la etiqueta de apertura: id="1".</a:t>
            </a:r>
          </a:p>
        </p:txBody>
      </p:sp>
      <p:sp>
        <p:nvSpPr>
          <p:cNvPr id="23" name="Rounded Rectangle 22"/>
          <p:cNvSpPr/>
          <p:nvPr/>
        </p:nvSpPr>
        <p:spPr>
          <a:xfrm>
            <a:off x="502920" y="3730752"/>
            <a:ext cx="8138160" cy="530352"/>
          </a:xfrm>
          <a:prstGeom prst="roundRect">
            <a:avLst>
              <a:gd name="adj" fmla="val 13793"/>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85800" y="3730752"/>
            <a:ext cx="7772400" cy="530352"/>
          </a:xfrm>
          <a:prstGeom prst="rect">
            <a:avLst/>
          </a:prstGeom>
          <a:noFill/>
        </p:spPr>
        <p:txBody>
          <a:bodyPr wrap="square" lIns="0" tIns="0" rIns="0" bIns="0" anchor="ctr">
            <a:spAutoFit/>
          </a:bodyPr>
          <a:lstStyle/>
          <a:p>
            <a:pPr algn="l">
              <a:lnSpc>
                <a:spcPts val="1300"/>
              </a:lnSpc>
            </a:pPr>
            <a:r>
              <a:rPr lang="es-CO" sz="1000" b="1" i="0">
                <a:solidFill>
                  <a:srgbClr val="FFB86C"/>
                </a:solidFill>
                <a:latin typeface="Arial"/>
              </a:rPr>
              <a:t>Uso en servicios web  </a:t>
            </a:r>
            <a:r>
              <a:rPr lang="es-CO" sz="1050" b="0" i="0">
                <a:solidFill>
                  <a:srgbClr val="E8EEF6"/>
                </a:solidFill>
                <a:latin typeface="Calibri"/>
              </a:rPr>
              <a:t>SOAP y WSDL se escriben en XML. Los espacios de nombres (xmlns) distinguen elementos de vocabularios diferentes.</a:t>
            </a:r>
          </a:p>
        </p:txBody>
      </p:sp>
      <p:sp>
        <p:nvSpPr>
          <p:cNvPr id="25" name="TextBox 24"/>
          <p:cNvSpPr txBox="1"/>
          <p:nvPr/>
        </p:nvSpPr>
        <p:spPr>
          <a:xfrm>
            <a:off x="502920" y="4315968"/>
            <a:ext cx="8138160" cy="292608"/>
          </a:xfrm>
          <a:prstGeom prst="rect">
            <a:avLst/>
          </a:prstGeom>
          <a:noFill/>
        </p:spPr>
        <p:txBody>
          <a:bodyPr wrap="square" lIns="0" tIns="0" rIns="0" bIns="0" anchor="ctr">
            <a:spAutoFit/>
          </a:bodyPr>
          <a:lstStyle/>
          <a:p>
            <a:pPr algn="l"/>
            <a:r>
              <a:rPr lang="es-CO" sz="1050" b="0" i="1">
                <a:solidFill>
                  <a:srgbClr val="93A5BD"/>
                </a:solidFill>
                <a:latin typeface="Calibri"/>
              </a:rPr>
              <a:t>Los datos son los mismos de la diapositiva anterior; cambia la forma de representarlos.</a:t>
            </a:r>
          </a:p>
        </p:txBody>
      </p:sp>
      <p:sp>
        <p:nvSpPr>
          <p:cNvPr id="26" name="TextBox 25"/>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07 / 24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300" b="1" i="0">
                <a:solidFill>
                  <a:srgbClr val="FFFFFF"/>
                </a:solidFill>
                <a:latin typeface="Arial"/>
              </a:rPr>
              <a:t>YAML: el mismo contacto con claves e indentación</a:t>
            </a:r>
          </a:p>
        </p:txBody>
      </p:sp>
      <p:sp>
        <p:nvSpPr>
          <p:cNvPr id="5" name="TextBox 4"/>
          <p:cNvSpPr txBox="1"/>
          <p:nvPr/>
        </p:nvSpPr>
        <p:spPr>
          <a:xfrm>
            <a:off x="475488" y="1078992"/>
            <a:ext cx="8138160" cy="153888"/>
          </a:xfrm>
          <a:prstGeom prst="rect">
            <a:avLst/>
          </a:prstGeom>
          <a:noFill/>
        </p:spPr>
        <p:txBody>
          <a:bodyPr wrap="square" lIns="0" tIns="0" rIns="0" bIns="0" anchor="t">
            <a:spAutoFit/>
          </a:bodyPr>
          <a:lstStyle/>
          <a:p>
            <a:pPr algn="l"/>
            <a:r>
              <a:rPr lang="es-CO" sz="1000" b="1" i="0" dirty="0">
                <a:solidFill>
                  <a:srgbClr val="3DDC97"/>
                </a:solidFill>
                <a:latin typeface="Calibri"/>
              </a:rPr>
              <a:t>YAML</a:t>
            </a:r>
            <a:r>
              <a:rPr lang="es-CO" sz="1000" b="0" i="0" dirty="0">
                <a:solidFill>
                  <a:srgbClr val="E8EEF6"/>
                </a:solidFill>
                <a:latin typeface="Calibri"/>
              </a:rPr>
              <a:t> representa datos con pares clave: valor; la </a:t>
            </a:r>
            <a:r>
              <a:rPr lang="es-CO" sz="1000" b="0" i="0" dirty="0" err="1">
                <a:solidFill>
                  <a:srgbClr val="E8EEF6"/>
                </a:solidFill>
                <a:latin typeface="Calibri"/>
              </a:rPr>
              <a:t>indentación</a:t>
            </a:r>
            <a:r>
              <a:rPr lang="es-CO" sz="1000" b="0" i="0" dirty="0">
                <a:solidFill>
                  <a:srgbClr val="E8EEF6"/>
                </a:solidFill>
                <a:latin typeface="Calibri"/>
              </a:rPr>
              <a:t> indica qué datos contiene cada clave.</a:t>
            </a:r>
          </a:p>
        </p:txBody>
      </p:sp>
      <p:sp>
        <p:nvSpPr>
          <p:cNvPr id="6" name="Rounded Rectangle 5"/>
          <p:cNvSpPr/>
          <p:nvPr/>
        </p:nvSpPr>
        <p:spPr>
          <a:xfrm>
            <a:off x="502920" y="1417320"/>
            <a:ext cx="1675130"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7" name="TextBox 6"/>
          <p:cNvSpPr txBox="1"/>
          <p:nvPr/>
        </p:nvSpPr>
        <p:spPr>
          <a:xfrm>
            <a:off x="502919" y="1431816"/>
            <a:ext cx="1699953" cy="153888"/>
          </a:xfrm>
          <a:prstGeom prst="rect">
            <a:avLst/>
          </a:prstGeom>
          <a:noFill/>
        </p:spPr>
        <p:txBody>
          <a:bodyPr wrap="square" lIns="0" tIns="0" rIns="0" bIns="0" anchor="ctr">
            <a:spAutoFit/>
          </a:bodyPr>
          <a:lstStyle/>
          <a:p>
            <a:pPr algn="ctr"/>
            <a:r>
              <a:rPr lang="es-CO" sz="1000" b="1" i="0">
                <a:solidFill>
                  <a:srgbClr val="56C7F2"/>
                </a:solidFill>
                <a:latin typeface="Arial"/>
              </a:rPr>
              <a:t>EJEMPLO ILUSTRATIVO</a:t>
            </a:r>
          </a:p>
        </p:txBody>
      </p:sp>
      <p:sp>
        <p:nvSpPr>
          <p:cNvPr id="8" name="Rounded Rectangle 7"/>
          <p:cNvSpPr/>
          <p:nvPr/>
        </p:nvSpPr>
        <p:spPr>
          <a:xfrm>
            <a:off x="502920" y="1664208"/>
            <a:ext cx="2697480" cy="1371600"/>
          </a:xfrm>
          <a:prstGeom prst="roundRect">
            <a:avLst>
              <a:gd name="adj" fmla="val 5333"/>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9" name="TextBox 8"/>
          <p:cNvSpPr txBox="1"/>
          <p:nvPr/>
        </p:nvSpPr>
        <p:spPr>
          <a:xfrm>
            <a:off x="649224" y="1742712"/>
            <a:ext cx="2404872" cy="153888"/>
          </a:xfrm>
          <a:prstGeom prst="rect">
            <a:avLst/>
          </a:prstGeom>
          <a:noFill/>
        </p:spPr>
        <p:txBody>
          <a:bodyPr wrap="square" lIns="0" tIns="0" rIns="0" bIns="0" anchor="ctr">
            <a:spAutoFit/>
          </a:bodyPr>
          <a:lstStyle/>
          <a:p>
            <a:pPr algn="l"/>
            <a:r>
              <a:rPr lang="es-CO" sz="1000" b="1" i="0">
                <a:solidFill>
                  <a:srgbClr val="3DDC97"/>
                </a:solidFill>
                <a:latin typeface="Courier New"/>
              </a:rPr>
              <a:t>un contacto</a:t>
            </a:r>
          </a:p>
        </p:txBody>
      </p:sp>
      <p:sp>
        <p:nvSpPr>
          <p:cNvPr id="10" name="TextBox 9"/>
          <p:cNvSpPr txBox="1"/>
          <p:nvPr/>
        </p:nvSpPr>
        <p:spPr>
          <a:xfrm>
            <a:off x="649224" y="1956816"/>
            <a:ext cx="2404872" cy="615553"/>
          </a:xfrm>
          <a:prstGeom prst="rect">
            <a:avLst/>
          </a:prstGeom>
          <a:noFill/>
        </p:spPr>
        <p:txBody>
          <a:bodyPr wrap="square" lIns="0" tIns="0" rIns="0" bIns="0" anchor="t">
            <a:spAutoFit/>
          </a:bodyPr>
          <a:lstStyle/>
          <a:p>
            <a:pPr algn="l">
              <a:lnSpc>
                <a:spcPts val="1230"/>
              </a:lnSpc>
            </a:pPr>
            <a:r>
              <a:rPr lang="es-CO" sz="1000" b="0" i="0" dirty="0">
                <a:solidFill>
                  <a:srgbClr val="56C7F2"/>
                </a:solidFill>
                <a:latin typeface="Courier New"/>
              </a:rPr>
              <a:t>id</a:t>
            </a:r>
            <a:r>
              <a:rPr lang="es-CO" sz="1000" b="0" i="0" dirty="0">
                <a:solidFill>
                  <a:srgbClr val="93A5BD"/>
                </a:solidFill>
                <a:latin typeface="Courier New"/>
              </a:rPr>
              <a:t>:</a:t>
            </a:r>
            <a:r>
              <a:rPr lang="es-CO" sz="1000" b="0" i="0" dirty="0">
                <a:solidFill>
                  <a:srgbClr val="3DDC97"/>
                </a:solidFill>
                <a:latin typeface="Courier New"/>
              </a:rPr>
              <a:t> 1</a:t>
            </a:r>
          </a:p>
          <a:p>
            <a:pPr algn="l">
              <a:lnSpc>
                <a:spcPts val="1230"/>
              </a:lnSpc>
            </a:pPr>
            <a:r>
              <a:rPr lang="es-CO" sz="1000" b="0" i="0" dirty="0">
                <a:solidFill>
                  <a:srgbClr val="56C7F2"/>
                </a:solidFill>
                <a:latin typeface="Courier New"/>
              </a:rPr>
              <a:t>nombre</a:t>
            </a:r>
            <a:r>
              <a:rPr lang="es-CO" sz="1000" b="0" i="0" dirty="0">
                <a:solidFill>
                  <a:srgbClr val="93A5BD"/>
                </a:solidFill>
                <a:latin typeface="Courier New"/>
              </a:rPr>
              <a:t>:</a:t>
            </a:r>
            <a:r>
              <a:rPr lang="es-CO" sz="1000" b="0" i="0" dirty="0">
                <a:solidFill>
                  <a:srgbClr val="D7E1EE"/>
                </a:solidFill>
                <a:latin typeface="Courier New"/>
              </a:rPr>
              <a:t> Ana</a:t>
            </a:r>
          </a:p>
          <a:p>
            <a:pPr algn="l">
              <a:lnSpc>
                <a:spcPts val="1230"/>
              </a:lnSpc>
            </a:pPr>
            <a:r>
              <a:rPr lang="es-CO" sz="1000" b="0" i="0" dirty="0">
                <a:solidFill>
                  <a:srgbClr val="56C7F2"/>
                </a:solidFill>
                <a:latin typeface="Courier New"/>
              </a:rPr>
              <a:t>correo</a:t>
            </a:r>
            <a:r>
              <a:rPr lang="es-CO" sz="1000" b="0" i="0" dirty="0">
                <a:solidFill>
                  <a:srgbClr val="93A5BD"/>
                </a:solidFill>
                <a:latin typeface="Courier New"/>
              </a:rPr>
              <a:t>:</a:t>
            </a:r>
            <a:r>
              <a:rPr lang="es-CO" sz="1000" b="0" i="0" dirty="0">
                <a:solidFill>
                  <a:srgbClr val="D7E1EE"/>
                </a:solidFill>
                <a:latin typeface="Courier New"/>
              </a:rPr>
              <a:t> ana@example.com</a:t>
            </a:r>
          </a:p>
          <a:p>
            <a:pPr algn="l">
              <a:lnSpc>
                <a:spcPts val="1230"/>
              </a:lnSpc>
            </a:pPr>
            <a:r>
              <a:rPr lang="es-CO" sz="1000" b="0" i="0" dirty="0">
                <a:solidFill>
                  <a:srgbClr val="56C7F2"/>
                </a:solidFill>
                <a:latin typeface="Courier New"/>
              </a:rPr>
              <a:t>mensaje</a:t>
            </a:r>
            <a:r>
              <a:rPr lang="es-CO" sz="1000" b="0" i="0" dirty="0">
                <a:solidFill>
                  <a:srgbClr val="93A5BD"/>
                </a:solidFill>
                <a:latin typeface="Courier New"/>
              </a:rPr>
              <a:t>:</a:t>
            </a:r>
            <a:r>
              <a:rPr lang="es-CO" sz="1000" b="0" i="0" dirty="0">
                <a:solidFill>
                  <a:srgbClr val="D7E1EE"/>
                </a:solidFill>
                <a:latin typeface="Courier New"/>
              </a:rPr>
              <a:t> Hola</a:t>
            </a:r>
          </a:p>
        </p:txBody>
      </p:sp>
      <p:sp>
        <p:nvSpPr>
          <p:cNvPr id="11" name="Rounded Rectangle 10"/>
          <p:cNvSpPr/>
          <p:nvPr/>
        </p:nvSpPr>
        <p:spPr>
          <a:xfrm>
            <a:off x="3337560" y="1664208"/>
            <a:ext cx="2697480" cy="1371600"/>
          </a:xfrm>
          <a:prstGeom prst="roundRect">
            <a:avLst>
              <a:gd name="adj" fmla="val 5333"/>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12" name="TextBox 11"/>
          <p:cNvSpPr txBox="1"/>
          <p:nvPr/>
        </p:nvSpPr>
        <p:spPr>
          <a:xfrm>
            <a:off x="3483864" y="1742712"/>
            <a:ext cx="2404872" cy="153888"/>
          </a:xfrm>
          <a:prstGeom prst="rect">
            <a:avLst/>
          </a:prstGeom>
          <a:noFill/>
        </p:spPr>
        <p:txBody>
          <a:bodyPr wrap="square" lIns="0" tIns="0" rIns="0" bIns="0" anchor="ctr">
            <a:spAutoFit/>
          </a:bodyPr>
          <a:lstStyle/>
          <a:p>
            <a:pPr algn="l"/>
            <a:r>
              <a:rPr lang="es-CO" sz="1000" b="1" i="0">
                <a:solidFill>
                  <a:srgbClr val="3DDC97"/>
                </a:solidFill>
                <a:latin typeface="Courier New"/>
              </a:rPr>
              <a:t>lista de contactos</a:t>
            </a:r>
          </a:p>
        </p:txBody>
      </p:sp>
      <p:sp>
        <p:nvSpPr>
          <p:cNvPr id="13" name="TextBox 12"/>
          <p:cNvSpPr txBox="1"/>
          <p:nvPr/>
        </p:nvSpPr>
        <p:spPr>
          <a:xfrm>
            <a:off x="3483864" y="1956816"/>
            <a:ext cx="2404872" cy="615553"/>
          </a:xfrm>
          <a:prstGeom prst="rect">
            <a:avLst/>
          </a:prstGeom>
          <a:noFill/>
        </p:spPr>
        <p:txBody>
          <a:bodyPr wrap="square" lIns="0" tIns="0" rIns="0" bIns="0" anchor="t">
            <a:spAutoFit/>
          </a:bodyPr>
          <a:lstStyle/>
          <a:p>
            <a:pPr algn="l">
              <a:lnSpc>
                <a:spcPts val="1230"/>
              </a:lnSpc>
            </a:pPr>
            <a:r>
              <a:rPr lang="es-CO" sz="1000" b="0" i="0">
                <a:solidFill>
                  <a:srgbClr val="FFB86C"/>
                </a:solidFill>
                <a:latin typeface="Courier New"/>
              </a:rPr>
              <a:t>- </a:t>
            </a:r>
            <a:r>
              <a:rPr lang="es-CO" sz="1000" b="0" i="0">
                <a:solidFill>
                  <a:srgbClr val="56C7F2"/>
                </a:solidFill>
                <a:latin typeface="Courier New"/>
              </a:rPr>
              <a:t>id</a:t>
            </a:r>
            <a:r>
              <a:rPr lang="es-CO" sz="1000" b="0" i="0">
                <a:solidFill>
                  <a:srgbClr val="93A5BD"/>
                </a:solidFill>
                <a:latin typeface="Courier New"/>
              </a:rPr>
              <a:t>:</a:t>
            </a:r>
            <a:r>
              <a:rPr lang="es-CO" sz="1000" b="0" i="0">
                <a:solidFill>
                  <a:srgbClr val="3DDC97"/>
                </a:solidFill>
                <a:latin typeface="Courier New"/>
              </a:rPr>
              <a:t> 1</a:t>
            </a:r>
          </a:p>
          <a:p>
            <a:pPr algn="l">
              <a:lnSpc>
                <a:spcPts val="1230"/>
              </a:lnSpc>
            </a:pPr>
            <a:r>
              <a:rPr lang="es-CO" sz="1000" b="0" i="0">
                <a:solidFill>
                  <a:srgbClr val="D7E1EE"/>
                </a:solidFill>
                <a:latin typeface="Courier New"/>
              </a:rPr>
              <a:t>  </a:t>
            </a:r>
            <a:r>
              <a:rPr lang="es-CO" sz="1000" b="0" i="0">
                <a:solidFill>
                  <a:srgbClr val="56C7F2"/>
                </a:solidFill>
                <a:latin typeface="Courier New"/>
              </a:rPr>
              <a:t>nombre</a:t>
            </a:r>
            <a:r>
              <a:rPr lang="es-CO" sz="1000" b="0" i="0">
                <a:solidFill>
                  <a:srgbClr val="93A5BD"/>
                </a:solidFill>
                <a:latin typeface="Courier New"/>
              </a:rPr>
              <a:t>:</a:t>
            </a:r>
            <a:r>
              <a:rPr lang="es-CO" sz="1000" b="0" i="0">
                <a:solidFill>
                  <a:srgbClr val="D7E1EE"/>
                </a:solidFill>
                <a:latin typeface="Courier New"/>
              </a:rPr>
              <a:t> Ana</a:t>
            </a:r>
          </a:p>
          <a:p>
            <a:pPr algn="l">
              <a:lnSpc>
                <a:spcPts val="1230"/>
              </a:lnSpc>
            </a:pPr>
            <a:r>
              <a:rPr lang="es-CO" sz="1000" b="0" i="0">
                <a:solidFill>
                  <a:srgbClr val="FFB86C"/>
                </a:solidFill>
                <a:latin typeface="Courier New"/>
              </a:rPr>
              <a:t>- </a:t>
            </a:r>
            <a:r>
              <a:rPr lang="es-CO" sz="1000" b="0" i="0">
                <a:solidFill>
                  <a:srgbClr val="56C7F2"/>
                </a:solidFill>
                <a:latin typeface="Courier New"/>
              </a:rPr>
              <a:t>id</a:t>
            </a:r>
            <a:r>
              <a:rPr lang="es-CO" sz="1000" b="0" i="0">
                <a:solidFill>
                  <a:srgbClr val="93A5BD"/>
                </a:solidFill>
                <a:latin typeface="Courier New"/>
              </a:rPr>
              <a:t>:</a:t>
            </a:r>
            <a:r>
              <a:rPr lang="es-CO" sz="1000" b="0" i="0">
                <a:solidFill>
                  <a:srgbClr val="3DDC97"/>
                </a:solidFill>
                <a:latin typeface="Courier New"/>
              </a:rPr>
              <a:t> 2</a:t>
            </a:r>
          </a:p>
          <a:p>
            <a:pPr algn="l">
              <a:lnSpc>
                <a:spcPts val="1230"/>
              </a:lnSpc>
            </a:pPr>
            <a:r>
              <a:rPr lang="es-CO" sz="1000" b="0" i="0">
                <a:solidFill>
                  <a:srgbClr val="D7E1EE"/>
                </a:solidFill>
                <a:latin typeface="Courier New"/>
              </a:rPr>
              <a:t>  </a:t>
            </a:r>
            <a:r>
              <a:rPr lang="es-CO" sz="1000" b="0" i="0">
                <a:solidFill>
                  <a:srgbClr val="56C7F2"/>
                </a:solidFill>
                <a:latin typeface="Courier New"/>
              </a:rPr>
              <a:t>nombre</a:t>
            </a:r>
            <a:r>
              <a:rPr lang="es-CO" sz="1000" b="0" i="0">
                <a:solidFill>
                  <a:srgbClr val="93A5BD"/>
                </a:solidFill>
                <a:latin typeface="Courier New"/>
              </a:rPr>
              <a:t>:</a:t>
            </a:r>
            <a:r>
              <a:rPr lang="es-CO" sz="1000" b="0" i="0">
                <a:solidFill>
                  <a:srgbClr val="D7E1EE"/>
                </a:solidFill>
                <a:latin typeface="Courier New"/>
              </a:rPr>
              <a:t> Beatriz</a:t>
            </a:r>
          </a:p>
        </p:txBody>
      </p:sp>
      <p:sp>
        <p:nvSpPr>
          <p:cNvPr id="14" name="Rounded Rectangle 13"/>
          <p:cNvSpPr/>
          <p:nvPr/>
        </p:nvSpPr>
        <p:spPr>
          <a:xfrm>
            <a:off x="6172200" y="1664208"/>
            <a:ext cx="2468880" cy="402336"/>
          </a:xfrm>
          <a:prstGeom prst="roundRect">
            <a:avLst>
              <a:gd name="adj" fmla="val 18181"/>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15" name="TextBox 14"/>
          <p:cNvSpPr txBox="1"/>
          <p:nvPr/>
        </p:nvSpPr>
        <p:spPr>
          <a:xfrm>
            <a:off x="6291072" y="1691640"/>
            <a:ext cx="2286000" cy="153888"/>
          </a:xfrm>
          <a:prstGeom prst="rect">
            <a:avLst/>
          </a:prstGeom>
          <a:noFill/>
        </p:spPr>
        <p:txBody>
          <a:bodyPr wrap="square" lIns="0" tIns="0" rIns="0" bIns="0" anchor="t">
            <a:spAutoFit/>
          </a:bodyPr>
          <a:lstStyle/>
          <a:p>
            <a:pPr algn="l"/>
            <a:r>
              <a:rPr lang="es-CO" sz="1000" b="1" i="0">
                <a:solidFill>
                  <a:srgbClr val="56C7F2"/>
                </a:solidFill>
                <a:latin typeface="Courier New"/>
              </a:rPr>
              <a:t>clave: valor</a:t>
            </a:r>
          </a:p>
        </p:txBody>
      </p:sp>
      <p:sp>
        <p:nvSpPr>
          <p:cNvPr id="16" name="TextBox 15"/>
          <p:cNvSpPr txBox="1"/>
          <p:nvPr/>
        </p:nvSpPr>
        <p:spPr>
          <a:xfrm>
            <a:off x="6291072" y="1856232"/>
            <a:ext cx="2286000" cy="153888"/>
          </a:xfrm>
          <a:prstGeom prst="rect">
            <a:avLst/>
          </a:prstGeom>
          <a:noFill/>
        </p:spPr>
        <p:txBody>
          <a:bodyPr wrap="square" lIns="0" tIns="0" rIns="0" bIns="0" anchor="t">
            <a:spAutoFit/>
          </a:bodyPr>
          <a:lstStyle/>
          <a:p>
            <a:pPr algn="l"/>
            <a:r>
              <a:rPr lang="es-CO" sz="1000" b="0" i="0">
                <a:solidFill>
                  <a:srgbClr val="E8EEF6"/>
                </a:solidFill>
                <a:latin typeface="Calibri"/>
              </a:rPr>
              <a:t>Un espacio después de los dos puntos.</a:t>
            </a:r>
          </a:p>
        </p:txBody>
      </p:sp>
      <p:sp>
        <p:nvSpPr>
          <p:cNvPr id="17" name="Rounded Rectangle 16"/>
          <p:cNvSpPr/>
          <p:nvPr/>
        </p:nvSpPr>
        <p:spPr>
          <a:xfrm>
            <a:off x="6172200" y="2148840"/>
            <a:ext cx="2514600" cy="402336"/>
          </a:xfrm>
          <a:prstGeom prst="roundRect">
            <a:avLst>
              <a:gd name="adj" fmla="val 18181"/>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18" name="TextBox 17"/>
          <p:cNvSpPr txBox="1"/>
          <p:nvPr/>
        </p:nvSpPr>
        <p:spPr>
          <a:xfrm>
            <a:off x="6291072" y="2176272"/>
            <a:ext cx="2286000" cy="153888"/>
          </a:xfrm>
          <a:prstGeom prst="rect">
            <a:avLst/>
          </a:prstGeom>
          <a:noFill/>
        </p:spPr>
        <p:txBody>
          <a:bodyPr wrap="square" lIns="0" tIns="0" rIns="0" bIns="0" anchor="t">
            <a:spAutoFit/>
          </a:bodyPr>
          <a:lstStyle/>
          <a:p>
            <a:pPr algn="l"/>
            <a:r>
              <a:rPr lang="es-CO" sz="1000" b="1" i="0">
                <a:solidFill>
                  <a:srgbClr val="3DDC97"/>
                </a:solidFill>
                <a:latin typeface="Courier New"/>
              </a:rPr>
              <a:t>indentación</a:t>
            </a:r>
          </a:p>
        </p:txBody>
      </p:sp>
      <p:sp>
        <p:nvSpPr>
          <p:cNvPr id="19" name="TextBox 18"/>
          <p:cNvSpPr txBox="1"/>
          <p:nvPr/>
        </p:nvSpPr>
        <p:spPr>
          <a:xfrm>
            <a:off x="6291072" y="2340864"/>
            <a:ext cx="2459736" cy="153888"/>
          </a:xfrm>
          <a:prstGeom prst="rect">
            <a:avLst/>
          </a:prstGeom>
          <a:noFill/>
        </p:spPr>
        <p:txBody>
          <a:bodyPr wrap="square" lIns="0" tIns="0" rIns="0" bIns="0" anchor="t">
            <a:spAutoFit/>
          </a:bodyPr>
          <a:lstStyle/>
          <a:p>
            <a:pPr algn="l"/>
            <a:r>
              <a:rPr lang="es-CO" sz="1000" b="0" i="0">
                <a:solidFill>
                  <a:srgbClr val="E8EEF6"/>
                </a:solidFill>
                <a:latin typeface="Calibri"/>
              </a:rPr>
              <a:t>Solo espacios; las tabulaciones no se admiten.</a:t>
            </a:r>
          </a:p>
        </p:txBody>
      </p:sp>
      <p:sp>
        <p:nvSpPr>
          <p:cNvPr id="20" name="Rounded Rectangle 19"/>
          <p:cNvSpPr/>
          <p:nvPr/>
        </p:nvSpPr>
        <p:spPr>
          <a:xfrm>
            <a:off x="6172200" y="2633472"/>
            <a:ext cx="2468880" cy="402336"/>
          </a:xfrm>
          <a:prstGeom prst="roundRect">
            <a:avLst>
              <a:gd name="adj" fmla="val 18181"/>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21" name="TextBox 20"/>
          <p:cNvSpPr txBox="1"/>
          <p:nvPr/>
        </p:nvSpPr>
        <p:spPr>
          <a:xfrm>
            <a:off x="6291072" y="2660903"/>
            <a:ext cx="2286000" cy="153888"/>
          </a:xfrm>
          <a:prstGeom prst="rect">
            <a:avLst/>
          </a:prstGeom>
          <a:noFill/>
        </p:spPr>
        <p:txBody>
          <a:bodyPr wrap="square" lIns="0" tIns="0" rIns="0" bIns="0" anchor="t">
            <a:spAutoFit/>
          </a:bodyPr>
          <a:lstStyle/>
          <a:p>
            <a:pPr algn="l"/>
            <a:r>
              <a:rPr lang="es-CO" sz="1000" b="1" i="0">
                <a:solidFill>
                  <a:srgbClr val="FFB86C"/>
                </a:solidFill>
                <a:latin typeface="Courier New"/>
              </a:rPr>
              <a:t>- elemento</a:t>
            </a:r>
          </a:p>
        </p:txBody>
      </p:sp>
      <p:sp>
        <p:nvSpPr>
          <p:cNvPr id="22" name="TextBox 21"/>
          <p:cNvSpPr txBox="1"/>
          <p:nvPr/>
        </p:nvSpPr>
        <p:spPr>
          <a:xfrm>
            <a:off x="6291072" y="2825496"/>
            <a:ext cx="2286000" cy="153888"/>
          </a:xfrm>
          <a:prstGeom prst="rect">
            <a:avLst/>
          </a:prstGeom>
          <a:noFill/>
        </p:spPr>
        <p:txBody>
          <a:bodyPr wrap="square" lIns="0" tIns="0" rIns="0" bIns="0" anchor="t">
            <a:spAutoFit/>
          </a:bodyPr>
          <a:lstStyle/>
          <a:p>
            <a:pPr algn="l"/>
            <a:r>
              <a:rPr lang="es-CO" sz="1000" b="0" i="0">
                <a:solidFill>
                  <a:srgbClr val="E8EEF6"/>
                </a:solidFill>
                <a:latin typeface="Calibri"/>
              </a:rPr>
              <a:t>El guion inicia cada elemento de una lista.</a:t>
            </a:r>
          </a:p>
        </p:txBody>
      </p:sp>
      <p:sp>
        <p:nvSpPr>
          <p:cNvPr id="23" name="TextBox 22"/>
          <p:cNvSpPr txBox="1"/>
          <p:nvPr/>
        </p:nvSpPr>
        <p:spPr>
          <a:xfrm>
            <a:off x="502920" y="3163824"/>
            <a:ext cx="8138160" cy="153888"/>
          </a:xfrm>
          <a:prstGeom prst="rect">
            <a:avLst/>
          </a:prstGeom>
          <a:noFill/>
        </p:spPr>
        <p:txBody>
          <a:bodyPr wrap="square" lIns="0" tIns="0" rIns="0" bIns="0" anchor="t">
            <a:spAutoFit/>
          </a:bodyPr>
          <a:lstStyle/>
          <a:p>
            <a:pPr algn="l"/>
            <a:r>
              <a:rPr lang="es-CO" sz="1000" b="1" i="0">
                <a:solidFill>
                  <a:srgbClr val="6C7E96"/>
                </a:solidFill>
                <a:latin typeface="Arial"/>
              </a:rPr>
              <a:t>El mismo contacto en tres formatos</a:t>
            </a:r>
          </a:p>
        </p:txBody>
      </p:sp>
      <p:sp>
        <p:nvSpPr>
          <p:cNvPr id="24" name="Rounded Rectangle 23"/>
          <p:cNvSpPr/>
          <p:nvPr/>
        </p:nvSpPr>
        <p:spPr>
          <a:xfrm>
            <a:off x="502920" y="3401568"/>
            <a:ext cx="2615184" cy="841248"/>
          </a:xfrm>
          <a:prstGeom prst="roundRect">
            <a:avLst>
              <a:gd name="adj" fmla="val 8695"/>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25" name="TextBox 24"/>
          <p:cNvSpPr txBox="1"/>
          <p:nvPr/>
        </p:nvSpPr>
        <p:spPr>
          <a:xfrm>
            <a:off x="630936" y="3480072"/>
            <a:ext cx="2377440" cy="153888"/>
          </a:xfrm>
          <a:prstGeom prst="rect">
            <a:avLst/>
          </a:prstGeom>
          <a:noFill/>
        </p:spPr>
        <p:txBody>
          <a:bodyPr wrap="square" lIns="0" tIns="0" rIns="0" bIns="0" anchor="ctr">
            <a:spAutoFit/>
          </a:bodyPr>
          <a:lstStyle/>
          <a:p>
            <a:pPr algn="l"/>
            <a:r>
              <a:rPr lang="es-CO" sz="1000" b="1" i="0">
                <a:solidFill>
                  <a:srgbClr val="3DDC97"/>
                </a:solidFill>
                <a:latin typeface="Arial"/>
              </a:rPr>
              <a:t>JSON</a:t>
            </a:r>
            <a:r>
              <a:rPr lang="es-CO" sz="1000" b="0" i="0">
                <a:solidFill>
                  <a:srgbClr val="93A5BD"/>
                </a:solidFill>
                <a:latin typeface="Calibri"/>
              </a:rPr>
              <a:t>  ·  llaves, claves entre comillas</a:t>
            </a:r>
          </a:p>
        </p:txBody>
      </p:sp>
      <p:sp>
        <p:nvSpPr>
          <p:cNvPr id="26" name="Rounded Rectangle 25"/>
          <p:cNvSpPr/>
          <p:nvPr/>
        </p:nvSpPr>
        <p:spPr>
          <a:xfrm>
            <a:off x="630936" y="3730752"/>
            <a:ext cx="2359152" cy="402336"/>
          </a:xfrm>
          <a:prstGeom prst="roundRect">
            <a:avLst>
              <a:gd name="adj" fmla="val 18181"/>
            </a:avLst>
          </a:prstGeom>
          <a:solidFill>
            <a:srgbClr val="070C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27" name="TextBox 26"/>
          <p:cNvSpPr txBox="1"/>
          <p:nvPr/>
        </p:nvSpPr>
        <p:spPr>
          <a:xfrm>
            <a:off x="704088" y="3854976"/>
            <a:ext cx="2240280" cy="153888"/>
          </a:xfrm>
          <a:prstGeom prst="rect">
            <a:avLst/>
          </a:prstGeom>
          <a:noFill/>
        </p:spPr>
        <p:txBody>
          <a:bodyPr wrap="square" lIns="0" tIns="0" rIns="0" bIns="0" anchor="ctr">
            <a:spAutoFit/>
          </a:bodyPr>
          <a:lstStyle/>
          <a:p>
            <a:pPr algn="l"/>
            <a:r>
              <a:rPr lang="es-CO" sz="1000" b="0" i="0">
                <a:solidFill>
                  <a:srgbClr val="FFD479"/>
                </a:solidFill>
                <a:latin typeface="Courier New"/>
              </a:rPr>
              <a:t>{ "nombre": "Ana" }</a:t>
            </a:r>
          </a:p>
        </p:txBody>
      </p:sp>
      <p:sp>
        <p:nvSpPr>
          <p:cNvPr id="28" name="Rounded Rectangle 27"/>
          <p:cNvSpPr/>
          <p:nvPr/>
        </p:nvSpPr>
        <p:spPr>
          <a:xfrm>
            <a:off x="3264408" y="3401568"/>
            <a:ext cx="2615184" cy="841248"/>
          </a:xfrm>
          <a:prstGeom prst="roundRect">
            <a:avLst>
              <a:gd name="adj" fmla="val 8695"/>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29" name="TextBox 28"/>
          <p:cNvSpPr txBox="1"/>
          <p:nvPr/>
        </p:nvSpPr>
        <p:spPr>
          <a:xfrm>
            <a:off x="3392424" y="3480072"/>
            <a:ext cx="2377440" cy="153888"/>
          </a:xfrm>
          <a:prstGeom prst="rect">
            <a:avLst/>
          </a:prstGeom>
          <a:noFill/>
        </p:spPr>
        <p:txBody>
          <a:bodyPr wrap="square" lIns="0" tIns="0" rIns="0" bIns="0" anchor="ctr">
            <a:spAutoFit/>
          </a:bodyPr>
          <a:lstStyle/>
          <a:p>
            <a:pPr algn="l"/>
            <a:r>
              <a:rPr lang="es-CO" sz="1000" b="1" i="0">
                <a:solidFill>
                  <a:srgbClr val="56C7F2"/>
                </a:solidFill>
                <a:latin typeface="Arial"/>
              </a:rPr>
              <a:t>XML</a:t>
            </a:r>
            <a:r>
              <a:rPr lang="es-CO" sz="1000" b="0" i="0">
                <a:solidFill>
                  <a:srgbClr val="93A5BD"/>
                </a:solidFill>
                <a:latin typeface="Calibri"/>
              </a:rPr>
              <a:t>  ·  etiquetas de apertura y cierre</a:t>
            </a:r>
          </a:p>
        </p:txBody>
      </p:sp>
      <p:sp>
        <p:nvSpPr>
          <p:cNvPr id="30" name="Rounded Rectangle 29"/>
          <p:cNvSpPr/>
          <p:nvPr/>
        </p:nvSpPr>
        <p:spPr>
          <a:xfrm>
            <a:off x="3392424" y="3730752"/>
            <a:ext cx="2359152" cy="402336"/>
          </a:xfrm>
          <a:prstGeom prst="roundRect">
            <a:avLst>
              <a:gd name="adj" fmla="val 18181"/>
            </a:avLst>
          </a:prstGeom>
          <a:solidFill>
            <a:srgbClr val="070C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31" name="TextBox 30"/>
          <p:cNvSpPr txBox="1"/>
          <p:nvPr/>
        </p:nvSpPr>
        <p:spPr>
          <a:xfrm>
            <a:off x="3465576" y="3854976"/>
            <a:ext cx="2240280" cy="153888"/>
          </a:xfrm>
          <a:prstGeom prst="rect">
            <a:avLst/>
          </a:prstGeom>
          <a:noFill/>
        </p:spPr>
        <p:txBody>
          <a:bodyPr wrap="square" lIns="0" tIns="0" rIns="0" bIns="0" anchor="ctr">
            <a:spAutoFit/>
          </a:bodyPr>
          <a:lstStyle/>
          <a:p>
            <a:pPr algn="l"/>
            <a:r>
              <a:rPr lang="es-CO" sz="1000" b="0" i="0">
                <a:solidFill>
                  <a:srgbClr val="FFD479"/>
                </a:solidFill>
                <a:latin typeface="Courier New"/>
              </a:rPr>
              <a:t>&lt;nombre&gt;Ana&lt;/nombre&gt;</a:t>
            </a:r>
          </a:p>
        </p:txBody>
      </p:sp>
      <p:sp>
        <p:nvSpPr>
          <p:cNvPr id="32" name="Rounded Rectangle 31"/>
          <p:cNvSpPr/>
          <p:nvPr/>
        </p:nvSpPr>
        <p:spPr>
          <a:xfrm>
            <a:off x="6025896" y="3401568"/>
            <a:ext cx="2615184" cy="841248"/>
          </a:xfrm>
          <a:prstGeom prst="roundRect">
            <a:avLst>
              <a:gd name="adj" fmla="val 8695"/>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33" name="TextBox 32"/>
          <p:cNvSpPr txBox="1"/>
          <p:nvPr/>
        </p:nvSpPr>
        <p:spPr>
          <a:xfrm>
            <a:off x="6153912" y="3480072"/>
            <a:ext cx="2377440" cy="153888"/>
          </a:xfrm>
          <a:prstGeom prst="rect">
            <a:avLst/>
          </a:prstGeom>
          <a:noFill/>
        </p:spPr>
        <p:txBody>
          <a:bodyPr wrap="square" lIns="0" tIns="0" rIns="0" bIns="0" anchor="ctr">
            <a:spAutoFit/>
          </a:bodyPr>
          <a:lstStyle/>
          <a:p>
            <a:pPr algn="l"/>
            <a:r>
              <a:rPr lang="es-CO" sz="1000" b="1" i="0">
                <a:solidFill>
                  <a:srgbClr val="FFB86C"/>
                </a:solidFill>
                <a:latin typeface="Arial"/>
              </a:rPr>
              <a:t>YAML</a:t>
            </a:r>
            <a:r>
              <a:rPr lang="es-CO" sz="1000" b="0" i="0">
                <a:solidFill>
                  <a:srgbClr val="93A5BD"/>
                </a:solidFill>
                <a:latin typeface="Calibri"/>
              </a:rPr>
              <a:t>  ·  claves e indentación</a:t>
            </a:r>
          </a:p>
        </p:txBody>
      </p:sp>
      <p:sp>
        <p:nvSpPr>
          <p:cNvPr id="34" name="Rounded Rectangle 33"/>
          <p:cNvSpPr/>
          <p:nvPr/>
        </p:nvSpPr>
        <p:spPr>
          <a:xfrm>
            <a:off x="6153912" y="3730752"/>
            <a:ext cx="2359152" cy="402336"/>
          </a:xfrm>
          <a:prstGeom prst="roundRect">
            <a:avLst>
              <a:gd name="adj" fmla="val 18181"/>
            </a:avLst>
          </a:prstGeom>
          <a:solidFill>
            <a:srgbClr val="070C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35" name="TextBox 34"/>
          <p:cNvSpPr txBox="1"/>
          <p:nvPr/>
        </p:nvSpPr>
        <p:spPr>
          <a:xfrm>
            <a:off x="6227064" y="3854976"/>
            <a:ext cx="2240280" cy="153888"/>
          </a:xfrm>
          <a:prstGeom prst="rect">
            <a:avLst/>
          </a:prstGeom>
          <a:noFill/>
        </p:spPr>
        <p:txBody>
          <a:bodyPr wrap="square" lIns="0" tIns="0" rIns="0" bIns="0" anchor="ctr">
            <a:spAutoFit/>
          </a:bodyPr>
          <a:lstStyle/>
          <a:p>
            <a:pPr algn="l"/>
            <a:r>
              <a:rPr lang="es-CO" sz="1000" b="0" i="0">
                <a:solidFill>
                  <a:srgbClr val="FFD479"/>
                </a:solidFill>
                <a:latin typeface="Courier New"/>
              </a:rPr>
              <a:t>nombre: Ana</a:t>
            </a:r>
          </a:p>
        </p:txBody>
      </p:sp>
      <p:sp>
        <p:nvSpPr>
          <p:cNvPr id="36" name="TextBox 35"/>
          <p:cNvSpPr txBox="1"/>
          <p:nvPr/>
        </p:nvSpPr>
        <p:spPr>
          <a:xfrm>
            <a:off x="502920" y="4385328"/>
            <a:ext cx="8138160" cy="153888"/>
          </a:xfrm>
          <a:prstGeom prst="rect">
            <a:avLst/>
          </a:prstGeom>
          <a:noFill/>
        </p:spPr>
        <p:txBody>
          <a:bodyPr wrap="square" lIns="0" tIns="0" rIns="0" bIns="0" anchor="ctr">
            <a:spAutoFit/>
          </a:bodyPr>
          <a:lstStyle/>
          <a:p>
            <a:pPr algn="l"/>
            <a:r>
              <a:rPr lang="es-CO" sz="1000" b="0" i="1">
                <a:solidFill>
                  <a:srgbClr val="93A5BD"/>
                </a:solidFill>
                <a:latin typeface="Calibri"/>
              </a:rPr>
              <a:t>YAML es frecuente en archivos de configuración y en descripciones OpenAPI (diapositiva 14).</a:t>
            </a:r>
          </a:p>
        </p:txBody>
      </p:sp>
      <p:sp>
        <p:nvSpPr>
          <p:cNvPr id="37" name="TextBox 36"/>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08 / 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793186"/>
            <a:ext cx="8138160" cy="169277"/>
          </a:xfrm>
          <a:prstGeom prst="rect">
            <a:avLst/>
          </a:prstGeom>
          <a:noFill/>
        </p:spPr>
        <p:txBody>
          <a:bodyPr wrap="square" lIns="0" tIns="0" rIns="0" bIns="0" anchor="ctr">
            <a:spAutoFit/>
          </a:bodyPr>
          <a:lstStyle/>
          <a:p>
            <a:pPr algn="l"/>
            <a:r>
              <a:rPr lang="es-CO" sz="1100" b="1" i="0">
                <a:solidFill>
                  <a:srgbClr val="FFFFFF"/>
                </a:solidFill>
                <a:latin typeface="Arial"/>
              </a:rPr>
              <a:t>REST organiza la API en recursos, direcciones y métodos</a:t>
            </a:r>
          </a:p>
        </p:txBody>
      </p:sp>
      <p:sp>
        <p:nvSpPr>
          <p:cNvPr id="5" name="TextBox 4"/>
          <p:cNvSpPr txBox="1"/>
          <p:nvPr/>
        </p:nvSpPr>
        <p:spPr>
          <a:xfrm>
            <a:off x="475488" y="1078992"/>
            <a:ext cx="8138160" cy="169277"/>
          </a:xfrm>
          <a:prstGeom prst="rect">
            <a:avLst/>
          </a:prstGeom>
          <a:noFill/>
        </p:spPr>
        <p:txBody>
          <a:bodyPr wrap="square" lIns="0" tIns="0" rIns="0" bIns="0" anchor="t">
            <a:spAutoFit/>
          </a:bodyPr>
          <a:lstStyle/>
          <a:p>
            <a:pPr algn="l"/>
            <a:r>
              <a:rPr lang="es-CO" sz="1100" b="1" i="0">
                <a:solidFill>
                  <a:srgbClr val="3DDC97"/>
                </a:solidFill>
                <a:latin typeface="Calibri"/>
              </a:rPr>
              <a:t>REST</a:t>
            </a:r>
            <a:r>
              <a:rPr lang="es-CO" sz="1100" b="0" i="0">
                <a:solidFill>
                  <a:srgbClr val="E8EEF6"/>
                </a:solidFill>
                <a:latin typeface="Calibri"/>
              </a:rPr>
              <a:t> (Representational State Transfer) es un estilo de arquitectura que orienta el diseño de sistemas y API.</a:t>
            </a:r>
          </a:p>
        </p:txBody>
      </p:sp>
      <p:sp>
        <p:nvSpPr>
          <p:cNvPr id="6" name="Rectangle 5"/>
          <p:cNvSpPr/>
          <p:nvPr/>
        </p:nvSpPr>
        <p:spPr>
          <a:xfrm>
            <a:off x="502920" y="1417320"/>
            <a:ext cx="4937760" cy="365760"/>
          </a:xfrm>
          <a:prstGeom prst="rect">
            <a:avLst/>
          </a:prstGeom>
          <a:solidFill>
            <a:srgbClr val="13233A"/>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TextBox 6"/>
          <p:cNvSpPr txBox="1"/>
          <p:nvPr/>
        </p:nvSpPr>
        <p:spPr>
          <a:xfrm>
            <a:off x="594360" y="1515562"/>
            <a:ext cx="1179576" cy="169277"/>
          </a:xfrm>
          <a:prstGeom prst="rect">
            <a:avLst/>
          </a:prstGeom>
          <a:noFill/>
        </p:spPr>
        <p:txBody>
          <a:bodyPr wrap="square" lIns="0" tIns="0" rIns="0" bIns="0" anchor="ctr">
            <a:spAutoFit/>
          </a:bodyPr>
          <a:lstStyle/>
          <a:p>
            <a:pPr algn="l"/>
            <a:r>
              <a:rPr lang="es-CO" sz="1100" b="1" i="0">
                <a:solidFill>
                  <a:srgbClr val="3DDC97"/>
                </a:solidFill>
                <a:latin typeface="Arial"/>
              </a:rPr>
              <a:t>Recurso</a:t>
            </a:r>
          </a:p>
        </p:txBody>
      </p:sp>
      <p:sp>
        <p:nvSpPr>
          <p:cNvPr id="8" name="TextBox 7"/>
          <p:cNvSpPr txBox="1"/>
          <p:nvPr/>
        </p:nvSpPr>
        <p:spPr>
          <a:xfrm>
            <a:off x="1920240" y="1515562"/>
            <a:ext cx="1271016" cy="169277"/>
          </a:xfrm>
          <a:prstGeom prst="rect">
            <a:avLst/>
          </a:prstGeom>
          <a:noFill/>
        </p:spPr>
        <p:txBody>
          <a:bodyPr wrap="square" lIns="0" tIns="0" rIns="0" bIns="0" anchor="ctr">
            <a:spAutoFit/>
          </a:bodyPr>
          <a:lstStyle/>
          <a:p>
            <a:pPr algn="l"/>
            <a:r>
              <a:rPr lang="es-CO" sz="1100" b="1" i="0">
                <a:solidFill>
                  <a:srgbClr val="3DDC97"/>
                </a:solidFill>
                <a:latin typeface="Arial"/>
              </a:rPr>
              <a:t>Dirección</a:t>
            </a:r>
          </a:p>
        </p:txBody>
      </p:sp>
      <p:sp>
        <p:nvSpPr>
          <p:cNvPr id="9" name="TextBox 8"/>
          <p:cNvSpPr txBox="1"/>
          <p:nvPr/>
        </p:nvSpPr>
        <p:spPr>
          <a:xfrm>
            <a:off x="3337560" y="1515562"/>
            <a:ext cx="585216" cy="169277"/>
          </a:xfrm>
          <a:prstGeom prst="rect">
            <a:avLst/>
          </a:prstGeom>
          <a:noFill/>
        </p:spPr>
        <p:txBody>
          <a:bodyPr wrap="square" lIns="0" tIns="0" rIns="0" bIns="0" anchor="ctr">
            <a:spAutoFit/>
          </a:bodyPr>
          <a:lstStyle/>
          <a:p>
            <a:pPr algn="l"/>
            <a:r>
              <a:rPr lang="es-CO" sz="1100" b="1" i="0">
                <a:solidFill>
                  <a:srgbClr val="3DDC97"/>
                </a:solidFill>
                <a:latin typeface="Arial"/>
              </a:rPr>
              <a:t>Método</a:t>
            </a:r>
          </a:p>
        </p:txBody>
      </p:sp>
      <p:sp>
        <p:nvSpPr>
          <p:cNvPr id="10" name="TextBox 9"/>
          <p:cNvSpPr txBox="1"/>
          <p:nvPr/>
        </p:nvSpPr>
        <p:spPr>
          <a:xfrm>
            <a:off x="4069079" y="1515562"/>
            <a:ext cx="1316736" cy="169277"/>
          </a:xfrm>
          <a:prstGeom prst="rect">
            <a:avLst/>
          </a:prstGeom>
          <a:noFill/>
        </p:spPr>
        <p:txBody>
          <a:bodyPr wrap="square" lIns="0" tIns="0" rIns="0" bIns="0" anchor="ctr">
            <a:spAutoFit/>
          </a:bodyPr>
          <a:lstStyle/>
          <a:p>
            <a:pPr algn="l"/>
            <a:r>
              <a:rPr lang="es-CO" sz="1100" b="1" i="0">
                <a:solidFill>
                  <a:srgbClr val="3DDC97"/>
                </a:solidFill>
                <a:latin typeface="Arial"/>
              </a:rPr>
              <a:t>Propósito</a:t>
            </a:r>
          </a:p>
        </p:txBody>
      </p:sp>
      <p:sp>
        <p:nvSpPr>
          <p:cNvPr id="11" name="Rectangle 10"/>
          <p:cNvSpPr/>
          <p:nvPr/>
        </p:nvSpPr>
        <p:spPr>
          <a:xfrm>
            <a:off x="502920" y="1783080"/>
            <a:ext cx="4937760" cy="365760"/>
          </a:xfrm>
          <a:prstGeom prst="rect">
            <a:avLst/>
          </a:prstGeom>
          <a:solidFill>
            <a:srgbClr val="1A2434"/>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TextBox 11"/>
          <p:cNvSpPr txBox="1"/>
          <p:nvPr/>
        </p:nvSpPr>
        <p:spPr>
          <a:xfrm>
            <a:off x="594360" y="1894434"/>
            <a:ext cx="1179576" cy="143052"/>
          </a:xfrm>
          <a:prstGeom prst="rect">
            <a:avLst/>
          </a:prstGeom>
          <a:noFill/>
        </p:spPr>
        <p:txBody>
          <a:bodyPr wrap="square" lIns="0" tIns="0" rIns="0" bIns="0" anchor="ctr">
            <a:spAutoFit/>
          </a:bodyPr>
          <a:lstStyle/>
          <a:p>
            <a:pPr algn="l">
              <a:lnSpc>
                <a:spcPts val="1092"/>
              </a:lnSpc>
            </a:pPr>
            <a:r>
              <a:rPr lang="es-CO" sz="1100" b="0" i="0">
                <a:solidFill>
                  <a:srgbClr val="E8EEF6"/>
                </a:solidFill>
                <a:latin typeface="Calibri"/>
              </a:rPr>
              <a:t>Colección</a:t>
            </a:r>
          </a:p>
        </p:txBody>
      </p:sp>
      <p:sp>
        <p:nvSpPr>
          <p:cNvPr id="13" name="TextBox 12"/>
          <p:cNvSpPr txBox="1"/>
          <p:nvPr/>
        </p:nvSpPr>
        <p:spPr>
          <a:xfrm>
            <a:off x="1920240" y="1891902"/>
            <a:ext cx="1271016" cy="148117"/>
          </a:xfrm>
          <a:prstGeom prst="rect">
            <a:avLst/>
          </a:prstGeom>
          <a:noFill/>
        </p:spPr>
        <p:txBody>
          <a:bodyPr wrap="square" lIns="0" tIns="0" rIns="0" bIns="0" anchor="ctr">
            <a:spAutoFit/>
          </a:bodyPr>
          <a:lstStyle/>
          <a:p>
            <a:pPr algn="l">
              <a:lnSpc>
                <a:spcPts val="1092"/>
              </a:lnSpc>
            </a:pPr>
            <a:r>
              <a:rPr lang="es-CO" sz="1100" b="0" i="0">
                <a:solidFill>
                  <a:srgbClr val="56C7F2"/>
                </a:solidFill>
                <a:latin typeface="Courier New"/>
              </a:rPr>
              <a:t>/api/contactos</a:t>
            </a:r>
          </a:p>
        </p:txBody>
      </p:sp>
      <p:sp>
        <p:nvSpPr>
          <p:cNvPr id="14" name="TextBox 13"/>
          <p:cNvSpPr txBox="1"/>
          <p:nvPr/>
        </p:nvSpPr>
        <p:spPr>
          <a:xfrm>
            <a:off x="3337560" y="1891902"/>
            <a:ext cx="585216" cy="148117"/>
          </a:xfrm>
          <a:prstGeom prst="rect">
            <a:avLst/>
          </a:prstGeom>
          <a:noFill/>
        </p:spPr>
        <p:txBody>
          <a:bodyPr wrap="square" lIns="0" tIns="0" rIns="0" bIns="0" anchor="ctr">
            <a:spAutoFit/>
          </a:bodyPr>
          <a:lstStyle/>
          <a:p>
            <a:pPr algn="l">
              <a:lnSpc>
                <a:spcPts val="1092"/>
              </a:lnSpc>
            </a:pPr>
            <a:r>
              <a:rPr lang="es-CO" sz="1100" b="0" i="0">
                <a:solidFill>
                  <a:srgbClr val="FFB86C"/>
                </a:solidFill>
                <a:latin typeface="Courier New"/>
              </a:rPr>
              <a:t>GET</a:t>
            </a:r>
          </a:p>
        </p:txBody>
      </p:sp>
      <p:sp>
        <p:nvSpPr>
          <p:cNvPr id="15" name="TextBox 14"/>
          <p:cNvSpPr txBox="1"/>
          <p:nvPr/>
        </p:nvSpPr>
        <p:spPr>
          <a:xfrm>
            <a:off x="4069079" y="1894434"/>
            <a:ext cx="1316736" cy="143052"/>
          </a:xfrm>
          <a:prstGeom prst="rect">
            <a:avLst/>
          </a:prstGeom>
          <a:noFill/>
        </p:spPr>
        <p:txBody>
          <a:bodyPr wrap="square" lIns="0" tIns="0" rIns="0" bIns="0" anchor="ctr">
            <a:spAutoFit/>
          </a:bodyPr>
          <a:lstStyle/>
          <a:p>
            <a:pPr algn="l">
              <a:lnSpc>
                <a:spcPts val="1092"/>
              </a:lnSpc>
            </a:pPr>
            <a:r>
              <a:rPr lang="es-CO" sz="1100" b="0" i="0">
                <a:solidFill>
                  <a:srgbClr val="3DDC97"/>
                </a:solidFill>
                <a:latin typeface="Calibri"/>
              </a:rPr>
              <a:t>Consultar la lista · hoy</a:t>
            </a:r>
          </a:p>
        </p:txBody>
      </p:sp>
      <p:sp>
        <p:nvSpPr>
          <p:cNvPr id="16" name="Rectangle 15"/>
          <p:cNvSpPr/>
          <p:nvPr/>
        </p:nvSpPr>
        <p:spPr>
          <a:xfrm>
            <a:off x="502920" y="2148840"/>
            <a:ext cx="4937760" cy="365760"/>
          </a:xfrm>
          <a:prstGeom prst="rect">
            <a:avLst/>
          </a:prstGeom>
          <a:solidFill>
            <a:srgbClr val="141D2B"/>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7" name="TextBox 16"/>
          <p:cNvSpPr txBox="1"/>
          <p:nvPr/>
        </p:nvSpPr>
        <p:spPr>
          <a:xfrm>
            <a:off x="594360" y="2260194"/>
            <a:ext cx="1179576" cy="143052"/>
          </a:xfrm>
          <a:prstGeom prst="rect">
            <a:avLst/>
          </a:prstGeom>
          <a:noFill/>
        </p:spPr>
        <p:txBody>
          <a:bodyPr wrap="square" lIns="0" tIns="0" rIns="0" bIns="0" anchor="ctr">
            <a:spAutoFit/>
          </a:bodyPr>
          <a:lstStyle/>
          <a:p>
            <a:pPr algn="l">
              <a:lnSpc>
                <a:spcPts val="1092"/>
              </a:lnSpc>
            </a:pPr>
            <a:r>
              <a:rPr lang="es-CO" sz="1100" b="0" i="0">
                <a:solidFill>
                  <a:srgbClr val="E8EEF6"/>
                </a:solidFill>
                <a:latin typeface="Calibri"/>
              </a:rPr>
              <a:t>Colección</a:t>
            </a:r>
          </a:p>
        </p:txBody>
      </p:sp>
      <p:sp>
        <p:nvSpPr>
          <p:cNvPr id="18" name="TextBox 17"/>
          <p:cNvSpPr txBox="1"/>
          <p:nvPr/>
        </p:nvSpPr>
        <p:spPr>
          <a:xfrm>
            <a:off x="1920240" y="2257662"/>
            <a:ext cx="1271016" cy="148117"/>
          </a:xfrm>
          <a:prstGeom prst="rect">
            <a:avLst/>
          </a:prstGeom>
          <a:noFill/>
        </p:spPr>
        <p:txBody>
          <a:bodyPr wrap="square" lIns="0" tIns="0" rIns="0" bIns="0" anchor="ctr">
            <a:spAutoFit/>
          </a:bodyPr>
          <a:lstStyle/>
          <a:p>
            <a:pPr algn="l">
              <a:lnSpc>
                <a:spcPts val="1092"/>
              </a:lnSpc>
            </a:pPr>
            <a:r>
              <a:rPr lang="es-CO" sz="1100" b="0" i="0" dirty="0">
                <a:solidFill>
                  <a:srgbClr val="56C7F2"/>
                </a:solidFill>
                <a:latin typeface="Courier New"/>
              </a:rPr>
              <a:t>/api/contactos</a:t>
            </a:r>
          </a:p>
        </p:txBody>
      </p:sp>
      <p:sp>
        <p:nvSpPr>
          <p:cNvPr id="19" name="TextBox 18"/>
          <p:cNvSpPr txBox="1"/>
          <p:nvPr/>
        </p:nvSpPr>
        <p:spPr>
          <a:xfrm>
            <a:off x="3337560" y="2257662"/>
            <a:ext cx="585216" cy="148117"/>
          </a:xfrm>
          <a:prstGeom prst="rect">
            <a:avLst/>
          </a:prstGeom>
          <a:noFill/>
        </p:spPr>
        <p:txBody>
          <a:bodyPr wrap="square" lIns="0" tIns="0" rIns="0" bIns="0" anchor="ctr">
            <a:spAutoFit/>
          </a:bodyPr>
          <a:lstStyle/>
          <a:p>
            <a:pPr algn="l">
              <a:lnSpc>
                <a:spcPts val="1092"/>
              </a:lnSpc>
            </a:pPr>
            <a:r>
              <a:rPr lang="es-CO" sz="1100" b="0" i="0">
                <a:solidFill>
                  <a:srgbClr val="FFB86C"/>
                </a:solidFill>
                <a:latin typeface="Courier New"/>
              </a:rPr>
              <a:t>POST</a:t>
            </a:r>
          </a:p>
        </p:txBody>
      </p:sp>
      <p:sp>
        <p:nvSpPr>
          <p:cNvPr id="20" name="TextBox 19"/>
          <p:cNvSpPr txBox="1"/>
          <p:nvPr/>
        </p:nvSpPr>
        <p:spPr>
          <a:xfrm>
            <a:off x="4069079" y="2260194"/>
            <a:ext cx="1316736" cy="143052"/>
          </a:xfrm>
          <a:prstGeom prst="rect">
            <a:avLst/>
          </a:prstGeom>
          <a:noFill/>
        </p:spPr>
        <p:txBody>
          <a:bodyPr wrap="square" lIns="0" tIns="0" rIns="0" bIns="0" anchor="ctr">
            <a:spAutoFit/>
          </a:bodyPr>
          <a:lstStyle/>
          <a:p>
            <a:pPr algn="l">
              <a:lnSpc>
                <a:spcPts val="1092"/>
              </a:lnSpc>
            </a:pPr>
            <a:r>
              <a:rPr lang="es-CO" sz="1100" b="0" i="0">
                <a:solidFill>
                  <a:srgbClr val="E8EEF6"/>
                </a:solidFill>
                <a:latin typeface="Calibri"/>
              </a:rPr>
              <a:t>Crear un contacto</a:t>
            </a:r>
          </a:p>
        </p:txBody>
      </p:sp>
      <p:sp>
        <p:nvSpPr>
          <p:cNvPr id="21" name="Rectangle 20"/>
          <p:cNvSpPr/>
          <p:nvPr/>
        </p:nvSpPr>
        <p:spPr>
          <a:xfrm>
            <a:off x="502920" y="2514600"/>
            <a:ext cx="4937760" cy="365760"/>
          </a:xfrm>
          <a:prstGeom prst="rect">
            <a:avLst/>
          </a:prstGeom>
          <a:solidFill>
            <a:srgbClr val="1A2434"/>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2" name="TextBox 21"/>
          <p:cNvSpPr txBox="1"/>
          <p:nvPr/>
        </p:nvSpPr>
        <p:spPr>
          <a:xfrm>
            <a:off x="594360" y="2625954"/>
            <a:ext cx="1179576" cy="143052"/>
          </a:xfrm>
          <a:prstGeom prst="rect">
            <a:avLst/>
          </a:prstGeom>
          <a:noFill/>
        </p:spPr>
        <p:txBody>
          <a:bodyPr wrap="square" lIns="0" tIns="0" rIns="0" bIns="0" anchor="ctr">
            <a:spAutoFit/>
          </a:bodyPr>
          <a:lstStyle/>
          <a:p>
            <a:pPr algn="l">
              <a:lnSpc>
                <a:spcPts val="1092"/>
              </a:lnSpc>
            </a:pPr>
            <a:r>
              <a:rPr lang="es-CO" sz="1100" b="0" i="0">
                <a:solidFill>
                  <a:srgbClr val="E8EEF6"/>
                </a:solidFill>
                <a:latin typeface="Calibri"/>
              </a:rPr>
              <a:t>Un contacto</a:t>
            </a:r>
          </a:p>
        </p:txBody>
      </p:sp>
      <p:sp>
        <p:nvSpPr>
          <p:cNvPr id="23" name="TextBox 22"/>
          <p:cNvSpPr txBox="1"/>
          <p:nvPr/>
        </p:nvSpPr>
        <p:spPr>
          <a:xfrm>
            <a:off x="1819656" y="2623421"/>
            <a:ext cx="1371600" cy="148117"/>
          </a:xfrm>
          <a:prstGeom prst="rect">
            <a:avLst/>
          </a:prstGeom>
          <a:noFill/>
        </p:spPr>
        <p:txBody>
          <a:bodyPr wrap="square" lIns="0" tIns="0" rIns="0" bIns="0" anchor="ctr">
            <a:spAutoFit/>
          </a:bodyPr>
          <a:lstStyle/>
          <a:p>
            <a:pPr algn="l">
              <a:lnSpc>
                <a:spcPts val="1092"/>
              </a:lnSpc>
            </a:pPr>
            <a:r>
              <a:rPr lang="es-CO" sz="1100" b="0" i="0" dirty="0">
                <a:solidFill>
                  <a:srgbClr val="56C7F2"/>
                </a:solidFill>
                <a:latin typeface="Courier New"/>
              </a:rPr>
              <a:t>/api/contactos/1</a:t>
            </a:r>
          </a:p>
        </p:txBody>
      </p:sp>
      <p:sp>
        <p:nvSpPr>
          <p:cNvPr id="24" name="TextBox 23"/>
          <p:cNvSpPr txBox="1"/>
          <p:nvPr/>
        </p:nvSpPr>
        <p:spPr>
          <a:xfrm>
            <a:off x="3337560" y="2623422"/>
            <a:ext cx="585216" cy="148117"/>
          </a:xfrm>
          <a:prstGeom prst="rect">
            <a:avLst/>
          </a:prstGeom>
          <a:noFill/>
        </p:spPr>
        <p:txBody>
          <a:bodyPr wrap="square" lIns="0" tIns="0" rIns="0" bIns="0" anchor="ctr">
            <a:spAutoFit/>
          </a:bodyPr>
          <a:lstStyle/>
          <a:p>
            <a:pPr algn="l">
              <a:lnSpc>
                <a:spcPts val="1092"/>
              </a:lnSpc>
            </a:pPr>
            <a:r>
              <a:rPr lang="es-CO" sz="1100" b="0" i="0">
                <a:solidFill>
                  <a:srgbClr val="FFB86C"/>
                </a:solidFill>
                <a:latin typeface="Courier New"/>
              </a:rPr>
              <a:t>GET</a:t>
            </a:r>
          </a:p>
        </p:txBody>
      </p:sp>
      <p:sp>
        <p:nvSpPr>
          <p:cNvPr id="25" name="TextBox 24"/>
          <p:cNvSpPr txBox="1"/>
          <p:nvPr/>
        </p:nvSpPr>
        <p:spPr>
          <a:xfrm>
            <a:off x="4069079" y="2625954"/>
            <a:ext cx="1316736" cy="143052"/>
          </a:xfrm>
          <a:prstGeom prst="rect">
            <a:avLst/>
          </a:prstGeom>
          <a:noFill/>
        </p:spPr>
        <p:txBody>
          <a:bodyPr wrap="square" lIns="0" tIns="0" rIns="0" bIns="0" anchor="ctr">
            <a:spAutoFit/>
          </a:bodyPr>
          <a:lstStyle/>
          <a:p>
            <a:pPr algn="l">
              <a:lnSpc>
                <a:spcPts val="1092"/>
              </a:lnSpc>
            </a:pPr>
            <a:r>
              <a:rPr lang="es-CO" sz="1100" b="0" i="0">
                <a:solidFill>
                  <a:srgbClr val="E8EEF6"/>
                </a:solidFill>
                <a:latin typeface="Calibri"/>
              </a:rPr>
              <a:t>Consultar el contacto 1</a:t>
            </a:r>
          </a:p>
        </p:txBody>
      </p:sp>
      <p:sp>
        <p:nvSpPr>
          <p:cNvPr id="26" name="Rectangle 25"/>
          <p:cNvSpPr/>
          <p:nvPr/>
        </p:nvSpPr>
        <p:spPr>
          <a:xfrm>
            <a:off x="502920" y="2880360"/>
            <a:ext cx="4937760" cy="365760"/>
          </a:xfrm>
          <a:prstGeom prst="rect">
            <a:avLst/>
          </a:prstGeom>
          <a:solidFill>
            <a:srgbClr val="141D2B"/>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7" name="TextBox 26"/>
          <p:cNvSpPr txBox="1"/>
          <p:nvPr/>
        </p:nvSpPr>
        <p:spPr>
          <a:xfrm>
            <a:off x="594360" y="2991714"/>
            <a:ext cx="1179576" cy="143052"/>
          </a:xfrm>
          <a:prstGeom prst="rect">
            <a:avLst/>
          </a:prstGeom>
          <a:noFill/>
        </p:spPr>
        <p:txBody>
          <a:bodyPr wrap="square" lIns="0" tIns="0" rIns="0" bIns="0" anchor="ctr">
            <a:spAutoFit/>
          </a:bodyPr>
          <a:lstStyle/>
          <a:p>
            <a:pPr algn="l">
              <a:lnSpc>
                <a:spcPts val="1092"/>
              </a:lnSpc>
            </a:pPr>
            <a:r>
              <a:rPr lang="es-CO" sz="1100" b="0" i="0">
                <a:solidFill>
                  <a:srgbClr val="E8EEF6"/>
                </a:solidFill>
                <a:latin typeface="Calibri"/>
              </a:rPr>
              <a:t>Un contacto</a:t>
            </a:r>
          </a:p>
        </p:txBody>
      </p:sp>
      <p:sp>
        <p:nvSpPr>
          <p:cNvPr id="28" name="TextBox 27"/>
          <p:cNvSpPr txBox="1"/>
          <p:nvPr/>
        </p:nvSpPr>
        <p:spPr>
          <a:xfrm>
            <a:off x="1819656" y="2989181"/>
            <a:ext cx="1371600" cy="148117"/>
          </a:xfrm>
          <a:prstGeom prst="rect">
            <a:avLst/>
          </a:prstGeom>
          <a:noFill/>
        </p:spPr>
        <p:txBody>
          <a:bodyPr wrap="square" lIns="0" tIns="0" rIns="0" bIns="0" anchor="ctr">
            <a:spAutoFit/>
          </a:bodyPr>
          <a:lstStyle/>
          <a:p>
            <a:pPr algn="l">
              <a:lnSpc>
                <a:spcPts val="1092"/>
              </a:lnSpc>
            </a:pPr>
            <a:r>
              <a:rPr lang="es-CO" sz="1100" b="0" i="0" dirty="0">
                <a:solidFill>
                  <a:srgbClr val="56C7F2"/>
                </a:solidFill>
                <a:latin typeface="Courier New"/>
              </a:rPr>
              <a:t>/api/contactos/1</a:t>
            </a:r>
          </a:p>
        </p:txBody>
      </p:sp>
      <p:sp>
        <p:nvSpPr>
          <p:cNvPr id="29" name="TextBox 28"/>
          <p:cNvSpPr txBox="1"/>
          <p:nvPr/>
        </p:nvSpPr>
        <p:spPr>
          <a:xfrm>
            <a:off x="3337560" y="2989182"/>
            <a:ext cx="585216" cy="148117"/>
          </a:xfrm>
          <a:prstGeom prst="rect">
            <a:avLst/>
          </a:prstGeom>
          <a:noFill/>
        </p:spPr>
        <p:txBody>
          <a:bodyPr wrap="square" lIns="0" tIns="0" rIns="0" bIns="0" anchor="ctr">
            <a:spAutoFit/>
          </a:bodyPr>
          <a:lstStyle/>
          <a:p>
            <a:pPr algn="l">
              <a:lnSpc>
                <a:spcPts val="1092"/>
              </a:lnSpc>
            </a:pPr>
            <a:r>
              <a:rPr lang="es-CO" sz="1100" b="0" i="0">
                <a:solidFill>
                  <a:srgbClr val="FFB86C"/>
                </a:solidFill>
                <a:latin typeface="Courier New"/>
              </a:rPr>
              <a:t>DELETE</a:t>
            </a:r>
          </a:p>
        </p:txBody>
      </p:sp>
      <p:sp>
        <p:nvSpPr>
          <p:cNvPr id="30" name="TextBox 29"/>
          <p:cNvSpPr txBox="1"/>
          <p:nvPr/>
        </p:nvSpPr>
        <p:spPr>
          <a:xfrm>
            <a:off x="4069079" y="2991714"/>
            <a:ext cx="1316736" cy="143052"/>
          </a:xfrm>
          <a:prstGeom prst="rect">
            <a:avLst/>
          </a:prstGeom>
          <a:noFill/>
        </p:spPr>
        <p:txBody>
          <a:bodyPr wrap="square" lIns="0" tIns="0" rIns="0" bIns="0" anchor="ctr">
            <a:spAutoFit/>
          </a:bodyPr>
          <a:lstStyle/>
          <a:p>
            <a:pPr algn="l">
              <a:lnSpc>
                <a:spcPts val="1092"/>
              </a:lnSpc>
            </a:pPr>
            <a:r>
              <a:rPr lang="es-CO" sz="1100" b="0" i="0">
                <a:solidFill>
                  <a:srgbClr val="E8EEF6"/>
                </a:solidFill>
                <a:latin typeface="Calibri"/>
              </a:rPr>
              <a:t>Eliminar el contacto 1</a:t>
            </a:r>
          </a:p>
        </p:txBody>
      </p:sp>
      <p:sp>
        <p:nvSpPr>
          <p:cNvPr id="31" name="TextBox 30"/>
          <p:cNvSpPr txBox="1"/>
          <p:nvPr/>
        </p:nvSpPr>
        <p:spPr>
          <a:xfrm>
            <a:off x="502920" y="3300984"/>
            <a:ext cx="4937760" cy="169277"/>
          </a:xfrm>
          <a:prstGeom prst="rect">
            <a:avLst/>
          </a:prstGeom>
          <a:noFill/>
        </p:spPr>
        <p:txBody>
          <a:bodyPr wrap="square" lIns="0" tIns="0" rIns="0" bIns="0" anchor="t">
            <a:spAutoFit/>
          </a:bodyPr>
          <a:lstStyle/>
          <a:p>
            <a:pPr algn="l"/>
            <a:r>
              <a:rPr lang="es-CO" sz="1100" b="0" i="1">
                <a:solidFill>
                  <a:srgbClr val="6C7E96"/>
                </a:solidFill>
                <a:latin typeface="Calibri"/>
              </a:rPr>
              <a:t>Filas 2 a 4: ejemplos ilustrativos de diseño; no se implementan hoy.</a:t>
            </a:r>
          </a:p>
        </p:txBody>
      </p:sp>
      <p:sp>
        <p:nvSpPr>
          <p:cNvPr id="32" name="Rounded Rectangle 31"/>
          <p:cNvSpPr/>
          <p:nvPr/>
        </p:nvSpPr>
        <p:spPr>
          <a:xfrm>
            <a:off x="5623560" y="1417320"/>
            <a:ext cx="3017520" cy="2231136"/>
          </a:xfrm>
          <a:prstGeom prst="roundRect">
            <a:avLst>
              <a:gd name="adj" fmla="val 3278"/>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3" name="TextBox 32"/>
          <p:cNvSpPr txBox="1"/>
          <p:nvPr/>
        </p:nvSpPr>
        <p:spPr>
          <a:xfrm>
            <a:off x="5760720" y="1515562"/>
            <a:ext cx="2743200" cy="169277"/>
          </a:xfrm>
          <a:prstGeom prst="rect">
            <a:avLst/>
          </a:prstGeom>
          <a:noFill/>
        </p:spPr>
        <p:txBody>
          <a:bodyPr wrap="square" lIns="0" tIns="0" rIns="0" bIns="0" anchor="ctr">
            <a:spAutoFit/>
          </a:bodyPr>
          <a:lstStyle/>
          <a:p>
            <a:pPr algn="l"/>
            <a:r>
              <a:rPr lang="es-CO" sz="1100" b="1" i="0">
                <a:solidFill>
                  <a:srgbClr val="56C7F2"/>
                </a:solidFill>
                <a:latin typeface="Arial"/>
              </a:rPr>
              <a:t>Restricciones del estilo REST</a:t>
            </a:r>
          </a:p>
        </p:txBody>
      </p:sp>
      <p:sp>
        <p:nvSpPr>
          <p:cNvPr id="34" name="TextBox 33"/>
          <p:cNvSpPr txBox="1"/>
          <p:nvPr/>
        </p:nvSpPr>
        <p:spPr>
          <a:xfrm>
            <a:off x="5760720" y="1773936"/>
            <a:ext cx="2788920" cy="1415644"/>
          </a:xfrm>
          <a:prstGeom prst="rect">
            <a:avLst/>
          </a:prstGeom>
          <a:noFill/>
        </p:spPr>
        <p:txBody>
          <a:bodyPr wrap="square" lIns="0" tIns="0" rIns="0" bIns="0" anchor="t">
            <a:spAutoFit/>
          </a:bodyPr>
          <a:lstStyle/>
          <a:p>
            <a:pPr algn="l">
              <a:lnSpc>
                <a:spcPts val="1250"/>
              </a:lnSpc>
              <a:spcAft>
                <a:spcPts val="350"/>
              </a:spcAft>
            </a:pPr>
            <a:r>
              <a:rPr lang="es-CO" sz="1100" b="1" i="0">
                <a:solidFill>
                  <a:srgbClr val="56C7F2"/>
                </a:solidFill>
                <a:latin typeface="Calibri"/>
              </a:rPr>
              <a:t>·  </a:t>
            </a:r>
            <a:r>
              <a:rPr lang="es-CO" sz="1100" b="0" i="0">
                <a:solidFill>
                  <a:srgbClr val="E8EEF6"/>
                </a:solidFill>
                <a:latin typeface="Calibri"/>
              </a:rPr>
              <a:t>Cliente-servidor</a:t>
            </a:r>
          </a:p>
          <a:p>
            <a:pPr algn="l">
              <a:lnSpc>
                <a:spcPts val="1250"/>
              </a:lnSpc>
              <a:spcAft>
                <a:spcPts val="350"/>
              </a:spcAft>
            </a:pPr>
            <a:r>
              <a:rPr lang="es-CO" sz="1100" b="1" i="0">
                <a:solidFill>
                  <a:srgbClr val="56C7F2"/>
                </a:solidFill>
                <a:latin typeface="Calibri"/>
              </a:rPr>
              <a:t>·  </a:t>
            </a:r>
            <a:r>
              <a:rPr lang="es-CO" sz="1100" b="0" i="0">
                <a:solidFill>
                  <a:srgbClr val="E8EEF6"/>
                </a:solidFill>
                <a:latin typeface="Calibri"/>
              </a:rPr>
              <a:t>Sin estado entre solicitudes</a:t>
            </a:r>
          </a:p>
          <a:p>
            <a:pPr algn="l">
              <a:lnSpc>
                <a:spcPts val="1250"/>
              </a:lnSpc>
              <a:spcAft>
                <a:spcPts val="350"/>
              </a:spcAft>
            </a:pPr>
            <a:r>
              <a:rPr lang="es-CO" sz="1100" b="1" i="0">
                <a:solidFill>
                  <a:srgbClr val="56C7F2"/>
                </a:solidFill>
                <a:latin typeface="Calibri"/>
              </a:rPr>
              <a:t>·  </a:t>
            </a:r>
            <a:r>
              <a:rPr lang="es-CO" sz="1100" b="0" i="0">
                <a:solidFill>
                  <a:srgbClr val="E8EEF6"/>
                </a:solidFill>
                <a:latin typeface="Calibri"/>
              </a:rPr>
              <a:t>Respuestas que indican si se pueden guardar en caché</a:t>
            </a:r>
          </a:p>
          <a:p>
            <a:pPr algn="l">
              <a:lnSpc>
                <a:spcPts val="1250"/>
              </a:lnSpc>
              <a:spcAft>
                <a:spcPts val="350"/>
              </a:spcAft>
            </a:pPr>
            <a:r>
              <a:rPr lang="es-CO" sz="1100" b="1" i="0">
                <a:solidFill>
                  <a:srgbClr val="56C7F2"/>
                </a:solidFill>
                <a:latin typeface="Calibri"/>
              </a:rPr>
              <a:t>·  </a:t>
            </a:r>
            <a:r>
              <a:rPr lang="es-CO" sz="1100" b="0" i="0">
                <a:solidFill>
                  <a:srgbClr val="E8EEF6"/>
                </a:solidFill>
                <a:latin typeface="Calibri"/>
              </a:rPr>
              <a:t>Interfaz uniforme</a:t>
            </a:r>
          </a:p>
          <a:p>
            <a:pPr algn="l">
              <a:lnSpc>
                <a:spcPts val="1250"/>
              </a:lnSpc>
              <a:spcAft>
                <a:spcPts val="350"/>
              </a:spcAft>
            </a:pPr>
            <a:r>
              <a:rPr lang="es-CO" sz="1100" b="1" i="0">
                <a:solidFill>
                  <a:srgbClr val="56C7F2"/>
                </a:solidFill>
                <a:latin typeface="Calibri"/>
              </a:rPr>
              <a:t>·  </a:t>
            </a:r>
            <a:r>
              <a:rPr lang="es-CO" sz="1100" b="0" i="0">
                <a:solidFill>
                  <a:srgbClr val="E8EEF6"/>
                </a:solidFill>
                <a:latin typeface="Calibri"/>
              </a:rPr>
              <a:t>Sistema en capas</a:t>
            </a:r>
          </a:p>
          <a:p>
            <a:pPr algn="l">
              <a:lnSpc>
                <a:spcPts val="1250"/>
              </a:lnSpc>
              <a:spcAft>
                <a:spcPts val="350"/>
              </a:spcAft>
            </a:pPr>
            <a:r>
              <a:rPr lang="es-CO" sz="1100" b="1" i="0">
                <a:solidFill>
                  <a:srgbClr val="56C7F2"/>
                </a:solidFill>
                <a:latin typeface="Calibri"/>
              </a:rPr>
              <a:t>·  </a:t>
            </a:r>
            <a:r>
              <a:rPr lang="es-CO" sz="1100" b="0" i="0">
                <a:solidFill>
                  <a:srgbClr val="E8EEF6"/>
                </a:solidFill>
                <a:latin typeface="Calibri"/>
              </a:rPr>
              <a:t>Código bajo demanda (opcional)</a:t>
            </a:r>
          </a:p>
        </p:txBody>
      </p:sp>
      <p:sp>
        <p:nvSpPr>
          <p:cNvPr id="35" name="Rounded Rectangle 34"/>
          <p:cNvSpPr/>
          <p:nvPr/>
        </p:nvSpPr>
        <p:spPr>
          <a:xfrm>
            <a:off x="502920" y="3767328"/>
            <a:ext cx="8138160" cy="512064"/>
          </a:xfrm>
          <a:prstGeom prst="roundRect">
            <a:avLst>
              <a:gd name="adj" fmla="val 14285"/>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36" name="TextBox 35"/>
          <p:cNvSpPr txBox="1"/>
          <p:nvPr/>
        </p:nvSpPr>
        <p:spPr>
          <a:xfrm>
            <a:off x="685800" y="3856648"/>
            <a:ext cx="7772400" cy="333425"/>
          </a:xfrm>
          <a:prstGeom prst="rect">
            <a:avLst/>
          </a:prstGeom>
          <a:noFill/>
        </p:spPr>
        <p:txBody>
          <a:bodyPr wrap="square" lIns="0" tIns="0" rIns="0" bIns="0" anchor="ctr">
            <a:spAutoFit/>
          </a:bodyPr>
          <a:lstStyle/>
          <a:p>
            <a:pPr algn="l">
              <a:lnSpc>
                <a:spcPts val="1250"/>
              </a:lnSpc>
            </a:pPr>
            <a:r>
              <a:rPr lang="es-CO" sz="1100" b="1" i="0" dirty="0">
                <a:solidFill>
                  <a:srgbClr val="FFB86C"/>
                </a:solidFill>
                <a:latin typeface="Arial"/>
              </a:rPr>
              <a:t>Precisión  </a:t>
            </a:r>
            <a:r>
              <a:rPr lang="es-CO" sz="1100" b="0" i="0" dirty="0">
                <a:solidFill>
                  <a:srgbClr val="E8EEF6"/>
                </a:solidFill>
                <a:latin typeface="Calibri"/>
              </a:rPr>
              <a:t>REST admite distintos formatos; JSON es frecuente. Una ruta que devuelve JSON, por sí sola, no demuestra que se cumplan todas las restricciones de REST.</a:t>
            </a:r>
          </a:p>
        </p:txBody>
      </p:sp>
      <p:sp>
        <p:nvSpPr>
          <p:cNvPr id="37" name="TextBox 36"/>
          <p:cNvSpPr txBox="1"/>
          <p:nvPr/>
        </p:nvSpPr>
        <p:spPr>
          <a:xfrm>
            <a:off x="502920" y="4395922"/>
            <a:ext cx="8138160" cy="169277"/>
          </a:xfrm>
          <a:prstGeom prst="rect">
            <a:avLst/>
          </a:prstGeom>
          <a:noFill/>
        </p:spPr>
        <p:txBody>
          <a:bodyPr wrap="square" lIns="0" tIns="0" rIns="0" bIns="0" anchor="ctr">
            <a:spAutoFit/>
          </a:bodyPr>
          <a:lstStyle/>
          <a:p>
            <a:pPr algn="l"/>
            <a:r>
              <a:rPr lang="es-CO" sz="1100" b="0" i="1">
                <a:solidFill>
                  <a:srgbClr val="93A5BD"/>
                </a:solidFill>
                <a:latin typeface="Calibri"/>
              </a:rPr>
              <a:t>En el laboratorio, GET /api/contactos sirve como introducción práctica a REST.</a:t>
            </a:r>
          </a:p>
        </p:txBody>
      </p:sp>
      <p:sp>
        <p:nvSpPr>
          <p:cNvPr id="38" name="TextBox 37"/>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09 / 24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SOAP: un mensaje XML con Envelope y Body</a:t>
            </a:r>
          </a:p>
        </p:txBody>
      </p:sp>
      <p:sp>
        <p:nvSpPr>
          <p:cNvPr id="5" name="TextBox 4"/>
          <p:cNvSpPr txBox="1"/>
          <p:nvPr/>
        </p:nvSpPr>
        <p:spPr>
          <a:xfrm>
            <a:off x="475488" y="1078992"/>
            <a:ext cx="8138160" cy="169277"/>
          </a:xfrm>
          <a:prstGeom prst="rect">
            <a:avLst/>
          </a:prstGeom>
          <a:noFill/>
        </p:spPr>
        <p:txBody>
          <a:bodyPr wrap="square" lIns="0" tIns="0" rIns="0" bIns="0" anchor="t">
            <a:spAutoFit/>
          </a:bodyPr>
          <a:lstStyle/>
          <a:p>
            <a:pPr algn="l"/>
            <a:r>
              <a:rPr lang="es-CO" sz="1100" b="1" i="0" dirty="0">
                <a:solidFill>
                  <a:srgbClr val="3DDC97"/>
                </a:solidFill>
                <a:latin typeface="Calibri"/>
              </a:rPr>
              <a:t>SOAP</a:t>
            </a:r>
            <a:r>
              <a:rPr lang="es-CO" sz="1100" b="0" i="0" dirty="0">
                <a:solidFill>
                  <a:srgbClr val="E8EEF6"/>
                </a:solidFill>
                <a:latin typeface="Calibri"/>
              </a:rPr>
              <a:t> es un protocolo de mensajería basado en XML para intercambiar </a:t>
            </a:r>
            <a:r>
              <a:rPr lang="es-CO" sz="1100" b="0" i="0" dirty="0" err="1">
                <a:solidFill>
                  <a:srgbClr val="E8EEF6"/>
                </a:solidFill>
                <a:latin typeface="Calibri"/>
              </a:rPr>
              <a:t>informació</a:t>
            </a:r>
            <a:r>
              <a:rPr lang="es-CO" sz="1100" b="0" i="0" dirty="0">
                <a:solidFill>
                  <a:srgbClr val="E8EEF6"/>
                </a:solidFill>
                <a:latin typeface="Calibri"/>
              </a:rPr>
              <a:t>.</a:t>
            </a:r>
          </a:p>
        </p:txBody>
      </p:sp>
      <p:sp>
        <p:nvSpPr>
          <p:cNvPr id="6" name="Rounded Rectangle 5"/>
          <p:cNvSpPr/>
          <p:nvPr/>
        </p:nvSpPr>
        <p:spPr>
          <a:xfrm>
            <a:off x="502919" y="1417320"/>
            <a:ext cx="1802129"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TextBox 6"/>
          <p:cNvSpPr txBox="1"/>
          <p:nvPr/>
        </p:nvSpPr>
        <p:spPr>
          <a:xfrm>
            <a:off x="542924" y="1424121"/>
            <a:ext cx="1762125" cy="169277"/>
          </a:xfrm>
          <a:prstGeom prst="rect">
            <a:avLst/>
          </a:prstGeom>
          <a:noFill/>
        </p:spPr>
        <p:txBody>
          <a:bodyPr wrap="square" lIns="0" tIns="0" rIns="0" bIns="0" anchor="ctr">
            <a:spAutoFit/>
          </a:bodyPr>
          <a:lstStyle/>
          <a:p>
            <a:pPr algn="ctr"/>
            <a:r>
              <a:rPr lang="es-CO" sz="1100" b="1" i="0">
                <a:solidFill>
                  <a:srgbClr val="56C7F2"/>
                </a:solidFill>
                <a:latin typeface="Arial"/>
              </a:rPr>
              <a:t>EJEMPLO ILUSTRATIVO</a:t>
            </a:r>
          </a:p>
        </p:txBody>
      </p:sp>
      <p:sp>
        <p:nvSpPr>
          <p:cNvPr id="8" name="Rounded Rectangle 7"/>
          <p:cNvSpPr/>
          <p:nvPr/>
        </p:nvSpPr>
        <p:spPr>
          <a:xfrm>
            <a:off x="502920" y="1664208"/>
            <a:ext cx="4754880" cy="2011680"/>
          </a:xfrm>
          <a:prstGeom prst="roundRect">
            <a:avLst>
              <a:gd name="adj" fmla="val 3636"/>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9" name="TextBox 8"/>
          <p:cNvSpPr txBox="1"/>
          <p:nvPr/>
        </p:nvSpPr>
        <p:spPr>
          <a:xfrm>
            <a:off x="649224" y="1735017"/>
            <a:ext cx="4462272" cy="169277"/>
          </a:xfrm>
          <a:prstGeom prst="rect">
            <a:avLst/>
          </a:prstGeom>
          <a:noFill/>
        </p:spPr>
        <p:txBody>
          <a:bodyPr wrap="square" lIns="0" tIns="0" rIns="0" bIns="0" anchor="ctr">
            <a:spAutoFit/>
          </a:bodyPr>
          <a:lstStyle/>
          <a:p>
            <a:pPr algn="l"/>
            <a:r>
              <a:rPr lang="es-CO" sz="1100" b="1" i="0" dirty="0">
                <a:solidFill>
                  <a:srgbClr val="3DDC97"/>
                </a:solidFill>
                <a:latin typeface="Courier New"/>
              </a:rPr>
              <a:t>solicitud SOAP 1.2</a:t>
            </a:r>
          </a:p>
        </p:txBody>
      </p:sp>
      <p:sp>
        <p:nvSpPr>
          <p:cNvPr id="10" name="TextBox 9"/>
          <p:cNvSpPr txBox="1"/>
          <p:nvPr/>
        </p:nvSpPr>
        <p:spPr>
          <a:xfrm>
            <a:off x="649224" y="1956816"/>
            <a:ext cx="4462272" cy="1388842"/>
          </a:xfrm>
          <a:prstGeom prst="rect">
            <a:avLst/>
          </a:prstGeom>
          <a:noFill/>
        </p:spPr>
        <p:txBody>
          <a:bodyPr wrap="square" lIns="0" tIns="0" rIns="0" bIns="0" anchor="t">
            <a:spAutoFit/>
          </a:bodyPr>
          <a:lstStyle/>
          <a:p>
            <a:pPr algn="l">
              <a:lnSpc>
                <a:spcPts val="1170"/>
              </a:lnSpc>
            </a:pPr>
            <a:r>
              <a:rPr lang="es-CO" sz="1100" b="0" i="0" dirty="0">
                <a:solidFill>
                  <a:srgbClr val="56C7F2"/>
                </a:solidFill>
                <a:latin typeface="Courier New"/>
              </a:rPr>
              <a:t>&lt;</a:t>
            </a:r>
            <a:r>
              <a:rPr lang="es-CO" sz="1100" b="0" i="0" dirty="0" err="1">
                <a:solidFill>
                  <a:srgbClr val="56C7F2"/>
                </a:solidFill>
                <a:latin typeface="Courier New"/>
              </a:rPr>
              <a:t>env:Envelope</a:t>
            </a:r>
            <a:endParaRPr lang="es-CO" sz="1100" b="0" i="0" dirty="0">
              <a:solidFill>
                <a:srgbClr val="56C7F2"/>
              </a:solidFill>
              <a:latin typeface="Courier New"/>
            </a:endParaRPr>
          </a:p>
          <a:p>
            <a:pPr algn="l">
              <a:lnSpc>
                <a:spcPts val="1170"/>
              </a:lnSpc>
            </a:pPr>
            <a:r>
              <a:rPr lang="es-CO" sz="1100" b="0" i="0" dirty="0">
                <a:solidFill>
                  <a:srgbClr val="D7E1EE"/>
                </a:solidFill>
                <a:latin typeface="Courier New"/>
              </a:rPr>
              <a:t>    </a:t>
            </a:r>
            <a:r>
              <a:rPr lang="es-CO" sz="1100" b="0" i="0" dirty="0" err="1">
                <a:solidFill>
                  <a:srgbClr val="3DDC97"/>
                </a:solidFill>
                <a:latin typeface="Courier New"/>
              </a:rPr>
              <a:t>xmlns:env</a:t>
            </a:r>
            <a:r>
              <a:rPr lang="es-CO" sz="1100" b="0" i="0" dirty="0">
                <a:solidFill>
                  <a:srgbClr val="56C7F2"/>
                </a:solidFill>
                <a:latin typeface="Courier New"/>
              </a:rPr>
              <a:t>=</a:t>
            </a:r>
            <a:r>
              <a:rPr lang="es-CO" sz="1100" b="0" i="0" dirty="0">
                <a:solidFill>
                  <a:srgbClr val="FFD479"/>
                </a:solidFill>
                <a:latin typeface="Courier New"/>
              </a:rPr>
              <a:t>"http://www.w3.org/2003/05/soap-envelope"</a:t>
            </a:r>
            <a:r>
              <a:rPr lang="es-CO" sz="1100" b="0" i="0" dirty="0">
                <a:solidFill>
                  <a:srgbClr val="56C7F2"/>
                </a:solidFill>
                <a:latin typeface="Courier New"/>
              </a:rPr>
              <a:t>&gt;</a:t>
            </a:r>
          </a:p>
          <a:p>
            <a:pPr algn="l">
              <a:lnSpc>
                <a:spcPts val="1170"/>
              </a:lnSpc>
            </a:pPr>
            <a:r>
              <a:rPr lang="es-CO" sz="1100" b="0" i="0" dirty="0">
                <a:solidFill>
                  <a:srgbClr val="D7E1EE"/>
                </a:solidFill>
                <a:latin typeface="Courier New"/>
              </a:rPr>
              <a:t>  </a:t>
            </a:r>
            <a:r>
              <a:rPr lang="es-CO" sz="1100" b="0" i="0" dirty="0">
                <a:solidFill>
                  <a:srgbClr val="56C7F2"/>
                </a:solidFill>
                <a:latin typeface="Courier New"/>
              </a:rPr>
              <a:t>&lt;</a:t>
            </a:r>
            <a:r>
              <a:rPr lang="es-CO" sz="1100" b="0" i="0" dirty="0" err="1">
                <a:solidFill>
                  <a:srgbClr val="56C7F2"/>
                </a:solidFill>
                <a:latin typeface="Courier New"/>
              </a:rPr>
              <a:t>env:Header</a:t>
            </a:r>
            <a:r>
              <a:rPr lang="es-CO" sz="1100" b="0" i="0" dirty="0">
                <a:solidFill>
                  <a:srgbClr val="56C7F2"/>
                </a:solidFill>
                <a:latin typeface="Courier New"/>
              </a:rPr>
              <a:t>/&gt;</a:t>
            </a:r>
          </a:p>
          <a:p>
            <a:pPr algn="l">
              <a:lnSpc>
                <a:spcPts val="1170"/>
              </a:lnSpc>
            </a:pPr>
            <a:r>
              <a:rPr lang="es-CO" sz="1100" b="0" i="0" dirty="0">
                <a:solidFill>
                  <a:srgbClr val="D7E1EE"/>
                </a:solidFill>
                <a:latin typeface="Courier New"/>
              </a:rPr>
              <a:t>  </a:t>
            </a:r>
            <a:r>
              <a:rPr lang="es-CO" sz="1100" b="0" i="0" dirty="0">
                <a:solidFill>
                  <a:srgbClr val="56C7F2"/>
                </a:solidFill>
                <a:latin typeface="Courier New"/>
              </a:rPr>
              <a:t>&lt;</a:t>
            </a:r>
            <a:r>
              <a:rPr lang="es-CO" sz="1100" b="0" i="0" dirty="0" err="1">
                <a:solidFill>
                  <a:srgbClr val="56C7F2"/>
                </a:solidFill>
                <a:latin typeface="Courier New"/>
              </a:rPr>
              <a:t>env:Body</a:t>
            </a:r>
            <a:r>
              <a:rPr lang="es-CO" sz="1100" b="0" i="0" dirty="0">
                <a:solidFill>
                  <a:srgbClr val="56C7F2"/>
                </a:solidFill>
                <a:latin typeface="Courier New"/>
              </a:rPr>
              <a:t>&gt;</a:t>
            </a:r>
          </a:p>
          <a:p>
            <a:pPr algn="l">
              <a:lnSpc>
                <a:spcPts val="1170"/>
              </a:lnSpc>
            </a:pPr>
            <a:r>
              <a:rPr lang="es-CO" sz="1100" b="0" i="0" dirty="0">
                <a:solidFill>
                  <a:srgbClr val="D7E1EE"/>
                </a:solidFill>
                <a:latin typeface="Courier New"/>
              </a:rPr>
              <a:t>    </a:t>
            </a:r>
            <a:r>
              <a:rPr lang="es-CO" sz="1100" b="0" i="0" dirty="0">
                <a:solidFill>
                  <a:srgbClr val="56C7F2"/>
                </a:solidFill>
                <a:latin typeface="Courier New"/>
              </a:rPr>
              <a:t>&lt;</a:t>
            </a:r>
            <a:r>
              <a:rPr lang="es-CO" sz="1100" b="0" i="0" dirty="0" err="1">
                <a:solidFill>
                  <a:srgbClr val="56C7F2"/>
                </a:solidFill>
                <a:latin typeface="Courier New"/>
              </a:rPr>
              <a:t>c:consultarContactos</a:t>
            </a:r>
            <a:endParaRPr lang="es-CO" sz="1100" b="0" i="0" dirty="0">
              <a:solidFill>
                <a:srgbClr val="56C7F2"/>
              </a:solidFill>
              <a:latin typeface="Courier New"/>
            </a:endParaRPr>
          </a:p>
          <a:p>
            <a:pPr algn="l">
              <a:lnSpc>
                <a:spcPts val="1170"/>
              </a:lnSpc>
            </a:pPr>
            <a:r>
              <a:rPr lang="es-CO" sz="1100" b="0" i="0" dirty="0">
                <a:solidFill>
                  <a:srgbClr val="D7E1EE"/>
                </a:solidFill>
                <a:latin typeface="Courier New"/>
              </a:rPr>
              <a:t>        </a:t>
            </a:r>
            <a:r>
              <a:rPr lang="es-CO" sz="1100" b="0" i="0" dirty="0" err="1">
                <a:solidFill>
                  <a:srgbClr val="3DDC97"/>
                </a:solidFill>
                <a:latin typeface="Courier New"/>
              </a:rPr>
              <a:t>xmlns:c</a:t>
            </a:r>
            <a:r>
              <a:rPr lang="es-CO" sz="1100" b="0" i="0" dirty="0">
                <a:solidFill>
                  <a:srgbClr val="56C7F2"/>
                </a:solidFill>
                <a:latin typeface="Courier New"/>
              </a:rPr>
              <a:t>=</a:t>
            </a:r>
            <a:r>
              <a:rPr lang="es-CO" sz="1100" b="0" i="0" dirty="0">
                <a:solidFill>
                  <a:srgbClr val="FFD479"/>
                </a:solidFill>
                <a:latin typeface="Courier New"/>
              </a:rPr>
              <a:t>"http://example.com/contactos"</a:t>
            </a:r>
            <a:r>
              <a:rPr lang="es-CO" sz="1100" b="0" i="0" dirty="0">
                <a:solidFill>
                  <a:srgbClr val="56C7F2"/>
                </a:solidFill>
                <a:latin typeface="Courier New"/>
              </a:rPr>
              <a:t>/&gt;</a:t>
            </a:r>
          </a:p>
          <a:p>
            <a:pPr algn="l">
              <a:lnSpc>
                <a:spcPts val="1170"/>
              </a:lnSpc>
            </a:pPr>
            <a:r>
              <a:rPr lang="es-CO" sz="1100" b="0" i="0" dirty="0">
                <a:solidFill>
                  <a:srgbClr val="D7E1EE"/>
                </a:solidFill>
                <a:latin typeface="Courier New"/>
              </a:rPr>
              <a:t>  </a:t>
            </a:r>
            <a:r>
              <a:rPr lang="es-CO" sz="1100" b="0" i="0" dirty="0">
                <a:solidFill>
                  <a:srgbClr val="56C7F2"/>
                </a:solidFill>
                <a:latin typeface="Courier New"/>
              </a:rPr>
              <a:t>&lt;/</a:t>
            </a:r>
            <a:r>
              <a:rPr lang="es-CO" sz="1100" b="0" i="0" dirty="0" err="1">
                <a:solidFill>
                  <a:srgbClr val="56C7F2"/>
                </a:solidFill>
                <a:latin typeface="Courier New"/>
              </a:rPr>
              <a:t>env:Body</a:t>
            </a:r>
            <a:r>
              <a:rPr lang="es-CO" sz="1100" b="0" i="0" dirty="0">
                <a:solidFill>
                  <a:srgbClr val="56C7F2"/>
                </a:solidFill>
                <a:latin typeface="Courier New"/>
              </a:rPr>
              <a:t>&gt;</a:t>
            </a:r>
          </a:p>
          <a:p>
            <a:pPr algn="l">
              <a:lnSpc>
                <a:spcPts val="1170"/>
              </a:lnSpc>
            </a:pPr>
            <a:r>
              <a:rPr lang="es-CO" sz="1100" b="0" i="0" dirty="0">
                <a:solidFill>
                  <a:srgbClr val="56C7F2"/>
                </a:solidFill>
                <a:latin typeface="Courier New"/>
              </a:rPr>
              <a:t>&lt;/</a:t>
            </a:r>
            <a:r>
              <a:rPr lang="es-CO" sz="1100" b="0" i="0" dirty="0" err="1">
                <a:solidFill>
                  <a:srgbClr val="56C7F2"/>
                </a:solidFill>
                <a:latin typeface="Courier New"/>
              </a:rPr>
              <a:t>env:Envelope</a:t>
            </a:r>
            <a:r>
              <a:rPr lang="es-CO" sz="1100" b="0" i="0" dirty="0">
                <a:solidFill>
                  <a:srgbClr val="56C7F2"/>
                </a:solidFill>
                <a:latin typeface="Courier New"/>
              </a:rPr>
              <a:t>&gt;</a:t>
            </a:r>
          </a:p>
        </p:txBody>
      </p:sp>
      <p:sp>
        <p:nvSpPr>
          <p:cNvPr id="11" name="Rounded Rectangle 10"/>
          <p:cNvSpPr/>
          <p:nvPr/>
        </p:nvSpPr>
        <p:spPr>
          <a:xfrm>
            <a:off x="5394960" y="1664208"/>
            <a:ext cx="3246120" cy="429768"/>
          </a:xfrm>
          <a:prstGeom prst="roundRect">
            <a:avLst>
              <a:gd name="adj" fmla="val 17021"/>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TextBox 11"/>
          <p:cNvSpPr txBox="1"/>
          <p:nvPr/>
        </p:nvSpPr>
        <p:spPr>
          <a:xfrm>
            <a:off x="5522976" y="1794453"/>
            <a:ext cx="777240" cy="169277"/>
          </a:xfrm>
          <a:prstGeom prst="rect">
            <a:avLst/>
          </a:prstGeom>
          <a:noFill/>
        </p:spPr>
        <p:txBody>
          <a:bodyPr wrap="square" lIns="0" tIns="0" rIns="0" bIns="0" anchor="ctr">
            <a:spAutoFit/>
          </a:bodyPr>
          <a:lstStyle/>
          <a:p>
            <a:pPr algn="l"/>
            <a:r>
              <a:rPr lang="es-CO" sz="1100" b="1" i="0">
                <a:solidFill>
                  <a:srgbClr val="3DDC97"/>
                </a:solidFill>
                <a:latin typeface="Courier New"/>
              </a:rPr>
              <a:t>Envelope</a:t>
            </a:r>
          </a:p>
        </p:txBody>
      </p:sp>
      <p:sp>
        <p:nvSpPr>
          <p:cNvPr id="13" name="TextBox 12"/>
          <p:cNvSpPr txBox="1"/>
          <p:nvPr/>
        </p:nvSpPr>
        <p:spPr>
          <a:xfrm>
            <a:off x="6373368" y="1737033"/>
            <a:ext cx="2139696" cy="284117"/>
          </a:xfrm>
          <a:prstGeom prst="rect">
            <a:avLst/>
          </a:prstGeom>
          <a:noFill/>
        </p:spPr>
        <p:txBody>
          <a:bodyPr wrap="square" lIns="0" tIns="0" rIns="0" bIns="0" anchor="ctr">
            <a:spAutoFit/>
          </a:bodyPr>
          <a:lstStyle/>
          <a:p>
            <a:pPr algn="l">
              <a:lnSpc>
                <a:spcPts val="1057"/>
              </a:lnSpc>
            </a:pPr>
            <a:r>
              <a:rPr lang="es-CO" sz="1100" b="0" i="0">
                <a:solidFill>
                  <a:srgbClr val="E8EEF6"/>
                </a:solidFill>
                <a:latin typeface="Calibri"/>
              </a:rPr>
              <a:t>Elemento raíz obligatorio del mensaje.</a:t>
            </a:r>
          </a:p>
        </p:txBody>
      </p:sp>
      <p:sp>
        <p:nvSpPr>
          <p:cNvPr id="14" name="Rounded Rectangle 13"/>
          <p:cNvSpPr/>
          <p:nvPr/>
        </p:nvSpPr>
        <p:spPr>
          <a:xfrm>
            <a:off x="5394960" y="2191816"/>
            <a:ext cx="3246120" cy="429768"/>
          </a:xfrm>
          <a:prstGeom prst="roundRect">
            <a:avLst>
              <a:gd name="adj" fmla="val 17021"/>
            </a:avLst>
          </a:prstGeom>
          <a:solidFill>
            <a:srgbClr val="1A2434"/>
          </a:solidFill>
          <a:ln w="12700">
            <a:solidFill>
              <a:srgbClr val="6C7E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5" name="TextBox 14"/>
          <p:cNvSpPr txBox="1"/>
          <p:nvPr/>
        </p:nvSpPr>
        <p:spPr>
          <a:xfrm>
            <a:off x="5522976" y="2322061"/>
            <a:ext cx="777240" cy="169277"/>
          </a:xfrm>
          <a:prstGeom prst="rect">
            <a:avLst/>
          </a:prstGeom>
          <a:noFill/>
        </p:spPr>
        <p:txBody>
          <a:bodyPr wrap="square" lIns="0" tIns="0" rIns="0" bIns="0" anchor="ctr">
            <a:spAutoFit/>
          </a:bodyPr>
          <a:lstStyle/>
          <a:p>
            <a:pPr algn="l"/>
            <a:r>
              <a:rPr lang="es-CO" sz="1100" b="1" i="0">
                <a:solidFill>
                  <a:srgbClr val="6C7E96"/>
                </a:solidFill>
                <a:latin typeface="Courier New"/>
              </a:rPr>
              <a:t>Header</a:t>
            </a:r>
          </a:p>
        </p:txBody>
      </p:sp>
      <p:sp>
        <p:nvSpPr>
          <p:cNvPr id="16" name="TextBox 15"/>
          <p:cNvSpPr txBox="1"/>
          <p:nvPr/>
        </p:nvSpPr>
        <p:spPr>
          <a:xfrm>
            <a:off x="6373368" y="2264641"/>
            <a:ext cx="2139696" cy="284117"/>
          </a:xfrm>
          <a:prstGeom prst="rect">
            <a:avLst/>
          </a:prstGeom>
          <a:noFill/>
        </p:spPr>
        <p:txBody>
          <a:bodyPr wrap="square" lIns="0" tIns="0" rIns="0" bIns="0" anchor="ctr">
            <a:spAutoFit/>
          </a:bodyPr>
          <a:lstStyle/>
          <a:p>
            <a:pPr algn="l">
              <a:lnSpc>
                <a:spcPts val="1057"/>
              </a:lnSpc>
            </a:pPr>
            <a:r>
              <a:rPr lang="es-CO" sz="1100" b="0" i="0">
                <a:solidFill>
                  <a:srgbClr val="E8EEF6"/>
                </a:solidFill>
                <a:latin typeface="Calibri"/>
              </a:rPr>
              <a:t>Opcional: datos adicionales para el procesamiento.</a:t>
            </a:r>
          </a:p>
        </p:txBody>
      </p:sp>
      <p:sp>
        <p:nvSpPr>
          <p:cNvPr id="17" name="Rounded Rectangle 16"/>
          <p:cNvSpPr/>
          <p:nvPr/>
        </p:nvSpPr>
        <p:spPr>
          <a:xfrm>
            <a:off x="5394960" y="2719425"/>
            <a:ext cx="3246120" cy="429768"/>
          </a:xfrm>
          <a:prstGeom prst="roundRect">
            <a:avLst>
              <a:gd name="adj" fmla="val 17021"/>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8" name="TextBox 17"/>
          <p:cNvSpPr txBox="1"/>
          <p:nvPr/>
        </p:nvSpPr>
        <p:spPr>
          <a:xfrm>
            <a:off x="5522976" y="2849670"/>
            <a:ext cx="777240" cy="169277"/>
          </a:xfrm>
          <a:prstGeom prst="rect">
            <a:avLst/>
          </a:prstGeom>
          <a:noFill/>
        </p:spPr>
        <p:txBody>
          <a:bodyPr wrap="square" lIns="0" tIns="0" rIns="0" bIns="0" anchor="ctr">
            <a:spAutoFit/>
          </a:bodyPr>
          <a:lstStyle/>
          <a:p>
            <a:pPr algn="l"/>
            <a:r>
              <a:rPr lang="es-CO" sz="1100" b="1" i="0">
                <a:solidFill>
                  <a:srgbClr val="56C7F2"/>
                </a:solidFill>
                <a:latin typeface="Courier New"/>
              </a:rPr>
              <a:t>Body</a:t>
            </a:r>
          </a:p>
        </p:txBody>
      </p:sp>
      <p:sp>
        <p:nvSpPr>
          <p:cNvPr id="19" name="TextBox 18"/>
          <p:cNvSpPr txBox="1"/>
          <p:nvPr/>
        </p:nvSpPr>
        <p:spPr>
          <a:xfrm>
            <a:off x="6373368" y="2792250"/>
            <a:ext cx="2139696" cy="284117"/>
          </a:xfrm>
          <a:prstGeom prst="rect">
            <a:avLst/>
          </a:prstGeom>
          <a:noFill/>
        </p:spPr>
        <p:txBody>
          <a:bodyPr wrap="square" lIns="0" tIns="0" rIns="0" bIns="0" anchor="ctr">
            <a:spAutoFit/>
          </a:bodyPr>
          <a:lstStyle/>
          <a:p>
            <a:pPr algn="l">
              <a:lnSpc>
                <a:spcPts val="1057"/>
              </a:lnSpc>
            </a:pPr>
            <a:r>
              <a:rPr lang="es-CO" sz="1100" b="0" i="0">
                <a:solidFill>
                  <a:srgbClr val="E8EEF6"/>
                </a:solidFill>
                <a:latin typeface="Calibri"/>
              </a:rPr>
              <a:t>Obligatorio: contenido principal del mensaje.</a:t>
            </a:r>
          </a:p>
        </p:txBody>
      </p:sp>
      <p:sp>
        <p:nvSpPr>
          <p:cNvPr id="20" name="Rounded Rectangle 19"/>
          <p:cNvSpPr/>
          <p:nvPr/>
        </p:nvSpPr>
        <p:spPr>
          <a:xfrm>
            <a:off x="5394960" y="3247034"/>
            <a:ext cx="3246120" cy="429768"/>
          </a:xfrm>
          <a:prstGeom prst="roundRect">
            <a:avLst>
              <a:gd name="adj" fmla="val 17021"/>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21" name="TextBox 20"/>
          <p:cNvSpPr txBox="1"/>
          <p:nvPr/>
        </p:nvSpPr>
        <p:spPr>
          <a:xfrm>
            <a:off x="5522976" y="3377279"/>
            <a:ext cx="777240" cy="169277"/>
          </a:xfrm>
          <a:prstGeom prst="rect">
            <a:avLst/>
          </a:prstGeom>
          <a:noFill/>
        </p:spPr>
        <p:txBody>
          <a:bodyPr wrap="square" lIns="0" tIns="0" rIns="0" bIns="0" anchor="ctr">
            <a:spAutoFit/>
          </a:bodyPr>
          <a:lstStyle/>
          <a:p>
            <a:pPr algn="l"/>
            <a:r>
              <a:rPr lang="es-CO" sz="1100" b="1" i="0">
                <a:solidFill>
                  <a:srgbClr val="FFB86C"/>
                </a:solidFill>
                <a:latin typeface="Courier New"/>
              </a:rPr>
              <a:t>Fault</a:t>
            </a:r>
          </a:p>
        </p:txBody>
      </p:sp>
      <p:sp>
        <p:nvSpPr>
          <p:cNvPr id="22" name="TextBox 21"/>
          <p:cNvSpPr txBox="1"/>
          <p:nvPr/>
        </p:nvSpPr>
        <p:spPr>
          <a:xfrm>
            <a:off x="6373368" y="3390392"/>
            <a:ext cx="2139696" cy="143052"/>
          </a:xfrm>
          <a:prstGeom prst="rect">
            <a:avLst/>
          </a:prstGeom>
          <a:noFill/>
        </p:spPr>
        <p:txBody>
          <a:bodyPr wrap="square" lIns="0" tIns="0" rIns="0" bIns="0" anchor="ctr">
            <a:spAutoFit/>
          </a:bodyPr>
          <a:lstStyle/>
          <a:p>
            <a:pPr algn="l">
              <a:lnSpc>
                <a:spcPts val="1057"/>
              </a:lnSpc>
            </a:pPr>
            <a:r>
              <a:rPr lang="es-CO" sz="1100" b="0" i="0">
                <a:solidFill>
                  <a:srgbClr val="E8EEF6"/>
                </a:solidFill>
                <a:latin typeface="Calibri"/>
              </a:rPr>
              <a:t>Dentro de Body, informa un error.</a:t>
            </a:r>
          </a:p>
        </p:txBody>
      </p:sp>
      <p:sp>
        <p:nvSpPr>
          <p:cNvPr id="23" name="Rounded Rectangle 22"/>
          <p:cNvSpPr/>
          <p:nvPr/>
        </p:nvSpPr>
        <p:spPr>
          <a:xfrm>
            <a:off x="502920" y="3803904"/>
            <a:ext cx="8138160" cy="457200"/>
          </a:xfrm>
          <a:prstGeom prst="roundRect">
            <a:avLst>
              <a:gd name="adj" fmla="val 16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85800" y="3803904"/>
            <a:ext cx="7772400" cy="457200"/>
          </a:xfrm>
          <a:prstGeom prst="rect">
            <a:avLst/>
          </a:prstGeom>
          <a:noFill/>
        </p:spPr>
        <p:txBody>
          <a:bodyPr wrap="square" lIns="0" tIns="0" rIns="0" bIns="0" anchor="ctr">
            <a:spAutoFit/>
          </a:bodyPr>
          <a:lstStyle/>
          <a:p>
            <a:pPr algn="l"/>
            <a:r>
              <a:rPr lang="es-CO" sz="1000" b="1" i="0" dirty="0">
                <a:solidFill>
                  <a:srgbClr val="FFB86C"/>
                </a:solidFill>
                <a:latin typeface="Arial"/>
              </a:rPr>
              <a:t>Transporte  </a:t>
            </a:r>
            <a:r>
              <a:rPr lang="es-CO" sz="1050" b="0" i="0" dirty="0">
                <a:solidFill>
                  <a:srgbClr val="E8EEF6"/>
                </a:solidFill>
                <a:latin typeface="Calibri"/>
              </a:rPr>
              <a:t>El mensaje puede viajar sobre HTTP, habitualmente con POST y el tipo </a:t>
            </a:r>
            <a:r>
              <a:rPr lang="es-CO" sz="1050" b="0" i="0" dirty="0" err="1">
                <a:solidFill>
                  <a:srgbClr val="E8EEF6"/>
                </a:solidFill>
                <a:latin typeface="Calibri"/>
              </a:rPr>
              <a:t>application</a:t>
            </a:r>
            <a:r>
              <a:rPr lang="es-CO" sz="1050" b="0" i="0" dirty="0">
                <a:solidFill>
                  <a:srgbClr val="E8EEF6"/>
                </a:solidFill>
                <a:latin typeface="Calibri"/>
              </a:rPr>
              <a:t>/</a:t>
            </a:r>
            <a:r>
              <a:rPr lang="es-CO" sz="1050" b="0" i="0" dirty="0" err="1">
                <a:solidFill>
                  <a:srgbClr val="E8EEF6"/>
                </a:solidFill>
                <a:latin typeface="Calibri"/>
              </a:rPr>
              <a:t>soap+xml</a:t>
            </a:r>
            <a:r>
              <a:rPr lang="es-CO" sz="1050" b="0" i="0" dirty="0">
                <a:solidFill>
                  <a:srgbClr val="E8EEF6"/>
                </a:solidFill>
                <a:latin typeface="Calibri"/>
              </a:rPr>
              <a:t>.</a:t>
            </a:r>
          </a:p>
        </p:txBody>
      </p:sp>
      <p:sp>
        <p:nvSpPr>
          <p:cNvPr id="25" name="TextBox 24"/>
          <p:cNvSpPr txBox="1"/>
          <p:nvPr/>
        </p:nvSpPr>
        <p:spPr>
          <a:xfrm>
            <a:off x="502920" y="4334256"/>
            <a:ext cx="8138160" cy="292608"/>
          </a:xfrm>
          <a:prstGeom prst="rect">
            <a:avLst/>
          </a:prstGeom>
          <a:noFill/>
        </p:spPr>
        <p:txBody>
          <a:bodyPr wrap="square" lIns="0" tIns="0" rIns="0" bIns="0" anchor="ctr">
            <a:spAutoFit/>
          </a:bodyPr>
          <a:lstStyle/>
          <a:p>
            <a:pPr algn="l"/>
            <a:r>
              <a:rPr lang="es-CO" sz="1050" b="0" i="1">
                <a:solidFill>
                  <a:srgbClr val="93A5BD"/>
                </a:solidFill>
                <a:latin typeface="Calibri"/>
              </a:rPr>
              <a:t>La operación que se invoca (consultarContactos) se expresa dentro de Body.</a:t>
            </a:r>
          </a:p>
        </p:txBody>
      </p:sp>
      <p:sp>
        <p:nvSpPr>
          <p:cNvPr id="26" name="TextBox 25"/>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10 / 24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300" b="1" i="0">
                <a:solidFill>
                  <a:srgbClr val="FFFFFF"/>
                </a:solidFill>
                <a:latin typeface="Arial"/>
              </a:rPr>
              <a:t>GraphQL: el cliente elige los campos del esquema</a:t>
            </a:r>
          </a:p>
        </p:txBody>
      </p:sp>
      <p:sp>
        <p:nvSpPr>
          <p:cNvPr id="5" name="TextBox 4"/>
          <p:cNvSpPr txBox="1"/>
          <p:nvPr/>
        </p:nvSpPr>
        <p:spPr>
          <a:xfrm>
            <a:off x="475488" y="1078992"/>
            <a:ext cx="8138160" cy="256032"/>
          </a:xfrm>
          <a:prstGeom prst="rect">
            <a:avLst/>
          </a:prstGeom>
          <a:noFill/>
        </p:spPr>
        <p:txBody>
          <a:bodyPr wrap="square" lIns="0" tIns="0" rIns="0" bIns="0" anchor="t">
            <a:spAutoFit/>
          </a:bodyPr>
          <a:lstStyle/>
          <a:p>
            <a:pPr algn="l"/>
            <a:r>
              <a:rPr lang="es-CO" sz="1150" b="1" i="0">
                <a:solidFill>
                  <a:srgbClr val="3DDC97"/>
                </a:solidFill>
                <a:latin typeface="Calibri"/>
              </a:rPr>
              <a:t>GraphQL</a:t>
            </a:r>
            <a:r>
              <a:rPr lang="es-CO" sz="1150" b="0" i="0">
                <a:solidFill>
                  <a:srgbClr val="E8EEF6"/>
                </a:solidFill>
                <a:latin typeface="Calibri"/>
              </a:rPr>
              <a:t> es un lenguaje de consultas para API y un sistema que ejecuta esas consultas en el servidor.</a:t>
            </a:r>
          </a:p>
        </p:txBody>
      </p:sp>
      <p:sp>
        <p:nvSpPr>
          <p:cNvPr id="6" name="Rounded Rectangle 5"/>
          <p:cNvSpPr/>
          <p:nvPr/>
        </p:nvSpPr>
        <p:spPr>
          <a:xfrm>
            <a:off x="502919" y="1422081"/>
            <a:ext cx="1735455"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TextBox 6"/>
          <p:cNvSpPr txBox="1"/>
          <p:nvPr/>
        </p:nvSpPr>
        <p:spPr>
          <a:xfrm>
            <a:off x="542924" y="1424121"/>
            <a:ext cx="1670339" cy="169277"/>
          </a:xfrm>
          <a:prstGeom prst="rect">
            <a:avLst/>
          </a:prstGeom>
          <a:noFill/>
        </p:spPr>
        <p:txBody>
          <a:bodyPr wrap="square" lIns="0" tIns="0" rIns="0" bIns="0" anchor="ctr">
            <a:spAutoFit/>
          </a:bodyPr>
          <a:lstStyle/>
          <a:p>
            <a:pPr algn="ctr"/>
            <a:r>
              <a:rPr lang="es-CO" sz="1100" b="1" i="0">
                <a:solidFill>
                  <a:srgbClr val="56C7F2"/>
                </a:solidFill>
                <a:latin typeface="Arial"/>
              </a:rPr>
              <a:t>EJEMPLO ILUSTRATIVO</a:t>
            </a:r>
          </a:p>
        </p:txBody>
      </p:sp>
      <p:sp>
        <p:nvSpPr>
          <p:cNvPr id="8" name="Rounded Rectangle 7"/>
          <p:cNvSpPr/>
          <p:nvPr/>
        </p:nvSpPr>
        <p:spPr>
          <a:xfrm>
            <a:off x="502920" y="1664208"/>
            <a:ext cx="2651760" cy="2103120"/>
          </a:xfrm>
          <a:prstGeom prst="roundRect">
            <a:avLst>
              <a:gd name="adj" fmla="val 3478"/>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9" name="TextBox 8"/>
          <p:cNvSpPr txBox="1"/>
          <p:nvPr/>
        </p:nvSpPr>
        <p:spPr>
          <a:xfrm>
            <a:off x="649224" y="1735017"/>
            <a:ext cx="2359152" cy="169277"/>
          </a:xfrm>
          <a:prstGeom prst="rect">
            <a:avLst/>
          </a:prstGeom>
          <a:noFill/>
        </p:spPr>
        <p:txBody>
          <a:bodyPr wrap="square" lIns="0" tIns="0" rIns="0" bIns="0" anchor="ctr">
            <a:spAutoFit/>
          </a:bodyPr>
          <a:lstStyle/>
          <a:p>
            <a:pPr algn="l"/>
            <a:r>
              <a:rPr lang="es-CO" sz="1100" b="1" i="0">
                <a:solidFill>
                  <a:srgbClr val="3DDC97"/>
                </a:solidFill>
                <a:latin typeface="Courier New"/>
              </a:rPr>
              <a:t>1 · esquema del servidor</a:t>
            </a:r>
          </a:p>
        </p:txBody>
      </p:sp>
      <p:sp>
        <p:nvSpPr>
          <p:cNvPr id="10" name="TextBox 9"/>
          <p:cNvSpPr txBox="1"/>
          <p:nvPr/>
        </p:nvSpPr>
        <p:spPr>
          <a:xfrm>
            <a:off x="649224" y="1956816"/>
            <a:ext cx="2359152" cy="1388842"/>
          </a:xfrm>
          <a:prstGeom prst="rect">
            <a:avLst/>
          </a:prstGeom>
          <a:noFill/>
        </p:spPr>
        <p:txBody>
          <a:bodyPr wrap="square" lIns="0" tIns="0" rIns="0" bIns="0" anchor="t">
            <a:spAutoFit/>
          </a:bodyPr>
          <a:lstStyle/>
          <a:p>
            <a:pPr algn="l">
              <a:lnSpc>
                <a:spcPts val="1170"/>
              </a:lnSpc>
            </a:pPr>
            <a:r>
              <a:rPr lang="es-CO" sz="1100" b="0" i="0">
                <a:solidFill>
                  <a:srgbClr val="FFB86C"/>
                </a:solidFill>
                <a:latin typeface="Courier New"/>
              </a:rPr>
              <a:t>type</a:t>
            </a:r>
            <a:r>
              <a:rPr lang="es-CO" sz="1100" b="0" i="0">
                <a:solidFill>
                  <a:srgbClr val="D7E1EE"/>
                </a:solidFill>
                <a:latin typeface="Courier New"/>
              </a:rPr>
              <a:t> </a:t>
            </a:r>
            <a:r>
              <a:rPr lang="es-CO" sz="1100" b="0" i="0">
                <a:solidFill>
                  <a:srgbClr val="3DDC97"/>
                </a:solidFill>
                <a:latin typeface="Courier New"/>
              </a:rPr>
              <a:t>Contacto</a:t>
            </a:r>
            <a:r>
              <a:rPr lang="es-CO" sz="1100" b="0" i="0">
                <a:solidFill>
                  <a:srgbClr val="D7E1EE"/>
                </a:solidFill>
                <a:latin typeface="Courier New"/>
              </a:rPr>
              <a:t> </a:t>
            </a:r>
            <a:r>
              <a:rPr lang="es-CO" sz="1100" b="0" i="0">
                <a:solidFill>
                  <a:srgbClr val="93A5BD"/>
                </a:solidFill>
                <a:latin typeface="Courier New"/>
              </a:rPr>
              <a:t>{</a:t>
            </a:r>
          </a:p>
          <a:p>
            <a:pPr algn="l">
              <a:lnSpc>
                <a:spcPts val="1170"/>
              </a:lnSpc>
            </a:pPr>
            <a:r>
              <a:rPr lang="es-CO" sz="1100" b="0" i="0">
                <a:solidFill>
                  <a:srgbClr val="D7E1EE"/>
                </a:solidFill>
                <a:latin typeface="Courier New"/>
              </a:rPr>
              <a:t>  id</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3DDC97"/>
                </a:solidFill>
                <a:latin typeface="Courier New"/>
              </a:rPr>
              <a:t>ID</a:t>
            </a:r>
            <a:r>
              <a:rPr lang="es-CO" sz="1100" b="0" i="0">
                <a:solidFill>
                  <a:srgbClr val="93A5BD"/>
                </a:solidFill>
                <a:latin typeface="Courier New"/>
              </a:rPr>
              <a:t>!</a:t>
            </a:r>
          </a:p>
          <a:p>
            <a:pPr algn="l">
              <a:lnSpc>
                <a:spcPts val="1170"/>
              </a:lnSpc>
            </a:pPr>
            <a:r>
              <a:rPr lang="es-CO" sz="1100" b="0" i="0">
                <a:solidFill>
                  <a:srgbClr val="D7E1EE"/>
                </a:solidFill>
                <a:latin typeface="Courier New"/>
              </a:rPr>
              <a:t>  nombre</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3DDC97"/>
                </a:solidFill>
                <a:latin typeface="Courier New"/>
              </a:rPr>
              <a:t>String</a:t>
            </a:r>
            <a:r>
              <a:rPr lang="es-CO" sz="1100" b="0" i="0">
                <a:solidFill>
                  <a:srgbClr val="93A5BD"/>
                </a:solidFill>
                <a:latin typeface="Courier New"/>
              </a:rPr>
              <a:t>!</a:t>
            </a:r>
          </a:p>
          <a:p>
            <a:pPr algn="l">
              <a:lnSpc>
                <a:spcPts val="1170"/>
              </a:lnSpc>
            </a:pPr>
            <a:r>
              <a:rPr lang="es-CO" sz="1100" b="0" i="0">
                <a:solidFill>
                  <a:srgbClr val="D7E1EE"/>
                </a:solidFill>
                <a:latin typeface="Courier New"/>
              </a:rPr>
              <a:t>  correo</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3DDC97"/>
                </a:solidFill>
                <a:latin typeface="Courier New"/>
              </a:rPr>
              <a:t>String</a:t>
            </a:r>
            <a:r>
              <a:rPr lang="es-CO" sz="1100" b="0" i="0">
                <a:solidFill>
                  <a:srgbClr val="93A5BD"/>
                </a:solidFill>
                <a:latin typeface="Courier New"/>
              </a:rPr>
              <a:t>!</a:t>
            </a:r>
          </a:p>
          <a:p>
            <a:pPr algn="l">
              <a:lnSpc>
                <a:spcPts val="1170"/>
              </a:lnSpc>
            </a:pPr>
            <a:r>
              <a:rPr lang="es-CO" sz="1100" b="0" i="0">
                <a:solidFill>
                  <a:srgbClr val="D7E1EE"/>
                </a:solidFill>
                <a:latin typeface="Courier New"/>
              </a:rPr>
              <a:t>  mensaje</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3DDC97"/>
                </a:solidFill>
                <a:latin typeface="Courier New"/>
              </a:rPr>
              <a:t>String</a:t>
            </a:r>
            <a:r>
              <a:rPr lang="es-CO" sz="1100" b="0" i="0">
                <a:solidFill>
                  <a:srgbClr val="93A5BD"/>
                </a:solidFill>
                <a:latin typeface="Courier New"/>
              </a:rPr>
              <a:t>!</a:t>
            </a:r>
          </a:p>
          <a:p>
            <a:pPr algn="l">
              <a:lnSpc>
                <a:spcPts val="1170"/>
              </a:lnSpc>
            </a:pPr>
            <a:r>
              <a:rPr lang="es-CO" sz="1100" b="0" i="0">
                <a:solidFill>
                  <a:srgbClr val="93A5BD"/>
                </a:solidFill>
                <a:latin typeface="Courier New"/>
              </a:rPr>
              <a:t>}</a:t>
            </a:r>
          </a:p>
          <a:p>
            <a:pPr algn="l">
              <a:lnSpc>
                <a:spcPts val="1170"/>
              </a:lnSpc>
            </a:pPr>
            <a:r>
              <a:rPr lang="es-CO" sz="1100" b="0" i="0">
                <a:solidFill>
                  <a:srgbClr val="FFB86C"/>
                </a:solidFill>
                <a:latin typeface="Courier New"/>
              </a:rPr>
              <a:t>type</a:t>
            </a:r>
            <a:r>
              <a:rPr lang="es-CO" sz="1100" b="0" i="0">
                <a:solidFill>
                  <a:srgbClr val="D7E1EE"/>
                </a:solidFill>
                <a:latin typeface="Courier New"/>
              </a:rPr>
              <a:t> </a:t>
            </a:r>
            <a:r>
              <a:rPr lang="es-CO" sz="1100" b="0" i="0">
                <a:solidFill>
                  <a:srgbClr val="3DDC97"/>
                </a:solidFill>
                <a:latin typeface="Courier New"/>
              </a:rPr>
              <a:t>Query</a:t>
            </a:r>
            <a:r>
              <a:rPr lang="es-CO" sz="1100" b="0" i="0">
                <a:solidFill>
                  <a:srgbClr val="D7E1EE"/>
                </a:solidFill>
                <a:latin typeface="Courier New"/>
              </a:rPr>
              <a:t> </a:t>
            </a:r>
            <a:r>
              <a:rPr lang="es-CO" sz="1100" b="0" i="0">
                <a:solidFill>
                  <a:srgbClr val="93A5BD"/>
                </a:solidFill>
                <a:latin typeface="Courier New"/>
              </a:rPr>
              <a:t>{</a:t>
            </a:r>
          </a:p>
          <a:p>
            <a:pPr algn="l">
              <a:lnSpc>
                <a:spcPts val="1170"/>
              </a:lnSpc>
            </a:pPr>
            <a:r>
              <a:rPr lang="es-CO" sz="1100" b="0" i="0">
                <a:solidFill>
                  <a:srgbClr val="D7E1EE"/>
                </a:solidFill>
                <a:latin typeface="Courier New"/>
              </a:rPr>
              <a:t>  contactos</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93A5BD"/>
                </a:solidFill>
                <a:latin typeface="Courier New"/>
              </a:rPr>
              <a:t>[</a:t>
            </a:r>
            <a:r>
              <a:rPr lang="es-CO" sz="1100" b="0" i="0">
                <a:solidFill>
                  <a:srgbClr val="3DDC97"/>
                </a:solidFill>
                <a:latin typeface="Courier New"/>
              </a:rPr>
              <a:t>Contacto</a:t>
            </a:r>
            <a:r>
              <a:rPr lang="es-CO" sz="1100" b="0" i="0">
                <a:solidFill>
                  <a:srgbClr val="93A5BD"/>
                </a:solidFill>
                <a:latin typeface="Courier New"/>
              </a:rPr>
              <a:t>!]!</a:t>
            </a:r>
          </a:p>
          <a:p>
            <a:pPr algn="l">
              <a:lnSpc>
                <a:spcPts val="1170"/>
              </a:lnSpc>
            </a:pPr>
            <a:r>
              <a:rPr lang="es-CO" sz="1100" b="0" i="0">
                <a:solidFill>
                  <a:srgbClr val="93A5BD"/>
                </a:solidFill>
                <a:latin typeface="Courier New"/>
              </a:rPr>
              <a:t>}</a:t>
            </a:r>
          </a:p>
        </p:txBody>
      </p:sp>
      <p:sp>
        <p:nvSpPr>
          <p:cNvPr id="11" name="Rounded Rectangle 10"/>
          <p:cNvSpPr/>
          <p:nvPr/>
        </p:nvSpPr>
        <p:spPr>
          <a:xfrm>
            <a:off x="3246120" y="1664208"/>
            <a:ext cx="2011680" cy="2103120"/>
          </a:xfrm>
          <a:prstGeom prst="roundRect">
            <a:avLst>
              <a:gd name="adj" fmla="val 3636"/>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2" name="TextBox 11"/>
          <p:cNvSpPr txBox="1"/>
          <p:nvPr/>
        </p:nvSpPr>
        <p:spPr>
          <a:xfrm>
            <a:off x="3392424" y="1735017"/>
            <a:ext cx="1719072" cy="169277"/>
          </a:xfrm>
          <a:prstGeom prst="rect">
            <a:avLst/>
          </a:prstGeom>
          <a:noFill/>
        </p:spPr>
        <p:txBody>
          <a:bodyPr wrap="square" lIns="0" tIns="0" rIns="0" bIns="0" anchor="ctr">
            <a:spAutoFit/>
          </a:bodyPr>
          <a:lstStyle/>
          <a:p>
            <a:pPr algn="l"/>
            <a:r>
              <a:rPr lang="es-CO" sz="1100" b="1" i="0">
                <a:solidFill>
                  <a:srgbClr val="56C7F2"/>
                </a:solidFill>
                <a:latin typeface="Courier New"/>
              </a:rPr>
              <a:t>2 · consulta</a:t>
            </a:r>
          </a:p>
        </p:txBody>
      </p:sp>
      <p:sp>
        <p:nvSpPr>
          <p:cNvPr id="13" name="TextBox 12"/>
          <p:cNvSpPr txBox="1"/>
          <p:nvPr/>
        </p:nvSpPr>
        <p:spPr>
          <a:xfrm>
            <a:off x="3392424" y="1956816"/>
            <a:ext cx="1719072" cy="927177"/>
          </a:xfrm>
          <a:prstGeom prst="rect">
            <a:avLst/>
          </a:prstGeom>
          <a:noFill/>
        </p:spPr>
        <p:txBody>
          <a:bodyPr wrap="square" lIns="0" tIns="0" rIns="0" bIns="0" anchor="t">
            <a:spAutoFit/>
          </a:bodyPr>
          <a:lstStyle/>
          <a:p>
            <a:pPr algn="l">
              <a:lnSpc>
                <a:spcPts val="1230"/>
              </a:lnSpc>
            </a:pPr>
            <a:r>
              <a:rPr lang="es-CO" sz="1100" b="0" i="0">
                <a:solidFill>
                  <a:srgbClr val="93A5BD"/>
                </a:solidFill>
                <a:latin typeface="Courier New"/>
              </a:rPr>
              <a:t>{</a:t>
            </a:r>
          </a:p>
          <a:p>
            <a:pPr algn="l">
              <a:lnSpc>
                <a:spcPts val="1230"/>
              </a:lnSpc>
            </a:pPr>
            <a:r>
              <a:rPr lang="es-CO" sz="1100" b="0" i="0">
                <a:solidFill>
                  <a:srgbClr val="D7E1EE"/>
                </a:solidFill>
                <a:latin typeface="Courier New"/>
              </a:rPr>
              <a:t>  contactos </a:t>
            </a:r>
            <a:r>
              <a:rPr lang="es-CO" sz="1100" b="0" i="0">
                <a:solidFill>
                  <a:srgbClr val="93A5BD"/>
                </a:solidFill>
                <a:latin typeface="Courier New"/>
              </a:rPr>
              <a:t>{</a:t>
            </a:r>
          </a:p>
          <a:p>
            <a:pPr algn="l">
              <a:lnSpc>
                <a:spcPts val="1230"/>
              </a:lnSpc>
            </a:pPr>
            <a:r>
              <a:rPr lang="es-CO" sz="1100" b="0" i="0">
                <a:solidFill>
                  <a:srgbClr val="D7E1EE"/>
                </a:solidFill>
                <a:latin typeface="Courier New"/>
              </a:rPr>
              <a:t>    nombre</a:t>
            </a:r>
          </a:p>
          <a:p>
            <a:pPr algn="l">
              <a:lnSpc>
                <a:spcPts val="1230"/>
              </a:lnSpc>
            </a:pPr>
            <a:r>
              <a:rPr lang="es-CO" sz="1100" b="0" i="0">
                <a:solidFill>
                  <a:srgbClr val="D7E1EE"/>
                </a:solidFill>
                <a:latin typeface="Courier New"/>
              </a:rPr>
              <a:t>    correo</a:t>
            </a:r>
          </a:p>
          <a:p>
            <a:pPr algn="l">
              <a:lnSpc>
                <a:spcPts val="1230"/>
              </a:lnSpc>
            </a:pPr>
            <a:r>
              <a:rPr lang="es-CO" sz="1100" b="0" i="0">
                <a:solidFill>
                  <a:srgbClr val="D7E1EE"/>
                </a:solidFill>
                <a:latin typeface="Courier New"/>
              </a:rPr>
              <a:t>  </a:t>
            </a:r>
            <a:r>
              <a:rPr lang="es-CO" sz="1100" b="0" i="0">
                <a:solidFill>
                  <a:srgbClr val="93A5BD"/>
                </a:solidFill>
                <a:latin typeface="Courier New"/>
              </a:rPr>
              <a:t>}</a:t>
            </a:r>
          </a:p>
          <a:p>
            <a:pPr algn="l">
              <a:lnSpc>
                <a:spcPts val="1230"/>
              </a:lnSpc>
            </a:pPr>
            <a:r>
              <a:rPr lang="es-CO" sz="1100" b="0" i="0">
                <a:solidFill>
                  <a:srgbClr val="93A5BD"/>
                </a:solidFill>
                <a:latin typeface="Courier New"/>
              </a:rPr>
              <a:t>}</a:t>
            </a:r>
          </a:p>
        </p:txBody>
      </p:sp>
      <p:sp>
        <p:nvSpPr>
          <p:cNvPr id="14" name="Rounded Rectangle 13"/>
          <p:cNvSpPr/>
          <p:nvPr/>
        </p:nvSpPr>
        <p:spPr>
          <a:xfrm>
            <a:off x="5349240" y="1664208"/>
            <a:ext cx="3291840" cy="2103120"/>
          </a:xfrm>
          <a:prstGeom prst="roundRect">
            <a:avLst>
              <a:gd name="adj" fmla="val 3478"/>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5" name="TextBox 14"/>
          <p:cNvSpPr txBox="1"/>
          <p:nvPr/>
        </p:nvSpPr>
        <p:spPr>
          <a:xfrm>
            <a:off x="5495544" y="1735017"/>
            <a:ext cx="2999232" cy="169277"/>
          </a:xfrm>
          <a:prstGeom prst="rect">
            <a:avLst/>
          </a:prstGeom>
          <a:noFill/>
        </p:spPr>
        <p:txBody>
          <a:bodyPr wrap="square" lIns="0" tIns="0" rIns="0" bIns="0" anchor="ctr">
            <a:spAutoFit/>
          </a:bodyPr>
          <a:lstStyle/>
          <a:p>
            <a:pPr algn="l"/>
            <a:r>
              <a:rPr lang="es-CO" sz="1100" b="1" i="0">
                <a:solidFill>
                  <a:srgbClr val="FFB86C"/>
                </a:solidFill>
                <a:latin typeface="Courier New"/>
              </a:rPr>
              <a:t>3 · respuesta</a:t>
            </a:r>
          </a:p>
        </p:txBody>
      </p:sp>
      <p:sp>
        <p:nvSpPr>
          <p:cNvPr id="16" name="TextBox 15"/>
          <p:cNvSpPr txBox="1"/>
          <p:nvPr/>
        </p:nvSpPr>
        <p:spPr>
          <a:xfrm>
            <a:off x="5495544" y="1956816"/>
            <a:ext cx="2999232" cy="1388842"/>
          </a:xfrm>
          <a:prstGeom prst="rect">
            <a:avLst/>
          </a:prstGeom>
          <a:noFill/>
        </p:spPr>
        <p:txBody>
          <a:bodyPr wrap="square" lIns="0" tIns="0" rIns="0" bIns="0" anchor="t">
            <a:spAutoFit/>
          </a:bodyPr>
          <a:lstStyle/>
          <a:p>
            <a:pPr algn="l">
              <a:lnSpc>
                <a:spcPts val="1170"/>
              </a:lnSpc>
            </a:pPr>
            <a:r>
              <a:rPr lang="es-CO" sz="1100" b="0" i="0">
                <a:solidFill>
                  <a:srgbClr val="93A5BD"/>
                </a:solidFill>
                <a:latin typeface="Courier New"/>
              </a:rPr>
              <a:t>{</a:t>
            </a:r>
          </a:p>
          <a:p>
            <a:pPr algn="l">
              <a:lnSpc>
                <a:spcPts val="1170"/>
              </a:lnSpc>
            </a:pPr>
            <a:r>
              <a:rPr lang="es-CO" sz="1100" b="0" i="0">
                <a:solidFill>
                  <a:srgbClr val="D7E1EE"/>
                </a:solidFill>
                <a:latin typeface="Courier New"/>
              </a:rPr>
              <a:t>  </a:t>
            </a:r>
            <a:r>
              <a:rPr lang="es-CO" sz="1100" b="0" i="0">
                <a:solidFill>
                  <a:srgbClr val="56C7F2"/>
                </a:solidFill>
                <a:latin typeface="Courier New"/>
              </a:rPr>
              <a:t>"data"</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93A5BD"/>
                </a:solidFill>
                <a:latin typeface="Courier New"/>
              </a:rPr>
              <a:t>{</a:t>
            </a:r>
          </a:p>
          <a:p>
            <a:pPr algn="l">
              <a:lnSpc>
                <a:spcPts val="1170"/>
              </a:lnSpc>
            </a:pPr>
            <a:r>
              <a:rPr lang="es-CO" sz="1100" b="0" i="0">
                <a:solidFill>
                  <a:srgbClr val="D7E1EE"/>
                </a:solidFill>
                <a:latin typeface="Courier New"/>
              </a:rPr>
              <a:t>    </a:t>
            </a:r>
            <a:r>
              <a:rPr lang="es-CO" sz="1100" b="0" i="0">
                <a:solidFill>
                  <a:srgbClr val="56C7F2"/>
                </a:solidFill>
                <a:latin typeface="Courier New"/>
              </a:rPr>
              <a:t>"contactos"</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93A5BD"/>
                </a:solidFill>
                <a:latin typeface="Courier New"/>
              </a:rPr>
              <a:t>[</a:t>
            </a:r>
          </a:p>
          <a:p>
            <a:pPr algn="l">
              <a:lnSpc>
                <a:spcPts val="1170"/>
              </a:lnSpc>
            </a:pPr>
            <a:r>
              <a:rPr lang="es-CO" sz="1100" b="0" i="0">
                <a:solidFill>
                  <a:srgbClr val="D7E1EE"/>
                </a:solidFill>
                <a:latin typeface="Courier New"/>
              </a:rPr>
              <a:t>      </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56C7F2"/>
                </a:solidFill>
                <a:latin typeface="Courier New"/>
              </a:rPr>
              <a:t>"nombre"</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FFD479"/>
                </a:solidFill>
                <a:latin typeface="Courier New"/>
              </a:rPr>
              <a:t>"Ana"</a:t>
            </a:r>
            <a:r>
              <a:rPr lang="es-CO" sz="1100" b="0" i="0">
                <a:solidFill>
                  <a:srgbClr val="93A5BD"/>
                </a:solidFill>
                <a:latin typeface="Courier New"/>
              </a:rPr>
              <a:t>,</a:t>
            </a:r>
          </a:p>
          <a:p>
            <a:pPr algn="l">
              <a:lnSpc>
                <a:spcPts val="1170"/>
              </a:lnSpc>
            </a:pPr>
            <a:r>
              <a:rPr lang="es-CO" sz="1100" b="0" i="0">
                <a:solidFill>
                  <a:srgbClr val="D7E1EE"/>
                </a:solidFill>
                <a:latin typeface="Courier New"/>
              </a:rPr>
              <a:t>        </a:t>
            </a:r>
            <a:r>
              <a:rPr lang="es-CO" sz="1100" b="0" i="0">
                <a:solidFill>
                  <a:srgbClr val="56C7F2"/>
                </a:solidFill>
                <a:latin typeface="Courier New"/>
              </a:rPr>
              <a:t>"correo"</a:t>
            </a:r>
            <a:r>
              <a:rPr lang="es-CO" sz="1100" b="0" i="0">
                <a:solidFill>
                  <a:srgbClr val="93A5BD"/>
                </a:solidFill>
                <a:latin typeface="Courier New"/>
              </a:rPr>
              <a:t>:</a:t>
            </a:r>
            <a:r>
              <a:rPr lang="es-CO" sz="1100" b="0" i="0">
                <a:solidFill>
                  <a:srgbClr val="D7E1EE"/>
                </a:solidFill>
                <a:latin typeface="Courier New"/>
              </a:rPr>
              <a:t> </a:t>
            </a:r>
            <a:r>
              <a:rPr lang="es-CO" sz="1100" b="0" i="0">
                <a:solidFill>
                  <a:srgbClr val="FFD479"/>
                </a:solidFill>
                <a:latin typeface="Courier New"/>
              </a:rPr>
              <a:t>"ana@example.com"</a:t>
            </a:r>
            <a:r>
              <a:rPr lang="es-CO" sz="1100" b="0" i="0">
                <a:solidFill>
                  <a:srgbClr val="D7E1EE"/>
                </a:solidFill>
                <a:latin typeface="Courier New"/>
              </a:rPr>
              <a:t> </a:t>
            </a:r>
            <a:r>
              <a:rPr lang="es-CO" sz="1100" b="0" i="0">
                <a:solidFill>
                  <a:srgbClr val="93A5BD"/>
                </a:solidFill>
                <a:latin typeface="Courier New"/>
              </a:rPr>
              <a:t>}</a:t>
            </a:r>
          </a:p>
          <a:p>
            <a:pPr algn="l">
              <a:lnSpc>
                <a:spcPts val="1170"/>
              </a:lnSpc>
            </a:pPr>
            <a:r>
              <a:rPr lang="es-CO" sz="1100" b="0" i="0">
                <a:solidFill>
                  <a:srgbClr val="D7E1EE"/>
                </a:solidFill>
                <a:latin typeface="Courier New"/>
              </a:rPr>
              <a:t>    </a:t>
            </a:r>
            <a:r>
              <a:rPr lang="es-CO" sz="1100" b="0" i="0">
                <a:solidFill>
                  <a:srgbClr val="93A5BD"/>
                </a:solidFill>
                <a:latin typeface="Courier New"/>
              </a:rPr>
              <a:t>]</a:t>
            </a:r>
          </a:p>
          <a:p>
            <a:pPr algn="l">
              <a:lnSpc>
                <a:spcPts val="1170"/>
              </a:lnSpc>
            </a:pPr>
            <a:r>
              <a:rPr lang="es-CO" sz="1100" b="0" i="0">
                <a:solidFill>
                  <a:srgbClr val="D7E1EE"/>
                </a:solidFill>
                <a:latin typeface="Courier New"/>
              </a:rPr>
              <a:t>  </a:t>
            </a:r>
            <a:r>
              <a:rPr lang="es-CO" sz="1100" b="0" i="0">
                <a:solidFill>
                  <a:srgbClr val="93A5BD"/>
                </a:solidFill>
                <a:latin typeface="Courier New"/>
              </a:rPr>
              <a:t>}</a:t>
            </a:r>
          </a:p>
          <a:p>
            <a:pPr algn="l">
              <a:lnSpc>
                <a:spcPts val="1170"/>
              </a:lnSpc>
            </a:pPr>
            <a:r>
              <a:rPr lang="es-CO" sz="1100" b="0" i="0">
                <a:solidFill>
                  <a:srgbClr val="93A5BD"/>
                </a:solidFill>
                <a:latin typeface="Courier New"/>
              </a:rPr>
              <a:t>}</a:t>
            </a:r>
          </a:p>
        </p:txBody>
      </p:sp>
      <p:sp>
        <p:nvSpPr>
          <p:cNvPr id="17" name="Rounded Rectangle 16"/>
          <p:cNvSpPr/>
          <p:nvPr/>
        </p:nvSpPr>
        <p:spPr>
          <a:xfrm>
            <a:off x="502920" y="3877056"/>
            <a:ext cx="8138160" cy="420624"/>
          </a:xfrm>
          <a:prstGeom prst="roundRect">
            <a:avLst>
              <a:gd name="adj" fmla="val 17391"/>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8" name="TextBox 17"/>
          <p:cNvSpPr txBox="1"/>
          <p:nvPr/>
        </p:nvSpPr>
        <p:spPr>
          <a:xfrm>
            <a:off x="685800" y="4002729"/>
            <a:ext cx="7772400" cy="169277"/>
          </a:xfrm>
          <a:prstGeom prst="rect">
            <a:avLst/>
          </a:prstGeom>
          <a:noFill/>
        </p:spPr>
        <p:txBody>
          <a:bodyPr wrap="square" lIns="0" tIns="0" rIns="0" bIns="0" anchor="ctr">
            <a:spAutoFit/>
          </a:bodyPr>
          <a:lstStyle/>
          <a:p>
            <a:pPr algn="l"/>
            <a:r>
              <a:rPr lang="es-CO" sz="1100" b="1" i="0">
                <a:solidFill>
                  <a:srgbClr val="56C7F2"/>
                </a:solidFill>
                <a:latin typeface="Arial"/>
              </a:rPr>
              <a:t>Esquema y funciones  </a:t>
            </a:r>
            <a:r>
              <a:rPr lang="es-CO" sz="1100" b="0" i="0">
                <a:solidFill>
                  <a:srgbClr val="E8EEF6"/>
                </a:solidFill>
                <a:latin typeface="Calibri"/>
              </a:rPr>
              <a:t>El cliente pide campos definidos en el esquema; el servidor decide cómo obtener cada dato.</a:t>
            </a:r>
          </a:p>
        </p:txBody>
      </p:sp>
      <p:sp>
        <p:nvSpPr>
          <p:cNvPr id="19" name="TextBox 18"/>
          <p:cNvSpPr txBox="1"/>
          <p:nvPr/>
        </p:nvSpPr>
        <p:spPr>
          <a:xfrm>
            <a:off x="502920" y="4395921"/>
            <a:ext cx="8138160" cy="169277"/>
          </a:xfrm>
          <a:prstGeom prst="rect">
            <a:avLst/>
          </a:prstGeom>
          <a:noFill/>
        </p:spPr>
        <p:txBody>
          <a:bodyPr wrap="square" lIns="0" tIns="0" rIns="0" bIns="0" anchor="ctr">
            <a:spAutoFit/>
          </a:bodyPr>
          <a:lstStyle/>
          <a:p>
            <a:pPr algn="l"/>
            <a:r>
              <a:rPr lang="es-CO" sz="1100" b="0" i="1">
                <a:solidFill>
                  <a:srgbClr val="93A5BD"/>
                </a:solidFill>
                <a:latin typeface="Calibri"/>
              </a:rPr>
              <a:t>La respuesta tiene la misma forma que la consulta: solo incluye nombre y correo.</a:t>
            </a:r>
          </a:p>
        </p:txBody>
      </p:sp>
      <p:sp>
        <p:nvSpPr>
          <p:cNvPr id="20" name="TextBox 19"/>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11 / 24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44018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440180" cy="228600"/>
          </a:xfrm>
          <a:prstGeom prst="rect">
            <a:avLst/>
          </a:prstGeom>
          <a:noFill/>
        </p:spPr>
        <p:txBody>
          <a:bodyPr wrap="square" lIns="0" tIns="0" rIns="0" bIns="0" anchor="ctr">
            <a:spAutoFit/>
          </a:bodyPr>
          <a:lstStyle/>
          <a:p>
            <a:pPr algn="ctr"/>
            <a:r>
              <a:rPr lang="es-CO" sz="850" b="1" i="0">
                <a:solidFill>
                  <a:srgbClr val="3DDC97"/>
                </a:solidFill>
                <a:latin typeface="Arial"/>
              </a:rPr>
              <a:t>COMPARACIÓN</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400" b="1" i="0">
                <a:solidFill>
                  <a:srgbClr val="FFFFFF"/>
                </a:solidFill>
                <a:latin typeface="Arial"/>
              </a:rPr>
              <a:t>REST, SOAP y GraphQL: tres tipos de tecnología</a:t>
            </a:r>
          </a:p>
        </p:txBody>
      </p:sp>
      <p:sp>
        <p:nvSpPr>
          <p:cNvPr id="5" name="Rectangle 4"/>
          <p:cNvSpPr/>
          <p:nvPr/>
        </p:nvSpPr>
        <p:spPr>
          <a:xfrm>
            <a:off x="502920" y="1234440"/>
            <a:ext cx="8138160" cy="347472"/>
          </a:xfrm>
          <a:prstGeom prst="rect">
            <a:avLst/>
          </a:prstGeom>
          <a:solidFill>
            <a:srgbClr val="13233A"/>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94360" y="1234440"/>
            <a:ext cx="950976" cy="347472"/>
          </a:xfrm>
          <a:prstGeom prst="rect">
            <a:avLst/>
          </a:prstGeom>
          <a:noFill/>
        </p:spPr>
        <p:txBody>
          <a:bodyPr wrap="square" lIns="0" tIns="0" rIns="0" bIns="0" anchor="ctr">
            <a:spAutoFit/>
          </a:bodyPr>
          <a:lstStyle/>
          <a:p>
            <a:pPr algn="l"/>
            <a:endParaRPr/>
          </a:p>
        </p:txBody>
      </p:sp>
      <p:sp>
        <p:nvSpPr>
          <p:cNvPr id="7" name="TextBox 6"/>
          <p:cNvSpPr txBox="1"/>
          <p:nvPr/>
        </p:nvSpPr>
        <p:spPr>
          <a:xfrm>
            <a:off x="1691640" y="1234440"/>
            <a:ext cx="1682496" cy="347472"/>
          </a:xfrm>
          <a:prstGeom prst="rect">
            <a:avLst/>
          </a:prstGeom>
          <a:noFill/>
        </p:spPr>
        <p:txBody>
          <a:bodyPr wrap="square" lIns="0" tIns="0" rIns="0" bIns="0" anchor="ctr">
            <a:spAutoFit/>
          </a:bodyPr>
          <a:lstStyle/>
          <a:p>
            <a:pPr algn="l"/>
            <a:r>
              <a:rPr lang="es-CO" sz="950" b="1" i="0">
                <a:solidFill>
                  <a:srgbClr val="3DDC97"/>
                </a:solidFill>
                <a:latin typeface="Arial"/>
              </a:rPr>
              <a:t>Tipo de tecnología</a:t>
            </a:r>
          </a:p>
        </p:txBody>
      </p:sp>
      <p:sp>
        <p:nvSpPr>
          <p:cNvPr id="8" name="TextBox 7"/>
          <p:cNvSpPr txBox="1"/>
          <p:nvPr/>
        </p:nvSpPr>
        <p:spPr>
          <a:xfrm>
            <a:off x="3520440" y="1234440"/>
            <a:ext cx="1636776" cy="347472"/>
          </a:xfrm>
          <a:prstGeom prst="rect">
            <a:avLst/>
          </a:prstGeom>
          <a:noFill/>
        </p:spPr>
        <p:txBody>
          <a:bodyPr wrap="square" lIns="0" tIns="0" rIns="0" bIns="0" anchor="ctr">
            <a:spAutoFit/>
          </a:bodyPr>
          <a:lstStyle/>
          <a:p>
            <a:pPr algn="l"/>
            <a:r>
              <a:rPr lang="es-CO" sz="950" b="1" i="0">
                <a:solidFill>
                  <a:srgbClr val="3DDC97"/>
                </a:solidFill>
                <a:latin typeface="Arial"/>
              </a:rPr>
              <a:t>Formato de mensajes</a:t>
            </a:r>
          </a:p>
        </p:txBody>
      </p:sp>
      <p:sp>
        <p:nvSpPr>
          <p:cNvPr id="9" name="TextBox 8"/>
          <p:cNvSpPr txBox="1"/>
          <p:nvPr/>
        </p:nvSpPr>
        <p:spPr>
          <a:xfrm>
            <a:off x="5303520" y="1234440"/>
            <a:ext cx="1682496" cy="347472"/>
          </a:xfrm>
          <a:prstGeom prst="rect">
            <a:avLst/>
          </a:prstGeom>
          <a:noFill/>
        </p:spPr>
        <p:txBody>
          <a:bodyPr wrap="square" lIns="0" tIns="0" rIns="0" bIns="0" anchor="ctr">
            <a:spAutoFit/>
          </a:bodyPr>
          <a:lstStyle/>
          <a:p>
            <a:pPr algn="l"/>
            <a:r>
              <a:rPr lang="es-CO" sz="950" b="1" i="0">
                <a:solidFill>
                  <a:srgbClr val="3DDC97"/>
                </a:solidFill>
                <a:latin typeface="Arial"/>
              </a:rPr>
              <a:t>Forma de solicitar</a:t>
            </a:r>
          </a:p>
        </p:txBody>
      </p:sp>
      <p:sp>
        <p:nvSpPr>
          <p:cNvPr id="10" name="TextBox 9"/>
          <p:cNvSpPr txBox="1"/>
          <p:nvPr/>
        </p:nvSpPr>
        <p:spPr>
          <a:xfrm>
            <a:off x="7132320" y="1234440"/>
            <a:ext cx="1453896" cy="347472"/>
          </a:xfrm>
          <a:prstGeom prst="rect">
            <a:avLst/>
          </a:prstGeom>
          <a:noFill/>
        </p:spPr>
        <p:txBody>
          <a:bodyPr wrap="square" lIns="0" tIns="0" rIns="0" bIns="0" anchor="ctr">
            <a:spAutoFit/>
          </a:bodyPr>
          <a:lstStyle/>
          <a:p>
            <a:pPr algn="l"/>
            <a:r>
              <a:rPr lang="es-CO" sz="950" b="1" i="0">
                <a:solidFill>
                  <a:srgbClr val="3DDC97"/>
                </a:solidFill>
                <a:latin typeface="Arial"/>
              </a:rPr>
              <a:t>Descripción</a:t>
            </a:r>
          </a:p>
        </p:txBody>
      </p:sp>
      <p:sp>
        <p:nvSpPr>
          <p:cNvPr id="11" name="Rectangle 10"/>
          <p:cNvSpPr/>
          <p:nvPr/>
        </p:nvSpPr>
        <p:spPr>
          <a:xfrm>
            <a:off x="502920" y="1581912"/>
            <a:ext cx="8138160" cy="603504"/>
          </a:xfrm>
          <a:prstGeom prst="rect">
            <a:avLst/>
          </a:prstGeom>
          <a:solidFill>
            <a:srgbClr val="1A2434"/>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94360" y="1581912"/>
            <a:ext cx="950976" cy="603504"/>
          </a:xfrm>
          <a:prstGeom prst="rect">
            <a:avLst/>
          </a:prstGeom>
          <a:noFill/>
        </p:spPr>
        <p:txBody>
          <a:bodyPr wrap="square" lIns="0" tIns="0" rIns="0" bIns="0" anchor="ctr">
            <a:spAutoFit/>
          </a:bodyPr>
          <a:lstStyle/>
          <a:p>
            <a:pPr algn="l">
              <a:lnSpc>
                <a:spcPts val="1092"/>
              </a:lnSpc>
            </a:pPr>
            <a:r>
              <a:rPr lang="es-CO" sz="950" b="1" i="0">
                <a:solidFill>
                  <a:srgbClr val="3DDC97"/>
                </a:solidFill>
                <a:latin typeface="Calibri"/>
              </a:rPr>
              <a:t>REST</a:t>
            </a:r>
          </a:p>
        </p:txBody>
      </p:sp>
      <p:sp>
        <p:nvSpPr>
          <p:cNvPr id="13" name="TextBox 12"/>
          <p:cNvSpPr txBox="1"/>
          <p:nvPr/>
        </p:nvSpPr>
        <p:spPr>
          <a:xfrm>
            <a:off x="1691640" y="1581912"/>
            <a:ext cx="1682496" cy="603504"/>
          </a:xfrm>
          <a:prstGeom prst="rect">
            <a:avLst/>
          </a:prstGeom>
          <a:noFill/>
        </p:spPr>
        <p:txBody>
          <a:bodyPr wrap="square" lIns="0" tIns="0" rIns="0" bIns="0" anchor="ctr">
            <a:spAutoFit/>
          </a:bodyPr>
          <a:lstStyle/>
          <a:p>
            <a:pPr algn="l">
              <a:lnSpc>
                <a:spcPts val="1092"/>
              </a:lnSpc>
            </a:pPr>
            <a:r>
              <a:rPr lang="es-CO" sz="950" b="0" i="0" dirty="0">
                <a:solidFill>
                  <a:srgbClr val="E8EEF6"/>
                </a:solidFill>
                <a:latin typeface="Calibri"/>
              </a:rPr>
              <a:t>Estilo de arquitectura</a:t>
            </a:r>
          </a:p>
        </p:txBody>
      </p:sp>
      <p:sp>
        <p:nvSpPr>
          <p:cNvPr id="14" name="TextBox 13"/>
          <p:cNvSpPr txBox="1"/>
          <p:nvPr/>
        </p:nvSpPr>
        <p:spPr>
          <a:xfrm>
            <a:off x="3520440" y="1581912"/>
            <a:ext cx="163677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No impone uno; JSON es frecuente</a:t>
            </a:r>
          </a:p>
        </p:txBody>
      </p:sp>
      <p:sp>
        <p:nvSpPr>
          <p:cNvPr id="15" name="TextBox 14"/>
          <p:cNvSpPr txBox="1"/>
          <p:nvPr/>
        </p:nvSpPr>
        <p:spPr>
          <a:xfrm>
            <a:off x="5303520" y="1581912"/>
            <a:ext cx="168249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Recursos con dirección y método HTTP</a:t>
            </a:r>
          </a:p>
        </p:txBody>
      </p:sp>
      <p:sp>
        <p:nvSpPr>
          <p:cNvPr id="16" name="TextBox 15"/>
          <p:cNvSpPr txBox="1"/>
          <p:nvPr/>
        </p:nvSpPr>
        <p:spPr>
          <a:xfrm>
            <a:off x="7132320" y="1581912"/>
            <a:ext cx="145389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OpenAPI (opcional)</a:t>
            </a:r>
          </a:p>
        </p:txBody>
      </p:sp>
      <p:sp>
        <p:nvSpPr>
          <p:cNvPr id="17" name="Rectangle 16"/>
          <p:cNvSpPr/>
          <p:nvPr/>
        </p:nvSpPr>
        <p:spPr>
          <a:xfrm>
            <a:off x="502920" y="2185416"/>
            <a:ext cx="8138160" cy="603504"/>
          </a:xfrm>
          <a:prstGeom prst="rect">
            <a:avLst/>
          </a:prstGeom>
          <a:solidFill>
            <a:srgbClr val="141D2B"/>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94360" y="2185416"/>
            <a:ext cx="950976" cy="603504"/>
          </a:xfrm>
          <a:prstGeom prst="rect">
            <a:avLst/>
          </a:prstGeom>
          <a:noFill/>
        </p:spPr>
        <p:txBody>
          <a:bodyPr wrap="square" lIns="0" tIns="0" rIns="0" bIns="0" anchor="ctr">
            <a:spAutoFit/>
          </a:bodyPr>
          <a:lstStyle/>
          <a:p>
            <a:pPr algn="l">
              <a:lnSpc>
                <a:spcPts val="1092"/>
              </a:lnSpc>
            </a:pPr>
            <a:r>
              <a:rPr lang="es-CO" sz="950" b="1" i="0">
                <a:solidFill>
                  <a:srgbClr val="56C7F2"/>
                </a:solidFill>
                <a:latin typeface="Calibri"/>
              </a:rPr>
              <a:t>SOAP</a:t>
            </a:r>
          </a:p>
        </p:txBody>
      </p:sp>
      <p:sp>
        <p:nvSpPr>
          <p:cNvPr id="19" name="TextBox 18"/>
          <p:cNvSpPr txBox="1"/>
          <p:nvPr/>
        </p:nvSpPr>
        <p:spPr>
          <a:xfrm>
            <a:off x="1691640" y="2185416"/>
            <a:ext cx="168249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Protocolo de mensajería</a:t>
            </a:r>
          </a:p>
        </p:txBody>
      </p:sp>
      <p:sp>
        <p:nvSpPr>
          <p:cNvPr id="20" name="TextBox 19"/>
          <p:cNvSpPr txBox="1"/>
          <p:nvPr/>
        </p:nvSpPr>
        <p:spPr>
          <a:xfrm>
            <a:off x="3520440" y="2185416"/>
            <a:ext cx="163677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XML</a:t>
            </a:r>
          </a:p>
        </p:txBody>
      </p:sp>
      <p:sp>
        <p:nvSpPr>
          <p:cNvPr id="21" name="TextBox 20"/>
          <p:cNvSpPr txBox="1"/>
          <p:nvPr/>
        </p:nvSpPr>
        <p:spPr>
          <a:xfrm>
            <a:off x="5303520" y="2185416"/>
            <a:ext cx="168249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Mensaje con Envelope y Body; en HTTP, usualmente POST</a:t>
            </a:r>
          </a:p>
        </p:txBody>
      </p:sp>
      <p:sp>
        <p:nvSpPr>
          <p:cNvPr id="22" name="TextBox 21"/>
          <p:cNvSpPr txBox="1"/>
          <p:nvPr/>
        </p:nvSpPr>
        <p:spPr>
          <a:xfrm>
            <a:off x="7132320" y="2185416"/>
            <a:ext cx="145389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WSDL</a:t>
            </a:r>
          </a:p>
        </p:txBody>
      </p:sp>
      <p:sp>
        <p:nvSpPr>
          <p:cNvPr id="23" name="Rectangle 22"/>
          <p:cNvSpPr/>
          <p:nvPr/>
        </p:nvSpPr>
        <p:spPr>
          <a:xfrm>
            <a:off x="502920" y="2788920"/>
            <a:ext cx="8138160" cy="603504"/>
          </a:xfrm>
          <a:prstGeom prst="rect">
            <a:avLst/>
          </a:prstGeom>
          <a:solidFill>
            <a:srgbClr val="1A2434"/>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94360" y="2788920"/>
            <a:ext cx="950976" cy="603504"/>
          </a:xfrm>
          <a:prstGeom prst="rect">
            <a:avLst/>
          </a:prstGeom>
          <a:noFill/>
        </p:spPr>
        <p:txBody>
          <a:bodyPr wrap="square" lIns="0" tIns="0" rIns="0" bIns="0" anchor="ctr">
            <a:spAutoFit/>
          </a:bodyPr>
          <a:lstStyle/>
          <a:p>
            <a:pPr algn="l">
              <a:lnSpc>
                <a:spcPts val="1092"/>
              </a:lnSpc>
            </a:pPr>
            <a:r>
              <a:rPr lang="es-CO" sz="950" b="1" i="0">
                <a:solidFill>
                  <a:srgbClr val="FFB86C"/>
                </a:solidFill>
                <a:latin typeface="Calibri"/>
              </a:rPr>
              <a:t>GraphQL</a:t>
            </a:r>
          </a:p>
        </p:txBody>
      </p:sp>
      <p:sp>
        <p:nvSpPr>
          <p:cNvPr id="25" name="TextBox 24"/>
          <p:cNvSpPr txBox="1"/>
          <p:nvPr/>
        </p:nvSpPr>
        <p:spPr>
          <a:xfrm>
            <a:off x="1691640" y="2788920"/>
            <a:ext cx="168249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Lenguaje de consultas y sistema de ejecución</a:t>
            </a:r>
          </a:p>
        </p:txBody>
      </p:sp>
      <p:sp>
        <p:nvSpPr>
          <p:cNvPr id="26" name="TextBox 25"/>
          <p:cNvSpPr txBox="1"/>
          <p:nvPr/>
        </p:nvSpPr>
        <p:spPr>
          <a:xfrm>
            <a:off x="3520440" y="2788920"/>
            <a:ext cx="163677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Respuesta habitual en JSON</a:t>
            </a:r>
          </a:p>
        </p:txBody>
      </p:sp>
      <p:sp>
        <p:nvSpPr>
          <p:cNvPr id="27" name="TextBox 26"/>
          <p:cNvSpPr txBox="1"/>
          <p:nvPr/>
        </p:nvSpPr>
        <p:spPr>
          <a:xfrm>
            <a:off x="5303520" y="2788920"/>
            <a:ext cx="168249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Consulta que selecciona campos del esquema</a:t>
            </a:r>
          </a:p>
        </p:txBody>
      </p:sp>
      <p:sp>
        <p:nvSpPr>
          <p:cNvPr id="28" name="TextBox 27"/>
          <p:cNvSpPr txBox="1"/>
          <p:nvPr/>
        </p:nvSpPr>
        <p:spPr>
          <a:xfrm>
            <a:off x="7132320" y="2788920"/>
            <a:ext cx="1453896" cy="603504"/>
          </a:xfrm>
          <a:prstGeom prst="rect">
            <a:avLst/>
          </a:prstGeom>
          <a:noFill/>
        </p:spPr>
        <p:txBody>
          <a:bodyPr wrap="square" lIns="0" tIns="0" rIns="0" bIns="0" anchor="ctr">
            <a:spAutoFit/>
          </a:bodyPr>
          <a:lstStyle/>
          <a:p>
            <a:pPr algn="l">
              <a:lnSpc>
                <a:spcPts val="1092"/>
              </a:lnSpc>
            </a:pPr>
            <a:r>
              <a:rPr lang="es-CO" sz="950" b="0" i="0">
                <a:solidFill>
                  <a:srgbClr val="E8EEF6"/>
                </a:solidFill>
                <a:latin typeface="Calibri"/>
              </a:rPr>
              <a:t>Esquema GraphQL</a:t>
            </a:r>
          </a:p>
        </p:txBody>
      </p:sp>
      <p:sp>
        <p:nvSpPr>
          <p:cNvPr id="29" name="Rounded Rectangle 28"/>
          <p:cNvSpPr/>
          <p:nvPr/>
        </p:nvSpPr>
        <p:spPr>
          <a:xfrm>
            <a:off x="502920" y="3557016"/>
            <a:ext cx="2615184" cy="868680"/>
          </a:xfrm>
          <a:prstGeom prst="roundRect">
            <a:avLst>
              <a:gd name="adj" fmla="val 8421"/>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30936" y="3630168"/>
            <a:ext cx="2359152" cy="237744"/>
          </a:xfrm>
          <a:prstGeom prst="rect">
            <a:avLst/>
          </a:prstGeom>
          <a:noFill/>
        </p:spPr>
        <p:txBody>
          <a:bodyPr wrap="square" lIns="0" tIns="0" rIns="0" bIns="0" anchor="ctr">
            <a:spAutoFit/>
          </a:bodyPr>
          <a:lstStyle/>
          <a:p>
            <a:pPr algn="l"/>
            <a:r>
              <a:rPr lang="es-CO" sz="1050" b="1" i="0">
                <a:solidFill>
                  <a:srgbClr val="3DDC97"/>
                </a:solidFill>
                <a:latin typeface="Arial"/>
              </a:rPr>
              <a:t>Punto en común</a:t>
            </a:r>
          </a:p>
        </p:txBody>
      </p:sp>
      <p:sp>
        <p:nvSpPr>
          <p:cNvPr id="31" name="TextBox 30"/>
          <p:cNvSpPr txBox="1"/>
          <p:nvPr/>
        </p:nvSpPr>
        <p:spPr>
          <a:xfrm>
            <a:off x="630936" y="3886200"/>
            <a:ext cx="2359152" cy="466344"/>
          </a:xfrm>
          <a:prstGeom prst="rect">
            <a:avLst/>
          </a:prstGeom>
          <a:noFill/>
        </p:spPr>
        <p:txBody>
          <a:bodyPr wrap="square" lIns="0" tIns="0" rIns="0" bIns="0" anchor="t">
            <a:spAutoFit/>
          </a:bodyPr>
          <a:lstStyle/>
          <a:p>
            <a:pPr algn="l">
              <a:lnSpc>
                <a:spcPts val="1121"/>
              </a:lnSpc>
            </a:pPr>
            <a:r>
              <a:rPr lang="es-CO" sz="950" b="0" i="0">
                <a:solidFill>
                  <a:srgbClr val="E8EEF6"/>
                </a:solidFill>
                <a:latin typeface="Calibri"/>
              </a:rPr>
              <a:t>Los tres permiten que una aplicación use datos u operaciones de otra.</a:t>
            </a:r>
          </a:p>
        </p:txBody>
      </p:sp>
      <p:sp>
        <p:nvSpPr>
          <p:cNvPr id="32" name="Rounded Rectangle 31"/>
          <p:cNvSpPr/>
          <p:nvPr/>
        </p:nvSpPr>
        <p:spPr>
          <a:xfrm>
            <a:off x="3264408" y="3557016"/>
            <a:ext cx="2615184" cy="868680"/>
          </a:xfrm>
          <a:prstGeom prst="roundRect">
            <a:avLst>
              <a:gd name="adj" fmla="val 8421"/>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92424" y="3630168"/>
            <a:ext cx="2359152" cy="237744"/>
          </a:xfrm>
          <a:prstGeom prst="rect">
            <a:avLst/>
          </a:prstGeom>
          <a:noFill/>
        </p:spPr>
        <p:txBody>
          <a:bodyPr wrap="square" lIns="0" tIns="0" rIns="0" bIns="0" anchor="ctr">
            <a:spAutoFit/>
          </a:bodyPr>
          <a:lstStyle/>
          <a:p>
            <a:pPr algn="l"/>
            <a:r>
              <a:rPr lang="es-CO" sz="1050" b="1" i="0">
                <a:solidFill>
                  <a:srgbClr val="56C7F2"/>
                </a:solidFill>
                <a:latin typeface="Arial"/>
              </a:rPr>
              <a:t>Diferencia de nivel</a:t>
            </a:r>
          </a:p>
        </p:txBody>
      </p:sp>
      <p:sp>
        <p:nvSpPr>
          <p:cNvPr id="34" name="TextBox 33"/>
          <p:cNvSpPr txBox="1"/>
          <p:nvPr/>
        </p:nvSpPr>
        <p:spPr>
          <a:xfrm>
            <a:off x="3392424" y="3886200"/>
            <a:ext cx="2359152" cy="466344"/>
          </a:xfrm>
          <a:prstGeom prst="rect">
            <a:avLst/>
          </a:prstGeom>
          <a:noFill/>
        </p:spPr>
        <p:txBody>
          <a:bodyPr wrap="square" lIns="0" tIns="0" rIns="0" bIns="0" anchor="t">
            <a:spAutoFit/>
          </a:bodyPr>
          <a:lstStyle/>
          <a:p>
            <a:pPr algn="l">
              <a:lnSpc>
                <a:spcPts val="1121"/>
              </a:lnSpc>
            </a:pPr>
            <a:r>
              <a:rPr lang="es-CO" sz="950" b="0" i="0">
                <a:solidFill>
                  <a:srgbClr val="E8EEF6"/>
                </a:solidFill>
                <a:latin typeface="Calibri"/>
              </a:rPr>
              <a:t>Un estilo, un protocolo y un lenguaje de consultas.</a:t>
            </a:r>
          </a:p>
        </p:txBody>
      </p:sp>
      <p:sp>
        <p:nvSpPr>
          <p:cNvPr id="35" name="Rounded Rectangle 34"/>
          <p:cNvSpPr/>
          <p:nvPr/>
        </p:nvSpPr>
        <p:spPr>
          <a:xfrm>
            <a:off x="6025896" y="3557016"/>
            <a:ext cx="2615184" cy="868680"/>
          </a:xfrm>
          <a:prstGeom prst="roundRect">
            <a:avLst>
              <a:gd name="adj" fmla="val 8421"/>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153912" y="3630168"/>
            <a:ext cx="2359152" cy="237744"/>
          </a:xfrm>
          <a:prstGeom prst="rect">
            <a:avLst/>
          </a:prstGeom>
          <a:noFill/>
        </p:spPr>
        <p:txBody>
          <a:bodyPr wrap="square" lIns="0" tIns="0" rIns="0" bIns="0" anchor="ctr">
            <a:spAutoFit/>
          </a:bodyPr>
          <a:lstStyle/>
          <a:p>
            <a:pPr algn="l"/>
            <a:r>
              <a:rPr lang="es-CO" sz="1050" b="1" i="0">
                <a:solidFill>
                  <a:srgbClr val="FFB86C"/>
                </a:solidFill>
                <a:latin typeface="Arial"/>
              </a:rPr>
              <a:t>Elección</a:t>
            </a:r>
          </a:p>
        </p:txBody>
      </p:sp>
      <p:sp>
        <p:nvSpPr>
          <p:cNvPr id="37" name="TextBox 36"/>
          <p:cNvSpPr txBox="1"/>
          <p:nvPr/>
        </p:nvSpPr>
        <p:spPr>
          <a:xfrm>
            <a:off x="6153912" y="3886200"/>
            <a:ext cx="2359152" cy="466344"/>
          </a:xfrm>
          <a:prstGeom prst="rect">
            <a:avLst/>
          </a:prstGeom>
          <a:noFill/>
        </p:spPr>
        <p:txBody>
          <a:bodyPr wrap="square" lIns="0" tIns="0" rIns="0" bIns="0" anchor="t">
            <a:spAutoFit/>
          </a:bodyPr>
          <a:lstStyle/>
          <a:p>
            <a:pPr algn="l">
              <a:lnSpc>
                <a:spcPts val="1121"/>
              </a:lnSpc>
            </a:pPr>
            <a:r>
              <a:rPr lang="es-CO" sz="950" b="0" i="0">
                <a:solidFill>
                  <a:srgbClr val="E8EEF6"/>
                </a:solidFill>
                <a:latin typeface="Calibri"/>
              </a:rPr>
              <a:t>Depende de los clientes, los contratos y los datos del sistema.</a:t>
            </a:r>
          </a:p>
        </p:txBody>
      </p:sp>
      <p:sp>
        <p:nvSpPr>
          <p:cNvPr id="38" name="TextBox 37"/>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12 / 24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000" b="1" i="0">
                <a:solidFill>
                  <a:srgbClr val="FFFFFF"/>
                </a:solidFill>
                <a:latin typeface="Arial"/>
              </a:rPr>
              <a:t>WSDL describe una operación, sus entradas y sus salidas</a:t>
            </a:r>
          </a:p>
        </p:txBody>
      </p:sp>
      <p:sp>
        <p:nvSpPr>
          <p:cNvPr id="5" name="TextBox 4"/>
          <p:cNvSpPr txBox="1"/>
          <p:nvPr/>
        </p:nvSpPr>
        <p:spPr>
          <a:xfrm>
            <a:off x="475488" y="1078992"/>
            <a:ext cx="8138160" cy="256032"/>
          </a:xfrm>
          <a:prstGeom prst="rect">
            <a:avLst/>
          </a:prstGeom>
          <a:noFill/>
        </p:spPr>
        <p:txBody>
          <a:bodyPr wrap="square" lIns="0" tIns="0" rIns="0" bIns="0" anchor="t">
            <a:spAutoFit/>
          </a:bodyPr>
          <a:lstStyle/>
          <a:p>
            <a:pPr algn="l"/>
            <a:r>
              <a:rPr lang="es-CO" sz="1150" b="1" i="0">
                <a:solidFill>
                  <a:srgbClr val="3DDC97"/>
                </a:solidFill>
                <a:latin typeface="Calibri"/>
              </a:rPr>
              <a:t>WSDL</a:t>
            </a:r>
            <a:r>
              <a:rPr lang="es-CO" sz="1150" b="0" i="0">
                <a:solidFill>
                  <a:srgbClr val="E8EEF6"/>
                </a:solidFill>
                <a:latin typeface="Calibri"/>
              </a:rPr>
              <a:t> (Web Services Description Language) es un lenguaje XML para describir servicios web.</a:t>
            </a:r>
          </a:p>
        </p:txBody>
      </p:sp>
      <p:sp>
        <p:nvSpPr>
          <p:cNvPr id="6" name="Rounded Rectangle 5"/>
          <p:cNvSpPr/>
          <p:nvPr/>
        </p:nvSpPr>
        <p:spPr>
          <a:xfrm>
            <a:off x="502919" y="1417320"/>
            <a:ext cx="1787843" cy="18288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7" name="TextBox 6"/>
          <p:cNvSpPr txBox="1"/>
          <p:nvPr/>
        </p:nvSpPr>
        <p:spPr>
          <a:xfrm>
            <a:off x="502920" y="1431816"/>
            <a:ext cx="1824644" cy="153888"/>
          </a:xfrm>
          <a:prstGeom prst="rect">
            <a:avLst/>
          </a:prstGeom>
          <a:noFill/>
        </p:spPr>
        <p:txBody>
          <a:bodyPr wrap="square" lIns="0" tIns="0" rIns="0" bIns="0" anchor="ctr">
            <a:spAutoFit/>
          </a:bodyPr>
          <a:lstStyle/>
          <a:p>
            <a:pPr algn="ctr"/>
            <a:r>
              <a:rPr lang="es-CO" sz="1000" b="1" i="0">
                <a:solidFill>
                  <a:srgbClr val="56C7F2"/>
                </a:solidFill>
                <a:latin typeface="Arial"/>
              </a:rPr>
              <a:t>EJEMPLO ILUSTRATIVO</a:t>
            </a:r>
          </a:p>
        </p:txBody>
      </p:sp>
      <p:sp>
        <p:nvSpPr>
          <p:cNvPr id="8" name="Rounded Rectangle 7"/>
          <p:cNvSpPr/>
          <p:nvPr/>
        </p:nvSpPr>
        <p:spPr>
          <a:xfrm>
            <a:off x="502920" y="1664208"/>
            <a:ext cx="4892040" cy="2542032"/>
          </a:xfrm>
          <a:prstGeom prst="roundRect">
            <a:avLst>
              <a:gd name="adj" fmla="val 2877"/>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9" name="TextBox 8"/>
          <p:cNvSpPr txBox="1"/>
          <p:nvPr/>
        </p:nvSpPr>
        <p:spPr>
          <a:xfrm>
            <a:off x="649224" y="1742712"/>
            <a:ext cx="4599431" cy="153888"/>
          </a:xfrm>
          <a:prstGeom prst="rect">
            <a:avLst/>
          </a:prstGeom>
          <a:noFill/>
        </p:spPr>
        <p:txBody>
          <a:bodyPr wrap="square" lIns="0" tIns="0" rIns="0" bIns="0" anchor="ctr">
            <a:spAutoFit/>
          </a:bodyPr>
          <a:lstStyle/>
          <a:p>
            <a:pPr algn="l"/>
            <a:r>
              <a:rPr lang="es-CO" sz="1000" b="1" i="0">
                <a:solidFill>
                  <a:srgbClr val="3DDC97"/>
                </a:solidFill>
                <a:latin typeface="Courier New"/>
              </a:rPr>
              <a:t>contactos.wsdl · WSDL 2.0 abreviado</a:t>
            </a:r>
          </a:p>
        </p:txBody>
      </p:sp>
      <p:sp>
        <p:nvSpPr>
          <p:cNvPr id="10" name="TextBox 9"/>
          <p:cNvSpPr txBox="1"/>
          <p:nvPr/>
        </p:nvSpPr>
        <p:spPr>
          <a:xfrm>
            <a:off x="649224" y="1956816"/>
            <a:ext cx="4599431" cy="1837041"/>
          </a:xfrm>
          <a:prstGeom prst="rect">
            <a:avLst/>
          </a:prstGeom>
          <a:noFill/>
        </p:spPr>
        <p:txBody>
          <a:bodyPr wrap="square" lIns="0" tIns="0" rIns="0" bIns="0" anchor="t">
            <a:spAutoFit/>
          </a:bodyPr>
          <a:lstStyle/>
          <a:p>
            <a:pPr algn="l">
              <a:lnSpc>
                <a:spcPts val="1110"/>
              </a:lnSpc>
            </a:pPr>
            <a:r>
              <a:rPr lang="es-CO" sz="1000" b="0" i="0">
                <a:solidFill>
                  <a:srgbClr val="56C7F2"/>
                </a:solidFill>
                <a:latin typeface="Courier New"/>
              </a:rPr>
              <a:t>&lt;description</a:t>
            </a:r>
            <a:r>
              <a:rPr lang="es-CO" sz="1000" b="0" i="0">
                <a:solidFill>
                  <a:srgbClr val="D7E1EE"/>
                </a:solidFill>
                <a:latin typeface="Courier New"/>
              </a:rPr>
              <a:t> </a:t>
            </a:r>
            <a:r>
              <a:rPr lang="es-CO" sz="1000" b="0" i="0">
                <a:solidFill>
                  <a:srgbClr val="3DDC97"/>
                </a:solidFill>
                <a:latin typeface="Courier New"/>
              </a:rPr>
              <a:t>xmlns</a:t>
            </a:r>
            <a:r>
              <a:rPr lang="es-CO" sz="1000" b="0" i="0">
                <a:solidFill>
                  <a:srgbClr val="56C7F2"/>
                </a:solidFill>
                <a:latin typeface="Courier New"/>
              </a:rPr>
              <a:t>=</a:t>
            </a:r>
            <a:r>
              <a:rPr lang="es-CO" sz="1000" b="0" i="0">
                <a:solidFill>
                  <a:srgbClr val="FFD479"/>
                </a:solidFill>
                <a:latin typeface="Courier New"/>
              </a:rPr>
              <a:t>"http://www.w3.org/ns/wsdl"</a:t>
            </a:r>
          </a:p>
          <a:p>
            <a:pPr algn="l">
              <a:lnSpc>
                <a:spcPts val="1110"/>
              </a:lnSpc>
            </a:pPr>
            <a:r>
              <a:rPr lang="es-CO" sz="1000" b="0" i="0">
                <a:solidFill>
                  <a:srgbClr val="D7E1EE"/>
                </a:solidFill>
                <a:latin typeface="Courier New"/>
              </a:rPr>
              <a:t>    </a:t>
            </a:r>
            <a:r>
              <a:rPr lang="es-CO" sz="1000" b="0" i="0">
                <a:solidFill>
                  <a:srgbClr val="3DDC97"/>
                </a:solidFill>
                <a:latin typeface="Courier New"/>
              </a:rPr>
              <a:t>xmlns:c</a:t>
            </a:r>
            <a:r>
              <a:rPr lang="es-CO" sz="1000" b="0" i="0">
                <a:solidFill>
                  <a:srgbClr val="56C7F2"/>
                </a:solidFill>
                <a:latin typeface="Courier New"/>
              </a:rPr>
              <a:t>=</a:t>
            </a:r>
            <a:r>
              <a:rPr lang="es-CO" sz="1000" b="0" i="0">
                <a:solidFill>
                  <a:srgbClr val="FFD479"/>
                </a:solidFill>
                <a:latin typeface="Courier New"/>
              </a:rPr>
              <a:t>"http://example.com/contactos"</a:t>
            </a:r>
            <a:r>
              <a:rPr lang="es-CO" sz="1000" b="0" i="0">
                <a:solidFill>
                  <a:srgbClr val="D7E1EE"/>
                </a:solidFill>
                <a:latin typeface="Courier New"/>
              </a:rPr>
              <a:t> </a:t>
            </a:r>
            <a:r>
              <a:rPr lang="es-CO" sz="1000" b="0" i="0">
                <a:solidFill>
                  <a:srgbClr val="56C7F2"/>
                </a:solidFill>
                <a:latin typeface="Courier New"/>
              </a:rPr>
              <a:t>...&gt;</a:t>
            </a:r>
          </a:p>
          <a:p>
            <a:pPr algn="l">
              <a:lnSpc>
                <a:spcPts val="1110"/>
              </a:lnSpc>
            </a:pPr>
            <a:r>
              <a:rPr lang="es-CO" sz="1000" b="0" i="0">
                <a:solidFill>
                  <a:srgbClr val="D7E1EE"/>
                </a:solidFill>
                <a:latin typeface="Courier New"/>
              </a:rPr>
              <a:t>  </a:t>
            </a:r>
            <a:r>
              <a:rPr lang="es-CO" sz="1000" b="0" i="0">
                <a:solidFill>
                  <a:srgbClr val="56C7F2"/>
                </a:solidFill>
                <a:latin typeface="Courier New"/>
              </a:rPr>
              <a:t>&lt;types&gt;</a:t>
            </a:r>
            <a:r>
              <a:rPr lang="es-CO" sz="1000" b="0" i="0">
                <a:solidFill>
                  <a:srgbClr val="D7E1EE"/>
                </a:solidFill>
                <a:latin typeface="Courier New"/>
              </a:rPr>
              <a:t> ... </a:t>
            </a:r>
            <a:r>
              <a:rPr lang="es-CO" sz="1000" b="0" i="0">
                <a:solidFill>
                  <a:srgbClr val="56C7F2"/>
                </a:solidFill>
                <a:latin typeface="Courier New"/>
              </a:rPr>
              <a:t>&lt;/types&gt;</a:t>
            </a:r>
          </a:p>
          <a:p>
            <a:pPr algn="l">
              <a:lnSpc>
                <a:spcPts val="1110"/>
              </a:lnSpc>
            </a:pPr>
            <a:r>
              <a:rPr lang="es-CO" sz="1000" b="0" i="0">
                <a:solidFill>
                  <a:srgbClr val="D7E1EE"/>
                </a:solidFill>
                <a:latin typeface="Courier New"/>
              </a:rPr>
              <a:t>  </a:t>
            </a:r>
            <a:r>
              <a:rPr lang="es-CO" sz="1000" b="0" i="0">
                <a:solidFill>
                  <a:srgbClr val="56C7F2"/>
                </a:solidFill>
                <a:latin typeface="Courier New"/>
              </a:rPr>
              <a:t>&lt;interface</a:t>
            </a:r>
            <a:r>
              <a:rPr lang="es-CO" sz="1000" b="0" i="0">
                <a:solidFill>
                  <a:srgbClr val="D7E1EE"/>
                </a:solidFill>
                <a:latin typeface="Courier New"/>
              </a:rPr>
              <a:t> </a:t>
            </a:r>
            <a:r>
              <a:rPr lang="es-CO" sz="1000" b="0" i="0">
                <a:solidFill>
                  <a:srgbClr val="3DDC97"/>
                </a:solidFill>
                <a:latin typeface="Courier New"/>
              </a:rPr>
              <a:t>name</a:t>
            </a:r>
            <a:r>
              <a:rPr lang="es-CO" sz="1000" b="0" i="0">
                <a:solidFill>
                  <a:srgbClr val="56C7F2"/>
                </a:solidFill>
                <a:latin typeface="Courier New"/>
              </a:rPr>
              <a:t>=</a:t>
            </a:r>
            <a:r>
              <a:rPr lang="es-CO" sz="1000" b="0" i="0">
                <a:solidFill>
                  <a:srgbClr val="FFD479"/>
                </a:solidFill>
                <a:latin typeface="Courier New"/>
              </a:rPr>
              <a:t>"ServicioContactos"</a:t>
            </a:r>
            <a:r>
              <a:rPr lang="es-CO" sz="1000" b="0" i="0">
                <a:solidFill>
                  <a:srgbClr val="56C7F2"/>
                </a:solidFill>
                <a:latin typeface="Courier New"/>
              </a:rPr>
              <a:t>&gt;</a:t>
            </a:r>
          </a:p>
          <a:p>
            <a:pPr algn="l">
              <a:lnSpc>
                <a:spcPts val="1110"/>
              </a:lnSpc>
            </a:pPr>
            <a:r>
              <a:rPr lang="es-CO" sz="1000" b="0" i="0">
                <a:solidFill>
                  <a:srgbClr val="D7E1EE"/>
                </a:solidFill>
                <a:latin typeface="Courier New"/>
              </a:rPr>
              <a:t>    </a:t>
            </a:r>
            <a:r>
              <a:rPr lang="es-CO" sz="1000" b="0" i="0">
                <a:solidFill>
                  <a:srgbClr val="56C7F2"/>
                </a:solidFill>
                <a:latin typeface="Courier New"/>
              </a:rPr>
              <a:t>&lt;operation</a:t>
            </a:r>
            <a:r>
              <a:rPr lang="es-CO" sz="1000" b="0" i="0">
                <a:solidFill>
                  <a:srgbClr val="D7E1EE"/>
                </a:solidFill>
                <a:latin typeface="Courier New"/>
              </a:rPr>
              <a:t> </a:t>
            </a:r>
            <a:r>
              <a:rPr lang="es-CO" sz="1000" b="0" i="0">
                <a:solidFill>
                  <a:srgbClr val="3DDC97"/>
                </a:solidFill>
                <a:latin typeface="Courier New"/>
              </a:rPr>
              <a:t>name</a:t>
            </a:r>
            <a:r>
              <a:rPr lang="es-CO" sz="1000" b="0" i="0">
                <a:solidFill>
                  <a:srgbClr val="56C7F2"/>
                </a:solidFill>
                <a:latin typeface="Courier New"/>
              </a:rPr>
              <a:t>=</a:t>
            </a:r>
            <a:r>
              <a:rPr lang="es-CO" sz="1000" b="0" i="0">
                <a:solidFill>
                  <a:srgbClr val="FFD479"/>
                </a:solidFill>
                <a:latin typeface="Courier New"/>
              </a:rPr>
              <a:t>"consultarContactos"</a:t>
            </a:r>
          </a:p>
          <a:p>
            <a:pPr algn="l">
              <a:lnSpc>
                <a:spcPts val="1110"/>
              </a:lnSpc>
            </a:pPr>
            <a:r>
              <a:rPr lang="es-CO" sz="1000" b="0" i="0">
                <a:solidFill>
                  <a:srgbClr val="D7E1EE"/>
                </a:solidFill>
                <a:latin typeface="Courier New"/>
              </a:rPr>
              <a:t>        </a:t>
            </a:r>
            <a:r>
              <a:rPr lang="es-CO" sz="1000" b="0" i="0">
                <a:solidFill>
                  <a:srgbClr val="3DDC97"/>
                </a:solidFill>
                <a:latin typeface="Courier New"/>
              </a:rPr>
              <a:t>pattern</a:t>
            </a:r>
            <a:r>
              <a:rPr lang="es-CO" sz="1000" b="0" i="0">
                <a:solidFill>
                  <a:srgbClr val="56C7F2"/>
                </a:solidFill>
                <a:latin typeface="Courier New"/>
              </a:rPr>
              <a:t>=</a:t>
            </a:r>
            <a:r>
              <a:rPr lang="es-CO" sz="1000" b="0" i="0">
                <a:solidFill>
                  <a:srgbClr val="FFD479"/>
                </a:solidFill>
                <a:latin typeface="Courier New"/>
              </a:rPr>
              <a:t>"http://www.w3.org/ns/wsdl/in-out"</a:t>
            </a:r>
            <a:r>
              <a:rPr lang="es-CO" sz="1000" b="0" i="0">
                <a:solidFill>
                  <a:srgbClr val="56C7F2"/>
                </a:solidFill>
                <a:latin typeface="Courier New"/>
              </a:rPr>
              <a:t>&gt;</a:t>
            </a:r>
          </a:p>
          <a:p>
            <a:pPr algn="l">
              <a:lnSpc>
                <a:spcPts val="1110"/>
              </a:lnSpc>
            </a:pPr>
            <a:r>
              <a:rPr lang="es-CO" sz="1000" b="0" i="0">
                <a:solidFill>
                  <a:srgbClr val="D7E1EE"/>
                </a:solidFill>
                <a:latin typeface="Courier New"/>
              </a:rPr>
              <a:t>      </a:t>
            </a:r>
            <a:r>
              <a:rPr lang="es-CO" sz="1000" b="0" i="0">
                <a:solidFill>
                  <a:srgbClr val="56C7F2"/>
                </a:solidFill>
                <a:latin typeface="Courier New"/>
              </a:rPr>
              <a:t>&lt;input</a:t>
            </a:r>
            <a:r>
              <a:rPr lang="es-CO" sz="1000" b="0" i="0">
                <a:solidFill>
                  <a:srgbClr val="D7E1EE"/>
                </a:solidFill>
                <a:latin typeface="Courier New"/>
              </a:rPr>
              <a:t>  </a:t>
            </a:r>
            <a:r>
              <a:rPr lang="es-CO" sz="1000" b="0" i="0">
                <a:solidFill>
                  <a:srgbClr val="3DDC97"/>
                </a:solidFill>
                <a:latin typeface="Courier New"/>
              </a:rPr>
              <a:t>element</a:t>
            </a:r>
            <a:r>
              <a:rPr lang="es-CO" sz="1000" b="0" i="0">
                <a:solidFill>
                  <a:srgbClr val="56C7F2"/>
                </a:solidFill>
                <a:latin typeface="Courier New"/>
              </a:rPr>
              <a:t>=</a:t>
            </a:r>
            <a:r>
              <a:rPr lang="es-CO" sz="1000" b="0" i="0">
                <a:solidFill>
                  <a:srgbClr val="FFD479"/>
                </a:solidFill>
                <a:latin typeface="Courier New"/>
              </a:rPr>
              <a:t>"c:solicitudContactos"</a:t>
            </a:r>
            <a:r>
              <a:rPr lang="es-CO" sz="1000" b="0" i="0">
                <a:solidFill>
                  <a:srgbClr val="56C7F2"/>
                </a:solidFill>
                <a:latin typeface="Courier New"/>
              </a:rPr>
              <a:t>/&gt;</a:t>
            </a:r>
          </a:p>
          <a:p>
            <a:pPr algn="l">
              <a:lnSpc>
                <a:spcPts val="1110"/>
              </a:lnSpc>
            </a:pPr>
            <a:r>
              <a:rPr lang="es-CO" sz="1000" b="0" i="0">
                <a:solidFill>
                  <a:srgbClr val="D7E1EE"/>
                </a:solidFill>
                <a:latin typeface="Courier New"/>
              </a:rPr>
              <a:t>      </a:t>
            </a:r>
            <a:r>
              <a:rPr lang="es-CO" sz="1000" b="0" i="0">
                <a:solidFill>
                  <a:srgbClr val="56C7F2"/>
                </a:solidFill>
                <a:latin typeface="Courier New"/>
              </a:rPr>
              <a:t>&lt;output</a:t>
            </a:r>
            <a:r>
              <a:rPr lang="es-CO" sz="1000" b="0" i="0">
                <a:solidFill>
                  <a:srgbClr val="D7E1EE"/>
                </a:solidFill>
                <a:latin typeface="Courier New"/>
              </a:rPr>
              <a:t> </a:t>
            </a:r>
            <a:r>
              <a:rPr lang="es-CO" sz="1000" b="0" i="0">
                <a:solidFill>
                  <a:srgbClr val="3DDC97"/>
                </a:solidFill>
                <a:latin typeface="Courier New"/>
              </a:rPr>
              <a:t>element</a:t>
            </a:r>
            <a:r>
              <a:rPr lang="es-CO" sz="1000" b="0" i="0">
                <a:solidFill>
                  <a:srgbClr val="56C7F2"/>
                </a:solidFill>
                <a:latin typeface="Courier New"/>
              </a:rPr>
              <a:t>=</a:t>
            </a:r>
            <a:r>
              <a:rPr lang="es-CO" sz="1000" b="0" i="0">
                <a:solidFill>
                  <a:srgbClr val="FFD479"/>
                </a:solidFill>
                <a:latin typeface="Courier New"/>
              </a:rPr>
              <a:t>"c:listaContactos"</a:t>
            </a:r>
            <a:r>
              <a:rPr lang="es-CO" sz="1000" b="0" i="0">
                <a:solidFill>
                  <a:srgbClr val="56C7F2"/>
                </a:solidFill>
                <a:latin typeface="Courier New"/>
              </a:rPr>
              <a:t>/&gt;</a:t>
            </a:r>
          </a:p>
          <a:p>
            <a:pPr algn="l">
              <a:lnSpc>
                <a:spcPts val="1110"/>
              </a:lnSpc>
            </a:pPr>
            <a:r>
              <a:rPr lang="es-CO" sz="1000" b="0" i="0">
                <a:solidFill>
                  <a:srgbClr val="D7E1EE"/>
                </a:solidFill>
                <a:latin typeface="Courier New"/>
              </a:rPr>
              <a:t>    </a:t>
            </a:r>
            <a:r>
              <a:rPr lang="es-CO" sz="1000" b="0" i="0">
                <a:solidFill>
                  <a:srgbClr val="56C7F2"/>
                </a:solidFill>
                <a:latin typeface="Courier New"/>
              </a:rPr>
              <a:t>&lt;/operation&gt;</a:t>
            </a:r>
          </a:p>
          <a:p>
            <a:pPr algn="l">
              <a:lnSpc>
                <a:spcPts val="1110"/>
              </a:lnSpc>
            </a:pPr>
            <a:r>
              <a:rPr lang="es-CO" sz="1000" b="0" i="0">
                <a:solidFill>
                  <a:srgbClr val="D7E1EE"/>
                </a:solidFill>
                <a:latin typeface="Courier New"/>
              </a:rPr>
              <a:t>  </a:t>
            </a:r>
            <a:r>
              <a:rPr lang="es-CO" sz="1000" b="0" i="0">
                <a:solidFill>
                  <a:srgbClr val="56C7F2"/>
                </a:solidFill>
                <a:latin typeface="Courier New"/>
              </a:rPr>
              <a:t>&lt;/interface&gt;</a:t>
            </a:r>
          </a:p>
          <a:p>
            <a:pPr algn="l">
              <a:lnSpc>
                <a:spcPts val="1110"/>
              </a:lnSpc>
            </a:pPr>
            <a:r>
              <a:rPr lang="es-CO" sz="1000" b="0" i="0">
                <a:solidFill>
                  <a:srgbClr val="D7E1EE"/>
                </a:solidFill>
                <a:latin typeface="Courier New"/>
              </a:rPr>
              <a:t>  </a:t>
            </a:r>
            <a:r>
              <a:rPr lang="es-CO" sz="1000" b="0" i="0">
                <a:solidFill>
                  <a:srgbClr val="56C7F2"/>
                </a:solidFill>
                <a:latin typeface="Courier New"/>
              </a:rPr>
              <a:t>&lt;binding</a:t>
            </a:r>
            <a:r>
              <a:rPr lang="es-CO" sz="1000" b="0" i="0">
                <a:solidFill>
                  <a:srgbClr val="D7E1EE"/>
                </a:solidFill>
                <a:latin typeface="Courier New"/>
              </a:rPr>
              <a:t> </a:t>
            </a:r>
            <a:r>
              <a:rPr lang="es-CO" sz="1000" b="0" i="0">
                <a:solidFill>
                  <a:srgbClr val="56C7F2"/>
                </a:solidFill>
                <a:latin typeface="Courier New"/>
              </a:rPr>
              <a:t>...&gt;</a:t>
            </a:r>
            <a:r>
              <a:rPr lang="es-CO" sz="1000" b="0" i="0">
                <a:solidFill>
                  <a:srgbClr val="D7E1EE"/>
                </a:solidFill>
                <a:latin typeface="Courier New"/>
              </a:rPr>
              <a:t> ... </a:t>
            </a:r>
            <a:r>
              <a:rPr lang="es-CO" sz="1000" b="0" i="0">
                <a:solidFill>
                  <a:srgbClr val="56C7F2"/>
                </a:solidFill>
                <a:latin typeface="Courier New"/>
              </a:rPr>
              <a:t>&lt;/binding&gt;</a:t>
            </a:r>
          </a:p>
          <a:p>
            <a:pPr algn="l">
              <a:lnSpc>
                <a:spcPts val="1110"/>
              </a:lnSpc>
            </a:pPr>
            <a:r>
              <a:rPr lang="es-CO" sz="1000" b="0" i="0">
                <a:solidFill>
                  <a:srgbClr val="D7E1EE"/>
                </a:solidFill>
                <a:latin typeface="Courier New"/>
              </a:rPr>
              <a:t>  </a:t>
            </a:r>
            <a:r>
              <a:rPr lang="es-CO" sz="1000" b="0" i="0">
                <a:solidFill>
                  <a:srgbClr val="56C7F2"/>
                </a:solidFill>
                <a:latin typeface="Courier New"/>
              </a:rPr>
              <a:t>&lt;service</a:t>
            </a:r>
            <a:r>
              <a:rPr lang="es-CO" sz="1000" b="0" i="0">
                <a:solidFill>
                  <a:srgbClr val="D7E1EE"/>
                </a:solidFill>
                <a:latin typeface="Courier New"/>
              </a:rPr>
              <a:t> </a:t>
            </a:r>
            <a:r>
              <a:rPr lang="es-CO" sz="1000" b="0" i="0">
                <a:solidFill>
                  <a:srgbClr val="56C7F2"/>
                </a:solidFill>
                <a:latin typeface="Courier New"/>
              </a:rPr>
              <a:t>...&gt;</a:t>
            </a:r>
            <a:r>
              <a:rPr lang="es-CO" sz="1000" b="0" i="0">
                <a:solidFill>
                  <a:srgbClr val="D7E1EE"/>
                </a:solidFill>
                <a:latin typeface="Courier New"/>
              </a:rPr>
              <a:t> ... </a:t>
            </a:r>
            <a:r>
              <a:rPr lang="es-CO" sz="1000" b="0" i="0">
                <a:solidFill>
                  <a:srgbClr val="56C7F2"/>
                </a:solidFill>
                <a:latin typeface="Courier New"/>
              </a:rPr>
              <a:t>&lt;/service&gt;</a:t>
            </a:r>
          </a:p>
          <a:p>
            <a:pPr algn="l">
              <a:lnSpc>
                <a:spcPts val="1110"/>
              </a:lnSpc>
            </a:pPr>
            <a:r>
              <a:rPr lang="es-CO" sz="1000" b="0" i="0">
                <a:solidFill>
                  <a:srgbClr val="56C7F2"/>
                </a:solidFill>
                <a:latin typeface="Courier New"/>
              </a:rPr>
              <a:t>&lt;/description&gt;</a:t>
            </a:r>
          </a:p>
        </p:txBody>
      </p:sp>
      <p:sp>
        <p:nvSpPr>
          <p:cNvPr id="11" name="Rounded Rectangle 10"/>
          <p:cNvSpPr/>
          <p:nvPr/>
        </p:nvSpPr>
        <p:spPr>
          <a:xfrm>
            <a:off x="5532120" y="1664208"/>
            <a:ext cx="3108960" cy="429768"/>
          </a:xfrm>
          <a:prstGeom prst="roundRect">
            <a:avLst>
              <a:gd name="adj" fmla="val 17021"/>
            </a:avLst>
          </a:prstGeom>
          <a:solidFill>
            <a:srgbClr val="1A2434"/>
          </a:solidFill>
          <a:ln w="12700">
            <a:solidFill>
              <a:srgbClr val="6C7E9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12" name="TextBox 11"/>
          <p:cNvSpPr txBox="1"/>
          <p:nvPr/>
        </p:nvSpPr>
        <p:spPr>
          <a:xfrm>
            <a:off x="5660136" y="1802148"/>
            <a:ext cx="1097280" cy="153888"/>
          </a:xfrm>
          <a:prstGeom prst="rect">
            <a:avLst/>
          </a:prstGeom>
          <a:noFill/>
        </p:spPr>
        <p:txBody>
          <a:bodyPr wrap="square" lIns="0" tIns="0" rIns="0" bIns="0" anchor="ctr">
            <a:spAutoFit/>
          </a:bodyPr>
          <a:lstStyle/>
          <a:p>
            <a:pPr algn="l"/>
            <a:r>
              <a:rPr lang="es-CO" sz="1000" b="1" i="0">
                <a:solidFill>
                  <a:srgbClr val="6C7E96"/>
                </a:solidFill>
                <a:latin typeface="Courier New"/>
              </a:rPr>
              <a:t>types</a:t>
            </a:r>
          </a:p>
        </p:txBody>
      </p:sp>
      <p:sp>
        <p:nvSpPr>
          <p:cNvPr id="13" name="TextBox 12"/>
          <p:cNvSpPr txBox="1"/>
          <p:nvPr/>
        </p:nvSpPr>
        <p:spPr>
          <a:xfrm>
            <a:off x="6830568" y="1808560"/>
            <a:ext cx="1682496" cy="141064"/>
          </a:xfrm>
          <a:prstGeom prst="rect">
            <a:avLst/>
          </a:prstGeom>
          <a:noFill/>
        </p:spPr>
        <p:txBody>
          <a:bodyPr wrap="square" lIns="0" tIns="0" rIns="0" bIns="0" anchor="ctr">
            <a:spAutoFit/>
          </a:bodyPr>
          <a:lstStyle/>
          <a:p>
            <a:pPr algn="l">
              <a:lnSpc>
                <a:spcPts val="1057"/>
              </a:lnSpc>
            </a:pPr>
            <a:r>
              <a:rPr lang="es-CO" sz="1000" b="0" i="0">
                <a:solidFill>
                  <a:srgbClr val="E8EEF6"/>
                </a:solidFill>
                <a:latin typeface="Calibri"/>
              </a:rPr>
              <a:t>Estructura de los mensajes.</a:t>
            </a:r>
          </a:p>
        </p:txBody>
      </p:sp>
      <p:sp>
        <p:nvSpPr>
          <p:cNvPr id="14" name="Rounded Rectangle 13"/>
          <p:cNvSpPr/>
          <p:nvPr/>
        </p:nvSpPr>
        <p:spPr>
          <a:xfrm>
            <a:off x="5532120" y="2191816"/>
            <a:ext cx="3108960" cy="429768"/>
          </a:xfrm>
          <a:prstGeom prst="roundRect">
            <a:avLst>
              <a:gd name="adj" fmla="val 17021"/>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15" name="TextBox 14"/>
          <p:cNvSpPr txBox="1"/>
          <p:nvPr/>
        </p:nvSpPr>
        <p:spPr>
          <a:xfrm>
            <a:off x="5660136" y="2329756"/>
            <a:ext cx="1097280" cy="153888"/>
          </a:xfrm>
          <a:prstGeom prst="rect">
            <a:avLst/>
          </a:prstGeom>
          <a:noFill/>
        </p:spPr>
        <p:txBody>
          <a:bodyPr wrap="square" lIns="0" tIns="0" rIns="0" bIns="0" anchor="ctr">
            <a:spAutoFit/>
          </a:bodyPr>
          <a:lstStyle/>
          <a:p>
            <a:pPr algn="l"/>
            <a:r>
              <a:rPr lang="es-CO" sz="1000" b="1" i="0">
                <a:solidFill>
                  <a:srgbClr val="3DDC97"/>
                </a:solidFill>
                <a:latin typeface="Courier New"/>
              </a:rPr>
              <a:t>interface</a:t>
            </a:r>
          </a:p>
        </p:txBody>
      </p:sp>
      <p:sp>
        <p:nvSpPr>
          <p:cNvPr id="16" name="TextBox 15"/>
          <p:cNvSpPr txBox="1"/>
          <p:nvPr/>
        </p:nvSpPr>
        <p:spPr>
          <a:xfrm>
            <a:off x="6830568" y="2265635"/>
            <a:ext cx="1682496" cy="282129"/>
          </a:xfrm>
          <a:prstGeom prst="rect">
            <a:avLst/>
          </a:prstGeom>
          <a:noFill/>
        </p:spPr>
        <p:txBody>
          <a:bodyPr wrap="square" lIns="0" tIns="0" rIns="0" bIns="0" anchor="ctr">
            <a:spAutoFit/>
          </a:bodyPr>
          <a:lstStyle/>
          <a:p>
            <a:pPr algn="l">
              <a:lnSpc>
                <a:spcPts val="1057"/>
              </a:lnSpc>
            </a:pPr>
            <a:r>
              <a:rPr lang="es-CO" sz="1000" b="0" i="0">
                <a:solidFill>
                  <a:srgbClr val="E8EEF6"/>
                </a:solidFill>
                <a:latin typeface="Calibri"/>
              </a:rPr>
              <a:t>Operaciones que ofrece el servicio.</a:t>
            </a:r>
          </a:p>
        </p:txBody>
      </p:sp>
      <p:sp>
        <p:nvSpPr>
          <p:cNvPr id="17" name="Rounded Rectangle 16"/>
          <p:cNvSpPr/>
          <p:nvPr/>
        </p:nvSpPr>
        <p:spPr>
          <a:xfrm>
            <a:off x="5532120" y="2719425"/>
            <a:ext cx="3108960" cy="429768"/>
          </a:xfrm>
          <a:prstGeom prst="roundRect">
            <a:avLst>
              <a:gd name="adj" fmla="val 17021"/>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18" name="TextBox 17"/>
          <p:cNvSpPr txBox="1"/>
          <p:nvPr/>
        </p:nvSpPr>
        <p:spPr>
          <a:xfrm>
            <a:off x="5660136" y="2857365"/>
            <a:ext cx="1097280" cy="153888"/>
          </a:xfrm>
          <a:prstGeom prst="rect">
            <a:avLst/>
          </a:prstGeom>
          <a:noFill/>
        </p:spPr>
        <p:txBody>
          <a:bodyPr wrap="square" lIns="0" tIns="0" rIns="0" bIns="0" anchor="ctr">
            <a:spAutoFit/>
          </a:bodyPr>
          <a:lstStyle/>
          <a:p>
            <a:pPr algn="l"/>
            <a:r>
              <a:rPr lang="es-CO" sz="1000" b="1" i="0">
                <a:solidFill>
                  <a:srgbClr val="56C7F2"/>
                </a:solidFill>
                <a:latin typeface="Courier New"/>
              </a:rPr>
              <a:t>input / output</a:t>
            </a:r>
          </a:p>
        </p:txBody>
      </p:sp>
      <p:sp>
        <p:nvSpPr>
          <p:cNvPr id="19" name="TextBox 18"/>
          <p:cNvSpPr txBox="1"/>
          <p:nvPr/>
        </p:nvSpPr>
        <p:spPr>
          <a:xfrm>
            <a:off x="6830568" y="2863777"/>
            <a:ext cx="1682496" cy="141064"/>
          </a:xfrm>
          <a:prstGeom prst="rect">
            <a:avLst/>
          </a:prstGeom>
          <a:noFill/>
        </p:spPr>
        <p:txBody>
          <a:bodyPr wrap="square" lIns="0" tIns="0" rIns="0" bIns="0" anchor="ctr">
            <a:spAutoFit/>
          </a:bodyPr>
          <a:lstStyle/>
          <a:p>
            <a:pPr algn="l">
              <a:lnSpc>
                <a:spcPts val="1057"/>
              </a:lnSpc>
            </a:pPr>
            <a:r>
              <a:rPr lang="es-CO" sz="1000" b="0" i="0">
                <a:solidFill>
                  <a:srgbClr val="E8EEF6"/>
                </a:solidFill>
                <a:latin typeface="Calibri"/>
              </a:rPr>
              <a:t>Mensaje de entrada y de salida.</a:t>
            </a:r>
          </a:p>
        </p:txBody>
      </p:sp>
      <p:sp>
        <p:nvSpPr>
          <p:cNvPr id="20" name="Rounded Rectangle 19"/>
          <p:cNvSpPr/>
          <p:nvPr/>
        </p:nvSpPr>
        <p:spPr>
          <a:xfrm>
            <a:off x="5532120" y="3247034"/>
            <a:ext cx="3108960" cy="429768"/>
          </a:xfrm>
          <a:prstGeom prst="roundRect">
            <a:avLst>
              <a:gd name="adj" fmla="val 17021"/>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21" name="TextBox 20"/>
          <p:cNvSpPr txBox="1"/>
          <p:nvPr/>
        </p:nvSpPr>
        <p:spPr>
          <a:xfrm>
            <a:off x="5660136" y="3384974"/>
            <a:ext cx="1097280" cy="153888"/>
          </a:xfrm>
          <a:prstGeom prst="rect">
            <a:avLst/>
          </a:prstGeom>
          <a:noFill/>
        </p:spPr>
        <p:txBody>
          <a:bodyPr wrap="square" lIns="0" tIns="0" rIns="0" bIns="0" anchor="ctr">
            <a:spAutoFit/>
          </a:bodyPr>
          <a:lstStyle/>
          <a:p>
            <a:pPr algn="l"/>
            <a:r>
              <a:rPr lang="es-CO" sz="1000" b="1" i="0">
                <a:solidFill>
                  <a:srgbClr val="FFB86C"/>
                </a:solidFill>
                <a:latin typeface="Courier New"/>
              </a:rPr>
              <a:t>binding</a:t>
            </a:r>
          </a:p>
        </p:txBody>
      </p:sp>
      <p:sp>
        <p:nvSpPr>
          <p:cNvPr id="22" name="TextBox 21"/>
          <p:cNvSpPr txBox="1"/>
          <p:nvPr/>
        </p:nvSpPr>
        <p:spPr>
          <a:xfrm>
            <a:off x="6830568" y="3391386"/>
            <a:ext cx="1682496" cy="141064"/>
          </a:xfrm>
          <a:prstGeom prst="rect">
            <a:avLst/>
          </a:prstGeom>
          <a:noFill/>
        </p:spPr>
        <p:txBody>
          <a:bodyPr wrap="square" lIns="0" tIns="0" rIns="0" bIns="0" anchor="ctr">
            <a:spAutoFit/>
          </a:bodyPr>
          <a:lstStyle/>
          <a:p>
            <a:pPr algn="l">
              <a:lnSpc>
                <a:spcPts val="1057"/>
              </a:lnSpc>
            </a:pPr>
            <a:r>
              <a:rPr lang="es-CO" sz="1000" b="0" i="0">
                <a:solidFill>
                  <a:srgbClr val="E8EEF6"/>
                </a:solidFill>
                <a:latin typeface="Calibri"/>
              </a:rPr>
              <a:t>Protocolo y formato concretos.</a:t>
            </a:r>
          </a:p>
        </p:txBody>
      </p:sp>
      <p:sp>
        <p:nvSpPr>
          <p:cNvPr id="23" name="Rounded Rectangle 22"/>
          <p:cNvSpPr/>
          <p:nvPr/>
        </p:nvSpPr>
        <p:spPr>
          <a:xfrm>
            <a:off x="5532120" y="3774643"/>
            <a:ext cx="3108960" cy="429768"/>
          </a:xfrm>
          <a:prstGeom prst="roundRect">
            <a:avLst>
              <a:gd name="adj" fmla="val 17021"/>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000"/>
          </a:p>
        </p:txBody>
      </p:sp>
      <p:sp>
        <p:nvSpPr>
          <p:cNvPr id="24" name="TextBox 23"/>
          <p:cNvSpPr txBox="1"/>
          <p:nvPr/>
        </p:nvSpPr>
        <p:spPr>
          <a:xfrm>
            <a:off x="5660136" y="3912583"/>
            <a:ext cx="1097280" cy="153888"/>
          </a:xfrm>
          <a:prstGeom prst="rect">
            <a:avLst/>
          </a:prstGeom>
          <a:noFill/>
        </p:spPr>
        <p:txBody>
          <a:bodyPr wrap="square" lIns="0" tIns="0" rIns="0" bIns="0" anchor="ctr">
            <a:spAutoFit/>
          </a:bodyPr>
          <a:lstStyle/>
          <a:p>
            <a:pPr algn="l"/>
            <a:r>
              <a:rPr lang="es-CO" sz="1000" b="1" i="0">
                <a:solidFill>
                  <a:srgbClr val="FFD479"/>
                </a:solidFill>
                <a:latin typeface="Courier New"/>
              </a:rPr>
              <a:t>service</a:t>
            </a:r>
          </a:p>
        </p:txBody>
      </p:sp>
      <p:sp>
        <p:nvSpPr>
          <p:cNvPr id="25" name="TextBox 24"/>
          <p:cNvSpPr txBox="1"/>
          <p:nvPr/>
        </p:nvSpPr>
        <p:spPr>
          <a:xfrm>
            <a:off x="6830568" y="3918995"/>
            <a:ext cx="1682496" cy="141064"/>
          </a:xfrm>
          <a:prstGeom prst="rect">
            <a:avLst/>
          </a:prstGeom>
          <a:noFill/>
        </p:spPr>
        <p:txBody>
          <a:bodyPr wrap="square" lIns="0" tIns="0" rIns="0" bIns="0" anchor="ctr">
            <a:spAutoFit/>
          </a:bodyPr>
          <a:lstStyle/>
          <a:p>
            <a:pPr algn="l">
              <a:lnSpc>
                <a:spcPts val="1057"/>
              </a:lnSpc>
            </a:pPr>
            <a:r>
              <a:rPr lang="es-CO" sz="1000" b="0" i="0">
                <a:solidFill>
                  <a:srgbClr val="E8EEF6"/>
                </a:solidFill>
                <a:latin typeface="Calibri"/>
              </a:rPr>
              <a:t>Dirección donde se atiende.</a:t>
            </a:r>
          </a:p>
        </p:txBody>
      </p:sp>
      <p:sp>
        <p:nvSpPr>
          <p:cNvPr id="26" name="TextBox 25"/>
          <p:cNvSpPr txBox="1"/>
          <p:nvPr/>
        </p:nvSpPr>
        <p:spPr>
          <a:xfrm>
            <a:off x="502920" y="4385328"/>
            <a:ext cx="8138160" cy="153888"/>
          </a:xfrm>
          <a:prstGeom prst="rect">
            <a:avLst/>
          </a:prstGeom>
          <a:noFill/>
        </p:spPr>
        <p:txBody>
          <a:bodyPr wrap="square" lIns="0" tIns="0" rIns="0" bIns="0" anchor="ctr">
            <a:spAutoFit/>
          </a:bodyPr>
          <a:lstStyle/>
          <a:p>
            <a:pPr algn="l"/>
            <a:r>
              <a:rPr lang="es-CO" sz="1000" b="0" i="1">
                <a:solidFill>
                  <a:srgbClr val="93A5BD"/>
                </a:solidFill>
                <a:latin typeface="Calibri"/>
              </a:rPr>
              <a:t>WSDL describe el servicio; los mensajes que se intercambian pueden ser SOAP.</a:t>
            </a:r>
          </a:p>
        </p:txBody>
      </p:sp>
      <p:sp>
        <p:nvSpPr>
          <p:cNvPr id="27" name="TextBox 26"/>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13 / 24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152144"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152144" cy="228600"/>
          </a:xfrm>
          <a:prstGeom prst="rect">
            <a:avLst/>
          </a:prstGeom>
          <a:noFill/>
        </p:spPr>
        <p:txBody>
          <a:bodyPr wrap="square" lIns="0" tIns="0" rIns="0" bIns="0" anchor="ctr">
            <a:spAutoFit/>
          </a:bodyPr>
          <a:lstStyle/>
          <a:p>
            <a:pPr algn="ctr"/>
            <a:r>
              <a:rPr lang="es-CO" sz="850" b="1" i="0">
                <a:solidFill>
                  <a:srgbClr val="3DDC97"/>
                </a:solidFill>
                <a:latin typeface="Arial"/>
              </a:rPr>
              <a:t>CONCEPTO</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OpenAPI en YAML describe GET /api/contactos</a:t>
            </a:r>
          </a:p>
        </p:txBody>
      </p:sp>
      <p:sp>
        <p:nvSpPr>
          <p:cNvPr id="5" name="TextBox 4"/>
          <p:cNvSpPr txBox="1"/>
          <p:nvPr/>
        </p:nvSpPr>
        <p:spPr>
          <a:xfrm>
            <a:off x="475488" y="1078992"/>
            <a:ext cx="8138160" cy="169277"/>
          </a:xfrm>
          <a:prstGeom prst="rect">
            <a:avLst/>
          </a:prstGeom>
          <a:noFill/>
        </p:spPr>
        <p:txBody>
          <a:bodyPr wrap="square" lIns="0" tIns="0" rIns="0" bIns="0" anchor="t">
            <a:spAutoFit/>
          </a:bodyPr>
          <a:lstStyle/>
          <a:p>
            <a:pPr algn="l"/>
            <a:r>
              <a:rPr lang="es-CO" sz="1100" b="1" i="0">
                <a:solidFill>
                  <a:srgbClr val="3DDC97"/>
                </a:solidFill>
                <a:latin typeface="Calibri"/>
              </a:rPr>
              <a:t>OpenAPI</a:t>
            </a:r>
            <a:r>
              <a:rPr lang="es-CO" sz="1100" b="0" i="0">
                <a:solidFill>
                  <a:srgbClr val="E8EEF6"/>
                </a:solidFill>
                <a:latin typeface="Calibri"/>
              </a:rPr>
              <a:t> es una especificación para describir API HTTP. Sus documentos pueden escribirse en JSON o YAML.</a:t>
            </a:r>
          </a:p>
        </p:txBody>
      </p:sp>
      <p:sp>
        <p:nvSpPr>
          <p:cNvPr id="6" name="Rounded Rectangle 5"/>
          <p:cNvSpPr/>
          <p:nvPr/>
        </p:nvSpPr>
        <p:spPr>
          <a:xfrm>
            <a:off x="502920" y="1417320"/>
            <a:ext cx="4892040" cy="2852928"/>
          </a:xfrm>
          <a:prstGeom prst="roundRect">
            <a:avLst>
              <a:gd name="adj" fmla="val 2564"/>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7" name="TextBox 6"/>
          <p:cNvSpPr txBox="1"/>
          <p:nvPr/>
        </p:nvSpPr>
        <p:spPr>
          <a:xfrm>
            <a:off x="649224" y="1488129"/>
            <a:ext cx="4599431" cy="169277"/>
          </a:xfrm>
          <a:prstGeom prst="rect">
            <a:avLst/>
          </a:prstGeom>
          <a:noFill/>
        </p:spPr>
        <p:txBody>
          <a:bodyPr wrap="square" lIns="0" tIns="0" rIns="0" bIns="0" anchor="ctr">
            <a:spAutoFit/>
          </a:bodyPr>
          <a:lstStyle/>
          <a:p>
            <a:pPr algn="l"/>
            <a:r>
              <a:rPr lang="es-CO" sz="1100" b="1" i="0">
                <a:solidFill>
                  <a:srgbClr val="3DDC97"/>
                </a:solidFill>
                <a:latin typeface="Courier New"/>
              </a:rPr>
              <a:t>openapi.yaml</a:t>
            </a:r>
          </a:p>
        </p:txBody>
      </p:sp>
      <p:sp>
        <p:nvSpPr>
          <p:cNvPr id="8" name="TextBox 7"/>
          <p:cNvSpPr txBox="1"/>
          <p:nvPr/>
        </p:nvSpPr>
        <p:spPr>
          <a:xfrm>
            <a:off x="649224" y="1709928"/>
            <a:ext cx="4599431" cy="2405146"/>
          </a:xfrm>
          <a:prstGeom prst="rect">
            <a:avLst/>
          </a:prstGeom>
          <a:noFill/>
        </p:spPr>
        <p:txBody>
          <a:bodyPr wrap="square" lIns="0" tIns="0" rIns="0" bIns="0" anchor="t">
            <a:spAutoFit/>
          </a:bodyPr>
          <a:lstStyle/>
          <a:p>
            <a:pPr algn="l">
              <a:lnSpc>
                <a:spcPts val="1060"/>
              </a:lnSpc>
            </a:pPr>
            <a:r>
              <a:rPr lang="es-CO" sz="1100" b="0" i="0">
                <a:solidFill>
                  <a:srgbClr val="56C7F2"/>
                </a:solidFill>
                <a:latin typeface="Courier New"/>
              </a:rPr>
              <a:t>openapi</a:t>
            </a:r>
            <a:r>
              <a:rPr lang="es-CO" sz="1100" b="0" i="0">
                <a:solidFill>
                  <a:srgbClr val="93A5BD"/>
                </a:solidFill>
                <a:latin typeface="Courier New"/>
              </a:rPr>
              <a:t>:</a:t>
            </a:r>
            <a:r>
              <a:rPr lang="es-CO" sz="1100" b="0" i="0">
                <a:solidFill>
                  <a:srgbClr val="3DDC97"/>
                </a:solidFill>
                <a:latin typeface="Courier New"/>
              </a:rPr>
              <a:t> 3.1.0</a:t>
            </a:r>
          </a:p>
          <a:p>
            <a:pPr algn="l">
              <a:lnSpc>
                <a:spcPts val="1060"/>
              </a:lnSpc>
            </a:pPr>
            <a:r>
              <a:rPr lang="es-CO" sz="1100" b="0" i="0">
                <a:solidFill>
                  <a:srgbClr val="56C7F2"/>
                </a:solidFill>
                <a:latin typeface="Courier New"/>
              </a:rPr>
              <a:t>info</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title</a:t>
            </a:r>
            <a:r>
              <a:rPr lang="es-CO" sz="1100" b="0" i="0">
                <a:solidFill>
                  <a:srgbClr val="93A5BD"/>
                </a:solidFill>
                <a:latin typeface="Courier New"/>
              </a:rPr>
              <a:t>:</a:t>
            </a:r>
            <a:r>
              <a:rPr lang="es-CO" sz="1100" b="0" i="0">
                <a:solidFill>
                  <a:srgbClr val="D7E1EE"/>
                </a:solidFill>
                <a:latin typeface="Courier New"/>
              </a:rPr>
              <a:t> API de contactos</a:t>
            </a:r>
          </a:p>
          <a:p>
            <a:pPr algn="l">
              <a:lnSpc>
                <a:spcPts val="1060"/>
              </a:lnSpc>
            </a:pPr>
            <a:r>
              <a:rPr lang="es-CO" sz="1100" b="0" i="0">
                <a:solidFill>
                  <a:srgbClr val="D7E1EE"/>
                </a:solidFill>
                <a:latin typeface="Courier New"/>
              </a:rPr>
              <a:t>  </a:t>
            </a:r>
            <a:r>
              <a:rPr lang="es-CO" sz="1100" b="0" i="0">
                <a:solidFill>
                  <a:srgbClr val="56C7F2"/>
                </a:solidFill>
                <a:latin typeface="Courier New"/>
              </a:rPr>
              <a:t>version</a:t>
            </a:r>
            <a:r>
              <a:rPr lang="es-CO" sz="1100" b="0" i="0">
                <a:solidFill>
                  <a:srgbClr val="93A5BD"/>
                </a:solidFill>
                <a:latin typeface="Courier New"/>
              </a:rPr>
              <a:t>:</a:t>
            </a:r>
            <a:r>
              <a:rPr lang="es-CO" sz="1100" b="0" i="0">
                <a:solidFill>
                  <a:srgbClr val="3DDC97"/>
                </a:solidFill>
                <a:latin typeface="Courier New"/>
              </a:rPr>
              <a:t> 1.0.0</a:t>
            </a:r>
          </a:p>
          <a:p>
            <a:pPr algn="l">
              <a:lnSpc>
                <a:spcPts val="1060"/>
              </a:lnSpc>
            </a:pPr>
            <a:r>
              <a:rPr lang="es-CO" sz="1100" b="0" i="0">
                <a:solidFill>
                  <a:srgbClr val="56C7F2"/>
                </a:solidFill>
                <a:latin typeface="Courier New"/>
              </a:rPr>
              <a:t>paths</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/api/contactos</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get</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summary</a:t>
            </a:r>
            <a:r>
              <a:rPr lang="es-CO" sz="1100" b="0" i="0">
                <a:solidFill>
                  <a:srgbClr val="93A5BD"/>
                </a:solidFill>
                <a:latin typeface="Courier New"/>
              </a:rPr>
              <a:t>:</a:t>
            </a:r>
            <a:r>
              <a:rPr lang="es-CO" sz="1100" b="0" i="0">
                <a:solidFill>
                  <a:srgbClr val="D7E1EE"/>
                </a:solidFill>
                <a:latin typeface="Courier New"/>
              </a:rPr>
              <a:t> Consultar los contactos registrados</a:t>
            </a:r>
          </a:p>
          <a:p>
            <a:pPr algn="l">
              <a:lnSpc>
                <a:spcPts val="1060"/>
              </a:lnSpc>
            </a:pPr>
            <a:r>
              <a:rPr lang="es-CO" sz="1100" b="0" i="0">
                <a:solidFill>
                  <a:srgbClr val="D7E1EE"/>
                </a:solidFill>
                <a:latin typeface="Courier New"/>
              </a:rPr>
              <a:t>      </a:t>
            </a:r>
            <a:r>
              <a:rPr lang="es-CO" sz="1100" b="0" i="0">
                <a:solidFill>
                  <a:srgbClr val="56C7F2"/>
                </a:solidFill>
                <a:latin typeface="Courier New"/>
              </a:rPr>
              <a:t>responses</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'200'</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description</a:t>
            </a:r>
            <a:r>
              <a:rPr lang="es-CO" sz="1100" b="0" i="0">
                <a:solidFill>
                  <a:srgbClr val="93A5BD"/>
                </a:solidFill>
                <a:latin typeface="Courier New"/>
              </a:rPr>
              <a:t>:</a:t>
            </a:r>
            <a:r>
              <a:rPr lang="es-CO" sz="1100" b="0" i="0">
                <a:solidFill>
                  <a:srgbClr val="D7E1EE"/>
                </a:solidFill>
                <a:latin typeface="Courier New"/>
              </a:rPr>
              <a:t> Lista de contactos</a:t>
            </a:r>
          </a:p>
          <a:p>
            <a:pPr algn="l">
              <a:lnSpc>
                <a:spcPts val="1060"/>
              </a:lnSpc>
            </a:pPr>
            <a:r>
              <a:rPr lang="es-CO" sz="1100" b="0" i="0">
                <a:solidFill>
                  <a:srgbClr val="D7E1EE"/>
                </a:solidFill>
                <a:latin typeface="Courier New"/>
              </a:rPr>
              <a:t>          </a:t>
            </a:r>
            <a:r>
              <a:rPr lang="es-CO" sz="1100" b="0" i="0">
                <a:solidFill>
                  <a:srgbClr val="56C7F2"/>
                </a:solidFill>
                <a:latin typeface="Courier New"/>
              </a:rPr>
              <a:t>content</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application/json</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schema</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type</a:t>
            </a:r>
            <a:r>
              <a:rPr lang="es-CO" sz="1100" b="0" i="0">
                <a:solidFill>
                  <a:srgbClr val="93A5BD"/>
                </a:solidFill>
                <a:latin typeface="Courier New"/>
              </a:rPr>
              <a:t>:</a:t>
            </a:r>
            <a:r>
              <a:rPr lang="es-CO" sz="1100" b="0" i="0">
                <a:solidFill>
                  <a:srgbClr val="D7E1EE"/>
                </a:solidFill>
                <a:latin typeface="Courier New"/>
              </a:rPr>
              <a:t> array</a:t>
            </a:r>
          </a:p>
          <a:p>
            <a:pPr algn="l">
              <a:lnSpc>
                <a:spcPts val="1060"/>
              </a:lnSpc>
            </a:pPr>
            <a:r>
              <a:rPr lang="es-CO" sz="1100" b="0" i="0">
                <a:solidFill>
                  <a:srgbClr val="D7E1EE"/>
                </a:solidFill>
                <a:latin typeface="Courier New"/>
              </a:rPr>
              <a:t>                </a:t>
            </a:r>
            <a:r>
              <a:rPr lang="es-CO" sz="1100" b="0" i="0">
                <a:solidFill>
                  <a:srgbClr val="56C7F2"/>
                </a:solidFill>
                <a:latin typeface="Courier New"/>
              </a:rPr>
              <a:t>items</a:t>
            </a:r>
            <a:r>
              <a:rPr lang="es-CO" sz="1100" b="0" i="0">
                <a:solidFill>
                  <a:srgbClr val="93A5BD"/>
                </a:solidFill>
                <a:latin typeface="Courier New"/>
              </a:rPr>
              <a:t>:</a:t>
            </a:r>
          </a:p>
          <a:p>
            <a:pPr algn="l">
              <a:lnSpc>
                <a:spcPts val="1060"/>
              </a:lnSpc>
            </a:pPr>
            <a:r>
              <a:rPr lang="es-CO" sz="1100" b="0" i="0">
                <a:solidFill>
                  <a:srgbClr val="D7E1EE"/>
                </a:solidFill>
                <a:latin typeface="Courier New"/>
              </a:rPr>
              <a:t>                  </a:t>
            </a:r>
            <a:r>
              <a:rPr lang="es-CO" sz="1100" b="0" i="0">
                <a:solidFill>
                  <a:srgbClr val="56C7F2"/>
                </a:solidFill>
                <a:latin typeface="Courier New"/>
              </a:rPr>
              <a:t>type</a:t>
            </a:r>
            <a:r>
              <a:rPr lang="es-CO" sz="1100" b="0" i="0">
                <a:solidFill>
                  <a:srgbClr val="93A5BD"/>
                </a:solidFill>
                <a:latin typeface="Courier New"/>
              </a:rPr>
              <a:t>:</a:t>
            </a:r>
            <a:r>
              <a:rPr lang="es-CO" sz="1100" b="0" i="0">
                <a:solidFill>
                  <a:srgbClr val="D7E1EE"/>
                </a:solidFill>
                <a:latin typeface="Courier New"/>
              </a:rPr>
              <a:t> object</a:t>
            </a:r>
          </a:p>
        </p:txBody>
      </p:sp>
      <p:sp>
        <p:nvSpPr>
          <p:cNvPr id="9" name="Rounded Rectangle 8"/>
          <p:cNvSpPr/>
          <p:nvPr/>
        </p:nvSpPr>
        <p:spPr>
          <a:xfrm>
            <a:off x="5532120" y="1417320"/>
            <a:ext cx="3108960" cy="868680"/>
          </a:xfrm>
          <a:prstGeom prst="roundRect">
            <a:avLst>
              <a:gd name="adj" fmla="val 8421"/>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0" name="TextBox 9"/>
          <p:cNvSpPr txBox="1"/>
          <p:nvPr/>
        </p:nvSpPr>
        <p:spPr>
          <a:xfrm>
            <a:off x="5660136" y="1524705"/>
            <a:ext cx="2852928" cy="169277"/>
          </a:xfrm>
          <a:prstGeom prst="rect">
            <a:avLst/>
          </a:prstGeom>
          <a:noFill/>
        </p:spPr>
        <p:txBody>
          <a:bodyPr wrap="square" lIns="0" tIns="0" rIns="0" bIns="0" anchor="ctr">
            <a:spAutoFit/>
          </a:bodyPr>
          <a:lstStyle/>
          <a:p>
            <a:pPr algn="l"/>
            <a:r>
              <a:rPr lang="es-CO" sz="1100" b="1" i="0">
                <a:solidFill>
                  <a:srgbClr val="FFB86C"/>
                </a:solidFill>
                <a:latin typeface="Arial"/>
              </a:rPr>
              <a:t>Formato de la descripción</a:t>
            </a:r>
          </a:p>
        </p:txBody>
      </p:sp>
      <p:sp>
        <p:nvSpPr>
          <p:cNvPr id="11" name="TextBox 10"/>
          <p:cNvSpPr txBox="1"/>
          <p:nvPr/>
        </p:nvSpPr>
        <p:spPr>
          <a:xfrm>
            <a:off x="5660136" y="1746504"/>
            <a:ext cx="2852928" cy="143052"/>
          </a:xfrm>
          <a:prstGeom prst="rect">
            <a:avLst/>
          </a:prstGeom>
          <a:noFill/>
        </p:spPr>
        <p:txBody>
          <a:bodyPr wrap="square" lIns="0" tIns="0" rIns="0" bIns="0" anchor="t">
            <a:spAutoFit/>
          </a:bodyPr>
          <a:lstStyle/>
          <a:p>
            <a:pPr algn="l">
              <a:lnSpc>
                <a:spcPts val="1121"/>
              </a:lnSpc>
            </a:pPr>
            <a:r>
              <a:rPr lang="es-CO" sz="1100" b="0" i="0">
                <a:solidFill>
                  <a:srgbClr val="E8EEF6"/>
                </a:solidFill>
                <a:latin typeface="Calibri"/>
              </a:rPr>
              <a:t>El documento openapi.yaml está escrito en YAML.</a:t>
            </a:r>
          </a:p>
        </p:txBody>
      </p:sp>
      <p:sp>
        <p:nvSpPr>
          <p:cNvPr id="12" name="Rounded Rectangle 11"/>
          <p:cNvSpPr/>
          <p:nvPr/>
        </p:nvSpPr>
        <p:spPr>
          <a:xfrm>
            <a:off x="5532120" y="2377440"/>
            <a:ext cx="3108960" cy="868680"/>
          </a:xfrm>
          <a:prstGeom prst="roundRect">
            <a:avLst>
              <a:gd name="adj" fmla="val 8421"/>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3" name="TextBox 12"/>
          <p:cNvSpPr txBox="1"/>
          <p:nvPr/>
        </p:nvSpPr>
        <p:spPr>
          <a:xfrm>
            <a:off x="5660136" y="2484825"/>
            <a:ext cx="2852928" cy="169277"/>
          </a:xfrm>
          <a:prstGeom prst="rect">
            <a:avLst/>
          </a:prstGeom>
          <a:noFill/>
        </p:spPr>
        <p:txBody>
          <a:bodyPr wrap="square" lIns="0" tIns="0" rIns="0" bIns="0" anchor="ctr">
            <a:spAutoFit/>
          </a:bodyPr>
          <a:lstStyle/>
          <a:p>
            <a:pPr algn="l"/>
            <a:r>
              <a:rPr lang="es-CO" sz="1100" b="1" i="0">
                <a:solidFill>
                  <a:srgbClr val="56C7F2"/>
                </a:solidFill>
                <a:latin typeface="Arial"/>
              </a:rPr>
              <a:t>Formato de la respuesta</a:t>
            </a:r>
          </a:p>
        </p:txBody>
      </p:sp>
      <p:sp>
        <p:nvSpPr>
          <p:cNvPr id="14" name="TextBox 13"/>
          <p:cNvSpPr txBox="1"/>
          <p:nvPr/>
        </p:nvSpPr>
        <p:spPr>
          <a:xfrm>
            <a:off x="5660136" y="2706624"/>
            <a:ext cx="2852928" cy="143052"/>
          </a:xfrm>
          <a:prstGeom prst="rect">
            <a:avLst/>
          </a:prstGeom>
          <a:noFill/>
        </p:spPr>
        <p:txBody>
          <a:bodyPr wrap="square" lIns="0" tIns="0" rIns="0" bIns="0" anchor="t">
            <a:spAutoFit/>
          </a:bodyPr>
          <a:lstStyle/>
          <a:p>
            <a:pPr algn="l">
              <a:lnSpc>
                <a:spcPts val="1121"/>
              </a:lnSpc>
            </a:pPr>
            <a:r>
              <a:rPr lang="es-CO" sz="1100" b="0" i="0">
                <a:solidFill>
                  <a:srgbClr val="E8EEF6"/>
                </a:solidFill>
                <a:latin typeface="Calibri"/>
              </a:rPr>
              <a:t>La respuesta descrita usa application/json.</a:t>
            </a:r>
          </a:p>
        </p:txBody>
      </p:sp>
      <p:sp>
        <p:nvSpPr>
          <p:cNvPr id="15" name="Rounded Rectangle 14"/>
          <p:cNvSpPr/>
          <p:nvPr/>
        </p:nvSpPr>
        <p:spPr>
          <a:xfrm>
            <a:off x="5532120" y="3337560"/>
            <a:ext cx="3108960" cy="932688"/>
          </a:xfrm>
          <a:prstGeom prst="roundRect">
            <a:avLst>
              <a:gd name="adj" fmla="val 7843"/>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100"/>
          </a:p>
        </p:txBody>
      </p:sp>
      <p:sp>
        <p:nvSpPr>
          <p:cNvPr id="16" name="TextBox 15"/>
          <p:cNvSpPr txBox="1"/>
          <p:nvPr/>
        </p:nvSpPr>
        <p:spPr>
          <a:xfrm>
            <a:off x="5660136" y="3444945"/>
            <a:ext cx="2852928" cy="169277"/>
          </a:xfrm>
          <a:prstGeom prst="rect">
            <a:avLst/>
          </a:prstGeom>
          <a:noFill/>
        </p:spPr>
        <p:txBody>
          <a:bodyPr wrap="square" lIns="0" tIns="0" rIns="0" bIns="0" anchor="ctr">
            <a:spAutoFit/>
          </a:bodyPr>
          <a:lstStyle/>
          <a:p>
            <a:pPr algn="l"/>
            <a:r>
              <a:rPr lang="es-CO" sz="1100" b="1" i="0">
                <a:solidFill>
                  <a:srgbClr val="3DDC97"/>
                </a:solidFill>
                <a:latin typeface="Arial"/>
              </a:rPr>
              <a:t>Función del documento</a:t>
            </a:r>
          </a:p>
        </p:txBody>
      </p:sp>
      <p:sp>
        <p:nvSpPr>
          <p:cNvPr id="17" name="TextBox 16"/>
          <p:cNvSpPr txBox="1"/>
          <p:nvPr/>
        </p:nvSpPr>
        <p:spPr>
          <a:xfrm>
            <a:off x="5660136" y="3666744"/>
            <a:ext cx="2852928" cy="284117"/>
          </a:xfrm>
          <a:prstGeom prst="rect">
            <a:avLst/>
          </a:prstGeom>
          <a:noFill/>
        </p:spPr>
        <p:txBody>
          <a:bodyPr wrap="square" lIns="0" tIns="0" rIns="0" bIns="0" anchor="t">
            <a:spAutoFit/>
          </a:bodyPr>
          <a:lstStyle/>
          <a:p>
            <a:pPr algn="l">
              <a:lnSpc>
                <a:spcPts val="1121"/>
              </a:lnSpc>
            </a:pPr>
            <a:r>
              <a:rPr lang="es-CO" sz="1100" b="0" i="0">
                <a:solidFill>
                  <a:srgbClr val="E8EEF6"/>
                </a:solidFill>
                <a:latin typeface="Calibri"/>
              </a:rPr>
              <a:t>Describe rutas, métodos, respuestas y esquemas; permite generar documentación y pruebas.</a:t>
            </a:r>
          </a:p>
        </p:txBody>
      </p:sp>
      <p:sp>
        <p:nvSpPr>
          <p:cNvPr id="18" name="TextBox 17"/>
          <p:cNvSpPr txBox="1"/>
          <p:nvPr/>
        </p:nvSpPr>
        <p:spPr>
          <a:xfrm>
            <a:off x="502920" y="4395921"/>
            <a:ext cx="8138160" cy="169277"/>
          </a:xfrm>
          <a:prstGeom prst="rect">
            <a:avLst/>
          </a:prstGeom>
          <a:noFill/>
        </p:spPr>
        <p:txBody>
          <a:bodyPr wrap="square" lIns="0" tIns="0" rIns="0" bIns="0" anchor="ctr">
            <a:spAutoFit/>
          </a:bodyPr>
          <a:lstStyle/>
          <a:p>
            <a:pPr algn="l"/>
            <a:r>
              <a:rPr lang="es-CO" sz="1100" b="0" i="1">
                <a:solidFill>
                  <a:srgbClr val="93A5BD"/>
                </a:solidFill>
                <a:latin typeface="Calibri"/>
              </a:rPr>
              <a:t>El formato de la descripción y el formato de la respuesta cumplen funciones diferentes.</a:t>
            </a:r>
          </a:p>
        </p:txBody>
      </p:sp>
      <p:sp>
        <p:nvSpPr>
          <p:cNvPr id="19" name="TextBox 18"/>
          <p:cNvSpPr txBox="1"/>
          <p:nvPr/>
        </p:nvSpPr>
        <p:spPr>
          <a:xfrm>
            <a:off x="6309360" y="4734249"/>
            <a:ext cx="2331720" cy="169277"/>
          </a:xfrm>
          <a:prstGeom prst="rect">
            <a:avLst/>
          </a:prstGeom>
          <a:noFill/>
        </p:spPr>
        <p:txBody>
          <a:bodyPr wrap="square" lIns="0" tIns="0" rIns="0" bIns="0" anchor="ctr">
            <a:spAutoFit/>
          </a:bodyPr>
          <a:lstStyle/>
          <a:p>
            <a:pPr algn="r"/>
            <a:r>
              <a:rPr lang="es-CO" sz="1100" b="0" i="0">
                <a:solidFill>
                  <a:srgbClr val="6C7E96"/>
                </a:solidFill>
                <a:latin typeface="Arial"/>
              </a:rPr>
              <a:t>Ingeniería Web  ·  14 /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728216"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728216"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06</a:t>
            </a:r>
          </a:p>
        </p:txBody>
      </p:sp>
      <p:sp>
        <p:nvSpPr>
          <p:cNvPr id="4" name="TextBox 3"/>
          <p:cNvSpPr txBox="1"/>
          <p:nvPr/>
        </p:nvSpPr>
        <p:spPr>
          <a:xfrm>
            <a:off x="475488" y="640080"/>
            <a:ext cx="8138160" cy="658368"/>
          </a:xfrm>
          <a:prstGeom prst="rect">
            <a:avLst/>
          </a:prstGeom>
          <a:noFill/>
        </p:spPr>
        <p:txBody>
          <a:bodyPr wrap="square" lIns="0" tIns="0" rIns="0" bIns="0" anchor="ctr">
            <a:spAutoFit/>
          </a:bodyPr>
          <a:lstStyle/>
          <a:p>
            <a:pPr algn="l">
              <a:lnSpc>
                <a:spcPts val="2400"/>
              </a:lnSpc>
            </a:pPr>
            <a:r>
              <a:rPr lang="es-CO" sz="2000" b="1" i="0">
                <a:solidFill>
                  <a:srgbClr val="FFFFFF"/>
                </a:solidFill>
                <a:latin typeface="Arial"/>
              </a:rPr>
              <a:t>Laboratorio 06 — Creación y consumo de una API de contactos con Node.js y SQLite</a:t>
            </a:r>
          </a:p>
        </p:txBody>
      </p:sp>
      <p:sp>
        <p:nvSpPr>
          <p:cNvPr id="5" name="Rounded Rectangle 4"/>
          <p:cNvSpPr/>
          <p:nvPr/>
        </p:nvSpPr>
        <p:spPr>
          <a:xfrm>
            <a:off x="6812280" y="384048"/>
            <a:ext cx="1517904" cy="18288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12280" y="384048"/>
            <a:ext cx="1517904" cy="182880"/>
          </a:xfrm>
          <a:prstGeom prst="rect">
            <a:avLst/>
          </a:prstGeom>
          <a:noFill/>
        </p:spPr>
        <p:txBody>
          <a:bodyPr wrap="square" lIns="0" tIns="0" rIns="0" bIns="0" anchor="ctr">
            <a:spAutoFit/>
          </a:bodyPr>
          <a:lstStyle/>
          <a:p>
            <a:pPr algn="ctr"/>
            <a:r>
              <a:rPr lang="es-CO" sz="700" b="1" i="0">
                <a:solidFill>
                  <a:srgbClr val="3DDC97"/>
                </a:solidFill>
                <a:latin typeface="Arial"/>
              </a:rPr>
              <a:t>DEMOSTRACIÓN DOCENTE</a:t>
            </a:r>
          </a:p>
        </p:txBody>
      </p:sp>
      <p:sp>
        <p:nvSpPr>
          <p:cNvPr id="7" name="Rounded Rectangle 6"/>
          <p:cNvSpPr/>
          <p:nvPr/>
        </p:nvSpPr>
        <p:spPr>
          <a:xfrm>
            <a:off x="502920" y="1444752"/>
            <a:ext cx="2615184" cy="1298448"/>
          </a:xfrm>
          <a:prstGeom prst="roundRect">
            <a:avLst>
              <a:gd name="adj" fmla="val 5633"/>
            </a:avLst>
          </a:prstGeom>
          <a:solidFill>
            <a:srgbClr val="20160E"/>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9224" y="1517904"/>
            <a:ext cx="2331720" cy="237744"/>
          </a:xfrm>
          <a:prstGeom prst="rect">
            <a:avLst/>
          </a:prstGeom>
          <a:noFill/>
        </p:spPr>
        <p:txBody>
          <a:bodyPr wrap="square" lIns="0" tIns="0" rIns="0" bIns="0" anchor="ctr">
            <a:spAutoFit/>
          </a:bodyPr>
          <a:lstStyle/>
          <a:p>
            <a:pPr algn="l"/>
            <a:r>
              <a:rPr lang="es-CO" sz="1050" b="1" i="0">
                <a:solidFill>
                  <a:srgbClr val="FF8A3D"/>
                </a:solidFill>
                <a:latin typeface="Arial"/>
              </a:rPr>
              <a:t>Propósito</a:t>
            </a:r>
          </a:p>
        </p:txBody>
      </p:sp>
      <p:sp>
        <p:nvSpPr>
          <p:cNvPr id="9" name="TextBox 8"/>
          <p:cNvSpPr txBox="1"/>
          <p:nvPr/>
        </p:nvSpPr>
        <p:spPr>
          <a:xfrm>
            <a:off x="649224" y="1792224"/>
            <a:ext cx="2331720" cy="914400"/>
          </a:xfrm>
          <a:prstGeom prst="rect">
            <a:avLst/>
          </a:prstGeom>
          <a:noFill/>
        </p:spPr>
        <p:txBody>
          <a:bodyPr wrap="square" lIns="0" tIns="0" rIns="0" bIns="0" anchor="t">
            <a:spAutoFit/>
          </a:bodyPr>
          <a:lstStyle/>
          <a:p>
            <a:pPr algn="l">
              <a:lnSpc>
                <a:spcPts val="1250"/>
              </a:lnSpc>
            </a:pPr>
            <a:r>
              <a:rPr lang="es-CO" sz="1000" b="0" i="0">
                <a:solidFill>
                  <a:srgbClr val="E8EEF6"/>
                </a:solidFill>
                <a:latin typeface="Calibri"/>
              </a:rPr>
              <a:t>Construir una API web que consulte SQLite y una página que la utilice para mostrar los contactos.</a:t>
            </a:r>
          </a:p>
        </p:txBody>
      </p:sp>
      <p:sp>
        <p:nvSpPr>
          <p:cNvPr id="10" name="Rounded Rectangle 9"/>
          <p:cNvSpPr/>
          <p:nvPr/>
        </p:nvSpPr>
        <p:spPr>
          <a:xfrm>
            <a:off x="3264408" y="1444752"/>
            <a:ext cx="2615184" cy="1298448"/>
          </a:xfrm>
          <a:prstGeom prst="roundRect">
            <a:avLst>
              <a:gd name="adj" fmla="val 5633"/>
            </a:avLst>
          </a:prstGeom>
          <a:solidFill>
            <a:srgbClr val="20160E"/>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410712" y="1517904"/>
            <a:ext cx="2331720" cy="237744"/>
          </a:xfrm>
          <a:prstGeom prst="rect">
            <a:avLst/>
          </a:prstGeom>
          <a:noFill/>
        </p:spPr>
        <p:txBody>
          <a:bodyPr wrap="square" lIns="0" tIns="0" rIns="0" bIns="0" anchor="ctr">
            <a:spAutoFit/>
          </a:bodyPr>
          <a:lstStyle/>
          <a:p>
            <a:pPr algn="l"/>
            <a:r>
              <a:rPr lang="es-CO" sz="1050" b="1" i="0">
                <a:solidFill>
                  <a:srgbClr val="FFB86C"/>
                </a:solidFill>
                <a:latin typeface="Arial"/>
              </a:rPr>
              <a:t>Punto de partida</a:t>
            </a:r>
          </a:p>
        </p:txBody>
      </p:sp>
      <p:sp>
        <p:nvSpPr>
          <p:cNvPr id="12" name="TextBox 11"/>
          <p:cNvSpPr txBox="1"/>
          <p:nvPr/>
        </p:nvSpPr>
        <p:spPr>
          <a:xfrm>
            <a:off x="3410712" y="1792224"/>
            <a:ext cx="2331720" cy="914400"/>
          </a:xfrm>
          <a:prstGeom prst="rect">
            <a:avLst/>
          </a:prstGeom>
          <a:noFill/>
        </p:spPr>
        <p:txBody>
          <a:bodyPr wrap="square" lIns="0" tIns="0" rIns="0" bIns="0" anchor="t">
            <a:spAutoFit/>
          </a:bodyPr>
          <a:lstStyle/>
          <a:p>
            <a:pPr algn="l">
              <a:lnSpc>
                <a:spcPts val="1250"/>
              </a:lnSpc>
            </a:pPr>
            <a:r>
              <a:rPr lang="es-CO" sz="1000" b="0" i="0">
                <a:solidFill>
                  <a:srgbClr val="E8EEF6"/>
                </a:solidFill>
                <a:latin typeface="Calibri"/>
              </a:rPr>
              <a:t>Proyecto del Laboratorio 05: server_rutas.js, contacto.html, styles.css y contactos.db con contactos ficticios.</a:t>
            </a:r>
          </a:p>
        </p:txBody>
      </p:sp>
      <p:sp>
        <p:nvSpPr>
          <p:cNvPr id="13" name="Rounded Rectangle 12"/>
          <p:cNvSpPr/>
          <p:nvPr/>
        </p:nvSpPr>
        <p:spPr>
          <a:xfrm>
            <a:off x="6025896" y="1444752"/>
            <a:ext cx="2615184" cy="1298448"/>
          </a:xfrm>
          <a:prstGeom prst="roundRect">
            <a:avLst>
              <a:gd name="adj" fmla="val 5633"/>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172200" y="1517904"/>
            <a:ext cx="2331720" cy="237744"/>
          </a:xfrm>
          <a:prstGeom prst="rect">
            <a:avLst/>
          </a:prstGeom>
          <a:noFill/>
        </p:spPr>
        <p:txBody>
          <a:bodyPr wrap="square" lIns="0" tIns="0" rIns="0" bIns="0" anchor="ctr">
            <a:spAutoFit/>
          </a:bodyPr>
          <a:lstStyle/>
          <a:p>
            <a:pPr algn="l"/>
            <a:r>
              <a:rPr lang="es-CO" sz="1050" b="1" i="0">
                <a:solidFill>
                  <a:srgbClr val="FFD479"/>
                </a:solidFill>
                <a:latin typeface="Arial"/>
              </a:rPr>
              <a:t>Resultado esperado</a:t>
            </a:r>
          </a:p>
        </p:txBody>
      </p:sp>
      <p:sp>
        <p:nvSpPr>
          <p:cNvPr id="15" name="TextBox 14"/>
          <p:cNvSpPr txBox="1"/>
          <p:nvPr/>
        </p:nvSpPr>
        <p:spPr>
          <a:xfrm>
            <a:off x="6172200" y="1792224"/>
            <a:ext cx="2331720" cy="914400"/>
          </a:xfrm>
          <a:prstGeom prst="rect">
            <a:avLst/>
          </a:prstGeom>
          <a:noFill/>
        </p:spPr>
        <p:txBody>
          <a:bodyPr wrap="square" lIns="0" tIns="0" rIns="0" bIns="0" anchor="t">
            <a:spAutoFit/>
          </a:bodyPr>
          <a:lstStyle/>
          <a:p>
            <a:pPr algn="l">
              <a:lnSpc>
                <a:spcPts val="1250"/>
              </a:lnSpc>
            </a:pPr>
            <a:r>
              <a:rPr lang="es-CO" sz="1000" b="0" i="0">
                <a:solidFill>
                  <a:srgbClr val="E8EEF6"/>
                </a:solidFill>
                <a:latin typeface="Calibri"/>
              </a:rPr>
              <a:t>GET /api/contactos responde JSON y la página /contactos muestra id, nombre y correo en una tabla.</a:t>
            </a:r>
          </a:p>
        </p:txBody>
      </p:sp>
      <p:sp>
        <p:nvSpPr>
          <p:cNvPr id="16" name="Rounded Rectangle 15"/>
          <p:cNvSpPr/>
          <p:nvPr/>
        </p:nvSpPr>
        <p:spPr>
          <a:xfrm>
            <a:off x="502920" y="2889504"/>
            <a:ext cx="4023360" cy="1371600"/>
          </a:xfrm>
          <a:prstGeom prst="roundRect">
            <a:avLst>
              <a:gd name="adj" fmla="val 5333"/>
            </a:avLst>
          </a:prstGeom>
          <a:solidFill>
            <a:srgbClr val="070C1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67512" y="2944368"/>
            <a:ext cx="3657600" cy="256032"/>
          </a:xfrm>
          <a:prstGeom prst="rect">
            <a:avLst/>
          </a:prstGeom>
          <a:noFill/>
        </p:spPr>
        <p:txBody>
          <a:bodyPr wrap="square" lIns="0" tIns="0" rIns="0" bIns="0" anchor="ctr">
            <a:spAutoFit/>
          </a:bodyPr>
          <a:lstStyle/>
          <a:p>
            <a:pPr algn="l"/>
            <a:r>
              <a:rPr lang="es-CO" sz="1050" b="1" i="0">
                <a:solidFill>
                  <a:srgbClr val="FF8A3D"/>
                </a:solidFill>
                <a:latin typeface="Arial"/>
              </a:rPr>
              <a:t>Parte A · Crear la API · 25 min</a:t>
            </a:r>
          </a:p>
        </p:txBody>
      </p:sp>
      <p:sp>
        <p:nvSpPr>
          <p:cNvPr id="18" name="TextBox 17"/>
          <p:cNvSpPr txBox="1"/>
          <p:nvPr/>
        </p:nvSpPr>
        <p:spPr>
          <a:xfrm>
            <a:off x="667512" y="3236976"/>
            <a:ext cx="3749039" cy="987552"/>
          </a:xfrm>
          <a:prstGeom prst="rect">
            <a:avLst/>
          </a:prstGeom>
          <a:noFill/>
        </p:spPr>
        <p:txBody>
          <a:bodyPr wrap="square" lIns="0" tIns="0" rIns="0" bIns="0" anchor="t">
            <a:spAutoFit/>
          </a:bodyPr>
          <a:lstStyle/>
          <a:p>
            <a:pPr algn="l">
              <a:lnSpc>
                <a:spcPts val="1300"/>
              </a:lnSpc>
              <a:spcAft>
                <a:spcPts val="300"/>
              </a:spcAft>
            </a:pPr>
            <a:r>
              <a:rPr lang="es-CO" sz="1000" b="1" i="0">
                <a:solidFill>
                  <a:srgbClr val="FF8A3D"/>
                </a:solidFill>
                <a:latin typeface="Calibri"/>
              </a:rPr>
              <a:t>›  </a:t>
            </a:r>
            <a:r>
              <a:rPr lang="es-CO" sz="1000" b="0" i="0">
                <a:solidFill>
                  <a:srgbClr val="E8EEF6"/>
                </a:solidFill>
                <a:latin typeface="Calibri"/>
              </a:rPr>
              <a:t>SELECT preparado al iniciar el servidor</a:t>
            </a:r>
          </a:p>
          <a:p>
            <a:pPr algn="l">
              <a:lnSpc>
                <a:spcPts val="1300"/>
              </a:lnSpc>
              <a:spcAft>
                <a:spcPts val="300"/>
              </a:spcAft>
            </a:pPr>
            <a:r>
              <a:rPr lang="es-CO" sz="1000" b="1" i="0">
                <a:solidFill>
                  <a:srgbClr val="FF8A3D"/>
                </a:solidFill>
                <a:latin typeface="Calibri"/>
              </a:rPr>
              <a:t>›  </a:t>
            </a:r>
            <a:r>
              <a:rPr lang="es-CO" sz="1000" b="0" i="0">
                <a:solidFill>
                  <a:srgbClr val="E8EEF6"/>
                </a:solidFill>
                <a:latin typeface="Calibri"/>
              </a:rPr>
              <a:t>Ruta GET /api/contactos</a:t>
            </a:r>
          </a:p>
          <a:p>
            <a:pPr algn="l">
              <a:lnSpc>
                <a:spcPts val="1300"/>
              </a:lnSpc>
              <a:spcAft>
                <a:spcPts val="300"/>
              </a:spcAft>
            </a:pPr>
            <a:r>
              <a:rPr lang="es-CO" sz="1000" b="1" i="0">
                <a:solidFill>
                  <a:srgbClr val="FF8A3D"/>
                </a:solidFill>
                <a:latin typeface="Calibri"/>
              </a:rPr>
              <a:t>›  </a:t>
            </a:r>
            <a:r>
              <a:rPr lang="es-CO" sz="1000" b="0" i="0">
                <a:solidFill>
                  <a:srgbClr val="E8EEF6"/>
                </a:solidFill>
                <a:latin typeface="Calibri"/>
              </a:rPr>
              <a:t>Respuesta 200 · application/json</a:t>
            </a:r>
          </a:p>
        </p:txBody>
      </p:sp>
      <p:sp>
        <p:nvSpPr>
          <p:cNvPr id="19" name="Rounded Rectangle 18"/>
          <p:cNvSpPr/>
          <p:nvPr/>
        </p:nvSpPr>
        <p:spPr>
          <a:xfrm>
            <a:off x="4617720" y="2889504"/>
            <a:ext cx="4023360" cy="1371600"/>
          </a:xfrm>
          <a:prstGeom prst="roundRect">
            <a:avLst>
              <a:gd name="adj" fmla="val 5333"/>
            </a:avLst>
          </a:prstGeom>
          <a:solidFill>
            <a:srgbClr val="070C14"/>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782312" y="2944368"/>
            <a:ext cx="3657600" cy="256032"/>
          </a:xfrm>
          <a:prstGeom prst="rect">
            <a:avLst/>
          </a:prstGeom>
          <a:noFill/>
        </p:spPr>
        <p:txBody>
          <a:bodyPr wrap="square" lIns="0" tIns="0" rIns="0" bIns="0" anchor="ctr">
            <a:spAutoFit/>
          </a:bodyPr>
          <a:lstStyle/>
          <a:p>
            <a:pPr algn="l"/>
            <a:r>
              <a:rPr lang="es-CO" sz="1050" b="1" i="0">
                <a:solidFill>
                  <a:srgbClr val="FF8A3D"/>
                </a:solidFill>
                <a:latin typeface="Arial"/>
              </a:rPr>
              <a:t>Parte B · Consumir la API · 25 min</a:t>
            </a:r>
          </a:p>
        </p:txBody>
      </p:sp>
      <p:sp>
        <p:nvSpPr>
          <p:cNvPr id="21" name="TextBox 20"/>
          <p:cNvSpPr txBox="1"/>
          <p:nvPr/>
        </p:nvSpPr>
        <p:spPr>
          <a:xfrm>
            <a:off x="4782312" y="3236976"/>
            <a:ext cx="3749039" cy="987552"/>
          </a:xfrm>
          <a:prstGeom prst="rect">
            <a:avLst/>
          </a:prstGeom>
          <a:noFill/>
        </p:spPr>
        <p:txBody>
          <a:bodyPr wrap="square" lIns="0" tIns="0" rIns="0" bIns="0" anchor="t">
            <a:spAutoFit/>
          </a:bodyPr>
          <a:lstStyle/>
          <a:p>
            <a:pPr algn="l">
              <a:lnSpc>
                <a:spcPts val="1300"/>
              </a:lnSpc>
              <a:spcAft>
                <a:spcPts val="300"/>
              </a:spcAft>
            </a:pPr>
            <a:r>
              <a:rPr lang="es-CO" sz="1000" b="1" i="0">
                <a:solidFill>
                  <a:srgbClr val="FF8A3D"/>
                </a:solidFill>
                <a:latin typeface="Calibri"/>
              </a:rPr>
              <a:t>›  </a:t>
            </a:r>
            <a:r>
              <a:rPr lang="es-CO" sz="1000" b="0" i="0">
                <a:solidFill>
                  <a:srgbClr val="E8EEF6"/>
                </a:solidFill>
                <a:latin typeface="Calibri"/>
              </a:rPr>
              <a:t>Página contactos.html con botón y tabla</a:t>
            </a:r>
          </a:p>
          <a:p>
            <a:pPr algn="l">
              <a:lnSpc>
                <a:spcPts val="1300"/>
              </a:lnSpc>
              <a:spcAft>
                <a:spcPts val="300"/>
              </a:spcAft>
            </a:pPr>
            <a:r>
              <a:rPr lang="es-CO" sz="1000" b="1" i="0">
                <a:solidFill>
                  <a:srgbClr val="FF8A3D"/>
                </a:solidFill>
                <a:latin typeface="Calibri"/>
              </a:rPr>
              <a:t>›  </a:t>
            </a:r>
            <a:r>
              <a:rPr lang="es-CO" sz="1000" b="0" i="0">
                <a:solidFill>
                  <a:srgbClr val="E8EEF6"/>
                </a:solidFill>
                <a:latin typeface="Calibri"/>
              </a:rPr>
              <a:t>fetch(), respuesta.ok y respuesta.json()</a:t>
            </a:r>
          </a:p>
          <a:p>
            <a:pPr algn="l">
              <a:lnSpc>
                <a:spcPts val="1300"/>
              </a:lnSpc>
              <a:spcAft>
                <a:spcPts val="300"/>
              </a:spcAft>
            </a:pPr>
            <a:r>
              <a:rPr lang="es-CO" sz="1000" b="1" i="0">
                <a:solidFill>
                  <a:srgbClr val="FF8A3D"/>
                </a:solidFill>
                <a:latin typeface="Calibri"/>
              </a:rPr>
              <a:t>›  </a:t>
            </a:r>
            <a:r>
              <a:rPr lang="es-CO" sz="1000" b="0" i="0">
                <a:solidFill>
                  <a:srgbClr val="E8EEF6"/>
                </a:solidFill>
                <a:latin typeface="Calibri"/>
              </a:rPr>
              <a:t>Filas creadas con textContent</a:t>
            </a:r>
          </a:p>
        </p:txBody>
      </p:sp>
      <p:sp>
        <p:nvSpPr>
          <p:cNvPr id="22" name="TextBox 21"/>
          <p:cNvSpPr txBox="1"/>
          <p:nvPr/>
        </p:nvSpPr>
        <p:spPr>
          <a:xfrm>
            <a:off x="502920" y="4334256"/>
            <a:ext cx="8138160" cy="274320"/>
          </a:xfrm>
          <a:prstGeom prst="rect">
            <a:avLst/>
          </a:prstGeom>
          <a:noFill/>
        </p:spPr>
        <p:txBody>
          <a:bodyPr wrap="square" lIns="0" tIns="0" rIns="0" bIns="0" anchor="ctr">
            <a:spAutoFit/>
          </a:bodyPr>
          <a:lstStyle/>
          <a:p>
            <a:pPr algn="l"/>
            <a:r>
              <a:rPr lang="es-CO" sz="1050" b="0" i="1">
                <a:solidFill>
                  <a:srgbClr val="93A5BD"/>
                </a:solidFill>
                <a:latin typeface="Calibri"/>
              </a:rPr>
              <a:t>Archivos: server_rutas.js (se amplía) · contactos.html (nuevo) · contactos.db (se consulta).</a:t>
            </a:r>
          </a:p>
        </p:txBody>
      </p:sp>
      <p:sp>
        <p:nvSpPr>
          <p:cNvPr id="23" name="TextBox 22"/>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15 / 24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2139696"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2139696"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06 · PARTE A</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Parte A · SELECT recupera los contactos</a:t>
            </a:r>
          </a:p>
        </p:txBody>
      </p:sp>
      <p:sp>
        <p:nvSpPr>
          <p:cNvPr id="5" name="Rounded Rectangle 4"/>
          <p:cNvSpPr/>
          <p:nvPr/>
        </p:nvSpPr>
        <p:spPr>
          <a:xfrm>
            <a:off x="502920" y="1234440"/>
            <a:ext cx="4846320" cy="914400"/>
          </a:xfrm>
          <a:prstGeom prst="roundRect">
            <a:avLst>
              <a:gd name="adj" fmla="val 800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9224" y="1298448"/>
            <a:ext cx="4553712" cy="182880"/>
          </a:xfrm>
          <a:prstGeom prst="rect">
            <a:avLst/>
          </a:prstGeom>
          <a:noFill/>
        </p:spPr>
        <p:txBody>
          <a:bodyPr wrap="square" lIns="0" tIns="0" rIns="0" bIns="0" anchor="ctr">
            <a:spAutoFit/>
          </a:bodyPr>
          <a:lstStyle/>
          <a:p>
            <a:pPr algn="l"/>
            <a:r>
              <a:rPr lang="es-CO" sz="850" b="1" i="0">
                <a:solidFill>
                  <a:srgbClr val="FF8A3D"/>
                </a:solidFill>
                <a:latin typeface="Courier New"/>
              </a:rPr>
              <a:t>SQL · consulta</a:t>
            </a:r>
          </a:p>
        </p:txBody>
      </p:sp>
      <p:sp>
        <p:nvSpPr>
          <p:cNvPr id="7" name="TextBox 6"/>
          <p:cNvSpPr txBox="1"/>
          <p:nvPr/>
        </p:nvSpPr>
        <p:spPr>
          <a:xfrm>
            <a:off x="649224" y="1527048"/>
            <a:ext cx="4553712" cy="576071"/>
          </a:xfrm>
          <a:prstGeom prst="rect">
            <a:avLst/>
          </a:prstGeom>
          <a:noFill/>
        </p:spPr>
        <p:txBody>
          <a:bodyPr wrap="square" lIns="0" tIns="0" rIns="0" bIns="0" anchor="t">
            <a:spAutoFit/>
          </a:bodyPr>
          <a:lstStyle/>
          <a:p>
            <a:pPr algn="l">
              <a:lnSpc>
                <a:spcPts val="1300"/>
              </a:lnSpc>
            </a:pPr>
            <a:r>
              <a:rPr lang="es-CO" sz="1000" b="0" i="0">
                <a:solidFill>
                  <a:srgbClr val="FFB86C"/>
                </a:solidFill>
                <a:latin typeface="Courier New"/>
              </a:rPr>
              <a:t>SELECT</a:t>
            </a:r>
            <a:r>
              <a:rPr lang="es-CO" sz="1000" b="0" i="0">
                <a:solidFill>
                  <a:srgbClr val="D7E1EE"/>
                </a:solidFill>
                <a:latin typeface="Courier New"/>
              </a:rPr>
              <a:t> id</a:t>
            </a:r>
            <a:r>
              <a:rPr lang="es-CO" sz="1000" b="0" i="0">
                <a:solidFill>
                  <a:srgbClr val="93A5BD"/>
                </a:solidFill>
                <a:latin typeface="Courier New"/>
              </a:rPr>
              <a:t>,</a:t>
            </a:r>
            <a:r>
              <a:rPr lang="es-CO" sz="1000" b="0" i="0">
                <a:solidFill>
                  <a:srgbClr val="D7E1EE"/>
                </a:solidFill>
                <a:latin typeface="Courier New"/>
              </a:rPr>
              <a:t> nombre</a:t>
            </a:r>
            <a:r>
              <a:rPr lang="es-CO" sz="1000" b="0" i="0">
                <a:solidFill>
                  <a:srgbClr val="93A5BD"/>
                </a:solidFill>
                <a:latin typeface="Courier New"/>
              </a:rPr>
              <a:t>,</a:t>
            </a:r>
            <a:r>
              <a:rPr lang="es-CO" sz="1000" b="0" i="0">
                <a:solidFill>
                  <a:srgbClr val="D7E1EE"/>
                </a:solidFill>
                <a:latin typeface="Courier New"/>
              </a:rPr>
              <a:t> correo</a:t>
            </a:r>
            <a:r>
              <a:rPr lang="es-CO" sz="1000" b="0" i="0">
                <a:solidFill>
                  <a:srgbClr val="93A5BD"/>
                </a:solidFill>
                <a:latin typeface="Courier New"/>
              </a:rPr>
              <a:t>,</a:t>
            </a:r>
            <a:r>
              <a:rPr lang="es-CO" sz="1000" b="0" i="0">
                <a:solidFill>
                  <a:srgbClr val="D7E1EE"/>
                </a:solidFill>
                <a:latin typeface="Courier New"/>
              </a:rPr>
              <a:t> mensaje</a:t>
            </a:r>
          </a:p>
          <a:p>
            <a:pPr algn="l">
              <a:lnSpc>
                <a:spcPts val="1300"/>
              </a:lnSpc>
            </a:pPr>
            <a:r>
              <a:rPr lang="es-CO" sz="1000" b="0" i="0">
                <a:solidFill>
                  <a:srgbClr val="FFB86C"/>
                </a:solidFill>
                <a:latin typeface="Courier New"/>
              </a:rPr>
              <a:t>FROM</a:t>
            </a:r>
            <a:r>
              <a:rPr lang="es-CO" sz="1000" b="0" i="0">
                <a:solidFill>
                  <a:srgbClr val="D7E1EE"/>
                </a:solidFill>
                <a:latin typeface="Courier New"/>
              </a:rPr>
              <a:t> contactos</a:t>
            </a:r>
          </a:p>
          <a:p>
            <a:pPr algn="l">
              <a:lnSpc>
                <a:spcPts val="1300"/>
              </a:lnSpc>
            </a:pPr>
            <a:r>
              <a:rPr lang="es-CO" sz="1000" b="0" i="0">
                <a:solidFill>
                  <a:srgbClr val="FFB86C"/>
                </a:solidFill>
                <a:latin typeface="Courier New"/>
              </a:rPr>
              <a:t>ORDER</a:t>
            </a:r>
            <a:r>
              <a:rPr lang="es-CO" sz="1000" b="0" i="0">
                <a:solidFill>
                  <a:srgbClr val="D7E1EE"/>
                </a:solidFill>
                <a:latin typeface="Courier New"/>
              </a:rPr>
              <a:t> </a:t>
            </a:r>
            <a:r>
              <a:rPr lang="es-CO" sz="1000" b="0" i="0">
                <a:solidFill>
                  <a:srgbClr val="FFB86C"/>
                </a:solidFill>
                <a:latin typeface="Courier New"/>
              </a:rPr>
              <a:t>BY</a:t>
            </a:r>
            <a:r>
              <a:rPr lang="es-CO" sz="1000" b="0" i="0">
                <a:solidFill>
                  <a:srgbClr val="D7E1EE"/>
                </a:solidFill>
                <a:latin typeface="Courier New"/>
              </a:rPr>
              <a:t> id</a:t>
            </a:r>
            <a:r>
              <a:rPr lang="es-CO" sz="1000" b="0" i="0">
                <a:solidFill>
                  <a:srgbClr val="93A5BD"/>
                </a:solidFill>
                <a:latin typeface="Courier New"/>
              </a:rPr>
              <a:t>;</a:t>
            </a:r>
          </a:p>
        </p:txBody>
      </p:sp>
      <p:sp>
        <p:nvSpPr>
          <p:cNvPr id="8" name="Rounded Rectangle 7"/>
          <p:cNvSpPr/>
          <p:nvPr/>
        </p:nvSpPr>
        <p:spPr>
          <a:xfrm>
            <a:off x="502920" y="2258568"/>
            <a:ext cx="4846320" cy="1234440"/>
          </a:xfrm>
          <a:prstGeom prst="roundRect">
            <a:avLst>
              <a:gd name="adj" fmla="val 5925"/>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9224" y="2322576"/>
            <a:ext cx="4553712" cy="182880"/>
          </a:xfrm>
          <a:prstGeom prst="rect">
            <a:avLst/>
          </a:prstGeom>
          <a:noFill/>
        </p:spPr>
        <p:txBody>
          <a:bodyPr wrap="square" lIns="0" tIns="0" rIns="0" bIns="0" anchor="ctr">
            <a:spAutoFit/>
          </a:bodyPr>
          <a:lstStyle/>
          <a:p>
            <a:pPr algn="l"/>
            <a:r>
              <a:rPr lang="es-CO" sz="850" b="1" i="0">
                <a:solidFill>
                  <a:srgbClr val="FF8A3D"/>
                </a:solidFill>
                <a:latin typeface="Courier New"/>
              </a:rPr>
              <a:t>server_rutas.js · inicio, después de insertarContacto</a:t>
            </a:r>
          </a:p>
        </p:txBody>
      </p:sp>
      <p:sp>
        <p:nvSpPr>
          <p:cNvPr id="10" name="TextBox 9"/>
          <p:cNvSpPr txBox="1"/>
          <p:nvPr/>
        </p:nvSpPr>
        <p:spPr>
          <a:xfrm>
            <a:off x="649224" y="2551176"/>
            <a:ext cx="4553712" cy="896112"/>
          </a:xfrm>
          <a:prstGeom prst="rect">
            <a:avLst/>
          </a:prstGeom>
          <a:noFill/>
        </p:spPr>
        <p:txBody>
          <a:bodyPr wrap="square" lIns="0" tIns="0" rIns="0" bIns="0" anchor="t">
            <a:spAutoFit/>
          </a:bodyPr>
          <a:lstStyle/>
          <a:p>
            <a:pPr algn="l">
              <a:lnSpc>
                <a:spcPts val="1230"/>
              </a:lnSpc>
            </a:pPr>
            <a:r>
              <a:rPr lang="es-CO" sz="950" b="0" i="0">
                <a:solidFill>
                  <a:srgbClr val="FFB86C"/>
                </a:solidFill>
                <a:latin typeface="Courier New"/>
              </a:rPr>
              <a:t>const</a:t>
            </a:r>
            <a:r>
              <a:rPr lang="es-CO" sz="950" b="0" i="0">
                <a:solidFill>
                  <a:srgbClr val="D7E1EE"/>
                </a:solidFill>
                <a:latin typeface="Courier New"/>
              </a:rPr>
              <a:t> consultarContactos </a:t>
            </a:r>
            <a:r>
              <a:rPr lang="es-CO" sz="950" b="0" i="0">
                <a:solidFill>
                  <a:srgbClr val="93A5BD"/>
                </a:solidFill>
                <a:latin typeface="Courier New"/>
              </a:rPr>
              <a:t>=</a:t>
            </a:r>
            <a:r>
              <a:rPr lang="es-CO" sz="950" b="0" i="0">
                <a:solidFill>
                  <a:srgbClr val="D7E1EE"/>
                </a:solidFill>
                <a:latin typeface="Courier New"/>
              </a:rPr>
              <a:t> db</a:t>
            </a:r>
            <a:r>
              <a:rPr lang="es-CO" sz="950" b="0" i="0">
                <a:solidFill>
                  <a:srgbClr val="93A5BD"/>
                </a:solidFill>
                <a:latin typeface="Courier New"/>
              </a:rPr>
              <a:t>.</a:t>
            </a:r>
            <a:r>
              <a:rPr lang="es-CO" sz="950" b="0" i="0">
                <a:solidFill>
                  <a:srgbClr val="56C7F2"/>
                </a:solidFill>
                <a:latin typeface="Courier New"/>
              </a:rPr>
              <a:t>prepare</a:t>
            </a:r>
            <a:r>
              <a:rPr lang="es-CO" sz="950" b="0" i="0">
                <a:solidFill>
                  <a:srgbClr val="93A5BD"/>
                </a:solidFill>
                <a:latin typeface="Courier New"/>
              </a:rPr>
              <a:t>(</a:t>
            </a:r>
            <a:r>
              <a:rPr lang="es-CO" sz="950" b="0" i="0">
                <a:solidFill>
                  <a:srgbClr val="FFD479"/>
                </a:solidFill>
                <a:latin typeface="Courier New"/>
              </a:rPr>
              <a:t>`</a:t>
            </a:r>
          </a:p>
          <a:p>
            <a:pPr algn="l">
              <a:lnSpc>
                <a:spcPts val="1230"/>
              </a:lnSpc>
            </a:pPr>
            <a:r>
              <a:rPr lang="es-CO" sz="950" b="0" i="0">
                <a:solidFill>
                  <a:srgbClr val="D7E1EE"/>
                </a:solidFill>
                <a:latin typeface="Courier New"/>
              </a:rPr>
              <a:t>    </a:t>
            </a:r>
            <a:r>
              <a:rPr lang="es-CO" sz="950" b="0" i="0">
                <a:solidFill>
                  <a:srgbClr val="FFB86C"/>
                </a:solidFill>
                <a:latin typeface="Courier New"/>
              </a:rPr>
              <a:t>SELECT</a:t>
            </a:r>
            <a:r>
              <a:rPr lang="es-CO" sz="950" b="0" i="0">
                <a:solidFill>
                  <a:srgbClr val="D7E1EE"/>
                </a:solidFill>
                <a:latin typeface="Courier New"/>
              </a:rPr>
              <a:t> id</a:t>
            </a:r>
            <a:r>
              <a:rPr lang="es-CO" sz="950" b="0" i="0">
                <a:solidFill>
                  <a:srgbClr val="93A5BD"/>
                </a:solidFill>
                <a:latin typeface="Courier New"/>
              </a:rPr>
              <a:t>,</a:t>
            </a:r>
            <a:r>
              <a:rPr lang="es-CO" sz="950" b="0" i="0">
                <a:solidFill>
                  <a:srgbClr val="D7E1EE"/>
                </a:solidFill>
                <a:latin typeface="Courier New"/>
              </a:rPr>
              <a:t> nombre</a:t>
            </a:r>
            <a:r>
              <a:rPr lang="es-CO" sz="950" b="0" i="0">
                <a:solidFill>
                  <a:srgbClr val="93A5BD"/>
                </a:solidFill>
                <a:latin typeface="Courier New"/>
              </a:rPr>
              <a:t>,</a:t>
            </a:r>
            <a:r>
              <a:rPr lang="es-CO" sz="950" b="0" i="0">
                <a:solidFill>
                  <a:srgbClr val="D7E1EE"/>
                </a:solidFill>
                <a:latin typeface="Courier New"/>
              </a:rPr>
              <a:t> correo</a:t>
            </a:r>
            <a:r>
              <a:rPr lang="es-CO" sz="950" b="0" i="0">
                <a:solidFill>
                  <a:srgbClr val="93A5BD"/>
                </a:solidFill>
                <a:latin typeface="Courier New"/>
              </a:rPr>
              <a:t>,</a:t>
            </a:r>
            <a:r>
              <a:rPr lang="es-CO" sz="950" b="0" i="0">
                <a:solidFill>
                  <a:srgbClr val="D7E1EE"/>
                </a:solidFill>
                <a:latin typeface="Courier New"/>
              </a:rPr>
              <a:t> mensaje</a:t>
            </a:r>
          </a:p>
          <a:p>
            <a:pPr algn="l">
              <a:lnSpc>
                <a:spcPts val="1230"/>
              </a:lnSpc>
            </a:pPr>
            <a:r>
              <a:rPr lang="es-CO" sz="950" b="0" i="0">
                <a:solidFill>
                  <a:srgbClr val="D7E1EE"/>
                </a:solidFill>
                <a:latin typeface="Courier New"/>
              </a:rPr>
              <a:t>    </a:t>
            </a:r>
            <a:r>
              <a:rPr lang="es-CO" sz="950" b="0" i="0">
                <a:solidFill>
                  <a:srgbClr val="FFB86C"/>
                </a:solidFill>
                <a:latin typeface="Courier New"/>
              </a:rPr>
              <a:t>FROM</a:t>
            </a:r>
            <a:r>
              <a:rPr lang="es-CO" sz="950" b="0" i="0">
                <a:solidFill>
                  <a:srgbClr val="D7E1EE"/>
                </a:solidFill>
                <a:latin typeface="Courier New"/>
              </a:rPr>
              <a:t> contactos</a:t>
            </a:r>
          </a:p>
          <a:p>
            <a:pPr algn="l">
              <a:lnSpc>
                <a:spcPts val="1230"/>
              </a:lnSpc>
            </a:pPr>
            <a:r>
              <a:rPr lang="es-CO" sz="950" b="0" i="0">
                <a:solidFill>
                  <a:srgbClr val="D7E1EE"/>
                </a:solidFill>
                <a:latin typeface="Courier New"/>
              </a:rPr>
              <a:t>    </a:t>
            </a:r>
            <a:r>
              <a:rPr lang="es-CO" sz="950" b="0" i="0">
                <a:solidFill>
                  <a:srgbClr val="FFB86C"/>
                </a:solidFill>
                <a:latin typeface="Courier New"/>
              </a:rPr>
              <a:t>ORDER</a:t>
            </a:r>
            <a:r>
              <a:rPr lang="es-CO" sz="950" b="0" i="0">
                <a:solidFill>
                  <a:srgbClr val="D7E1EE"/>
                </a:solidFill>
                <a:latin typeface="Courier New"/>
              </a:rPr>
              <a:t> </a:t>
            </a:r>
            <a:r>
              <a:rPr lang="es-CO" sz="950" b="0" i="0">
                <a:solidFill>
                  <a:srgbClr val="FFB86C"/>
                </a:solidFill>
                <a:latin typeface="Courier New"/>
              </a:rPr>
              <a:t>BY</a:t>
            </a:r>
            <a:r>
              <a:rPr lang="es-CO" sz="950" b="0" i="0">
                <a:solidFill>
                  <a:srgbClr val="D7E1EE"/>
                </a:solidFill>
                <a:latin typeface="Courier New"/>
              </a:rPr>
              <a:t> id</a:t>
            </a:r>
            <a:r>
              <a:rPr lang="es-CO" sz="950" b="0" i="0">
                <a:solidFill>
                  <a:srgbClr val="FFD479"/>
                </a:solidFill>
                <a:latin typeface="Courier New"/>
              </a:rPr>
              <a:t>`</a:t>
            </a:r>
            <a:r>
              <a:rPr lang="es-CO" sz="950" b="0" i="0">
                <a:solidFill>
                  <a:srgbClr val="93A5BD"/>
                </a:solidFill>
                <a:latin typeface="Courier New"/>
              </a:rPr>
              <a:t>);</a:t>
            </a:r>
          </a:p>
        </p:txBody>
      </p:sp>
      <p:sp>
        <p:nvSpPr>
          <p:cNvPr id="11" name="Rounded Rectangle 10"/>
          <p:cNvSpPr/>
          <p:nvPr/>
        </p:nvSpPr>
        <p:spPr>
          <a:xfrm>
            <a:off x="5486400" y="1234440"/>
            <a:ext cx="3154680" cy="393192"/>
          </a:xfrm>
          <a:prstGeom prst="roundRect">
            <a:avLst>
              <a:gd name="adj" fmla="val 18604"/>
            </a:avLst>
          </a:prstGeom>
          <a:solidFill>
            <a:srgbClr val="20160E"/>
          </a:solidFill>
          <a:ln w="12700">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596128" y="1234440"/>
            <a:ext cx="1051560" cy="393192"/>
          </a:xfrm>
          <a:prstGeom prst="rect">
            <a:avLst/>
          </a:prstGeom>
          <a:noFill/>
        </p:spPr>
        <p:txBody>
          <a:bodyPr wrap="square" lIns="0" tIns="0" rIns="0" bIns="0" anchor="ctr">
            <a:spAutoFit/>
          </a:bodyPr>
          <a:lstStyle/>
          <a:p>
            <a:pPr algn="l"/>
            <a:r>
              <a:rPr lang="es-CO" sz="900" b="1" i="0">
                <a:solidFill>
                  <a:srgbClr val="FF8A3D"/>
                </a:solidFill>
                <a:latin typeface="Courier New"/>
              </a:rPr>
              <a:t>SELECT</a:t>
            </a:r>
          </a:p>
        </p:txBody>
      </p:sp>
      <p:sp>
        <p:nvSpPr>
          <p:cNvPr id="13" name="TextBox 12"/>
          <p:cNvSpPr txBox="1"/>
          <p:nvPr/>
        </p:nvSpPr>
        <p:spPr>
          <a:xfrm>
            <a:off x="6675120" y="1234440"/>
            <a:ext cx="1901952" cy="393192"/>
          </a:xfrm>
          <a:prstGeom prst="rect">
            <a:avLst/>
          </a:prstGeom>
          <a:noFill/>
        </p:spPr>
        <p:txBody>
          <a:bodyPr wrap="square" lIns="0" tIns="0" rIns="0" bIns="0" anchor="ctr">
            <a:spAutoFit/>
          </a:bodyPr>
          <a:lstStyle/>
          <a:p>
            <a:pPr algn="l">
              <a:lnSpc>
                <a:spcPts val="1050"/>
              </a:lnSpc>
            </a:pPr>
            <a:r>
              <a:rPr lang="es-CO" sz="880" b="0" i="0">
                <a:solidFill>
                  <a:srgbClr val="E8EEF6"/>
                </a:solidFill>
                <a:latin typeface="Calibri"/>
              </a:rPr>
              <a:t>Indica las columnas que se recuperan.</a:t>
            </a:r>
          </a:p>
        </p:txBody>
      </p:sp>
      <p:sp>
        <p:nvSpPr>
          <p:cNvPr id="14" name="Rounded Rectangle 13"/>
          <p:cNvSpPr/>
          <p:nvPr/>
        </p:nvSpPr>
        <p:spPr>
          <a:xfrm>
            <a:off x="5486400" y="1686153"/>
            <a:ext cx="3154680" cy="393192"/>
          </a:xfrm>
          <a:prstGeom prst="roundRect">
            <a:avLst>
              <a:gd name="adj" fmla="val 18604"/>
            </a:avLst>
          </a:prstGeom>
          <a:solidFill>
            <a:srgbClr val="20160E"/>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596128" y="1686153"/>
            <a:ext cx="1051560" cy="393192"/>
          </a:xfrm>
          <a:prstGeom prst="rect">
            <a:avLst/>
          </a:prstGeom>
          <a:noFill/>
        </p:spPr>
        <p:txBody>
          <a:bodyPr wrap="square" lIns="0" tIns="0" rIns="0" bIns="0" anchor="ctr">
            <a:spAutoFit/>
          </a:bodyPr>
          <a:lstStyle/>
          <a:p>
            <a:pPr algn="l"/>
            <a:r>
              <a:rPr lang="es-CO" sz="900" b="1" i="0">
                <a:solidFill>
                  <a:srgbClr val="FFB86C"/>
                </a:solidFill>
                <a:latin typeface="Courier New"/>
              </a:rPr>
              <a:t>FROM</a:t>
            </a:r>
          </a:p>
        </p:txBody>
      </p:sp>
      <p:sp>
        <p:nvSpPr>
          <p:cNvPr id="16" name="TextBox 15"/>
          <p:cNvSpPr txBox="1"/>
          <p:nvPr/>
        </p:nvSpPr>
        <p:spPr>
          <a:xfrm>
            <a:off x="6675120" y="1686153"/>
            <a:ext cx="1901952" cy="393192"/>
          </a:xfrm>
          <a:prstGeom prst="rect">
            <a:avLst/>
          </a:prstGeom>
          <a:noFill/>
        </p:spPr>
        <p:txBody>
          <a:bodyPr wrap="square" lIns="0" tIns="0" rIns="0" bIns="0" anchor="ctr">
            <a:spAutoFit/>
          </a:bodyPr>
          <a:lstStyle/>
          <a:p>
            <a:pPr algn="l">
              <a:lnSpc>
                <a:spcPts val="1050"/>
              </a:lnSpc>
            </a:pPr>
            <a:r>
              <a:rPr lang="es-CO" sz="880" b="0" i="0">
                <a:solidFill>
                  <a:srgbClr val="E8EEF6"/>
                </a:solidFill>
                <a:latin typeface="Calibri"/>
              </a:rPr>
              <a:t>Tabla de la que se leen los registros.</a:t>
            </a:r>
          </a:p>
        </p:txBody>
      </p:sp>
      <p:sp>
        <p:nvSpPr>
          <p:cNvPr id="17" name="Rounded Rectangle 16"/>
          <p:cNvSpPr/>
          <p:nvPr/>
        </p:nvSpPr>
        <p:spPr>
          <a:xfrm>
            <a:off x="5486400" y="2137867"/>
            <a:ext cx="3154680" cy="393192"/>
          </a:xfrm>
          <a:prstGeom prst="roundRect">
            <a:avLst>
              <a:gd name="adj" fmla="val 18604"/>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596128" y="2137867"/>
            <a:ext cx="1051560" cy="393192"/>
          </a:xfrm>
          <a:prstGeom prst="rect">
            <a:avLst/>
          </a:prstGeom>
          <a:noFill/>
        </p:spPr>
        <p:txBody>
          <a:bodyPr wrap="square" lIns="0" tIns="0" rIns="0" bIns="0" anchor="ctr">
            <a:spAutoFit/>
          </a:bodyPr>
          <a:lstStyle/>
          <a:p>
            <a:pPr algn="l"/>
            <a:r>
              <a:rPr lang="es-CO" sz="900" b="1" i="0">
                <a:solidFill>
                  <a:srgbClr val="FFD479"/>
                </a:solidFill>
                <a:latin typeface="Courier New"/>
              </a:rPr>
              <a:t>ORDER BY id</a:t>
            </a:r>
          </a:p>
        </p:txBody>
      </p:sp>
      <p:sp>
        <p:nvSpPr>
          <p:cNvPr id="19" name="TextBox 18"/>
          <p:cNvSpPr txBox="1"/>
          <p:nvPr/>
        </p:nvSpPr>
        <p:spPr>
          <a:xfrm>
            <a:off x="6675120" y="2137867"/>
            <a:ext cx="1901952" cy="393192"/>
          </a:xfrm>
          <a:prstGeom prst="rect">
            <a:avLst/>
          </a:prstGeom>
          <a:noFill/>
        </p:spPr>
        <p:txBody>
          <a:bodyPr wrap="square" lIns="0" tIns="0" rIns="0" bIns="0" anchor="ctr">
            <a:spAutoFit/>
          </a:bodyPr>
          <a:lstStyle/>
          <a:p>
            <a:pPr algn="l">
              <a:lnSpc>
                <a:spcPts val="1050"/>
              </a:lnSpc>
            </a:pPr>
            <a:r>
              <a:rPr lang="es-CO" sz="880" b="0" i="0">
                <a:solidFill>
                  <a:srgbClr val="E8EEF6"/>
                </a:solidFill>
                <a:latin typeface="Calibri"/>
              </a:rPr>
              <a:t>Ordena del registro más antiguo al más reciente.</a:t>
            </a:r>
          </a:p>
        </p:txBody>
      </p:sp>
      <p:sp>
        <p:nvSpPr>
          <p:cNvPr id="20" name="Rounded Rectangle 19"/>
          <p:cNvSpPr/>
          <p:nvPr/>
        </p:nvSpPr>
        <p:spPr>
          <a:xfrm>
            <a:off x="5486400" y="2589580"/>
            <a:ext cx="3154680" cy="393192"/>
          </a:xfrm>
          <a:prstGeom prst="roundRect">
            <a:avLst>
              <a:gd name="adj" fmla="val 18604"/>
            </a:avLst>
          </a:prstGeom>
          <a:solidFill>
            <a:srgbClr val="20160E"/>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596128" y="2589580"/>
            <a:ext cx="1051560" cy="393192"/>
          </a:xfrm>
          <a:prstGeom prst="rect">
            <a:avLst/>
          </a:prstGeom>
          <a:noFill/>
        </p:spPr>
        <p:txBody>
          <a:bodyPr wrap="square" lIns="0" tIns="0" rIns="0" bIns="0" anchor="ctr">
            <a:spAutoFit/>
          </a:bodyPr>
          <a:lstStyle/>
          <a:p>
            <a:pPr algn="l"/>
            <a:r>
              <a:rPr lang="es-CO" sz="900" b="1" i="0">
                <a:solidFill>
                  <a:srgbClr val="56C7F2"/>
                </a:solidFill>
                <a:latin typeface="Courier New"/>
              </a:rPr>
              <a:t>db.prepare()</a:t>
            </a:r>
          </a:p>
        </p:txBody>
      </p:sp>
      <p:sp>
        <p:nvSpPr>
          <p:cNvPr id="22" name="TextBox 21"/>
          <p:cNvSpPr txBox="1"/>
          <p:nvPr/>
        </p:nvSpPr>
        <p:spPr>
          <a:xfrm>
            <a:off x="6675120" y="2589580"/>
            <a:ext cx="1901952" cy="393192"/>
          </a:xfrm>
          <a:prstGeom prst="rect">
            <a:avLst/>
          </a:prstGeom>
          <a:noFill/>
        </p:spPr>
        <p:txBody>
          <a:bodyPr wrap="square" lIns="0" tIns="0" rIns="0" bIns="0" anchor="ctr">
            <a:spAutoFit/>
          </a:bodyPr>
          <a:lstStyle/>
          <a:p>
            <a:pPr algn="l">
              <a:lnSpc>
                <a:spcPts val="1050"/>
              </a:lnSpc>
            </a:pPr>
            <a:r>
              <a:rPr lang="es-CO" sz="880" b="0" i="0">
                <a:solidFill>
                  <a:srgbClr val="E8EEF6"/>
                </a:solidFill>
                <a:latin typeface="Calibri"/>
              </a:rPr>
              <a:t>Compila la sentencia una sola vez al iniciar.</a:t>
            </a:r>
          </a:p>
        </p:txBody>
      </p:sp>
      <p:sp>
        <p:nvSpPr>
          <p:cNvPr id="23" name="Rounded Rectangle 22"/>
          <p:cNvSpPr/>
          <p:nvPr/>
        </p:nvSpPr>
        <p:spPr>
          <a:xfrm>
            <a:off x="5486400" y="3041294"/>
            <a:ext cx="3154680" cy="393192"/>
          </a:xfrm>
          <a:prstGeom prst="roundRect">
            <a:avLst>
              <a:gd name="adj" fmla="val 18604"/>
            </a:avLst>
          </a:prstGeom>
          <a:solidFill>
            <a:srgbClr val="20160E"/>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596128" y="3041294"/>
            <a:ext cx="1051560" cy="393192"/>
          </a:xfrm>
          <a:prstGeom prst="rect">
            <a:avLst/>
          </a:prstGeom>
          <a:noFill/>
        </p:spPr>
        <p:txBody>
          <a:bodyPr wrap="square" lIns="0" tIns="0" rIns="0" bIns="0" anchor="ctr">
            <a:spAutoFit/>
          </a:bodyPr>
          <a:lstStyle/>
          <a:p>
            <a:pPr algn="l"/>
            <a:r>
              <a:rPr lang="es-CO" sz="900" b="1" i="0">
                <a:solidFill>
                  <a:srgbClr val="3DDC97"/>
                </a:solidFill>
                <a:latin typeface="Courier New"/>
              </a:rPr>
              <a:t>all()</a:t>
            </a:r>
          </a:p>
        </p:txBody>
      </p:sp>
      <p:sp>
        <p:nvSpPr>
          <p:cNvPr id="25" name="TextBox 24"/>
          <p:cNvSpPr txBox="1"/>
          <p:nvPr/>
        </p:nvSpPr>
        <p:spPr>
          <a:xfrm>
            <a:off x="6675120" y="3041294"/>
            <a:ext cx="1901952" cy="393192"/>
          </a:xfrm>
          <a:prstGeom prst="rect">
            <a:avLst/>
          </a:prstGeom>
          <a:noFill/>
        </p:spPr>
        <p:txBody>
          <a:bodyPr wrap="square" lIns="0" tIns="0" rIns="0" bIns="0" anchor="ctr">
            <a:spAutoFit/>
          </a:bodyPr>
          <a:lstStyle/>
          <a:p>
            <a:pPr algn="l">
              <a:lnSpc>
                <a:spcPts val="1050"/>
              </a:lnSpc>
            </a:pPr>
            <a:r>
              <a:rPr lang="es-CO" sz="880" b="0" i="0">
                <a:solidFill>
                  <a:srgbClr val="E8EEF6"/>
                </a:solidFill>
                <a:latin typeface="Calibri"/>
              </a:rPr>
              <a:t>Ejecuta la sentencia y devuelve un arreglo de objetos.</a:t>
            </a:r>
          </a:p>
        </p:txBody>
      </p:sp>
      <p:sp>
        <p:nvSpPr>
          <p:cNvPr id="26" name="Rounded Rectangle 25"/>
          <p:cNvSpPr/>
          <p:nvPr/>
        </p:nvSpPr>
        <p:spPr>
          <a:xfrm>
            <a:off x="502920" y="3602736"/>
            <a:ext cx="8138160" cy="676656"/>
          </a:xfrm>
          <a:prstGeom prst="roundRect">
            <a:avLst>
              <a:gd name="adj" fmla="val 10810"/>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49224" y="3666744"/>
            <a:ext cx="7845552" cy="182880"/>
          </a:xfrm>
          <a:prstGeom prst="rect">
            <a:avLst/>
          </a:prstGeom>
          <a:noFill/>
        </p:spPr>
        <p:txBody>
          <a:bodyPr wrap="square" lIns="0" tIns="0" rIns="0" bIns="0" anchor="ctr">
            <a:spAutoFit/>
          </a:bodyPr>
          <a:lstStyle/>
          <a:p>
            <a:pPr algn="l"/>
            <a:r>
              <a:rPr lang="es-CO" sz="850" b="1" i="0">
                <a:solidFill>
                  <a:srgbClr val="6C7E96"/>
                </a:solidFill>
                <a:latin typeface="Courier New"/>
              </a:rPr>
              <a:t>valor que devuelve consultarContactos.all() · objeto de JavaScript en memoria</a:t>
            </a:r>
          </a:p>
        </p:txBody>
      </p:sp>
      <p:sp>
        <p:nvSpPr>
          <p:cNvPr id="28" name="TextBox 27"/>
          <p:cNvSpPr txBox="1"/>
          <p:nvPr/>
        </p:nvSpPr>
        <p:spPr>
          <a:xfrm>
            <a:off x="649224" y="3895344"/>
            <a:ext cx="7845552" cy="338327"/>
          </a:xfrm>
          <a:prstGeom prst="rect">
            <a:avLst/>
          </a:prstGeom>
          <a:noFill/>
        </p:spPr>
        <p:txBody>
          <a:bodyPr wrap="square" lIns="0" tIns="0" rIns="0" bIns="0" anchor="t">
            <a:spAutoFit/>
          </a:bodyPr>
          <a:lstStyle/>
          <a:p>
            <a:pPr algn="l">
              <a:lnSpc>
                <a:spcPts val="1170"/>
              </a:lnSpc>
            </a:pPr>
            <a:r>
              <a:rPr lang="es-CO" sz="900" b="0" i="0">
                <a:solidFill>
                  <a:srgbClr val="93A5BD"/>
                </a:solidFill>
                <a:latin typeface="Courier New"/>
              </a:rPr>
              <a:t>[</a:t>
            </a:r>
            <a:r>
              <a:rPr lang="es-CO" sz="900" b="0" i="0">
                <a:solidFill>
                  <a:srgbClr val="D7E1EE"/>
                </a:solidFill>
                <a:latin typeface="Courier New"/>
              </a:rPr>
              <a:t> </a:t>
            </a:r>
            <a:r>
              <a:rPr lang="es-CO" sz="900" b="0" i="0">
                <a:solidFill>
                  <a:srgbClr val="93A5BD"/>
                </a:solidFill>
                <a:latin typeface="Courier New"/>
              </a:rPr>
              <a:t>{</a:t>
            </a:r>
            <a:r>
              <a:rPr lang="es-CO" sz="900" b="0" i="0">
                <a:solidFill>
                  <a:srgbClr val="D7E1EE"/>
                </a:solidFill>
                <a:latin typeface="Courier New"/>
              </a:rPr>
              <a:t> id</a:t>
            </a:r>
            <a:r>
              <a:rPr lang="es-CO" sz="900" b="0" i="0">
                <a:solidFill>
                  <a:srgbClr val="93A5BD"/>
                </a:solidFill>
                <a:latin typeface="Courier New"/>
              </a:rPr>
              <a:t>:</a:t>
            </a:r>
            <a:r>
              <a:rPr lang="es-CO" sz="900" b="0" i="0">
                <a:solidFill>
                  <a:srgbClr val="D7E1EE"/>
                </a:solidFill>
                <a:latin typeface="Courier New"/>
              </a:rPr>
              <a:t> </a:t>
            </a:r>
            <a:r>
              <a:rPr lang="es-CO" sz="900" b="0" i="0">
                <a:solidFill>
                  <a:srgbClr val="3DDC97"/>
                </a:solidFill>
                <a:latin typeface="Courier New"/>
              </a:rPr>
              <a:t>1</a:t>
            </a:r>
            <a:r>
              <a:rPr lang="es-CO" sz="900" b="0" i="0">
                <a:solidFill>
                  <a:srgbClr val="93A5BD"/>
                </a:solidFill>
                <a:latin typeface="Courier New"/>
              </a:rPr>
              <a:t>,</a:t>
            </a:r>
            <a:r>
              <a:rPr lang="es-CO" sz="900" b="0" i="0">
                <a:solidFill>
                  <a:srgbClr val="D7E1EE"/>
                </a:solidFill>
                <a:latin typeface="Courier New"/>
              </a:rPr>
              <a:t> nombre</a:t>
            </a:r>
            <a:r>
              <a:rPr lang="es-CO" sz="900" b="0" i="0">
                <a:solidFill>
                  <a:srgbClr val="93A5BD"/>
                </a:solidFill>
                <a:latin typeface="Courier New"/>
              </a:rPr>
              <a:t>:</a:t>
            </a:r>
            <a:r>
              <a:rPr lang="es-CO" sz="900" b="0" i="0">
                <a:solidFill>
                  <a:srgbClr val="D7E1EE"/>
                </a:solidFill>
                <a:latin typeface="Courier New"/>
              </a:rPr>
              <a:t> </a:t>
            </a:r>
            <a:r>
              <a:rPr lang="es-CO" sz="900" b="0" i="0">
                <a:solidFill>
                  <a:srgbClr val="FFD479"/>
                </a:solidFill>
                <a:latin typeface="Courier New"/>
              </a:rPr>
              <a:t>'Ana'</a:t>
            </a:r>
            <a:r>
              <a:rPr lang="es-CO" sz="900" b="0" i="0">
                <a:solidFill>
                  <a:srgbClr val="93A5BD"/>
                </a:solidFill>
                <a:latin typeface="Courier New"/>
              </a:rPr>
              <a:t>,</a:t>
            </a:r>
            <a:r>
              <a:rPr lang="es-CO" sz="900" b="0" i="0">
                <a:solidFill>
                  <a:srgbClr val="D7E1EE"/>
                </a:solidFill>
                <a:latin typeface="Courier New"/>
              </a:rPr>
              <a:t> correo</a:t>
            </a:r>
            <a:r>
              <a:rPr lang="es-CO" sz="900" b="0" i="0">
                <a:solidFill>
                  <a:srgbClr val="93A5BD"/>
                </a:solidFill>
                <a:latin typeface="Courier New"/>
              </a:rPr>
              <a:t>:</a:t>
            </a:r>
            <a:r>
              <a:rPr lang="es-CO" sz="900" b="0" i="0">
                <a:solidFill>
                  <a:srgbClr val="D7E1EE"/>
                </a:solidFill>
                <a:latin typeface="Courier New"/>
              </a:rPr>
              <a:t> </a:t>
            </a:r>
            <a:r>
              <a:rPr lang="es-CO" sz="900" b="0" i="0">
                <a:solidFill>
                  <a:srgbClr val="FFD479"/>
                </a:solidFill>
                <a:latin typeface="Courier New"/>
              </a:rPr>
              <a:t>'ana@example.com'</a:t>
            </a:r>
            <a:r>
              <a:rPr lang="es-CO" sz="900" b="0" i="0">
                <a:solidFill>
                  <a:srgbClr val="93A5BD"/>
                </a:solidFill>
                <a:latin typeface="Courier New"/>
              </a:rPr>
              <a:t>,</a:t>
            </a:r>
            <a:r>
              <a:rPr lang="es-CO" sz="900" b="0" i="0">
                <a:solidFill>
                  <a:srgbClr val="D7E1EE"/>
                </a:solidFill>
                <a:latin typeface="Courier New"/>
              </a:rPr>
              <a:t> mensaje</a:t>
            </a:r>
            <a:r>
              <a:rPr lang="es-CO" sz="900" b="0" i="0">
                <a:solidFill>
                  <a:srgbClr val="93A5BD"/>
                </a:solidFill>
                <a:latin typeface="Courier New"/>
              </a:rPr>
              <a:t>:</a:t>
            </a:r>
            <a:r>
              <a:rPr lang="es-CO" sz="900" b="0" i="0">
                <a:solidFill>
                  <a:srgbClr val="D7E1EE"/>
                </a:solidFill>
                <a:latin typeface="Courier New"/>
              </a:rPr>
              <a:t> </a:t>
            </a:r>
            <a:r>
              <a:rPr lang="es-CO" sz="900" b="0" i="0">
                <a:solidFill>
                  <a:srgbClr val="FFD479"/>
                </a:solidFill>
                <a:latin typeface="Courier New"/>
              </a:rPr>
              <a:t>'Hola, quiero información del curso.'</a:t>
            </a:r>
            <a:r>
              <a:rPr lang="es-CO" sz="900" b="0" i="0">
                <a:solidFill>
                  <a:srgbClr val="D7E1EE"/>
                </a:solidFill>
                <a:latin typeface="Courier New"/>
              </a:rPr>
              <a:t> </a:t>
            </a:r>
            <a:r>
              <a:rPr lang="es-CO" sz="900" b="0" i="0">
                <a:solidFill>
                  <a:srgbClr val="93A5BD"/>
                </a:solidFill>
                <a:latin typeface="Courier New"/>
              </a:rPr>
              <a:t>}</a:t>
            </a:r>
            <a:r>
              <a:rPr lang="es-CO" sz="900" b="0" i="0">
                <a:solidFill>
                  <a:srgbClr val="D7E1EE"/>
                </a:solidFill>
                <a:latin typeface="Courier New"/>
              </a:rPr>
              <a:t> </a:t>
            </a:r>
            <a:r>
              <a:rPr lang="es-CO" sz="900" b="0" i="0">
                <a:solidFill>
                  <a:srgbClr val="93A5BD"/>
                </a:solidFill>
                <a:latin typeface="Courier New"/>
              </a:rPr>
              <a:t>]</a:t>
            </a:r>
          </a:p>
        </p:txBody>
      </p:sp>
      <p:sp>
        <p:nvSpPr>
          <p:cNvPr id="29" name="TextBox 28"/>
          <p:cNvSpPr txBox="1"/>
          <p:nvPr/>
        </p:nvSpPr>
        <p:spPr>
          <a:xfrm>
            <a:off x="502920" y="4352544"/>
            <a:ext cx="8138160" cy="256032"/>
          </a:xfrm>
          <a:prstGeom prst="rect">
            <a:avLst/>
          </a:prstGeom>
          <a:noFill/>
        </p:spPr>
        <p:txBody>
          <a:bodyPr wrap="square" lIns="0" tIns="0" rIns="0" bIns="0" anchor="ctr">
            <a:spAutoFit/>
          </a:bodyPr>
          <a:lstStyle/>
          <a:p>
            <a:pPr algn="l"/>
            <a:r>
              <a:rPr lang="es-CO" sz="1050" b="0" i="1">
                <a:solidFill>
                  <a:srgbClr val="93A5BD"/>
                </a:solidFill>
                <a:latin typeface="Calibri"/>
              </a:rPr>
              <a:t>all() entrega valores de JavaScript; en la siguiente diapositiva se convierten en texto JSON.</a:t>
            </a:r>
          </a:p>
        </p:txBody>
      </p:sp>
      <p:sp>
        <p:nvSpPr>
          <p:cNvPr id="30" name="TextBox 29"/>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16 / 24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2139696"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2139696"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06 · PARTE A</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Parte A · GET /api/contactos responde JSON</a:t>
            </a:r>
          </a:p>
        </p:txBody>
      </p:sp>
      <p:sp>
        <p:nvSpPr>
          <p:cNvPr id="5" name="Rounded Rectangle 4"/>
          <p:cNvSpPr/>
          <p:nvPr/>
        </p:nvSpPr>
        <p:spPr>
          <a:xfrm>
            <a:off x="502920" y="1216152"/>
            <a:ext cx="5029200" cy="2395728"/>
          </a:xfrm>
          <a:prstGeom prst="roundRect">
            <a:avLst>
              <a:gd name="adj" fmla="val 3053"/>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9224" y="1280160"/>
            <a:ext cx="4736592" cy="182880"/>
          </a:xfrm>
          <a:prstGeom prst="rect">
            <a:avLst/>
          </a:prstGeom>
          <a:noFill/>
        </p:spPr>
        <p:txBody>
          <a:bodyPr wrap="square" lIns="0" tIns="0" rIns="0" bIns="0" anchor="ctr">
            <a:spAutoFit/>
          </a:bodyPr>
          <a:lstStyle/>
          <a:p>
            <a:pPr algn="l"/>
            <a:r>
              <a:rPr lang="es-CO" sz="850" b="1" i="0">
                <a:solidFill>
                  <a:srgbClr val="FF8A3D"/>
                </a:solidFill>
                <a:latin typeface="Courier New"/>
              </a:rPr>
              <a:t>server_rutas.js · dentro de createServer, antes de la respuesta 404</a:t>
            </a:r>
          </a:p>
        </p:txBody>
      </p:sp>
      <p:sp>
        <p:nvSpPr>
          <p:cNvPr id="7" name="TextBox 6"/>
          <p:cNvSpPr txBox="1"/>
          <p:nvPr/>
        </p:nvSpPr>
        <p:spPr>
          <a:xfrm>
            <a:off x="649224" y="1508760"/>
            <a:ext cx="4736592" cy="2057400"/>
          </a:xfrm>
          <a:prstGeom prst="rect">
            <a:avLst/>
          </a:prstGeom>
          <a:noFill/>
        </p:spPr>
        <p:txBody>
          <a:bodyPr wrap="square" lIns="0" tIns="0" rIns="0" bIns="0" anchor="t">
            <a:spAutoFit/>
          </a:bodyPr>
          <a:lstStyle/>
          <a:p>
            <a:pPr algn="l">
              <a:lnSpc>
                <a:spcPts val="1010"/>
              </a:lnSpc>
            </a:pPr>
            <a:r>
              <a:rPr lang="es-CO" sz="840" b="0" i="0">
                <a:solidFill>
                  <a:srgbClr val="FFB86C"/>
                </a:solidFill>
                <a:latin typeface="Courier New"/>
              </a:rPr>
              <a:t>if</a:t>
            </a:r>
            <a:r>
              <a:rPr lang="es-CO" sz="840" b="0" i="0">
                <a:solidFill>
                  <a:srgbClr val="D7E1EE"/>
                </a:solidFill>
                <a:latin typeface="Courier New"/>
              </a:rPr>
              <a:t> </a:t>
            </a:r>
            <a:r>
              <a:rPr lang="es-CO" sz="840" b="0" i="0">
                <a:solidFill>
                  <a:srgbClr val="93A5BD"/>
                </a:solidFill>
                <a:latin typeface="Courier New"/>
              </a:rPr>
              <a:t>(</a:t>
            </a:r>
            <a:r>
              <a:rPr lang="es-CO" sz="840" b="0" i="0">
                <a:solidFill>
                  <a:srgbClr val="D7E1EE"/>
                </a:solidFill>
                <a:latin typeface="Courier New"/>
              </a:rPr>
              <a:t>req</a:t>
            </a:r>
            <a:r>
              <a:rPr lang="es-CO" sz="840" b="0" i="0">
                <a:solidFill>
                  <a:srgbClr val="93A5BD"/>
                </a:solidFill>
                <a:latin typeface="Courier New"/>
              </a:rPr>
              <a:t>.</a:t>
            </a:r>
            <a:r>
              <a:rPr lang="es-CO" sz="840" b="0" i="0">
                <a:solidFill>
                  <a:srgbClr val="56C7F2"/>
                </a:solidFill>
                <a:latin typeface="Courier New"/>
              </a:rPr>
              <a:t>method</a:t>
            </a:r>
            <a:r>
              <a:rPr lang="es-CO" sz="840" b="0" i="0">
                <a:solidFill>
                  <a:srgbClr val="D7E1EE"/>
                </a:solidFill>
                <a:latin typeface="Courier New"/>
              </a:rPr>
              <a:t> </a:t>
            </a:r>
            <a:r>
              <a:rPr lang="es-CO" sz="840" b="0" i="0">
                <a:solidFill>
                  <a:srgbClr val="93A5BD"/>
                </a:solidFill>
                <a:latin typeface="Courier New"/>
              </a:rPr>
              <a:t>===</a:t>
            </a:r>
            <a:r>
              <a:rPr lang="es-CO" sz="840" b="0" i="0">
                <a:solidFill>
                  <a:srgbClr val="D7E1EE"/>
                </a:solidFill>
                <a:latin typeface="Courier New"/>
              </a:rPr>
              <a:t> </a:t>
            </a:r>
            <a:r>
              <a:rPr lang="es-CO" sz="840" b="0" i="0">
                <a:solidFill>
                  <a:srgbClr val="FFD479"/>
                </a:solidFill>
                <a:latin typeface="Courier New"/>
              </a:rPr>
              <a:t>'GET'</a:t>
            </a:r>
            <a:r>
              <a:rPr lang="es-CO" sz="840" b="0" i="0">
                <a:solidFill>
                  <a:srgbClr val="D7E1EE"/>
                </a:solidFill>
                <a:latin typeface="Courier New"/>
              </a:rPr>
              <a:t> </a:t>
            </a:r>
            <a:r>
              <a:rPr lang="es-CO" sz="840" b="0" i="0">
                <a:solidFill>
                  <a:srgbClr val="93A5BD"/>
                </a:solidFill>
                <a:latin typeface="Courier New"/>
              </a:rPr>
              <a:t>&amp;&amp;</a:t>
            </a:r>
            <a:r>
              <a:rPr lang="es-CO" sz="840" b="0" i="0">
                <a:solidFill>
                  <a:srgbClr val="D7E1EE"/>
                </a:solidFill>
                <a:latin typeface="Courier New"/>
              </a:rPr>
              <a:t> req</a:t>
            </a:r>
            <a:r>
              <a:rPr lang="es-CO" sz="840" b="0" i="0">
                <a:solidFill>
                  <a:srgbClr val="93A5BD"/>
                </a:solidFill>
                <a:latin typeface="Courier New"/>
              </a:rPr>
              <a:t>.</a:t>
            </a:r>
            <a:r>
              <a:rPr lang="es-CO" sz="840" b="0" i="0">
                <a:solidFill>
                  <a:srgbClr val="56C7F2"/>
                </a:solidFill>
                <a:latin typeface="Courier New"/>
              </a:rPr>
              <a:t>url</a:t>
            </a:r>
            <a:r>
              <a:rPr lang="es-CO" sz="840" b="0" i="0">
                <a:solidFill>
                  <a:srgbClr val="D7E1EE"/>
                </a:solidFill>
                <a:latin typeface="Courier New"/>
              </a:rPr>
              <a:t> </a:t>
            </a:r>
            <a:r>
              <a:rPr lang="es-CO" sz="840" b="0" i="0">
                <a:solidFill>
                  <a:srgbClr val="93A5BD"/>
                </a:solidFill>
                <a:latin typeface="Courier New"/>
              </a:rPr>
              <a:t>===</a:t>
            </a:r>
            <a:r>
              <a:rPr lang="es-CO" sz="840" b="0" i="0">
                <a:solidFill>
                  <a:srgbClr val="D7E1EE"/>
                </a:solidFill>
                <a:latin typeface="Courier New"/>
              </a:rPr>
              <a:t> </a:t>
            </a:r>
            <a:r>
              <a:rPr lang="es-CO" sz="840" b="0" i="0">
                <a:solidFill>
                  <a:srgbClr val="FFD479"/>
                </a:solidFill>
                <a:latin typeface="Courier New"/>
              </a:rPr>
              <a:t>'/api/contactos'</a:t>
            </a:r>
            <a:r>
              <a:rPr lang="es-CO" sz="840" b="0" i="0">
                <a:solidFill>
                  <a:srgbClr val="93A5BD"/>
                </a:solidFill>
                <a:latin typeface="Courier New"/>
              </a:rPr>
              <a:t>)</a:t>
            </a:r>
            <a:r>
              <a:rPr lang="es-CO" sz="840" b="0" i="0">
                <a:solidFill>
                  <a:srgbClr val="D7E1EE"/>
                </a:solidFill>
                <a:latin typeface="Courier New"/>
              </a:rPr>
              <a:t> </a:t>
            </a:r>
            <a:r>
              <a:rPr lang="es-CO" sz="840" b="0" i="0">
                <a:solidFill>
                  <a:srgbClr val="93A5BD"/>
                </a:solidFill>
                <a:latin typeface="Courier New"/>
              </a:rPr>
              <a:t>{</a:t>
            </a:r>
          </a:p>
          <a:p>
            <a:pPr algn="l">
              <a:lnSpc>
                <a:spcPts val="1010"/>
              </a:lnSpc>
            </a:pPr>
            <a:r>
              <a:rPr lang="es-CO" sz="840" b="0" i="0">
                <a:solidFill>
                  <a:srgbClr val="D7E1EE"/>
                </a:solidFill>
                <a:latin typeface="Courier New"/>
              </a:rPr>
              <a:t>    </a:t>
            </a:r>
            <a:r>
              <a:rPr lang="es-CO" sz="840" b="0" i="0">
                <a:solidFill>
                  <a:srgbClr val="FFB86C"/>
                </a:solidFill>
                <a:latin typeface="Courier New"/>
              </a:rPr>
              <a:t>try</a:t>
            </a:r>
            <a:r>
              <a:rPr lang="es-CO" sz="840" b="0" i="0">
                <a:solidFill>
                  <a:srgbClr val="D7E1EE"/>
                </a:solidFill>
                <a:latin typeface="Courier New"/>
              </a:rPr>
              <a:t> </a:t>
            </a:r>
            <a:r>
              <a:rPr lang="es-CO" sz="840" b="0" i="0">
                <a:solidFill>
                  <a:srgbClr val="93A5BD"/>
                </a:solidFill>
                <a:latin typeface="Courier New"/>
              </a:rPr>
              <a:t>{</a:t>
            </a:r>
          </a:p>
          <a:p>
            <a:pPr algn="l">
              <a:lnSpc>
                <a:spcPts val="1010"/>
              </a:lnSpc>
            </a:pPr>
            <a:r>
              <a:rPr lang="es-CO" sz="840" b="0" i="0">
                <a:solidFill>
                  <a:srgbClr val="D7E1EE"/>
                </a:solidFill>
                <a:latin typeface="Courier New"/>
              </a:rPr>
              <a:t>        </a:t>
            </a:r>
            <a:r>
              <a:rPr lang="es-CO" sz="840" b="0" i="0">
                <a:solidFill>
                  <a:srgbClr val="FFB86C"/>
                </a:solidFill>
                <a:latin typeface="Courier New"/>
              </a:rPr>
              <a:t>const</a:t>
            </a:r>
            <a:r>
              <a:rPr lang="es-CO" sz="840" b="0" i="0">
                <a:solidFill>
                  <a:srgbClr val="D7E1EE"/>
                </a:solidFill>
                <a:latin typeface="Courier New"/>
              </a:rPr>
              <a:t> contactos </a:t>
            </a:r>
            <a:r>
              <a:rPr lang="es-CO" sz="840" b="0" i="0">
                <a:solidFill>
                  <a:srgbClr val="93A5BD"/>
                </a:solidFill>
                <a:latin typeface="Courier New"/>
              </a:rPr>
              <a:t>=</a:t>
            </a:r>
            <a:r>
              <a:rPr lang="es-CO" sz="840" b="0" i="0">
                <a:solidFill>
                  <a:srgbClr val="D7E1EE"/>
                </a:solidFill>
                <a:latin typeface="Courier New"/>
              </a:rPr>
              <a:t> consultarContactos</a:t>
            </a:r>
            <a:r>
              <a:rPr lang="es-CO" sz="840" b="0" i="0">
                <a:solidFill>
                  <a:srgbClr val="93A5BD"/>
                </a:solidFill>
                <a:latin typeface="Courier New"/>
              </a:rPr>
              <a:t>.</a:t>
            </a:r>
            <a:r>
              <a:rPr lang="es-CO" sz="840" b="0" i="0">
                <a:solidFill>
                  <a:srgbClr val="56C7F2"/>
                </a:solidFill>
                <a:latin typeface="Courier New"/>
              </a:rPr>
              <a:t>all</a:t>
            </a:r>
            <a:r>
              <a:rPr lang="es-CO" sz="840" b="0" i="0">
                <a:solidFill>
                  <a:srgbClr val="93A5BD"/>
                </a:solidFill>
                <a:latin typeface="Courier New"/>
              </a:rPr>
              <a:t>();</a:t>
            </a:r>
          </a:p>
          <a:p>
            <a:pPr algn="l">
              <a:lnSpc>
                <a:spcPts val="1010"/>
              </a:lnSpc>
            </a:pPr>
            <a:r>
              <a:rPr lang="es-CO" sz="840" b="0" i="0">
                <a:solidFill>
                  <a:srgbClr val="D7E1EE"/>
                </a:solidFill>
                <a:latin typeface="Courier New"/>
              </a:rPr>
              <a:t>        res</a:t>
            </a:r>
            <a:r>
              <a:rPr lang="es-CO" sz="840" b="0" i="0">
                <a:solidFill>
                  <a:srgbClr val="93A5BD"/>
                </a:solidFill>
                <a:latin typeface="Courier New"/>
              </a:rPr>
              <a:t>.</a:t>
            </a:r>
            <a:r>
              <a:rPr lang="es-CO" sz="840" b="0" i="0">
                <a:solidFill>
                  <a:srgbClr val="56C7F2"/>
                </a:solidFill>
                <a:latin typeface="Courier New"/>
              </a:rPr>
              <a:t>writeHead</a:t>
            </a:r>
            <a:r>
              <a:rPr lang="es-CO" sz="840" b="0" i="0">
                <a:solidFill>
                  <a:srgbClr val="93A5BD"/>
                </a:solidFill>
                <a:latin typeface="Courier New"/>
              </a:rPr>
              <a:t>(</a:t>
            </a:r>
            <a:r>
              <a:rPr lang="es-CO" sz="840" b="0" i="0">
                <a:solidFill>
                  <a:srgbClr val="3DDC97"/>
                </a:solidFill>
                <a:latin typeface="Courier New"/>
              </a:rPr>
              <a:t>200</a:t>
            </a:r>
            <a:r>
              <a:rPr lang="es-CO" sz="840" b="0" i="0">
                <a:solidFill>
                  <a:srgbClr val="93A5BD"/>
                </a:solidFill>
                <a:latin typeface="Courier New"/>
              </a:rPr>
              <a:t>,</a:t>
            </a:r>
            <a:r>
              <a:rPr lang="es-CO" sz="840" b="0" i="0">
                <a:solidFill>
                  <a:srgbClr val="D7E1EE"/>
                </a:solidFill>
                <a:latin typeface="Courier New"/>
              </a:rPr>
              <a:t> </a:t>
            </a:r>
            <a:r>
              <a:rPr lang="es-CO" sz="840" b="0" i="0">
                <a:solidFill>
                  <a:srgbClr val="93A5BD"/>
                </a:solidFill>
                <a:latin typeface="Courier New"/>
              </a:rPr>
              <a:t>{</a:t>
            </a:r>
          </a:p>
          <a:p>
            <a:pPr algn="l">
              <a:lnSpc>
                <a:spcPts val="1010"/>
              </a:lnSpc>
            </a:pPr>
            <a:r>
              <a:rPr lang="es-CO" sz="840" b="0" i="0">
                <a:solidFill>
                  <a:srgbClr val="D7E1EE"/>
                </a:solidFill>
                <a:latin typeface="Courier New"/>
              </a:rPr>
              <a:t>            </a:t>
            </a:r>
            <a:r>
              <a:rPr lang="es-CO" sz="840" b="0" i="0">
                <a:solidFill>
                  <a:srgbClr val="FFD479"/>
                </a:solidFill>
                <a:latin typeface="Courier New"/>
              </a:rPr>
              <a:t>'Content-Type'</a:t>
            </a:r>
            <a:r>
              <a:rPr lang="es-CO" sz="840" b="0" i="0">
                <a:solidFill>
                  <a:srgbClr val="93A5BD"/>
                </a:solidFill>
                <a:latin typeface="Courier New"/>
              </a:rPr>
              <a:t>:</a:t>
            </a:r>
            <a:r>
              <a:rPr lang="es-CO" sz="840" b="0" i="0">
                <a:solidFill>
                  <a:srgbClr val="D7E1EE"/>
                </a:solidFill>
                <a:latin typeface="Courier New"/>
              </a:rPr>
              <a:t> </a:t>
            </a:r>
            <a:r>
              <a:rPr lang="es-CO" sz="840" b="0" i="0">
                <a:solidFill>
                  <a:srgbClr val="FFD479"/>
                </a:solidFill>
                <a:latin typeface="Courier New"/>
              </a:rPr>
              <a:t>'application/json'</a:t>
            </a:r>
          </a:p>
          <a:p>
            <a:pPr algn="l">
              <a:lnSpc>
                <a:spcPts val="1010"/>
              </a:lnSpc>
            </a:pPr>
            <a:r>
              <a:rPr lang="es-CO" sz="840" b="0" i="0">
                <a:solidFill>
                  <a:srgbClr val="D7E1EE"/>
                </a:solidFill>
                <a:latin typeface="Courier New"/>
              </a:rPr>
              <a:t>        </a:t>
            </a:r>
            <a:r>
              <a:rPr lang="es-CO" sz="840" b="0" i="0">
                <a:solidFill>
                  <a:srgbClr val="93A5BD"/>
                </a:solidFill>
                <a:latin typeface="Courier New"/>
              </a:rPr>
              <a:t>});</a:t>
            </a:r>
          </a:p>
          <a:p>
            <a:pPr algn="l">
              <a:lnSpc>
                <a:spcPts val="1010"/>
              </a:lnSpc>
            </a:pPr>
            <a:r>
              <a:rPr lang="es-CO" sz="840" b="0" i="0">
                <a:solidFill>
                  <a:srgbClr val="D7E1EE"/>
                </a:solidFill>
                <a:latin typeface="Courier New"/>
              </a:rPr>
              <a:t>        </a:t>
            </a:r>
            <a:r>
              <a:rPr lang="es-CO" sz="840" b="0" i="0">
                <a:solidFill>
                  <a:srgbClr val="FFB86C"/>
                </a:solidFill>
                <a:latin typeface="Courier New"/>
              </a:rPr>
              <a:t>return</a:t>
            </a:r>
            <a:r>
              <a:rPr lang="es-CO" sz="840" b="0" i="0">
                <a:solidFill>
                  <a:srgbClr val="D7E1EE"/>
                </a:solidFill>
                <a:latin typeface="Courier New"/>
              </a:rPr>
              <a:t> res</a:t>
            </a:r>
            <a:r>
              <a:rPr lang="es-CO" sz="840" b="0" i="0">
                <a:solidFill>
                  <a:srgbClr val="93A5BD"/>
                </a:solidFill>
                <a:latin typeface="Courier New"/>
              </a:rPr>
              <a:t>.</a:t>
            </a:r>
            <a:r>
              <a:rPr lang="es-CO" sz="840" b="0" i="0">
                <a:solidFill>
                  <a:srgbClr val="56C7F2"/>
                </a:solidFill>
                <a:latin typeface="Courier New"/>
              </a:rPr>
              <a:t>end</a:t>
            </a:r>
            <a:r>
              <a:rPr lang="es-CO" sz="840" b="0" i="0">
                <a:solidFill>
                  <a:srgbClr val="93A5BD"/>
                </a:solidFill>
                <a:latin typeface="Courier New"/>
              </a:rPr>
              <a:t>(</a:t>
            </a:r>
            <a:r>
              <a:rPr lang="es-CO" sz="840" b="0" i="0">
                <a:solidFill>
                  <a:srgbClr val="D7E1EE"/>
                </a:solidFill>
                <a:latin typeface="Courier New"/>
              </a:rPr>
              <a:t>JSON</a:t>
            </a:r>
            <a:r>
              <a:rPr lang="es-CO" sz="840" b="0" i="0">
                <a:solidFill>
                  <a:srgbClr val="93A5BD"/>
                </a:solidFill>
                <a:latin typeface="Courier New"/>
              </a:rPr>
              <a:t>.</a:t>
            </a:r>
            <a:r>
              <a:rPr lang="es-CO" sz="840" b="0" i="0">
                <a:solidFill>
                  <a:srgbClr val="56C7F2"/>
                </a:solidFill>
                <a:latin typeface="Courier New"/>
              </a:rPr>
              <a:t>stringify</a:t>
            </a:r>
            <a:r>
              <a:rPr lang="es-CO" sz="840" b="0" i="0">
                <a:solidFill>
                  <a:srgbClr val="93A5BD"/>
                </a:solidFill>
                <a:latin typeface="Courier New"/>
              </a:rPr>
              <a:t>(</a:t>
            </a:r>
            <a:r>
              <a:rPr lang="es-CO" sz="840" b="0" i="0">
                <a:solidFill>
                  <a:srgbClr val="D7E1EE"/>
                </a:solidFill>
                <a:latin typeface="Courier New"/>
              </a:rPr>
              <a:t>contactos</a:t>
            </a:r>
            <a:r>
              <a:rPr lang="es-CO" sz="840" b="0" i="0">
                <a:solidFill>
                  <a:srgbClr val="93A5BD"/>
                </a:solidFill>
                <a:latin typeface="Courier New"/>
              </a:rPr>
              <a:t>));</a:t>
            </a:r>
          </a:p>
          <a:p>
            <a:pPr algn="l">
              <a:lnSpc>
                <a:spcPts val="1010"/>
              </a:lnSpc>
            </a:pPr>
            <a:r>
              <a:rPr lang="es-CO" sz="840" b="0" i="0">
                <a:solidFill>
                  <a:srgbClr val="D7E1EE"/>
                </a:solidFill>
                <a:latin typeface="Courier New"/>
              </a:rPr>
              <a:t>    </a:t>
            </a:r>
            <a:r>
              <a:rPr lang="es-CO" sz="840" b="0" i="0">
                <a:solidFill>
                  <a:srgbClr val="93A5BD"/>
                </a:solidFill>
                <a:latin typeface="Courier New"/>
              </a:rPr>
              <a:t>}</a:t>
            </a:r>
            <a:r>
              <a:rPr lang="es-CO" sz="840" b="0" i="0">
                <a:solidFill>
                  <a:srgbClr val="D7E1EE"/>
                </a:solidFill>
                <a:latin typeface="Courier New"/>
              </a:rPr>
              <a:t> </a:t>
            </a:r>
            <a:r>
              <a:rPr lang="es-CO" sz="840" b="0" i="0">
                <a:solidFill>
                  <a:srgbClr val="FFB86C"/>
                </a:solidFill>
                <a:latin typeface="Courier New"/>
              </a:rPr>
              <a:t>catch</a:t>
            </a:r>
            <a:r>
              <a:rPr lang="es-CO" sz="840" b="0" i="0">
                <a:solidFill>
                  <a:srgbClr val="D7E1EE"/>
                </a:solidFill>
                <a:latin typeface="Courier New"/>
              </a:rPr>
              <a:t> </a:t>
            </a:r>
            <a:r>
              <a:rPr lang="es-CO" sz="840" b="0" i="0">
                <a:solidFill>
                  <a:srgbClr val="93A5BD"/>
                </a:solidFill>
                <a:latin typeface="Courier New"/>
              </a:rPr>
              <a:t>(</a:t>
            </a:r>
            <a:r>
              <a:rPr lang="es-CO" sz="840" b="0" i="0">
                <a:solidFill>
                  <a:srgbClr val="D7E1EE"/>
                </a:solidFill>
                <a:latin typeface="Courier New"/>
              </a:rPr>
              <a:t>error</a:t>
            </a:r>
            <a:r>
              <a:rPr lang="es-CO" sz="840" b="0" i="0">
                <a:solidFill>
                  <a:srgbClr val="93A5BD"/>
                </a:solidFill>
                <a:latin typeface="Courier New"/>
              </a:rPr>
              <a:t>)</a:t>
            </a:r>
            <a:r>
              <a:rPr lang="es-CO" sz="840" b="0" i="0">
                <a:solidFill>
                  <a:srgbClr val="D7E1EE"/>
                </a:solidFill>
                <a:latin typeface="Courier New"/>
              </a:rPr>
              <a:t> </a:t>
            </a:r>
            <a:r>
              <a:rPr lang="es-CO" sz="840" b="0" i="0">
                <a:solidFill>
                  <a:srgbClr val="93A5BD"/>
                </a:solidFill>
                <a:latin typeface="Courier New"/>
              </a:rPr>
              <a:t>{</a:t>
            </a:r>
          </a:p>
          <a:p>
            <a:pPr algn="l">
              <a:lnSpc>
                <a:spcPts val="1010"/>
              </a:lnSpc>
            </a:pPr>
            <a:r>
              <a:rPr lang="es-CO" sz="840" b="0" i="0">
                <a:solidFill>
                  <a:srgbClr val="D7E1EE"/>
                </a:solidFill>
                <a:latin typeface="Courier New"/>
              </a:rPr>
              <a:t>        console</a:t>
            </a:r>
            <a:r>
              <a:rPr lang="es-CO" sz="840" b="0" i="0">
                <a:solidFill>
                  <a:srgbClr val="93A5BD"/>
                </a:solidFill>
                <a:latin typeface="Courier New"/>
              </a:rPr>
              <a:t>.</a:t>
            </a:r>
            <a:r>
              <a:rPr lang="es-CO" sz="840" b="0" i="0">
                <a:solidFill>
                  <a:srgbClr val="56C7F2"/>
                </a:solidFill>
                <a:latin typeface="Courier New"/>
              </a:rPr>
              <a:t>error</a:t>
            </a:r>
            <a:r>
              <a:rPr lang="es-CO" sz="840" b="0" i="0">
                <a:solidFill>
                  <a:srgbClr val="93A5BD"/>
                </a:solidFill>
                <a:latin typeface="Courier New"/>
              </a:rPr>
              <a:t>(</a:t>
            </a:r>
            <a:r>
              <a:rPr lang="es-CO" sz="840" b="0" i="0">
                <a:solidFill>
                  <a:srgbClr val="FFD479"/>
                </a:solidFill>
                <a:latin typeface="Courier New"/>
              </a:rPr>
              <a:t>'Error al consultar:'</a:t>
            </a:r>
            <a:r>
              <a:rPr lang="es-CO" sz="840" b="0" i="0">
                <a:solidFill>
                  <a:srgbClr val="93A5BD"/>
                </a:solidFill>
                <a:latin typeface="Courier New"/>
              </a:rPr>
              <a:t>,</a:t>
            </a:r>
            <a:r>
              <a:rPr lang="es-CO" sz="840" b="0" i="0">
                <a:solidFill>
                  <a:srgbClr val="D7E1EE"/>
                </a:solidFill>
                <a:latin typeface="Courier New"/>
              </a:rPr>
              <a:t> error</a:t>
            </a:r>
            <a:r>
              <a:rPr lang="es-CO" sz="840" b="0" i="0">
                <a:solidFill>
                  <a:srgbClr val="93A5BD"/>
                </a:solidFill>
                <a:latin typeface="Courier New"/>
              </a:rPr>
              <a:t>);</a:t>
            </a:r>
          </a:p>
          <a:p>
            <a:pPr algn="l">
              <a:lnSpc>
                <a:spcPts val="1010"/>
              </a:lnSpc>
            </a:pPr>
            <a:r>
              <a:rPr lang="es-CO" sz="840" b="0" i="0">
                <a:solidFill>
                  <a:srgbClr val="D7E1EE"/>
                </a:solidFill>
                <a:latin typeface="Courier New"/>
              </a:rPr>
              <a:t>        res</a:t>
            </a:r>
            <a:r>
              <a:rPr lang="es-CO" sz="840" b="0" i="0">
                <a:solidFill>
                  <a:srgbClr val="93A5BD"/>
                </a:solidFill>
                <a:latin typeface="Courier New"/>
              </a:rPr>
              <a:t>.</a:t>
            </a:r>
            <a:r>
              <a:rPr lang="es-CO" sz="840" b="0" i="0">
                <a:solidFill>
                  <a:srgbClr val="56C7F2"/>
                </a:solidFill>
                <a:latin typeface="Courier New"/>
              </a:rPr>
              <a:t>writeHead</a:t>
            </a:r>
            <a:r>
              <a:rPr lang="es-CO" sz="840" b="0" i="0">
                <a:solidFill>
                  <a:srgbClr val="93A5BD"/>
                </a:solidFill>
                <a:latin typeface="Courier New"/>
              </a:rPr>
              <a:t>(</a:t>
            </a:r>
            <a:r>
              <a:rPr lang="es-CO" sz="840" b="0" i="0">
                <a:solidFill>
                  <a:srgbClr val="3DDC97"/>
                </a:solidFill>
                <a:latin typeface="Courier New"/>
              </a:rPr>
              <a:t>500</a:t>
            </a:r>
            <a:r>
              <a:rPr lang="es-CO" sz="840" b="0" i="0">
                <a:solidFill>
                  <a:srgbClr val="93A5BD"/>
                </a:solidFill>
                <a:latin typeface="Courier New"/>
              </a:rPr>
              <a:t>,</a:t>
            </a:r>
            <a:r>
              <a:rPr lang="es-CO" sz="840" b="0" i="0">
                <a:solidFill>
                  <a:srgbClr val="D7E1EE"/>
                </a:solidFill>
                <a:latin typeface="Courier New"/>
              </a:rPr>
              <a:t> </a:t>
            </a:r>
            <a:r>
              <a:rPr lang="es-CO" sz="840" b="0" i="0">
                <a:solidFill>
                  <a:srgbClr val="93A5BD"/>
                </a:solidFill>
                <a:latin typeface="Courier New"/>
              </a:rPr>
              <a:t>{</a:t>
            </a:r>
            <a:r>
              <a:rPr lang="es-CO" sz="840" b="0" i="0">
                <a:solidFill>
                  <a:srgbClr val="D7E1EE"/>
                </a:solidFill>
                <a:latin typeface="Courier New"/>
              </a:rPr>
              <a:t> </a:t>
            </a:r>
            <a:r>
              <a:rPr lang="es-CO" sz="840" b="0" i="0">
                <a:solidFill>
                  <a:srgbClr val="FFD479"/>
                </a:solidFill>
                <a:latin typeface="Courier New"/>
              </a:rPr>
              <a:t>'Content-Type'</a:t>
            </a:r>
            <a:r>
              <a:rPr lang="es-CO" sz="840" b="0" i="0">
                <a:solidFill>
                  <a:srgbClr val="93A5BD"/>
                </a:solidFill>
                <a:latin typeface="Courier New"/>
              </a:rPr>
              <a:t>:</a:t>
            </a:r>
            <a:r>
              <a:rPr lang="es-CO" sz="840" b="0" i="0">
                <a:solidFill>
                  <a:srgbClr val="D7E1EE"/>
                </a:solidFill>
                <a:latin typeface="Courier New"/>
              </a:rPr>
              <a:t> </a:t>
            </a:r>
            <a:r>
              <a:rPr lang="es-CO" sz="840" b="0" i="0">
                <a:solidFill>
                  <a:srgbClr val="FFD479"/>
                </a:solidFill>
                <a:latin typeface="Courier New"/>
              </a:rPr>
              <a:t>'application/json'</a:t>
            </a:r>
            <a:r>
              <a:rPr lang="es-CO" sz="840" b="0" i="0">
                <a:solidFill>
                  <a:srgbClr val="D7E1EE"/>
                </a:solidFill>
                <a:latin typeface="Courier New"/>
              </a:rPr>
              <a:t> </a:t>
            </a:r>
            <a:r>
              <a:rPr lang="es-CO" sz="840" b="0" i="0">
                <a:solidFill>
                  <a:srgbClr val="93A5BD"/>
                </a:solidFill>
                <a:latin typeface="Courier New"/>
              </a:rPr>
              <a:t>});</a:t>
            </a:r>
          </a:p>
          <a:p>
            <a:pPr algn="l">
              <a:lnSpc>
                <a:spcPts val="1010"/>
              </a:lnSpc>
            </a:pPr>
            <a:r>
              <a:rPr lang="es-CO" sz="840" b="0" i="0">
                <a:solidFill>
                  <a:srgbClr val="D7E1EE"/>
                </a:solidFill>
                <a:latin typeface="Courier New"/>
              </a:rPr>
              <a:t>        </a:t>
            </a:r>
            <a:r>
              <a:rPr lang="es-CO" sz="840" b="0" i="0">
                <a:solidFill>
                  <a:srgbClr val="FFB86C"/>
                </a:solidFill>
                <a:latin typeface="Courier New"/>
              </a:rPr>
              <a:t>return</a:t>
            </a:r>
            <a:r>
              <a:rPr lang="es-CO" sz="840" b="0" i="0">
                <a:solidFill>
                  <a:srgbClr val="D7E1EE"/>
                </a:solidFill>
                <a:latin typeface="Courier New"/>
              </a:rPr>
              <a:t> res</a:t>
            </a:r>
            <a:r>
              <a:rPr lang="es-CO" sz="840" b="0" i="0">
                <a:solidFill>
                  <a:srgbClr val="93A5BD"/>
                </a:solidFill>
                <a:latin typeface="Courier New"/>
              </a:rPr>
              <a:t>.</a:t>
            </a:r>
            <a:r>
              <a:rPr lang="es-CO" sz="840" b="0" i="0">
                <a:solidFill>
                  <a:srgbClr val="56C7F2"/>
                </a:solidFill>
                <a:latin typeface="Courier New"/>
              </a:rPr>
              <a:t>end</a:t>
            </a:r>
            <a:r>
              <a:rPr lang="es-CO" sz="840" b="0" i="0">
                <a:solidFill>
                  <a:srgbClr val="93A5BD"/>
                </a:solidFill>
                <a:latin typeface="Courier New"/>
              </a:rPr>
              <a:t>(</a:t>
            </a:r>
            <a:r>
              <a:rPr lang="es-CO" sz="840" b="0" i="0">
                <a:solidFill>
                  <a:srgbClr val="D7E1EE"/>
                </a:solidFill>
                <a:latin typeface="Courier New"/>
              </a:rPr>
              <a:t>JSON</a:t>
            </a:r>
            <a:r>
              <a:rPr lang="es-CO" sz="840" b="0" i="0">
                <a:solidFill>
                  <a:srgbClr val="93A5BD"/>
                </a:solidFill>
                <a:latin typeface="Courier New"/>
              </a:rPr>
              <a:t>.</a:t>
            </a:r>
            <a:r>
              <a:rPr lang="es-CO" sz="840" b="0" i="0">
                <a:solidFill>
                  <a:srgbClr val="56C7F2"/>
                </a:solidFill>
                <a:latin typeface="Courier New"/>
              </a:rPr>
              <a:t>stringify</a:t>
            </a:r>
            <a:r>
              <a:rPr lang="es-CO" sz="840" b="0" i="0">
                <a:solidFill>
                  <a:srgbClr val="93A5BD"/>
                </a:solidFill>
                <a:latin typeface="Courier New"/>
              </a:rPr>
              <a:t>({</a:t>
            </a:r>
          </a:p>
          <a:p>
            <a:pPr algn="l">
              <a:lnSpc>
                <a:spcPts val="1010"/>
              </a:lnSpc>
            </a:pPr>
            <a:r>
              <a:rPr lang="es-CO" sz="840" b="0" i="0">
                <a:solidFill>
                  <a:srgbClr val="D7E1EE"/>
                </a:solidFill>
                <a:latin typeface="Courier New"/>
              </a:rPr>
              <a:t>            error</a:t>
            </a:r>
            <a:r>
              <a:rPr lang="es-CO" sz="840" b="0" i="0">
                <a:solidFill>
                  <a:srgbClr val="93A5BD"/>
                </a:solidFill>
                <a:latin typeface="Courier New"/>
              </a:rPr>
              <a:t>:</a:t>
            </a:r>
            <a:r>
              <a:rPr lang="es-CO" sz="840" b="0" i="0">
                <a:solidFill>
                  <a:srgbClr val="D7E1EE"/>
                </a:solidFill>
                <a:latin typeface="Courier New"/>
              </a:rPr>
              <a:t> </a:t>
            </a:r>
            <a:r>
              <a:rPr lang="es-CO" sz="840" b="0" i="0">
                <a:solidFill>
                  <a:srgbClr val="FFD479"/>
                </a:solidFill>
                <a:latin typeface="Courier New"/>
              </a:rPr>
              <a:t>'No fue posible consultar los contactos'</a:t>
            </a:r>
          </a:p>
          <a:p>
            <a:pPr algn="l">
              <a:lnSpc>
                <a:spcPts val="1010"/>
              </a:lnSpc>
            </a:pPr>
            <a:r>
              <a:rPr lang="es-CO" sz="840" b="0" i="0">
                <a:solidFill>
                  <a:srgbClr val="D7E1EE"/>
                </a:solidFill>
                <a:latin typeface="Courier New"/>
              </a:rPr>
              <a:t>        </a:t>
            </a:r>
            <a:r>
              <a:rPr lang="es-CO" sz="840" b="0" i="0">
                <a:solidFill>
                  <a:srgbClr val="93A5BD"/>
                </a:solidFill>
                <a:latin typeface="Courier New"/>
              </a:rPr>
              <a:t>}));</a:t>
            </a:r>
          </a:p>
          <a:p>
            <a:pPr algn="l">
              <a:lnSpc>
                <a:spcPts val="1010"/>
              </a:lnSpc>
            </a:pPr>
            <a:r>
              <a:rPr lang="es-CO" sz="840" b="0" i="0">
                <a:solidFill>
                  <a:srgbClr val="D7E1EE"/>
                </a:solidFill>
                <a:latin typeface="Courier New"/>
              </a:rPr>
              <a:t>    </a:t>
            </a:r>
            <a:r>
              <a:rPr lang="es-CO" sz="840" b="0" i="0">
                <a:solidFill>
                  <a:srgbClr val="93A5BD"/>
                </a:solidFill>
                <a:latin typeface="Courier New"/>
              </a:rPr>
              <a:t>}</a:t>
            </a:r>
          </a:p>
          <a:p>
            <a:pPr algn="l">
              <a:lnSpc>
                <a:spcPts val="1010"/>
              </a:lnSpc>
            </a:pPr>
            <a:r>
              <a:rPr lang="es-CO" sz="840" b="0" i="0">
                <a:solidFill>
                  <a:srgbClr val="93A5BD"/>
                </a:solidFill>
                <a:latin typeface="Courier New"/>
              </a:rPr>
              <a:t>}</a:t>
            </a:r>
          </a:p>
        </p:txBody>
      </p:sp>
      <p:sp>
        <p:nvSpPr>
          <p:cNvPr id="8" name="Rounded Rectangle 7"/>
          <p:cNvSpPr/>
          <p:nvPr/>
        </p:nvSpPr>
        <p:spPr>
          <a:xfrm>
            <a:off x="5669280" y="1216152"/>
            <a:ext cx="2971800" cy="548640"/>
          </a:xfrm>
          <a:prstGeom prst="roundRect">
            <a:avLst>
              <a:gd name="adj" fmla="val 13333"/>
            </a:avLst>
          </a:prstGeom>
          <a:solidFill>
            <a:srgbClr val="20160E"/>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779008" y="1252728"/>
            <a:ext cx="2743200" cy="201168"/>
          </a:xfrm>
          <a:prstGeom prst="rect">
            <a:avLst/>
          </a:prstGeom>
          <a:noFill/>
        </p:spPr>
        <p:txBody>
          <a:bodyPr wrap="square" lIns="0" tIns="0" rIns="0" bIns="0" anchor="ctr">
            <a:spAutoFit/>
          </a:bodyPr>
          <a:lstStyle/>
          <a:p>
            <a:pPr algn="l"/>
            <a:r>
              <a:rPr lang="es-CO" sz="900" b="1" i="0">
                <a:solidFill>
                  <a:srgbClr val="FFB86C"/>
                </a:solidFill>
                <a:latin typeface="Courier New"/>
              </a:rPr>
              <a:t>res.writeHead()</a:t>
            </a:r>
          </a:p>
        </p:txBody>
      </p:sp>
      <p:sp>
        <p:nvSpPr>
          <p:cNvPr id="10" name="TextBox 9"/>
          <p:cNvSpPr txBox="1"/>
          <p:nvPr/>
        </p:nvSpPr>
        <p:spPr>
          <a:xfrm>
            <a:off x="5779008" y="1472184"/>
            <a:ext cx="2788920" cy="256032"/>
          </a:xfrm>
          <a:prstGeom prst="rect">
            <a:avLst/>
          </a:prstGeom>
          <a:noFill/>
        </p:spPr>
        <p:txBody>
          <a:bodyPr wrap="square" lIns="0" tIns="0" rIns="0" bIns="0" anchor="ctr">
            <a:spAutoFit/>
          </a:bodyPr>
          <a:lstStyle/>
          <a:p>
            <a:pPr algn="l"/>
            <a:r>
              <a:rPr lang="es-CO" sz="919" b="0" i="0">
                <a:solidFill>
                  <a:srgbClr val="E8EEF6"/>
                </a:solidFill>
                <a:latin typeface="Calibri"/>
              </a:rPr>
              <a:t>Envía el estado y los encabezados.</a:t>
            </a:r>
          </a:p>
        </p:txBody>
      </p:sp>
      <p:sp>
        <p:nvSpPr>
          <p:cNvPr id="11" name="Rounded Rectangle 10"/>
          <p:cNvSpPr/>
          <p:nvPr/>
        </p:nvSpPr>
        <p:spPr>
          <a:xfrm>
            <a:off x="5669280" y="1832457"/>
            <a:ext cx="2971800" cy="548640"/>
          </a:xfrm>
          <a:prstGeom prst="roundRect">
            <a:avLst>
              <a:gd name="adj" fmla="val 13333"/>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779008" y="1869033"/>
            <a:ext cx="2743200" cy="201168"/>
          </a:xfrm>
          <a:prstGeom prst="rect">
            <a:avLst/>
          </a:prstGeom>
          <a:noFill/>
        </p:spPr>
        <p:txBody>
          <a:bodyPr wrap="square" lIns="0" tIns="0" rIns="0" bIns="0" anchor="ctr">
            <a:spAutoFit/>
          </a:bodyPr>
          <a:lstStyle/>
          <a:p>
            <a:pPr algn="l"/>
            <a:r>
              <a:rPr lang="es-CO" sz="900" b="1" i="0">
                <a:solidFill>
                  <a:srgbClr val="FFD479"/>
                </a:solidFill>
                <a:latin typeface="Courier New"/>
              </a:rPr>
              <a:t>JSON.stringify()</a:t>
            </a:r>
          </a:p>
        </p:txBody>
      </p:sp>
      <p:sp>
        <p:nvSpPr>
          <p:cNvPr id="13" name="TextBox 12"/>
          <p:cNvSpPr txBox="1"/>
          <p:nvPr/>
        </p:nvSpPr>
        <p:spPr>
          <a:xfrm>
            <a:off x="5779008" y="2088489"/>
            <a:ext cx="2788920" cy="256032"/>
          </a:xfrm>
          <a:prstGeom prst="rect">
            <a:avLst/>
          </a:prstGeom>
          <a:noFill/>
        </p:spPr>
        <p:txBody>
          <a:bodyPr wrap="square" lIns="0" tIns="0" rIns="0" bIns="0" anchor="ctr">
            <a:spAutoFit/>
          </a:bodyPr>
          <a:lstStyle/>
          <a:p>
            <a:pPr algn="l"/>
            <a:r>
              <a:rPr lang="es-CO" sz="919" b="0" i="0">
                <a:solidFill>
                  <a:srgbClr val="E8EEF6"/>
                </a:solidFill>
                <a:latin typeface="Calibri"/>
              </a:rPr>
              <a:t>Convierte el arreglo en texto JSON.</a:t>
            </a:r>
          </a:p>
        </p:txBody>
      </p:sp>
      <p:sp>
        <p:nvSpPr>
          <p:cNvPr id="14" name="Rounded Rectangle 13"/>
          <p:cNvSpPr/>
          <p:nvPr/>
        </p:nvSpPr>
        <p:spPr>
          <a:xfrm>
            <a:off x="5669280" y="2448763"/>
            <a:ext cx="2971800" cy="548640"/>
          </a:xfrm>
          <a:prstGeom prst="roundRect">
            <a:avLst>
              <a:gd name="adj" fmla="val 13333"/>
            </a:avLst>
          </a:prstGeom>
          <a:solidFill>
            <a:srgbClr val="20160E"/>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779008" y="2485339"/>
            <a:ext cx="2743200" cy="201168"/>
          </a:xfrm>
          <a:prstGeom prst="rect">
            <a:avLst/>
          </a:prstGeom>
          <a:noFill/>
        </p:spPr>
        <p:txBody>
          <a:bodyPr wrap="square" lIns="0" tIns="0" rIns="0" bIns="0" anchor="ctr">
            <a:spAutoFit/>
          </a:bodyPr>
          <a:lstStyle/>
          <a:p>
            <a:pPr algn="l"/>
            <a:r>
              <a:rPr lang="es-CO" sz="900" b="1" i="0">
                <a:solidFill>
                  <a:srgbClr val="3DDC97"/>
                </a:solidFill>
                <a:latin typeface="Courier New"/>
              </a:rPr>
              <a:t>res.end()</a:t>
            </a:r>
          </a:p>
        </p:txBody>
      </p:sp>
      <p:sp>
        <p:nvSpPr>
          <p:cNvPr id="16" name="TextBox 15"/>
          <p:cNvSpPr txBox="1"/>
          <p:nvPr/>
        </p:nvSpPr>
        <p:spPr>
          <a:xfrm>
            <a:off x="5779008" y="2704795"/>
            <a:ext cx="2788920" cy="256032"/>
          </a:xfrm>
          <a:prstGeom prst="rect">
            <a:avLst/>
          </a:prstGeom>
          <a:noFill/>
        </p:spPr>
        <p:txBody>
          <a:bodyPr wrap="square" lIns="0" tIns="0" rIns="0" bIns="0" anchor="ctr">
            <a:spAutoFit/>
          </a:bodyPr>
          <a:lstStyle/>
          <a:p>
            <a:pPr algn="l"/>
            <a:r>
              <a:rPr lang="es-CO" sz="919" b="0" i="0">
                <a:solidFill>
                  <a:srgbClr val="E8EEF6"/>
                </a:solidFill>
                <a:latin typeface="Calibri"/>
              </a:rPr>
              <a:t>Envía el cuerpo y finaliza la respuesta.</a:t>
            </a:r>
          </a:p>
        </p:txBody>
      </p:sp>
      <p:sp>
        <p:nvSpPr>
          <p:cNvPr id="17" name="Rounded Rectangle 16"/>
          <p:cNvSpPr/>
          <p:nvPr/>
        </p:nvSpPr>
        <p:spPr>
          <a:xfrm>
            <a:off x="5669280" y="3065068"/>
            <a:ext cx="2971800" cy="548640"/>
          </a:xfrm>
          <a:prstGeom prst="roundRect">
            <a:avLst>
              <a:gd name="adj" fmla="val 13333"/>
            </a:avLst>
          </a:prstGeom>
          <a:solidFill>
            <a:srgbClr val="20160E"/>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779008" y="3101644"/>
            <a:ext cx="2743200" cy="201168"/>
          </a:xfrm>
          <a:prstGeom prst="rect">
            <a:avLst/>
          </a:prstGeom>
          <a:noFill/>
        </p:spPr>
        <p:txBody>
          <a:bodyPr wrap="square" lIns="0" tIns="0" rIns="0" bIns="0" anchor="ctr">
            <a:spAutoFit/>
          </a:bodyPr>
          <a:lstStyle/>
          <a:p>
            <a:pPr algn="l"/>
            <a:r>
              <a:rPr lang="es-CO" sz="900" b="1" i="0">
                <a:solidFill>
                  <a:srgbClr val="56C7F2"/>
                </a:solidFill>
                <a:latin typeface="Courier New"/>
              </a:rPr>
              <a:t>return</a:t>
            </a:r>
          </a:p>
        </p:txBody>
      </p:sp>
      <p:sp>
        <p:nvSpPr>
          <p:cNvPr id="19" name="TextBox 18"/>
          <p:cNvSpPr txBox="1"/>
          <p:nvPr/>
        </p:nvSpPr>
        <p:spPr>
          <a:xfrm>
            <a:off x="5779008" y="3321100"/>
            <a:ext cx="2788920" cy="256032"/>
          </a:xfrm>
          <a:prstGeom prst="rect">
            <a:avLst/>
          </a:prstGeom>
          <a:noFill/>
        </p:spPr>
        <p:txBody>
          <a:bodyPr wrap="square" lIns="0" tIns="0" rIns="0" bIns="0" anchor="ctr">
            <a:spAutoFit/>
          </a:bodyPr>
          <a:lstStyle/>
          <a:p>
            <a:pPr algn="l"/>
            <a:r>
              <a:rPr lang="es-CO" sz="919" b="0" i="0">
                <a:solidFill>
                  <a:srgbClr val="E8EEF6"/>
                </a:solidFill>
                <a:latin typeface="Calibri"/>
              </a:rPr>
              <a:t>Evita continuar hacia la respuesta 404.</a:t>
            </a:r>
          </a:p>
        </p:txBody>
      </p:sp>
      <p:sp>
        <p:nvSpPr>
          <p:cNvPr id="20" name="Rounded Rectangle 19"/>
          <p:cNvSpPr/>
          <p:nvPr/>
        </p:nvSpPr>
        <p:spPr>
          <a:xfrm>
            <a:off x="502920" y="3694176"/>
            <a:ext cx="2015337" cy="18288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02920" y="3694176"/>
            <a:ext cx="2015337" cy="182880"/>
          </a:xfrm>
          <a:prstGeom prst="rect">
            <a:avLst/>
          </a:prstGeom>
          <a:noFill/>
        </p:spPr>
        <p:txBody>
          <a:bodyPr wrap="square" lIns="0" tIns="0" rIns="0" bIns="0" anchor="ctr">
            <a:spAutoFit/>
          </a:bodyPr>
          <a:lstStyle/>
          <a:p>
            <a:pPr algn="ctr"/>
            <a:r>
              <a:rPr lang="es-CO" sz="700" b="1" i="0">
                <a:solidFill>
                  <a:srgbClr val="FF8A3D"/>
                </a:solidFill>
                <a:latin typeface="Arial"/>
              </a:rPr>
              <a:t>RESULTADO DE LA DEMOSTRACIÓN</a:t>
            </a:r>
          </a:p>
        </p:txBody>
      </p:sp>
      <p:sp>
        <p:nvSpPr>
          <p:cNvPr id="22" name="Rounded Rectangle 21"/>
          <p:cNvSpPr/>
          <p:nvPr/>
        </p:nvSpPr>
        <p:spPr>
          <a:xfrm>
            <a:off x="502920" y="3913632"/>
            <a:ext cx="8138160" cy="420624"/>
          </a:xfrm>
          <a:prstGeom prst="roundRect">
            <a:avLst>
              <a:gd name="adj" fmla="val 17391"/>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49224" y="3977640"/>
            <a:ext cx="7845552" cy="310895"/>
          </a:xfrm>
          <a:prstGeom prst="rect">
            <a:avLst/>
          </a:prstGeom>
          <a:noFill/>
        </p:spPr>
        <p:txBody>
          <a:bodyPr wrap="square" lIns="0" tIns="0" rIns="0" bIns="0" anchor="t">
            <a:spAutoFit/>
          </a:bodyPr>
          <a:lstStyle/>
          <a:p>
            <a:pPr algn="l">
              <a:lnSpc>
                <a:spcPts val="1110"/>
              </a:lnSpc>
            </a:pPr>
            <a:r>
              <a:rPr lang="es-CO" sz="850" b="0" i="0">
                <a:solidFill>
                  <a:srgbClr val="93A5BD"/>
                </a:solidFill>
                <a:latin typeface="Courier New"/>
              </a:rPr>
              <a:t>[{</a:t>
            </a:r>
            <a:r>
              <a:rPr lang="es-CO" sz="850" b="0" i="0">
                <a:solidFill>
                  <a:srgbClr val="56C7F2"/>
                </a:solidFill>
                <a:latin typeface="Courier New"/>
              </a:rPr>
              <a:t>"id"</a:t>
            </a:r>
            <a:r>
              <a:rPr lang="es-CO" sz="850" b="0" i="0">
                <a:solidFill>
                  <a:srgbClr val="93A5BD"/>
                </a:solidFill>
                <a:latin typeface="Courier New"/>
              </a:rPr>
              <a:t>:</a:t>
            </a:r>
            <a:r>
              <a:rPr lang="es-CO" sz="850" b="0" i="0">
                <a:solidFill>
                  <a:srgbClr val="3DDC97"/>
                </a:solidFill>
                <a:latin typeface="Courier New"/>
              </a:rPr>
              <a:t>1</a:t>
            </a:r>
            <a:r>
              <a:rPr lang="es-CO" sz="850" b="0" i="0">
                <a:solidFill>
                  <a:srgbClr val="93A5BD"/>
                </a:solidFill>
                <a:latin typeface="Courier New"/>
              </a:rPr>
              <a:t>,</a:t>
            </a:r>
            <a:r>
              <a:rPr lang="es-CO" sz="850" b="0" i="0">
                <a:solidFill>
                  <a:srgbClr val="56C7F2"/>
                </a:solidFill>
                <a:latin typeface="Courier New"/>
              </a:rPr>
              <a:t>"nombre"</a:t>
            </a:r>
            <a:r>
              <a:rPr lang="es-CO" sz="850" b="0" i="0">
                <a:solidFill>
                  <a:srgbClr val="93A5BD"/>
                </a:solidFill>
                <a:latin typeface="Courier New"/>
              </a:rPr>
              <a:t>:</a:t>
            </a:r>
            <a:r>
              <a:rPr lang="es-CO" sz="850" b="0" i="0">
                <a:solidFill>
                  <a:srgbClr val="FFD479"/>
                </a:solidFill>
                <a:latin typeface="Courier New"/>
              </a:rPr>
              <a:t>"Ana"</a:t>
            </a:r>
            <a:r>
              <a:rPr lang="es-CO" sz="850" b="0" i="0">
                <a:solidFill>
                  <a:srgbClr val="93A5BD"/>
                </a:solidFill>
                <a:latin typeface="Courier New"/>
              </a:rPr>
              <a:t>,</a:t>
            </a:r>
            <a:r>
              <a:rPr lang="es-CO" sz="850" b="0" i="0">
                <a:solidFill>
                  <a:srgbClr val="56C7F2"/>
                </a:solidFill>
                <a:latin typeface="Courier New"/>
              </a:rPr>
              <a:t>"correo"</a:t>
            </a:r>
            <a:r>
              <a:rPr lang="es-CO" sz="850" b="0" i="0">
                <a:solidFill>
                  <a:srgbClr val="93A5BD"/>
                </a:solidFill>
                <a:latin typeface="Courier New"/>
              </a:rPr>
              <a:t>:</a:t>
            </a:r>
            <a:r>
              <a:rPr lang="es-CO" sz="850" b="0" i="0">
                <a:solidFill>
                  <a:srgbClr val="FFD479"/>
                </a:solidFill>
                <a:latin typeface="Courier New"/>
              </a:rPr>
              <a:t>"ana@example.com"</a:t>
            </a:r>
            <a:r>
              <a:rPr lang="es-CO" sz="850" b="0" i="0">
                <a:solidFill>
                  <a:srgbClr val="93A5BD"/>
                </a:solidFill>
                <a:latin typeface="Courier New"/>
              </a:rPr>
              <a:t>,</a:t>
            </a:r>
            <a:r>
              <a:rPr lang="es-CO" sz="850" b="0" i="0">
                <a:solidFill>
                  <a:srgbClr val="56C7F2"/>
                </a:solidFill>
                <a:latin typeface="Courier New"/>
              </a:rPr>
              <a:t>"mensaje"</a:t>
            </a:r>
            <a:r>
              <a:rPr lang="es-CO" sz="850" b="0" i="0">
                <a:solidFill>
                  <a:srgbClr val="93A5BD"/>
                </a:solidFill>
                <a:latin typeface="Courier New"/>
              </a:rPr>
              <a:t>:</a:t>
            </a:r>
            <a:r>
              <a:rPr lang="es-CO" sz="850" b="0" i="0">
                <a:solidFill>
                  <a:srgbClr val="FFD479"/>
                </a:solidFill>
                <a:latin typeface="Courier New"/>
              </a:rPr>
              <a:t>"Hola, quiero información del curso."</a:t>
            </a:r>
            <a:r>
              <a:rPr lang="es-CO" sz="850" b="0" i="0">
                <a:solidFill>
                  <a:srgbClr val="93A5BD"/>
                </a:solidFill>
                <a:latin typeface="Courier New"/>
              </a:rPr>
              <a:t>},{</a:t>
            </a:r>
            <a:r>
              <a:rPr lang="es-CO" sz="850" b="0" i="0">
                <a:solidFill>
                  <a:srgbClr val="56C7F2"/>
                </a:solidFill>
                <a:latin typeface="Courier New"/>
              </a:rPr>
              <a:t>"id"</a:t>
            </a:r>
            <a:r>
              <a:rPr lang="es-CO" sz="850" b="0" i="0">
                <a:solidFill>
                  <a:srgbClr val="93A5BD"/>
                </a:solidFill>
                <a:latin typeface="Courier New"/>
              </a:rPr>
              <a:t>:</a:t>
            </a:r>
            <a:r>
              <a:rPr lang="es-CO" sz="850" b="0" i="0">
                <a:solidFill>
                  <a:srgbClr val="3DDC97"/>
                </a:solidFill>
                <a:latin typeface="Courier New"/>
              </a:rPr>
              <a:t>2</a:t>
            </a:r>
            <a:r>
              <a:rPr lang="es-CO" sz="850" b="0" i="0">
                <a:solidFill>
                  <a:srgbClr val="93A5BD"/>
                </a:solidFill>
                <a:latin typeface="Courier New"/>
              </a:rPr>
              <a:t>,...}]</a:t>
            </a:r>
          </a:p>
        </p:txBody>
      </p:sp>
      <p:sp>
        <p:nvSpPr>
          <p:cNvPr id="24" name="TextBox 23"/>
          <p:cNvSpPr txBox="1"/>
          <p:nvPr/>
        </p:nvSpPr>
        <p:spPr>
          <a:xfrm>
            <a:off x="2926080" y="3675887"/>
            <a:ext cx="5715000" cy="219456"/>
          </a:xfrm>
          <a:prstGeom prst="rect">
            <a:avLst/>
          </a:prstGeom>
          <a:noFill/>
        </p:spPr>
        <p:txBody>
          <a:bodyPr wrap="square" lIns="0" tIns="0" rIns="0" bIns="0" anchor="ctr">
            <a:spAutoFit/>
          </a:bodyPr>
          <a:lstStyle/>
          <a:p>
            <a:pPr algn="r"/>
            <a:r>
              <a:rPr lang="es-CO" sz="850" b="0" i="0">
                <a:solidFill>
                  <a:srgbClr val="93A5BD"/>
                </a:solidFill>
                <a:latin typeface="Courier New"/>
              </a:rPr>
              <a:t>http://localhost:3000/api/contactos</a:t>
            </a:r>
          </a:p>
        </p:txBody>
      </p:sp>
      <p:sp>
        <p:nvSpPr>
          <p:cNvPr id="25" name="TextBox 24"/>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17 / 24</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2139696"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2139696"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06 · PARTE B</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400" b="1" i="0">
                <a:solidFill>
                  <a:srgbClr val="FFFFFF"/>
                </a:solidFill>
                <a:latin typeface="Arial"/>
              </a:rPr>
              <a:t>Parte B · Página con botón de consulta y tabla</a:t>
            </a:r>
          </a:p>
        </p:txBody>
      </p:sp>
      <p:sp>
        <p:nvSpPr>
          <p:cNvPr id="5" name="Rounded Rectangle 4"/>
          <p:cNvSpPr/>
          <p:nvPr/>
        </p:nvSpPr>
        <p:spPr>
          <a:xfrm>
            <a:off x="502920" y="1216152"/>
            <a:ext cx="4892040" cy="1993392"/>
          </a:xfrm>
          <a:prstGeom prst="roundRect">
            <a:avLst>
              <a:gd name="adj" fmla="val 3669"/>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9224" y="1280160"/>
            <a:ext cx="4599431" cy="182880"/>
          </a:xfrm>
          <a:prstGeom prst="rect">
            <a:avLst/>
          </a:prstGeom>
          <a:noFill/>
        </p:spPr>
        <p:txBody>
          <a:bodyPr wrap="square" lIns="0" tIns="0" rIns="0" bIns="0" anchor="ctr">
            <a:spAutoFit/>
          </a:bodyPr>
          <a:lstStyle/>
          <a:p>
            <a:pPr algn="l"/>
            <a:r>
              <a:rPr lang="es-CO" sz="850" b="1" i="0">
                <a:solidFill>
                  <a:srgbClr val="FF8A3D"/>
                </a:solidFill>
                <a:latin typeface="Courier New"/>
              </a:rPr>
              <a:t>contactos.html · dentro de &lt;main&gt;</a:t>
            </a:r>
          </a:p>
        </p:txBody>
      </p:sp>
      <p:sp>
        <p:nvSpPr>
          <p:cNvPr id="7" name="TextBox 6"/>
          <p:cNvSpPr txBox="1"/>
          <p:nvPr/>
        </p:nvSpPr>
        <p:spPr>
          <a:xfrm>
            <a:off x="649224" y="1508760"/>
            <a:ext cx="4599431" cy="1655064"/>
          </a:xfrm>
          <a:prstGeom prst="rect">
            <a:avLst/>
          </a:prstGeom>
          <a:noFill/>
        </p:spPr>
        <p:txBody>
          <a:bodyPr wrap="square" lIns="0" tIns="0" rIns="0" bIns="0" anchor="t">
            <a:spAutoFit/>
          </a:bodyPr>
          <a:lstStyle/>
          <a:p>
            <a:pPr algn="l">
              <a:lnSpc>
                <a:spcPts val="1100"/>
              </a:lnSpc>
            </a:pPr>
            <a:r>
              <a:rPr lang="es-CO" sz="880" b="0" i="0">
                <a:solidFill>
                  <a:srgbClr val="56C7F2"/>
                </a:solidFill>
                <a:latin typeface="Courier New"/>
              </a:rPr>
              <a:t>&lt;button</a:t>
            </a:r>
            <a:r>
              <a:rPr lang="es-CO" sz="880" b="0" i="0">
                <a:solidFill>
                  <a:srgbClr val="D7E1EE"/>
                </a:solidFill>
                <a:latin typeface="Courier New"/>
              </a:rPr>
              <a:t> </a:t>
            </a:r>
            <a:r>
              <a:rPr lang="es-CO" sz="880" b="0" i="0">
                <a:solidFill>
                  <a:srgbClr val="3DDC97"/>
                </a:solidFill>
                <a:latin typeface="Courier New"/>
              </a:rPr>
              <a:t>id</a:t>
            </a:r>
            <a:r>
              <a:rPr lang="es-CO" sz="880" b="0" i="0">
                <a:solidFill>
                  <a:srgbClr val="56C7F2"/>
                </a:solidFill>
                <a:latin typeface="Courier New"/>
              </a:rPr>
              <a:t>=</a:t>
            </a:r>
            <a:r>
              <a:rPr lang="es-CO" sz="880" b="0" i="0">
                <a:solidFill>
                  <a:srgbClr val="FFD479"/>
                </a:solidFill>
                <a:latin typeface="Courier New"/>
              </a:rPr>
              <a:t>"btnConsultar"</a:t>
            </a:r>
            <a:r>
              <a:rPr lang="es-CO" sz="880" b="0" i="0">
                <a:solidFill>
                  <a:srgbClr val="D7E1EE"/>
                </a:solidFill>
                <a:latin typeface="Courier New"/>
              </a:rPr>
              <a:t> </a:t>
            </a:r>
            <a:r>
              <a:rPr lang="es-CO" sz="880" b="0" i="0">
                <a:solidFill>
                  <a:srgbClr val="3DDC97"/>
                </a:solidFill>
                <a:latin typeface="Courier New"/>
              </a:rPr>
              <a:t>type</a:t>
            </a:r>
            <a:r>
              <a:rPr lang="es-CO" sz="880" b="0" i="0">
                <a:solidFill>
                  <a:srgbClr val="56C7F2"/>
                </a:solidFill>
                <a:latin typeface="Courier New"/>
              </a:rPr>
              <a:t>=</a:t>
            </a:r>
            <a:r>
              <a:rPr lang="es-CO" sz="880" b="0" i="0">
                <a:solidFill>
                  <a:srgbClr val="FFD479"/>
                </a:solidFill>
                <a:latin typeface="Courier New"/>
              </a:rPr>
              <a:t>"button"</a:t>
            </a:r>
            <a:r>
              <a:rPr lang="es-CO" sz="880" b="0" i="0">
                <a:solidFill>
                  <a:srgbClr val="56C7F2"/>
                </a:solidFill>
                <a:latin typeface="Courier New"/>
              </a:rPr>
              <a:t>&gt;</a:t>
            </a:r>
          </a:p>
          <a:p>
            <a:pPr algn="l">
              <a:lnSpc>
                <a:spcPts val="1100"/>
              </a:lnSpc>
            </a:pPr>
            <a:r>
              <a:rPr lang="es-CO" sz="880" b="0" i="0">
                <a:solidFill>
                  <a:srgbClr val="D7E1EE"/>
                </a:solidFill>
                <a:latin typeface="Courier New"/>
              </a:rPr>
              <a:t>    Consultar contactos</a:t>
            </a:r>
          </a:p>
          <a:p>
            <a:pPr algn="l">
              <a:lnSpc>
                <a:spcPts val="1100"/>
              </a:lnSpc>
            </a:pPr>
            <a:r>
              <a:rPr lang="es-CO" sz="880" b="0" i="0">
                <a:solidFill>
                  <a:srgbClr val="56C7F2"/>
                </a:solidFill>
                <a:latin typeface="Courier New"/>
              </a:rPr>
              <a:t>&lt;/button&gt;</a:t>
            </a:r>
          </a:p>
          <a:p>
            <a:pPr algn="l">
              <a:lnSpc>
                <a:spcPts val="1100"/>
              </a:lnSpc>
            </a:pPr>
            <a:r>
              <a:rPr lang="es-CO" sz="880" b="0" i="0">
                <a:solidFill>
                  <a:srgbClr val="56C7F2"/>
                </a:solidFill>
                <a:latin typeface="Courier New"/>
              </a:rPr>
              <a:t>&lt;p</a:t>
            </a:r>
            <a:r>
              <a:rPr lang="es-CO" sz="880" b="0" i="0">
                <a:solidFill>
                  <a:srgbClr val="D7E1EE"/>
                </a:solidFill>
                <a:latin typeface="Courier New"/>
              </a:rPr>
              <a:t> </a:t>
            </a:r>
            <a:r>
              <a:rPr lang="es-CO" sz="880" b="0" i="0">
                <a:solidFill>
                  <a:srgbClr val="3DDC97"/>
                </a:solidFill>
                <a:latin typeface="Courier New"/>
              </a:rPr>
              <a:t>id</a:t>
            </a:r>
            <a:r>
              <a:rPr lang="es-CO" sz="880" b="0" i="0">
                <a:solidFill>
                  <a:srgbClr val="56C7F2"/>
                </a:solidFill>
                <a:latin typeface="Courier New"/>
              </a:rPr>
              <a:t>=</a:t>
            </a:r>
            <a:r>
              <a:rPr lang="es-CO" sz="880" b="0" i="0">
                <a:solidFill>
                  <a:srgbClr val="FFD479"/>
                </a:solidFill>
                <a:latin typeface="Courier New"/>
              </a:rPr>
              <a:t>"estado"</a:t>
            </a:r>
            <a:r>
              <a:rPr lang="es-CO" sz="880" b="0" i="0">
                <a:solidFill>
                  <a:srgbClr val="56C7F2"/>
                </a:solidFill>
                <a:latin typeface="Courier New"/>
              </a:rPr>
              <a:t>&gt;&lt;/p&gt;</a:t>
            </a:r>
          </a:p>
          <a:p>
            <a:pPr algn="l">
              <a:lnSpc>
                <a:spcPts val="1100"/>
              </a:lnSpc>
            </a:pPr>
            <a:r>
              <a:rPr lang="es-CO" sz="880" b="0" i="0">
                <a:solidFill>
                  <a:srgbClr val="56C7F2"/>
                </a:solidFill>
                <a:latin typeface="Courier New"/>
              </a:rPr>
              <a:t>&lt;table&gt;</a:t>
            </a:r>
          </a:p>
          <a:p>
            <a:pPr algn="l">
              <a:lnSpc>
                <a:spcPts val="1100"/>
              </a:lnSpc>
            </a:pPr>
            <a:r>
              <a:rPr lang="es-CO" sz="880" b="0" i="0">
                <a:solidFill>
                  <a:srgbClr val="D7E1EE"/>
                </a:solidFill>
                <a:latin typeface="Courier New"/>
              </a:rPr>
              <a:t>  </a:t>
            </a:r>
            <a:r>
              <a:rPr lang="es-CO" sz="880" b="0" i="0">
                <a:solidFill>
                  <a:srgbClr val="56C7F2"/>
                </a:solidFill>
                <a:latin typeface="Courier New"/>
              </a:rPr>
              <a:t>&lt;thead&gt;</a:t>
            </a:r>
          </a:p>
          <a:p>
            <a:pPr algn="l">
              <a:lnSpc>
                <a:spcPts val="1100"/>
              </a:lnSpc>
            </a:pPr>
            <a:r>
              <a:rPr lang="es-CO" sz="880" b="0" i="0">
                <a:solidFill>
                  <a:srgbClr val="D7E1EE"/>
                </a:solidFill>
                <a:latin typeface="Courier New"/>
              </a:rPr>
              <a:t>    </a:t>
            </a:r>
            <a:r>
              <a:rPr lang="es-CO" sz="880" b="0" i="0">
                <a:solidFill>
                  <a:srgbClr val="56C7F2"/>
                </a:solidFill>
                <a:latin typeface="Courier New"/>
              </a:rPr>
              <a:t>&lt;tr&gt;&lt;th&gt;</a:t>
            </a:r>
            <a:r>
              <a:rPr lang="es-CO" sz="880" b="0" i="0">
                <a:solidFill>
                  <a:srgbClr val="D7E1EE"/>
                </a:solidFill>
                <a:latin typeface="Courier New"/>
              </a:rPr>
              <a:t>id</a:t>
            </a:r>
            <a:r>
              <a:rPr lang="es-CO" sz="880" b="0" i="0">
                <a:solidFill>
                  <a:srgbClr val="56C7F2"/>
                </a:solidFill>
                <a:latin typeface="Courier New"/>
              </a:rPr>
              <a:t>&lt;/th&gt;&lt;th&gt;</a:t>
            </a:r>
            <a:r>
              <a:rPr lang="es-CO" sz="880" b="0" i="0">
                <a:solidFill>
                  <a:srgbClr val="D7E1EE"/>
                </a:solidFill>
                <a:latin typeface="Courier New"/>
              </a:rPr>
              <a:t>nombre</a:t>
            </a:r>
            <a:r>
              <a:rPr lang="es-CO" sz="880" b="0" i="0">
                <a:solidFill>
                  <a:srgbClr val="56C7F2"/>
                </a:solidFill>
                <a:latin typeface="Courier New"/>
              </a:rPr>
              <a:t>&lt;/th&gt;&lt;th&gt;</a:t>
            </a:r>
            <a:r>
              <a:rPr lang="es-CO" sz="880" b="0" i="0">
                <a:solidFill>
                  <a:srgbClr val="D7E1EE"/>
                </a:solidFill>
                <a:latin typeface="Courier New"/>
              </a:rPr>
              <a:t>correo</a:t>
            </a:r>
            <a:r>
              <a:rPr lang="es-CO" sz="880" b="0" i="0">
                <a:solidFill>
                  <a:srgbClr val="56C7F2"/>
                </a:solidFill>
                <a:latin typeface="Courier New"/>
              </a:rPr>
              <a:t>&lt;/th&gt;&lt;/tr&gt;</a:t>
            </a:r>
          </a:p>
          <a:p>
            <a:pPr algn="l">
              <a:lnSpc>
                <a:spcPts val="1100"/>
              </a:lnSpc>
            </a:pPr>
            <a:r>
              <a:rPr lang="es-CO" sz="880" b="0" i="0">
                <a:solidFill>
                  <a:srgbClr val="D7E1EE"/>
                </a:solidFill>
                <a:latin typeface="Courier New"/>
              </a:rPr>
              <a:t>  </a:t>
            </a:r>
            <a:r>
              <a:rPr lang="es-CO" sz="880" b="0" i="0">
                <a:solidFill>
                  <a:srgbClr val="56C7F2"/>
                </a:solidFill>
                <a:latin typeface="Courier New"/>
              </a:rPr>
              <a:t>&lt;/thead&gt;</a:t>
            </a:r>
          </a:p>
          <a:p>
            <a:pPr algn="l">
              <a:lnSpc>
                <a:spcPts val="1100"/>
              </a:lnSpc>
            </a:pPr>
            <a:r>
              <a:rPr lang="es-CO" sz="880" b="0" i="0">
                <a:solidFill>
                  <a:srgbClr val="D7E1EE"/>
                </a:solidFill>
                <a:latin typeface="Courier New"/>
              </a:rPr>
              <a:t>  </a:t>
            </a:r>
            <a:r>
              <a:rPr lang="es-CO" sz="880" b="0" i="0">
                <a:solidFill>
                  <a:srgbClr val="56C7F2"/>
                </a:solidFill>
                <a:latin typeface="Courier New"/>
              </a:rPr>
              <a:t>&lt;tbody</a:t>
            </a:r>
            <a:r>
              <a:rPr lang="es-CO" sz="880" b="0" i="0">
                <a:solidFill>
                  <a:srgbClr val="D7E1EE"/>
                </a:solidFill>
                <a:latin typeface="Courier New"/>
              </a:rPr>
              <a:t> </a:t>
            </a:r>
            <a:r>
              <a:rPr lang="es-CO" sz="880" b="0" i="0">
                <a:solidFill>
                  <a:srgbClr val="3DDC97"/>
                </a:solidFill>
                <a:latin typeface="Courier New"/>
              </a:rPr>
              <a:t>id</a:t>
            </a:r>
            <a:r>
              <a:rPr lang="es-CO" sz="880" b="0" i="0">
                <a:solidFill>
                  <a:srgbClr val="56C7F2"/>
                </a:solidFill>
                <a:latin typeface="Courier New"/>
              </a:rPr>
              <a:t>=</a:t>
            </a:r>
            <a:r>
              <a:rPr lang="es-CO" sz="880" b="0" i="0">
                <a:solidFill>
                  <a:srgbClr val="FFD479"/>
                </a:solidFill>
                <a:latin typeface="Courier New"/>
              </a:rPr>
              <a:t>"cuerpoTabla"</a:t>
            </a:r>
            <a:r>
              <a:rPr lang="es-CO" sz="880" b="0" i="0">
                <a:solidFill>
                  <a:srgbClr val="56C7F2"/>
                </a:solidFill>
                <a:latin typeface="Courier New"/>
              </a:rPr>
              <a:t>&gt;&lt;/tbody&gt;</a:t>
            </a:r>
          </a:p>
          <a:p>
            <a:pPr algn="l">
              <a:lnSpc>
                <a:spcPts val="1100"/>
              </a:lnSpc>
            </a:pPr>
            <a:r>
              <a:rPr lang="es-CO" sz="880" b="0" i="0">
                <a:solidFill>
                  <a:srgbClr val="56C7F2"/>
                </a:solidFill>
                <a:latin typeface="Courier New"/>
              </a:rPr>
              <a:t>&lt;/table&gt;</a:t>
            </a:r>
          </a:p>
        </p:txBody>
      </p:sp>
      <p:sp>
        <p:nvSpPr>
          <p:cNvPr id="8" name="Rounded Rectangle 7"/>
          <p:cNvSpPr/>
          <p:nvPr/>
        </p:nvSpPr>
        <p:spPr>
          <a:xfrm>
            <a:off x="502920" y="3310128"/>
            <a:ext cx="4892040" cy="1005840"/>
          </a:xfrm>
          <a:prstGeom prst="roundRect">
            <a:avLst>
              <a:gd name="adj" fmla="val 7272"/>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9224" y="3374136"/>
            <a:ext cx="4599431" cy="182880"/>
          </a:xfrm>
          <a:prstGeom prst="rect">
            <a:avLst/>
          </a:prstGeom>
          <a:noFill/>
        </p:spPr>
        <p:txBody>
          <a:bodyPr wrap="square" lIns="0" tIns="0" rIns="0" bIns="0" anchor="ctr">
            <a:spAutoFit/>
          </a:bodyPr>
          <a:lstStyle/>
          <a:p>
            <a:pPr algn="l"/>
            <a:r>
              <a:rPr lang="es-CO" sz="850" b="1" i="0">
                <a:solidFill>
                  <a:srgbClr val="FF8A3D"/>
                </a:solidFill>
                <a:latin typeface="Courier New"/>
              </a:rPr>
              <a:t>contactos.html · inicio de &lt;script&gt;</a:t>
            </a:r>
          </a:p>
        </p:txBody>
      </p:sp>
      <p:sp>
        <p:nvSpPr>
          <p:cNvPr id="10" name="TextBox 9"/>
          <p:cNvSpPr txBox="1"/>
          <p:nvPr/>
        </p:nvSpPr>
        <p:spPr>
          <a:xfrm>
            <a:off x="649224" y="3602736"/>
            <a:ext cx="4599431" cy="667512"/>
          </a:xfrm>
          <a:prstGeom prst="rect">
            <a:avLst/>
          </a:prstGeom>
          <a:noFill/>
        </p:spPr>
        <p:txBody>
          <a:bodyPr wrap="square" lIns="0" tIns="0" rIns="0" bIns="0" anchor="t">
            <a:spAutoFit/>
          </a:bodyPr>
          <a:lstStyle/>
          <a:p>
            <a:pPr algn="l">
              <a:lnSpc>
                <a:spcPts val="1110"/>
              </a:lnSpc>
            </a:pPr>
            <a:r>
              <a:rPr lang="es-CO" sz="850" b="0" i="0">
                <a:solidFill>
                  <a:srgbClr val="FFB86C"/>
                </a:solidFill>
                <a:latin typeface="Courier New"/>
              </a:rPr>
              <a:t>const</a:t>
            </a:r>
            <a:r>
              <a:rPr lang="es-CO" sz="850" b="0" i="0">
                <a:solidFill>
                  <a:srgbClr val="D7E1EE"/>
                </a:solidFill>
                <a:latin typeface="Courier New"/>
              </a:rPr>
              <a:t> boton </a:t>
            </a:r>
            <a:r>
              <a:rPr lang="es-CO" sz="850" b="0" i="0">
                <a:solidFill>
                  <a:srgbClr val="93A5BD"/>
                </a:solidFill>
                <a:latin typeface="Courier New"/>
              </a:rPr>
              <a:t>=</a:t>
            </a:r>
            <a:r>
              <a:rPr lang="es-CO" sz="850" b="0" i="0">
                <a:solidFill>
                  <a:srgbClr val="D7E1EE"/>
                </a:solidFill>
                <a:latin typeface="Courier New"/>
              </a:rPr>
              <a:t> document</a:t>
            </a:r>
            <a:r>
              <a:rPr lang="es-CO" sz="850" b="0" i="0">
                <a:solidFill>
                  <a:srgbClr val="93A5BD"/>
                </a:solidFill>
                <a:latin typeface="Courier New"/>
              </a:rPr>
              <a:t>.</a:t>
            </a:r>
            <a:r>
              <a:rPr lang="es-CO" sz="850" b="0" i="0">
                <a:solidFill>
                  <a:srgbClr val="56C7F2"/>
                </a:solidFill>
                <a:latin typeface="Courier New"/>
              </a:rPr>
              <a:t>getElementById</a:t>
            </a:r>
            <a:r>
              <a:rPr lang="es-CO" sz="850" b="0" i="0">
                <a:solidFill>
                  <a:srgbClr val="93A5BD"/>
                </a:solidFill>
                <a:latin typeface="Courier New"/>
              </a:rPr>
              <a:t>(</a:t>
            </a:r>
            <a:r>
              <a:rPr lang="es-CO" sz="850" b="0" i="0">
                <a:solidFill>
                  <a:srgbClr val="FFD479"/>
                </a:solidFill>
                <a:latin typeface="Courier New"/>
              </a:rPr>
              <a:t>'btnConsultar'</a:t>
            </a:r>
            <a:r>
              <a:rPr lang="es-CO" sz="850" b="0" i="0">
                <a:solidFill>
                  <a:srgbClr val="93A5BD"/>
                </a:solidFill>
                <a:latin typeface="Courier New"/>
              </a:rPr>
              <a:t>);</a:t>
            </a:r>
          </a:p>
          <a:p>
            <a:pPr algn="l">
              <a:lnSpc>
                <a:spcPts val="1110"/>
              </a:lnSpc>
            </a:pPr>
            <a:r>
              <a:rPr lang="es-CO" sz="850" b="0" i="0">
                <a:solidFill>
                  <a:srgbClr val="FFB86C"/>
                </a:solidFill>
                <a:latin typeface="Courier New"/>
              </a:rPr>
              <a:t>const</a:t>
            </a:r>
            <a:r>
              <a:rPr lang="es-CO" sz="850" b="0" i="0">
                <a:solidFill>
                  <a:srgbClr val="D7E1EE"/>
                </a:solidFill>
                <a:latin typeface="Courier New"/>
              </a:rPr>
              <a:t> estado </a:t>
            </a:r>
            <a:r>
              <a:rPr lang="es-CO" sz="850" b="0" i="0">
                <a:solidFill>
                  <a:srgbClr val="93A5BD"/>
                </a:solidFill>
                <a:latin typeface="Courier New"/>
              </a:rPr>
              <a:t>=</a:t>
            </a:r>
            <a:r>
              <a:rPr lang="es-CO" sz="850" b="0" i="0">
                <a:solidFill>
                  <a:srgbClr val="D7E1EE"/>
                </a:solidFill>
                <a:latin typeface="Courier New"/>
              </a:rPr>
              <a:t> document</a:t>
            </a:r>
            <a:r>
              <a:rPr lang="es-CO" sz="850" b="0" i="0">
                <a:solidFill>
                  <a:srgbClr val="93A5BD"/>
                </a:solidFill>
                <a:latin typeface="Courier New"/>
              </a:rPr>
              <a:t>.</a:t>
            </a:r>
            <a:r>
              <a:rPr lang="es-CO" sz="850" b="0" i="0">
                <a:solidFill>
                  <a:srgbClr val="56C7F2"/>
                </a:solidFill>
                <a:latin typeface="Courier New"/>
              </a:rPr>
              <a:t>getElementById</a:t>
            </a:r>
            <a:r>
              <a:rPr lang="es-CO" sz="850" b="0" i="0">
                <a:solidFill>
                  <a:srgbClr val="93A5BD"/>
                </a:solidFill>
                <a:latin typeface="Courier New"/>
              </a:rPr>
              <a:t>(</a:t>
            </a:r>
            <a:r>
              <a:rPr lang="es-CO" sz="850" b="0" i="0">
                <a:solidFill>
                  <a:srgbClr val="FFD479"/>
                </a:solidFill>
                <a:latin typeface="Courier New"/>
              </a:rPr>
              <a:t>'estado'</a:t>
            </a:r>
            <a:r>
              <a:rPr lang="es-CO" sz="850" b="0" i="0">
                <a:solidFill>
                  <a:srgbClr val="93A5BD"/>
                </a:solidFill>
                <a:latin typeface="Courier New"/>
              </a:rPr>
              <a:t>);</a:t>
            </a:r>
          </a:p>
          <a:p>
            <a:pPr algn="l">
              <a:lnSpc>
                <a:spcPts val="1110"/>
              </a:lnSpc>
            </a:pPr>
            <a:r>
              <a:rPr lang="es-CO" sz="850" b="0" i="0">
                <a:solidFill>
                  <a:srgbClr val="FFB86C"/>
                </a:solidFill>
                <a:latin typeface="Courier New"/>
              </a:rPr>
              <a:t>const</a:t>
            </a:r>
            <a:r>
              <a:rPr lang="es-CO" sz="850" b="0" i="0">
                <a:solidFill>
                  <a:srgbClr val="D7E1EE"/>
                </a:solidFill>
                <a:latin typeface="Courier New"/>
              </a:rPr>
              <a:t> cuerpoTabla </a:t>
            </a:r>
            <a:r>
              <a:rPr lang="es-CO" sz="850" b="0" i="0">
                <a:solidFill>
                  <a:srgbClr val="93A5BD"/>
                </a:solidFill>
                <a:latin typeface="Courier New"/>
              </a:rPr>
              <a:t>=</a:t>
            </a:r>
            <a:r>
              <a:rPr lang="es-CO" sz="850" b="0" i="0">
                <a:solidFill>
                  <a:srgbClr val="D7E1EE"/>
                </a:solidFill>
                <a:latin typeface="Courier New"/>
              </a:rPr>
              <a:t> document</a:t>
            </a:r>
            <a:r>
              <a:rPr lang="es-CO" sz="850" b="0" i="0">
                <a:solidFill>
                  <a:srgbClr val="93A5BD"/>
                </a:solidFill>
                <a:latin typeface="Courier New"/>
              </a:rPr>
              <a:t>.</a:t>
            </a:r>
            <a:r>
              <a:rPr lang="es-CO" sz="850" b="0" i="0">
                <a:solidFill>
                  <a:srgbClr val="56C7F2"/>
                </a:solidFill>
                <a:latin typeface="Courier New"/>
              </a:rPr>
              <a:t>getElementById</a:t>
            </a:r>
            <a:r>
              <a:rPr lang="es-CO" sz="850" b="0" i="0">
                <a:solidFill>
                  <a:srgbClr val="93A5BD"/>
                </a:solidFill>
                <a:latin typeface="Courier New"/>
              </a:rPr>
              <a:t>(</a:t>
            </a:r>
            <a:r>
              <a:rPr lang="es-CO" sz="850" b="0" i="0">
                <a:solidFill>
                  <a:srgbClr val="FFD479"/>
                </a:solidFill>
                <a:latin typeface="Courier New"/>
              </a:rPr>
              <a:t>'cuerpoTabla'</a:t>
            </a:r>
            <a:r>
              <a:rPr lang="es-CO" sz="850" b="0" i="0">
                <a:solidFill>
                  <a:srgbClr val="93A5BD"/>
                </a:solidFill>
                <a:latin typeface="Courier New"/>
              </a:rPr>
              <a:t>);</a:t>
            </a:r>
          </a:p>
        </p:txBody>
      </p:sp>
      <p:sp>
        <p:nvSpPr>
          <p:cNvPr id="11" name="Rounded Rectangle 10"/>
          <p:cNvSpPr/>
          <p:nvPr/>
        </p:nvSpPr>
        <p:spPr>
          <a:xfrm>
            <a:off x="5532120" y="1216152"/>
            <a:ext cx="3108960" cy="1481328"/>
          </a:xfrm>
          <a:prstGeom prst="roundRect">
            <a:avLst>
              <a:gd name="adj" fmla="val 4938"/>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78424" y="1280160"/>
            <a:ext cx="2816352" cy="182880"/>
          </a:xfrm>
          <a:prstGeom prst="rect">
            <a:avLst/>
          </a:prstGeom>
          <a:noFill/>
        </p:spPr>
        <p:txBody>
          <a:bodyPr wrap="square" lIns="0" tIns="0" rIns="0" bIns="0" anchor="ctr">
            <a:spAutoFit/>
          </a:bodyPr>
          <a:lstStyle/>
          <a:p>
            <a:pPr algn="l"/>
            <a:r>
              <a:rPr lang="es-CO" sz="850" b="1" i="0">
                <a:solidFill>
                  <a:srgbClr val="FF8A3D"/>
                </a:solidFill>
                <a:latin typeface="Courier New"/>
              </a:rPr>
              <a:t>server_rutas.js · ruta de la página</a:t>
            </a:r>
          </a:p>
        </p:txBody>
      </p:sp>
      <p:sp>
        <p:nvSpPr>
          <p:cNvPr id="13" name="TextBox 12"/>
          <p:cNvSpPr txBox="1"/>
          <p:nvPr/>
        </p:nvSpPr>
        <p:spPr>
          <a:xfrm>
            <a:off x="5678424" y="1508760"/>
            <a:ext cx="2816352" cy="1143000"/>
          </a:xfrm>
          <a:prstGeom prst="rect">
            <a:avLst/>
          </a:prstGeom>
          <a:noFill/>
        </p:spPr>
        <p:txBody>
          <a:bodyPr wrap="square" lIns="0" tIns="0" rIns="0" bIns="0" anchor="t">
            <a:spAutoFit/>
          </a:bodyPr>
          <a:lstStyle/>
          <a:p>
            <a:pPr algn="l">
              <a:lnSpc>
                <a:spcPts val="1000"/>
              </a:lnSpc>
            </a:pPr>
            <a:r>
              <a:rPr lang="es-CO" sz="800" b="0" i="0">
                <a:solidFill>
                  <a:srgbClr val="FFB86C"/>
                </a:solidFill>
                <a:latin typeface="Courier New"/>
              </a:rPr>
              <a:t>if</a:t>
            </a:r>
            <a:r>
              <a:rPr lang="es-CO" sz="800" b="0" i="0">
                <a:solidFill>
                  <a:srgbClr val="D7E1EE"/>
                </a:solidFill>
                <a:latin typeface="Courier New"/>
              </a:rPr>
              <a:t> </a:t>
            </a:r>
            <a:r>
              <a:rPr lang="es-CO" sz="800" b="0" i="0">
                <a:solidFill>
                  <a:srgbClr val="93A5BD"/>
                </a:solidFill>
                <a:latin typeface="Courier New"/>
              </a:rPr>
              <a:t>(</a:t>
            </a:r>
            <a:r>
              <a:rPr lang="es-CO" sz="800" b="0" i="0">
                <a:solidFill>
                  <a:srgbClr val="D7E1EE"/>
                </a:solidFill>
                <a:latin typeface="Courier New"/>
              </a:rPr>
              <a:t>req</a:t>
            </a:r>
            <a:r>
              <a:rPr lang="es-CO" sz="800" b="0" i="0">
                <a:solidFill>
                  <a:srgbClr val="93A5BD"/>
                </a:solidFill>
                <a:latin typeface="Courier New"/>
              </a:rPr>
              <a:t>.</a:t>
            </a:r>
            <a:r>
              <a:rPr lang="es-CO" sz="800" b="0" i="0">
                <a:solidFill>
                  <a:srgbClr val="56C7F2"/>
                </a:solidFill>
                <a:latin typeface="Courier New"/>
              </a:rPr>
              <a:t>method</a:t>
            </a:r>
            <a:r>
              <a:rPr lang="es-CO" sz="800" b="0" i="0">
                <a:solidFill>
                  <a:srgbClr val="D7E1EE"/>
                </a:solidFill>
                <a:latin typeface="Courier New"/>
              </a:rPr>
              <a:t> </a:t>
            </a:r>
            <a:r>
              <a:rPr lang="es-CO" sz="800" b="0" i="0">
                <a:solidFill>
                  <a:srgbClr val="93A5BD"/>
                </a:solidFill>
                <a:latin typeface="Courier New"/>
              </a:rPr>
              <a:t>===</a:t>
            </a:r>
            <a:r>
              <a:rPr lang="es-CO" sz="800" b="0" i="0">
                <a:solidFill>
                  <a:srgbClr val="D7E1EE"/>
                </a:solidFill>
                <a:latin typeface="Courier New"/>
              </a:rPr>
              <a:t> </a:t>
            </a:r>
            <a:r>
              <a:rPr lang="es-CO" sz="800" b="0" i="0">
                <a:solidFill>
                  <a:srgbClr val="FFD479"/>
                </a:solidFill>
                <a:latin typeface="Courier New"/>
              </a:rPr>
              <a:t>'GET'</a:t>
            </a:r>
            <a:r>
              <a:rPr lang="es-CO" sz="800" b="0" i="0">
                <a:solidFill>
                  <a:srgbClr val="D7E1EE"/>
                </a:solidFill>
                <a:latin typeface="Courier New"/>
              </a:rPr>
              <a:t> </a:t>
            </a:r>
            <a:r>
              <a:rPr lang="es-CO" sz="800" b="0" i="0">
                <a:solidFill>
                  <a:srgbClr val="93A5BD"/>
                </a:solidFill>
                <a:latin typeface="Courier New"/>
              </a:rPr>
              <a:t>&amp;&amp;</a:t>
            </a:r>
          </a:p>
          <a:p>
            <a:pPr algn="l">
              <a:lnSpc>
                <a:spcPts val="1000"/>
              </a:lnSpc>
            </a:pPr>
            <a:r>
              <a:rPr lang="es-CO" sz="800" b="0" i="0">
                <a:solidFill>
                  <a:srgbClr val="D7E1EE"/>
                </a:solidFill>
                <a:latin typeface="Courier New"/>
              </a:rPr>
              <a:t>    req</a:t>
            </a:r>
            <a:r>
              <a:rPr lang="es-CO" sz="800" b="0" i="0">
                <a:solidFill>
                  <a:srgbClr val="93A5BD"/>
                </a:solidFill>
                <a:latin typeface="Courier New"/>
              </a:rPr>
              <a:t>.</a:t>
            </a:r>
            <a:r>
              <a:rPr lang="es-CO" sz="800" b="0" i="0">
                <a:solidFill>
                  <a:srgbClr val="56C7F2"/>
                </a:solidFill>
                <a:latin typeface="Courier New"/>
              </a:rPr>
              <a:t>url</a:t>
            </a:r>
            <a:r>
              <a:rPr lang="es-CO" sz="800" b="0" i="0">
                <a:solidFill>
                  <a:srgbClr val="D7E1EE"/>
                </a:solidFill>
                <a:latin typeface="Courier New"/>
              </a:rPr>
              <a:t> </a:t>
            </a:r>
            <a:r>
              <a:rPr lang="es-CO" sz="800" b="0" i="0">
                <a:solidFill>
                  <a:srgbClr val="93A5BD"/>
                </a:solidFill>
                <a:latin typeface="Courier New"/>
              </a:rPr>
              <a:t>===</a:t>
            </a:r>
            <a:r>
              <a:rPr lang="es-CO" sz="800" b="0" i="0">
                <a:solidFill>
                  <a:srgbClr val="D7E1EE"/>
                </a:solidFill>
                <a:latin typeface="Courier New"/>
              </a:rPr>
              <a:t> </a:t>
            </a:r>
            <a:r>
              <a:rPr lang="es-CO" sz="800" b="0" i="0">
                <a:solidFill>
                  <a:srgbClr val="FFD479"/>
                </a:solidFill>
                <a:latin typeface="Courier New"/>
              </a:rPr>
              <a:t>'/contactos'</a:t>
            </a:r>
            <a:r>
              <a:rPr lang="es-CO" sz="800" b="0" i="0">
                <a:solidFill>
                  <a:srgbClr val="93A5BD"/>
                </a:solidFill>
                <a:latin typeface="Courier New"/>
              </a:rPr>
              <a:t>)</a:t>
            </a:r>
            <a:r>
              <a:rPr lang="es-CO" sz="800" b="0" i="0">
                <a:solidFill>
                  <a:srgbClr val="D7E1EE"/>
                </a:solidFill>
                <a:latin typeface="Courier New"/>
              </a:rPr>
              <a:t> </a:t>
            </a:r>
            <a:r>
              <a:rPr lang="es-CO" sz="800" b="0" i="0">
                <a:solidFill>
                  <a:srgbClr val="93A5BD"/>
                </a:solidFill>
                <a:latin typeface="Courier New"/>
              </a:rPr>
              <a:t>{</a:t>
            </a:r>
          </a:p>
          <a:p>
            <a:pPr algn="l">
              <a:lnSpc>
                <a:spcPts val="1000"/>
              </a:lnSpc>
            </a:pPr>
            <a:r>
              <a:rPr lang="es-CO" sz="800" b="0" i="0">
                <a:solidFill>
                  <a:srgbClr val="D7E1EE"/>
                </a:solidFill>
                <a:latin typeface="Courier New"/>
              </a:rPr>
              <a:t>  </a:t>
            </a:r>
            <a:r>
              <a:rPr lang="es-CO" sz="800" b="0" i="0">
                <a:solidFill>
                  <a:srgbClr val="FFB86C"/>
                </a:solidFill>
                <a:latin typeface="Courier New"/>
              </a:rPr>
              <a:t>const</a:t>
            </a:r>
            <a:r>
              <a:rPr lang="es-CO" sz="800" b="0" i="0">
                <a:solidFill>
                  <a:srgbClr val="D7E1EE"/>
                </a:solidFill>
                <a:latin typeface="Courier New"/>
              </a:rPr>
              <a:t> html </a:t>
            </a:r>
            <a:r>
              <a:rPr lang="es-CO" sz="800" b="0" i="0">
                <a:solidFill>
                  <a:srgbClr val="93A5BD"/>
                </a:solidFill>
                <a:latin typeface="Courier New"/>
              </a:rPr>
              <a:t>=</a:t>
            </a:r>
            <a:r>
              <a:rPr lang="es-CO" sz="800" b="0" i="0">
                <a:solidFill>
                  <a:srgbClr val="D7E1EE"/>
                </a:solidFill>
                <a:latin typeface="Courier New"/>
              </a:rPr>
              <a:t> fs</a:t>
            </a:r>
            <a:r>
              <a:rPr lang="es-CO" sz="800" b="0" i="0">
                <a:solidFill>
                  <a:srgbClr val="93A5BD"/>
                </a:solidFill>
                <a:latin typeface="Courier New"/>
              </a:rPr>
              <a:t>.</a:t>
            </a:r>
            <a:r>
              <a:rPr lang="es-CO" sz="800" b="0" i="0">
                <a:solidFill>
                  <a:srgbClr val="56C7F2"/>
                </a:solidFill>
                <a:latin typeface="Courier New"/>
              </a:rPr>
              <a:t>readFileSync</a:t>
            </a:r>
            <a:r>
              <a:rPr lang="es-CO" sz="800" b="0" i="0">
                <a:solidFill>
                  <a:srgbClr val="93A5BD"/>
                </a:solidFill>
                <a:latin typeface="Courier New"/>
              </a:rPr>
              <a:t>(</a:t>
            </a:r>
          </a:p>
          <a:p>
            <a:pPr algn="l">
              <a:lnSpc>
                <a:spcPts val="1000"/>
              </a:lnSpc>
            </a:pPr>
            <a:r>
              <a:rPr lang="es-CO" sz="800" b="0" i="0">
                <a:solidFill>
                  <a:srgbClr val="D7E1EE"/>
                </a:solidFill>
                <a:latin typeface="Courier New"/>
              </a:rPr>
              <a:t>      </a:t>
            </a:r>
            <a:r>
              <a:rPr lang="es-CO" sz="800" b="0" i="0">
                <a:solidFill>
                  <a:srgbClr val="FFD479"/>
                </a:solidFill>
                <a:latin typeface="Courier New"/>
              </a:rPr>
              <a:t>'contactos.html'</a:t>
            </a:r>
            <a:r>
              <a:rPr lang="es-CO" sz="800" b="0" i="0">
                <a:solidFill>
                  <a:srgbClr val="93A5BD"/>
                </a:solidFill>
                <a:latin typeface="Courier New"/>
              </a:rPr>
              <a:t>);</a:t>
            </a:r>
          </a:p>
          <a:p>
            <a:pPr algn="l">
              <a:lnSpc>
                <a:spcPts val="1000"/>
              </a:lnSpc>
            </a:pPr>
            <a:r>
              <a:rPr lang="es-CO" sz="800" b="0" i="0">
                <a:solidFill>
                  <a:srgbClr val="D7E1EE"/>
                </a:solidFill>
                <a:latin typeface="Courier New"/>
              </a:rPr>
              <a:t>  res</a:t>
            </a:r>
            <a:r>
              <a:rPr lang="es-CO" sz="800" b="0" i="0">
                <a:solidFill>
                  <a:srgbClr val="93A5BD"/>
                </a:solidFill>
                <a:latin typeface="Courier New"/>
              </a:rPr>
              <a:t>.</a:t>
            </a:r>
            <a:r>
              <a:rPr lang="es-CO" sz="800" b="0" i="0">
                <a:solidFill>
                  <a:srgbClr val="56C7F2"/>
                </a:solidFill>
                <a:latin typeface="Courier New"/>
              </a:rPr>
              <a:t>writeHead</a:t>
            </a:r>
            <a:r>
              <a:rPr lang="es-CO" sz="800" b="0" i="0">
                <a:solidFill>
                  <a:srgbClr val="93A5BD"/>
                </a:solidFill>
                <a:latin typeface="Courier New"/>
              </a:rPr>
              <a:t>(</a:t>
            </a:r>
            <a:r>
              <a:rPr lang="es-CO" sz="800" b="0" i="0">
                <a:solidFill>
                  <a:srgbClr val="3DDC97"/>
                </a:solidFill>
                <a:latin typeface="Courier New"/>
              </a:rPr>
              <a:t>200</a:t>
            </a:r>
            <a:r>
              <a:rPr lang="es-CO" sz="800" b="0" i="0">
                <a:solidFill>
                  <a:srgbClr val="93A5BD"/>
                </a:solidFill>
                <a:latin typeface="Courier New"/>
              </a:rPr>
              <a:t>,</a:t>
            </a:r>
            <a:r>
              <a:rPr lang="es-CO" sz="800" b="0" i="0">
                <a:solidFill>
                  <a:srgbClr val="D7E1EE"/>
                </a:solidFill>
                <a:latin typeface="Courier New"/>
              </a:rPr>
              <a:t> </a:t>
            </a:r>
            <a:r>
              <a:rPr lang="es-CO" sz="800" b="0" i="0">
                <a:solidFill>
                  <a:srgbClr val="93A5BD"/>
                </a:solidFill>
                <a:latin typeface="Courier New"/>
              </a:rPr>
              <a:t>{</a:t>
            </a:r>
            <a:r>
              <a:rPr lang="es-CO" sz="800" b="0" i="0">
                <a:solidFill>
                  <a:srgbClr val="D7E1EE"/>
                </a:solidFill>
                <a:latin typeface="Courier New"/>
              </a:rPr>
              <a:t> </a:t>
            </a:r>
            <a:r>
              <a:rPr lang="es-CO" sz="800" b="0" i="0">
                <a:solidFill>
                  <a:srgbClr val="FFD479"/>
                </a:solidFill>
                <a:latin typeface="Courier New"/>
              </a:rPr>
              <a:t>'Content-Type'</a:t>
            </a:r>
            <a:r>
              <a:rPr lang="es-CO" sz="800" b="0" i="0">
                <a:solidFill>
                  <a:srgbClr val="93A5BD"/>
                </a:solidFill>
                <a:latin typeface="Courier New"/>
              </a:rPr>
              <a:t>:</a:t>
            </a:r>
          </a:p>
          <a:p>
            <a:pPr algn="l">
              <a:lnSpc>
                <a:spcPts val="1000"/>
              </a:lnSpc>
            </a:pPr>
            <a:r>
              <a:rPr lang="es-CO" sz="800" b="0" i="0">
                <a:solidFill>
                  <a:srgbClr val="D7E1EE"/>
                </a:solidFill>
                <a:latin typeface="Courier New"/>
              </a:rPr>
              <a:t>      </a:t>
            </a:r>
            <a:r>
              <a:rPr lang="es-CO" sz="800" b="0" i="0">
                <a:solidFill>
                  <a:srgbClr val="FFD479"/>
                </a:solidFill>
                <a:latin typeface="Courier New"/>
              </a:rPr>
              <a:t>'text/html; charset=UTF-8'</a:t>
            </a:r>
            <a:r>
              <a:rPr lang="es-CO" sz="800" b="0" i="0">
                <a:solidFill>
                  <a:srgbClr val="D7E1EE"/>
                </a:solidFill>
                <a:latin typeface="Courier New"/>
              </a:rPr>
              <a:t> </a:t>
            </a:r>
            <a:r>
              <a:rPr lang="es-CO" sz="800" b="0" i="0">
                <a:solidFill>
                  <a:srgbClr val="93A5BD"/>
                </a:solidFill>
                <a:latin typeface="Courier New"/>
              </a:rPr>
              <a:t>});</a:t>
            </a:r>
          </a:p>
          <a:p>
            <a:pPr algn="l">
              <a:lnSpc>
                <a:spcPts val="1000"/>
              </a:lnSpc>
            </a:pPr>
            <a:r>
              <a:rPr lang="es-CO" sz="800" b="0" i="0">
                <a:solidFill>
                  <a:srgbClr val="D7E1EE"/>
                </a:solidFill>
                <a:latin typeface="Courier New"/>
              </a:rPr>
              <a:t>  </a:t>
            </a:r>
            <a:r>
              <a:rPr lang="es-CO" sz="800" b="0" i="0">
                <a:solidFill>
                  <a:srgbClr val="FFB86C"/>
                </a:solidFill>
                <a:latin typeface="Courier New"/>
              </a:rPr>
              <a:t>return</a:t>
            </a:r>
            <a:r>
              <a:rPr lang="es-CO" sz="800" b="0" i="0">
                <a:solidFill>
                  <a:srgbClr val="D7E1EE"/>
                </a:solidFill>
                <a:latin typeface="Courier New"/>
              </a:rPr>
              <a:t> res</a:t>
            </a:r>
            <a:r>
              <a:rPr lang="es-CO" sz="800" b="0" i="0">
                <a:solidFill>
                  <a:srgbClr val="93A5BD"/>
                </a:solidFill>
                <a:latin typeface="Courier New"/>
              </a:rPr>
              <a:t>.</a:t>
            </a:r>
            <a:r>
              <a:rPr lang="es-CO" sz="800" b="0" i="0">
                <a:solidFill>
                  <a:srgbClr val="56C7F2"/>
                </a:solidFill>
                <a:latin typeface="Courier New"/>
              </a:rPr>
              <a:t>end</a:t>
            </a:r>
            <a:r>
              <a:rPr lang="es-CO" sz="800" b="0" i="0">
                <a:solidFill>
                  <a:srgbClr val="93A5BD"/>
                </a:solidFill>
                <a:latin typeface="Courier New"/>
              </a:rPr>
              <a:t>(</a:t>
            </a:r>
            <a:r>
              <a:rPr lang="es-CO" sz="800" b="0" i="0">
                <a:solidFill>
                  <a:srgbClr val="D7E1EE"/>
                </a:solidFill>
                <a:latin typeface="Courier New"/>
              </a:rPr>
              <a:t>html</a:t>
            </a:r>
            <a:r>
              <a:rPr lang="es-CO" sz="800" b="0" i="0">
                <a:solidFill>
                  <a:srgbClr val="93A5BD"/>
                </a:solidFill>
                <a:latin typeface="Courier New"/>
              </a:rPr>
              <a:t>);</a:t>
            </a:r>
          </a:p>
          <a:p>
            <a:pPr algn="l">
              <a:lnSpc>
                <a:spcPts val="1000"/>
              </a:lnSpc>
            </a:pPr>
            <a:r>
              <a:rPr lang="es-CO" sz="800" b="0" i="0">
                <a:solidFill>
                  <a:srgbClr val="93A5BD"/>
                </a:solidFill>
                <a:latin typeface="Courier New"/>
              </a:rPr>
              <a:t>}</a:t>
            </a:r>
          </a:p>
        </p:txBody>
      </p:sp>
      <p:sp>
        <p:nvSpPr>
          <p:cNvPr id="14" name="Rounded Rectangle 13"/>
          <p:cNvSpPr/>
          <p:nvPr/>
        </p:nvSpPr>
        <p:spPr>
          <a:xfrm>
            <a:off x="5532120" y="2798064"/>
            <a:ext cx="3108960" cy="457200"/>
          </a:xfrm>
          <a:prstGeom prst="roundRect">
            <a:avLst>
              <a:gd name="adj" fmla="val 16000"/>
            </a:avLst>
          </a:prstGeom>
          <a:solidFill>
            <a:srgbClr val="20160E"/>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41848" y="2798064"/>
            <a:ext cx="731520" cy="457200"/>
          </a:xfrm>
          <a:prstGeom prst="rect">
            <a:avLst/>
          </a:prstGeom>
          <a:noFill/>
        </p:spPr>
        <p:txBody>
          <a:bodyPr wrap="square" lIns="0" tIns="0" rIns="0" bIns="0" anchor="ctr">
            <a:spAutoFit/>
          </a:bodyPr>
          <a:lstStyle/>
          <a:p>
            <a:pPr algn="l"/>
            <a:r>
              <a:rPr lang="es-CO" sz="900" b="1" i="0">
                <a:solidFill>
                  <a:srgbClr val="56C7F2"/>
                </a:solidFill>
                <a:latin typeface="Courier New"/>
              </a:rPr>
              <a:t>id</a:t>
            </a:r>
          </a:p>
        </p:txBody>
      </p:sp>
      <p:sp>
        <p:nvSpPr>
          <p:cNvPr id="16" name="TextBox 15"/>
          <p:cNvSpPr txBox="1"/>
          <p:nvPr/>
        </p:nvSpPr>
        <p:spPr>
          <a:xfrm>
            <a:off x="6400800" y="2798064"/>
            <a:ext cx="2176272" cy="457200"/>
          </a:xfrm>
          <a:prstGeom prst="rect">
            <a:avLst/>
          </a:prstGeom>
          <a:noFill/>
        </p:spPr>
        <p:txBody>
          <a:bodyPr wrap="square" lIns="0" tIns="0" rIns="0" bIns="0" anchor="ctr">
            <a:spAutoFit/>
          </a:bodyPr>
          <a:lstStyle/>
          <a:p>
            <a:pPr algn="l">
              <a:lnSpc>
                <a:spcPts val="1050"/>
              </a:lnSpc>
            </a:pPr>
            <a:r>
              <a:rPr lang="es-CO" sz="900" b="0" i="0">
                <a:solidFill>
                  <a:srgbClr val="E8EEF6"/>
                </a:solidFill>
                <a:latin typeface="Calibri"/>
              </a:rPr>
              <a:t>Permite ubicar cada elemento desde JavaScript.</a:t>
            </a:r>
          </a:p>
        </p:txBody>
      </p:sp>
      <p:sp>
        <p:nvSpPr>
          <p:cNvPr id="17" name="Rounded Rectangle 16"/>
          <p:cNvSpPr/>
          <p:nvPr/>
        </p:nvSpPr>
        <p:spPr>
          <a:xfrm>
            <a:off x="5532120" y="3310128"/>
            <a:ext cx="3108960" cy="457200"/>
          </a:xfrm>
          <a:prstGeom prst="roundRect">
            <a:avLst>
              <a:gd name="adj" fmla="val 16000"/>
            </a:avLst>
          </a:prstGeom>
          <a:solidFill>
            <a:srgbClr val="20160E"/>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41848" y="3310128"/>
            <a:ext cx="731520" cy="457200"/>
          </a:xfrm>
          <a:prstGeom prst="rect">
            <a:avLst/>
          </a:prstGeom>
          <a:noFill/>
        </p:spPr>
        <p:txBody>
          <a:bodyPr wrap="square" lIns="0" tIns="0" rIns="0" bIns="0" anchor="ctr">
            <a:spAutoFit/>
          </a:bodyPr>
          <a:lstStyle/>
          <a:p>
            <a:pPr algn="l"/>
            <a:r>
              <a:rPr lang="es-CO" sz="900" b="1" i="0">
                <a:solidFill>
                  <a:srgbClr val="3DDC97"/>
                </a:solidFill>
                <a:latin typeface="Courier New"/>
              </a:rPr>
              <a:t>tbody</a:t>
            </a:r>
          </a:p>
        </p:txBody>
      </p:sp>
      <p:sp>
        <p:nvSpPr>
          <p:cNvPr id="19" name="TextBox 18"/>
          <p:cNvSpPr txBox="1"/>
          <p:nvPr/>
        </p:nvSpPr>
        <p:spPr>
          <a:xfrm>
            <a:off x="6400800" y="3310128"/>
            <a:ext cx="2176272" cy="457200"/>
          </a:xfrm>
          <a:prstGeom prst="rect">
            <a:avLst/>
          </a:prstGeom>
          <a:noFill/>
        </p:spPr>
        <p:txBody>
          <a:bodyPr wrap="square" lIns="0" tIns="0" rIns="0" bIns="0" anchor="ctr">
            <a:spAutoFit/>
          </a:bodyPr>
          <a:lstStyle/>
          <a:p>
            <a:pPr algn="l">
              <a:lnSpc>
                <a:spcPts val="1050"/>
              </a:lnSpc>
            </a:pPr>
            <a:r>
              <a:rPr lang="es-CO" sz="900" b="0" i="0">
                <a:solidFill>
                  <a:srgbClr val="E8EEF6"/>
                </a:solidFill>
                <a:latin typeface="Calibri"/>
              </a:rPr>
              <a:t>Contenedor donde se agregan las filas.</a:t>
            </a:r>
          </a:p>
        </p:txBody>
      </p:sp>
      <p:sp>
        <p:nvSpPr>
          <p:cNvPr id="20" name="Rounded Rectangle 19"/>
          <p:cNvSpPr/>
          <p:nvPr/>
        </p:nvSpPr>
        <p:spPr>
          <a:xfrm>
            <a:off x="5532120" y="3822191"/>
            <a:ext cx="3108960" cy="457200"/>
          </a:xfrm>
          <a:prstGeom prst="roundRect">
            <a:avLst>
              <a:gd name="adj" fmla="val 16000"/>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641848" y="3822191"/>
            <a:ext cx="731520" cy="457200"/>
          </a:xfrm>
          <a:prstGeom prst="rect">
            <a:avLst/>
          </a:prstGeom>
          <a:noFill/>
        </p:spPr>
        <p:txBody>
          <a:bodyPr wrap="square" lIns="0" tIns="0" rIns="0" bIns="0" anchor="ctr">
            <a:spAutoFit/>
          </a:bodyPr>
          <a:lstStyle/>
          <a:p>
            <a:pPr algn="l"/>
            <a:r>
              <a:rPr lang="es-CO" sz="900" b="1" i="0">
                <a:solidFill>
                  <a:srgbClr val="FFD479"/>
                </a:solidFill>
                <a:latin typeface="Courier New"/>
              </a:rPr>
              <a:t>#estado</a:t>
            </a:r>
          </a:p>
        </p:txBody>
      </p:sp>
      <p:sp>
        <p:nvSpPr>
          <p:cNvPr id="22" name="TextBox 21"/>
          <p:cNvSpPr txBox="1"/>
          <p:nvPr/>
        </p:nvSpPr>
        <p:spPr>
          <a:xfrm>
            <a:off x="6400800" y="3822191"/>
            <a:ext cx="2176272" cy="457200"/>
          </a:xfrm>
          <a:prstGeom prst="rect">
            <a:avLst/>
          </a:prstGeom>
          <a:noFill/>
        </p:spPr>
        <p:txBody>
          <a:bodyPr wrap="square" lIns="0" tIns="0" rIns="0" bIns="0" anchor="ctr">
            <a:spAutoFit/>
          </a:bodyPr>
          <a:lstStyle/>
          <a:p>
            <a:pPr algn="l">
              <a:lnSpc>
                <a:spcPts val="1050"/>
              </a:lnSpc>
            </a:pPr>
            <a:r>
              <a:rPr lang="es-CO" sz="900" b="0" i="0">
                <a:solidFill>
                  <a:srgbClr val="E8EEF6"/>
                </a:solidFill>
                <a:latin typeface="Calibri"/>
              </a:rPr>
              <a:t>Muestra mensajes: consulta, vacío o error.</a:t>
            </a:r>
          </a:p>
        </p:txBody>
      </p:sp>
      <p:sp>
        <p:nvSpPr>
          <p:cNvPr id="23" name="TextBox 22"/>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18 / 24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2139696"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2139696"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06 · PARTE B</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400" b="1" i="0">
                <a:solidFill>
                  <a:srgbClr val="FFFFFF"/>
                </a:solidFill>
                <a:latin typeface="Arial"/>
              </a:rPr>
              <a:t>Parte B · fetch() solicita y lee la respuesta</a:t>
            </a:r>
          </a:p>
        </p:txBody>
      </p:sp>
      <p:sp>
        <p:nvSpPr>
          <p:cNvPr id="5" name="Rounded Rectangle 4"/>
          <p:cNvSpPr/>
          <p:nvPr/>
        </p:nvSpPr>
        <p:spPr>
          <a:xfrm>
            <a:off x="502920" y="1216152"/>
            <a:ext cx="5029200" cy="2761488"/>
          </a:xfrm>
          <a:prstGeom prst="roundRect">
            <a:avLst>
              <a:gd name="adj" fmla="val 2649"/>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9224" y="1280160"/>
            <a:ext cx="4736592" cy="182880"/>
          </a:xfrm>
          <a:prstGeom prst="rect">
            <a:avLst/>
          </a:prstGeom>
          <a:noFill/>
        </p:spPr>
        <p:txBody>
          <a:bodyPr wrap="square" lIns="0" tIns="0" rIns="0" bIns="0" anchor="ctr">
            <a:spAutoFit/>
          </a:bodyPr>
          <a:lstStyle/>
          <a:p>
            <a:pPr algn="l"/>
            <a:r>
              <a:rPr lang="es-CO" sz="850" b="1" i="0">
                <a:solidFill>
                  <a:srgbClr val="FF8A3D"/>
                </a:solidFill>
                <a:latin typeface="Courier New"/>
              </a:rPr>
              <a:t>contactos.html · &lt;script&gt;</a:t>
            </a:r>
          </a:p>
        </p:txBody>
      </p:sp>
      <p:sp>
        <p:nvSpPr>
          <p:cNvPr id="7" name="TextBox 6"/>
          <p:cNvSpPr txBox="1"/>
          <p:nvPr/>
        </p:nvSpPr>
        <p:spPr>
          <a:xfrm>
            <a:off x="649224" y="1508760"/>
            <a:ext cx="4736592" cy="2423159"/>
          </a:xfrm>
          <a:prstGeom prst="rect">
            <a:avLst/>
          </a:prstGeom>
          <a:noFill/>
        </p:spPr>
        <p:txBody>
          <a:bodyPr wrap="square" lIns="0" tIns="0" rIns="0" bIns="0" anchor="t">
            <a:spAutoFit/>
          </a:bodyPr>
          <a:lstStyle/>
          <a:p>
            <a:pPr algn="l">
              <a:lnSpc>
                <a:spcPts val="1090"/>
              </a:lnSpc>
            </a:pPr>
            <a:r>
              <a:rPr lang="es-CO" sz="850" b="0" i="0">
                <a:solidFill>
                  <a:srgbClr val="FFB86C"/>
                </a:solidFill>
                <a:latin typeface="Courier New"/>
              </a:rPr>
              <a:t>async</a:t>
            </a:r>
            <a:r>
              <a:rPr lang="es-CO" sz="850" b="0" i="0">
                <a:solidFill>
                  <a:srgbClr val="D7E1EE"/>
                </a:solidFill>
                <a:latin typeface="Courier New"/>
              </a:rPr>
              <a:t> </a:t>
            </a:r>
            <a:r>
              <a:rPr lang="es-CO" sz="850" b="0" i="0">
                <a:solidFill>
                  <a:srgbClr val="FFB86C"/>
                </a:solidFill>
                <a:latin typeface="Courier New"/>
              </a:rPr>
              <a:t>function</a:t>
            </a:r>
            <a:r>
              <a:rPr lang="es-CO" sz="850" b="0" i="0">
                <a:solidFill>
                  <a:srgbClr val="D7E1EE"/>
                </a:solidFill>
                <a:latin typeface="Courier New"/>
              </a:rPr>
              <a:t> </a:t>
            </a:r>
            <a:r>
              <a:rPr lang="es-CO" sz="850" b="0" i="0">
                <a:solidFill>
                  <a:srgbClr val="56C7F2"/>
                </a:solidFill>
                <a:latin typeface="Courier New"/>
              </a:rPr>
              <a:t>cargarContactos</a:t>
            </a:r>
            <a:r>
              <a:rPr lang="es-CO" sz="850" b="0" i="0">
                <a:solidFill>
                  <a:srgbClr val="93A5BD"/>
                </a:solidFill>
                <a:latin typeface="Courier New"/>
              </a:rPr>
              <a:t>()</a:t>
            </a:r>
            <a:r>
              <a:rPr lang="es-CO" sz="850" b="0" i="0">
                <a:solidFill>
                  <a:srgbClr val="D7E1EE"/>
                </a:solidFill>
                <a:latin typeface="Courier New"/>
              </a:rPr>
              <a:t> </a:t>
            </a:r>
            <a:r>
              <a:rPr lang="es-CO" sz="850" b="0" i="0">
                <a:solidFill>
                  <a:srgbClr val="93A5BD"/>
                </a:solidFill>
                <a:latin typeface="Courier New"/>
              </a:rPr>
              <a:t>{</a:t>
            </a:r>
          </a:p>
          <a:p>
            <a:pPr algn="l">
              <a:lnSpc>
                <a:spcPts val="1090"/>
              </a:lnSpc>
            </a:pPr>
            <a:r>
              <a:rPr lang="es-CO" sz="850" b="0" i="0">
                <a:solidFill>
                  <a:srgbClr val="D7E1EE"/>
                </a:solidFill>
                <a:latin typeface="Courier New"/>
              </a:rPr>
              <a:t>    estado</a:t>
            </a:r>
            <a:r>
              <a:rPr lang="es-CO" sz="850" b="0" i="0">
                <a:solidFill>
                  <a:srgbClr val="93A5BD"/>
                </a:solidFill>
                <a:latin typeface="Courier New"/>
              </a:rPr>
              <a:t>.</a:t>
            </a:r>
            <a:r>
              <a:rPr lang="es-CO" sz="850" b="0" i="0">
                <a:solidFill>
                  <a:srgbClr val="56C7F2"/>
                </a:solidFill>
                <a:latin typeface="Courier New"/>
              </a:rPr>
              <a:t>textContent</a:t>
            </a:r>
            <a:r>
              <a:rPr lang="es-CO" sz="850" b="0" i="0">
                <a:solidFill>
                  <a:srgbClr val="D7E1EE"/>
                </a:solidFill>
                <a:latin typeface="Courier New"/>
              </a:rPr>
              <a:t> </a:t>
            </a:r>
            <a:r>
              <a:rPr lang="es-CO" sz="850" b="0" i="0">
                <a:solidFill>
                  <a:srgbClr val="93A5BD"/>
                </a:solidFill>
                <a:latin typeface="Courier New"/>
              </a:rPr>
              <a:t>=</a:t>
            </a:r>
            <a:r>
              <a:rPr lang="es-CO" sz="850" b="0" i="0">
                <a:solidFill>
                  <a:srgbClr val="D7E1EE"/>
                </a:solidFill>
                <a:latin typeface="Courier New"/>
              </a:rPr>
              <a:t> </a:t>
            </a:r>
            <a:r>
              <a:rPr lang="es-CO" sz="850" b="0" i="0">
                <a:solidFill>
                  <a:srgbClr val="FFD479"/>
                </a:solidFill>
                <a:latin typeface="Courier New"/>
              </a:rPr>
              <a:t>'Consultando...'</a:t>
            </a:r>
            <a:r>
              <a:rPr lang="es-CO" sz="850" b="0" i="0">
                <a:solidFill>
                  <a:srgbClr val="93A5BD"/>
                </a:solidFill>
                <a:latin typeface="Courier New"/>
              </a:rPr>
              <a:t>;</a:t>
            </a:r>
          </a:p>
          <a:p>
            <a:pPr algn="l">
              <a:lnSpc>
                <a:spcPts val="1090"/>
              </a:lnSpc>
            </a:pPr>
            <a:r>
              <a:rPr lang="es-CO" sz="850" b="0" i="0">
                <a:solidFill>
                  <a:srgbClr val="D7E1EE"/>
                </a:solidFill>
                <a:latin typeface="Courier New"/>
              </a:rPr>
              <a:t>    cuerpoTabla</a:t>
            </a:r>
            <a:r>
              <a:rPr lang="es-CO" sz="850" b="0" i="0">
                <a:solidFill>
                  <a:srgbClr val="93A5BD"/>
                </a:solidFill>
                <a:latin typeface="Courier New"/>
              </a:rPr>
              <a:t>.</a:t>
            </a:r>
            <a:r>
              <a:rPr lang="es-CO" sz="850" b="0" i="0">
                <a:solidFill>
                  <a:srgbClr val="56C7F2"/>
                </a:solidFill>
                <a:latin typeface="Courier New"/>
              </a:rPr>
              <a:t>replaceChildren</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FFB86C"/>
                </a:solidFill>
                <a:latin typeface="Courier New"/>
              </a:rPr>
              <a:t>try</a:t>
            </a:r>
            <a:r>
              <a:rPr lang="es-CO" sz="850" b="0" i="0">
                <a:solidFill>
                  <a:srgbClr val="D7E1EE"/>
                </a:solidFill>
                <a:latin typeface="Courier New"/>
              </a:rPr>
              <a:t> </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FFB86C"/>
                </a:solidFill>
                <a:latin typeface="Courier New"/>
              </a:rPr>
              <a:t>const</a:t>
            </a:r>
            <a:r>
              <a:rPr lang="es-CO" sz="850" b="0" i="0">
                <a:solidFill>
                  <a:srgbClr val="D7E1EE"/>
                </a:solidFill>
                <a:latin typeface="Courier New"/>
              </a:rPr>
              <a:t> respuesta </a:t>
            </a:r>
            <a:r>
              <a:rPr lang="es-CO" sz="850" b="0" i="0">
                <a:solidFill>
                  <a:srgbClr val="93A5BD"/>
                </a:solidFill>
                <a:latin typeface="Courier New"/>
              </a:rPr>
              <a:t>=</a:t>
            </a:r>
            <a:r>
              <a:rPr lang="es-CO" sz="850" b="0" i="0">
                <a:solidFill>
                  <a:srgbClr val="D7E1EE"/>
                </a:solidFill>
                <a:latin typeface="Courier New"/>
              </a:rPr>
              <a:t> </a:t>
            </a:r>
            <a:r>
              <a:rPr lang="es-CO" sz="850" b="0" i="0">
                <a:solidFill>
                  <a:srgbClr val="FFB86C"/>
                </a:solidFill>
                <a:latin typeface="Courier New"/>
              </a:rPr>
              <a:t>await</a:t>
            </a:r>
            <a:r>
              <a:rPr lang="es-CO" sz="850" b="0" i="0">
                <a:solidFill>
                  <a:srgbClr val="D7E1EE"/>
                </a:solidFill>
                <a:latin typeface="Courier New"/>
              </a:rPr>
              <a:t> </a:t>
            </a:r>
            <a:r>
              <a:rPr lang="es-CO" sz="850" b="0" i="0">
                <a:solidFill>
                  <a:srgbClr val="56C7F2"/>
                </a:solidFill>
                <a:latin typeface="Courier New"/>
              </a:rPr>
              <a:t>fetch</a:t>
            </a:r>
            <a:r>
              <a:rPr lang="es-CO" sz="850" b="0" i="0">
                <a:solidFill>
                  <a:srgbClr val="93A5BD"/>
                </a:solidFill>
                <a:latin typeface="Courier New"/>
              </a:rPr>
              <a:t>(</a:t>
            </a:r>
            <a:r>
              <a:rPr lang="es-CO" sz="850" b="0" i="0">
                <a:solidFill>
                  <a:srgbClr val="FFD479"/>
                </a:solidFill>
                <a:latin typeface="Courier New"/>
              </a:rPr>
              <a:t>'/api/contactos'</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FFB86C"/>
                </a:solidFill>
                <a:latin typeface="Courier New"/>
              </a:rPr>
              <a:t>if</a:t>
            </a:r>
            <a:r>
              <a:rPr lang="es-CO" sz="850" b="0" i="0">
                <a:solidFill>
                  <a:srgbClr val="D7E1EE"/>
                </a:solidFill>
                <a:latin typeface="Courier New"/>
              </a:rPr>
              <a:t> </a:t>
            </a:r>
            <a:r>
              <a:rPr lang="es-CO" sz="850" b="0" i="0">
                <a:solidFill>
                  <a:srgbClr val="93A5BD"/>
                </a:solidFill>
                <a:latin typeface="Courier New"/>
              </a:rPr>
              <a:t>(!</a:t>
            </a:r>
            <a:r>
              <a:rPr lang="es-CO" sz="850" b="0" i="0">
                <a:solidFill>
                  <a:srgbClr val="D7E1EE"/>
                </a:solidFill>
                <a:latin typeface="Courier New"/>
              </a:rPr>
              <a:t>respuesta</a:t>
            </a:r>
            <a:r>
              <a:rPr lang="es-CO" sz="850" b="0" i="0">
                <a:solidFill>
                  <a:srgbClr val="93A5BD"/>
                </a:solidFill>
                <a:latin typeface="Courier New"/>
              </a:rPr>
              <a:t>.</a:t>
            </a:r>
            <a:r>
              <a:rPr lang="es-CO" sz="850" b="0" i="0">
                <a:solidFill>
                  <a:srgbClr val="56C7F2"/>
                </a:solidFill>
                <a:latin typeface="Courier New"/>
              </a:rPr>
              <a:t>ok</a:t>
            </a:r>
            <a:r>
              <a:rPr lang="es-CO" sz="850" b="0" i="0">
                <a:solidFill>
                  <a:srgbClr val="93A5BD"/>
                </a:solidFill>
                <a:latin typeface="Courier New"/>
              </a:rPr>
              <a:t>)</a:t>
            </a:r>
            <a:r>
              <a:rPr lang="es-CO" sz="850" b="0" i="0">
                <a:solidFill>
                  <a:srgbClr val="D7E1EE"/>
                </a:solidFill>
                <a:latin typeface="Courier New"/>
              </a:rPr>
              <a:t> </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FFB86C"/>
                </a:solidFill>
                <a:latin typeface="Courier New"/>
              </a:rPr>
              <a:t>throw</a:t>
            </a:r>
            <a:r>
              <a:rPr lang="es-CO" sz="850" b="0" i="0">
                <a:solidFill>
                  <a:srgbClr val="D7E1EE"/>
                </a:solidFill>
                <a:latin typeface="Courier New"/>
              </a:rPr>
              <a:t> </a:t>
            </a:r>
            <a:r>
              <a:rPr lang="es-CO" sz="850" b="0" i="0">
                <a:solidFill>
                  <a:srgbClr val="FFB86C"/>
                </a:solidFill>
                <a:latin typeface="Courier New"/>
              </a:rPr>
              <a:t>new</a:t>
            </a:r>
            <a:r>
              <a:rPr lang="es-CO" sz="850" b="0" i="0">
                <a:solidFill>
                  <a:srgbClr val="D7E1EE"/>
                </a:solidFill>
                <a:latin typeface="Courier New"/>
              </a:rPr>
              <a:t> </a:t>
            </a:r>
            <a:r>
              <a:rPr lang="es-CO" sz="850" b="0" i="0">
                <a:solidFill>
                  <a:srgbClr val="56C7F2"/>
                </a:solidFill>
                <a:latin typeface="Courier New"/>
              </a:rPr>
              <a:t>Error</a:t>
            </a:r>
            <a:r>
              <a:rPr lang="es-CO" sz="850" b="0" i="0">
                <a:solidFill>
                  <a:srgbClr val="93A5BD"/>
                </a:solidFill>
                <a:latin typeface="Courier New"/>
              </a:rPr>
              <a:t>(</a:t>
            </a:r>
            <a:r>
              <a:rPr lang="es-CO" sz="850" b="0" i="0">
                <a:solidFill>
                  <a:srgbClr val="FFD479"/>
                </a:solidFill>
                <a:latin typeface="Courier New"/>
              </a:rPr>
              <a:t>`Estado HTTP ${respuesta.status}`</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FFB86C"/>
                </a:solidFill>
                <a:latin typeface="Courier New"/>
              </a:rPr>
              <a:t>const</a:t>
            </a:r>
            <a:r>
              <a:rPr lang="es-CO" sz="850" b="0" i="0">
                <a:solidFill>
                  <a:srgbClr val="D7E1EE"/>
                </a:solidFill>
                <a:latin typeface="Courier New"/>
              </a:rPr>
              <a:t> contactos </a:t>
            </a:r>
            <a:r>
              <a:rPr lang="es-CO" sz="850" b="0" i="0">
                <a:solidFill>
                  <a:srgbClr val="93A5BD"/>
                </a:solidFill>
                <a:latin typeface="Courier New"/>
              </a:rPr>
              <a:t>=</a:t>
            </a:r>
            <a:r>
              <a:rPr lang="es-CO" sz="850" b="0" i="0">
                <a:solidFill>
                  <a:srgbClr val="D7E1EE"/>
                </a:solidFill>
                <a:latin typeface="Courier New"/>
              </a:rPr>
              <a:t> </a:t>
            </a:r>
            <a:r>
              <a:rPr lang="es-CO" sz="850" b="0" i="0">
                <a:solidFill>
                  <a:srgbClr val="FFB86C"/>
                </a:solidFill>
                <a:latin typeface="Courier New"/>
              </a:rPr>
              <a:t>await</a:t>
            </a:r>
            <a:r>
              <a:rPr lang="es-CO" sz="850" b="0" i="0">
                <a:solidFill>
                  <a:srgbClr val="D7E1EE"/>
                </a:solidFill>
                <a:latin typeface="Courier New"/>
              </a:rPr>
              <a:t> respuesta</a:t>
            </a:r>
            <a:r>
              <a:rPr lang="es-CO" sz="850" b="0" i="0">
                <a:solidFill>
                  <a:srgbClr val="93A5BD"/>
                </a:solidFill>
                <a:latin typeface="Courier New"/>
              </a:rPr>
              <a:t>.</a:t>
            </a:r>
            <a:r>
              <a:rPr lang="es-CO" sz="850" b="0" i="0">
                <a:solidFill>
                  <a:srgbClr val="56C7F2"/>
                </a:solidFill>
                <a:latin typeface="Courier New"/>
              </a:rPr>
              <a:t>json</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56C7F2"/>
                </a:solidFill>
                <a:latin typeface="Courier New"/>
              </a:rPr>
              <a:t>mostrarContactos</a:t>
            </a:r>
            <a:r>
              <a:rPr lang="es-CO" sz="850" b="0" i="0">
                <a:solidFill>
                  <a:srgbClr val="93A5BD"/>
                </a:solidFill>
                <a:latin typeface="Courier New"/>
              </a:rPr>
              <a:t>(</a:t>
            </a:r>
            <a:r>
              <a:rPr lang="es-CO" sz="850" b="0" i="0">
                <a:solidFill>
                  <a:srgbClr val="D7E1EE"/>
                </a:solidFill>
                <a:latin typeface="Courier New"/>
              </a:rPr>
              <a:t>contactos</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93A5BD"/>
                </a:solidFill>
                <a:latin typeface="Courier New"/>
              </a:rPr>
              <a:t>}</a:t>
            </a:r>
            <a:r>
              <a:rPr lang="es-CO" sz="850" b="0" i="0">
                <a:solidFill>
                  <a:srgbClr val="D7E1EE"/>
                </a:solidFill>
                <a:latin typeface="Courier New"/>
              </a:rPr>
              <a:t> </a:t>
            </a:r>
            <a:r>
              <a:rPr lang="es-CO" sz="850" b="0" i="0">
                <a:solidFill>
                  <a:srgbClr val="FFB86C"/>
                </a:solidFill>
                <a:latin typeface="Courier New"/>
              </a:rPr>
              <a:t>catch</a:t>
            </a:r>
            <a:r>
              <a:rPr lang="es-CO" sz="850" b="0" i="0">
                <a:solidFill>
                  <a:srgbClr val="D7E1EE"/>
                </a:solidFill>
                <a:latin typeface="Courier New"/>
              </a:rPr>
              <a:t> </a:t>
            </a:r>
            <a:r>
              <a:rPr lang="es-CO" sz="850" b="0" i="0">
                <a:solidFill>
                  <a:srgbClr val="93A5BD"/>
                </a:solidFill>
                <a:latin typeface="Courier New"/>
              </a:rPr>
              <a:t>(</a:t>
            </a:r>
            <a:r>
              <a:rPr lang="es-CO" sz="850" b="0" i="0">
                <a:solidFill>
                  <a:srgbClr val="D7E1EE"/>
                </a:solidFill>
                <a:latin typeface="Courier New"/>
              </a:rPr>
              <a:t>error</a:t>
            </a:r>
            <a:r>
              <a:rPr lang="es-CO" sz="850" b="0" i="0">
                <a:solidFill>
                  <a:srgbClr val="93A5BD"/>
                </a:solidFill>
                <a:latin typeface="Courier New"/>
              </a:rPr>
              <a:t>)</a:t>
            </a:r>
            <a:r>
              <a:rPr lang="es-CO" sz="850" b="0" i="0">
                <a:solidFill>
                  <a:srgbClr val="D7E1EE"/>
                </a:solidFill>
                <a:latin typeface="Courier New"/>
              </a:rPr>
              <a:t> </a:t>
            </a:r>
            <a:r>
              <a:rPr lang="es-CO" sz="850" b="0" i="0">
                <a:solidFill>
                  <a:srgbClr val="93A5BD"/>
                </a:solidFill>
                <a:latin typeface="Courier New"/>
              </a:rPr>
              <a:t>{</a:t>
            </a:r>
          </a:p>
          <a:p>
            <a:pPr algn="l">
              <a:lnSpc>
                <a:spcPts val="1090"/>
              </a:lnSpc>
            </a:pPr>
            <a:r>
              <a:rPr lang="es-CO" sz="850" b="0" i="0">
                <a:solidFill>
                  <a:srgbClr val="D7E1EE"/>
                </a:solidFill>
                <a:latin typeface="Courier New"/>
              </a:rPr>
              <a:t>        console</a:t>
            </a:r>
            <a:r>
              <a:rPr lang="es-CO" sz="850" b="0" i="0">
                <a:solidFill>
                  <a:srgbClr val="93A5BD"/>
                </a:solidFill>
                <a:latin typeface="Courier New"/>
              </a:rPr>
              <a:t>.</a:t>
            </a:r>
            <a:r>
              <a:rPr lang="es-CO" sz="850" b="0" i="0">
                <a:solidFill>
                  <a:srgbClr val="56C7F2"/>
                </a:solidFill>
                <a:latin typeface="Courier New"/>
              </a:rPr>
              <a:t>error</a:t>
            </a:r>
            <a:r>
              <a:rPr lang="es-CO" sz="850" b="0" i="0">
                <a:solidFill>
                  <a:srgbClr val="93A5BD"/>
                </a:solidFill>
                <a:latin typeface="Courier New"/>
              </a:rPr>
              <a:t>(</a:t>
            </a:r>
            <a:r>
              <a:rPr lang="es-CO" sz="850" b="0" i="0">
                <a:solidFill>
                  <a:srgbClr val="D7E1EE"/>
                </a:solidFill>
                <a:latin typeface="Courier New"/>
              </a:rPr>
              <a:t>error</a:t>
            </a:r>
            <a:r>
              <a:rPr lang="es-CO" sz="850" b="0" i="0">
                <a:solidFill>
                  <a:srgbClr val="93A5BD"/>
                </a:solidFill>
                <a:latin typeface="Courier New"/>
              </a:rPr>
              <a:t>);</a:t>
            </a:r>
          </a:p>
          <a:p>
            <a:pPr algn="l">
              <a:lnSpc>
                <a:spcPts val="1090"/>
              </a:lnSpc>
            </a:pPr>
            <a:r>
              <a:rPr lang="es-CO" sz="850" b="0" i="0">
                <a:solidFill>
                  <a:srgbClr val="D7E1EE"/>
                </a:solidFill>
                <a:latin typeface="Courier New"/>
              </a:rPr>
              <a:t>        estado</a:t>
            </a:r>
            <a:r>
              <a:rPr lang="es-CO" sz="850" b="0" i="0">
                <a:solidFill>
                  <a:srgbClr val="93A5BD"/>
                </a:solidFill>
                <a:latin typeface="Courier New"/>
              </a:rPr>
              <a:t>.</a:t>
            </a:r>
            <a:r>
              <a:rPr lang="es-CO" sz="850" b="0" i="0">
                <a:solidFill>
                  <a:srgbClr val="56C7F2"/>
                </a:solidFill>
                <a:latin typeface="Courier New"/>
              </a:rPr>
              <a:t>textContent</a:t>
            </a:r>
            <a:r>
              <a:rPr lang="es-CO" sz="850" b="0" i="0">
                <a:solidFill>
                  <a:srgbClr val="D7E1EE"/>
                </a:solidFill>
                <a:latin typeface="Courier New"/>
              </a:rPr>
              <a:t> </a:t>
            </a:r>
            <a:r>
              <a:rPr lang="es-CO" sz="850" b="0" i="0">
                <a:solidFill>
                  <a:srgbClr val="93A5BD"/>
                </a:solidFill>
                <a:latin typeface="Courier New"/>
              </a:rPr>
              <a:t>=</a:t>
            </a:r>
            <a:r>
              <a:rPr lang="es-CO" sz="850" b="0" i="0">
                <a:solidFill>
                  <a:srgbClr val="D7E1EE"/>
                </a:solidFill>
                <a:latin typeface="Courier New"/>
              </a:rPr>
              <a:t> </a:t>
            </a:r>
            <a:r>
              <a:rPr lang="es-CO" sz="850" b="0" i="0">
                <a:solidFill>
                  <a:srgbClr val="FFD479"/>
                </a:solidFill>
                <a:latin typeface="Courier New"/>
              </a:rPr>
              <a:t>'No fue posible consultar los contactos.'</a:t>
            </a:r>
            <a:r>
              <a:rPr lang="es-CO" sz="850" b="0" i="0">
                <a:solidFill>
                  <a:srgbClr val="93A5BD"/>
                </a:solidFill>
                <a:latin typeface="Courier New"/>
              </a:rPr>
              <a:t>;</a:t>
            </a:r>
          </a:p>
          <a:p>
            <a:pPr algn="l">
              <a:lnSpc>
                <a:spcPts val="1090"/>
              </a:lnSpc>
            </a:pPr>
            <a:r>
              <a:rPr lang="es-CO" sz="850" b="0" i="0">
                <a:solidFill>
                  <a:srgbClr val="D7E1EE"/>
                </a:solidFill>
                <a:latin typeface="Courier New"/>
              </a:rPr>
              <a:t>    </a:t>
            </a:r>
            <a:r>
              <a:rPr lang="es-CO" sz="850" b="0" i="0">
                <a:solidFill>
                  <a:srgbClr val="93A5BD"/>
                </a:solidFill>
                <a:latin typeface="Courier New"/>
              </a:rPr>
              <a:t>}</a:t>
            </a:r>
          </a:p>
          <a:p>
            <a:pPr algn="l">
              <a:lnSpc>
                <a:spcPts val="1090"/>
              </a:lnSpc>
            </a:pPr>
            <a:r>
              <a:rPr lang="es-CO" sz="850" b="0" i="0">
                <a:solidFill>
                  <a:srgbClr val="93A5BD"/>
                </a:solidFill>
                <a:latin typeface="Courier New"/>
              </a:rPr>
              <a:t>}</a:t>
            </a:r>
          </a:p>
          <a:p>
            <a:pPr algn="l">
              <a:lnSpc>
                <a:spcPts val="1090"/>
              </a:lnSpc>
            </a:pPr>
            <a:r>
              <a:rPr lang="es-CO" sz="850" b="0" i="0">
                <a:solidFill>
                  <a:srgbClr val="D7E1EE"/>
                </a:solidFill>
                <a:latin typeface="Courier New"/>
              </a:rPr>
              <a:t>boton</a:t>
            </a:r>
            <a:r>
              <a:rPr lang="es-CO" sz="850" b="0" i="0">
                <a:solidFill>
                  <a:srgbClr val="93A5BD"/>
                </a:solidFill>
                <a:latin typeface="Courier New"/>
              </a:rPr>
              <a:t>.</a:t>
            </a:r>
            <a:r>
              <a:rPr lang="es-CO" sz="850" b="0" i="0">
                <a:solidFill>
                  <a:srgbClr val="56C7F2"/>
                </a:solidFill>
                <a:latin typeface="Courier New"/>
              </a:rPr>
              <a:t>addEventListener</a:t>
            </a:r>
            <a:r>
              <a:rPr lang="es-CO" sz="850" b="0" i="0">
                <a:solidFill>
                  <a:srgbClr val="93A5BD"/>
                </a:solidFill>
                <a:latin typeface="Courier New"/>
              </a:rPr>
              <a:t>(</a:t>
            </a:r>
            <a:r>
              <a:rPr lang="es-CO" sz="850" b="0" i="0">
                <a:solidFill>
                  <a:srgbClr val="FFD479"/>
                </a:solidFill>
                <a:latin typeface="Courier New"/>
              </a:rPr>
              <a:t>'click'</a:t>
            </a:r>
            <a:r>
              <a:rPr lang="es-CO" sz="850" b="0" i="0">
                <a:solidFill>
                  <a:srgbClr val="93A5BD"/>
                </a:solidFill>
                <a:latin typeface="Courier New"/>
              </a:rPr>
              <a:t>,</a:t>
            </a:r>
            <a:r>
              <a:rPr lang="es-CO" sz="850" b="0" i="0">
                <a:solidFill>
                  <a:srgbClr val="D7E1EE"/>
                </a:solidFill>
                <a:latin typeface="Courier New"/>
              </a:rPr>
              <a:t> cargarContactos</a:t>
            </a:r>
            <a:r>
              <a:rPr lang="es-CO" sz="850" b="0" i="0">
                <a:solidFill>
                  <a:srgbClr val="93A5BD"/>
                </a:solidFill>
                <a:latin typeface="Courier New"/>
              </a:rPr>
              <a:t>);</a:t>
            </a:r>
          </a:p>
        </p:txBody>
      </p:sp>
      <p:sp>
        <p:nvSpPr>
          <p:cNvPr id="8" name="Rounded Rectangle 7"/>
          <p:cNvSpPr/>
          <p:nvPr/>
        </p:nvSpPr>
        <p:spPr>
          <a:xfrm>
            <a:off x="5669280" y="1216152"/>
            <a:ext cx="2971800" cy="603504"/>
          </a:xfrm>
          <a:prstGeom prst="roundRect">
            <a:avLst>
              <a:gd name="adj" fmla="val 12121"/>
            </a:avLst>
          </a:prstGeom>
          <a:solidFill>
            <a:srgbClr val="20160E"/>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779008" y="1261872"/>
            <a:ext cx="2743200" cy="201168"/>
          </a:xfrm>
          <a:prstGeom prst="rect">
            <a:avLst/>
          </a:prstGeom>
          <a:noFill/>
        </p:spPr>
        <p:txBody>
          <a:bodyPr wrap="square" lIns="0" tIns="0" rIns="0" bIns="0" anchor="ctr">
            <a:spAutoFit/>
          </a:bodyPr>
          <a:lstStyle/>
          <a:p>
            <a:pPr algn="l"/>
            <a:r>
              <a:rPr lang="es-CO" sz="900" b="1" i="0">
                <a:solidFill>
                  <a:srgbClr val="56C7F2"/>
                </a:solidFill>
                <a:latin typeface="Courier New"/>
              </a:rPr>
              <a:t>fetch()</a:t>
            </a:r>
          </a:p>
        </p:txBody>
      </p:sp>
      <p:sp>
        <p:nvSpPr>
          <p:cNvPr id="10" name="TextBox 9"/>
          <p:cNvSpPr txBox="1"/>
          <p:nvPr/>
        </p:nvSpPr>
        <p:spPr>
          <a:xfrm>
            <a:off x="5779008" y="1481328"/>
            <a:ext cx="2788920" cy="310896"/>
          </a:xfrm>
          <a:prstGeom prst="rect">
            <a:avLst/>
          </a:prstGeom>
          <a:noFill/>
        </p:spPr>
        <p:txBody>
          <a:bodyPr wrap="square" lIns="0" tIns="0" rIns="0" bIns="0" anchor="ctr">
            <a:spAutoFit/>
          </a:bodyPr>
          <a:lstStyle/>
          <a:p>
            <a:pPr algn="l">
              <a:lnSpc>
                <a:spcPts val="1050"/>
              </a:lnSpc>
            </a:pPr>
            <a:r>
              <a:rPr lang="es-CO" sz="900" b="0" i="0">
                <a:solidFill>
                  <a:srgbClr val="E8EEF6"/>
                </a:solidFill>
                <a:latin typeface="Calibri"/>
              </a:rPr>
              <a:t>Envía la solicitud HTTP y entrega la respuesta.</a:t>
            </a:r>
          </a:p>
        </p:txBody>
      </p:sp>
      <p:sp>
        <p:nvSpPr>
          <p:cNvPr id="11" name="Rounded Rectangle 10"/>
          <p:cNvSpPr/>
          <p:nvPr/>
        </p:nvSpPr>
        <p:spPr>
          <a:xfrm>
            <a:off x="5669280" y="1906524"/>
            <a:ext cx="2971800" cy="603504"/>
          </a:xfrm>
          <a:prstGeom prst="roundRect">
            <a:avLst>
              <a:gd name="adj" fmla="val 12121"/>
            </a:avLst>
          </a:prstGeom>
          <a:solidFill>
            <a:srgbClr val="20160E"/>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779008" y="1952243"/>
            <a:ext cx="2743200" cy="201168"/>
          </a:xfrm>
          <a:prstGeom prst="rect">
            <a:avLst/>
          </a:prstGeom>
          <a:noFill/>
        </p:spPr>
        <p:txBody>
          <a:bodyPr wrap="square" lIns="0" tIns="0" rIns="0" bIns="0" anchor="ctr">
            <a:spAutoFit/>
          </a:bodyPr>
          <a:lstStyle/>
          <a:p>
            <a:pPr algn="l"/>
            <a:r>
              <a:rPr lang="es-CO" sz="900" b="1" i="0">
                <a:solidFill>
                  <a:srgbClr val="FFB86C"/>
                </a:solidFill>
                <a:latin typeface="Courier New"/>
              </a:rPr>
              <a:t>await</a:t>
            </a:r>
          </a:p>
        </p:txBody>
      </p:sp>
      <p:sp>
        <p:nvSpPr>
          <p:cNvPr id="13" name="TextBox 12"/>
          <p:cNvSpPr txBox="1"/>
          <p:nvPr/>
        </p:nvSpPr>
        <p:spPr>
          <a:xfrm>
            <a:off x="5779008" y="2171700"/>
            <a:ext cx="2788920" cy="310896"/>
          </a:xfrm>
          <a:prstGeom prst="rect">
            <a:avLst/>
          </a:prstGeom>
          <a:noFill/>
        </p:spPr>
        <p:txBody>
          <a:bodyPr wrap="square" lIns="0" tIns="0" rIns="0" bIns="0" anchor="ctr">
            <a:spAutoFit/>
          </a:bodyPr>
          <a:lstStyle/>
          <a:p>
            <a:pPr algn="l">
              <a:lnSpc>
                <a:spcPts val="1050"/>
              </a:lnSpc>
            </a:pPr>
            <a:r>
              <a:rPr lang="es-CO" sz="900" b="0" i="0">
                <a:solidFill>
                  <a:srgbClr val="E8EEF6"/>
                </a:solidFill>
                <a:latin typeface="Calibri"/>
              </a:rPr>
              <a:t>Espera ese resultado sin bloquear la página.</a:t>
            </a:r>
          </a:p>
        </p:txBody>
      </p:sp>
      <p:sp>
        <p:nvSpPr>
          <p:cNvPr id="14" name="Rounded Rectangle 13"/>
          <p:cNvSpPr/>
          <p:nvPr/>
        </p:nvSpPr>
        <p:spPr>
          <a:xfrm>
            <a:off x="5669280" y="2596896"/>
            <a:ext cx="2971800" cy="603504"/>
          </a:xfrm>
          <a:prstGeom prst="roundRect">
            <a:avLst>
              <a:gd name="adj" fmla="val 12121"/>
            </a:avLst>
          </a:prstGeom>
          <a:solidFill>
            <a:srgbClr val="20160E"/>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779008" y="2642615"/>
            <a:ext cx="2743200" cy="201168"/>
          </a:xfrm>
          <a:prstGeom prst="rect">
            <a:avLst/>
          </a:prstGeom>
          <a:noFill/>
        </p:spPr>
        <p:txBody>
          <a:bodyPr wrap="square" lIns="0" tIns="0" rIns="0" bIns="0" anchor="ctr">
            <a:spAutoFit/>
          </a:bodyPr>
          <a:lstStyle/>
          <a:p>
            <a:pPr algn="l"/>
            <a:r>
              <a:rPr lang="es-CO" sz="900" b="1" i="0">
                <a:solidFill>
                  <a:srgbClr val="3DDC97"/>
                </a:solidFill>
                <a:latin typeface="Courier New"/>
              </a:rPr>
              <a:t>respuesta.ok</a:t>
            </a:r>
          </a:p>
        </p:txBody>
      </p:sp>
      <p:sp>
        <p:nvSpPr>
          <p:cNvPr id="16" name="TextBox 15"/>
          <p:cNvSpPr txBox="1"/>
          <p:nvPr/>
        </p:nvSpPr>
        <p:spPr>
          <a:xfrm>
            <a:off x="5779008" y="2862072"/>
            <a:ext cx="2788920" cy="310896"/>
          </a:xfrm>
          <a:prstGeom prst="rect">
            <a:avLst/>
          </a:prstGeom>
          <a:noFill/>
        </p:spPr>
        <p:txBody>
          <a:bodyPr wrap="square" lIns="0" tIns="0" rIns="0" bIns="0" anchor="ctr">
            <a:spAutoFit/>
          </a:bodyPr>
          <a:lstStyle/>
          <a:p>
            <a:pPr algn="l">
              <a:lnSpc>
                <a:spcPts val="1050"/>
              </a:lnSpc>
            </a:pPr>
            <a:r>
              <a:rPr lang="es-CO" sz="900" b="0" i="0">
                <a:solidFill>
                  <a:srgbClr val="E8EEF6"/>
                </a:solidFill>
                <a:latin typeface="Calibri"/>
              </a:rPr>
              <a:t>Vale true cuando el estado está entre 200 y 299.</a:t>
            </a:r>
          </a:p>
        </p:txBody>
      </p:sp>
      <p:sp>
        <p:nvSpPr>
          <p:cNvPr id="17" name="Rounded Rectangle 16"/>
          <p:cNvSpPr/>
          <p:nvPr/>
        </p:nvSpPr>
        <p:spPr>
          <a:xfrm>
            <a:off x="5669280" y="3287268"/>
            <a:ext cx="2971800" cy="603504"/>
          </a:xfrm>
          <a:prstGeom prst="roundRect">
            <a:avLst>
              <a:gd name="adj" fmla="val 12121"/>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779008" y="3332987"/>
            <a:ext cx="2743200" cy="201168"/>
          </a:xfrm>
          <a:prstGeom prst="rect">
            <a:avLst/>
          </a:prstGeom>
          <a:noFill/>
        </p:spPr>
        <p:txBody>
          <a:bodyPr wrap="square" lIns="0" tIns="0" rIns="0" bIns="0" anchor="ctr">
            <a:spAutoFit/>
          </a:bodyPr>
          <a:lstStyle/>
          <a:p>
            <a:pPr algn="l"/>
            <a:r>
              <a:rPr lang="es-CO" sz="900" b="1" i="0">
                <a:solidFill>
                  <a:srgbClr val="FFD479"/>
                </a:solidFill>
                <a:latin typeface="Courier New"/>
              </a:rPr>
              <a:t>respuesta.json()</a:t>
            </a:r>
          </a:p>
        </p:txBody>
      </p:sp>
      <p:sp>
        <p:nvSpPr>
          <p:cNvPr id="19" name="TextBox 18"/>
          <p:cNvSpPr txBox="1"/>
          <p:nvPr/>
        </p:nvSpPr>
        <p:spPr>
          <a:xfrm>
            <a:off x="5779008" y="3552444"/>
            <a:ext cx="2788920" cy="310896"/>
          </a:xfrm>
          <a:prstGeom prst="rect">
            <a:avLst/>
          </a:prstGeom>
          <a:noFill/>
        </p:spPr>
        <p:txBody>
          <a:bodyPr wrap="square" lIns="0" tIns="0" rIns="0" bIns="0" anchor="ctr">
            <a:spAutoFit/>
          </a:bodyPr>
          <a:lstStyle/>
          <a:p>
            <a:pPr algn="l">
              <a:lnSpc>
                <a:spcPts val="1050"/>
              </a:lnSpc>
            </a:pPr>
            <a:r>
              <a:rPr lang="es-CO" sz="900" b="0" i="0">
                <a:solidFill>
                  <a:srgbClr val="E8EEF6"/>
                </a:solidFill>
                <a:latin typeface="Calibri"/>
              </a:rPr>
              <a:t>Interpreta el cuerpo JSON recibido.</a:t>
            </a:r>
          </a:p>
        </p:txBody>
      </p:sp>
      <p:sp>
        <p:nvSpPr>
          <p:cNvPr id="20" name="Rounded Rectangle 19"/>
          <p:cNvSpPr/>
          <p:nvPr/>
        </p:nvSpPr>
        <p:spPr>
          <a:xfrm>
            <a:off x="502920" y="4078224"/>
            <a:ext cx="3995928" cy="512064"/>
          </a:xfrm>
          <a:prstGeom prst="roundRect">
            <a:avLst>
              <a:gd name="adj" fmla="val 14285"/>
            </a:avLst>
          </a:prstGeom>
          <a:solidFill>
            <a:srgbClr val="070C1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40080" y="4078224"/>
            <a:ext cx="3749039" cy="512064"/>
          </a:xfrm>
          <a:prstGeom prst="rect">
            <a:avLst/>
          </a:prstGeom>
          <a:noFill/>
        </p:spPr>
        <p:txBody>
          <a:bodyPr wrap="square" lIns="0" tIns="0" rIns="0" bIns="0" anchor="ctr">
            <a:spAutoFit/>
          </a:bodyPr>
          <a:lstStyle/>
          <a:p>
            <a:pPr algn="l">
              <a:lnSpc>
                <a:spcPts val="1200"/>
              </a:lnSpc>
            </a:pPr>
            <a:r>
              <a:rPr lang="es-CO" sz="900" b="1" i="0">
                <a:solidFill>
                  <a:srgbClr val="FFD479"/>
                </a:solidFill>
                <a:latin typeface="Courier New"/>
              </a:rPr>
              <a:t>JSON.stringify()</a:t>
            </a:r>
            <a:r>
              <a:rPr lang="es-CO" sz="850" b="0" i="0">
                <a:solidFill>
                  <a:srgbClr val="93A5BD"/>
                </a:solidFill>
                <a:latin typeface="Calibri"/>
              </a:rPr>
              <a:t>  servidor</a:t>
            </a:r>
          </a:p>
          <a:p>
            <a:pPr algn="l">
              <a:lnSpc>
                <a:spcPts val="1200"/>
              </a:lnSpc>
            </a:pPr>
            <a:r>
              <a:rPr lang="es-CO" sz="950" b="0" i="0">
                <a:solidFill>
                  <a:srgbClr val="E8EEF6"/>
                </a:solidFill>
                <a:latin typeface="Calibri"/>
              </a:rPr>
              <a:t>valor de JavaScript → texto JSON</a:t>
            </a:r>
          </a:p>
        </p:txBody>
      </p:sp>
      <p:sp>
        <p:nvSpPr>
          <p:cNvPr id="22" name="Rounded Rectangle 21"/>
          <p:cNvSpPr/>
          <p:nvPr/>
        </p:nvSpPr>
        <p:spPr>
          <a:xfrm>
            <a:off x="4645152" y="4078224"/>
            <a:ext cx="3995928" cy="512064"/>
          </a:xfrm>
          <a:prstGeom prst="roundRect">
            <a:avLst>
              <a:gd name="adj" fmla="val 14285"/>
            </a:avLst>
          </a:prstGeom>
          <a:solidFill>
            <a:srgbClr val="070C1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782312" y="4078224"/>
            <a:ext cx="3749039" cy="512064"/>
          </a:xfrm>
          <a:prstGeom prst="rect">
            <a:avLst/>
          </a:prstGeom>
          <a:noFill/>
        </p:spPr>
        <p:txBody>
          <a:bodyPr wrap="square" lIns="0" tIns="0" rIns="0" bIns="0" anchor="ctr">
            <a:spAutoFit/>
          </a:bodyPr>
          <a:lstStyle/>
          <a:p>
            <a:pPr algn="l">
              <a:lnSpc>
                <a:spcPts val="1200"/>
              </a:lnSpc>
            </a:pPr>
            <a:r>
              <a:rPr lang="es-CO" sz="900" b="1" i="0">
                <a:solidFill>
                  <a:srgbClr val="FFD479"/>
                </a:solidFill>
                <a:latin typeface="Courier New"/>
              </a:rPr>
              <a:t>respuesta.json()</a:t>
            </a:r>
            <a:r>
              <a:rPr lang="es-CO" sz="850" b="0" i="0">
                <a:solidFill>
                  <a:srgbClr val="93A5BD"/>
                </a:solidFill>
                <a:latin typeface="Calibri"/>
              </a:rPr>
              <a:t>  navegador</a:t>
            </a:r>
          </a:p>
          <a:p>
            <a:pPr algn="l">
              <a:lnSpc>
                <a:spcPts val="1200"/>
              </a:lnSpc>
            </a:pPr>
            <a:r>
              <a:rPr lang="es-CO" sz="950" b="0" i="0">
                <a:solidFill>
                  <a:srgbClr val="E8EEF6"/>
                </a:solidFill>
                <a:latin typeface="Calibri"/>
              </a:rPr>
              <a:t>texto JSON recibido → valor de JavaScript</a:t>
            </a:r>
          </a:p>
        </p:txBody>
      </p:sp>
      <p:sp>
        <p:nvSpPr>
          <p:cNvPr id="24" name="TextBox 23"/>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19 / 24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2139696" cy="22860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2139696" cy="228600"/>
          </a:xfrm>
          <a:prstGeom prst="rect">
            <a:avLst/>
          </a:prstGeom>
          <a:noFill/>
        </p:spPr>
        <p:txBody>
          <a:bodyPr wrap="square" lIns="0" tIns="0" rIns="0" bIns="0" anchor="ctr">
            <a:spAutoFit/>
          </a:bodyPr>
          <a:lstStyle/>
          <a:p>
            <a:pPr algn="ctr"/>
            <a:r>
              <a:rPr lang="es-CO" sz="850" b="1" i="0">
                <a:solidFill>
                  <a:srgbClr val="FF8A3D"/>
                </a:solidFill>
                <a:latin typeface="Arial"/>
              </a:rPr>
              <a:t>LABORATORIO 06 · PARTE B</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300" b="1" i="0">
                <a:solidFill>
                  <a:srgbClr val="FFFFFF"/>
                </a:solidFill>
                <a:latin typeface="Arial"/>
              </a:rPr>
              <a:t>Parte B · Los registros se presentan en la tabla</a:t>
            </a:r>
          </a:p>
        </p:txBody>
      </p:sp>
      <p:sp>
        <p:nvSpPr>
          <p:cNvPr id="5" name="Rounded Rectangle 4"/>
          <p:cNvSpPr/>
          <p:nvPr/>
        </p:nvSpPr>
        <p:spPr>
          <a:xfrm>
            <a:off x="502920" y="1216152"/>
            <a:ext cx="4937760" cy="3127248"/>
          </a:xfrm>
          <a:prstGeom prst="roundRect">
            <a:avLst>
              <a:gd name="adj" fmla="val 2339"/>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49224" y="1280160"/>
            <a:ext cx="4645152" cy="182880"/>
          </a:xfrm>
          <a:prstGeom prst="rect">
            <a:avLst/>
          </a:prstGeom>
          <a:noFill/>
        </p:spPr>
        <p:txBody>
          <a:bodyPr wrap="square" lIns="0" tIns="0" rIns="0" bIns="0" anchor="ctr">
            <a:spAutoFit/>
          </a:bodyPr>
          <a:lstStyle/>
          <a:p>
            <a:pPr algn="l"/>
            <a:r>
              <a:rPr lang="es-CO" sz="850" b="1" i="0">
                <a:solidFill>
                  <a:srgbClr val="FF8A3D"/>
                </a:solidFill>
                <a:latin typeface="Courier New"/>
              </a:rPr>
              <a:t>contactos.html · &lt;script&gt;</a:t>
            </a:r>
          </a:p>
        </p:txBody>
      </p:sp>
      <p:sp>
        <p:nvSpPr>
          <p:cNvPr id="7" name="TextBox 6"/>
          <p:cNvSpPr txBox="1"/>
          <p:nvPr/>
        </p:nvSpPr>
        <p:spPr>
          <a:xfrm>
            <a:off x="649224" y="1508760"/>
            <a:ext cx="4645152" cy="2788920"/>
          </a:xfrm>
          <a:prstGeom prst="rect">
            <a:avLst/>
          </a:prstGeom>
          <a:noFill/>
        </p:spPr>
        <p:txBody>
          <a:bodyPr wrap="square" lIns="0" tIns="0" rIns="0" bIns="0" anchor="t">
            <a:spAutoFit/>
          </a:bodyPr>
          <a:lstStyle/>
          <a:p>
            <a:pPr algn="l">
              <a:lnSpc>
                <a:spcPts val="1070"/>
              </a:lnSpc>
            </a:pPr>
            <a:r>
              <a:rPr lang="es-CO" sz="860" b="0" i="0">
                <a:solidFill>
                  <a:srgbClr val="FFB86C"/>
                </a:solidFill>
                <a:latin typeface="Courier New"/>
              </a:rPr>
              <a:t>function</a:t>
            </a:r>
            <a:r>
              <a:rPr lang="es-CO" sz="860" b="0" i="0">
                <a:solidFill>
                  <a:srgbClr val="D7E1EE"/>
                </a:solidFill>
                <a:latin typeface="Courier New"/>
              </a:rPr>
              <a:t> </a:t>
            </a:r>
            <a:r>
              <a:rPr lang="es-CO" sz="860" b="0" i="0">
                <a:solidFill>
                  <a:srgbClr val="56C7F2"/>
                </a:solidFill>
                <a:latin typeface="Courier New"/>
              </a:rPr>
              <a:t>mostrarContactos</a:t>
            </a:r>
            <a:r>
              <a:rPr lang="es-CO" sz="860" b="0" i="0">
                <a:solidFill>
                  <a:srgbClr val="93A5BD"/>
                </a:solidFill>
                <a:latin typeface="Courier New"/>
              </a:rPr>
              <a:t>(</a:t>
            </a:r>
            <a:r>
              <a:rPr lang="es-CO" sz="860" b="0" i="0">
                <a:solidFill>
                  <a:srgbClr val="D7E1EE"/>
                </a:solidFill>
                <a:latin typeface="Courier New"/>
              </a:rPr>
              <a:t>contactos</a:t>
            </a:r>
            <a:r>
              <a:rPr lang="es-CO" sz="860" b="0" i="0">
                <a:solidFill>
                  <a:srgbClr val="93A5BD"/>
                </a:solidFill>
                <a:latin typeface="Courier New"/>
              </a:rPr>
              <a:t>)</a:t>
            </a:r>
            <a:r>
              <a:rPr lang="es-CO" sz="860" b="0" i="0">
                <a:solidFill>
                  <a:srgbClr val="D7E1EE"/>
                </a:solidFill>
                <a:latin typeface="Courier New"/>
              </a:rPr>
              <a:t> </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FFB86C"/>
                </a:solidFill>
                <a:latin typeface="Courier New"/>
              </a:rPr>
              <a:t>if</a:t>
            </a:r>
            <a:r>
              <a:rPr lang="es-CO" sz="860" b="0" i="0">
                <a:solidFill>
                  <a:srgbClr val="D7E1EE"/>
                </a:solidFill>
                <a:latin typeface="Courier New"/>
              </a:rPr>
              <a:t> </a:t>
            </a:r>
            <a:r>
              <a:rPr lang="es-CO" sz="860" b="0" i="0">
                <a:solidFill>
                  <a:srgbClr val="93A5BD"/>
                </a:solidFill>
                <a:latin typeface="Courier New"/>
              </a:rPr>
              <a:t>(</a:t>
            </a:r>
            <a:r>
              <a:rPr lang="es-CO" sz="860" b="0" i="0">
                <a:solidFill>
                  <a:srgbClr val="D7E1EE"/>
                </a:solidFill>
                <a:latin typeface="Courier New"/>
              </a:rPr>
              <a:t>contactos</a:t>
            </a:r>
            <a:r>
              <a:rPr lang="es-CO" sz="860" b="0" i="0">
                <a:solidFill>
                  <a:srgbClr val="93A5BD"/>
                </a:solidFill>
                <a:latin typeface="Courier New"/>
              </a:rPr>
              <a:t>.</a:t>
            </a:r>
            <a:r>
              <a:rPr lang="es-CO" sz="860" b="0" i="0">
                <a:solidFill>
                  <a:srgbClr val="56C7F2"/>
                </a:solidFill>
                <a:latin typeface="Courier New"/>
              </a:rPr>
              <a:t>length</a:t>
            </a:r>
            <a:r>
              <a:rPr lang="es-CO" sz="860" b="0" i="0">
                <a:solidFill>
                  <a:srgbClr val="D7E1EE"/>
                </a:solidFill>
                <a:latin typeface="Courier New"/>
              </a:rPr>
              <a:t> </a:t>
            </a:r>
            <a:r>
              <a:rPr lang="es-CO" sz="860" b="0" i="0">
                <a:solidFill>
                  <a:srgbClr val="93A5BD"/>
                </a:solidFill>
                <a:latin typeface="Courier New"/>
              </a:rPr>
              <a:t>===</a:t>
            </a:r>
            <a:r>
              <a:rPr lang="es-CO" sz="860" b="0" i="0">
                <a:solidFill>
                  <a:srgbClr val="D7E1EE"/>
                </a:solidFill>
                <a:latin typeface="Courier New"/>
              </a:rPr>
              <a:t> </a:t>
            </a:r>
            <a:r>
              <a:rPr lang="es-CO" sz="860" b="0" i="0">
                <a:solidFill>
                  <a:srgbClr val="3DDC97"/>
                </a:solidFill>
                <a:latin typeface="Courier New"/>
              </a:rPr>
              <a:t>0</a:t>
            </a:r>
            <a:r>
              <a:rPr lang="es-CO" sz="860" b="0" i="0">
                <a:solidFill>
                  <a:srgbClr val="93A5BD"/>
                </a:solidFill>
                <a:latin typeface="Courier New"/>
              </a:rPr>
              <a:t>)</a:t>
            </a:r>
            <a:r>
              <a:rPr lang="es-CO" sz="860" b="0" i="0">
                <a:solidFill>
                  <a:srgbClr val="D7E1EE"/>
                </a:solidFill>
                <a:latin typeface="Courier New"/>
              </a:rPr>
              <a:t> </a:t>
            </a:r>
            <a:r>
              <a:rPr lang="es-CO" sz="860" b="0" i="0">
                <a:solidFill>
                  <a:srgbClr val="93A5BD"/>
                </a:solidFill>
                <a:latin typeface="Courier New"/>
              </a:rPr>
              <a:t>{</a:t>
            </a:r>
          </a:p>
          <a:p>
            <a:pPr algn="l">
              <a:lnSpc>
                <a:spcPts val="1070"/>
              </a:lnSpc>
            </a:pPr>
            <a:r>
              <a:rPr lang="es-CO" sz="860" b="0" i="0">
                <a:solidFill>
                  <a:srgbClr val="D7E1EE"/>
                </a:solidFill>
                <a:latin typeface="Courier New"/>
              </a:rPr>
              <a:t>        estado</a:t>
            </a:r>
            <a:r>
              <a:rPr lang="es-CO" sz="860" b="0" i="0">
                <a:solidFill>
                  <a:srgbClr val="93A5BD"/>
                </a:solidFill>
                <a:latin typeface="Courier New"/>
              </a:rPr>
              <a:t>.</a:t>
            </a:r>
            <a:r>
              <a:rPr lang="es-CO" sz="860" b="0" i="0">
                <a:solidFill>
                  <a:srgbClr val="56C7F2"/>
                </a:solidFill>
                <a:latin typeface="Courier New"/>
              </a:rPr>
              <a:t>textContent</a:t>
            </a:r>
            <a:r>
              <a:rPr lang="es-CO" sz="860" b="0" i="0">
                <a:solidFill>
                  <a:srgbClr val="D7E1EE"/>
                </a:solidFill>
                <a:latin typeface="Courier New"/>
              </a:rPr>
              <a:t> </a:t>
            </a:r>
            <a:r>
              <a:rPr lang="es-CO" sz="860" b="0" i="0">
                <a:solidFill>
                  <a:srgbClr val="93A5BD"/>
                </a:solidFill>
                <a:latin typeface="Courier New"/>
              </a:rPr>
              <a:t>=</a:t>
            </a:r>
            <a:r>
              <a:rPr lang="es-CO" sz="860" b="0" i="0">
                <a:solidFill>
                  <a:srgbClr val="D7E1EE"/>
                </a:solidFill>
                <a:latin typeface="Courier New"/>
              </a:rPr>
              <a:t> </a:t>
            </a:r>
            <a:r>
              <a:rPr lang="es-CO" sz="860" b="0" i="0">
                <a:solidFill>
                  <a:srgbClr val="FFD479"/>
                </a:solidFill>
                <a:latin typeface="Courier New"/>
              </a:rPr>
              <a:t>'No hay contactos registrados.'</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FFB86C"/>
                </a:solidFill>
                <a:latin typeface="Courier New"/>
              </a:rPr>
              <a:t>return</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FFB86C"/>
                </a:solidFill>
                <a:latin typeface="Courier New"/>
              </a:rPr>
              <a:t>for</a:t>
            </a:r>
            <a:r>
              <a:rPr lang="es-CO" sz="860" b="0" i="0">
                <a:solidFill>
                  <a:srgbClr val="D7E1EE"/>
                </a:solidFill>
                <a:latin typeface="Courier New"/>
              </a:rPr>
              <a:t> </a:t>
            </a:r>
            <a:r>
              <a:rPr lang="es-CO" sz="860" b="0" i="0">
                <a:solidFill>
                  <a:srgbClr val="93A5BD"/>
                </a:solidFill>
                <a:latin typeface="Courier New"/>
              </a:rPr>
              <a:t>(</a:t>
            </a:r>
            <a:r>
              <a:rPr lang="es-CO" sz="860" b="0" i="0">
                <a:solidFill>
                  <a:srgbClr val="FFB86C"/>
                </a:solidFill>
                <a:latin typeface="Courier New"/>
              </a:rPr>
              <a:t>const</a:t>
            </a:r>
            <a:r>
              <a:rPr lang="es-CO" sz="860" b="0" i="0">
                <a:solidFill>
                  <a:srgbClr val="D7E1EE"/>
                </a:solidFill>
                <a:latin typeface="Courier New"/>
              </a:rPr>
              <a:t> contacto </a:t>
            </a:r>
            <a:r>
              <a:rPr lang="es-CO" sz="860" b="0" i="0">
                <a:solidFill>
                  <a:srgbClr val="FFB86C"/>
                </a:solidFill>
                <a:latin typeface="Courier New"/>
              </a:rPr>
              <a:t>of</a:t>
            </a:r>
            <a:r>
              <a:rPr lang="es-CO" sz="860" b="0" i="0">
                <a:solidFill>
                  <a:srgbClr val="D7E1EE"/>
                </a:solidFill>
                <a:latin typeface="Courier New"/>
              </a:rPr>
              <a:t> contactos</a:t>
            </a:r>
            <a:r>
              <a:rPr lang="es-CO" sz="860" b="0" i="0">
                <a:solidFill>
                  <a:srgbClr val="93A5BD"/>
                </a:solidFill>
                <a:latin typeface="Courier New"/>
              </a:rPr>
              <a:t>)</a:t>
            </a:r>
            <a:r>
              <a:rPr lang="es-CO" sz="860" b="0" i="0">
                <a:solidFill>
                  <a:srgbClr val="D7E1EE"/>
                </a:solidFill>
                <a:latin typeface="Courier New"/>
              </a:rPr>
              <a:t> </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FFB86C"/>
                </a:solidFill>
                <a:latin typeface="Courier New"/>
              </a:rPr>
              <a:t>const</a:t>
            </a:r>
            <a:r>
              <a:rPr lang="es-CO" sz="860" b="0" i="0">
                <a:solidFill>
                  <a:srgbClr val="D7E1EE"/>
                </a:solidFill>
                <a:latin typeface="Courier New"/>
              </a:rPr>
              <a:t> fila </a:t>
            </a:r>
            <a:r>
              <a:rPr lang="es-CO" sz="860" b="0" i="0">
                <a:solidFill>
                  <a:srgbClr val="93A5BD"/>
                </a:solidFill>
                <a:latin typeface="Courier New"/>
              </a:rPr>
              <a:t>=</a:t>
            </a:r>
            <a:r>
              <a:rPr lang="es-CO" sz="860" b="0" i="0">
                <a:solidFill>
                  <a:srgbClr val="D7E1EE"/>
                </a:solidFill>
                <a:latin typeface="Courier New"/>
              </a:rPr>
              <a:t> document</a:t>
            </a:r>
            <a:r>
              <a:rPr lang="es-CO" sz="860" b="0" i="0">
                <a:solidFill>
                  <a:srgbClr val="93A5BD"/>
                </a:solidFill>
                <a:latin typeface="Courier New"/>
              </a:rPr>
              <a:t>.</a:t>
            </a:r>
            <a:r>
              <a:rPr lang="es-CO" sz="860" b="0" i="0">
                <a:solidFill>
                  <a:srgbClr val="56C7F2"/>
                </a:solidFill>
                <a:latin typeface="Courier New"/>
              </a:rPr>
              <a:t>createElement</a:t>
            </a:r>
            <a:r>
              <a:rPr lang="es-CO" sz="860" b="0" i="0">
                <a:solidFill>
                  <a:srgbClr val="93A5BD"/>
                </a:solidFill>
                <a:latin typeface="Courier New"/>
              </a:rPr>
              <a:t>(</a:t>
            </a:r>
            <a:r>
              <a:rPr lang="es-CO" sz="860" b="0" i="0">
                <a:solidFill>
                  <a:srgbClr val="FFD479"/>
                </a:solidFill>
                <a:latin typeface="Courier New"/>
              </a:rPr>
              <a:t>'tr'</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56C7F2"/>
                </a:solidFill>
                <a:latin typeface="Courier New"/>
              </a:rPr>
              <a:t>agregarCelda</a:t>
            </a:r>
            <a:r>
              <a:rPr lang="es-CO" sz="860" b="0" i="0">
                <a:solidFill>
                  <a:srgbClr val="93A5BD"/>
                </a:solidFill>
                <a:latin typeface="Courier New"/>
              </a:rPr>
              <a:t>(</a:t>
            </a:r>
            <a:r>
              <a:rPr lang="es-CO" sz="860" b="0" i="0">
                <a:solidFill>
                  <a:srgbClr val="D7E1EE"/>
                </a:solidFill>
                <a:latin typeface="Courier New"/>
              </a:rPr>
              <a:t>fila</a:t>
            </a:r>
            <a:r>
              <a:rPr lang="es-CO" sz="860" b="0" i="0">
                <a:solidFill>
                  <a:srgbClr val="93A5BD"/>
                </a:solidFill>
                <a:latin typeface="Courier New"/>
              </a:rPr>
              <a:t>,</a:t>
            </a:r>
            <a:r>
              <a:rPr lang="es-CO" sz="860" b="0" i="0">
                <a:solidFill>
                  <a:srgbClr val="D7E1EE"/>
                </a:solidFill>
                <a:latin typeface="Courier New"/>
              </a:rPr>
              <a:t> contacto</a:t>
            </a:r>
            <a:r>
              <a:rPr lang="es-CO" sz="860" b="0" i="0">
                <a:solidFill>
                  <a:srgbClr val="93A5BD"/>
                </a:solidFill>
                <a:latin typeface="Courier New"/>
              </a:rPr>
              <a:t>.</a:t>
            </a:r>
            <a:r>
              <a:rPr lang="es-CO" sz="860" b="0" i="0">
                <a:solidFill>
                  <a:srgbClr val="56C7F2"/>
                </a:solidFill>
                <a:latin typeface="Courier New"/>
              </a:rPr>
              <a:t>id</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56C7F2"/>
                </a:solidFill>
                <a:latin typeface="Courier New"/>
              </a:rPr>
              <a:t>agregarCelda</a:t>
            </a:r>
            <a:r>
              <a:rPr lang="es-CO" sz="860" b="0" i="0">
                <a:solidFill>
                  <a:srgbClr val="93A5BD"/>
                </a:solidFill>
                <a:latin typeface="Courier New"/>
              </a:rPr>
              <a:t>(</a:t>
            </a:r>
            <a:r>
              <a:rPr lang="es-CO" sz="860" b="0" i="0">
                <a:solidFill>
                  <a:srgbClr val="D7E1EE"/>
                </a:solidFill>
                <a:latin typeface="Courier New"/>
              </a:rPr>
              <a:t>fila</a:t>
            </a:r>
            <a:r>
              <a:rPr lang="es-CO" sz="860" b="0" i="0">
                <a:solidFill>
                  <a:srgbClr val="93A5BD"/>
                </a:solidFill>
                <a:latin typeface="Courier New"/>
              </a:rPr>
              <a:t>,</a:t>
            </a:r>
            <a:r>
              <a:rPr lang="es-CO" sz="860" b="0" i="0">
                <a:solidFill>
                  <a:srgbClr val="D7E1EE"/>
                </a:solidFill>
                <a:latin typeface="Courier New"/>
              </a:rPr>
              <a:t> contacto</a:t>
            </a:r>
            <a:r>
              <a:rPr lang="es-CO" sz="860" b="0" i="0">
                <a:solidFill>
                  <a:srgbClr val="93A5BD"/>
                </a:solidFill>
                <a:latin typeface="Courier New"/>
              </a:rPr>
              <a:t>.</a:t>
            </a:r>
            <a:r>
              <a:rPr lang="es-CO" sz="860" b="0" i="0">
                <a:solidFill>
                  <a:srgbClr val="56C7F2"/>
                </a:solidFill>
                <a:latin typeface="Courier New"/>
              </a:rPr>
              <a:t>nombre</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56C7F2"/>
                </a:solidFill>
                <a:latin typeface="Courier New"/>
              </a:rPr>
              <a:t>agregarCelda</a:t>
            </a:r>
            <a:r>
              <a:rPr lang="es-CO" sz="860" b="0" i="0">
                <a:solidFill>
                  <a:srgbClr val="93A5BD"/>
                </a:solidFill>
                <a:latin typeface="Courier New"/>
              </a:rPr>
              <a:t>(</a:t>
            </a:r>
            <a:r>
              <a:rPr lang="es-CO" sz="860" b="0" i="0">
                <a:solidFill>
                  <a:srgbClr val="D7E1EE"/>
                </a:solidFill>
                <a:latin typeface="Courier New"/>
              </a:rPr>
              <a:t>fila</a:t>
            </a:r>
            <a:r>
              <a:rPr lang="es-CO" sz="860" b="0" i="0">
                <a:solidFill>
                  <a:srgbClr val="93A5BD"/>
                </a:solidFill>
                <a:latin typeface="Courier New"/>
              </a:rPr>
              <a:t>,</a:t>
            </a:r>
            <a:r>
              <a:rPr lang="es-CO" sz="860" b="0" i="0">
                <a:solidFill>
                  <a:srgbClr val="D7E1EE"/>
                </a:solidFill>
                <a:latin typeface="Courier New"/>
              </a:rPr>
              <a:t> contacto</a:t>
            </a:r>
            <a:r>
              <a:rPr lang="es-CO" sz="860" b="0" i="0">
                <a:solidFill>
                  <a:srgbClr val="93A5BD"/>
                </a:solidFill>
                <a:latin typeface="Courier New"/>
              </a:rPr>
              <a:t>.</a:t>
            </a:r>
            <a:r>
              <a:rPr lang="es-CO" sz="860" b="0" i="0">
                <a:solidFill>
                  <a:srgbClr val="56C7F2"/>
                </a:solidFill>
                <a:latin typeface="Courier New"/>
              </a:rPr>
              <a:t>correo</a:t>
            </a:r>
            <a:r>
              <a:rPr lang="es-CO" sz="860" b="0" i="0">
                <a:solidFill>
                  <a:srgbClr val="93A5BD"/>
                </a:solidFill>
                <a:latin typeface="Courier New"/>
              </a:rPr>
              <a:t>);</a:t>
            </a:r>
          </a:p>
          <a:p>
            <a:pPr algn="l">
              <a:lnSpc>
                <a:spcPts val="1070"/>
              </a:lnSpc>
            </a:pPr>
            <a:r>
              <a:rPr lang="es-CO" sz="860" b="0" i="0">
                <a:solidFill>
                  <a:srgbClr val="D7E1EE"/>
                </a:solidFill>
                <a:latin typeface="Courier New"/>
              </a:rPr>
              <a:t>        cuerpoTabla</a:t>
            </a:r>
            <a:r>
              <a:rPr lang="es-CO" sz="860" b="0" i="0">
                <a:solidFill>
                  <a:srgbClr val="93A5BD"/>
                </a:solidFill>
                <a:latin typeface="Courier New"/>
              </a:rPr>
              <a:t>.</a:t>
            </a:r>
            <a:r>
              <a:rPr lang="es-CO" sz="860" b="0" i="0">
                <a:solidFill>
                  <a:srgbClr val="56C7F2"/>
                </a:solidFill>
                <a:latin typeface="Courier New"/>
              </a:rPr>
              <a:t>appendChild</a:t>
            </a:r>
            <a:r>
              <a:rPr lang="es-CO" sz="860" b="0" i="0">
                <a:solidFill>
                  <a:srgbClr val="93A5BD"/>
                </a:solidFill>
                <a:latin typeface="Courier New"/>
              </a:rPr>
              <a:t>(</a:t>
            </a:r>
            <a:r>
              <a:rPr lang="es-CO" sz="860" b="0" i="0">
                <a:solidFill>
                  <a:srgbClr val="D7E1EE"/>
                </a:solidFill>
                <a:latin typeface="Courier New"/>
              </a:rPr>
              <a:t>fila</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93A5BD"/>
                </a:solidFill>
                <a:latin typeface="Courier New"/>
              </a:rPr>
              <a:t>}</a:t>
            </a:r>
          </a:p>
          <a:p>
            <a:pPr algn="l">
              <a:lnSpc>
                <a:spcPts val="1070"/>
              </a:lnSpc>
            </a:pPr>
            <a:r>
              <a:rPr lang="es-CO" sz="860" b="0" i="0">
                <a:solidFill>
                  <a:srgbClr val="D7E1EE"/>
                </a:solidFill>
                <a:latin typeface="Courier New"/>
              </a:rPr>
              <a:t>    estado</a:t>
            </a:r>
            <a:r>
              <a:rPr lang="es-CO" sz="860" b="0" i="0">
                <a:solidFill>
                  <a:srgbClr val="93A5BD"/>
                </a:solidFill>
                <a:latin typeface="Courier New"/>
              </a:rPr>
              <a:t>.</a:t>
            </a:r>
            <a:r>
              <a:rPr lang="es-CO" sz="860" b="0" i="0">
                <a:solidFill>
                  <a:srgbClr val="56C7F2"/>
                </a:solidFill>
                <a:latin typeface="Courier New"/>
              </a:rPr>
              <a:t>textContent</a:t>
            </a:r>
            <a:r>
              <a:rPr lang="es-CO" sz="860" b="0" i="0">
                <a:solidFill>
                  <a:srgbClr val="D7E1EE"/>
                </a:solidFill>
                <a:latin typeface="Courier New"/>
              </a:rPr>
              <a:t> </a:t>
            </a:r>
            <a:r>
              <a:rPr lang="es-CO" sz="860" b="0" i="0">
                <a:solidFill>
                  <a:srgbClr val="93A5BD"/>
                </a:solidFill>
                <a:latin typeface="Courier New"/>
              </a:rPr>
              <a:t>=</a:t>
            </a:r>
            <a:r>
              <a:rPr lang="es-CO" sz="860" b="0" i="0">
                <a:solidFill>
                  <a:srgbClr val="D7E1EE"/>
                </a:solidFill>
                <a:latin typeface="Courier New"/>
              </a:rPr>
              <a:t> </a:t>
            </a:r>
            <a:r>
              <a:rPr lang="es-CO" sz="860" b="0" i="0">
                <a:solidFill>
                  <a:srgbClr val="FFD479"/>
                </a:solidFill>
                <a:latin typeface="Courier New"/>
              </a:rPr>
              <a:t>''</a:t>
            </a:r>
            <a:r>
              <a:rPr lang="es-CO" sz="860" b="0" i="0">
                <a:solidFill>
                  <a:srgbClr val="93A5BD"/>
                </a:solidFill>
                <a:latin typeface="Courier New"/>
              </a:rPr>
              <a:t>;</a:t>
            </a:r>
          </a:p>
          <a:p>
            <a:pPr algn="l">
              <a:lnSpc>
                <a:spcPts val="1070"/>
              </a:lnSpc>
            </a:pPr>
            <a:r>
              <a:rPr lang="es-CO" sz="860" b="0" i="0">
                <a:solidFill>
                  <a:srgbClr val="93A5BD"/>
                </a:solidFill>
                <a:latin typeface="Courier New"/>
              </a:rPr>
              <a:t>}</a:t>
            </a:r>
          </a:p>
          <a:p>
            <a:pPr algn="l">
              <a:lnSpc>
                <a:spcPts val="1070"/>
              </a:lnSpc>
            </a:pPr>
            <a:endParaRPr lang="es-CO" sz="860" b="0" i="0">
              <a:solidFill>
                <a:srgbClr val="93A5BD"/>
              </a:solidFill>
              <a:latin typeface="Courier New"/>
            </a:endParaRPr>
          </a:p>
          <a:p>
            <a:pPr algn="l">
              <a:lnSpc>
                <a:spcPts val="1070"/>
              </a:lnSpc>
            </a:pPr>
            <a:r>
              <a:rPr lang="es-CO" sz="860" b="0" i="0">
                <a:solidFill>
                  <a:srgbClr val="FFB86C"/>
                </a:solidFill>
                <a:latin typeface="Courier New"/>
              </a:rPr>
              <a:t>function</a:t>
            </a:r>
            <a:r>
              <a:rPr lang="es-CO" sz="860" b="0" i="0">
                <a:solidFill>
                  <a:srgbClr val="D7E1EE"/>
                </a:solidFill>
                <a:latin typeface="Courier New"/>
              </a:rPr>
              <a:t> </a:t>
            </a:r>
            <a:r>
              <a:rPr lang="es-CO" sz="860" b="0" i="0">
                <a:solidFill>
                  <a:srgbClr val="56C7F2"/>
                </a:solidFill>
                <a:latin typeface="Courier New"/>
              </a:rPr>
              <a:t>agregarCelda</a:t>
            </a:r>
            <a:r>
              <a:rPr lang="es-CO" sz="860" b="0" i="0">
                <a:solidFill>
                  <a:srgbClr val="93A5BD"/>
                </a:solidFill>
                <a:latin typeface="Courier New"/>
              </a:rPr>
              <a:t>(</a:t>
            </a:r>
            <a:r>
              <a:rPr lang="es-CO" sz="860" b="0" i="0">
                <a:solidFill>
                  <a:srgbClr val="D7E1EE"/>
                </a:solidFill>
                <a:latin typeface="Courier New"/>
              </a:rPr>
              <a:t>fila</a:t>
            </a:r>
            <a:r>
              <a:rPr lang="es-CO" sz="860" b="0" i="0">
                <a:solidFill>
                  <a:srgbClr val="93A5BD"/>
                </a:solidFill>
                <a:latin typeface="Courier New"/>
              </a:rPr>
              <a:t>,</a:t>
            </a:r>
            <a:r>
              <a:rPr lang="es-CO" sz="860" b="0" i="0">
                <a:solidFill>
                  <a:srgbClr val="D7E1EE"/>
                </a:solidFill>
                <a:latin typeface="Courier New"/>
              </a:rPr>
              <a:t> valor</a:t>
            </a:r>
            <a:r>
              <a:rPr lang="es-CO" sz="860" b="0" i="0">
                <a:solidFill>
                  <a:srgbClr val="93A5BD"/>
                </a:solidFill>
                <a:latin typeface="Courier New"/>
              </a:rPr>
              <a:t>)</a:t>
            </a:r>
            <a:r>
              <a:rPr lang="es-CO" sz="860" b="0" i="0">
                <a:solidFill>
                  <a:srgbClr val="D7E1EE"/>
                </a:solidFill>
                <a:latin typeface="Courier New"/>
              </a:rPr>
              <a:t> </a:t>
            </a:r>
            <a:r>
              <a:rPr lang="es-CO" sz="860" b="0" i="0">
                <a:solidFill>
                  <a:srgbClr val="93A5BD"/>
                </a:solidFill>
                <a:latin typeface="Courier New"/>
              </a:rPr>
              <a:t>{</a:t>
            </a:r>
          </a:p>
          <a:p>
            <a:pPr algn="l">
              <a:lnSpc>
                <a:spcPts val="1070"/>
              </a:lnSpc>
            </a:pPr>
            <a:r>
              <a:rPr lang="es-CO" sz="860" b="0" i="0">
                <a:solidFill>
                  <a:srgbClr val="D7E1EE"/>
                </a:solidFill>
                <a:latin typeface="Courier New"/>
              </a:rPr>
              <a:t>    </a:t>
            </a:r>
            <a:r>
              <a:rPr lang="es-CO" sz="860" b="0" i="0">
                <a:solidFill>
                  <a:srgbClr val="FFB86C"/>
                </a:solidFill>
                <a:latin typeface="Courier New"/>
              </a:rPr>
              <a:t>const</a:t>
            </a:r>
            <a:r>
              <a:rPr lang="es-CO" sz="860" b="0" i="0">
                <a:solidFill>
                  <a:srgbClr val="D7E1EE"/>
                </a:solidFill>
                <a:latin typeface="Courier New"/>
              </a:rPr>
              <a:t> celda </a:t>
            </a:r>
            <a:r>
              <a:rPr lang="es-CO" sz="860" b="0" i="0">
                <a:solidFill>
                  <a:srgbClr val="93A5BD"/>
                </a:solidFill>
                <a:latin typeface="Courier New"/>
              </a:rPr>
              <a:t>=</a:t>
            </a:r>
            <a:r>
              <a:rPr lang="es-CO" sz="860" b="0" i="0">
                <a:solidFill>
                  <a:srgbClr val="D7E1EE"/>
                </a:solidFill>
                <a:latin typeface="Courier New"/>
              </a:rPr>
              <a:t> document</a:t>
            </a:r>
            <a:r>
              <a:rPr lang="es-CO" sz="860" b="0" i="0">
                <a:solidFill>
                  <a:srgbClr val="93A5BD"/>
                </a:solidFill>
                <a:latin typeface="Courier New"/>
              </a:rPr>
              <a:t>.</a:t>
            </a:r>
            <a:r>
              <a:rPr lang="es-CO" sz="860" b="0" i="0">
                <a:solidFill>
                  <a:srgbClr val="56C7F2"/>
                </a:solidFill>
                <a:latin typeface="Courier New"/>
              </a:rPr>
              <a:t>createElement</a:t>
            </a:r>
            <a:r>
              <a:rPr lang="es-CO" sz="860" b="0" i="0">
                <a:solidFill>
                  <a:srgbClr val="93A5BD"/>
                </a:solidFill>
                <a:latin typeface="Courier New"/>
              </a:rPr>
              <a:t>(</a:t>
            </a:r>
            <a:r>
              <a:rPr lang="es-CO" sz="860" b="0" i="0">
                <a:solidFill>
                  <a:srgbClr val="FFD479"/>
                </a:solidFill>
                <a:latin typeface="Courier New"/>
              </a:rPr>
              <a:t>'td'</a:t>
            </a:r>
            <a:r>
              <a:rPr lang="es-CO" sz="860" b="0" i="0">
                <a:solidFill>
                  <a:srgbClr val="93A5BD"/>
                </a:solidFill>
                <a:latin typeface="Courier New"/>
              </a:rPr>
              <a:t>);</a:t>
            </a:r>
          </a:p>
          <a:p>
            <a:pPr algn="l">
              <a:lnSpc>
                <a:spcPts val="1070"/>
              </a:lnSpc>
            </a:pPr>
            <a:r>
              <a:rPr lang="es-CO" sz="860" b="0" i="0">
                <a:solidFill>
                  <a:srgbClr val="D7E1EE"/>
                </a:solidFill>
                <a:latin typeface="Courier New"/>
              </a:rPr>
              <a:t>    celda</a:t>
            </a:r>
            <a:r>
              <a:rPr lang="es-CO" sz="860" b="0" i="0">
                <a:solidFill>
                  <a:srgbClr val="93A5BD"/>
                </a:solidFill>
                <a:latin typeface="Courier New"/>
              </a:rPr>
              <a:t>.</a:t>
            </a:r>
            <a:r>
              <a:rPr lang="es-CO" sz="860" b="0" i="0">
                <a:solidFill>
                  <a:srgbClr val="56C7F2"/>
                </a:solidFill>
                <a:latin typeface="Courier New"/>
              </a:rPr>
              <a:t>textContent</a:t>
            </a:r>
            <a:r>
              <a:rPr lang="es-CO" sz="860" b="0" i="0">
                <a:solidFill>
                  <a:srgbClr val="D7E1EE"/>
                </a:solidFill>
                <a:latin typeface="Courier New"/>
              </a:rPr>
              <a:t> </a:t>
            </a:r>
            <a:r>
              <a:rPr lang="es-CO" sz="860" b="0" i="0">
                <a:solidFill>
                  <a:srgbClr val="93A5BD"/>
                </a:solidFill>
                <a:latin typeface="Courier New"/>
              </a:rPr>
              <a:t>=</a:t>
            </a:r>
            <a:r>
              <a:rPr lang="es-CO" sz="860" b="0" i="0">
                <a:solidFill>
                  <a:srgbClr val="D7E1EE"/>
                </a:solidFill>
                <a:latin typeface="Courier New"/>
              </a:rPr>
              <a:t> valor</a:t>
            </a:r>
            <a:r>
              <a:rPr lang="es-CO" sz="860" b="0" i="0">
                <a:solidFill>
                  <a:srgbClr val="93A5BD"/>
                </a:solidFill>
                <a:latin typeface="Courier New"/>
              </a:rPr>
              <a:t>;</a:t>
            </a:r>
          </a:p>
          <a:p>
            <a:pPr algn="l">
              <a:lnSpc>
                <a:spcPts val="1070"/>
              </a:lnSpc>
            </a:pPr>
            <a:r>
              <a:rPr lang="es-CO" sz="860" b="0" i="0">
                <a:solidFill>
                  <a:srgbClr val="D7E1EE"/>
                </a:solidFill>
                <a:latin typeface="Courier New"/>
              </a:rPr>
              <a:t>    fila</a:t>
            </a:r>
            <a:r>
              <a:rPr lang="es-CO" sz="860" b="0" i="0">
                <a:solidFill>
                  <a:srgbClr val="93A5BD"/>
                </a:solidFill>
                <a:latin typeface="Courier New"/>
              </a:rPr>
              <a:t>.</a:t>
            </a:r>
            <a:r>
              <a:rPr lang="es-CO" sz="860" b="0" i="0">
                <a:solidFill>
                  <a:srgbClr val="56C7F2"/>
                </a:solidFill>
                <a:latin typeface="Courier New"/>
              </a:rPr>
              <a:t>appendChild</a:t>
            </a:r>
            <a:r>
              <a:rPr lang="es-CO" sz="860" b="0" i="0">
                <a:solidFill>
                  <a:srgbClr val="93A5BD"/>
                </a:solidFill>
                <a:latin typeface="Courier New"/>
              </a:rPr>
              <a:t>(</a:t>
            </a:r>
            <a:r>
              <a:rPr lang="es-CO" sz="860" b="0" i="0">
                <a:solidFill>
                  <a:srgbClr val="D7E1EE"/>
                </a:solidFill>
                <a:latin typeface="Courier New"/>
              </a:rPr>
              <a:t>celda</a:t>
            </a:r>
            <a:r>
              <a:rPr lang="es-CO" sz="860" b="0" i="0">
                <a:solidFill>
                  <a:srgbClr val="93A5BD"/>
                </a:solidFill>
                <a:latin typeface="Courier New"/>
              </a:rPr>
              <a:t>);</a:t>
            </a:r>
          </a:p>
          <a:p>
            <a:pPr algn="l">
              <a:lnSpc>
                <a:spcPts val="1070"/>
              </a:lnSpc>
            </a:pPr>
            <a:r>
              <a:rPr lang="es-CO" sz="860" b="0" i="0">
                <a:solidFill>
                  <a:srgbClr val="93A5BD"/>
                </a:solidFill>
                <a:latin typeface="Courier New"/>
              </a:rPr>
              <a:t>}</a:t>
            </a:r>
          </a:p>
        </p:txBody>
      </p:sp>
      <p:sp>
        <p:nvSpPr>
          <p:cNvPr id="8" name="Rounded Rectangle 7"/>
          <p:cNvSpPr/>
          <p:nvPr/>
        </p:nvSpPr>
        <p:spPr>
          <a:xfrm>
            <a:off x="5577840" y="1216152"/>
            <a:ext cx="2015337" cy="18288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577840" y="1216152"/>
            <a:ext cx="2015337" cy="182880"/>
          </a:xfrm>
          <a:prstGeom prst="rect">
            <a:avLst/>
          </a:prstGeom>
          <a:noFill/>
        </p:spPr>
        <p:txBody>
          <a:bodyPr wrap="square" lIns="0" tIns="0" rIns="0" bIns="0" anchor="ctr">
            <a:spAutoFit/>
          </a:bodyPr>
          <a:lstStyle/>
          <a:p>
            <a:pPr algn="ctr"/>
            <a:r>
              <a:rPr lang="es-CO" sz="700" b="1" i="0">
                <a:solidFill>
                  <a:srgbClr val="FF8A3D"/>
                </a:solidFill>
                <a:latin typeface="Arial"/>
              </a:rPr>
              <a:t>RESULTADO DE LA DEMOSTRACIÓN</a:t>
            </a:r>
          </a:p>
        </p:txBody>
      </p:sp>
      <p:sp>
        <p:nvSpPr>
          <p:cNvPr id="10" name="Rectangle 9"/>
          <p:cNvSpPr/>
          <p:nvPr/>
        </p:nvSpPr>
        <p:spPr>
          <a:xfrm>
            <a:off x="5577840" y="1463040"/>
            <a:ext cx="3063240" cy="274320"/>
          </a:xfrm>
          <a:prstGeom prst="rect">
            <a:avLst/>
          </a:prstGeom>
          <a:solidFill>
            <a:srgbClr val="13233A"/>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669279" y="1463040"/>
            <a:ext cx="265176" cy="274320"/>
          </a:xfrm>
          <a:prstGeom prst="rect">
            <a:avLst/>
          </a:prstGeom>
          <a:noFill/>
        </p:spPr>
        <p:txBody>
          <a:bodyPr wrap="square" lIns="0" tIns="0" rIns="0" bIns="0" anchor="ctr">
            <a:spAutoFit/>
          </a:bodyPr>
          <a:lstStyle/>
          <a:p>
            <a:pPr algn="l"/>
            <a:r>
              <a:rPr lang="es-CO" sz="900" b="1" i="0">
                <a:solidFill>
                  <a:srgbClr val="FF8A3D"/>
                </a:solidFill>
                <a:latin typeface="Arial"/>
              </a:rPr>
              <a:t>id</a:t>
            </a:r>
          </a:p>
        </p:txBody>
      </p:sp>
      <p:sp>
        <p:nvSpPr>
          <p:cNvPr id="12" name="TextBox 11"/>
          <p:cNvSpPr txBox="1"/>
          <p:nvPr/>
        </p:nvSpPr>
        <p:spPr>
          <a:xfrm>
            <a:off x="6080759" y="1463040"/>
            <a:ext cx="722375" cy="274320"/>
          </a:xfrm>
          <a:prstGeom prst="rect">
            <a:avLst/>
          </a:prstGeom>
          <a:noFill/>
        </p:spPr>
        <p:txBody>
          <a:bodyPr wrap="square" lIns="0" tIns="0" rIns="0" bIns="0" anchor="ctr">
            <a:spAutoFit/>
          </a:bodyPr>
          <a:lstStyle/>
          <a:p>
            <a:pPr algn="l"/>
            <a:r>
              <a:rPr lang="es-CO" sz="900" b="1" i="0">
                <a:solidFill>
                  <a:srgbClr val="FF8A3D"/>
                </a:solidFill>
                <a:latin typeface="Arial"/>
              </a:rPr>
              <a:t>nombre</a:t>
            </a:r>
          </a:p>
        </p:txBody>
      </p:sp>
      <p:sp>
        <p:nvSpPr>
          <p:cNvPr id="13" name="TextBox 12"/>
          <p:cNvSpPr txBox="1"/>
          <p:nvPr/>
        </p:nvSpPr>
        <p:spPr>
          <a:xfrm>
            <a:off x="6949440" y="1463040"/>
            <a:ext cx="1636776" cy="274320"/>
          </a:xfrm>
          <a:prstGeom prst="rect">
            <a:avLst/>
          </a:prstGeom>
          <a:noFill/>
        </p:spPr>
        <p:txBody>
          <a:bodyPr wrap="square" lIns="0" tIns="0" rIns="0" bIns="0" anchor="ctr">
            <a:spAutoFit/>
          </a:bodyPr>
          <a:lstStyle/>
          <a:p>
            <a:pPr algn="l"/>
            <a:r>
              <a:rPr lang="es-CO" sz="900" b="1" i="0">
                <a:solidFill>
                  <a:srgbClr val="FF8A3D"/>
                </a:solidFill>
                <a:latin typeface="Arial"/>
              </a:rPr>
              <a:t>correo</a:t>
            </a:r>
          </a:p>
        </p:txBody>
      </p:sp>
      <p:sp>
        <p:nvSpPr>
          <p:cNvPr id="14" name="Rectangle 13"/>
          <p:cNvSpPr/>
          <p:nvPr/>
        </p:nvSpPr>
        <p:spPr>
          <a:xfrm>
            <a:off x="5577840" y="1737360"/>
            <a:ext cx="3063240" cy="274320"/>
          </a:xfrm>
          <a:prstGeom prst="rect">
            <a:avLst/>
          </a:prstGeom>
          <a:solidFill>
            <a:srgbClr val="1A2434"/>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79" y="1737360"/>
            <a:ext cx="265176" cy="274320"/>
          </a:xfrm>
          <a:prstGeom prst="rect">
            <a:avLst/>
          </a:prstGeom>
          <a:noFill/>
        </p:spPr>
        <p:txBody>
          <a:bodyPr wrap="square" lIns="0" tIns="0" rIns="0" bIns="0" anchor="ctr">
            <a:spAutoFit/>
          </a:bodyPr>
          <a:lstStyle/>
          <a:p>
            <a:pPr algn="l">
              <a:lnSpc>
                <a:spcPts val="1035"/>
              </a:lnSpc>
            </a:pPr>
            <a:r>
              <a:rPr lang="es-CO" sz="900" b="0" i="0">
                <a:solidFill>
                  <a:srgbClr val="93A5BD"/>
                </a:solidFill>
                <a:latin typeface="Courier New"/>
              </a:rPr>
              <a:t>1</a:t>
            </a:r>
          </a:p>
        </p:txBody>
      </p:sp>
      <p:sp>
        <p:nvSpPr>
          <p:cNvPr id="16" name="TextBox 15"/>
          <p:cNvSpPr txBox="1"/>
          <p:nvPr/>
        </p:nvSpPr>
        <p:spPr>
          <a:xfrm>
            <a:off x="6080759" y="1737360"/>
            <a:ext cx="722375" cy="274320"/>
          </a:xfrm>
          <a:prstGeom prst="rect">
            <a:avLst/>
          </a:prstGeom>
          <a:noFill/>
        </p:spPr>
        <p:txBody>
          <a:bodyPr wrap="square" lIns="0" tIns="0" rIns="0" bIns="0" anchor="ctr">
            <a:spAutoFit/>
          </a:bodyPr>
          <a:lstStyle/>
          <a:p>
            <a:pPr algn="l">
              <a:lnSpc>
                <a:spcPts val="1035"/>
              </a:lnSpc>
            </a:pPr>
            <a:r>
              <a:rPr lang="es-CO" sz="900" b="0" i="0">
                <a:solidFill>
                  <a:srgbClr val="E8EEF6"/>
                </a:solidFill>
                <a:latin typeface="Calibri"/>
              </a:rPr>
              <a:t>Ana</a:t>
            </a:r>
          </a:p>
        </p:txBody>
      </p:sp>
      <p:sp>
        <p:nvSpPr>
          <p:cNvPr id="17" name="TextBox 16"/>
          <p:cNvSpPr txBox="1"/>
          <p:nvPr/>
        </p:nvSpPr>
        <p:spPr>
          <a:xfrm>
            <a:off x="6949440" y="1737360"/>
            <a:ext cx="1636776" cy="274320"/>
          </a:xfrm>
          <a:prstGeom prst="rect">
            <a:avLst/>
          </a:prstGeom>
          <a:noFill/>
        </p:spPr>
        <p:txBody>
          <a:bodyPr wrap="square" lIns="0" tIns="0" rIns="0" bIns="0" anchor="ctr">
            <a:spAutoFit/>
          </a:bodyPr>
          <a:lstStyle/>
          <a:p>
            <a:pPr algn="l">
              <a:lnSpc>
                <a:spcPts val="1035"/>
              </a:lnSpc>
            </a:pPr>
            <a:r>
              <a:rPr lang="es-CO" sz="900" b="0" i="0">
                <a:solidFill>
                  <a:srgbClr val="E8EEF6"/>
                </a:solidFill>
                <a:latin typeface="Courier New"/>
              </a:rPr>
              <a:t>ana@example.com</a:t>
            </a:r>
          </a:p>
        </p:txBody>
      </p:sp>
      <p:sp>
        <p:nvSpPr>
          <p:cNvPr id="18" name="Rectangle 17"/>
          <p:cNvSpPr/>
          <p:nvPr/>
        </p:nvSpPr>
        <p:spPr>
          <a:xfrm>
            <a:off x="5577840" y="2011680"/>
            <a:ext cx="3063240" cy="274320"/>
          </a:xfrm>
          <a:prstGeom prst="rect">
            <a:avLst/>
          </a:prstGeom>
          <a:solidFill>
            <a:srgbClr val="141D2B"/>
          </a:solidFill>
          <a:ln w="9525">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669279" y="2011680"/>
            <a:ext cx="265176" cy="274320"/>
          </a:xfrm>
          <a:prstGeom prst="rect">
            <a:avLst/>
          </a:prstGeom>
          <a:noFill/>
        </p:spPr>
        <p:txBody>
          <a:bodyPr wrap="square" lIns="0" tIns="0" rIns="0" bIns="0" anchor="ctr">
            <a:spAutoFit/>
          </a:bodyPr>
          <a:lstStyle/>
          <a:p>
            <a:pPr algn="l">
              <a:lnSpc>
                <a:spcPts val="1035"/>
              </a:lnSpc>
            </a:pPr>
            <a:r>
              <a:rPr lang="es-CO" sz="900" b="0" i="0">
                <a:solidFill>
                  <a:srgbClr val="93A5BD"/>
                </a:solidFill>
                <a:latin typeface="Courier New"/>
              </a:rPr>
              <a:t>2</a:t>
            </a:r>
          </a:p>
        </p:txBody>
      </p:sp>
      <p:sp>
        <p:nvSpPr>
          <p:cNvPr id="20" name="TextBox 19"/>
          <p:cNvSpPr txBox="1"/>
          <p:nvPr/>
        </p:nvSpPr>
        <p:spPr>
          <a:xfrm>
            <a:off x="6080759" y="2011680"/>
            <a:ext cx="722375" cy="274320"/>
          </a:xfrm>
          <a:prstGeom prst="rect">
            <a:avLst/>
          </a:prstGeom>
          <a:noFill/>
        </p:spPr>
        <p:txBody>
          <a:bodyPr wrap="square" lIns="0" tIns="0" rIns="0" bIns="0" anchor="ctr">
            <a:spAutoFit/>
          </a:bodyPr>
          <a:lstStyle/>
          <a:p>
            <a:pPr algn="l">
              <a:lnSpc>
                <a:spcPts val="1035"/>
              </a:lnSpc>
            </a:pPr>
            <a:r>
              <a:rPr lang="es-CO" sz="900" b="0" i="0">
                <a:solidFill>
                  <a:srgbClr val="E8EEF6"/>
                </a:solidFill>
                <a:latin typeface="Calibri"/>
              </a:rPr>
              <a:t>Beatriz</a:t>
            </a:r>
          </a:p>
        </p:txBody>
      </p:sp>
      <p:sp>
        <p:nvSpPr>
          <p:cNvPr id="21" name="TextBox 20"/>
          <p:cNvSpPr txBox="1"/>
          <p:nvPr/>
        </p:nvSpPr>
        <p:spPr>
          <a:xfrm>
            <a:off x="6949440" y="2011680"/>
            <a:ext cx="1636776" cy="274320"/>
          </a:xfrm>
          <a:prstGeom prst="rect">
            <a:avLst/>
          </a:prstGeom>
          <a:noFill/>
        </p:spPr>
        <p:txBody>
          <a:bodyPr wrap="square" lIns="0" tIns="0" rIns="0" bIns="0" anchor="ctr">
            <a:spAutoFit/>
          </a:bodyPr>
          <a:lstStyle/>
          <a:p>
            <a:pPr algn="l">
              <a:lnSpc>
                <a:spcPts val="1035"/>
              </a:lnSpc>
            </a:pPr>
            <a:r>
              <a:rPr lang="es-CO" sz="900" b="0" i="0">
                <a:solidFill>
                  <a:srgbClr val="E8EEF6"/>
                </a:solidFill>
                <a:latin typeface="Courier New"/>
              </a:rPr>
              <a:t>beatriz@example.com</a:t>
            </a:r>
          </a:p>
        </p:txBody>
      </p:sp>
      <p:sp>
        <p:nvSpPr>
          <p:cNvPr id="22" name="Rounded Rectangle 21"/>
          <p:cNvSpPr/>
          <p:nvPr/>
        </p:nvSpPr>
        <p:spPr>
          <a:xfrm>
            <a:off x="5577840" y="2414016"/>
            <a:ext cx="3063240" cy="548640"/>
          </a:xfrm>
          <a:prstGeom prst="roundRect">
            <a:avLst>
              <a:gd name="adj" fmla="val 13333"/>
            </a:avLst>
          </a:prstGeom>
          <a:solidFill>
            <a:srgbClr val="20160E"/>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687568" y="2450592"/>
            <a:ext cx="2834640" cy="201168"/>
          </a:xfrm>
          <a:prstGeom prst="rect">
            <a:avLst/>
          </a:prstGeom>
          <a:noFill/>
        </p:spPr>
        <p:txBody>
          <a:bodyPr wrap="square" lIns="0" tIns="0" rIns="0" bIns="0" anchor="ctr">
            <a:spAutoFit/>
          </a:bodyPr>
          <a:lstStyle/>
          <a:p>
            <a:pPr algn="l"/>
            <a:r>
              <a:rPr lang="es-CO" sz="900" b="1" i="0">
                <a:solidFill>
                  <a:srgbClr val="56C7F2"/>
                </a:solidFill>
                <a:latin typeface="Courier New"/>
              </a:rPr>
              <a:t>createElement()</a:t>
            </a:r>
          </a:p>
        </p:txBody>
      </p:sp>
      <p:sp>
        <p:nvSpPr>
          <p:cNvPr id="24" name="TextBox 23"/>
          <p:cNvSpPr txBox="1"/>
          <p:nvPr/>
        </p:nvSpPr>
        <p:spPr>
          <a:xfrm>
            <a:off x="5687568" y="2670048"/>
            <a:ext cx="2834640" cy="256032"/>
          </a:xfrm>
          <a:prstGeom prst="rect">
            <a:avLst/>
          </a:prstGeom>
          <a:noFill/>
        </p:spPr>
        <p:txBody>
          <a:bodyPr wrap="square" lIns="0" tIns="0" rIns="0" bIns="0" anchor="ctr">
            <a:spAutoFit/>
          </a:bodyPr>
          <a:lstStyle/>
          <a:p>
            <a:pPr algn="l"/>
            <a:r>
              <a:rPr lang="es-CO" sz="919" b="0" i="0">
                <a:solidFill>
                  <a:srgbClr val="E8EEF6"/>
                </a:solidFill>
                <a:latin typeface="Calibri"/>
              </a:rPr>
              <a:t>Crea la fila y cada celda.</a:t>
            </a:r>
          </a:p>
        </p:txBody>
      </p:sp>
      <p:sp>
        <p:nvSpPr>
          <p:cNvPr id="25" name="Rounded Rectangle 24"/>
          <p:cNvSpPr/>
          <p:nvPr/>
        </p:nvSpPr>
        <p:spPr>
          <a:xfrm>
            <a:off x="5577840" y="3058668"/>
            <a:ext cx="3063240" cy="548640"/>
          </a:xfrm>
          <a:prstGeom prst="roundRect">
            <a:avLst>
              <a:gd name="adj" fmla="val 13333"/>
            </a:avLst>
          </a:prstGeom>
          <a:solidFill>
            <a:srgbClr val="20160E"/>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687568" y="3095244"/>
            <a:ext cx="2834640" cy="201168"/>
          </a:xfrm>
          <a:prstGeom prst="rect">
            <a:avLst/>
          </a:prstGeom>
          <a:noFill/>
        </p:spPr>
        <p:txBody>
          <a:bodyPr wrap="square" lIns="0" tIns="0" rIns="0" bIns="0" anchor="ctr">
            <a:spAutoFit/>
          </a:bodyPr>
          <a:lstStyle/>
          <a:p>
            <a:pPr algn="l"/>
            <a:r>
              <a:rPr lang="es-CO" sz="900" b="1" i="0">
                <a:solidFill>
                  <a:srgbClr val="3DDC97"/>
                </a:solidFill>
                <a:latin typeface="Courier New"/>
              </a:rPr>
              <a:t>textContent</a:t>
            </a:r>
          </a:p>
        </p:txBody>
      </p:sp>
      <p:sp>
        <p:nvSpPr>
          <p:cNvPr id="27" name="TextBox 26"/>
          <p:cNvSpPr txBox="1"/>
          <p:nvPr/>
        </p:nvSpPr>
        <p:spPr>
          <a:xfrm>
            <a:off x="5687568" y="3314700"/>
            <a:ext cx="2834640" cy="256032"/>
          </a:xfrm>
          <a:prstGeom prst="rect">
            <a:avLst/>
          </a:prstGeom>
          <a:noFill/>
        </p:spPr>
        <p:txBody>
          <a:bodyPr wrap="square" lIns="0" tIns="0" rIns="0" bIns="0" anchor="ctr">
            <a:spAutoFit/>
          </a:bodyPr>
          <a:lstStyle/>
          <a:p>
            <a:pPr algn="l"/>
            <a:r>
              <a:rPr lang="es-CO" sz="919" b="0" i="0">
                <a:solidFill>
                  <a:srgbClr val="E8EEF6"/>
                </a:solidFill>
                <a:latin typeface="Calibri"/>
              </a:rPr>
              <a:t>Inserta el valor como texto literal.</a:t>
            </a:r>
          </a:p>
        </p:txBody>
      </p:sp>
      <p:sp>
        <p:nvSpPr>
          <p:cNvPr id="28" name="Rounded Rectangle 27"/>
          <p:cNvSpPr/>
          <p:nvPr/>
        </p:nvSpPr>
        <p:spPr>
          <a:xfrm>
            <a:off x="5577840" y="3703320"/>
            <a:ext cx="3063240" cy="548640"/>
          </a:xfrm>
          <a:prstGeom prst="roundRect">
            <a:avLst>
              <a:gd name="adj" fmla="val 13333"/>
            </a:avLst>
          </a:prstGeom>
          <a:solidFill>
            <a:srgbClr val="20160E"/>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687568" y="3739896"/>
            <a:ext cx="2834640" cy="201168"/>
          </a:xfrm>
          <a:prstGeom prst="rect">
            <a:avLst/>
          </a:prstGeom>
          <a:noFill/>
        </p:spPr>
        <p:txBody>
          <a:bodyPr wrap="square" lIns="0" tIns="0" rIns="0" bIns="0" anchor="ctr">
            <a:spAutoFit/>
          </a:bodyPr>
          <a:lstStyle/>
          <a:p>
            <a:pPr algn="l"/>
            <a:r>
              <a:rPr lang="es-CO" sz="900" b="1" i="0">
                <a:solidFill>
                  <a:srgbClr val="FFD479"/>
                </a:solidFill>
                <a:latin typeface="Courier New"/>
              </a:rPr>
              <a:t>length === 0</a:t>
            </a:r>
          </a:p>
        </p:txBody>
      </p:sp>
      <p:sp>
        <p:nvSpPr>
          <p:cNvPr id="30" name="TextBox 29"/>
          <p:cNvSpPr txBox="1"/>
          <p:nvPr/>
        </p:nvSpPr>
        <p:spPr>
          <a:xfrm>
            <a:off x="5687568" y="3959352"/>
            <a:ext cx="2834640" cy="256032"/>
          </a:xfrm>
          <a:prstGeom prst="rect">
            <a:avLst/>
          </a:prstGeom>
          <a:noFill/>
        </p:spPr>
        <p:txBody>
          <a:bodyPr wrap="square" lIns="0" tIns="0" rIns="0" bIns="0" anchor="ctr">
            <a:spAutoFit/>
          </a:bodyPr>
          <a:lstStyle/>
          <a:p>
            <a:pPr algn="l"/>
            <a:r>
              <a:rPr lang="es-CO" sz="919" b="0" i="0">
                <a:solidFill>
                  <a:srgbClr val="E8EEF6"/>
                </a:solidFill>
                <a:latin typeface="Calibri"/>
              </a:rPr>
              <a:t>Atiende la lista vacía con un mensaje.</a:t>
            </a:r>
          </a:p>
        </p:txBody>
      </p:sp>
      <p:sp>
        <p:nvSpPr>
          <p:cNvPr id="31" name="TextBox 30"/>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20 / 24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536192" cy="22860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536192" cy="228600"/>
          </a:xfrm>
          <a:prstGeom prst="rect">
            <a:avLst/>
          </a:prstGeom>
          <a:noFill/>
        </p:spPr>
        <p:txBody>
          <a:bodyPr wrap="square" lIns="0" tIns="0" rIns="0" bIns="0" anchor="ctr">
            <a:spAutoFit/>
          </a:bodyPr>
          <a:lstStyle/>
          <a:p>
            <a:pPr algn="ctr"/>
            <a:r>
              <a:rPr lang="es-CO" sz="850" b="1" i="0">
                <a:solidFill>
                  <a:srgbClr val="56C7F2"/>
                </a:solidFill>
                <a:latin typeface="Arial"/>
              </a:rPr>
              <a:t>COMPROBACIÓN</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Registrar un contacto y volver a consultar</a:t>
            </a:r>
          </a:p>
        </p:txBody>
      </p:sp>
      <p:sp>
        <p:nvSpPr>
          <p:cNvPr id="5" name="Rounded Rectangle 4"/>
          <p:cNvSpPr/>
          <p:nvPr/>
        </p:nvSpPr>
        <p:spPr>
          <a:xfrm>
            <a:off x="502920" y="1234440"/>
            <a:ext cx="1874519" cy="1207008"/>
          </a:xfrm>
          <a:prstGeom prst="roundRect">
            <a:avLst>
              <a:gd name="adj" fmla="val 606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630936" y="1344168"/>
            <a:ext cx="329184" cy="329184"/>
          </a:xfrm>
          <a:prstGeom prst="roundRect">
            <a:avLst>
              <a:gd name="adj" fmla="val 50000"/>
            </a:avLst>
          </a:prstGeom>
          <a:solidFill>
            <a:srgbClr val="070C1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30936" y="1344168"/>
            <a:ext cx="329184" cy="329184"/>
          </a:xfrm>
          <a:prstGeom prst="rect">
            <a:avLst/>
          </a:prstGeom>
          <a:noFill/>
        </p:spPr>
        <p:txBody>
          <a:bodyPr wrap="square" lIns="0" tIns="0" rIns="0" bIns="0" anchor="ctr">
            <a:spAutoFit/>
          </a:bodyPr>
          <a:lstStyle/>
          <a:p>
            <a:pPr algn="ctr"/>
            <a:r>
              <a:rPr lang="es-CO" sz="1050" b="1" i="0">
                <a:solidFill>
                  <a:srgbClr val="56C7F2"/>
                </a:solidFill>
                <a:latin typeface="Arial"/>
              </a:rPr>
              <a:t>1</a:t>
            </a:r>
          </a:p>
        </p:txBody>
      </p:sp>
      <p:sp>
        <p:nvSpPr>
          <p:cNvPr id="8" name="TextBox 7"/>
          <p:cNvSpPr txBox="1"/>
          <p:nvPr/>
        </p:nvSpPr>
        <p:spPr>
          <a:xfrm>
            <a:off x="1033271" y="1344168"/>
            <a:ext cx="1280160" cy="329184"/>
          </a:xfrm>
          <a:prstGeom prst="rect">
            <a:avLst/>
          </a:prstGeom>
          <a:noFill/>
        </p:spPr>
        <p:txBody>
          <a:bodyPr wrap="square" lIns="0" tIns="0" rIns="0" bIns="0" anchor="ctr">
            <a:spAutoFit/>
          </a:bodyPr>
          <a:lstStyle/>
          <a:p>
            <a:pPr algn="l"/>
            <a:r>
              <a:rPr lang="es-CO" sz="1050" b="1" i="0">
                <a:solidFill>
                  <a:srgbClr val="56C7F2"/>
                </a:solidFill>
                <a:latin typeface="Arial"/>
              </a:rPr>
              <a:t>Consultar</a:t>
            </a:r>
          </a:p>
        </p:txBody>
      </p:sp>
      <p:sp>
        <p:nvSpPr>
          <p:cNvPr id="9" name="TextBox 8"/>
          <p:cNvSpPr txBox="1"/>
          <p:nvPr/>
        </p:nvSpPr>
        <p:spPr>
          <a:xfrm>
            <a:off x="630936" y="1755648"/>
            <a:ext cx="1645920" cy="658368"/>
          </a:xfrm>
          <a:prstGeom prst="rect">
            <a:avLst/>
          </a:prstGeom>
          <a:noFill/>
        </p:spPr>
        <p:txBody>
          <a:bodyPr wrap="square" lIns="0" tIns="0" rIns="0" bIns="0" anchor="t">
            <a:spAutoFit/>
          </a:bodyPr>
          <a:lstStyle/>
          <a:p>
            <a:pPr algn="l">
              <a:lnSpc>
                <a:spcPts val="1200"/>
              </a:lnSpc>
            </a:pPr>
            <a:r>
              <a:rPr lang="es-CO" sz="980" b="0" i="0">
                <a:solidFill>
                  <a:srgbClr val="E8EEF6"/>
                </a:solidFill>
                <a:latin typeface="Calibri"/>
              </a:rPr>
              <a:t>/contactos muestra Ana y Beatriz.</a:t>
            </a:r>
          </a:p>
        </p:txBody>
      </p:sp>
      <p:cxnSp>
        <p:nvCxnSpPr>
          <p:cNvPr id="10" name="Connector 9"/>
          <p:cNvCxnSpPr/>
          <p:nvPr/>
        </p:nvCxnSpPr>
        <p:spPr>
          <a:xfrm>
            <a:off x="2395728" y="1837943"/>
            <a:ext cx="18288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87752" y="1234440"/>
            <a:ext cx="1874519" cy="1207008"/>
          </a:xfrm>
          <a:prstGeom prst="roundRect">
            <a:avLst>
              <a:gd name="adj" fmla="val 606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2715768" y="1344168"/>
            <a:ext cx="329184" cy="329184"/>
          </a:xfrm>
          <a:prstGeom prst="roundRect">
            <a:avLst>
              <a:gd name="adj" fmla="val 50000"/>
            </a:avLst>
          </a:prstGeom>
          <a:solidFill>
            <a:srgbClr val="070C1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715768" y="1344168"/>
            <a:ext cx="329184" cy="329184"/>
          </a:xfrm>
          <a:prstGeom prst="rect">
            <a:avLst/>
          </a:prstGeom>
          <a:noFill/>
        </p:spPr>
        <p:txBody>
          <a:bodyPr wrap="square" lIns="0" tIns="0" rIns="0" bIns="0" anchor="ctr">
            <a:spAutoFit/>
          </a:bodyPr>
          <a:lstStyle/>
          <a:p>
            <a:pPr algn="ctr"/>
            <a:r>
              <a:rPr lang="es-CO" sz="1050" b="1" i="0">
                <a:solidFill>
                  <a:srgbClr val="3DDC97"/>
                </a:solidFill>
                <a:latin typeface="Arial"/>
              </a:rPr>
              <a:t>2</a:t>
            </a:r>
          </a:p>
        </p:txBody>
      </p:sp>
      <p:sp>
        <p:nvSpPr>
          <p:cNvPr id="14" name="TextBox 13"/>
          <p:cNvSpPr txBox="1"/>
          <p:nvPr/>
        </p:nvSpPr>
        <p:spPr>
          <a:xfrm>
            <a:off x="3118104" y="1344168"/>
            <a:ext cx="1280160" cy="329184"/>
          </a:xfrm>
          <a:prstGeom prst="rect">
            <a:avLst/>
          </a:prstGeom>
          <a:noFill/>
        </p:spPr>
        <p:txBody>
          <a:bodyPr wrap="square" lIns="0" tIns="0" rIns="0" bIns="0" anchor="ctr">
            <a:spAutoFit/>
          </a:bodyPr>
          <a:lstStyle/>
          <a:p>
            <a:pPr algn="l"/>
            <a:r>
              <a:rPr lang="es-CO" sz="1050" b="1" i="0">
                <a:solidFill>
                  <a:srgbClr val="3DDC97"/>
                </a:solidFill>
                <a:latin typeface="Arial"/>
              </a:rPr>
              <a:t>Registrar</a:t>
            </a:r>
          </a:p>
        </p:txBody>
      </p:sp>
      <p:sp>
        <p:nvSpPr>
          <p:cNvPr id="15" name="TextBox 14"/>
          <p:cNvSpPr txBox="1"/>
          <p:nvPr/>
        </p:nvSpPr>
        <p:spPr>
          <a:xfrm>
            <a:off x="2715768" y="1755648"/>
            <a:ext cx="1645920" cy="658368"/>
          </a:xfrm>
          <a:prstGeom prst="rect">
            <a:avLst/>
          </a:prstGeom>
          <a:noFill/>
        </p:spPr>
        <p:txBody>
          <a:bodyPr wrap="square" lIns="0" tIns="0" rIns="0" bIns="0" anchor="t">
            <a:spAutoFit/>
          </a:bodyPr>
          <a:lstStyle/>
          <a:p>
            <a:pPr algn="l">
              <a:lnSpc>
                <a:spcPts val="1200"/>
              </a:lnSpc>
            </a:pPr>
            <a:r>
              <a:rPr lang="es-CO" sz="980" b="0" i="0">
                <a:solidFill>
                  <a:srgbClr val="E8EEF6"/>
                </a:solidFill>
                <a:latin typeface="Calibri"/>
              </a:rPr>
              <a:t>En /contacto: Carlos · carlos@example.com.</a:t>
            </a:r>
          </a:p>
        </p:txBody>
      </p:sp>
      <p:cxnSp>
        <p:nvCxnSpPr>
          <p:cNvPr id="16" name="Connector 15"/>
          <p:cNvCxnSpPr/>
          <p:nvPr/>
        </p:nvCxnSpPr>
        <p:spPr>
          <a:xfrm>
            <a:off x="4480560" y="1837943"/>
            <a:ext cx="18288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672583" y="1234440"/>
            <a:ext cx="1874519" cy="1207008"/>
          </a:xfrm>
          <a:prstGeom prst="roundRect">
            <a:avLst>
              <a:gd name="adj" fmla="val 606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4800599" y="1344168"/>
            <a:ext cx="329184" cy="329184"/>
          </a:xfrm>
          <a:prstGeom prst="roundRect">
            <a:avLst>
              <a:gd name="adj" fmla="val 50000"/>
            </a:avLst>
          </a:prstGeom>
          <a:solidFill>
            <a:srgbClr val="070C1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800599" y="1344168"/>
            <a:ext cx="329184" cy="329184"/>
          </a:xfrm>
          <a:prstGeom prst="rect">
            <a:avLst/>
          </a:prstGeom>
          <a:noFill/>
        </p:spPr>
        <p:txBody>
          <a:bodyPr wrap="square" lIns="0" tIns="0" rIns="0" bIns="0" anchor="ctr">
            <a:spAutoFit/>
          </a:bodyPr>
          <a:lstStyle/>
          <a:p>
            <a:pPr algn="ctr"/>
            <a:r>
              <a:rPr lang="es-CO" sz="1050" b="1" i="0">
                <a:solidFill>
                  <a:srgbClr val="FFB86C"/>
                </a:solidFill>
                <a:latin typeface="Arial"/>
              </a:rPr>
              <a:t>3</a:t>
            </a:r>
          </a:p>
        </p:txBody>
      </p:sp>
      <p:sp>
        <p:nvSpPr>
          <p:cNvPr id="20" name="TextBox 19"/>
          <p:cNvSpPr txBox="1"/>
          <p:nvPr/>
        </p:nvSpPr>
        <p:spPr>
          <a:xfrm>
            <a:off x="5202936" y="1344168"/>
            <a:ext cx="1280160" cy="329184"/>
          </a:xfrm>
          <a:prstGeom prst="rect">
            <a:avLst/>
          </a:prstGeom>
          <a:noFill/>
        </p:spPr>
        <p:txBody>
          <a:bodyPr wrap="square" lIns="0" tIns="0" rIns="0" bIns="0" anchor="ctr">
            <a:spAutoFit/>
          </a:bodyPr>
          <a:lstStyle/>
          <a:p>
            <a:pPr algn="l"/>
            <a:r>
              <a:rPr lang="es-CO" sz="1050" b="1" i="0">
                <a:solidFill>
                  <a:srgbClr val="FFB86C"/>
                </a:solidFill>
                <a:latin typeface="Arial"/>
              </a:rPr>
              <a:t>Guardar</a:t>
            </a:r>
          </a:p>
        </p:txBody>
      </p:sp>
      <p:sp>
        <p:nvSpPr>
          <p:cNvPr id="21" name="TextBox 20"/>
          <p:cNvSpPr txBox="1"/>
          <p:nvPr/>
        </p:nvSpPr>
        <p:spPr>
          <a:xfrm>
            <a:off x="4800599" y="1755648"/>
            <a:ext cx="1645920" cy="658368"/>
          </a:xfrm>
          <a:prstGeom prst="rect">
            <a:avLst/>
          </a:prstGeom>
          <a:noFill/>
        </p:spPr>
        <p:txBody>
          <a:bodyPr wrap="square" lIns="0" tIns="0" rIns="0" bIns="0" anchor="t">
            <a:spAutoFit/>
          </a:bodyPr>
          <a:lstStyle/>
          <a:p>
            <a:pPr algn="l">
              <a:lnSpc>
                <a:spcPts val="1200"/>
              </a:lnSpc>
            </a:pPr>
            <a:r>
              <a:rPr lang="es-CO" sz="980" b="0" i="0">
                <a:solidFill>
                  <a:srgbClr val="E8EEF6"/>
                </a:solidFill>
                <a:latin typeface="Calibri"/>
              </a:rPr>
              <a:t>POST /contacto responde 201 y crea el id 3.</a:t>
            </a:r>
          </a:p>
        </p:txBody>
      </p:sp>
      <p:cxnSp>
        <p:nvCxnSpPr>
          <p:cNvPr id="22" name="Connector 21"/>
          <p:cNvCxnSpPr/>
          <p:nvPr/>
        </p:nvCxnSpPr>
        <p:spPr>
          <a:xfrm>
            <a:off x="6565392" y="1837943"/>
            <a:ext cx="182879"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757415" y="1234440"/>
            <a:ext cx="1874519" cy="1207008"/>
          </a:xfrm>
          <a:prstGeom prst="roundRect">
            <a:avLst>
              <a:gd name="adj" fmla="val 606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6885431" y="1344168"/>
            <a:ext cx="329184" cy="329184"/>
          </a:xfrm>
          <a:prstGeom prst="roundRect">
            <a:avLst>
              <a:gd name="adj" fmla="val 50000"/>
            </a:avLst>
          </a:prstGeom>
          <a:solidFill>
            <a:srgbClr val="070C1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885431" y="1344168"/>
            <a:ext cx="329184" cy="329184"/>
          </a:xfrm>
          <a:prstGeom prst="rect">
            <a:avLst/>
          </a:prstGeom>
          <a:noFill/>
        </p:spPr>
        <p:txBody>
          <a:bodyPr wrap="square" lIns="0" tIns="0" rIns="0" bIns="0" anchor="ctr">
            <a:spAutoFit/>
          </a:bodyPr>
          <a:lstStyle/>
          <a:p>
            <a:pPr algn="ctr"/>
            <a:r>
              <a:rPr lang="es-CO" sz="1050" b="1" i="0">
                <a:solidFill>
                  <a:srgbClr val="FFD479"/>
                </a:solidFill>
                <a:latin typeface="Arial"/>
              </a:rPr>
              <a:t>4</a:t>
            </a:r>
          </a:p>
        </p:txBody>
      </p:sp>
      <p:sp>
        <p:nvSpPr>
          <p:cNvPr id="26" name="TextBox 25"/>
          <p:cNvSpPr txBox="1"/>
          <p:nvPr/>
        </p:nvSpPr>
        <p:spPr>
          <a:xfrm>
            <a:off x="7287767" y="1344168"/>
            <a:ext cx="1280160" cy="329184"/>
          </a:xfrm>
          <a:prstGeom prst="rect">
            <a:avLst/>
          </a:prstGeom>
          <a:noFill/>
        </p:spPr>
        <p:txBody>
          <a:bodyPr wrap="square" lIns="0" tIns="0" rIns="0" bIns="0" anchor="ctr">
            <a:spAutoFit/>
          </a:bodyPr>
          <a:lstStyle/>
          <a:p>
            <a:pPr algn="l"/>
            <a:r>
              <a:rPr lang="es-CO" sz="1050" b="1" i="0">
                <a:solidFill>
                  <a:srgbClr val="FFD479"/>
                </a:solidFill>
                <a:latin typeface="Arial"/>
              </a:rPr>
              <a:t>Volver a consultar</a:t>
            </a:r>
          </a:p>
        </p:txBody>
      </p:sp>
      <p:sp>
        <p:nvSpPr>
          <p:cNvPr id="27" name="TextBox 26"/>
          <p:cNvSpPr txBox="1"/>
          <p:nvPr/>
        </p:nvSpPr>
        <p:spPr>
          <a:xfrm>
            <a:off x="6885431" y="1755648"/>
            <a:ext cx="1645920" cy="658368"/>
          </a:xfrm>
          <a:prstGeom prst="rect">
            <a:avLst/>
          </a:prstGeom>
          <a:noFill/>
        </p:spPr>
        <p:txBody>
          <a:bodyPr wrap="square" lIns="0" tIns="0" rIns="0" bIns="0" anchor="t">
            <a:spAutoFit/>
          </a:bodyPr>
          <a:lstStyle/>
          <a:p>
            <a:pPr algn="l">
              <a:lnSpc>
                <a:spcPts val="1200"/>
              </a:lnSpc>
            </a:pPr>
            <a:r>
              <a:rPr lang="es-CO" sz="980" b="0" i="0">
                <a:solidFill>
                  <a:srgbClr val="E8EEF6"/>
                </a:solidFill>
                <a:latin typeface="Calibri"/>
              </a:rPr>
              <a:t>La tabla muestra tres contactos.</a:t>
            </a:r>
          </a:p>
        </p:txBody>
      </p:sp>
      <p:sp>
        <p:nvSpPr>
          <p:cNvPr id="28" name="Rounded Rectangle 27"/>
          <p:cNvSpPr/>
          <p:nvPr/>
        </p:nvSpPr>
        <p:spPr>
          <a:xfrm>
            <a:off x="502920" y="2596896"/>
            <a:ext cx="2015337" cy="182880"/>
          </a:xfrm>
          <a:prstGeom prst="roundRect">
            <a:avLst>
              <a:gd name="adj" fmla="val 50000"/>
            </a:avLst>
          </a:prstGeom>
          <a:solidFill>
            <a:srgbClr val="35210F"/>
          </a:solidFill>
          <a:ln w="9525">
            <a:solidFill>
              <a:srgbClr val="FF8A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02920" y="2596896"/>
            <a:ext cx="2015337" cy="182880"/>
          </a:xfrm>
          <a:prstGeom prst="rect">
            <a:avLst/>
          </a:prstGeom>
          <a:noFill/>
        </p:spPr>
        <p:txBody>
          <a:bodyPr wrap="square" lIns="0" tIns="0" rIns="0" bIns="0" anchor="ctr">
            <a:spAutoFit/>
          </a:bodyPr>
          <a:lstStyle/>
          <a:p>
            <a:pPr algn="ctr"/>
            <a:r>
              <a:rPr lang="es-CO" sz="700" b="1" i="0">
                <a:solidFill>
                  <a:srgbClr val="FF8A3D"/>
                </a:solidFill>
                <a:latin typeface="Arial"/>
              </a:rPr>
              <a:t>RESULTADO DE LA DEMOSTRACIÓN</a:t>
            </a:r>
          </a:p>
        </p:txBody>
      </p:sp>
      <p:sp>
        <p:nvSpPr>
          <p:cNvPr id="30" name="Rounded Rectangle 29"/>
          <p:cNvSpPr/>
          <p:nvPr/>
        </p:nvSpPr>
        <p:spPr>
          <a:xfrm>
            <a:off x="502920" y="2834640"/>
            <a:ext cx="3977639" cy="1426464"/>
          </a:xfrm>
          <a:prstGeom prst="roundRect">
            <a:avLst>
              <a:gd name="adj" fmla="val 5128"/>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49224" y="2898648"/>
            <a:ext cx="3685031" cy="182880"/>
          </a:xfrm>
          <a:prstGeom prst="rect">
            <a:avLst/>
          </a:prstGeom>
          <a:noFill/>
        </p:spPr>
        <p:txBody>
          <a:bodyPr wrap="square" lIns="0" tIns="0" rIns="0" bIns="0" anchor="ctr">
            <a:spAutoFit/>
          </a:bodyPr>
          <a:lstStyle/>
          <a:p>
            <a:pPr algn="l"/>
            <a:r>
              <a:rPr lang="es-CO" sz="850" b="1" i="0">
                <a:solidFill>
                  <a:srgbClr val="6C7E96"/>
                </a:solidFill>
                <a:latin typeface="Courier New"/>
              </a:rPr>
              <a:t>pestaña Red · después del paso 4</a:t>
            </a:r>
          </a:p>
        </p:txBody>
      </p:sp>
      <p:sp>
        <p:nvSpPr>
          <p:cNvPr id="32" name="TextBox 31"/>
          <p:cNvSpPr txBox="1"/>
          <p:nvPr/>
        </p:nvSpPr>
        <p:spPr>
          <a:xfrm>
            <a:off x="649224" y="3127248"/>
            <a:ext cx="3685031" cy="1088136"/>
          </a:xfrm>
          <a:prstGeom prst="rect">
            <a:avLst/>
          </a:prstGeom>
          <a:noFill/>
        </p:spPr>
        <p:txBody>
          <a:bodyPr wrap="square" lIns="0" tIns="0" rIns="0" bIns="0" anchor="t">
            <a:spAutoFit/>
          </a:bodyPr>
          <a:lstStyle/>
          <a:p>
            <a:pPr algn="l">
              <a:lnSpc>
                <a:spcPts val="1170"/>
              </a:lnSpc>
            </a:pPr>
            <a:r>
              <a:rPr lang="es-CO" sz="900" b="0" i="0">
                <a:solidFill>
                  <a:srgbClr val="E8EEF6"/>
                </a:solidFill>
                <a:latin typeface="Courier New"/>
              </a:rPr>
              <a:t>GET /api/contactos → 200</a:t>
            </a:r>
          </a:p>
          <a:p>
            <a:pPr algn="l">
              <a:lnSpc>
                <a:spcPts val="1170"/>
              </a:lnSpc>
            </a:pPr>
            <a:r>
              <a:rPr lang="es-CO" sz="900" b="0" i="0">
                <a:solidFill>
                  <a:srgbClr val="E8EEF6"/>
                </a:solidFill>
                <a:latin typeface="Courier New"/>
              </a:rPr>
              <a:t>Content-Type: application/json</a:t>
            </a:r>
          </a:p>
          <a:p>
            <a:pPr algn="l">
              <a:lnSpc>
                <a:spcPts val="1170"/>
              </a:lnSpc>
            </a:pPr>
            <a:r>
              <a:rPr lang="es-CO" sz="900" b="0" i="0">
                <a:solidFill>
                  <a:srgbClr val="E8EEF6"/>
                </a:solidFill>
                <a:latin typeface="Courier New"/>
              </a:rPr>
              <a:t>[ ...Ana, ...Beatriz,</a:t>
            </a:r>
          </a:p>
          <a:p>
            <a:pPr algn="l">
              <a:lnSpc>
                <a:spcPts val="1170"/>
              </a:lnSpc>
            </a:pPr>
            <a:r>
              <a:rPr lang="es-CO" sz="900" b="0" i="0">
                <a:solidFill>
                  <a:srgbClr val="E8EEF6"/>
                </a:solidFill>
                <a:latin typeface="Courier New"/>
              </a:rPr>
              <a:t>  {"id":3,"nombre":"Carlos",</a:t>
            </a:r>
          </a:p>
          <a:p>
            <a:pPr algn="l">
              <a:lnSpc>
                <a:spcPts val="1170"/>
              </a:lnSpc>
            </a:pPr>
            <a:r>
              <a:rPr lang="es-CO" sz="900" b="0" i="0">
                <a:solidFill>
                  <a:srgbClr val="E8EEF6"/>
                </a:solidFill>
                <a:latin typeface="Courier New"/>
              </a:rPr>
              <a:t>   "correo":"carlos@example.com", ...} ]</a:t>
            </a:r>
          </a:p>
        </p:txBody>
      </p:sp>
      <p:sp>
        <p:nvSpPr>
          <p:cNvPr id="33" name="TextBox 32"/>
          <p:cNvSpPr txBox="1"/>
          <p:nvPr/>
        </p:nvSpPr>
        <p:spPr>
          <a:xfrm>
            <a:off x="4663440" y="2596896"/>
            <a:ext cx="3977639" cy="201168"/>
          </a:xfrm>
          <a:prstGeom prst="rect">
            <a:avLst/>
          </a:prstGeom>
          <a:noFill/>
        </p:spPr>
        <p:txBody>
          <a:bodyPr wrap="square" lIns="0" tIns="0" rIns="0" bIns="0" anchor="ctr">
            <a:spAutoFit/>
          </a:bodyPr>
          <a:lstStyle/>
          <a:p>
            <a:pPr algn="l"/>
            <a:r>
              <a:rPr lang="es-CO" sz="950" b="1" i="0">
                <a:solidFill>
                  <a:srgbClr val="6C7E96"/>
                </a:solidFill>
                <a:latin typeface="Arial"/>
              </a:rPr>
              <a:t>Casos que también se comprueban</a:t>
            </a:r>
          </a:p>
        </p:txBody>
      </p:sp>
      <p:sp>
        <p:nvSpPr>
          <p:cNvPr id="34" name="Rounded Rectangle 33"/>
          <p:cNvSpPr/>
          <p:nvPr/>
        </p:nvSpPr>
        <p:spPr>
          <a:xfrm>
            <a:off x="4663440" y="2834640"/>
            <a:ext cx="3977639" cy="658368"/>
          </a:xfrm>
          <a:prstGeom prst="roundRect">
            <a:avLst>
              <a:gd name="adj" fmla="val 11111"/>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4791455" y="2834640"/>
            <a:ext cx="960120" cy="658368"/>
          </a:xfrm>
          <a:prstGeom prst="rect">
            <a:avLst/>
          </a:prstGeom>
          <a:noFill/>
        </p:spPr>
        <p:txBody>
          <a:bodyPr wrap="square" lIns="0" tIns="0" rIns="0" bIns="0" anchor="ctr">
            <a:spAutoFit/>
          </a:bodyPr>
          <a:lstStyle/>
          <a:p>
            <a:pPr algn="l"/>
            <a:r>
              <a:rPr lang="es-CO" sz="950" b="1" i="0">
                <a:solidFill>
                  <a:srgbClr val="FFD479"/>
                </a:solidFill>
                <a:latin typeface="Arial"/>
              </a:rPr>
              <a:t>Lista vacía</a:t>
            </a:r>
          </a:p>
        </p:txBody>
      </p:sp>
      <p:sp>
        <p:nvSpPr>
          <p:cNvPr id="36" name="TextBox 35"/>
          <p:cNvSpPr txBox="1"/>
          <p:nvPr/>
        </p:nvSpPr>
        <p:spPr>
          <a:xfrm>
            <a:off x="5824727" y="2834640"/>
            <a:ext cx="2688336" cy="658368"/>
          </a:xfrm>
          <a:prstGeom prst="rect">
            <a:avLst/>
          </a:prstGeom>
          <a:noFill/>
        </p:spPr>
        <p:txBody>
          <a:bodyPr wrap="square" lIns="0" tIns="0" rIns="0" bIns="0" anchor="ctr">
            <a:spAutoFit/>
          </a:bodyPr>
          <a:lstStyle/>
          <a:p>
            <a:pPr algn="l">
              <a:lnSpc>
                <a:spcPts val="1069"/>
              </a:lnSpc>
            </a:pPr>
            <a:r>
              <a:rPr lang="es-CO" sz="930" b="0" i="0">
                <a:solidFill>
                  <a:srgbClr val="E8EEF6"/>
                </a:solidFill>
                <a:latin typeface="Calibri"/>
              </a:rPr>
              <a:t>Con una base sin registros, la página indica: No hay contactos registrados.</a:t>
            </a:r>
          </a:p>
        </p:txBody>
      </p:sp>
      <p:sp>
        <p:nvSpPr>
          <p:cNvPr id="37" name="Rounded Rectangle 36"/>
          <p:cNvSpPr/>
          <p:nvPr/>
        </p:nvSpPr>
        <p:spPr>
          <a:xfrm>
            <a:off x="4663440" y="3602736"/>
            <a:ext cx="3977639" cy="658368"/>
          </a:xfrm>
          <a:prstGeom prst="roundRect">
            <a:avLst>
              <a:gd name="adj" fmla="val 11111"/>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4791455" y="3602736"/>
            <a:ext cx="960120" cy="658368"/>
          </a:xfrm>
          <a:prstGeom prst="rect">
            <a:avLst/>
          </a:prstGeom>
          <a:noFill/>
        </p:spPr>
        <p:txBody>
          <a:bodyPr wrap="square" lIns="0" tIns="0" rIns="0" bIns="0" anchor="ctr">
            <a:spAutoFit/>
          </a:bodyPr>
          <a:lstStyle/>
          <a:p>
            <a:pPr algn="l"/>
            <a:r>
              <a:rPr lang="es-CO" sz="950" b="1" i="0">
                <a:solidFill>
                  <a:srgbClr val="FFB86C"/>
                </a:solidFill>
                <a:latin typeface="Arial"/>
              </a:rPr>
              <a:t>Respuesta fallida</a:t>
            </a:r>
          </a:p>
        </p:txBody>
      </p:sp>
      <p:sp>
        <p:nvSpPr>
          <p:cNvPr id="39" name="TextBox 38"/>
          <p:cNvSpPr txBox="1"/>
          <p:nvPr/>
        </p:nvSpPr>
        <p:spPr>
          <a:xfrm>
            <a:off x="5824727" y="3602736"/>
            <a:ext cx="2688336" cy="658368"/>
          </a:xfrm>
          <a:prstGeom prst="rect">
            <a:avLst/>
          </a:prstGeom>
          <a:noFill/>
        </p:spPr>
        <p:txBody>
          <a:bodyPr wrap="square" lIns="0" tIns="0" rIns="0" bIns="0" anchor="ctr">
            <a:spAutoFit/>
          </a:bodyPr>
          <a:lstStyle/>
          <a:p>
            <a:pPr algn="l">
              <a:lnSpc>
                <a:spcPts val="1069"/>
              </a:lnSpc>
            </a:pPr>
            <a:r>
              <a:rPr lang="es-CO" sz="930" b="0" i="0">
                <a:solidFill>
                  <a:srgbClr val="E8EEF6"/>
                </a:solidFill>
                <a:latin typeface="Calibri"/>
              </a:rPr>
              <a:t>Con el servidor detenido, la página indica: No fue posible consultar los contactos.</a:t>
            </a:r>
          </a:p>
        </p:txBody>
      </p:sp>
      <p:sp>
        <p:nvSpPr>
          <p:cNvPr id="40" name="TextBox 39"/>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21 / 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1536192" cy="228600"/>
          </a:xfrm>
          <a:prstGeom prst="roundRect">
            <a:avLst>
              <a:gd name="adj" fmla="val 50000"/>
            </a:avLst>
          </a:prstGeom>
          <a:solidFill>
            <a:srgbClr val="0F2533"/>
          </a:solidFill>
          <a:ln w="9525">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1536192" cy="228600"/>
          </a:xfrm>
          <a:prstGeom prst="rect">
            <a:avLst/>
          </a:prstGeom>
          <a:noFill/>
        </p:spPr>
        <p:txBody>
          <a:bodyPr wrap="square" lIns="0" tIns="0" rIns="0" bIns="0" anchor="ctr">
            <a:spAutoFit/>
          </a:bodyPr>
          <a:lstStyle/>
          <a:p>
            <a:pPr algn="ctr"/>
            <a:r>
              <a:rPr lang="es-CO" sz="850" b="1" i="0">
                <a:solidFill>
                  <a:srgbClr val="56C7F2"/>
                </a:solidFill>
                <a:latin typeface="Arial"/>
              </a:rPr>
              <a:t>COMPROBACIÓN</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100" b="1" i="0">
                <a:solidFill>
                  <a:srgbClr val="FFFFFF"/>
                </a:solidFill>
                <a:latin typeface="Arial"/>
              </a:rPr>
              <a:t>Preguntas para reconstruir el recorrido de los datos</a:t>
            </a:r>
          </a:p>
        </p:txBody>
      </p:sp>
      <p:sp>
        <p:nvSpPr>
          <p:cNvPr id="5" name="Rounded Rectangle 4"/>
          <p:cNvSpPr/>
          <p:nvPr/>
        </p:nvSpPr>
        <p:spPr>
          <a:xfrm>
            <a:off x="502920" y="1188720"/>
            <a:ext cx="640080" cy="310896"/>
          </a:xfrm>
          <a:prstGeom prst="roundRect">
            <a:avLst>
              <a:gd name="adj" fmla="val 50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48640" y="1188720"/>
            <a:ext cx="548640" cy="310896"/>
          </a:xfrm>
          <a:prstGeom prst="rect">
            <a:avLst/>
          </a:prstGeom>
          <a:noFill/>
        </p:spPr>
        <p:txBody>
          <a:bodyPr wrap="square" lIns="0" tIns="0" rIns="0" bIns="0" anchor="ctr">
            <a:spAutoFit/>
          </a:bodyPr>
          <a:lstStyle/>
          <a:p>
            <a:pPr algn="ctr"/>
            <a:r>
              <a:rPr lang="es-CO" sz="780" b="1" i="0">
                <a:solidFill>
                  <a:srgbClr val="56C7F2"/>
                </a:solidFill>
                <a:latin typeface="Courier New"/>
              </a:rPr>
              <a:t>botón</a:t>
            </a:r>
          </a:p>
        </p:txBody>
      </p:sp>
      <p:cxnSp>
        <p:nvCxnSpPr>
          <p:cNvPr id="7" name="Connector 6"/>
          <p:cNvCxnSpPr/>
          <p:nvPr/>
        </p:nvCxnSpPr>
        <p:spPr>
          <a:xfrm>
            <a:off x="1147572" y="1344168"/>
            <a:ext cx="9144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243584" y="1188720"/>
            <a:ext cx="731520" cy="310896"/>
          </a:xfrm>
          <a:prstGeom prst="roundRect">
            <a:avLst>
              <a:gd name="adj" fmla="val 50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89304" y="1188720"/>
            <a:ext cx="640080" cy="310896"/>
          </a:xfrm>
          <a:prstGeom prst="rect">
            <a:avLst/>
          </a:prstGeom>
          <a:noFill/>
        </p:spPr>
        <p:txBody>
          <a:bodyPr wrap="square" lIns="0" tIns="0" rIns="0" bIns="0" anchor="ctr">
            <a:spAutoFit/>
          </a:bodyPr>
          <a:lstStyle/>
          <a:p>
            <a:pPr algn="ctr"/>
            <a:r>
              <a:rPr lang="es-CO" sz="780" b="1" i="0">
                <a:solidFill>
                  <a:srgbClr val="56C7F2"/>
                </a:solidFill>
                <a:latin typeface="Courier New"/>
              </a:rPr>
              <a:t>fetch()</a:t>
            </a:r>
          </a:p>
        </p:txBody>
      </p:sp>
      <p:cxnSp>
        <p:nvCxnSpPr>
          <p:cNvPr id="10" name="Connector 9"/>
          <p:cNvCxnSpPr/>
          <p:nvPr/>
        </p:nvCxnSpPr>
        <p:spPr>
          <a:xfrm>
            <a:off x="1979676" y="1344168"/>
            <a:ext cx="9144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075688" y="1188720"/>
            <a:ext cx="1417320" cy="310896"/>
          </a:xfrm>
          <a:prstGeom prst="roundRect">
            <a:avLst>
              <a:gd name="adj" fmla="val 50000"/>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2121408" y="1188720"/>
            <a:ext cx="1325880" cy="310896"/>
          </a:xfrm>
          <a:prstGeom prst="rect">
            <a:avLst/>
          </a:prstGeom>
          <a:noFill/>
        </p:spPr>
        <p:txBody>
          <a:bodyPr wrap="square" lIns="0" tIns="0" rIns="0" bIns="0" anchor="ctr">
            <a:spAutoFit/>
          </a:bodyPr>
          <a:lstStyle/>
          <a:p>
            <a:pPr algn="ctr"/>
            <a:r>
              <a:rPr lang="es-CO" sz="780" b="1" i="0">
                <a:solidFill>
                  <a:srgbClr val="E8EEF6"/>
                </a:solidFill>
                <a:latin typeface="Courier New"/>
              </a:rPr>
              <a:t>GET /api/contactos</a:t>
            </a:r>
          </a:p>
        </p:txBody>
      </p:sp>
      <p:cxnSp>
        <p:nvCxnSpPr>
          <p:cNvPr id="13" name="Connector 12"/>
          <p:cNvCxnSpPr/>
          <p:nvPr/>
        </p:nvCxnSpPr>
        <p:spPr>
          <a:xfrm>
            <a:off x="3497580" y="1344168"/>
            <a:ext cx="9144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593592" y="1188720"/>
            <a:ext cx="594360" cy="310896"/>
          </a:xfrm>
          <a:prstGeom prst="roundRect">
            <a:avLst>
              <a:gd name="adj" fmla="val 50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639312" y="1188720"/>
            <a:ext cx="502920" cy="310896"/>
          </a:xfrm>
          <a:prstGeom prst="rect">
            <a:avLst/>
          </a:prstGeom>
          <a:noFill/>
        </p:spPr>
        <p:txBody>
          <a:bodyPr wrap="square" lIns="0" tIns="0" rIns="0" bIns="0" anchor="ctr">
            <a:spAutoFit/>
          </a:bodyPr>
          <a:lstStyle/>
          <a:p>
            <a:pPr algn="ctr"/>
            <a:r>
              <a:rPr lang="es-CO" sz="780" b="1" i="0">
                <a:solidFill>
                  <a:srgbClr val="3DDC97"/>
                </a:solidFill>
                <a:latin typeface="Courier New"/>
              </a:rPr>
              <a:t>all()</a:t>
            </a:r>
          </a:p>
        </p:txBody>
      </p:sp>
      <p:cxnSp>
        <p:nvCxnSpPr>
          <p:cNvPr id="16" name="Connector 15"/>
          <p:cNvCxnSpPr/>
          <p:nvPr/>
        </p:nvCxnSpPr>
        <p:spPr>
          <a:xfrm>
            <a:off x="4192524" y="1344168"/>
            <a:ext cx="9144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288536" y="1188720"/>
            <a:ext cx="1005840" cy="310896"/>
          </a:xfrm>
          <a:prstGeom prst="roundRect">
            <a:avLst>
              <a:gd name="adj" fmla="val 50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334256" y="1188720"/>
            <a:ext cx="914400" cy="310896"/>
          </a:xfrm>
          <a:prstGeom prst="rect">
            <a:avLst/>
          </a:prstGeom>
          <a:noFill/>
        </p:spPr>
        <p:txBody>
          <a:bodyPr wrap="square" lIns="0" tIns="0" rIns="0" bIns="0" anchor="ctr">
            <a:spAutoFit/>
          </a:bodyPr>
          <a:lstStyle/>
          <a:p>
            <a:pPr algn="ctr"/>
            <a:r>
              <a:rPr lang="es-CO" sz="780" b="1" i="0">
                <a:solidFill>
                  <a:srgbClr val="FFB86C"/>
                </a:solidFill>
                <a:latin typeface="Courier New"/>
              </a:rPr>
              <a:t>contactos.db</a:t>
            </a:r>
          </a:p>
        </p:txBody>
      </p:sp>
      <p:cxnSp>
        <p:nvCxnSpPr>
          <p:cNvPr id="19" name="Connector 18"/>
          <p:cNvCxnSpPr/>
          <p:nvPr/>
        </p:nvCxnSpPr>
        <p:spPr>
          <a:xfrm>
            <a:off x="5298948" y="1344168"/>
            <a:ext cx="9144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394960" y="1188720"/>
            <a:ext cx="1234440" cy="310896"/>
          </a:xfrm>
          <a:prstGeom prst="roundRect">
            <a:avLst>
              <a:gd name="adj" fmla="val 50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440680" y="1188720"/>
            <a:ext cx="1143000" cy="310896"/>
          </a:xfrm>
          <a:prstGeom prst="rect">
            <a:avLst/>
          </a:prstGeom>
          <a:noFill/>
        </p:spPr>
        <p:txBody>
          <a:bodyPr wrap="square" lIns="0" tIns="0" rIns="0" bIns="0" anchor="ctr">
            <a:spAutoFit/>
          </a:bodyPr>
          <a:lstStyle/>
          <a:p>
            <a:pPr algn="ctr"/>
            <a:r>
              <a:rPr lang="es-CO" sz="780" b="1" i="0">
                <a:solidFill>
                  <a:srgbClr val="FFD479"/>
                </a:solidFill>
                <a:latin typeface="Courier New"/>
              </a:rPr>
              <a:t>JSON.stringify()</a:t>
            </a:r>
          </a:p>
        </p:txBody>
      </p:sp>
      <p:cxnSp>
        <p:nvCxnSpPr>
          <p:cNvPr id="22" name="Connector 21"/>
          <p:cNvCxnSpPr/>
          <p:nvPr/>
        </p:nvCxnSpPr>
        <p:spPr>
          <a:xfrm>
            <a:off x="6633972" y="1344168"/>
            <a:ext cx="9144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729984" y="1188720"/>
            <a:ext cx="1234440" cy="310896"/>
          </a:xfrm>
          <a:prstGeom prst="roundRect">
            <a:avLst>
              <a:gd name="adj" fmla="val 50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75704" y="1188720"/>
            <a:ext cx="1143000" cy="310896"/>
          </a:xfrm>
          <a:prstGeom prst="rect">
            <a:avLst/>
          </a:prstGeom>
          <a:noFill/>
        </p:spPr>
        <p:txBody>
          <a:bodyPr wrap="square" lIns="0" tIns="0" rIns="0" bIns="0" anchor="ctr">
            <a:spAutoFit/>
          </a:bodyPr>
          <a:lstStyle/>
          <a:p>
            <a:pPr algn="ctr"/>
            <a:r>
              <a:rPr lang="es-CO" sz="780" b="1" i="0">
                <a:solidFill>
                  <a:srgbClr val="FFD479"/>
                </a:solidFill>
                <a:latin typeface="Courier New"/>
              </a:rPr>
              <a:t>respuesta.json()</a:t>
            </a:r>
          </a:p>
        </p:txBody>
      </p:sp>
      <p:cxnSp>
        <p:nvCxnSpPr>
          <p:cNvPr id="25" name="Connector 24"/>
          <p:cNvCxnSpPr/>
          <p:nvPr/>
        </p:nvCxnSpPr>
        <p:spPr>
          <a:xfrm>
            <a:off x="7968996" y="1344168"/>
            <a:ext cx="91440" cy="0"/>
          </a:xfrm>
          <a:prstGeom prst="line">
            <a:avLst/>
          </a:prstGeom>
          <a:ln w="15875">
            <a:solidFill>
              <a:srgbClr val="93A5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065008" y="1188720"/>
            <a:ext cx="594360" cy="310896"/>
          </a:xfrm>
          <a:prstGeom prst="roundRect">
            <a:avLst>
              <a:gd name="adj" fmla="val 50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110728" y="1188720"/>
            <a:ext cx="502920" cy="310896"/>
          </a:xfrm>
          <a:prstGeom prst="rect">
            <a:avLst/>
          </a:prstGeom>
          <a:noFill/>
        </p:spPr>
        <p:txBody>
          <a:bodyPr wrap="square" lIns="0" tIns="0" rIns="0" bIns="0" anchor="ctr">
            <a:spAutoFit/>
          </a:bodyPr>
          <a:lstStyle/>
          <a:p>
            <a:pPr algn="ctr"/>
            <a:r>
              <a:rPr lang="es-CO" sz="780" b="1" i="0">
                <a:solidFill>
                  <a:srgbClr val="56C7F2"/>
                </a:solidFill>
                <a:latin typeface="Courier New"/>
              </a:rPr>
              <a:t>tabla</a:t>
            </a:r>
          </a:p>
        </p:txBody>
      </p:sp>
      <p:sp>
        <p:nvSpPr>
          <p:cNvPr id="28" name="Rounded Rectangle 27"/>
          <p:cNvSpPr/>
          <p:nvPr/>
        </p:nvSpPr>
        <p:spPr>
          <a:xfrm>
            <a:off x="502920" y="1719072"/>
            <a:ext cx="4005072" cy="822960"/>
          </a:xfrm>
          <a:prstGeom prst="roundRect">
            <a:avLst>
              <a:gd name="adj" fmla="val 8888"/>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49224" y="1719072"/>
            <a:ext cx="384048" cy="822960"/>
          </a:xfrm>
          <a:prstGeom prst="rect">
            <a:avLst/>
          </a:prstGeom>
          <a:noFill/>
        </p:spPr>
        <p:txBody>
          <a:bodyPr wrap="square" lIns="0" tIns="0" rIns="0" bIns="0" anchor="ctr">
            <a:spAutoFit/>
          </a:bodyPr>
          <a:lstStyle/>
          <a:p>
            <a:pPr algn="l"/>
            <a:r>
              <a:rPr lang="es-CO" sz="1300" b="1" i="0">
                <a:solidFill>
                  <a:srgbClr val="56C7F2"/>
                </a:solidFill>
                <a:latin typeface="Arial"/>
              </a:rPr>
              <a:t>01</a:t>
            </a:r>
          </a:p>
        </p:txBody>
      </p:sp>
      <p:sp>
        <p:nvSpPr>
          <p:cNvPr id="30" name="TextBox 29"/>
          <p:cNvSpPr txBox="1"/>
          <p:nvPr/>
        </p:nvSpPr>
        <p:spPr>
          <a:xfrm>
            <a:off x="1069848" y="1719072"/>
            <a:ext cx="3328416" cy="822960"/>
          </a:xfrm>
          <a:prstGeom prst="rect">
            <a:avLst/>
          </a:prstGeom>
          <a:noFill/>
        </p:spPr>
        <p:txBody>
          <a:bodyPr wrap="square" lIns="0" tIns="0" rIns="0" bIns="0" anchor="ctr">
            <a:spAutoFit/>
          </a:bodyPr>
          <a:lstStyle/>
          <a:p>
            <a:pPr algn="l">
              <a:lnSpc>
                <a:spcPts val="1350"/>
              </a:lnSpc>
            </a:pPr>
            <a:r>
              <a:rPr lang="es-CO" sz="1100" b="0" i="0">
                <a:solidFill>
                  <a:srgbClr val="E8EEF6"/>
                </a:solidFill>
                <a:latin typeface="Calibri"/>
              </a:rPr>
              <a:t>¿Quién actúa como cliente y quién como servidor en la demostración?</a:t>
            </a:r>
          </a:p>
        </p:txBody>
      </p:sp>
      <p:sp>
        <p:nvSpPr>
          <p:cNvPr id="31" name="Rounded Rectangle 30"/>
          <p:cNvSpPr/>
          <p:nvPr/>
        </p:nvSpPr>
        <p:spPr>
          <a:xfrm>
            <a:off x="4636007" y="1719072"/>
            <a:ext cx="4005072" cy="822960"/>
          </a:xfrm>
          <a:prstGeom prst="roundRect">
            <a:avLst>
              <a:gd name="adj" fmla="val 8888"/>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782312" y="1719072"/>
            <a:ext cx="384048" cy="822960"/>
          </a:xfrm>
          <a:prstGeom prst="rect">
            <a:avLst/>
          </a:prstGeom>
          <a:noFill/>
        </p:spPr>
        <p:txBody>
          <a:bodyPr wrap="square" lIns="0" tIns="0" rIns="0" bIns="0" anchor="ctr">
            <a:spAutoFit/>
          </a:bodyPr>
          <a:lstStyle/>
          <a:p>
            <a:pPr algn="l"/>
            <a:r>
              <a:rPr lang="es-CO" sz="1300" b="1" i="0">
                <a:solidFill>
                  <a:srgbClr val="3DDC97"/>
                </a:solidFill>
                <a:latin typeface="Arial"/>
              </a:rPr>
              <a:t>02</a:t>
            </a:r>
          </a:p>
        </p:txBody>
      </p:sp>
      <p:sp>
        <p:nvSpPr>
          <p:cNvPr id="33" name="TextBox 32"/>
          <p:cNvSpPr txBox="1"/>
          <p:nvPr/>
        </p:nvSpPr>
        <p:spPr>
          <a:xfrm>
            <a:off x="5202936" y="1719072"/>
            <a:ext cx="3328416" cy="822960"/>
          </a:xfrm>
          <a:prstGeom prst="rect">
            <a:avLst/>
          </a:prstGeom>
          <a:noFill/>
        </p:spPr>
        <p:txBody>
          <a:bodyPr wrap="square" lIns="0" tIns="0" rIns="0" bIns="0" anchor="ctr">
            <a:spAutoFit/>
          </a:bodyPr>
          <a:lstStyle/>
          <a:p>
            <a:pPr algn="l">
              <a:lnSpc>
                <a:spcPts val="1350"/>
              </a:lnSpc>
            </a:pPr>
            <a:r>
              <a:rPr lang="es-CO" sz="1100" b="0" i="0">
                <a:solidFill>
                  <a:srgbClr val="E8EEF6"/>
                </a:solidFill>
                <a:latin typeface="Calibri"/>
              </a:rPr>
              <a:t>¿Qué método, ruta y código de estado tiene la solicitud de la página?</a:t>
            </a:r>
          </a:p>
        </p:txBody>
      </p:sp>
      <p:sp>
        <p:nvSpPr>
          <p:cNvPr id="34" name="Rounded Rectangle 33"/>
          <p:cNvSpPr/>
          <p:nvPr/>
        </p:nvSpPr>
        <p:spPr>
          <a:xfrm>
            <a:off x="502920" y="2651760"/>
            <a:ext cx="4005072" cy="822960"/>
          </a:xfrm>
          <a:prstGeom prst="roundRect">
            <a:avLst>
              <a:gd name="adj" fmla="val 8888"/>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9224" y="2651760"/>
            <a:ext cx="384048" cy="822960"/>
          </a:xfrm>
          <a:prstGeom prst="rect">
            <a:avLst/>
          </a:prstGeom>
          <a:noFill/>
        </p:spPr>
        <p:txBody>
          <a:bodyPr wrap="square" lIns="0" tIns="0" rIns="0" bIns="0" anchor="ctr">
            <a:spAutoFit/>
          </a:bodyPr>
          <a:lstStyle/>
          <a:p>
            <a:pPr algn="l"/>
            <a:r>
              <a:rPr lang="es-CO" sz="1300" b="1" i="0">
                <a:solidFill>
                  <a:srgbClr val="FFD479"/>
                </a:solidFill>
                <a:latin typeface="Arial"/>
              </a:rPr>
              <a:t>03</a:t>
            </a:r>
          </a:p>
        </p:txBody>
      </p:sp>
      <p:sp>
        <p:nvSpPr>
          <p:cNvPr id="36" name="TextBox 35"/>
          <p:cNvSpPr txBox="1"/>
          <p:nvPr/>
        </p:nvSpPr>
        <p:spPr>
          <a:xfrm>
            <a:off x="1069848" y="2651760"/>
            <a:ext cx="3328416" cy="822960"/>
          </a:xfrm>
          <a:prstGeom prst="rect">
            <a:avLst/>
          </a:prstGeom>
          <a:noFill/>
        </p:spPr>
        <p:txBody>
          <a:bodyPr wrap="square" lIns="0" tIns="0" rIns="0" bIns="0" anchor="ctr">
            <a:spAutoFit/>
          </a:bodyPr>
          <a:lstStyle/>
          <a:p>
            <a:pPr algn="l">
              <a:lnSpc>
                <a:spcPts val="1350"/>
              </a:lnSpc>
            </a:pPr>
            <a:r>
              <a:rPr lang="es-CO" sz="1100" b="0" i="0">
                <a:solidFill>
                  <a:srgbClr val="E8EEF6"/>
                </a:solidFill>
                <a:latin typeface="Calibri"/>
              </a:rPr>
              <a:t>¿En qué momento los contactos son objetos y en qué momento son texto JSON?</a:t>
            </a:r>
          </a:p>
        </p:txBody>
      </p:sp>
      <p:sp>
        <p:nvSpPr>
          <p:cNvPr id="37" name="Rounded Rectangle 36"/>
          <p:cNvSpPr/>
          <p:nvPr/>
        </p:nvSpPr>
        <p:spPr>
          <a:xfrm>
            <a:off x="4636007" y="2651760"/>
            <a:ext cx="4005072" cy="822960"/>
          </a:xfrm>
          <a:prstGeom prst="roundRect">
            <a:avLst>
              <a:gd name="adj" fmla="val 8888"/>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4782312" y="2651760"/>
            <a:ext cx="384048" cy="822960"/>
          </a:xfrm>
          <a:prstGeom prst="rect">
            <a:avLst/>
          </a:prstGeom>
          <a:noFill/>
        </p:spPr>
        <p:txBody>
          <a:bodyPr wrap="square" lIns="0" tIns="0" rIns="0" bIns="0" anchor="ctr">
            <a:spAutoFit/>
          </a:bodyPr>
          <a:lstStyle/>
          <a:p>
            <a:pPr algn="l"/>
            <a:r>
              <a:rPr lang="es-CO" sz="1300" b="1" i="0">
                <a:solidFill>
                  <a:srgbClr val="FFB86C"/>
                </a:solidFill>
                <a:latin typeface="Arial"/>
              </a:rPr>
              <a:t>04</a:t>
            </a:r>
          </a:p>
        </p:txBody>
      </p:sp>
      <p:sp>
        <p:nvSpPr>
          <p:cNvPr id="39" name="TextBox 38"/>
          <p:cNvSpPr txBox="1"/>
          <p:nvPr/>
        </p:nvSpPr>
        <p:spPr>
          <a:xfrm>
            <a:off x="5202936" y="2651760"/>
            <a:ext cx="3328416" cy="822960"/>
          </a:xfrm>
          <a:prstGeom prst="rect">
            <a:avLst/>
          </a:prstGeom>
          <a:noFill/>
        </p:spPr>
        <p:txBody>
          <a:bodyPr wrap="square" lIns="0" tIns="0" rIns="0" bIns="0" anchor="ctr">
            <a:spAutoFit/>
          </a:bodyPr>
          <a:lstStyle/>
          <a:p>
            <a:pPr algn="l">
              <a:lnSpc>
                <a:spcPts val="1350"/>
              </a:lnSpc>
            </a:pPr>
            <a:r>
              <a:rPr lang="es-CO" sz="1100" b="0" i="0">
                <a:solidFill>
                  <a:srgbClr val="E8EEF6"/>
                </a:solidFill>
                <a:latin typeface="Calibri"/>
              </a:rPr>
              <a:t>¿Qué indica el encabezado Content-Type en la respuesta de la API?</a:t>
            </a:r>
          </a:p>
        </p:txBody>
      </p:sp>
      <p:sp>
        <p:nvSpPr>
          <p:cNvPr id="40" name="Rounded Rectangle 39"/>
          <p:cNvSpPr/>
          <p:nvPr/>
        </p:nvSpPr>
        <p:spPr>
          <a:xfrm>
            <a:off x="502920" y="3584448"/>
            <a:ext cx="4005072" cy="822960"/>
          </a:xfrm>
          <a:prstGeom prst="roundRect">
            <a:avLst>
              <a:gd name="adj" fmla="val 8888"/>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49224" y="3584448"/>
            <a:ext cx="384048" cy="822960"/>
          </a:xfrm>
          <a:prstGeom prst="rect">
            <a:avLst/>
          </a:prstGeom>
          <a:noFill/>
        </p:spPr>
        <p:txBody>
          <a:bodyPr wrap="square" lIns="0" tIns="0" rIns="0" bIns="0" anchor="ctr">
            <a:spAutoFit/>
          </a:bodyPr>
          <a:lstStyle/>
          <a:p>
            <a:pPr algn="l"/>
            <a:r>
              <a:rPr lang="es-CO" sz="1300" b="1" i="0">
                <a:solidFill>
                  <a:srgbClr val="56C7F2"/>
                </a:solidFill>
                <a:latin typeface="Arial"/>
              </a:rPr>
              <a:t>05</a:t>
            </a:r>
          </a:p>
        </p:txBody>
      </p:sp>
      <p:sp>
        <p:nvSpPr>
          <p:cNvPr id="42" name="TextBox 41"/>
          <p:cNvSpPr txBox="1"/>
          <p:nvPr/>
        </p:nvSpPr>
        <p:spPr>
          <a:xfrm>
            <a:off x="1069848" y="3584448"/>
            <a:ext cx="3328416" cy="822960"/>
          </a:xfrm>
          <a:prstGeom prst="rect">
            <a:avLst/>
          </a:prstGeom>
          <a:noFill/>
        </p:spPr>
        <p:txBody>
          <a:bodyPr wrap="square" lIns="0" tIns="0" rIns="0" bIns="0" anchor="ctr">
            <a:spAutoFit/>
          </a:bodyPr>
          <a:lstStyle/>
          <a:p>
            <a:pPr algn="l">
              <a:lnSpc>
                <a:spcPts val="1350"/>
              </a:lnSpc>
            </a:pPr>
            <a:r>
              <a:rPr lang="es-CO" sz="1100" b="0" i="0">
                <a:solidFill>
                  <a:srgbClr val="E8EEF6"/>
                </a:solidFill>
                <a:latin typeface="Calibri"/>
              </a:rPr>
              <a:t>¿Qué muestra la página si la respuesta falla o la lista llega vacía?</a:t>
            </a:r>
          </a:p>
        </p:txBody>
      </p:sp>
      <p:sp>
        <p:nvSpPr>
          <p:cNvPr id="43" name="Rounded Rectangle 42"/>
          <p:cNvSpPr/>
          <p:nvPr/>
        </p:nvSpPr>
        <p:spPr>
          <a:xfrm>
            <a:off x="4636007" y="3584448"/>
            <a:ext cx="4005072" cy="822960"/>
          </a:xfrm>
          <a:prstGeom prst="roundRect">
            <a:avLst>
              <a:gd name="adj" fmla="val 8888"/>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782312" y="3584448"/>
            <a:ext cx="384048" cy="822960"/>
          </a:xfrm>
          <a:prstGeom prst="rect">
            <a:avLst/>
          </a:prstGeom>
          <a:noFill/>
        </p:spPr>
        <p:txBody>
          <a:bodyPr wrap="square" lIns="0" tIns="0" rIns="0" bIns="0" anchor="ctr">
            <a:spAutoFit/>
          </a:bodyPr>
          <a:lstStyle/>
          <a:p>
            <a:pPr algn="l"/>
            <a:r>
              <a:rPr lang="es-CO" sz="1300" b="1" i="0">
                <a:solidFill>
                  <a:srgbClr val="3DDC97"/>
                </a:solidFill>
                <a:latin typeface="Arial"/>
              </a:rPr>
              <a:t>06</a:t>
            </a:r>
          </a:p>
        </p:txBody>
      </p:sp>
      <p:sp>
        <p:nvSpPr>
          <p:cNvPr id="45" name="TextBox 44"/>
          <p:cNvSpPr txBox="1"/>
          <p:nvPr/>
        </p:nvSpPr>
        <p:spPr>
          <a:xfrm>
            <a:off x="5202936" y="3584448"/>
            <a:ext cx="3328416" cy="822960"/>
          </a:xfrm>
          <a:prstGeom prst="rect">
            <a:avLst/>
          </a:prstGeom>
          <a:noFill/>
        </p:spPr>
        <p:txBody>
          <a:bodyPr wrap="square" lIns="0" tIns="0" rIns="0" bIns="0" anchor="ctr">
            <a:spAutoFit/>
          </a:bodyPr>
          <a:lstStyle/>
          <a:p>
            <a:pPr algn="l">
              <a:lnSpc>
                <a:spcPts val="1350"/>
              </a:lnSpc>
            </a:pPr>
            <a:r>
              <a:rPr lang="es-CO" sz="1100" b="0" i="0">
                <a:solidFill>
                  <a:srgbClr val="E8EEF6"/>
                </a:solidFill>
                <a:latin typeface="Calibri"/>
              </a:rPr>
              <a:t>¿Basta con responder JSON para afirmar que la API cumple REST?</a:t>
            </a:r>
          </a:p>
        </p:txBody>
      </p:sp>
      <p:sp>
        <p:nvSpPr>
          <p:cNvPr id="46" name="TextBox 45"/>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22 / 24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914400" cy="228600"/>
          </a:xfrm>
          <a:prstGeom prst="roundRect">
            <a:avLst>
              <a:gd name="adj" fmla="val 50000"/>
            </a:avLst>
          </a:prstGeom>
          <a:solidFill>
            <a:srgbClr val="2A2412"/>
          </a:solidFill>
          <a:ln w="9525">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914400" cy="228600"/>
          </a:xfrm>
          <a:prstGeom prst="rect">
            <a:avLst/>
          </a:prstGeom>
          <a:noFill/>
        </p:spPr>
        <p:txBody>
          <a:bodyPr wrap="square" lIns="0" tIns="0" rIns="0" bIns="0" anchor="ctr">
            <a:spAutoFit/>
          </a:bodyPr>
          <a:lstStyle/>
          <a:p>
            <a:pPr algn="ctr"/>
            <a:r>
              <a:rPr lang="es-CO" sz="850" b="1" i="0">
                <a:solidFill>
                  <a:srgbClr val="FFD479"/>
                </a:solidFill>
                <a:latin typeface="Arial"/>
              </a:rPr>
              <a:t>TAREA</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Tarea: ampliar la consulta de contactos</a:t>
            </a:r>
          </a:p>
        </p:txBody>
      </p:sp>
      <p:sp>
        <p:nvSpPr>
          <p:cNvPr id="5" name="TextBox 4"/>
          <p:cNvSpPr txBox="1"/>
          <p:nvPr/>
        </p:nvSpPr>
        <p:spPr>
          <a:xfrm>
            <a:off x="475488" y="1078992"/>
            <a:ext cx="8138160" cy="256032"/>
          </a:xfrm>
          <a:prstGeom prst="rect">
            <a:avLst/>
          </a:prstGeom>
          <a:noFill/>
        </p:spPr>
        <p:txBody>
          <a:bodyPr wrap="square" lIns="0" tIns="0" rIns="0" bIns="0" anchor="t">
            <a:spAutoFit/>
          </a:bodyPr>
          <a:lstStyle/>
          <a:p>
            <a:pPr algn="l"/>
            <a:r>
              <a:rPr lang="es-CO" sz="1150" b="0" i="0">
                <a:solidFill>
                  <a:srgbClr val="93A5BD"/>
                </a:solidFill>
                <a:latin typeface="Calibri"/>
              </a:rPr>
              <a:t>Trabajo independiente, a partir del código compartido por el docente en el Laboratorio 06.</a:t>
            </a:r>
          </a:p>
        </p:txBody>
      </p:sp>
      <p:sp>
        <p:nvSpPr>
          <p:cNvPr id="6" name="Rounded Rectangle 5"/>
          <p:cNvSpPr/>
          <p:nvPr/>
        </p:nvSpPr>
        <p:spPr>
          <a:xfrm>
            <a:off x="502920" y="1444752"/>
            <a:ext cx="5120640" cy="530352"/>
          </a:xfrm>
          <a:prstGeom prst="roundRect">
            <a:avLst>
              <a:gd name="adj" fmla="val 13793"/>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630936" y="1554480"/>
            <a:ext cx="310896" cy="310896"/>
          </a:xfrm>
          <a:prstGeom prst="roundRect">
            <a:avLst>
              <a:gd name="adj" fmla="val 50000"/>
            </a:avLst>
          </a:prstGeom>
          <a:solidFill>
            <a:srgbClr val="2A2412"/>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30936" y="1554480"/>
            <a:ext cx="310896" cy="310896"/>
          </a:xfrm>
          <a:prstGeom prst="rect">
            <a:avLst/>
          </a:prstGeom>
          <a:noFill/>
        </p:spPr>
        <p:txBody>
          <a:bodyPr wrap="square" lIns="0" tIns="0" rIns="0" bIns="0" anchor="ctr">
            <a:spAutoFit/>
          </a:bodyPr>
          <a:lstStyle/>
          <a:p>
            <a:pPr algn="ctr"/>
            <a:r>
              <a:rPr lang="es-CO" sz="1000" b="1" i="0">
                <a:solidFill>
                  <a:srgbClr val="FFD479"/>
                </a:solidFill>
                <a:latin typeface="Arial"/>
              </a:rPr>
              <a:t>1</a:t>
            </a:r>
          </a:p>
        </p:txBody>
      </p:sp>
      <p:sp>
        <p:nvSpPr>
          <p:cNvPr id="9" name="TextBox 8"/>
          <p:cNvSpPr txBox="1"/>
          <p:nvPr/>
        </p:nvSpPr>
        <p:spPr>
          <a:xfrm>
            <a:off x="1069848" y="1444752"/>
            <a:ext cx="4480560" cy="530352"/>
          </a:xfrm>
          <a:prstGeom prst="rect">
            <a:avLst/>
          </a:prstGeom>
          <a:noFill/>
        </p:spPr>
        <p:txBody>
          <a:bodyPr wrap="square" lIns="0" tIns="0" rIns="0" bIns="0" anchor="ctr">
            <a:spAutoFit/>
          </a:bodyPr>
          <a:lstStyle/>
          <a:p>
            <a:pPr algn="l">
              <a:lnSpc>
                <a:spcPts val="1250"/>
              </a:lnSpc>
            </a:pPr>
            <a:r>
              <a:rPr lang="es-CO" sz="1050" b="0" i="0">
                <a:solidFill>
                  <a:srgbClr val="E8EEF6"/>
                </a:solidFill>
                <a:latin typeface="Calibri"/>
              </a:rPr>
              <a:t>Agregar a la tabla una columna que muestre el mensaje de cada contacto.</a:t>
            </a:r>
          </a:p>
        </p:txBody>
      </p:sp>
      <p:sp>
        <p:nvSpPr>
          <p:cNvPr id="10" name="Rounded Rectangle 9"/>
          <p:cNvSpPr/>
          <p:nvPr/>
        </p:nvSpPr>
        <p:spPr>
          <a:xfrm>
            <a:off x="502920" y="2066544"/>
            <a:ext cx="5120640" cy="530352"/>
          </a:xfrm>
          <a:prstGeom prst="roundRect">
            <a:avLst>
              <a:gd name="adj" fmla="val 13793"/>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630936" y="2176272"/>
            <a:ext cx="310896" cy="310896"/>
          </a:xfrm>
          <a:prstGeom prst="roundRect">
            <a:avLst>
              <a:gd name="adj" fmla="val 50000"/>
            </a:avLst>
          </a:prstGeom>
          <a:solidFill>
            <a:srgbClr val="2A2412"/>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0936" y="2176272"/>
            <a:ext cx="310896" cy="310896"/>
          </a:xfrm>
          <a:prstGeom prst="rect">
            <a:avLst/>
          </a:prstGeom>
          <a:noFill/>
        </p:spPr>
        <p:txBody>
          <a:bodyPr wrap="square" lIns="0" tIns="0" rIns="0" bIns="0" anchor="ctr">
            <a:spAutoFit/>
          </a:bodyPr>
          <a:lstStyle/>
          <a:p>
            <a:pPr algn="ctr"/>
            <a:r>
              <a:rPr lang="es-CO" sz="1000" b="1" i="0">
                <a:solidFill>
                  <a:srgbClr val="FFD479"/>
                </a:solidFill>
                <a:latin typeface="Arial"/>
              </a:rPr>
              <a:t>2</a:t>
            </a:r>
          </a:p>
        </p:txBody>
      </p:sp>
      <p:sp>
        <p:nvSpPr>
          <p:cNvPr id="13" name="TextBox 12"/>
          <p:cNvSpPr txBox="1"/>
          <p:nvPr/>
        </p:nvSpPr>
        <p:spPr>
          <a:xfrm>
            <a:off x="1069848" y="2066544"/>
            <a:ext cx="4480560" cy="530352"/>
          </a:xfrm>
          <a:prstGeom prst="rect">
            <a:avLst/>
          </a:prstGeom>
          <a:noFill/>
        </p:spPr>
        <p:txBody>
          <a:bodyPr wrap="square" lIns="0" tIns="0" rIns="0" bIns="0" anchor="ctr">
            <a:spAutoFit/>
          </a:bodyPr>
          <a:lstStyle/>
          <a:p>
            <a:pPr algn="l">
              <a:lnSpc>
                <a:spcPts val="1250"/>
              </a:lnSpc>
            </a:pPr>
            <a:r>
              <a:rPr lang="es-CO" sz="1050" b="0" i="0">
                <a:solidFill>
                  <a:srgbClr val="E8EEF6"/>
                </a:solidFill>
                <a:latin typeface="Calibri"/>
              </a:rPr>
              <a:t>Mostrar el número total de contactos consultados.</a:t>
            </a:r>
          </a:p>
        </p:txBody>
      </p:sp>
      <p:sp>
        <p:nvSpPr>
          <p:cNvPr id="14" name="Rounded Rectangle 13"/>
          <p:cNvSpPr/>
          <p:nvPr/>
        </p:nvSpPr>
        <p:spPr>
          <a:xfrm>
            <a:off x="502920" y="2688336"/>
            <a:ext cx="5120640" cy="530352"/>
          </a:xfrm>
          <a:prstGeom prst="roundRect">
            <a:avLst>
              <a:gd name="adj" fmla="val 13793"/>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30936" y="2798064"/>
            <a:ext cx="310896" cy="310896"/>
          </a:xfrm>
          <a:prstGeom prst="roundRect">
            <a:avLst>
              <a:gd name="adj" fmla="val 50000"/>
            </a:avLst>
          </a:prstGeom>
          <a:solidFill>
            <a:srgbClr val="2A2412"/>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0936" y="2798064"/>
            <a:ext cx="310896" cy="310896"/>
          </a:xfrm>
          <a:prstGeom prst="rect">
            <a:avLst/>
          </a:prstGeom>
          <a:noFill/>
        </p:spPr>
        <p:txBody>
          <a:bodyPr wrap="square" lIns="0" tIns="0" rIns="0" bIns="0" anchor="ctr">
            <a:spAutoFit/>
          </a:bodyPr>
          <a:lstStyle/>
          <a:p>
            <a:pPr algn="ctr"/>
            <a:r>
              <a:rPr lang="es-CO" sz="1000" b="1" i="0">
                <a:solidFill>
                  <a:srgbClr val="FFD479"/>
                </a:solidFill>
                <a:latin typeface="Arial"/>
              </a:rPr>
              <a:t>3</a:t>
            </a:r>
          </a:p>
        </p:txBody>
      </p:sp>
      <p:sp>
        <p:nvSpPr>
          <p:cNvPr id="17" name="TextBox 16"/>
          <p:cNvSpPr txBox="1"/>
          <p:nvPr/>
        </p:nvSpPr>
        <p:spPr>
          <a:xfrm>
            <a:off x="1069848" y="2688336"/>
            <a:ext cx="4480560" cy="530352"/>
          </a:xfrm>
          <a:prstGeom prst="rect">
            <a:avLst/>
          </a:prstGeom>
          <a:noFill/>
        </p:spPr>
        <p:txBody>
          <a:bodyPr wrap="square" lIns="0" tIns="0" rIns="0" bIns="0" anchor="ctr">
            <a:spAutoFit/>
          </a:bodyPr>
          <a:lstStyle/>
          <a:p>
            <a:pPr algn="l">
              <a:lnSpc>
                <a:spcPts val="1250"/>
              </a:lnSpc>
            </a:pPr>
            <a:r>
              <a:rPr lang="es-CO" sz="1050" b="0" i="0">
                <a:solidFill>
                  <a:srgbClr val="E8EEF6"/>
                </a:solidFill>
                <a:latin typeface="Calibri"/>
              </a:rPr>
              <a:t>Registrar dos contactos ficticios y comprobar que aparecen en la tabla.</a:t>
            </a:r>
          </a:p>
        </p:txBody>
      </p:sp>
      <p:sp>
        <p:nvSpPr>
          <p:cNvPr id="18" name="Rounded Rectangle 17"/>
          <p:cNvSpPr/>
          <p:nvPr/>
        </p:nvSpPr>
        <p:spPr>
          <a:xfrm>
            <a:off x="502920" y="3310128"/>
            <a:ext cx="5120640" cy="530352"/>
          </a:xfrm>
          <a:prstGeom prst="roundRect">
            <a:avLst>
              <a:gd name="adj" fmla="val 13793"/>
            </a:avLst>
          </a:prstGeom>
          <a:solidFill>
            <a:srgbClr val="1A243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630936" y="3419856"/>
            <a:ext cx="310896" cy="310896"/>
          </a:xfrm>
          <a:prstGeom prst="roundRect">
            <a:avLst>
              <a:gd name="adj" fmla="val 50000"/>
            </a:avLst>
          </a:prstGeom>
          <a:solidFill>
            <a:srgbClr val="2A2412"/>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30936" y="3419856"/>
            <a:ext cx="310896" cy="310896"/>
          </a:xfrm>
          <a:prstGeom prst="rect">
            <a:avLst/>
          </a:prstGeom>
          <a:noFill/>
        </p:spPr>
        <p:txBody>
          <a:bodyPr wrap="square" lIns="0" tIns="0" rIns="0" bIns="0" anchor="ctr">
            <a:spAutoFit/>
          </a:bodyPr>
          <a:lstStyle/>
          <a:p>
            <a:pPr algn="ctr"/>
            <a:r>
              <a:rPr lang="es-CO" sz="1000" b="1" i="0">
                <a:solidFill>
                  <a:srgbClr val="FFD479"/>
                </a:solidFill>
                <a:latin typeface="Arial"/>
              </a:rPr>
              <a:t>4</a:t>
            </a:r>
          </a:p>
        </p:txBody>
      </p:sp>
      <p:sp>
        <p:nvSpPr>
          <p:cNvPr id="21" name="TextBox 20"/>
          <p:cNvSpPr txBox="1"/>
          <p:nvPr/>
        </p:nvSpPr>
        <p:spPr>
          <a:xfrm>
            <a:off x="1069848" y="3310128"/>
            <a:ext cx="4480560" cy="530352"/>
          </a:xfrm>
          <a:prstGeom prst="rect">
            <a:avLst/>
          </a:prstGeom>
          <a:noFill/>
        </p:spPr>
        <p:txBody>
          <a:bodyPr wrap="square" lIns="0" tIns="0" rIns="0" bIns="0" anchor="ctr">
            <a:spAutoFit/>
          </a:bodyPr>
          <a:lstStyle/>
          <a:p>
            <a:pPr algn="l">
              <a:lnSpc>
                <a:spcPts val="1250"/>
              </a:lnSpc>
            </a:pPr>
            <a:r>
              <a:rPr lang="es-CO" sz="1050" b="0" i="0">
                <a:solidFill>
                  <a:srgbClr val="E8EEF6"/>
                </a:solidFill>
                <a:latin typeface="Calibri"/>
              </a:rPr>
              <a:t>Explicar quién actúa como cliente, quién como servidor y qué función cumple JSON.</a:t>
            </a:r>
          </a:p>
        </p:txBody>
      </p:sp>
      <p:sp>
        <p:nvSpPr>
          <p:cNvPr id="22" name="Rounded Rectangle 21"/>
          <p:cNvSpPr/>
          <p:nvPr/>
        </p:nvSpPr>
        <p:spPr>
          <a:xfrm>
            <a:off x="5806440" y="1444752"/>
            <a:ext cx="2834640" cy="2395728"/>
          </a:xfrm>
          <a:prstGeom prst="roundRect">
            <a:avLst>
              <a:gd name="adj" fmla="val 3053"/>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5961888" y="1517904"/>
            <a:ext cx="2560320" cy="256032"/>
          </a:xfrm>
          <a:prstGeom prst="rect">
            <a:avLst/>
          </a:prstGeom>
          <a:noFill/>
        </p:spPr>
        <p:txBody>
          <a:bodyPr wrap="square" lIns="0" tIns="0" rIns="0" bIns="0" anchor="ctr">
            <a:spAutoFit/>
          </a:bodyPr>
          <a:lstStyle/>
          <a:p>
            <a:pPr algn="l"/>
            <a:r>
              <a:rPr lang="es-CO" sz="1100" b="1" i="0">
                <a:solidFill>
                  <a:srgbClr val="FFD479"/>
                </a:solidFill>
                <a:latin typeface="Arial"/>
              </a:rPr>
              <a:t>Entregables</a:t>
            </a:r>
          </a:p>
        </p:txBody>
      </p:sp>
      <p:sp>
        <p:nvSpPr>
          <p:cNvPr id="24" name="TextBox 23"/>
          <p:cNvSpPr txBox="1"/>
          <p:nvPr/>
        </p:nvSpPr>
        <p:spPr>
          <a:xfrm>
            <a:off x="5961888" y="1828800"/>
            <a:ext cx="2560320" cy="1920240"/>
          </a:xfrm>
          <a:prstGeom prst="rect">
            <a:avLst/>
          </a:prstGeom>
          <a:noFill/>
        </p:spPr>
        <p:txBody>
          <a:bodyPr wrap="square" lIns="0" tIns="0" rIns="0" bIns="0" anchor="t">
            <a:spAutoFit/>
          </a:bodyPr>
          <a:lstStyle/>
          <a:p>
            <a:pPr algn="l">
              <a:lnSpc>
                <a:spcPts val="1300"/>
              </a:lnSpc>
              <a:spcAft>
                <a:spcPts val="600"/>
              </a:spcAft>
            </a:pPr>
            <a:r>
              <a:rPr lang="es-CO" sz="1050" b="1" i="0">
                <a:solidFill>
                  <a:srgbClr val="FFD479"/>
                </a:solidFill>
                <a:latin typeface="Calibri"/>
              </a:rPr>
              <a:t>›  </a:t>
            </a:r>
            <a:r>
              <a:rPr lang="es-CO" sz="1050" b="0" i="0">
                <a:solidFill>
                  <a:srgbClr val="E8EEF6"/>
                </a:solidFill>
                <a:latin typeface="Calibri"/>
              </a:rPr>
              <a:t>Código actualizado: server_rutas.js y contactos.html.</a:t>
            </a:r>
          </a:p>
          <a:p>
            <a:pPr algn="l">
              <a:lnSpc>
                <a:spcPts val="1300"/>
              </a:lnSpc>
              <a:spcAft>
                <a:spcPts val="600"/>
              </a:spcAft>
            </a:pPr>
            <a:r>
              <a:rPr lang="es-CO" sz="1050" b="1" i="0">
                <a:solidFill>
                  <a:srgbClr val="FFD479"/>
                </a:solidFill>
                <a:latin typeface="Calibri"/>
              </a:rPr>
              <a:t>›  </a:t>
            </a:r>
            <a:r>
              <a:rPr lang="es-CO" sz="1050" b="0" i="0">
                <a:solidFill>
                  <a:srgbClr val="E8EEF6"/>
                </a:solidFill>
                <a:latin typeface="Calibri"/>
              </a:rPr>
              <a:t>Captura de la tabla con la columna mensaje y el total.</a:t>
            </a:r>
          </a:p>
          <a:p>
            <a:pPr algn="l">
              <a:lnSpc>
                <a:spcPts val="1300"/>
              </a:lnSpc>
              <a:spcAft>
                <a:spcPts val="600"/>
              </a:spcAft>
            </a:pPr>
            <a:r>
              <a:rPr lang="es-CO" sz="1050" b="1" i="0">
                <a:solidFill>
                  <a:srgbClr val="FFD479"/>
                </a:solidFill>
                <a:latin typeface="Calibri"/>
              </a:rPr>
              <a:t>›  </a:t>
            </a:r>
            <a:r>
              <a:rPr lang="es-CO" sz="1050" b="0" i="0">
                <a:solidFill>
                  <a:srgbClr val="E8EEF6"/>
                </a:solidFill>
                <a:latin typeface="Calibri"/>
              </a:rPr>
              <a:t>Explicación breve del punto 4.</a:t>
            </a:r>
          </a:p>
        </p:txBody>
      </p:sp>
      <p:sp>
        <p:nvSpPr>
          <p:cNvPr id="25" name="Rounded Rectangle 24"/>
          <p:cNvSpPr/>
          <p:nvPr/>
        </p:nvSpPr>
        <p:spPr>
          <a:xfrm>
            <a:off x="502920" y="3968496"/>
            <a:ext cx="8138160" cy="347472"/>
          </a:xfrm>
          <a:prstGeom prst="roundRect">
            <a:avLst>
              <a:gd name="adj" fmla="val 21052"/>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85800" y="3968496"/>
            <a:ext cx="7772400" cy="347472"/>
          </a:xfrm>
          <a:prstGeom prst="rect">
            <a:avLst/>
          </a:prstGeom>
          <a:noFill/>
        </p:spPr>
        <p:txBody>
          <a:bodyPr wrap="square" lIns="0" tIns="0" rIns="0" bIns="0" anchor="ctr">
            <a:spAutoFit/>
          </a:bodyPr>
          <a:lstStyle/>
          <a:p>
            <a:pPr algn="l"/>
            <a:r>
              <a:rPr lang="es-CO" sz="950" b="1" i="0">
                <a:solidFill>
                  <a:srgbClr val="FFD479"/>
                </a:solidFill>
                <a:latin typeface="Arial"/>
              </a:rPr>
              <a:t>Punto de partida  </a:t>
            </a:r>
            <a:r>
              <a:rPr lang="es-CO" sz="1000" b="0" i="0">
                <a:solidFill>
                  <a:srgbClr val="E8EEF6"/>
                </a:solidFill>
                <a:latin typeface="Calibri"/>
              </a:rPr>
              <a:t>La respuesta de GET /api/contactos ya incluye la columna mensaje.</a:t>
            </a:r>
          </a:p>
        </p:txBody>
      </p:sp>
      <p:sp>
        <p:nvSpPr>
          <p:cNvPr id="27" name="TextBox 26"/>
          <p:cNvSpPr txBox="1"/>
          <p:nvPr/>
        </p:nvSpPr>
        <p:spPr>
          <a:xfrm>
            <a:off x="502920" y="4370832"/>
            <a:ext cx="8138160" cy="256032"/>
          </a:xfrm>
          <a:prstGeom prst="rect">
            <a:avLst/>
          </a:prstGeom>
          <a:noFill/>
        </p:spPr>
        <p:txBody>
          <a:bodyPr wrap="square" lIns="0" tIns="0" rIns="0" bIns="0" anchor="ctr">
            <a:spAutoFit/>
          </a:bodyPr>
          <a:lstStyle/>
          <a:p>
            <a:pPr algn="l"/>
            <a:r>
              <a:rPr lang="es-CO" sz="1000" b="0" i="1">
                <a:solidFill>
                  <a:srgbClr val="93A5BD"/>
                </a:solidFill>
                <a:latin typeface="Calibri"/>
              </a:rPr>
              <a:t>La fecha y la forma de entrega se informan por los canales del curso.</a:t>
            </a:r>
          </a:p>
        </p:txBody>
      </p:sp>
      <p:sp>
        <p:nvSpPr>
          <p:cNvPr id="28" name="TextBox 27"/>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23 / 24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01B"/>
        </a:solidFill>
        <a:effectLst/>
      </p:bgPr>
    </p:bg>
    <p:spTree>
      <p:nvGrpSpPr>
        <p:cNvPr id="1" name=""/>
        <p:cNvGrpSpPr/>
        <p:nvPr/>
      </p:nvGrpSpPr>
      <p:grpSpPr>
        <a:xfrm>
          <a:off x="0" y="0"/>
          <a:ext cx="0" cy="0"/>
          <a:chOff x="0" y="0"/>
          <a:chExt cx="0" cy="0"/>
        </a:xfrm>
      </p:grpSpPr>
      <p:sp>
        <p:nvSpPr>
          <p:cNvPr id="2" name="Rounded Rectangle 1"/>
          <p:cNvSpPr/>
          <p:nvPr/>
        </p:nvSpPr>
        <p:spPr>
          <a:xfrm>
            <a:off x="502920" y="365760"/>
            <a:ext cx="960120" cy="228600"/>
          </a:xfrm>
          <a:prstGeom prst="roundRect">
            <a:avLst>
              <a:gd name="adj" fmla="val 50000"/>
            </a:avLst>
          </a:prstGeom>
          <a:solidFill>
            <a:srgbClr val="132A24"/>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960120" cy="228600"/>
          </a:xfrm>
          <a:prstGeom prst="rect">
            <a:avLst/>
          </a:prstGeom>
          <a:noFill/>
        </p:spPr>
        <p:txBody>
          <a:bodyPr wrap="square" lIns="0" tIns="0" rIns="0" bIns="0" anchor="ctr">
            <a:spAutoFit/>
          </a:bodyPr>
          <a:lstStyle/>
          <a:p>
            <a:pPr algn="ctr"/>
            <a:r>
              <a:rPr lang="es-CO" sz="850" b="1" i="0">
                <a:solidFill>
                  <a:srgbClr val="3DDC97"/>
                </a:solidFill>
                <a:latin typeface="Arial"/>
              </a:rPr>
              <a:t>CIERRE</a:t>
            </a:r>
          </a:p>
        </p:txBody>
      </p:sp>
      <p:sp>
        <p:nvSpPr>
          <p:cNvPr id="4" name="TextBox 3"/>
          <p:cNvSpPr txBox="1"/>
          <p:nvPr/>
        </p:nvSpPr>
        <p:spPr>
          <a:xfrm>
            <a:off x="475488" y="658368"/>
            <a:ext cx="8138160" cy="438912"/>
          </a:xfrm>
          <a:prstGeom prst="rect">
            <a:avLst/>
          </a:prstGeom>
          <a:noFill/>
        </p:spPr>
        <p:txBody>
          <a:bodyPr wrap="square" lIns="0" tIns="0" rIns="0" bIns="0" anchor="ctr">
            <a:spAutoFit/>
          </a:bodyPr>
          <a:lstStyle/>
          <a:p>
            <a:pPr algn="l"/>
            <a:r>
              <a:rPr lang="es-CO" sz="2600" b="1" i="0">
                <a:solidFill>
                  <a:srgbClr val="FFFFFF"/>
                </a:solidFill>
                <a:latin typeface="Arial"/>
              </a:rPr>
              <a:t>Cierre y referencias de consulta</a:t>
            </a:r>
          </a:p>
        </p:txBody>
      </p:sp>
      <p:sp>
        <p:nvSpPr>
          <p:cNvPr id="5" name="Rounded Rectangle 4"/>
          <p:cNvSpPr/>
          <p:nvPr/>
        </p:nvSpPr>
        <p:spPr>
          <a:xfrm>
            <a:off x="502920" y="1188720"/>
            <a:ext cx="8138160" cy="676656"/>
          </a:xfrm>
          <a:prstGeom prst="roundRect">
            <a:avLst>
              <a:gd name="adj" fmla="val 1081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1225296"/>
            <a:ext cx="7772400" cy="219456"/>
          </a:xfrm>
          <a:prstGeom prst="rect">
            <a:avLst/>
          </a:prstGeom>
          <a:noFill/>
        </p:spPr>
        <p:txBody>
          <a:bodyPr wrap="square" lIns="0" tIns="0" rIns="0" bIns="0" anchor="ctr">
            <a:spAutoFit/>
          </a:bodyPr>
          <a:lstStyle/>
          <a:p>
            <a:pPr algn="l"/>
            <a:r>
              <a:rPr lang="es-CO" sz="1050" b="1" i="0">
                <a:solidFill>
                  <a:srgbClr val="3DDC97"/>
                </a:solidFill>
                <a:latin typeface="Arial"/>
              </a:rPr>
              <a:t>Idea central de la sesión</a:t>
            </a:r>
          </a:p>
        </p:txBody>
      </p:sp>
      <p:sp>
        <p:nvSpPr>
          <p:cNvPr id="7" name="TextBox 6"/>
          <p:cNvSpPr txBox="1"/>
          <p:nvPr/>
        </p:nvSpPr>
        <p:spPr>
          <a:xfrm>
            <a:off x="685800" y="1463040"/>
            <a:ext cx="7772400" cy="384048"/>
          </a:xfrm>
          <a:prstGeom prst="rect">
            <a:avLst/>
          </a:prstGeom>
          <a:noFill/>
        </p:spPr>
        <p:txBody>
          <a:bodyPr wrap="square" lIns="0" tIns="0" rIns="0" bIns="0" anchor="t">
            <a:spAutoFit/>
          </a:bodyPr>
          <a:lstStyle/>
          <a:p>
            <a:pPr algn="l">
              <a:lnSpc>
                <a:spcPts val="1250"/>
              </a:lnSpc>
            </a:pPr>
            <a:r>
              <a:rPr lang="es-CO" sz="1050" b="0" i="0">
                <a:solidFill>
                  <a:srgbClr val="E8EEF6"/>
                </a:solidFill>
                <a:latin typeface="Calibri"/>
              </a:rPr>
              <a:t>La página solicita datos a una API web con HTTP; Node.js los consulta en SQLite y responde JSON; el navegador lo interpreta y lo presenta.</a:t>
            </a:r>
          </a:p>
        </p:txBody>
      </p:sp>
      <p:sp>
        <p:nvSpPr>
          <p:cNvPr id="8" name="Rounded Rectangle 7"/>
          <p:cNvSpPr/>
          <p:nvPr/>
        </p:nvSpPr>
        <p:spPr>
          <a:xfrm>
            <a:off x="502920" y="1975104"/>
            <a:ext cx="648309" cy="274320"/>
          </a:xfrm>
          <a:prstGeom prst="roundRect">
            <a:avLst>
              <a:gd name="adj" fmla="val 50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8640" y="1975104"/>
            <a:ext cx="556869" cy="274320"/>
          </a:xfrm>
          <a:prstGeom prst="rect">
            <a:avLst/>
          </a:prstGeom>
          <a:noFill/>
        </p:spPr>
        <p:txBody>
          <a:bodyPr wrap="square" lIns="0" tIns="0" rIns="0" bIns="0" anchor="ctr">
            <a:spAutoFit/>
          </a:bodyPr>
          <a:lstStyle/>
          <a:p>
            <a:pPr algn="ctr"/>
            <a:r>
              <a:rPr lang="es-CO" sz="800" b="1" i="0">
                <a:solidFill>
                  <a:srgbClr val="3DDC97"/>
                </a:solidFill>
                <a:latin typeface="Courier New"/>
              </a:rPr>
              <a:t>API web</a:t>
            </a:r>
          </a:p>
        </p:txBody>
      </p:sp>
      <p:sp>
        <p:nvSpPr>
          <p:cNvPr id="10" name="Rounded Rectangle 9"/>
          <p:cNvSpPr/>
          <p:nvPr/>
        </p:nvSpPr>
        <p:spPr>
          <a:xfrm>
            <a:off x="1224381" y="1975104"/>
            <a:ext cx="464515" cy="274320"/>
          </a:xfrm>
          <a:prstGeom prst="roundRect">
            <a:avLst>
              <a:gd name="adj" fmla="val 50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270101" y="1975104"/>
            <a:ext cx="373075" cy="274320"/>
          </a:xfrm>
          <a:prstGeom prst="rect">
            <a:avLst/>
          </a:prstGeom>
          <a:noFill/>
        </p:spPr>
        <p:txBody>
          <a:bodyPr wrap="square" lIns="0" tIns="0" rIns="0" bIns="0" anchor="ctr">
            <a:spAutoFit/>
          </a:bodyPr>
          <a:lstStyle/>
          <a:p>
            <a:pPr algn="ctr"/>
            <a:r>
              <a:rPr lang="es-CO" sz="800" b="1" i="0">
                <a:solidFill>
                  <a:srgbClr val="3DDC97"/>
                </a:solidFill>
                <a:latin typeface="Courier New"/>
              </a:rPr>
              <a:t>HTTP</a:t>
            </a:r>
          </a:p>
        </p:txBody>
      </p:sp>
      <p:sp>
        <p:nvSpPr>
          <p:cNvPr id="12" name="Rounded Rectangle 11"/>
          <p:cNvSpPr/>
          <p:nvPr/>
        </p:nvSpPr>
        <p:spPr>
          <a:xfrm>
            <a:off x="1762048" y="1975104"/>
            <a:ext cx="464515" cy="274320"/>
          </a:xfrm>
          <a:prstGeom prst="roundRect">
            <a:avLst>
              <a:gd name="adj" fmla="val 50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807768" y="1975104"/>
            <a:ext cx="373075" cy="274320"/>
          </a:xfrm>
          <a:prstGeom prst="rect">
            <a:avLst/>
          </a:prstGeom>
          <a:noFill/>
        </p:spPr>
        <p:txBody>
          <a:bodyPr wrap="square" lIns="0" tIns="0" rIns="0" bIns="0" anchor="ctr">
            <a:spAutoFit/>
          </a:bodyPr>
          <a:lstStyle/>
          <a:p>
            <a:pPr algn="ctr"/>
            <a:r>
              <a:rPr lang="es-CO" sz="800" b="1" i="0">
                <a:solidFill>
                  <a:srgbClr val="FFD479"/>
                </a:solidFill>
                <a:latin typeface="Courier New"/>
              </a:rPr>
              <a:t>JSON</a:t>
            </a:r>
          </a:p>
        </p:txBody>
      </p:sp>
      <p:sp>
        <p:nvSpPr>
          <p:cNvPr id="14" name="Rounded Rectangle 13"/>
          <p:cNvSpPr/>
          <p:nvPr/>
        </p:nvSpPr>
        <p:spPr>
          <a:xfrm>
            <a:off x="2299716" y="1975104"/>
            <a:ext cx="403250" cy="274320"/>
          </a:xfrm>
          <a:prstGeom prst="roundRect">
            <a:avLst>
              <a:gd name="adj" fmla="val 50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2345436" y="1975104"/>
            <a:ext cx="311810" cy="274320"/>
          </a:xfrm>
          <a:prstGeom prst="rect">
            <a:avLst/>
          </a:prstGeom>
          <a:noFill/>
        </p:spPr>
        <p:txBody>
          <a:bodyPr wrap="square" lIns="0" tIns="0" rIns="0" bIns="0" anchor="ctr">
            <a:spAutoFit/>
          </a:bodyPr>
          <a:lstStyle/>
          <a:p>
            <a:pPr algn="ctr"/>
            <a:r>
              <a:rPr lang="es-CO" sz="800" b="1" i="0">
                <a:solidFill>
                  <a:srgbClr val="FFD479"/>
                </a:solidFill>
                <a:latin typeface="Courier New"/>
              </a:rPr>
              <a:t>XML</a:t>
            </a:r>
          </a:p>
        </p:txBody>
      </p:sp>
      <p:sp>
        <p:nvSpPr>
          <p:cNvPr id="16" name="Rounded Rectangle 15"/>
          <p:cNvSpPr/>
          <p:nvPr/>
        </p:nvSpPr>
        <p:spPr>
          <a:xfrm>
            <a:off x="2776118" y="1975104"/>
            <a:ext cx="464515" cy="274320"/>
          </a:xfrm>
          <a:prstGeom prst="roundRect">
            <a:avLst>
              <a:gd name="adj" fmla="val 50000"/>
            </a:avLst>
          </a:prstGeom>
          <a:solidFill>
            <a:srgbClr val="1A2434"/>
          </a:solidFill>
          <a:ln w="12700">
            <a:solidFill>
              <a:srgbClr val="FFD47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2821838" y="1975104"/>
            <a:ext cx="373075" cy="274320"/>
          </a:xfrm>
          <a:prstGeom prst="rect">
            <a:avLst/>
          </a:prstGeom>
          <a:noFill/>
        </p:spPr>
        <p:txBody>
          <a:bodyPr wrap="square" lIns="0" tIns="0" rIns="0" bIns="0" anchor="ctr">
            <a:spAutoFit/>
          </a:bodyPr>
          <a:lstStyle/>
          <a:p>
            <a:pPr algn="ctr"/>
            <a:r>
              <a:rPr lang="es-CO" sz="800" b="1" i="0">
                <a:solidFill>
                  <a:srgbClr val="FFD479"/>
                </a:solidFill>
                <a:latin typeface="Courier New"/>
              </a:rPr>
              <a:t>YAML</a:t>
            </a:r>
          </a:p>
        </p:txBody>
      </p:sp>
      <p:sp>
        <p:nvSpPr>
          <p:cNvPr id="18" name="Rounded Rectangle 17"/>
          <p:cNvSpPr/>
          <p:nvPr/>
        </p:nvSpPr>
        <p:spPr>
          <a:xfrm>
            <a:off x="3313785" y="1975104"/>
            <a:ext cx="464515" cy="274320"/>
          </a:xfrm>
          <a:prstGeom prst="roundRect">
            <a:avLst>
              <a:gd name="adj" fmla="val 50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359505" y="1975104"/>
            <a:ext cx="373075" cy="274320"/>
          </a:xfrm>
          <a:prstGeom prst="rect">
            <a:avLst/>
          </a:prstGeom>
          <a:noFill/>
        </p:spPr>
        <p:txBody>
          <a:bodyPr wrap="square" lIns="0" tIns="0" rIns="0" bIns="0" anchor="ctr">
            <a:spAutoFit/>
          </a:bodyPr>
          <a:lstStyle/>
          <a:p>
            <a:pPr algn="ctr"/>
            <a:r>
              <a:rPr lang="es-CO" sz="800" b="1" i="0">
                <a:solidFill>
                  <a:srgbClr val="56C7F2"/>
                </a:solidFill>
                <a:latin typeface="Courier New"/>
              </a:rPr>
              <a:t>REST</a:t>
            </a:r>
          </a:p>
        </p:txBody>
      </p:sp>
      <p:sp>
        <p:nvSpPr>
          <p:cNvPr id="20" name="Rounded Rectangle 19"/>
          <p:cNvSpPr/>
          <p:nvPr/>
        </p:nvSpPr>
        <p:spPr>
          <a:xfrm>
            <a:off x="3851452" y="1975104"/>
            <a:ext cx="464515" cy="274320"/>
          </a:xfrm>
          <a:prstGeom prst="roundRect">
            <a:avLst>
              <a:gd name="adj" fmla="val 50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3897172" y="1975104"/>
            <a:ext cx="373075" cy="274320"/>
          </a:xfrm>
          <a:prstGeom prst="rect">
            <a:avLst/>
          </a:prstGeom>
          <a:noFill/>
        </p:spPr>
        <p:txBody>
          <a:bodyPr wrap="square" lIns="0" tIns="0" rIns="0" bIns="0" anchor="ctr">
            <a:spAutoFit/>
          </a:bodyPr>
          <a:lstStyle/>
          <a:p>
            <a:pPr algn="ctr"/>
            <a:r>
              <a:rPr lang="es-CO" sz="800" b="1" i="0">
                <a:solidFill>
                  <a:srgbClr val="56C7F2"/>
                </a:solidFill>
                <a:latin typeface="Courier New"/>
              </a:rPr>
              <a:t>SOAP</a:t>
            </a:r>
          </a:p>
        </p:txBody>
      </p:sp>
      <p:sp>
        <p:nvSpPr>
          <p:cNvPr id="22" name="Rounded Rectangle 21"/>
          <p:cNvSpPr/>
          <p:nvPr/>
        </p:nvSpPr>
        <p:spPr>
          <a:xfrm>
            <a:off x="4389120" y="1975104"/>
            <a:ext cx="648309" cy="274320"/>
          </a:xfrm>
          <a:prstGeom prst="roundRect">
            <a:avLst>
              <a:gd name="adj" fmla="val 50000"/>
            </a:avLst>
          </a:prstGeom>
          <a:solidFill>
            <a:srgbClr val="1A2434"/>
          </a:solidFill>
          <a:ln w="12700">
            <a:solidFill>
              <a:srgbClr val="56C7F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34840" y="1975104"/>
            <a:ext cx="556869" cy="274320"/>
          </a:xfrm>
          <a:prstGeom prst="rect">
            <a:avLst/>
          </a:prstGeom>
          <a:noFill/>
        </p:spPr>
        <p:txBody>
          <a:bodyPr wrap="square" lIns="0" tIns="0" rIns="0" bIns="0" anchor="ctr">
            <a:spAutoFit/>
          </a:bodyPr>
          <a:lstStyle/>
          <a:p>
            <a:pPr algn="ctr"/>
            <a:r>
              <a:rPr lang="es-CO" sz="800" b="1" i="0">
                <a:solidFill>
                  <a:srgbClr val="56C7F2"/>
                </a:solidFill>
                <a:latin typeface="Courier New"/>
              </a:rPr>
              <a:t>GraphQL</a:t>
            </a:r>
          </a:p>
        </p:txBody>
      </p:sp>
      <p:sp>
        <p:nvSpPr>
          <p:cNvPr id="24" name="Rounded Rectangle 23"/>
          <p:cNvSpPr/>
          <p:nvPr/>
        </p:nvSpPr>
        <p:spPr>
          <a:xfrm>
            <a:off x="5110581" y="1975104"/>
            <a:ext cx="464515" cy="274320"/>
          </a:xfrm>
          <a:prstGeom prst="roundRect">
            <a:avLst>
              <a:gd name="adj" fmla="val 50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156301" y="1975104"/>
            <a:ext cx="373075" cy="274320"/>
          </a:xfrm>
          <a:prstGeom prst="rect">
            <a:avLst/>
          </a:prstGeom>
          <a:noFill/>
        </p:spPr>
        <p:txBody>
          <a:bodyPr wrap="square" lIns="0" tIns="0" rIns="0" bIns="0" anchor="ctr">
            <a:spAutoFit/>
          </a:bodyPr>
          <a:lstStyle/>
          <a:p>
            <a:pPr algn="ctr"/>
            <a:r>
              <a:rPr lang="es-CO" sz="800" b="1" i="0">
                <a:solidFill>
                  <a:srgbClr val="FFB86C"/>
                </a:solidFill>
                <a:latin typeface="Courier New"/>
              </a:rPr>
              <a:t>WSDL</a:t>
            </a:r>
          </a:p>
        </p:txBody>
      </p:sp>
      <p:sp>
        <p:nvSpPr>
          <p:cNvPr id="26" name="Rounded Rectangle 25"/>
          <p:cNvSpPr/>
          <p:nvPr/>
        </p:nvSpPr>
        <p:spPr>
          <a:xfrm>
            <a:off x="5648248" y="1975104"/>
            <a:ext cx="648309" cy="274320"/>
          </a:xfrm>
          <a:prstGeom prst="roundRect">
            <a:avLst>
              <a:gd name="adj" fmla="val 50000"/>
            </a:avLst>
          </a:prstGeom>
          <a:solidFill>
            <a:srgbClr val="1A2434"/>
          </a:solidFill>
          <a:ln w="12700">
            <a:solidFill>
              <a:srgbClr val="FFB86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693968" y="1975104"/>
            <a:ext cx="556869" cy="274320"/>
          </a:xfrm>
          <a:prstGeom prst="rect">
            <a:avLst/>
          </a:prstGeom>
          <a:noFill/>
        </p:spPr>
        <p:txBody>
          <a:bodyPr wrap="square" lIns="0" tIns="0" rIns="0" bIns="0" anchor="ctr">
            <a:spAutoFit/>
          </a:bodyPr>
          <a:lstStyle/>
          <a:p>
            <a:pPr algn="ctr"/>
            <a:r>
              <a:rPr lang="es-CO" sz="800" b="1" i="0">
                <a:solidFill>
                  <a:srgbClr val="FFB86C"/>
                </a:solidFill>
                <a:latin typeface="Courier New"/>
              </a:rPr>
              <a:t>OpenAPI</a:t>
            </a:r>
          </a:p>
        </p:txBody>
      </p:sp>
      <p:sp>
        <p:nvSpPr>
          <p:cNvPr id="28" name="Rounded Rectangle 27"/>
          <p:cNvSpPr/>
          <p:nvPr/>
        </p:nvSpPr>
        <p:spPr>
          <a:xfrm>
            <a:off x="6369710" y="1975104"/>
            <a:ext cx="648309" cy="274320"/>
          </a:xfrm>
          <a:prstGeom prst="roundRect">
            <a:avLst>
              <a:gd name="adj" fmla="val 50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415430" y="1975104"/>
            <a:ext cx="556869" cy="274320"/>
          </a:xfrm>
          <a:prstGeom prst="rect">
            <a:avLst/>
          </a:prstGeom>
          <a:noFill/>
        </p:spPr>
        <p:txBody>
          <a:bodyPr wrap="square" lIns="0" tIns="0" rIns="0" bIns="0" anchor="ctr">
            <a:spAutoFit/>
          </a:bodyPr>
          <a:lstStyle/>
          <a:p>
            <a:pPr algn="ctr"/>
            <a:r>
              <a:rPr lang="es-CO" sz="800" b="1" i="0">
                <a:solidFill>
                  <a:srgbClr val="3DDC97"/>
                </a:solidFill>
                <a:latin typeface="Courier New"/>
              </a:rPr>
              <a:t>fetch()</a:t>
            </a:r>
          </a:p>
        </p:txBody>
      </p:sp>
      <p:sp>
        <p:nvSpPr>
          <p:cNvPr id="30" name="Rounded Rectangle 29"/>
          <p:cNvSpPr/>
          <p:nvPr/>
        </p:nvSpPr>
        <p:spPr>
          <a:xfrm>
            <a:off x="7091171" y="1975104"/>
            <a:ext cx="893368" cy="274320"/>
          </a:xfrm>
          <a:prstGeom prst="roundRect">
            <a:avLst>
              <a:gd name="adj" fmla="val 50000"/>
            </a:avLst>
          </a:prstGeom>
          <a:solidFill>
            <a:srgbClr val="1A2434"/>
          </a:solid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136891" y="1975104"/>
            <a:ext cx="801928" cy="274320"/>
          </a:xfrm>
          <a:prstGeom prst="rect">
            <a:avLst/>
          </a:prstGeom>
          <a:noFill/>
        </p:spPr>
        <p:txBody>
          <a:bodyPr wrap="square" lIns="0" tIns="0" rIns="0" bIns="0" anchor="ctr">
            <a:spAutoFit/>
          </a:bodyPr>
          <a:lstStyle/>
          <a:p>
            <a:pPr algn="ctr"/>
            <a:r>
              <a:rPr lang="es-CO" sz="800" b="1" i="0">
                <a:solidFill>
                  <a:srgbClr val="3DDC97"/>
                </a:solidFill>
                <a:latin typeface="Courier New"/>
              </a:rPr>
              <a:t>textContent</a:t>
            </a:r>
          </a:p>
        </p:txBody>
      </p:sp>
      <p:sp>
        <p:nvSpPr>
          <p:cNvPr id="32" name="Rounded Rectangle 31"/>
          <p:cNvSpPr/>
          <p:nvPr/>
        </p:nvSpPr>
        <p:spPr>
          <a:xfrm>
            <a:off x="502920" y="2377440"/>
            <a:ext cx="8138160" cy="1920240"/>
          </a:xfrm>
          <a:prstGeom prst="roundRect">
            <a:avLst>
              <a:gd name="adj" fmla="val 3809"/>
            </a:avLst>
          </a:prstGeom>
          <a:solidFill>
            <a:srgbClr val="070C14"/>
          </a:solidFill>
          <a:ln w="12700">
            <a:solidFill>
              <a:srgbClr val="2B3B5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85800" y="2432304"/>
            <a:ext cx="7772400" cy="219456"/>
          </a:xfrm>
          <a:prstGeom prst="rect">
            <a:avLst/>
          </a:prstGeom>
          <a:noFill/>
        </p:spPr>
        <p:txBody>
          <a:bodyPr wrap="square" lIns="0" tIns="0" rIns="0" bIns="0" anchor="ctr">
            <a:spAutoFit/>
          </a:bodyPr>
          <a:lstStyle/>
          <a:p>
            <a:pPr algn="l"/>
            <a:r>
              <a:rPr lang="es-CO" sz="1000" b="1" i="0">
                <a:solidFill>
                  <a:srgbClr val="93A5BD"/>
                </a:solidFill>
                <a:latin typeface="Arial"/>
              </a:rPr>
              <a:t>Referencias de consulta</a:t>
            </a:r>
          </a:p>
        </p:txBody>
      </p:sp>
      <p:sp>
        <p:nvSpPr>
          <p:cNvPr id="34" name="TextBox 33"/>
          <p:cNvSpPr txBox="1"/>
          <p:nvPr/>
        </p:nvSpPr>
        <p:spPr>
          <a:xfrm>
            <a:off x="685800" y="2706624"/>
            <a:ext cx="7772400" cy="1572768"/>
          </a:xfrm>
          <a:prstGeom prst="rect">
            <a:avLst/>
          </a:prstGeom>
          <a:noFill/>
        </p:spPr>
        <p:txBody>
          <a:bodyPr wrap="square" lIns="0" tIns="0" rIns="0" bIns="0" anchor="t">
            <a:spAutoFit/>
          </a:bodyPr>
          <a:lstStyle/>
          <a:p>
            <a:pPr algn="l">
              <a:lnSpc>
                <a:spcPts val="1200"/>
              </a:lnSpc>
              <a:spcAft>
                <a:spcPts val="240"/>
              </a:spcAft>
            </a:pPr>
            <a:r>
              <a:rPr lang="es-CO" sz="1000" b="1" i="0">
                <a:solidFill>
                  <a:srgbClr val="E8EEF6"/>
                </a:solidFill>
                <a:latin typeface="Calibri"/>
              </a:rPr>
              <a:t>Node.js v24. </a:t>
            </a:r>
            <a:r>
              <a:rPr lang="es-CO" sz="1000" b="0" i="0">
                <a:solidFill>
                  <a:srgbClr val="E8EEF6"/>
                </a:solidFill>
                <a:latin typeface="Calibri"/>
              </a:rPr>
              <a:t>Documentación de SQLite (node:sqlite) y de HTTP (node:http). nodejs.org/docs/latest-v24.x/api</a:t>
            </a:r>
          </a:p>
          <a:p>
            <a:pPr algn="l">
              <a:lnSpc>
                <a:spcPts val="1200"/>
              </a:lnSpc>
              <a:spcAft>
                <a:spcPts val="240"/>
              </a:spcAft>
            </a:pPr>
            <a:r>
              <a:rPr lang="es-CO" sz="1000" b="1" i="0">
                <a:solidFill>
                  <a:srgbClr val="E8EEF6"/>
                </a:solidFill>
                <a:latin typeface="Calibri"/>
              </a:rPr>
              <a:t>MDN Web Docs. </a:t>
            </a:r>
            <a:r>
              <a:rPr lang="es-CO" sz="1000" b="0" i="0">
                <a:solidFill>
                  <a:srgbClr val="E8EEF6"/>
                </a:solidFill>
                <a:latin typeface="Calibri"/>
              </a:rPr>
              <a:t>Using the Fetch API; Response: json(); Node: textContent. developer.mozilla.org</a:t>
            </a:r>
          </a:p>
          <a:p>
            <a:pPr algn="l">
              <a:lnSpc>
                <a:spcPts val="1200"/>
              </a:lnSpc>
              <a:spcAft>
                <a:spcPts val="240"/>
              </a:spcAft>
            </a:pPr>
            <a:r>
              <a:rPr lang="es-CO" sz="1000" b="1" i="0">
                <a:solidFill>
                  <a:srgbClr val="E8EEF6"/>
                </a:solidFill>
                <a:latin typeface="Calibri"/>
              </a:rPr>
              <a:t>Fielding, R. T. (2000). </a:t>
            </a:r>
            <a:r>
              <a:rPr lang="es-CO" sz="1000" b="0" i="0">
                <a:solidFill>
                  <a:srgbClr val="E8EEF6"/>
                </a:solidFill>
                <a:latin typeface="Calibri"/>
              </a:rPr>
              <a:t>Architectural Styles and the Design of Network-based Software Architectures, cap. 5.</a:t>
            </a:r>
          </a:p>
          <a:p>
            <a:pPr algn="l">
              <a:lnSpc>
                <a:spcPts val="1200"/>
              </a:lnSpc>
              <a:spcAft>
                <a:spcPts val="240"/>
              </a:spcAft>
            </a:pPr>
            <a:r>
              <a:rPr lang="es-CO" sz="1000" b="1" i="0">
                <a:solidFill>
                  <a:srgbClr val="E8EEF6"/>
                </a:solidFill>
                <a:latin typeface="Calibri"/>
              </a:rPr>
              <a:t>W3C (2007). </a:t>
            </a:r>
            <a:r>
              <a:rPr lang="es-CO" sz="1000" b="0" i="0">
                <a:solidFill>
                  <a:srgbClr val="E8EEF6"/>
                </a:solidFill>
                <a:latin typeface="Calibri"/>
              </a:rPr>
              <a:t>SOAP Version 1.2 Part 1: Messaging Framework; WSDL Version 2.0 Part 1: Core Language.</a:t>
            </a:r>
          </a:p>
          <a:p>
            <a:pPr algn="l">
              <a:lnSpc>
                <a:spcPts val="1200"/>
              </a:lnSpc>
              <a:spcAft>
                <a:spcPts val="240"/>
              </a:spcAft>
            </a:pPr>
            <a:r>
              <a:rPr lang="es-CO" sz="1000" b="1" i="0">
                <a:solidFill>
                  <a:srgbClr val="E8EEF6"/>
                </a:solidFill>
                <a:latin typeface="Calibri"/>
              </a:rPr>
              <a:t>GraphQL Foundation. </a:t>
            </a:r>
            <a:r>
              <a:rPr lang="es-CO" sz="1000" b="0" i="0">
                <a:solidFill>
                  <a:srgbClr val="E8EEF6"/>
                </a:solidFill>
                <a:latin typeface="Calibri"/>
              </a:rPr>
              <a:t>Introduction to GraphQL. graphql.org/learn</a:t>
            </a:r>
          </a:p>
          <a:p>
            <a:pPr algn="l">
              <a:lnSpc>
                <a:spcPts val="1200"/>
              </a:lnSpc>
              <a:spcAft>
                <a:spcPts val="240"/>
              </a:spcAft>
            </a:pPr>
            <a:r>
              <a:rPr lang="es-CO" sz="1000" b="1" i="0">
                <a:solidFill>
                  <a:srgbClr val="E8EEF6"/>
                </a:solidFill>
                <a:latin typeface="Calibri"/>
              </a:rPr>
              <a:t>OpenAPI Initiative. </a:t>
            </a:r>
            <a:r>
              <a:rPr lang="es-CO" sz="1000" b="0" i="0">
                <a:solidFill>
                  <a:srgbClr val="E8EEF6"/>
                </a:solidFill>
                <a:latin typeface="Calibri"/>
              </a:rPr>
              <a:t>OpenAPI Specification. spec.openapis.org · </a:t>
            </a:r>
            <a:r>
              <a:rPr lang="es-CO" sz="1000" b="1" i="0">
                <a:solidFill>
                  <a:srgbClr val="E8EEF6"/>
                </a:solidFill>
                <a:latin typeface="Calibri"/>
              </a:rPr>
              <a:t>YAML 1.2.2. </a:t>
            </a:r>
            <a:r>
              <a:rPr lang="es-CO" sz="1000" b="0" i="0">
                <a:solidFill>
                  <a:srgbClr val="E8EEF6"/>
                </a:solidFill>
                <a:latin typeface="Calibri"/>
              </a:rPr>
              <a:t>yaml.org/spec/1.2.2</a:t>
            </a:r>
          </a:p>
          <a:p>
            <a:pPr algn="l">
              <a:lnSpc>
                <a:spcPts val="1200"/>
              </a:lnSpc>
              <a:spcAft>
                <a:spcPts val="240"/>
              </a:spcAft>
            </a:pPr>
            <a:r>
              <a:rPr lang="es-CO" sz="1000" b="1" i="0">
                <a:solidFill>
                  <a:srgbClr val="E8EEF6"/>
                </a:solidFill>
                <a:latin typeface="Calibri"/>
              </a:rPr>
              <a:t>IETF. </a:t>
            </a:r>
            <a:r>
              <a:rPr lang="es-CO" sz="1000" b="0" i="0">
                <a:solidFill>
                  <a:srgbClr val="E8EEF6"/>
                </a:solidFill>
                <a:latin typeface="Calibri"/>
              </a:rPr>
              <a:t>RFC 8259 (JSON) y RFC 9110 (HTTP Semantics). rfc-editor.org</a:t>
            </a:r>
          </a:p>
        </p:txBody>
      </p:sp>
      <p:sp>
        <p:nvSpPr>
          <p:cNvPr id="35" name="TextBox 34"/>
          <p:cNvSpPr txBox="1"/>
          <p:nvPr/>
        </p:nvSpPr>
        <p:spPr>
          <a:xfrm>
            <a:off x="6309360" y="4718304"/>
            <a:ext cx="2331720" cy="201168"/>
          </a:xfrm>
          <a:prstGeom prst="rect">
            <a:avLst/>
          </a:prstGeom>
          <a:noFill/>
        </p:spPr>
        <p:txBody>
          <a:bodyPr wrap="square" lIns="0" tIns="0" rIns="0" bIns="0" anchor="ctr">
            <a:spAutoFit/>
          </a:bodyPr>
          <a:lstStyle/>
          <a:p>
            <a:pPr algn="r"/>
            <a:r>
              <a:rPr lang="es-CO" sz="800" b="0" i="0">
                <a:solidFill>
                  <a:srgbClr val="6C7E96"/>
                </a:solidFill>
                <a:latin typeface="Arial"/>
              </a:rPr>
              <a:t>Ingeniería Web  ·  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3110</TotalTime>
  <Words>13428</Words>
  <Application>Microsoft Office PowerPoint</Application>
  <PresentationFormat>Presentación en pantalla (16:9)</PresentationFormat>
  <Paragraphs>1242</Paragraphs>
  <Slides>24</Slides>
  <Notes>24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Cooperativa de Colombia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Sesion 03 - De la interfaz a la persistencia</dc:title>
  <dc:subject>Ingenieria Web - Sesion 03</dc:subject>
  <dc:creator>Luis Miguel Gomez Meneses</dc:creator>
  <cp:lastModifiedBy>LUIS MIGUEL GOMEZ MENESES</cp:lastModifiedBy>
  <cp:revision>11</cp:revision>
  <dcterms:created xsi:type="dcterms:W3CDTF">2026-09-06T16:56:37Z</dcterms:created>
  <dcterms:modified xsi:type="dcterms:W3CDTF">2026-09-29T01:53:25Z</dcterms:modified>
</cp:coreProperties>
</file>